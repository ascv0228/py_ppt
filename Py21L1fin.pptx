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696" r:id="rId3"/>
    <p:sldMasterId id="2147483708" r:id="rId4"/>
    <p:sldMasterId id="2147483720" r:id="rId5"/>
  </p:sldMasterIdLst>
  <p:notesMasterIdLst>
    <p:notesMasterId r:id="rId195"/>
  </p:notesMasterIdLst>
  <p:sldIdLst>
    <p:sldId id="420" r:id="rId6"/>
    <p:sldId id="677" r:id="rId7"/>
    <p:sldId id="422" r:id="rId8"/>
    <p:sldId id="380" r:id="rId9"/>
    <p:sldId id="469" r:id="rId10"/>
    <p:sldId id="373" r:id="rId11"/>
    <p:sldId id="537" r:id="rId12"/>
    <p:sldId id="531" r:id="rId13"/>
    <p:sldId id="666" r:id="rId14"/>
    <p:sldId id="532" r:id="rId15"/>
    <p:sldId id="533" r:id="rId16"/>
    <p:sldId id="534" r:id="rId17"/>
    <p:sldId id="535" r:id="rId18"/>
    <p:sldId id="536" r:id="rId19"/>
    <p:sldId id="423" r:id="rId20"/>
    <p:sldId id="665" r:id="rId21"/>
    <p:sldId id="586" r:id="rId22"/>
    <p:sldId id="620" r:id="rId23"/>
    <p:sldId id="587" r:id="rId24"/>
    <p:sldId id="588" r:id="rId25"/>
    <p:sldId id="589" r:id="rId26"/>
    <p:sldId id="590" r:id="rId27"/>
    <p:sldId id="591" r:id="rId28"/>
    <p:sldId id="592" r:id="rId29"/>
    <p:sldId id="593" r:id="rId30"/>
    <p:sldId id="594" r:id="rId31"/>
    <p:sldId id="595" r:id="rId32"/>
    <p:sldId id="596" r:id="rId33"/>
    <p:sldId id="597" r:id="rId34"/>
    <p:sldId id="598" r:id="rId35"/>
    <p:sldId id="599" r:id="rId36"/>
    <p:sldId id="600" r:id="rId37"/>
    <p:sldId id="601" r:id="rId38"/>
    <p:sldId id="602" r:id="rId39"/>
    <p:sldId id="603" r:id="rId40"/>
    <p:sldId id="604" r:id="rId41"/>
    <p:sldId id="605" r:id="rId42"/>
    <p:sldId id="606" r:id="rId43"/>
    <p:sldId id="607" r:id="rId44"/>
    <p:sldId id="608" r:id="rId45"/>
    <p:sldId id="609" r:id="rId46"/>
    <p:sldId id="610" r:id="rId47"/>
    <p:sldId id="611" r:id="rId48"/>
    <p:sldId id="612" r:id="rId49"/>
    <p:sldId id="613" r:id="rId50"/>
    <p:sldId id="614" r:id="rId51"/>
    <p:sldId id="615" r:id="rId52"/>
    <p:sldId id="616" r:id="rId53"/>
    <p:sldId id="617" r:id="rId54"/>
    <p:sldId id="618" r:id="rId55"/>
    <p:sldId id="634" r:id="rId56"/>
    <p:sldId id="635" r:id="rId57"/>
    <p:sldId id="633" r:id="rId58"/>
    <p:sldId id="619" r:id="rId59"/>
    <p:sldId id="621" r:id="rId60"/>
    <p:sldId id="623" r:id="rId61"/>
    <p:sldId id="624" r:id="rId62"/>
    <p:sldId id="626" r:id="rId63"/>
    <p:sldId id="627" r:id="rId64"/>
    <p:sldId id="628" r:id="rId65"/>
    <p:sldId id="629" r:id="rId66"/>
    <p:sldId id="317" r:id="rId67"/>
    <p:sldId id="318" r:id="rId68"/>
    <p:sldId id="319" r:id="rId69"/>
    <p:sldId id="320" r:id="rId70"/>
    <p:sldId id="322" r:id="rId71"/>
    <p:sldId id="321" r:id="rId72"/>
    <p:sldId id="323" r:id="rId73"/>
    <p:sldId id="324" r:id="rId74"/>
    <p:sldId id="325" r:id="rId75"/>
    <p:sldId id="326" r:id="rId76"/>
    <p:sldId id="328" r:id="rId77"/>
    <p:sldId id="329" r:id="rId78"/>
    <p:sldId id="330" r:id="rId79"/>
    <p:sldId id="331" r:id="rId80"/>
    <p:sldId id="377" r:id="rId81"/>
    <p:sldId id="642" r:id="rId82"/>
    <p:sldId id="647" r:id="rId83"/>
    <p:sldId id="648" r:id="rId84"/>
    <p:sldId id="649" r:id="rId85"/>
    <p:sldId id="650" r:id="rId86"/>
    <p:sldId id="651" r:id="rId87"/>
    <p:sldId id="653" r:id="rId88"/>
    <p:sldId id="654" r:id="rId89"/>
    <p:sldId id="655" r:id="rId90"/>
    <p:sldId id="656" r:id="rId91"/>
    <p:sldId id="652" r:id="rId92"/>
    <p:sldId id="657" r:id="rId93"/>
    <p:sldId id="659" r:id="rId94"/>
    <p:sldId id="660" r:id="rId95"/>
    <p:sldId id="661" r:id="rId96"/>
    <p:sldId id="662" r:id="rId97"/>
    <p:sldId id="663" r:id="rId98"/>
    <p:sldId id="664" r:id="rId99"/>
    <p:sldId id="675" r:id="rId100"/>
    <p:sldId id="676" r:id="rId101"/>
    <p:sldId id="332" r:id="rId102"/>
    <p:sldId id="334" r:id="rId103"/>
    <p:sldId id="335" r:id="rId104"/>
    <p:sldId id="336" r:id="rId105"/>
    <p:sldId id="418" r:id="rId106"/>
    <p:sldId id="470" r:id="rId107"/>
    <p:sldId id="302" r:id="rId108"/>
    <p:sldId id="519" r:id="rId109"/>
    <p:sldId id="337" r:id="rId110"/>
    <p:sldId id="343" r:id="rId111"/>
    <p:sldId id="338" r:id="rId112"/>
    <p:sldId id="339" r:id="rId113"/>
    <p:sldId id="340" r:id="rId114"/>
    <p:sldId id="378" r:id="rId115"/>
    <p:sldId id="516" r:id="rId116"/>
    <p:sldId id="517" r:id="rId117"/>
    <p:sldId id="518" r:id="rId118"/>
    <p:sldId id="475" r:id="rId119"/>
    <p:sldId id="476" r:id="rId120"/>
    <p:sldId id="477" r:id="rId121"/>
    <p:sldId id="478" r:id="rId122"/>
    <p:sldId id="479" r:id="rId123"/>
    <p:sldId id="480" r:id="rId124"/>
    <p:sldId id="481" r:id="rId125"/>
    <p:sldId id="482" r:id="rId126"/>
    <p:sldId id="483" r:id="rId127"/>
    <p:sldId id="484" r:id="rId128"/>
    <p:sldId id="485" r:id="rId129"/>
    <p:sldId id="486" r:id="rId130"/>
    <p:sldId id="487" r:id="rId131"/>
    <p:sldId id="488" r:id="rId132"/>
    <p:sldId id="489" r:id="rId133"/>
    <p:sldId id="490" r:id="rId134"/>
    <p:sldId id="491" r:id="rId135"/>
    <p:sldId id="492" r:id="rId136"/>
    <p:sldId id="493" r:id="rId137"/>
    <p:sldId id="494" r:id="rId138"/>
    <p:sldId id="495" r:id="rId139"/>
    <p:sldId id="497" r:id="rId140"/>
    <p:sldId id="667" r:id="rId141"/>
    <p:sldId id="498" r:id="rId142"/>
    <p:sldId id="499" r:id="rId143"/>
    <p:sldId id="500" r:id="rId144"/>
    <p:sldId id="501" r:id="rId145"/>
    <p:sldId id="502" r:id="rId146"/>
    <p:sldId id="503" r:id="rId147"/>
    <p:sldId id="504" r:id="rId148"/>
    <p:sldId id="505" r:id="rId149"/>
    <p:sldId id="506" r:id="rId150"/>
    <p:sldId id="507" r:id="rId151"/>
    <p:sldId id="508" r:id="rId152"/>
    <p:sldId id="509" r:id="rId153"/>
    <p:sldId id="510" r:id="rId154"/>
    <p:sldId id="511" r:id="rId155"/>
    <p:sldId id="512" r:id="rId156"/>
    <p:sldId id="668" r:id="rId157"/>
    <p:sldId id="453" r:id="rId158"/>
    <p:sldId id="631" r:id="rId159"/>
    <p:sldId id="671" r:id="rId160"/>
    <p:sldId id="637" r:id="rId161"/>
    <p:sldId id="673" r:id="rId162"/>
    <p:sldId id="639" r:id="rId163"/>
    <p:sldId id="640" r:id="rId164"/>
    <p:sldId id="641" r:id="rId165"/>
    <p:sldId id="674" r:id="rId166"/>
    <p:sldId id="672" r:id="rId167"/>
    <p:sldId id="678" r:id="rId168"/>
    <p:sldId id="679" r:id="rId169"/>
    <p:sldId id="680" r:id="rId170"/>
    <p:sldId id="681" r:id="rId171"/>
    <p:sldId id="682" r:id="rId172"/>
    <p:sldId id="683" r:id="rId173"/>
    <p:sldId id="684" r:id="rId174"/>
    <p:sldId id="685" r:id="rId175"/>
    <p:sldId id="686" r:id="rId176"/>
    <p:sldId id="687" r:id="rId177"/>
    <p:sldId id="688" r:id="rId178"/>
    <p:sldId id="689" r:id="rId179"/>
    <p:sldId id="690" r:id="rId180"/>
    <p:sldId id="691" r:id="rId181"/>
    <p:sldId id="692" r:id="rId182"/>
    <p:sldId id="693" r:id="rId183"/>
    <p:sldId id="694" r:id="rId184"/>
    <p:sldId id="695" r:id="rId185"/>
    <p:sldId id="696" r:id="rId186"/>
    <p:sldId id="697" r:id="rId187"/>
    <p:sldId id="698" r:id="rId188"/>
    <p:sldId id="699" r:id="rId189"/>
    <p:sldId id="700" r:id="rId190"/>
    <p:sldId id="701" r:id="rId191"/>
    <p:sldId id="702" r:id="rId192"/>
    <p:sldId id="703" r:id="rId193"/>
    <p:sldId id="632" r:id="rId194"/>
  </p:sldIdLst>
  <p:sldSz cx="972978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0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7030A0"/>
    <a:srgbClr val="0033CC"/>
    <a:srgbClr val="3858B5"/>
    <a:srgbClr val="FFD03B"/>
    <a:srgbClr val="A6A6A6"/>
    <a:srgbClr val="FFD966"/>
    <a:srgbClr val="C55A11"/>
    <a:srgbClr val="00FF00"/>
    <a:srgbClr val="7FB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p:cViewPr varScale="1">
        <p:scale>
          <a:sx n="38" d="100"/>
          <a:sy n="38" d="100"/>
        </p:scale>
        <p:origin x="72" y="504"/>
      </p:cViewPr>
      <p:guideLst>
        <p:guide orient="horz" pos="2160"/>
        <p:guide pos="3064"/>
      </p:guideLst>
    </p:cSldViewPr>
  </p:slideViewPr>
  <p:notesTextViewPr>
    <p:cViewPr>
      <p:scale>
        <a:sx n="1" d="1"/>
        <a:sy n="1" d="1"/>
      </p:scale>
      <p:origin x="0" y="0"/>
    </p:cViewPr>
  </p:notesTextViewPr>
  <p:gridSpacing cx="114300" cy="1143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70" Type="http://schemas.openxmlformats.org/officeDocument/2006/relationships/slide" Target="slides/slide165.xml"/><Relationship Id="rId191" Type="http://schemas.openxmlformats.org/officeDocument/2006/relationships/slide" Target="slides/slide186.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5.xml"/><Relationship Id="rId95" Type="http://schemas.openxmlformats.org/officeDocument/2006/relationships/slide" Target="slides/slide90.xml"/><Relationship Id="rId160" Type="http://schemas.openxmlformats.org/officeDocument/2006/relationships/slide" Target="slides/slide155.xml"/><Relationship Id="rId181" Type="http://schemas.openxmlformats.org/officeDocument/2006/relationships/slide" Target="slides/slide176.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92" Type="http://schemas.openxmlformats.org/officeDocument/2006/relationships/slide" Target="slides/slide187.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6" Type="http://schemas.openxmlformats.org/officeDocument/2006/relationships/slide" Target="slides/slide1.xml"/><Relationship Id="rId23" Type="http://schemas.openxmlformats.org/officeDocument/2006/relationships/slide" Target="slides/slide18.xml"/><Relationship Id="rId119" Type="http://schemas.openxmlformats.org/officeDocument/2006/relationships/slide" Target="slides/slide114.xml"/><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93" Type="http://schemas.openxmlformats.org/officeDocument/2006/relationships/slide" Target="slides/slide188.xml"/><Relationship Id="rId13" Type="http://schemas.openxmlformats.org/officeDocument/2006/relationships/slide" Target="slides/slide8.xml"/><Relationship Id="rId109" Type="http://schemas.openxmlformats.org/officeDocument/2006/relationships/slide" Target="slides/slide104.xml"/><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162" Type="http://schemas.openxmlformats.org/officeDocument/2006/relationships/slide" Target="slides/slide157.xml"/><Relationship Id="rId183" Type="http://schemas.openxmlformats.org/officeDocument/2006/relationships/slide" Target="slides/slide178.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199"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189" Type="http://schemas.openxmlformats.org/officeDocument/2006/relationships/slide" Target="slides/slide184.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79" Type="http://schemas.openxmlformats.org/officeDocument/2006/relationships/slide" Target="slides/slide174.xml"/><Relationship Id="rId195" Type="http://schemas.openxmlformats.org/officeDocument/2006/relationships/notesMaster" Target="notesMasters/notesMaster1.xml"/><Relationship Id="rId190" Type="http://schemas.openxmlformats.org/officeDocument/2006/relationships/slide" Target="slides/slide185.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slide" Target="slides/slide159.xml"/><Relationship Id="rId169" Type="http://schemas.openxmlformats.org/officeDocument/2006/relationships/slide" Target="slides/slide164.xml"/><Relationship Id="rId185" Type="http://schemas.openxmlformats.org/officeDocument/2006/relationships/slide" Target="slides/slide180.xml"/><Relationship Id="rId4" Type="http://schemas.openxmlformats.org/officeDocument/2006/relationships/slideMaster" Target="slideMasters/slideMaster4.xml"/><Relationship Id="rId9" Type="http://schemas.openxmlformats.org/officeDocument/2006/relationships/slide" Target="slides/slide4.xml"/><Relationship Id="rId180" Type="http://schemas.openxmlformats.org/officeDocument/2006/relationships/slide" Target="slides/slide175.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presProps" Target="presProps.xml"/><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viewProps" Target="viewProps.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slideMaster" Target="slideMasters/slideMaster1.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theme" Target="theme/theme1.xml"/><Relationship Id="rId18" Type="http://schemas.openxmlformats.org/officeDocument/2006/relationships/slide" Target="slides/slide13.xml"/><Relationship Id="rId39" Type="http://schemas.openxmlformats.org/officeDocument/2006/relationships/slide" Target="slides/slide34.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4B5662-4163-41AF-93F7-61E160D3116B}" type="datetimeFigureOut">
              <a:rPr lang="en-US" smtClean="0"/>
              <a:t>2/23/2021</a:t>
            </a:fld>
            <a:endParaRPr lang="en-US"/>
          </a:p>
        </p:txBody>
      </p:sp>
      <p:sp>
        <p:nvSpPr>
          <p:cNvPr id="4" name="Slide Image Placeholder 3"/>
          <p:cNvSpPr>
            <a:spLocks noGrp="1" noRot="1" noChangeAspect="1"/>
          </p:cNvSpPr>
          <p:nvPr>
            <p:ph type="sldImg" idx="2"/>
          </p:nvPr>
        </p:nvSpPr>
        <p:spPr>
          <a:xfrm>
            <a:off x="1239838" y="1143000"/>
            <a:ext cx="43783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566F4B-4844-42DD-9AAE-A5C56F006A36}" type="slidenum">
              <a:rPr lang="en-US" smtClean="0"/>
              <a:t>‹#›</a:t>
            </a:fld>
            <a:endParaRPr lang="en-US"/>
          </a:p>
        </p:txBody>
      </p:sp>
    </p:spTree>
    <p:extLst>
      <p:ext uri="{BB962C8B-B14F-4D97-AF65-F5344CB8AC3E}">
        <p14:creationId xmlns:p14="http://schemas.microsoft.com/office/powerpoint/2010/main" val="3752521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19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4385ABE-6817-484C-8D3D-ED7AF42E4090}" type="slidenum">
              <a:rPr kumimoji="0" lang="en-US" altLang="en-US" smtClean="0"/>
              <a:pPr/>
              <a:t>2</a:t>
            </a:fld>
            <a:endParaRPr kumimoji="0" lang="en-US" altLang="en-US" smtClean="0"/>
          </a:p>
        </p:txBody>
      </p:sp>
    </p:spTree>
    <p:extLst>
      <p:ext uri="{BB962C8B-B14F-4D97-AF65-F5344CB8AC3E}">
        <p14:creationId xmlns:p14="http://schemas.microsoft.com/office/powerpoint/2010/main" val="4017367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9734" y="1122363"/>
            <a:ext cx="827032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216224" y="3602038"/>
            <a:ext cx="729734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5100758-EA78-4E53-A056-5EE03AE6E5B6}" type="datetimeFigureOut">
              <a:rPr lang="en-US" smtClean="0"/>
              <a:t>2/23/2021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1054684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100758-EA78-4E53-A056-5EE03AE6E5B6}" type="datetimeFigureOut">
              <a:rPr lang="en-US" smtClean="0"/>
              <a:t>2/23/2021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127555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63856" y="1709740"/>
            <a:ext cx="8391942"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63856" y="4589465"/>
            <a:ext cx="8391942"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100758-EA78-4E53-A056-5EE03AE6E5B6}" type="datetimeFigureOut">
              <a:rPr lang="en-US" smtClean="0"/>
              <a:t>2/23/2021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3714336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68923" y="1825625"/>
            <a:ext cx="413516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25705" y="1825625"/>
            <a:ext cx="413516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5100758-EA78-4E53-A056-5EE03AE6E5B6}" type="datetimeFigureOut">
              <a:rPr lang="en-US" smtClean="0"/>
              <a:t>2/23/2021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4104487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0190" y="365127"/>
            <a:ext cx="8391942"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70191" y="1681163"/>
            <a:ext cx="411615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0191" y="2505075"/>
            <a:ext cx="411615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925706" y="1681163"/>
            <a:ext cx="413642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25706" y="2505075"/>
            <a:ext cx="413642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5100758-EA78-4E53-A056-5EE03AE6E5B6}" type="datetimeFigureOut">
              <a:rPr lang="en-US" smtClean="0"/>
              <a:t>2/23/2021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570128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5100758-EA78-4E53-A056-5EE03AE6E5B6}" type="datetimeFigureOut">
              <a:rPr lang="en-US" smtClean="0"/>
              <a:t>2/23/2021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1113932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100758-EA78-4E53-A056-5EE03AE6E5B6}" type="datetimeFigureOut">
              <a:rPr lang="en-US" smtClean="0"/>
              <a:t>2/23/2021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1243445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0190" y="457200"/>
            <a:ext cx="3138110"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4136427" y="987427"/>
            <a:ext cx="492570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0190" y="2057400"/>
            <a:ext cx="313811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100758-EA78-4E53-A056-5EE03AE6E5B6}" type="datetimeFigureOut">
              <a:rPr lang="en-US" smtClean="0"/>
              <a:t>2/23/2021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840867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0190" y="457200"/>
            <a:ext cx="3138110"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136427" y="987427"/>
            <a:ext cx="4925705"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70190" y="2057400"/>
            <a:ext cx="313811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100758-EA78-4E53-A056-5EE03AE6E5B6}" type="datetimeFigureOut">
              <a:rPr lang="en-US" smtClean="0"/>
              <a:t>2/23/2021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620146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100758-EA78-4E53-A056-5EE03AE6E5B6}" type="datetimeFigureOut">
              <a:rPr lang="en-US" smtClean="0"/>
              <a:t>2/23/2021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370359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62880" y="365125"/>
            <a:ext cx="2097986"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68924" y="365125"/>
            <a:ext cx="6172334"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100758-EA78-4E53-A056-5EE03AE6E5B6}" type="datetimeFigureOut">
              <a:rPr lang="en-US" smtClean="0"/>
              <a:t>2/23/2021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64A3AD-D5C6-46DE-81C2-F64A40D8FD87}" type="slidenum">
              <a:rPr lang="en-US" smtClean="0"/>
              <a:t>‹#›</a:t>
            </a:fld>
            <a:endParaRPr lang="en-US"/>
          </a:p>
        </p:txBody>
      </p:sp>
    </p:spTree>
    <p:extLst>
      <p:ext uri="{BB962C8B-B14F-4D97-AF65-F5344CB8AC3E}">
        <p14:creationId xmlns:p14="http://schemas.microsoft.com/office/powerpoint/2010/main" val="3189343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9734" y="1122363"/>
            <a:ext cx="827032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216224" y="3602038"/>
            <a:ext cx="729734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5" name="Footer Placeholder 4"/>
          <p:cNvSpPr>
            <a:spLocks noGrp="1"/>
          </p:cNvSpPr>
          <p:nvPr>
            <p:ph type="ftr" sz="quarter" idx="11"/>
          </p:nvPr>
        </p:nvSpPr>
        <p:spPr/>
        <p:txBody>
          <a:bodyPr/>
          <a:lstStyle/>
          <a:p>
            <a:pPr>
              <a:defRPr/>
            </a:pPr>
            <a:endParaRPr lang="en-US">
              <a:solidFill>
                <a:prstClr val="black"/>
              </a:solidFill>
            </a:endParaRPr>
          </a:p>
        </p:txBody>
      </p:sp>
      <p:sp>
        <p:nvSpPr>
          <p:cNvPr id="6" name="Slide Number Placeholder 5"/>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2672525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5" name="Footer Placeholder 4"/>
          <p:cNvSpPr>
            <a:spLocks noGrp="1"/>
          </p:cNvSpPr>
          <p:nvPr>
            <p:ph type="ftr" sz="quarter" idx="11"/>
          </p:nvPr>
        </p:nvSpPr>
        <p:spPr/>
        <p:txBody>
          <a:bodyPr/>
          <a:lstStyle/>
          <a:p>
            <a:pPr>
              <a:defRPr/>
            </a:pPr>
            <a:endParaRPr lang="en-US">
              <a:solidFill>
                <a:prstClr val="black"/>
              </a:solidFill>
            </a:endParaRPr>
          </a:p>
        </p:txBody>
      </p:sp>
      <p:sp>
        <p:nvSpPr>
          <p:cNvPr id="6" name="Slide Number Placeholder 5"/>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2067762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63856" y="1709740"/>
            <a:ext cx="8391942"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63856" y="4589465"/>
            <a:ext cx="8391942"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5" name="Footer Placeholder 4"/>
          <p:cNvSpPr>
            <a:spLocks noGrp="1"/>
          </p:cNvSpPr>
          <p:nvPr>
            <p:ph type="ftr" sz="quarter" idx="11"/>
          </p:nvPr>
        </p:nvSpPr>
        <p:spPr/>
        <p:txBody>
          <a:bodyPr/>
          <a:lstStyle/>
          <a:p>
            <a:pPr>
              <a:defRPr/>
            </a:pPr>
            <a:endParaRPr lang="en-US">
              <a:solidFill>
                <a:prstClr val="black"/>
              </a:solidFill>
            </a:endParaRPr>
          </a:p>
        </p:txBody>
      </p:sp>
      <p:sp>
        <p:nvSpPr>
          <p:cNvPr id="6" name="Slide Number Placeholder 5"/>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992106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68923" y="1825625"/>
            <a:ext cx="413516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25705" y="1825625"/>
            <a:ext cx="413516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6" name="Footer Placeholder 5"/>
          <p:cNvSpPr>
            <a:spLocks noGrp="1"/>
          </p:cNvSpPr>
          <p:nvPr>
            <p:ph type="ftr" sz="quarter" idx="11"/>
          </p:nvPr>
        </p:nvSpPr>
        <p:spPr/>
        <p:txBody>
          <a:bodyPr/>
          <a:lstStyle/>
          <a:p>
            <a:pPr>
              <a:defRPr/>
            </a:pPr>
            <a:endParaRPr lang="en-US">
              <a:solidFill>
                <a:prstClr val="black"/>
              </a:solidFill>
            </a:endParaRPr>
          </a:p>
        </p:txBody>
      </p:sp>
      <p:sp>
        <p:nvSpPr>
          <p:cNvPr id="7" name="Slide Number Placeholder 6"/>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1366907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0190" y="365127"/>
            <a:ext cx="8391942"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70191" y="1681163"/>
            <a:ext cx="411615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0191" y="2505075"/>
            <a:ext cx="411615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925706" y="1681163"/>
            <a:ext cx="413642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25706" y="2505075"/>
            <a:ext cx="413642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8" name="Footer Placeholder 7"/>
          <p:cNvSpPr>
            <a:spLocks noGrp="1"/>
          </p:cNvSpPr>
          <p:nvPr>
            <p:ph type="ftr" sz="quarter" idx="11"/>
          </p:nvPr>
        </p:nvSpPr>
        <p:spPr/>
        <p:txBody>
          <a:bodyPr/>
          <a:lstStyle/>
          <a:p>
            <a:pPr>
              <a:defRPr/>
            </a:pPr>
            <a:endParaRPr lang="en-US">
              <a:solidFill>
                <a:prstClr val="black"/>
              </a:solidFill>
            </a:endParaRPr>
          </a:p>
        </p:txBody>
      </p:sp>
      <p:sp>
        <p:nvSpPr>
          <p:cNvPr id="9" name="Slide Number Placeholder 8"/>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1260127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4" name="Footer Placeholder 3"/>
          <p:cNvSpPr>
            <a:spLocks noGrp="1"/>
          </p:cNvSpPr>
          <p:nvPr>
            <p:ph type="ftr" sz="quarter" idx="11"/>
          </p:nvPr>
        </p:nvSpPr>
        <p:spPr/>
        <p:txBody>
          <a:bodyPr/>
          <a:lstStyle/>
          <a:p>
            <a:pPr>
              <a:defRPr/>
            </a:pPr>
            <a:endParaRPr lang="en-US">
              <a:solidFill>
                <a:prstClr val="black"/>
              </a:solidFill>
            </a:endParaRPr>
          </a:p>
        </p:txBody>
      </p:sp>
      <p:sp>
        <p:nvSpPr>
          <p:cNvPr id="5" name="Slide Number Placeholder 4"/>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26053786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3" name="Footer Placeholder 2"/>
          <p:cNvSpPr>
            <a:spLocks noGrp="1"/>
          </p:cNvSpPr>
          <p:nvPr>
            <p:ph type="ftr" sz="quarter" idx="11"/>
          </p:nvPr>
        </p:nvSpPr>
        <p:spPr/>
        <p:txBody>
          <a:bodyPr/>
          <a:lstStyle/>
          <a:p>
            <a:pPr>
              <a:defRPr/>
            </a:pPr>
            <a:endParaRPr lang="en-US">
              <a:solidFill>
                <a:prstClr val="black"/>
              </a:solidFill>
            </a:endParaRPr>
          </a:p>
        </p:txBody>
      </p:sp>
      <p:sp>
        <p:nvSpPr>
          <p:cNvPr id="4" name="Slide Number Placeholder 3"/>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2849459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0190" y="457200"/>
            <a:ext cx="3138110"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4136427" y="987427"/>
            <a:ext cx="492570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0190" y="2057400"/>
            <a:ext cx="313811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6" name="Footer Placeholder 5"/>
          <p:cNvSpPr>
            <a:spLocks noGrp="1"/>
          </p:cNvSpPr>
          <p:nvPr>
            <p:ph type="ftr" sz="quarter" idx="11"/>
          </p:nvPr>
        </p:nvSpPr>
        <p:spPr/>
        <p:txBody>
          <a:bodyPr/>
          <a:lstStyle/>
          <a:p>
            <a:pPr>
              <a:defRPr/>
            </a:pPr>
            <a:endParaRPr lang="en-US">
              <a:solidFill>
                <a:prstClr val="black"/>
              </a:solidFill>
            </a:endParaRPr>
          </a:p>
        </p:txBody>
      </p:sp>
      <p:sp>
        <p:nvSpPr>
          <p:cNvPr id="7" name="Slide Number Placeholder 6"/>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34539018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0190" y="457200"/>
            <a:ext cx="3138110"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136427" y="987427"/>
            <a:ext cx="4925705"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70190" y="2057400"/>
            <a:ext cx="313811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6" name="Footer Placeholder 5"/>
          <p:cNvSpPr>
            <a:spLocks noGrp="1"/>
          </p:cNvSpPr>
          <p:nvPr>
            <p:ph type="ftr" sz="quarter" idx="11"/>
          </p:nvPr>
        </p:nvSpPr>
        <p:spPr/>
        <p:txBody>
          <a:bodyPr/>
          <a:lstStyle/>
          <a:p>
            <a:pPr>
              <a:defRPr/>
            </a:pPr>
            <a:endParaRPr lang="en-US">
              <a:solidFill>
                <a:prstClr val="black"/>
              </a:solidFill>
            </a:endParaRPr>
          </a:p>
        </p:txBody>
      </p:sp>
      <p:sp>
        <p:nvSpPr>
          <p:cNvPr id="7" name="Slide Number Placeholder 6"/>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5895125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5" name="Footer Placeholder 4"/>
          <p:cNvSpPr>
            <a:spLocks noGrp="1"/>
          </p:cNvSpPr>
          <p:nvPr>
            <p:ph type="ftr" sz="quarter" idx="11"/>
          </p:nvPr>
        </p:nvSpPr>
        <p:spPr/>
        <p:txBody>
          <a:bodyPr/>
          <a:lstStyle/>
          <a:p>
            <a:pPr>
              <a:defRPr/>
            </a:pPr>
            <a:endParaRPr lang="en-US">
              <a:solidFill>
                <a:prstClr val="black"/>
              </a:solidFill>
            </a:endParaRPr>
          </a:p>
        </p:txBody>
      </p:sp>
      <p:sp>
        <p:nvSpPr>
          <p:cNvPr id="6" name="Slide Number Placeholder 5"/>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8895458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62880" y="365125"/>
            <a:ext cx="2097986"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68924" y="365125"/>
            <a:ext cx="6172334"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375BA7AC-D5B2-4EAB-A1FF-2BEE77A7CE74}" type="datetimeFigureOut">
              <a:rPr lang="en-US" smtClean="0">
                <a:solidFill>
                  <a:prstClr val="black"/>
                </a:solidFill>
              </a:rPr>
              <a:pPr>
                <a:defRPr/>
              </a:pPr>
              <a:t>2/23/2021</a:t>
            </a:fld>
            <a:endParaRPr lang="en-US">
              <a:solidFill>
                <a:prstClr val="black"/>
              </a:solidFill>
            </a:endParaRPr>
          </a:p>
        </p:txBody>
      </p:sp>
      <p:sp>
        <p:nvSpPr>
          <p:cNvPr id="5" name="Footer Placeholder 4"/>
          <p:cNvSpPr>
            <a:spLocks noGrp="1"/>
          </p:cNvSpPr>
          <p:nvPr>
            <p:ph type="ftr" sz="quarter" idx="11"/>
          </p:nvPr>
        </p:nvSpPr>
        <p:spPr/>
        <p:txBody>
          <a:bodyPr/>
          <a:lstStyle/>
          <a:p>
            <a:pPr>
              <a:defRPr/>
            </a:pPr>
            <a:endParaRPr lang="en-US">
              <a:solidFill>
                <a:prstClr val="black"/>
              </a:solidFill>
            </a:endParaRPr>
          </a:p>
        </p:txBody>
      </p:sp>
      <p:sp>
        <p:nvSpPr>
          <p:cNvPr id="6" name="Slide Number Placeholder 5"/>
          <p:cNvSpPr>
            <a:spLocks noGrp="1"/>
          </p:cNvSpPr>
          <p:nvPr>
            <p:ph type="sldNum" sz="quarter" idx="12"/>
          </p:nvPr>
        </p:nvSpPr>
        <p:spPr/>
        <p:txBody>
          <a:bodyPr/>
          <a:lstStyle/>
          <a:p>
            <a:pPr>
              <a:defRPr/>
            </a:pPr>
            <a:fld id="{D192214B-8AB3-47AC-8DCC-1843CB75F973}" type="slidenum">
              <a:rPr lang="en-US" smtClean="0">
                <a:solidFill>
                  <a:prstClr val="black"/>
                </a:solidFill>
              </a:rPr>
              <a:pPr>
                <a:defRPr/>
              </a:pPr>
              <a:t>‹#›</a:t>
            </a:fld>
            <a:endParaRPr lang="en-US">
              <a:solidFill>
                <a:prstClr val="black"/>
              </a:solidFill>
            </a:endParaRPr>
          </a:p>
        </p:txBody>
      </p:sp>
    </p:spTree>
    <p:extLst>
      <p:ext uri="{BB962C8B-B14F-4D97-AF65-F5344CB8AC3E}">
        <p14:creationId xmlns:p14="http://schemas.microsoft.com/office/powerpoint/2010/main" val="1355702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16224" y="1122363"/>
            <a:ext cx="7297341" cy="2387600"/>
          </a:xfrm>
        </p:spPr>
        <p:txBody>
          <a:bodyPr anchor="b"/>
          <a:lstStyle>
            <a:lvl1pPr algn="ctr">
              <a:defRPr sz="4789"/>
            </a:lvl1pPr>
          </a:lstStyle>
          <a:p>
            <a:r>
              <a:rPr lang="en-US" smtClean="0"/>
              <a:t>Click to edit Master title style</a:t>
            </a:r>
            <a:endParaRPr lang="en-US"/>
          </a:p>
        </p:txBody>
      </p:sp>
      <p:sp>
        <p:nvSpPr>
          <p:cNvPr id="3" name="Subtitle 2"/>
          <p:cNvSpPr>
            <a:spLocks noGrp="1"/>
          </p:cNvSpPr>
          <p:nvPr>
            <p:ph type="subTitle" idx="1"/>
          </p:nvPr>
        </p:nvSpPr>
        <p:spPr>
          <a:xfrm>
            <a:off x="1216224" y="3602038"/>
            <a:ext cx="7297341" cy="1655762"/>
          </a:xfrm>
        </p:spPr>
        <p:txBody>
          <a:bodyPr/>
          <a:lstStyle>
            <a:lvl1pPr marL="0" indent="0" algn="ctr">
              <a:buNone/>
              <a:defRPr sz="1915"/>
            </a:lvl1pPr>
            <a:lvl2pPr marL="364871" indent="0" algn="ctr">
              <a:buNone/>
              <a:defRPr sz="1596"/>
            </a:lvl2pPr>
            <a:lvl3pPr marL="729742" indent="0" algn="ctr">
              <a:buNone/>
              <a:defRPr sz="1436"/>
            </a:lvl3pPr>
            <a:lvl4pPr marL="1094613" indent="0" algn="ctr">
              <a:buNone/>
              <a:defRPr sz="1277"/>
            </a:lvl4pPr>
            <a:lvl5pPr marL="1459484" indent="0" algn="ctr">
              <a:buNone/>
              <a:defRPr sz="1277"/>
            </a:lvl5pPr>
            <a:lvl6pPr marL="1824356" indent="0" algn="ctr">
              <a:buNone/>
              <a:defRPr sz="1277"/>
            </a:lvl6pPr>
            <a:lvl7pPr marL="2189226" indent="0" algn="ctr">
              <a:buNone/>
              <a:defRPr sz="1277"/>
            </a:lvl7pPr>
            <a:lvl8pPr marL="2554097" indent="0" algn="ctr">
              <a:buNone/>
              <a:defRPr sz="1277"/>
            </a:lvl8pPr>
            <a:lvl9pPr marL="2918969" indent="0" algn="ctr">
              <a:buNone/>
              <a:defRPr sz="1277"/>
            </a:lvl9pPr>
          </a:lstStyle>
          <a:p>
            <a:r>
              <a:rPr lang="en-US" smtClean="0"/>
              <a:t>Click to edit Master subtitle style</a:t>
            </a:r>
            <a:endParaRPr lang="en-US"/>
          </a:p>
        </p:txBody>
      </p:sp>
      <p:sp>
        <p:nvSpPr>
          <p:cNvPr id="4" name="Date Placeholder 3"/>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5" name="Footer Placeholder 4"/>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4773683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5" name="Footer Placeholder 4"/>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995148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63856" y="1709740"/>
            <a:ext cx="8391942" cy="2852737"/>
          </a:xfrm>
        </p:spPr>
        <p:txBody>
          <a:bodyPr anchor="b"/>
          <a:lstStyle>
            <a:lvl1pPr>
              <a:defRPr sz="4789"/>
            </a:lvl1pPr>
          </a:lstStyle>
          <a:p>
            <a:r>
              <a:rPr lang="en-US" smtClean="0"/>
              <a:t>Click to edit Master title style</a:t>
            </a:r>
            <a:endParaRPr lang="en-US"/>
          </a:p>
        </p:txBody>
      </p:sp>
      <p:sp>
        <p:nvSpPr>
          <p:cNvPr id="3" name="Text Placeholder 2"/>
          <p:cNvSpPr>
            <a:spLocks noGrp="1"/>
          </p:cNvSpPr>
          <p:nvPr>
            <p:ph type="body" idx="1"/>
          </p:nvPr>
        </p:nvSpPr>
        <p:spPr>
          <a:xfrm>
            <a:off x="663856" y="4589465"/>
            <a:ext cx="8391942" cy="1500187"/>
          </a:xfrm>
        </p:spPr>
        <p:txBody>
          <a:bodyPr/>
          <a:lstStyle>
            <a:lvl1pPr marL="0" indent="0">
              <a:buNone/>
              <a:defRPr sz="1915">
                <a:solidFill>
                  <a:schemeClr val="tx1">
                    <a:tint val="75000"/>
                  </a:schemeClr>
                </a:solidFill>
              </a:defRPr>
            </a:lvl1pPr>
            <a:lvl2pPr marL="364871" indent="0">
              <a:buNone/>
              <a:defRPr sz="1596">
                <a:solidFill>
                  <a:schemeClr val="tx1">
                    <a:tint val="75000"/>
                  </a:schemeClr>
                </a:solidFill>
              </a:defRPr>
            </a:lvl2pPr>
            <a:lvl3pPr marL="729742" indent="0">
              <a:buNone/>
              <a:defRPr sz="1436">
                <a:solidFill>
                  <a:schemeClr val="tx1">
                    <a:tint val="75000"/>
                  </a:schemeClr>
                </a:solidFill>
              </a:defRPr>
            </a:lvl3pPr>
            <a:lvl4pPr marL="1094613" indent="0">
              <a:buNone/>
              <a:defRPr sz="1277">
                <a:solidFill>
                  <a:schemeClr val="tx1">
                    <a:tint val="75000"/>
                  </a:schemeClr>
                </a:solidFill>
              </a:defRPr>
            </a:lvl4pPr>
            <a:lvl5pPr marL="1459484" indent="0">
              <a:buNone/>
              <a:defRPr sz="1277">
                <a:solidFill>
                  <a:schemeClr val="tx1">
                    <a:tint val="75000"/>
                  </a:schemeClr>
                </a:solidFill>
              </a:defRPr>
            </a:lvl5pPr>
            <a:lvl6pPr marL="1824356" indent="0">
              <a:buNone/>
              <a:defRPr sz="1277">
                <a:solidFill>
                  <a:schemeClr val="tx1">
                    <a:tint val="75000"/>
                  </a:schemeClr>
                </a:solidFill>
              </a:defRPr>
            </a:lvl6pPr>
            <a:lvl7pPr marL="2189226" indent="0">
              <a:buNone/>
              <a:defRPr sz="1277">
                <a:solidFill>
                  <a:schemeClr val="tx1">
                    <a:tint val="75000"/>
                  </a:schemeClr>
                </a:solidFill>
              </a:defRPr>
            </a:lvl7pPr>
            <a:lvl8pPr marL="2554097" indent="0">
              <a:buNone/>
              <a:defRPr sz="1277">
                <a:solidFill>
                  <a:schemeClr val="tx1">
                    <a:tint val="75000"/>
                  </a:schemeClr>
                </a:solidFill>
              </a:defRPr>
            </a:lvl8pPr>
            <a:lvl9pPr marL="2918969" indent="0">
              <a:buNone/>
              <a:defRPr sz="1277">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5" name="Footer Placeholder 4"/>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3156357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68923" y="1825625"/>
            <a:ext cx="413516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25705" y="1825625"/>
            <a:ext cx="413516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6" name="Footer Placeholder 5"/>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7" name="Slide Number Placeholder 6"/>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7443534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0190" y="365127"/>
            <a:ext cx="8391942"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70191" y="1681163"/>
            <a:ext cx="4116156" cy="823912"/>
          </a:xfrm>
        </p:spPr>
        <p:txBody>
          <a:bodyPr anchor="b"/>
          <a:lstStyle>
            <a:lvl1pPr marL="0" indent="0">
              <a:buNone/>
              <a:defRPr sz="1915" b="1"/>
            </a:lvl1pPr>
            <a:lvl2pPr marL="364871" indent="0">
              <a:buNone/>
              <a:defRPr sz="1596" b="1"/>
            </a:lvl2pPr>
            <a:lvl3pPr marL="729742" indent="0">
              <a:buNone/>
              <a:defRPr sz="1436" b="1"/>
            </a:lvl3pPr>
            <a:lvl4pPr marL="1094613" indent="0">
              <a:buNone/>
              <a:defRPr sz="1277" b="1"/>
            </a:lvl4pPr>
            <a:lvl5pPr marL="1459484" indent="0">
              <a:buNone/>
              <a:defRPr sz="1277" b="1"/>
            </a:lvl5pPr>
            <a:lvl6pPr marL="1824356" indent="0">
              <a:buNone/>
              <a:defRPr sz="1277" b="1"/>
            </a:lvl6pPr>
            <a:lvl7pPr marL="2189226" indent="0">
              <a:buNone/>
              <a:defRPr sz="1277" b="1"/>
            </a:lvl7pPr>
            <a:lvl8pPr marL="2554097" indent="0">
              <a:buNone/>
              <a:defRPr sz="1277" b="1"/>
            </a:lvl8pPr>
            <a:lvl9pPr marL="2918969" indent="0">
              <a:buNone/>
              <a:defRPr sz="1277" b="1"/>
            </a:lvl9pPr>
          </a:lstStyle>
          <a:p>
            <a:pPr lvl="0"/>
            <a:r>
              <a:rPr lang="en-US" smtClean="0"/>
              <a:t>Click to edit Master text styles</a:t>
            </a:r>
          </a:p>
        </p:txBody>
      </p:sp>
      <p:sp>
        <p:nvSpPr>
          <p:cNvPr id="4" name="Content Placeholder 3"/>
          <p:cNvSpPr>
            <a:spLocks noGrp="1"/>
          </p:cNvSpPr>
          <p:nvPr>
            <p:ph sz="half" idx="2"/>
          </p:nvPr>
        </p:nvSpPr>
        <p:spPr>
          <a:xfrm>
            <a:off x="670191" y="2505075"/>
            <a:ext cx="411615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925705" y="1681163"/>
            <a:ext cx="4136428" cy="823912"/>
          </a:xfrm>
        </p:spPr>
        <p:txBody>
          <a:bodyPr anchor="b"/>
          <a:lstStyle>
            <a:lvl1pPr marL="0" indent="0">
              <a:buNone/>
              <a:defRPr sz="1915" b="1"/>
            </a:lvl1pPr>
            <a:lvl2pPr marL="364871" indent="0">
              <a:buNone/>
              <a:defRPr sz="1596" b="1"/>
            </a:lvl2pPr>
            <a:lvl3pPr marL="729742" indent="0">
              <a:buNone/>
              <a:defRPr sz="1436" b="1"/>
            </a:lvl3pPr>
            <a:lvl4pPr marL="1094613" indent="0">
              <a:buNone/>
              <a:defRPr sz="1277" b="1"/>
            </a:lvl4pPr>
            <a:lvl5pPr marL="1459484" indent="0">
              <a:buNone/>
              <a:defRPr sz="1277" b="1"/>
            </a:lvl5pPr>
            <a:lvl6pPr marL="1824356" indent="0">
              <a:buNone/>
              <a:defRPr sz="1277" b="1"/>
            </a:lvl6pPr>
            <a:lvl7pPr marL="2189226" indent="0">
              <a:buNone/>
              <a:defRPr sz="1277" b="1"/>
            </a:lvl7pPr>
            <a:lvl8pPr marL="2554097" indent="0">
              <a:buNone/>
              <a:defRPr sz="1277" b="1"/>
            </a:lvl8pPr>
            <a:lvl9pPr marL="2918969" indent="0">
              <a:buNone/>
              <a:defRPr sz="1277" b="1"/>
            </a:lvl9pPr>
          </a:lstStyle>
          <a:p>
            <a:pPr lvl="0"/>
            <a:r>
              <a:rPr lang="en-US" smtClean="0"/>
              <a:t>Click to edit Master text styles</a:t>
            </a:r>
          </a:p>
        </p:txBody>
      </p:sp>
      <p:sp>
        <p:nvSpPr>
          <p:cNvPr id="6" name="Content Placeholder 5"/>
          <p:cNvSpPr>
            <a:spLocks noGrp="1"/>
          </p:cNvSpPr>
          <p:nvPr>
            <p:ph sz="quarter" idx="4"/>
          </p:nvPr>
        </p:nvSpPr>
        <p:spPr>
          <a:xfrm>
            <a:off x="4925705" y="2505075"/>
            <a:ext cx="413642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8" name="Footer Placeholder 7"/>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9" name="Slide Number Placeholder 8"/>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5506853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4" name="Footer Placeholder 3"/>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5" name="Slide Number Placeholder 4"/>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2454587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3" name="Footer Placeholder 2"/>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4" name="Slide Number Placeholder 3"/>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5759879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0191" y="457200"/>
            <a:ext cx="3138110" cy="1600200"/>
          </a:xfrm>
        </p:spPr>
        <p:txBody>
          <a:bodyPr anchor="b"/>
          <a:lstStyle>
            <a:lvl1pPr>
              <a:defRPr sz="2553"/>
            </a:lvl1pPr>
          </a:lstStyle>
          <a:p>
            <a:r>
              <a:rPr lang="en-US" smtClean="0"/>
              <a:t>Click to edit Master title style</a:t>
            </a:r>
            <a:endParaRPr lang="en-US"/>
          </a:p>
        </p:txBody>
      </p:sp>
      <p:sp>
        <p:nvSpPr>
          <p:cNvPr id="3" name="Content Placeholder 2"/>
          <p:cNvSpPr>
            <a:spLocks noGrp="1"/>
          </p:cNvSpPr>
          <p:nvPr>
            <p:ph idx="1"/>
          </p:nvPr>
        </p:nvSpPr>
        <p:spPr>
          <a:xfrm>
            <a:off x="4136428" y="987427"/>
            <a:ext cx="4925705" cy="4873625"/>
          </a:xfrm>
        </p:spPr>
        <p:txBody>
          <a:bodyPr/>
          <a:lstStyle>
            <a:lvl1pPr>
              <a:defRPr sz="2553"/>
            </a:lvl1pPr>
            <a:lvl2pPr>
              <a:defRPr sz="2234"/>
            </a:lvl2pPr>
            <a:lvl3pPr>
              <a:defRPr sz="1915"/>
            </a:lvl3pPr>
            <a:lvl4pPr>
              <a:defRPr sz="1596"/>
            </a:lvl4pPr>
            <a:lvl5pPr>
              <a:defRPr sz="1596"/>
            </a:lvl5pPr>
            <a:lvl6pPr>
              <a:defRPr sz="1596"/>
            </a:lvl6pPr>
            <a:lvl7pPr>
              <a:defRPr sz="1596"/>
            </a:lvl7pPr>
            <a:lvl8pPr>
              <a:defRPr sz="1596"/>
            </a:lvl8pPr>
            <a:lvl9pPr>
              <a:defRPr sz="1596"/>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70191" y="2057400"/>
            <a:ext cx="3138110" cy="3811588"/>
          </a:xfrm>
        </p:spPr>
        <p:txBody>
          <a:bodyPr/>
          <a:lstStyle>
            <a:lvl1pPr marL="0" indent="0">
              <a:buNone/>
              <a:defRPr sz="1277"/>
            </a:lvl1pPr>
            <a:lvl2pPr marL="364871" indent="0">
              <a:buNone/>
              <a:defRPr sz="1117"/>
            </a:lvl2pPr>
            <a:lvl3pPr marL="729742" indent="0">
              <a:buNone/>
              <a:defRPr sz="958"/>
            </a:lvl3pPr>
            <a:lvl4pPr marL="1094613" indent="0">
              <a:buNone/>
              <a:defRPr sz="798"/>
            </a:lvl4pPr>
            <a:lvl5pPr marL="1459484" indent="0">
              <a:buNone/>
              <a:defRPr sz="798"/>
            </a:lvl5pPr>
            <a:lvl6pPr marL="1824356" indent="0">
              <a:buNone/>
              <a:defRPr sz="798"/>
            </a:lvl6pPr>
            <a:lvl7pPr marL="2189226" indent="0">
              <a:buNone/>
              <a:defRPr sz="798"/>
            </a:lvl7pPr>
            <a:lvl8pPr marL="2554097" indent="0">
              <a:buNone/>
              <a:defRPr sz="798"/>
            </a:lvl8pPr>
            <a:lvl9pPr marL="2918969" indent="0">
              <a:buNone/>
              <a:defRPr sz="798"/>
            </a:lvl9pPr>
          </a:lstStyle>
          <a:p>
            <a:pPr lvl="0"/>
            <a:r>
              <a:rPr lang="en-US" smtClean="0"/>
              <a:t>Click to edit Master text styles</a:t>
            </a:r>
          </a:p>
        </p:txBody>
      </p:sp>
      <p:sp>
        <p:nvSpPr>
          <p:cNvPr id="5" name="Date Placeholder 4"/>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6" name="Footer Placeholder 5"/>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7" name="Slide Number Placeholder 6"/>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2294790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0191" y="457200"/>
            <a:ext cx="3138110" cy="1600200"/>
          </a:xfrm>
        </p:spPr>
        <p:txBody>
          <a:bodyPr anchor="b"/>
          <a:lstStyle>
            <a:lvl1pPr>
              <a:defRPr sz="2553"/>
            </a:lvl1pPr>
          </a:lstStyle>
          <a:p>
            <a:r>
              <a:rPr lang="en-US" smtClean="0"/>
              <a:t>Click to edit Master title style</a:t>
            </a:r>
            <a:endParaRPr lang="en-US"/>
          </a:p>
        </p:txBody>
      </p:sp>
      <p:sp>
        <p:nvSpPr>
          <p:cNvPr id="3" name="Picture Placeholder 2"/>
          <p:cNvSpPr>
            <a:spLocks noGrp="1"/>
          </p:cNvSpPr>
          <p:nvPr>
            <p:ph type="pic" idx="1"/>
          </p:nvPr>
        </p:nvSpPr>
        <p:spPr>
          <a:xfrm>
            <a:off x="4136428" y="987427"/>
            <a:ext cx="4925705" cy="4873625"/>
          </a:xfrm>
        </p:spPr>
        <p:txBody>
          <a:bodyPr/>
          <a:lstStyle>
            <a:lvl1pPr marL="0" indent="0">
              <a:buNone/>
              <a:defRPr sz="2553"/>
            </a:lvl1pPr>
            <a:lvl2pPr marL="364871" indent="0">
              <a:buNone/>
              <a:defRPr sz="2234"/>
            </a:lvl2pPr>
            <a:lvl3pPr marL="729742" indent="0">
              <a:buNone/>
              <a:defRPr sz="1915"/>
            </a:lvl3pPr>
            <a:lvl4pPr marL="1094613" indent="0">
              <a:buNone/>
              <a:defRPr sz="1596"/>
            </a:lvl4pPr>
            <a:lvl5pPr marL="1459484" indent="0">
              <a:buNone/>
              <a:defRPr sz="1596"/>
            </a:lvl5pPr>
            <a:lvl6pPr marL="1824356" indent="0">
              <a:buNone/>
              <a:defRPr sz="1596"/>
            </a:lvl6pPr>
            <a:lvl7pPr marL="2189226" indent="0">
              <a:buNone/>
              <a:defRPr sz="1596"/>
            </a:lvl7pPr>
            <a:lvl8pPr marL="2554097" indent="0">
              <a:buNone/>
              <a:defRPr sz="1596"/>
            </a:lvl8pPr>
            <a:lvl9pPr marL="2918969" indent="0">
              <a:buNone/>
              <a:defRPr sz="1596"/>
            </a:lvl9pPr>
          </a:lstStyle>
          <a:p>
            <a:endParaRPr lang="en-US"/>
          </a:p>
        </p:txBody>
      </p:sp>
      <p:sp>
        <p:nvSpPr>
          <p:cNvPr id="4" name="Text Placeholder 3"/>
          <p:cNvSpPr>
            <a:spLocks noGrp="1"/>
          </p:cNvSpPr>
          <p:nvPr>
            <p:ph type="body" sz="half" idx="2"/>
          </p:nvPr>
        </p:nvSpPr>
        <p:spPr>
          <a:xfrm>
            <a:off x="670191" y="2057400"/>
            <a:ext cx="3138110" cy="3811588"/>
          </a:xfrm>
        </p:spPr>
        <p:txBody>
          <a:bodyPr/>
          <a:lstStyle>
            <a:lvl1pPr marL="0" indent="0">
              <a:buNone/>
              <a:defRPr sz="1277"/>
            </a:lvl1pPr>
            <a:lvl2pPr marL="364871" indent="0">
              <a:buNone/>
              <a:defRPr sz="1117"/>
            </a:lvl2pPr>
            <a:lvl3pPr marL="729742" indent="0">
              <a:buNone/>
              <a:defRPr sz="958"/>
            </a:lvl3pPr>
            <a:lvl4pPr marL="1094613" indent="0">
              <a:buNone/>
              <a:defRPr sz="798"/>
            </a:lvl4pPr>
            <a:lvl5pPr marL="1459484" indent="0">
              <a:buNone/>
              <a:defRPr sz="798"/>
            </a:lvl5pPr>
            <a:lvl6pPr marL="1824356" indent="0">
              <a:buNone/>
              <a:defRPr sz="798"/>
            </a:lvl6pPr>
            <a:lvl7pPr marL="2189226" indent="0">
              <a:buNone/>
              <a:defRPr sz="798"/>
            </a:lvl7pPr>
            <a:lvl8pPr marL="2554097" indent="0">
              <a:buNone/>
              <a:defRPr sz="798"/>
            </a:lvl8pPr>
            <a:lvl9pPr marL="2918969" indent="0">
              <a:buNone/>
              <a:defRPr sz="798"/>
            </a:lvl9pPr>
          </a:lstStyle>
          <a:p>
            <a:pPr lvl="0"/>
            <a:r>
              <a:rPr lang="en-US" smtClean="0"/>
              <a:t>Click to edit Master text styles</a:t>
            </a:r>
          </a:p>
        </p:txBody>
      </p:sp>
      <p:sp>
        <p:nvSpPr>
          <p:cNvPr id="5" name="Date Placeholder 4"/>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6" name="Footer Placeholder 5"/>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7" name="Slide Number Placeholder 6"/>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7984588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5" name="Footer Placeholder 4"/>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8231490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62879" y="365125"/>
            <a:ext cx="2097986"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68923" y="365125"/>
            <a:ext cx="6172334"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68924" y="6356352"/>
            <a:ext cx="2189202" cy="365125"/>
          </a:xfrm>
          <a:prstGeom prst="rect">
            <a:avLst/>
          </a:prstGeom>
        </p:spPr>
        <p:txBody>
          <a:bodyPr/>
          <a:lstStyle/>
          <a:p>
            <a:fld id="{375BA7AC-D5B2-4EAB-A1FF-2BEE77A7CE74}" type="datetimeFigureOut">
              <a:rPr lang="en-US" smtClean="0">
                <a:solidFill>
                  <a:prstClr val="black"/>
                </a:solidFill>
              </a:rPr>
              <a:pPr/>
              <a:t>2/23/2021</a:t>
            </a:fld>
            <a:endParaRPr lang="en-US">
              <a:solidFill>
                <a:prstClr val="black"/>
              </a:solidFill>
            </a:endParaRPr>
          </a:p>
        </p:txBody>
      </p:sp>
      <p:sp>
        <p:nvSpPr>
          <p:cNvPr id="5" name="Footer Placeholder 4"/>
          <p:cNvSpPr>
            <a:spLocks noGrp="1"/>
          </p:cNvSpPr>
          <p:nvPr>
            <p:ph type="ftr" sz="quarter" idx="11"/>
          </p:nvPr>
        </p:nvSpPr>
        <p:spPr>
          <a:xfrm>
            <a:off x="3222993" y="6356352"/>
            <a:ext cx="3283803" cy="365125"/>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6871663" y="6356352"/>
            <a:ext cx="2189202" cy="365125"/>
          </a:xfrm>
          <a:prstGeom prst="rect">
            <a:avLst/>
          </a:prstGeom>
        </p:spPr>
        <p:txBody>
          <a:bodyPr/>
          <a:lstStyle/>
          <a:p>
            <a:fld id="{D192214B-8AB3-47AC-8DCC-1843CB75F97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372717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16224" y="1122363"/>
            <a:ext cx="7297341" cy="2387600"/>
          </a:xfrm>
        </p:spPr>
        <p:txBody>
          <a:bodyPr anchor="b"/>
          <a:lstStyle>
            <a:lvl1pPr algn="ctr">
              <a:defRPr sz="4788"/>
            </a:lvl1pPr>
          </a:lstStyle>
          <a:p>
            <a:r>
              <a:rPr lang="en-US" smtClean="0"/>
              <a:t>Click to edit Master title style</a:t>
            </a:r>
            <a:endParaRPr lang="en-US"/>
          </a:p>
        </p:txBody>
      </p:sp>
      <p:sp>
        <p:nvSpPr>
          <p:cNvPr id="3" name="Subtitle 2"/>
          <p:cNvSpPr>
            <a:spLocks noGrp="1"/>
          </p:cNvSpPr>
          <p:nvPr>
            <p:ph type="subTitle" idx="1"/>
          </p:nvPr>
        </p:nvSpPr>
        <p:spPr>
          <a:xfrm>
            <a:off x="1216224" y="3602038"/>
            <a:ext cx="7297341" cy="1655762"/>
          </a:xfrm>
        </p:spPr>
        <p:txBody>
          <a:bodyPr/>
          <a:lstStyle>
            <a:lvl1pPr marL="0" indent="0" algn="ctr">
              <a:buNone/>
              <a:defRPr sz="1915"/>
            </a:lvl1pPr>
            <a:lvl2pPr marL="364846" indent="0" algn="ctr">
              <a:buNone/>
              <a:defRPr sz="1596"/>
            </a:lvl2pPr>
            <a:lvl3pPr marL="729691" indent="0" algn="ctr">
              <a:buNone/>
              <a:defRPr sz="1436"/>
            </a:lvl3pPr>
            <a:lvl4pPr marL="1094537" indent="0" algn="ctr">
              <a:buNone/>
              <a:defRPr sz="1277"/>
            </a:lvl4pPr>
            <a:lvl5pPr marL="1459382" indent="0" algn="ctr">
              <a:buNone/>
              <a:defRPr sz="1277"/>
            </a:lvl5pPr>
            <a:lvl6pPr marL="1824228" indent="0" algn="ctr">
              <a:buNone/>
              <a:defRPr sz="1277"/>
            </a:lvl6pPr>
            <a:lvl7pPr marL="2189074" indent="0" algn="ctr">
              <a:buNone/>
              <a:defRPr sz="1277"/>
            </a:lvl7pPr>
            <a:lvl8pPr marL="2553919" indent="0" algn="ctr">
              <a:buNone/>
              <a:defRPr sz="1277"/>
            </a:lvl8pPr>
            <a:lvl9pPr marL="2918765" indent="0" algn="ctr">
              <a:buNone/>
              <a:defRPr sz="1277"/>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368437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407577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63855" y="1709739"/>
            <a:ext cx="8391942" cy="2852737"/>
          </a:xfrm>
        </p:spPr>
        <p:txBody>
          <a:bodyPr anchor="b"/>
          <a:lstStyle>
            <a:lvl1pPr>
              <a:defRPr sz="4788"/>
            </a:lvl1pPr>
          </a:lstStyle>
          <a:p>
            <a:r>
              <a:rPr lang="en-US" smtClean="0"/>
              <a:t>Click to edit Master title style</a:t>
            </a:r>
            <a:endParaRPr lang="en-US"/>
          </a:p>
        </p:txBody>
      </p:sp>
      <p:sp>
        <p:nvSpPr>
          <p:cNvPr id="3" name="Text Placeholder 2"/>
          <p:cNvSpPr>
            <a:spLocks noGrp="1"/>
          </p:cNvSpPr>
          <p:nvPr>
            <p:ph type="body" idx="1"/>
          </p:nvPr>
        </p:nvSpPr>
        <p:spPr>
          <a:xfrm>
            <a:off x="663855" y="4589464"/>
            <a:ext cx="8391942" cy="1500187"/>
          </a:xfrm>
        </p:spPr>
        <p:txBody>
          <a:bodyPr/>
          <a:lstStyle>
            <a:lvl1pPr marL="0" indent="0">
              <a:buNone/>
              <a:defRPr sz="1915">
                <a:solidFill>
                  <a:schemeClr val="tx1">
                    <a:tint val="75000"/>
                  </a:schemeClr>
                </a:solidFill>
              </a:defRPr>
            </a:lvl1pPr>
            <a:lvl2pPr marL="364846" indent="0">
              <a:buNone/>
              <a:defRPr sz="1596">
                <a:solidFill>
                  <a:schemeClr val="tx1">
                    <a:tint val="75000"/>
                  </a:schemeClr>
                </a:solidFill>
              </a:defRPr>
            </a:lvl2pPr>
            <a:lvl3pPr marL="729691" indent="0">
              <a:buNone/>
              <a:defRPr sz="1436">
                <a:solidFill>
                  <a:schemeClr val="tx1">
                    <a:tint val="75000"/>
                  </a:schemeClr>
                </a:solidFill>
              </a:defRPr>
            </a:lvl3pPr>
            <a:lvl4pPr marL="1094537" indent="0">
              <a:buNone/>
              <a:defRPr sz="1277">
                <a:solidFill>
                  <a:schemeClr val="tx1">
                    <a:tint val="75000"/>
                  </a:schemeClr>
                </a:solidFill>
              </a:defRPr>
            </a:lvl4pPr>
            <a:lvl5pPr marL="1459382" indent="0">
              <a:buNone/>
              <a:defRPr sz="1277">
                <a:solidFill>
                  <a:schemeClr val="tx1">
                    <a:tint val="75000"/>
                  </a:schemeClr>
                </a:solidFill>
              </a:defRPr>
            </a:lvl5pPr>
            <a:lvl6pPr marL="1824228" indent="0">
              <a:buNone/>
              <a:defRPr sz="1277">
                <a:solidFill>
                  <a:schemeClr val="tx1">
                    <a:tint val="75000"/>
                  </a:schemeClr>
                </a:solidFill>
              </a:defRPr>
            </a:lvl6pPr>
            <a:lvl7pPr marL="2189074" indent="0">
              <a:buNone/>
              <a:defRPr sz="1277">
                <a:solidFill>
                  <a:schemeClr val="tx1">
                    <a:tint val="75000"/>
                  </a:schemeClr>
                </a:solidFill>
              </a:defRPr>
            </a:lvl7pPr>
            <a:lvl8pPr marL="2553919" indent="0">
              <a:buNone/>
              <a:defRPr sz="1277">
                <a:solidFill>
                  <a:schemeClr val="tx1">
                    <a:tint val="75000"/>
                  </a:schemeClr>
                </a:solidFill>
              </a:defRPr>
            </a:lvl8pPr>
            <a:lvl9pPr marL="2918765" indent="0">
              <a:buNone/>
              <a:defRPr sz="1277">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315252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68923" y="1825625"/>
            <a:ext cx="413516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25705" y="1825625"/>
            <a:ext cx="413516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333571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0190" y="365126"/>
            <a:ext cx="8391942"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70191" y="1681163"/>
            <a:ext cx="4116156" cy="823912"/>
          </a:xfrm>
        </p:spPr>
        <p:txBody>
          <a:bodyPr anchor="b"/>
          <a:lstStyle>
            <a:lvl1pPr marL="0" indent="0">
              <a:buNone/>
              <a:defRPr sz="1915" b="1"/>
            </a:lvl1pPr>
            <a:lvl2pPr marL="364846" indent="0">
              <a:buNone/>
              <a:defRPr sz="1596" b="1"/>
            </a:lvl2pPr>
            <a:lvl3pPr marL="729691" indent="0">
              <a:buNone/>
              <a:defRPr sz="1436" b="1"/>
            </a:lvl3pPr>
            <a:lvl4pPr marL="1094537" indent="0">
              <a:buNone/>
              <a:defRPr sz="1277" b="1"/>
            </a:lvl4pPr>
            <a:lvl5pPr marL="1459382" indent="0">
              <a:buNone/>
              <a:defRPr sz="1277" b="1"/>
            </a:lvl5pPr>
            <a:lvl6pPr marL="1824228" indent="0">
              <a:buNone/>
              <a:defRPr sz="1277" b="1"/>
            </a:lvl6pPr>
            <a:lvl7pPr marL="2189074" indent="0">
              <a:buNone/>
              <a:defRPr sz="1277" b="1"/>
            </a:lvl7pPr>
            <a:lvl8pPr marL="2553919" indent="0">
              <a:buNone/>
              <a:defRPr sz="1277" b="1"/>
            </a:lvl8pPr>
            <a:lvl9pPr marL="2918765" indent="0">
              <a:buNone/>
              <a:defRPr sz="1277" b="1"/>
            </a:lvl9pPr>
          </a:lstStyle>
          <a:p>
            <a:pPr lvl="0"/>
            <a:r>
              <a:rPr lang="en-US" smtClean="0"/>
              <a:t>Click to edit Master text styles</a:t>
            </a:r>
          </a:p>
        </p:txBody>
      </p:sp>
      <p:sp>
        <p:nvSpPr>
          <p:cNvPr id="4" name="Content Placeholder 3"/>
          <p:cNvSpPr>
            <a:spLocks noGrp="1"/>
          </p:cNvSpPr>
          <p:nvPr>
            <p:ph sz="half" idx="2"/>
          </p:nvPr>
        </p:nvSpPr>
        <p:spPr>
          <a:xfrm>
            <a:off x="670191" y="2505075"/>
            <a:ext cx="411615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925705" y="1681163"/>
            <a:ext cx="4136427" cy="823912"/>
          </a:xfrm>
        </p:spPr>
        <p:txBody>
          <a:bodyPr anchor="b"/>
          <a:lstStyle>
            <a:lvl1pPr marL="0" indent="0">
              <a:buNone/>
              <a:defRPr sz="1915" b="1"/>
            </a:lvl1pPr>
            <a:lvl2pPr marL="364846" indent="0">
              <a:buNone/>
              <a:defRPr sz="1596" b="1"/>
            </a:lvl2pPr>
            <a:lvl3pPr marL="729691" indent="0">
              <a:buNone/>
              <a:defRPr sz="1436" b="1"/>
            </a:lvl3pPr>
            <a:lvl4pPr marL="1094537" indent="0">
              <a:buNone/>
              <a:defRPr sz="1277" b="1"/>
            </a:lvl4pPr>
            <a:lvl5pPr marL="1459382" indent="0">
              <a:buNone/>
              <a:defRPr sz="1277" b="1"/>
            </a:lvl5pPr>
            <a:lvl6pPr marL="1824228" indent="0">
              <a:buNone/>
              <a:defRPr sz="1277" b="1"/>
            </a:lvl6pPr>
            <a:lvl7pPr marL="2189074" indent="0">
              <a:buNone/>
              <a:defRPr sz="1277" b="1"/>
            </a:lvl7pPr>
            <a:lvl8pPr marL="2553919" indent="0">
              <a:buNone/>
              <a:defRPr sz="1277" b="1"/>
            </a:lvl8pPr>
            <a:lvl9pPr marL="2918765" indent="0">
              <a:buNone/>
              <a:defRPr sz="1277" b="1"/>
            </a:lvl9pPr>
          </a:lstStyle>
          <a:p>
            <a:pPr lvl="0"/>
            <a:r>
              <a:rPr lang="en-US" smtClean="0"/>
              <a:t>Click to edit Master text styles</a:t>
            </a:r>
          </a:p>
        </p:txBody>
      </p:sp>
      <p:sp>
        <p:nvSpPr>
          <p:cNvPr id="6" name="Content Placeholder 5"/>
          <p:cNvSpPr>
            <a:spLocks noGrp="1"/>
          </p:cNvSpPr>
          <p:nvPr>
            <p:ph sz="quarter" idx="4"/>
          </p:nvPr>
        </p:nvSpPr>
        <p:spPr>
          <a:xfrm>
            <a:off x="4925705" y="2505075"/>
            <a:ext cx="413642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70743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851372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575607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0190" y="457200"/>
            <a:ext cx="3138110" cy="1600200"/>
          </a:xfrm>
        </p:spPr>
        <p:txBody>
          <a:bodyPr anchor="b"/>
          <a:lstStyle>
            <a:lvl1pPr>
              <a:defRPr sz="2554"/>
            </a:lvl1pPr>
          </a:lstStyle>
          <a:p>
            <a:r>
              <a:rPr lang="en-US" smtClean="0"/>
              <a:t>Click to edit Master title style</a:t>
            </a:r>
            <a:endParaRPr lang="en-US"/>
          </a:p>
        </p:txBody>
      </p:sp>
      <p:sp>
        <p:nvSpPr>
          <p:cNvPr id="3" name="Content Placeholder 2"/>
          <p:cNvSpPr>
            <a:spLocks noGrp="1"/>
          </p:cNvSpPr>
          <p:nvPr>
            <p:ph idx="1"/>
          </p:nvPr>
        </p:nvSpPr>
        <p:spPr>
          <a:xfrm>
            <a:off x="4136427" y="987426"/>
            <a:ext cx="4925705" cy="4873625"/>
          </a:xfrm>
        </p:spPr>
        <p:txBody>
          <a:bodyPr/>
          <a:lstStyle>
            <a:lvl1pPr>
              <a:defRPr sz="2554"/>
            </a:lvl1pPr>
            <a:lvl2pPr>
              <a:defRPr sz="2234"/>
            </a:lvl2pPr>
            <a:lvl3pPr>
              <a:defRPr sz="1915"/>
            </a:lvl3pPr>
            <a:lvl4pPr>
              <a:defRPr sz="1596"/>
            </a:lvl4pPr>
            <a:lvl5pPr>
              <a:defRPr sz="1596"/>
            </a:lvl5pPr>
            <a:lvl6pPr>
              <a:defRPr sz="1596"/>
            </a:lvl6pPr>
            <a:lvl7pPr>
              <a:defRPr sz="1596"/>
            </a:lvl7pPr>
            <a:lvl8pPr>
              <a:defRPr sz="1596"/>
            </a:lvl8pPr>
            <a:lvl9pPr>
              <a:defRPr sz="1596"/>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70190" y="2057400"/>
            <a:ext cx="3138110" cy="3811588"/>
          </a:xfrm>
        </p:spPr>
        <p:txBody>
          <a:bodyPr/>
          <a:lstStyle>
            <a:lvl1pPr marL="0" indent="0">
              <a:buNone/>
              <a:defRPr sz="1277"/>
            </a:lvl1pPr>
            <a:lvl2pPr marL="364846" indent="0">
              <a:buNone/>
              <a:defRPr sz="1117"/>
            </a:lvl2pPr>
            <a:lvl3pPr marL="729691" indent="0">
              <a:buNone/>
              <a:defRPr sz="958"/>
            </a:lvl3pPr>
            <a:lvl4pPr marL="1094537" indent="0">
              <a:buNone/>
              <a:defRPr sz="798"/>
            </a:lvl4pPr>
            <a:lvl5pPr marL="1459382" indent="0">
              <a:buNone/>
              <a:defRPr sz="798"/>
            </a:lvl5pPr>
            <a:lvl6pPr marL="1824228" indent="0">
              <a:buNone/>
              <a:defRPr sz="798"/>
            </a:lvl6pPr>
            <a:lvl7pPr marL="2189074" indent="0">
              <a:buNone/>
              <a:defRPr sz="798"/>
            </a:lvl7pPr>
            <a:lvl8pPr marL="2553919" indent="0">
              <a:buNone/>
              <a:defRPr sz="798"/>
            </a:lvl8pPr>
            <a:lvl9pPr marL="2918765" indent="0">
              <a:buNone/>
              <a:defRPr sz="798"/>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550896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0190" y="457200"/>
            <a:ext cx="3138110" cy="1600200"/>
          </a:xfrm>
        </p:spPr>
        <p:txBody>
          <a:bodyPr anchor="b"/>
          <a:lstStyle>
            <a:lvl1pPr>
              <a:defRPr sz="2554"/>
            </a:lvl1pPr>
          </a:lstStyle>
          <a:p>
            <a:r>
              <a:rPr lang="en-US" smtClean="0"/>
              <a:t>Click to edit Master title style</a:t>
            </a:r>
            <a:endParaRPr lang="en-US"/>
          </a:p>
        </p:txBody>
      </p:sp>
      <p:sp>
        <p:nvSpPr>
          <p:cNvPr id="3" name="Picture Placeholder 2"/>
          <p:cNvSpPr>
            <a:spLocks noGrp="1"/>
          </p:cNvSpPr>
          <p:nvPr>
            <p:ph type="pic" idx="1"/>
          </p:nvPr>
        </p:nvSpPr>
        <p:spPr>
          <a:xfrm>
            <a:off x="4136427" y="987426"/>
            <a:ext cx="4925705" cy="4873625"/>
          </a:xfrm>
        </p:spPr>
        <p:txBody>
          <a:bodyPr/>
          <a:lstStyle>
            <a:lvl1pPr marL="0" indent="0">
              <a:buNone/>
              <a:defRPr sz="2554"/>
            </a:lvl1pPr>
            <a:lvl2pPr marL="364846" indent="0">
              <a:buNone/>
              <a:defRPr sz="2234"/>
            </a:lvl2pPr>
            <a:lvl3pPr marL="729691" indent="0">
              <a:buNone/>
              <a:defRPr sz="1915"/>
            </a:lvl3pPr>
            <a:lvl4pPr marL="1094537" indent="0">
              <a:buNone/>
              <a:defRPr sz="1596"/>
            </a:lvl4pPr>
            <a:lvl5pPr marL="1459382" indent="0">
              <a:buNone/>
              <a:defRPr sz="1596"/>
            </a:lvl5pPr>
            <a:lvl6pPr marL="1824228" indent="0">
              <a:buNone/>
              <a:defRPr sz="1596"/>
            </a:lvl6pPr>
            <a:lvl7pPr marL="2189074" indent="0">
              <a:buNone/>
              <a:defRPr sz="1596"/>
            </a:lvl7pPr>
            <a:lvl8pPr marL="2553919" indent="0">
              <a:buNone/>
              <a:defRPr sz="1596"/>
            </a:lvl8pPr>
            <a:lvl9pPr marL="2918765" indent="0">
              <a:buNone/>
              <a:defRPr sz="1596"/>
            </a:lvl9pPr>
          </a:lstStyle>
          <a:p>
            <a:endParaRPr lang="en-US"/>
          </a:p>
        </p:txBody>
      </p:sp>
      <p:sp>
        <p:nvSpPr>
          <p:cNvPr id="4" name="Text Placeholder 3"/>
          <p:cNvSpPr>
            <a:spLocks noGrp="1"/>
          </p:cNvSpPr>
          <p:nvPr>
            <p:ph type="body" sz="half" idx="2"/>
          </p:nvPr>
        </p:nvSpPr>
        <p:spPr>
          <a:xfrm>
            <a:off x="670190" y="2057400"/>
            <a:ext cx="3138110" cy="3811588"/>
          </a:xfrm>
        </p:spPr>
        <p:txBody>
          <a:bodyPr/>
          <a:lstStyle>
            <a:lvl1pPr marL="0" indent="0">
              <a:buNone/>
              <a:defRPr sz="1277"/>
            </a:lvl1pPr>
            <a:lvl2pPr marL="364846" indent="0">
              <a:buNone/>
              <a:defRPr sz="1117"/>
            </a:lvl2pPr>
            <a:lvl3pPr marL="729691" indent="0">
              <a:buNone/>
              <a:defRPr sz="958"/>
            </a:lvl3pPr>
            <a:lvl4pPr marL="1094537" indent="0">
              <a:buNone/>
              <a:defRPr sz="798"/>
            </a:lvl4pPr>
            <a:lvl5pPr marL="1459382" indent="0">
              <a:buNone/>
              <a:defRPr sz="798"/>
            </a:lvl5pPr>
            <a:lvl6pPr marL="1824228" indent="0">
              <a:buNone/>
              <a:defRPr sz="798"/>
            </a:lvl6pPr>
            <a:lvl7pPr marL="2189074" indent="0">
              <a:buNone/>
              <a:defRPr sz="798"/>
            </a:lvl7pPr>
            <a:lvl8pPr marL="2553919" indent="0">
              <a:buNone/>
              <a:defRPr sz="798"/>
            </a:lvl8pPr>
            <a:lvl9pPr marL="2918765" indent="0">
              <a:buNone/>
              <a:defRPr sz="798"/>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728518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600335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62879" y="365125"/>
            <a:ext cx="2097986"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68923" y="365125"/>
            <a:ext cx="6172334"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761272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9734" y="2130426"/>
            <a:ext cx="827032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59468" y="3886200"/>
            <a:ext cx="6810852"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2F1042E-016C-401A-BBA8-55EB26D40A5B}"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422229205"/>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2D2CA64-BE4E-4D5C-9E60-1B52DCDF7EAD}"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3257000507"/>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68586" y="4406901"/>
            <a:ext cx="827032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68586" y="2906713"/>
            <a:ext cx="827032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6DA51DE-DD0E-47AB-A099-A18C0FEF3A99}"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500295665"/>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86489" y="1600201"/>
            <a:ext cx="429732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45976" y="1600201"/>
            <a:ext cx="429732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C85C618-75E6-4C4C-85CA-E5C462325438}"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209969850"/>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86489" y="1535113"/>
            <a:ext cx="429901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86489" y="2174875"/>
            <a:ext cx="429901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942598" y="1535113"/>
            <a:ext cx="430070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42598" y="2174875"/>
            <a:ext cx="430070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ECD5780B-165A-4D5F-A9D2-EBE53C616C29}"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79847212"/>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C7AF6D60-95A5-4F5C-A08C-849B0A357B29}"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2779201955"/>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FBBAA0CC-0B6A-4BBB-B8CC-F193FB062F05}"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2620100981"/>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6490" y="273050"/>
            <a:ext cx="320103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04077" y="273051"/>
            <a:ext cx="543922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86490" y="1435101"/>
            <a:ext cx="320103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5A4D2AC-D48A-460C-9B06-3045AC9A9300}"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2663923947"/>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106" y="4800600"/>
            <a:ext cx="5837873"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07106" y="612775"/>
            <a:ext cx="583787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07106" y="5367338"/>
            <a:ext cx="583787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373AD68-2427-4F8D-B61E-0FB04C483921}"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870327441"/>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BEA8752-065C-4E21-82F5-83566CDFBBD2}"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780870734"/>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54096" y="274639"/>
            <a:ext cx="2189202"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86489" y="274639"/>
            <a:ext cx="6405444"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D962BCE-326E-4E57-93FB-231FD7087ECC}" type="slidenum">
              <a:rPr lang="zh-TW" altLang="en-US">
                <a:solidFill>
                  <a:srgbClr val="000000"/>
                </a:solidFill>
              </a:rPr>
              <a:pPr>
                <a:defRPr/>
              </a:pPr>
              <a:t>‹#›</a:t>
            </a:fld>
            <a:endParaRPr lang="en-US" altLang="zh-TW">
              <a:solidFill>
                <a:srgbClr val="000000"/>
              </a:solidFill>
            </a:endParaRPr>
          </a:p>
        </p:txBody>
      </p:sp>
    </p:spTree>
    <p:extLst>
      <p:ext uri="{BB962C8B-B14F-4D97-AF65-F5344CB8AC3E}">
        <p14:creationId xmlns:p14="http://schemas.microsoft.com/office/powerpoint/2010/main" val="139620929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23" y="365127"/>
            <a:ext cx="8391942"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68923" y="1825625"/>
            <a:ext cx="8391942"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68923" y="6356352"/>
            <a:ext cx="218920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100758-EA78-4E53-A056-5EE03AE6E5B6}" type="datetimeFigureOut">
              <a:rPr lang="en-US" smtClean="0"/>
              <a:t>2/23/2021</a:t>
            </a:fld>
            <a:endParaRPr lang="en-US"/>
          </a:p>
        </p:txBody>
      </p:sp>
      <p:sp>
        <p:nvSpPr>
          <p:cNvPr id="5" name="Footer Placeholder 4"/>
          <p:cNvSpPr>
            <a:spLocks noGrp="1"/>
          </p:cNvSpPr>
          <p:nvPr>
            <p:ph type="ftr" sz="quarter" idx="3"/>
          </p:nvPr>
        </p:nvSpPr>
        <p:spPr>
          <a:xfrm>
            <a:off x="3222993" y="6356352"/>
            <a:ext cx="32838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871663" y="6356352"/>
            <a:ext cx="218920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64A3AD-D5C6-46DE-81C2-F64A40D8FD87}" type="slidenum">
              <a:rPr lang="en-US" smtClean="0"/>
              <a:t>‹#›</a:t>
            </a:fld>
            <a:endParaRPr lang="en-US"/>
          </a:p>
        </p:txBody>
      </p:sp>
    </p:spTree>
    <p:extLst>
      <p:ext uri="{BB962C8B-B14F-4D97-AF65-F5344CB8AC3E}">
        <p14:creationId xmlns:p14="http://schemas.microsoft.com/office/powerpoint/2010/main" val="10567536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23" y="365127"/>
            <a:ext cx="8391942"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68923" y="1825625"/>
            <a:ext cx="8391942"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68923" y="6356352"/>
            <a:ext cx="218920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2/23/2021</a:t>
            </a:fld>
            <a:endParaRPr lang="en-US" dirty="0"/>
          </a:p>
        </p:txBody>
      </p:sp>
      <p:sp>
        <p:nvSpPr>
          <p:cNvPr id="5" name="Footer Placeholder 4"/>
          <p:cNvSpPr>
            <a:spLocks noGrp="1"/>
          </p:cNvSpPr>
          <p:nvPr>
            <p:ph type="ftr" sz="quarter" idx="3"/>
          </p:nvPr>
        </p:nvSpPr>
        <p:spPr>
          <a:xfrm>
            <a:off x="3222993" y="6356352"/>
            <a:ext cx="32838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871663" y="6356352"/>
            <a:ext cx="218920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14389331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729788" cy="1161142"/>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59076" y="1161143"/>
            <a:ext cx="9034803" cy="501582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3128881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729742" rtl="0" eaLnBrk="1" latinLnBrk="0" hangingPunct="1">
        <a:lnSpc>
          <a:spcPct val="90000"/>
        </a:lnSpc>
        <a:spcBef>
          <a:spcPct val="0"/>
        </a:spcBef>
        <a:buNone/>
        <a:defRPr sz="3511" kern="1200">
          <a:solidFill>
            <a:srgbClr val="002060"/>
          </a:solidFill>
          <a:latin typeface="Elephant" panose="02020904090505020303" pitchFamily="18" charset="0"/>
          <a:ea typeface="+mj-ea"/>
          <a:cs typeface="+mj-cs"/>
        </a:defRPr>
      </a:lvl1pPr>
    </p:titleStyle>
    <p:bodyStyle>
      <a:lvl1pPr marL="182436" indent="-182436" algn="l" defTabSz="729742" rtl="0" eaLnBrk="1" latinLnBrk="0" hangingPunct="1">
        <a:lnSpc>
          <a:spcPct val="90000"/>
        </a:lnSpc>
        <a:spcBef>
          <a:spcPts val="798"/>
        </a:spcBef>
        <a:buFont typeface="Arial" panose="020B0604020202020204" pitchFamily="34" charset="0"/>
        <a:buChar char="•"/>
        <a:defRPr sz="3192" kern="1200">
          <a:solidFill>
            <a:schemeClr val="tx1"/>
          </a:solidFill>
          <a:latin typeface="+mn-lt"/>
          <a:ea typeface="+mn-ea"/>
          <a:cs typeface="+mn-cs"/>
        </a:defRPr>
      </a:lvl1pPr>
      <a:lvl2pPr marL="547307" indent="-182436" algn="l" defTabSz="729742" rtl="0" eaLnBrk="1" latinLnBrk="0" hangingPunct="1">
        <a:lnSpc>
          <a:spcPct val="90000"/>
        </a:lnSpc>
        <a:spcBef>
          <a:spcPts val="399"/>
        </a:spcBef>
        <a:buFont typeface="Arial" panose="020B0604020202020204" pitchFamily="34" charset="0"/>
        <a:buChar char="•"/>
        <a:defRPr sz="2873" kern="1200">
          <a:solidFill>
            <a:schemeClr val="tx1"/>
          </a:solidFill>
          <a:latin typeface="+mn-lt"/>
          <a:ea typeface="+mn-ea"/>
          <a:cs typeface="+mn-cs"/>
        </a:defRPr>
      </a:lvl2pPr>
      <a:lvl3pPr marL="912177" indent="-182436" algn="l" defTabSz="729742" rtl="0" eaLnBrk="1" latinLnBrk="0" hangingPunct="1">
        <a:lnSpc>
          <a:spcPct val="90000"/>
        </a:lnSpc>
        <a:spcBef>
          <a:spcPts val="399"/>
        </a:spcBef>
        <a:buFont typeface="Arial" panose="020B0604020202020204" pitchFamily="34" charset="0"/>
        <a:buChar char="•"/>
        <a:defRPr sz="2553" kern="1200">
          <a:solidFill>
            <a:schemeClr val="tx1"/>
          </a:solidFill>
          <a:latin typeface="+mn-lt"/>
          <a:ea typeface="+mn-ea"/>
          <a:cs typeface="+mn-cs"/>
        </a:defRPr>
      </a:lvl3pPr>
      <a:lvl4pPr marL="1277049" indent="-182436" algn="l" defTabSz="729742" rtl="0" eaLnBrk="1" latinLnBrk="0" hangingPunct="1">
        <a:lnSpc>
          <a:spcPct val="90000"/>
        </a:lnSpc>
        <a:spcBef>
          <a:spcPts val="399"/>
        </a:spcBef>
        <a:buFont typeface="Arial" panose="020B0604020202020204" pitchFamily="34" charset="0"/>
        <a:buChar char="•"/>
        <a:defRPr sz="2234" kern="1200">
          <a:solidFill>
            <a:schemeClr val="tx1"/>
          </a:solidFill>
          <a:latin typeface="+mn-lt"/>
          <a:ea typeface="+mn-ea"/>
          <a:cs typeface="+mn-cs"/>
        </a:defRPr>
      </a:lvl4pPr>
      <a:lvl5pPr marL="1641920" indent="-182436" algn="l" defTabSz="729742" rtl="0" eaLnBrk="1" latinLnBrk="0" hangingPunct="1">
        <a:lnSpc>
          <a:spcPct val="90000"/>
        </a:lnSpc>
        <a:spcBef>
          <a:spcPts val="399"/>
        </a:spcBef>
        <a:buFont typeface="Arial" panose="020B0604020202020204" pitchFamily="34" charset="0"/>
        <a:buChar char="•"/>
        <a:defRPr sz="2234" kern="1200">
          <a:solidFill>
            <a:schemeClr val="tx1"/>
          </a:solidFill>
          <a:latin typeface="+mn-lt"/>
          <a:ea typeface="+mn-ea"/>
          <a:cs typeface="+mn-cs"/>
        </a:defRPr>
      </a:lvl5pPr>
      <a:lvl6pPr marL="2006790" indent="-182436" algn="l" defTabSz="729742" rtl="0" eaLnBrk="1" latinLnBrk="0" hangingPunct="1">
        <a:lnSpc>
          <a:spcPct val="90000"/>
        </a:lnSpc>
        <a:spcBef>
          <a:spcPts val="399"/>
        </a:spcBef>
        <a:buFont typeface="Arial" panose="020B0604020202020204" pitchFamily="34" charset="0"/>
        <a:buChar char="•"/>
        <a:defRPr sz="1436" kern="1200">
          <a:solidFill>
            <a:schemeClr val="tx1"/>
          </a:solidFill>
          <a:latin typeface="+mn-lt"/>
          <a:ea typeface="+mn-ea"/>
          <a:cs typeface="+mn-cs"/>
        </a:defRPr>
      </a:lvl6pPr>
      <a:lvl7pPr marL="2371662" indent="-182436" algn="l" defTabSz="729742" rtl="0" eaLnBrk="1" latinLnBrk="0" hangingPunct="1">
        <a:lnSpc>
          <a:spcPct val="90000"/>
        </a:lnSpc>
        <a:spcBef>
          <a:spcPts val="399"/>
        </a:spcBef>
        <a:buFont typeface="Arial" panose="020B0604020202020204" pitchFamily="34" charset="0"/>
        <a:buChar char="•"/>
        <a:defRPr sz="1436" kern="1200">
          <a:solidFill>
            <a:schemeClr val="tx1"/>
          </a:solidFill>
          <a:latin typeface="+mn-lt"/>
          <a:ea typeface="+mn-ea"/>
          <a:cs typeface="+mn-cs"/>
        </a:defRPr>
      </a:lvl7pPr>
      <a:lvl8pPr marL="2736533" indent="-182436" algn="l" defTabSz="729742" rtl="0" eaLnBrk="1" latinLnBrk="0" hangingPunct="1">
        <a:lnSpc>
          <a:spcPct val="90000"/>
        </a:lnSpc>
        <a:spcBef>
          <a:spcPts val="399"/>
        </a:spcBef>
        <a:buFont typeface="Arial" panose="020B0604020202020204" pitchFamily="34" charset="0"/>
        <a:buChar char="•"/>
        <a:defRPr sz="1436" kern="1200">
          <a:solidFill>
            <a:schemeClr val="tx1"/>
          </a:solidFill>
          <a:latin typeface="+mn-lt"/>
          <a:ea typeface="+mn-ea"/>
          <a:cs typeface="+mn-cs"/>
        </a:defRPr>
      </a:lvl8pPr>
      <a:lvl9pPr marL="3101404" indent="-182436" algn="l" defTabSz="729742" rtl="0" eaLnBrk="1" latinLnBrk="0" hangingPunct="1">
        <a:lnSpc>
          <a:spcPct val="90000"/>
        </a:lnSpc>
        <a:spcBef>
          <a:spcPts val="399"/>
        </a:spcBef>
        <a:buFont typeface="Arial" panose="020B0604020202020204" pitchFamily="34" charset="0"/>
        <a:buChar char="•"/>
        <a:defRPr sz="1436" kern="1200">
          <a:solidFill>
            <a:schemeClr val="tx1"/>
          </a:solidFill>
          <a:latin typeface="+mn-lt"/>
          <a:ea typeface="+mn-ea"/>
          <a:cs typeface="+mn-cs"/>
        </a:defRPr>
      </a:lvl9pPr>
    </p:bodyStyle>
    <p:otherStyle>
      <a:defPPr>
        <a:defRPr lang="en-US"/>
      </a:defPPr>
      <a:lvl1pPr marL="0" algn="l" defTabSz="729742" rtl="0" eaLnBrk="1" latinLnBrk="0" hangingPunct="1">
        <a:defRPr sz="1436" kern="1200">
          <a:solidFill>
            <a:schemeClr val="tx1"/>
          </a:solidFill>
          <a:latin typeface="+mn-lt"/>
          <a:ea typeface="+mn-ea"/>
          <a:cs typeface="+mn-cs"/>
        </a:defRPr>
      </a:lvl1pPr>
      <a:lvl2pPr marL="364871" algn="l" defTabSz="729742" rtl="0" eaLnBrk="1" latinLnBrk="0" hangingPunct="1">
        <a:defRPr sz="1436" kern="1200">
          <a:solidFill>
            <a:schemeClr val="tx1"/>
          </a:solidFill>
          <a:latin typeface="+mn-lt"/>
          <a:ea typeface="+mn-ea"/>
          <a:cs typeface="+mn-cs"/>
        </a:defRPr>
      </a:lvl2pPr>
      <a:lvl3pPr marL="729742" algn="l" defTabSz="729742" rtl="0" eaLnBrk="1" latinLnBrk="0" hangingPunct="1">
        <a:defRPr sz="1436" kern="1200">
          <a:solidFill>
            <a:schemeClr val="tx1"/>
          </a:solidFill>
          <a:latin typeface="+mn-lt"/>
          <a:ea typeface="+mn-ea"/>
          <a:cs typeface="+mn-cs"/>
        </a:defRPr>
      </a:lvl3pPr>
      <a:lvl4pPr marL="1094613" algn="l" defTabSz="729742" rtl="0" eaLnBrk="1" latinLnBrk="0" hangingPunct="1">
        <a:defRPr sz="1436" kern="1200">
          <a:solidFill>
            <a:schemeClr val="tx1"/>
          </a:solidFill>
          <a:latin typeface="+mn-lt"/>
          <a:ea typeface="+mn-ea"/>
          <a:cs typeface="+mn-cs"/>
        </a:defRPr>
      </a:lvl4pPr>
      <a:lvl5pPr marL="1459484" algn="l" defTabSz="729742" rtl="0" eaLnBrk="1" latinLnBrk="0" hangingPunct="1">
        <a:defRPr sz="1436" kern="1200">
          <a:solidFill>
            <a:schemeClr val="tx1"/>
          </a:solidFill>
          <a:latin typeface="+mn-lt"/>
          <a:ea typeface="+mn-ea"/>
          <a:cs typeface="+mn-cs"/>
        </a:defRPr>
      </a:lvl5pPr>
      <a:lvl6pPr marL="1824356" algn="l" defTabSz="729742" rtl="0" eaLnBrk="1" latinLnBrk="0" hangingPunct="1">
        <a:defRPr sz="1436" kern="1200">
          <a:solidFill>
            <a:schemeClr val="tx1"/>
          </a:solidFill>
          <a:latin typeface="+mn-lt"/>
          <a:ea typeface="+mn-ea"/>
          <a:cs typeface="+mn-cs"/>
        </a:defRPr>
      </a:lvl6pPr>
      <a:lvl7pPr marL="2189226" algn="l" defTabSz="729742" rtl="0" eaLnBrk="1" latinLnBrk="0" hangingPunct="1">
        <a:defRPr sz="1436" kern="1200">
          <a:solidFill>
            <a:schemeClr val="tx1"/>
          </a:solidFill>
          <a:latin typeface="+mn-lt"/>
          <a:ea typeface="+mn-ea"/>
          <a:cs typeface="+mn-cs"/>
        </a:defRPr>
      </a:lvl7pPr>
      <a:lvl8pPr marL="2554097" algn="l" defTabSz="729742" rtl="0" eaLnBrk="1" latinLnBrk="0" hangingPunct="1">
        <a:defRPr sz="1436" kern="1200">
          <a:solidFill>
            <a:schemeClr val="tx1"/>
          </a:solidFill>
          <a:latin typeface="+mn-lt"/>
          <a:ea typeface="+mn-ea"/>
          <a:cs typeface="+mn-cs"/>
        </a:defRPr>
      </a:lvl8pPr>
      <a:lvl9pPr marL="2918969" algn="l" defTabSz="729742" rtl="0" eaLnBrk="1" latinLnBrk="0" hangingPunct="1">
        <a:defRPr sz="1436"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23" y="365126"/>
            <a:ext cx="8391942"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68923" y="1825625"/>
            <a:ext cx="8391942"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68923" y="6356351"/>
            <a:ext cx="2189202" cy="365125"/>
          </a:xfrm>
          <a:prstGeom prst="rect">
            <a:avLst/>
          </a:prstGeom>
        </p:spPr>
        <p:txBody>
          <a:bodyPr vert="horz" lIns="91440" tIns="45720" rIns="91440" bIns="45720" rtlCol="0" anchor="ctr"/>
          <a:lstStyle>
            <a:lvl1pPr algn="l">
              <a:defRPr sz="958">
                <a:solidFill>
                  <a:schemeClr val="tx1">
                    <a:tint val="75000"/>
                  </a:schemeClr>
                </a:solidFill>
              </a:defRPr>
            </a:lvl1pPr>
          </a:lstStyle>
          <a:p>
            <a:fld id="{85100758-EA78-4E53-A056-5EE03AE6E5B6}" type="datetimeFigureOut">
              <a:rPr lang="en-US" smtClean="0">
                <a:solidFill>
                  <a:prstClr val="black">
                    <a:tint val="75000"/>
                  </a:prstClr>
                </a:solidFill>
              </a:rPr>
              <a:pPr/>
              <a:t>2/23/2021</a:t>
            </a:fld>
            <a:endParaRPr lang="en-US">
              <a:solidFill>
                <a:prstClr val="black">
                  <a:tint val="75000"/>
                </a:prstClr>
              </a:solidFill>
            </a:endParaRPr>
          </a:p>
        </p:txBody>
      </p:sp>
      <p:sp>
        <p:nvSpPr>
          <p:cNvPr id="5" name="Footer Placeholder 4"/>
          <p:cNvSpPr>
            <a:spLocks noGrp="1"/>
          </p:cNvSpPr>
          <p:nvPr>
            <p:ph type="ftr" sz="quarter" idx="3"/>
          </p:nvPr>
        </p:nvSpPr>
        <p:spPr>
          <a:xfrm>
            <a:off x="3222993" y="6356351"/>
            <a:ext cx="3283803" cy="365125"/>
          </a:xfrm>
          <a:prstGeom prst="rect">
            <a:avLst/>
          </a:prstGeom>
        </p:spPr>
        <p:txBody>
          <a:bodyPr vert="horz" lIns="91440" tIns="45720" rIns="91440" bIns="45720" rtlCol="0" anchor="ctr"/>
          <a:lstStyle>
            <a:lvl1pPr algn="ctr">
              <a:defRPr sz="958">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871663" y="6356351"/>
            <a:ext cx="2189202" cy="365125"/>
          </a:xfrm>
          <a:prstGeom prst="rect">
            <a:avLst/>
          </a:prstGeom>
        </p:spPr>
        <p:txBody>
          <a:bodyPr vert="horz" lIns="91440" tIns="45720" rIns="91440" bIns="45720" rtlCol="0" anchor="ctr"/>
          <a:lstStyle>
            <a:lvl1pPr algn="r">
              <a:defRPr sz="958">
                <a:solidFill>
                  <a:schemeClr val="tx1">
                    <a:tint val="75000"/>
                  </a:schemeClr>
                </a:solidFill>
              </a:defRPr>
            </a:lvl1pPr>
          </a:lstStyle>
          <a:p>
            <a:fld id="{3664A3AD-D5C6-46DE-81C2-F64A40D8FD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9091316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729691" rtl="0" eaLnBrk="1" latinLnBrk="0" hangingPunct="1">
        <a:lnSpc>
          <a:spcPct val="90000"/>
        </a:lnSpc>
        <a:spcBef>
          <a:spcPct val="0"/>
        </a:spcBef>
        <a:buNone/>
        <a:defRPr sz="3511" kern="1200">
          <a:solidFill>
            <a:schemeClr val="tx1"/>
          </a:solidFill>
          <a:latin typeface="+mj-lt"/>
          <a:ea typeface="+mj-ea"/>
          <a:cs typeface="+mj-cs"/>
        </a:defRPr>
      </a:lvl1pPr>
    </p:titleStyle>
    <p:bodyStyle>
      <a:lvl1pPr marL="182423" indent="-182423" algn="l" defTabSz="729691" rtl="0" eaLnBrk="1" latinLnBrk="0" hangingPunct="1">
        <a:lnSpc>
          <a:spcPct val="90000"/>
        </a:lnSpc>
        <a:spcBef>
          <a:spcPts val="798"/>
        </a:spcBef>
        <a:buFont typeface="Arial" panose="020B0604020202020204" pitchFamily="34" charset="0"/>
        <a:buChar char="•"/>
        <a:defRPr sz="2234" kern="1200">
          <a:solidFill>
            <a:schemeClr val="tx1"/>
          </a:solidFill>
          <a:latin typeface="+mn-lt"/>
          <a:ea typeface="+mn-ea"/>
          <a:cs typeface="+mn-cs"/>
        </a:defRPr>
      </a:lvl1pPr>
      <a:lvl2pPr marL="547268" indent="-182423" algn="l" defTabSz="729691" rtl="0" eaLnBrk="1" latinLnBrk="0" hangingPunct="1">
        <a:lnSpc>
          <a:spcPct val="90000"/>
        </a:lnSpc>
        <a:spcBef>
          <a:spcPts val="399"/>
        </a:spcBef>
        <a:buFont typeface="Arial" panose="020B0604020202020204" pitchFamily="34" charset="0"/>
        <a:buChar char="•"/>
        <a:defRPr sz="1915" kern="1200">
          <a:solidFill>
            <a:schemeClr val="tx1"/>
          </a:solidFill>
          <a:latin typeface="+mn-lt"/>
          <a:ea typeface="+mn-ea"/>
          <a:cs typeface="+mn-cs"/>
        </a:defRPr>
      </a:lvl2pPr>
      <a:lvl3pPr marL="912114" indent="-182423" algn="l" defTabSz="729691" rtl="0" eaLnBrk="1" latinLnBrk="0" hangingPunct="1">
        <a:lnSpc>
          <a:spcPct val="90000"/>
        </a:lnSpc>
        <a:spcBef>
          <a:spcPts val="399"/>
        </a:spcBef>
        <a:buFont typeface="Arial" panose="020B0604020202020204" pitchFamily="34" charset="0"/>
        <a:buChar char="•"/>
        <a:defRPr sz="1596" kern="1200">
          <a:solidFill>
            <a:schemeClr val="tx1"/>
          </a:solidFill>
          <a:latin typeface="+mn-lt"/>
          <a:ea typeface="+mn-ea"/>
          <a:cs typeface="+mn-cs"/>
        </a:defRPr>
      </a:lvl3pPr>
      <a:lvl4pPr marL="1276960" indent="-182423" algn="l" defTabSz="729691" rtl="0" eaLnBrk="1" latinLnBrk="0" hangingPunct="1">
        <a:lnSpc>
          <a:spcPct val="90000"/>
        </a:lnSpc>
        <a:spcBef>
          <a:spcPts val="399"/>
        </a:spcBef>
        <a:buFont typeface="Arial" panose="020B0604020202020204" pitchFamily="34" charset="0"/>
        <a:buChar char="•"/>
        <a:defRPr sz="1436" kern="1200">
          <a:solidFill>
            <a:schemeClr val="tx1"/>
          </a:solidFill>
          <a:latin typeface="+mn-lt"/>
          <a:ea typeface="+mn-ea"/>
          <a:cs typeface="+mn-cs"/>
        </a:defRPr>
      </a:lvl4pPr>
      <a:lvl5pPr marL="1641805" indent="-182423" algn="l" defTabSz="729691" rtl="0" eaLnBrk="1" latinLnBrk="0" hangingPunct="1">
        <a:lnSpc>
          <a:spcPct val="90000"/>
        </a:lnSpc>
        <a:spcBef>
          <a:spcPts val="399"/>
        </a:spcBef>
        <a:buFont typeface="Arial" panose="020B0604020202020204" pitchFamily="34" charset="0"/>
        <a:buChar char="•"/>
        <a:defRPr sz="1436" kern="1200">
          <a:solidFill>
            <a:schemeClr val="tx1"/>
          </a:solidFill>
          <a:latin typeface="+mn-lt"/>
          <a:ea typeface="+mn-ea"/>
          <a:cs typeface="+mn-cs"/>
        </a:defRPr>
      </a:lvl5pPr>
      <a:lvl6pPr marL="2006651" indent="-182423" algn="l" defTabSz="729691" rtl="0" eaLnBrk="1" latinLnBrk="0" hangingPunct="1">
        <a:lnSpc>
          <a:spcPct val="90000"/>
        </a:lnSpc>
        <a:spcBef>
          <a:spcPts val="399"/>
        </a:spcBef>
        <a:buFont typeface="Arial" panose="020B0604020202020204" pitchFamily="34" charset="0"/>
        <a:buChar char="•"/>
        <a:defRPr sz="1436" kern="1200">
          <a:solidFill>
            <a:schemeClr val="tx1"/>
          </a:solidFill>
          <a:latin typeface="+mn-lt"/>
          <a:ea typeface="+mn-ea"/>
          <a:cs typeface="+mn-cs"/>
        </a:defRPr>
      </a:lvl6pPr>
      <a:lvl7pPr marL="2371496" indent="-182423" algn="l" defTabSz="729691" rtl="0" eaLnBrk="1" latinLnBrk="0" hangingPunct="1">
        <a:lnSpc>
          <a:spcPct val="90000"/>
        </a:lnSpc>
        <a:spcBef>
          <a:spcPts val="399"/>
        </a:spcBef>
        <a:buFont typeface="Arial" panose="020B0604020202020204" pitchFamily="34" charset="0"/>
        <a:buChar char="•"/>
        <a:defRPr sz="1436" kern="1200">
          <a:solidFill>
            <a:schemeClr val="tx1"/>
          </a:solidFill>
          <a:latin typeface="+mn-lt"/>
          <a:ea typeface="+mn-ea"/>
          <a:cs typeface="+mn-cs"/>
        </a:defRPr>
      </a:lvl7pPr>
      <a:lvl8pPr marL="2736342" indent="-182423" algn="l" defTabSz="729691" rtl="0" eaLnBrk="1" latinLnBrk="0" hangingPunct="1">
        <a:lnSpc>
          <a:spcPct val="90000"/>
        </a:lnSpc>
        <a:spcBef>
          <a:spcPts val="399"/>
        </a:spcBef>
        <a:buFont typeface="Arial" panose="020B0604020202020204" pitchFamily="34" charset="0"/>
        <a:buChar char="•"/>
        <a:defRPr sz="1436" kern="1200">
          <a:solidFill>
            <a:schemeClr val="tx1"/>
          </a:solidFill>
          <a:latin typeface="+mn-lt"/>
          <a:ea typeface="+mn-ea"/>
          <a:cs typeface="+mn-cs"/>
        </a:defRPr>
      </a:lvl8pPr>
      <a:lvl9pPr marL="3101188" indent="-182423" algn="l" defTabSz="729691" rtl="0" eaLnBrk="1" latinLnBrk="0" hangingPunct="1">
        <a:lnSpc>
          <a:spcPct val="90000"/>
        </a:lnSpc>
        <a:spcBef>
          <a:spcPts val="399"/>
        </a:spcBef>
        <a:buFont typeface="Arial" panose="020B0604020202020204" pitchFamily="34" charset="0"/>
        <a:buChar char="•"/>
        <a:defRPr sz="1436" kern="1200">
          <a:solidFill>
            <a:schemeClr val="tx1"/>
          </a:solidFill>
          <a:latin typeface="+mn-lt"/>
          <a:ea typeface="+mn-ea"/>
          <a:cs typeface="+mn-cs"/>
        </a:defRPr>
      </a:lvl9pPr>
    </p:bodyStyle>
    <p:otherStyle>
      <a:defPPr>
        <a:defRPr lang="en-US"/>
      </a:defPPr>
      <a:lvl1pPr marL="0" algn="l" defTabSz="729691" rtl="0" eaLnBrk="1" latinLnBrk="0" hangingPunct="1">
        <a:defRPr sz="1436" kern="1200">
          <a:solidFill>
            <a:schemeClr val="tx1"/>
          </a:solidFill>
          <a:latin typeface="+mn-lt"/>
          <a:ea typeface="+mn-ea"/>
          <a:cs typeface="+mn-cs"/>
        </a:defRPr>
      </a:lvl1pPr>
      <a:lvl2pPr marL="364846" algn="l" defTabSz="729691" rtl="0" eaLnBrk="1" latinLnBrk="0" hangingPunct="1">
        <a:defRPr sz="1436" kern="1200">
          <a:solidFill>
            <a:schemeClr val="tx1"/>
          </a:solidFill>
          <a:latin typeface="+mn-lt"/>
          <a:ea typeface="+mn-ea"/>
          <a:cs typeface="+mn-cs"/>
        </a:defRPr>
      </a:lvl2pPr>
      <a:lvl3pPr marL="729691" algn="l" defTabSz="729691" rtl="0" eaLnBrk="1" latinLnBrk="0" hangingPunct="1">
        <a:defRPr sz="1436" kern="1200">
          <a:solidFill>
            <a:schemeClr val="tx1"/>
          </a:solidFill>
          <a:latin typeface="+mn-lt"/>
          <a:ea typeface="+mn-ea"/>
          <a:cs typeface="+mn-cs"/>
        </a:defRPr>
      </a:lvl3pPr>
      <a:lvl4pPr marL="1094537" algn="l" defTabSz="729691" rtl="0" eaLnBrk="1" latinLnBrk="0" hangingPunct="1">
        <a:defRPr sz="1436" kern="1200">
          <a:solidFill>
            <a:schemeClr val="tx1"/>
          </a:solidFill>
          <a:latin typeface="+mn-lt"/>
          <a:ea typeface="+mn-ea"/>
          <a:cs typeface="+mn-cs"/>
        </a:defRPr>
      </a:lvl4pPr>
      <a:lvl5pPr marL="1459382" algn="l" defTabSz="729691" rtl="0" eaLnBrk="1" latinLnBrk="0" hangingPunct="1">
        <a:defRPr sz="1436" kern="1200">
          <a:solidFill>
            <a:schemeClr val="tx1"/>
          </a:solidFill>
          <a:latin typeface="+mn-lt"/>
          <a:ea typeface="+mn-ea"/>
          <a:cs typeface="+mn-cs"/>
        </a:defRPr>
      </a:lvl5pPr>
      <a:lvl6pPr marL="1824228" algn="l" defTabSz="729691" rtl="0" eaLnBrk="1" latinLnBrk="0" hangingPunct="1">
        <a:defRPr sz="1436" kern="1200">
          <a:solidFill>
            <a:schemeClr val="tx1"/>
          </a:solidFill>
          <a:latin typeface="+mn-lt"/>
          <a:ea typeface="+mn-ea"/>
          <a:cs typeface="+mn-cs"/>
        </a:defRPr>
      </a:lvl6pPr>
      <a:lvl7pPr marL="2189074" algn="l" defTabSz="729691" rtl="0" eaLnBrk="1" latinLnBrk="0" hangingPunct="1">
        <a:defRPr sz="1436" kern="1200">
          <a:solidFill>
            <a:schemeClr val="tx1"/>
          </a:solidFill>
          <a:latin typeface="+mn-lt"/>
          <a:ea typeface="+mn-ea"/>
          <a:cs typeface="+mn-cs"/>
        </a:defRPr>
      </a:lvl7pPr>
      <a:lvl8pPr marL="2553919" algn="l" defTabSz="729691" rtl="0" eaLnBrk="1" latinLnBrk="0" hangingPunct="1">
        <a:defRPr sz="1436" kern="1200">
          <a:solidFill>
            <a:schemeClr val="tx1"/>
          </a:solidFill>
          <a:latin typeface="+mn-lt"/>
          <a:ea typeface="+mn-ea"/>
          <a:cs typeface="+mn-cs"/>
        </a:defRPr>
      </a:lvl8pPr>
      <a:lvl9pPr marL="2918765" algn="l" defTabSz="729691" rtl="0" eaLnBrk="1" latinLnBrk="0" hangingPunct="1">
        <a:defRPr sz="1436"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86490" y="274638"/>
            <a:ext cx="8756809"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TW" smtClean="0"/>
              <a:t>Click to edit Master title style</a:t>
            </a:r>
          </a:p>
        </p:txBody>
      </p:sp>
      <p:sp>
        <p:nvSpPr>
          <p:cNvPr id="3075" name="Rectangle 3"/>
          <p:cNvSpPr>
            <a:spLocks noGrp="1" noChangeArrowheads="1"/>
          </p:cNvSpPr>
          <p:nvPr>
            <p:ph type="body" idx="1"/>
          </p:nvPr>
        </p:nvSpPr>
        <p:spPr bwMode="auto">
          <a:xfrm>
            <a:off x="486490" y="1600201"/>
            <a:ext cx="8756809"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smtClean="0"/>
              <a:t>Click to edit Master text styles</a:t>
            </a:r>
          </a:p>
          <a:p>
            <a:pPr lvl="1"/>
            <a:r>
              <a:rPr lang="en-US" altLang="zh-TW" smtClean="0"/>
              <a:t>Second level</a:t>
            </a:r>
          </a:p>
          <a:p>
            <a:pPr lvl="2"/>
            <a:r>
              <a:rPr lang="en-US" altLang="zh-TW" smtClean="0"/>
              <a:t>Third level</a:t>
            </a:r>
          </a:p>
          <a:p>
            <a:pPr lvl="3"/>
            <a:r>
              <a:rPr lang="en-US" altLang="zh-TW" smtClean="0"/>
              <a:t>Fourth level</a:t>
            </a:r>
          </a:p>
          <a:p>
            <a:pPr lvl="4"/>
            <a:r>
              <a:rPr lang="en-US" altLang="zh-TW" smtClean="0"/>
              <a:t>Fifth level</a:t>
            </a:r>
          </a:p>
        </p:txBody>
      </p:sp>
      <p:sp>
        <p:nvSpPr>
          <p:cNvPr id="435204" name="Rectangle 4"/>
          <p:cNvSpPr>
            <a:spLocks noGrp="1" noChangeArrowheads="1"/>
          </p:cNvSpPr>
          <p:nvPr>
            <p:ph type="dt" sz="half" idx="2"/>
          </p:nvPr>
        </p:nvSpPr>
        <p:spPr bwMode="auto">
          <a:xfrm>
            <a:off x="486489" y="6245225"/>
            <a:ext cx="2270284"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latin typeface="Arial" charset="0"/>
              </a:defRPr>
            </a:lvl1pPr>
          </a:lstStyle>
          <a:p>
            <a:pPr fontAlgn="base">
              <a:spcBef>
                <a:spcPct val="0"/>
              </a:spcBef>
              <a:spcAft>
                <a:spcPct val="0"/>
              </a:spcAft>
              <a:defRPr/>
            </a:pPr>
            <a:endParaRPr kumimoji="1" lang="en-US" altLang="zh-TW">
              <a:solidFill>
                <a:srgbClr val="000000"/>
              </a:solidFill>
            </a:endParaRPr>
          </a:p>
        </p:txBody>
      </p:sp>
      <p:sp>
        <p:nvSpPr>
          <p:cNvPr id="435205" name="Rectangle 5"/>
          <p:cNvSpPr>
            <a:spLocks noGrp="1" noChangeArrowheads="1"/>
          </p:cNvSpPr>
          <p:nvPr>
            <p:ph type="ftr" sz="quarter" idx="3"/>
          </p:nvPr>
        </p:nvSpPr>
        <p:spPr bwMode="auto">
          <a:xfrm>
            <a:off x="3324344" y="6245225"/>
            <a:ext cx="30811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fontAlgn="base">
              <a:spcBef>
                <a:spcPct val="0"/>
              </a:spcBef>
              <a:spcAft>
                <a:spcPct val="0"/>
              </a:spcAft>
              <a:defRPr/>
            </a:pPr>
            <a:endParaRPr kumimoji="1" lang="en-US" altLang="zh-TW">
              <a:solidFill>
                <a:srgbClr val="000000"/>
              </a:solidFill>
            </a:endParaRPr>
          </a:p>
        </p:txBody>
      </p:sp>
      <p:sp>
        <p:nvSpPr>
          <p:cNvPr id="435206" name="Rectangle 6"/>
          <p:cNvSpPr>
            <a:spLocks noGrp="1" noChangeArrowheads="1"/>
          </p:cNvSpPr>
          <p:nvPr>
            <p:ph type="sldNum" sz="quarter" idx="4"/>
          </p:nvPr>
        </p:nvSpPr>
        <p:spPr bwMode="auto">
          <a:xfrm>
            <a:off x="6973015" y="6245225"/>
            <a:ext cx="2270284"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fontAlgn="base">
              <a:spcBef>
                <a:spcPct val="0"/>
              </a:spcBef>
              <a:spcAft>
                <a:spcPct val="0"/>
              </a:spcAft>
              <a:defRPr/>
            </a:pPr>
            <a:fld id="{EFDF27C6-2E3F-4653-AD05-B0DA4D175FEC}" type="slidenum">
              <a:rPr kumimoji="1" lang="zh-TW" altLang="en-US">
                <a:solidFill>
                  <a:srgbClr val="000000"/>
                </a:solidFill>
              </a:rPr>
              <a:pPr fontAlgn="base">
                <a:spcBef>
                  <a:spcPct val="0"/>
                </a:spcBef>
                <a:spcAft>
                  <a:spcPct val="0"/>
                </a:spcAft>
                <a:defRPr/>
              </a:pPr>
              <a:t>‹#›</a:t>
            </a:fld>
            <a:endParaRPr kumimoji="1" lang="en-US" altLang="zh-TW">
              <a:solidFill>
                <a:srgbClr val="000000"/>
              </a:solidFill>
            </a:endParaRPr>
          </a:p>
        </p:txBody>
      </p:sp>
    </p:spTree>
    <p:extLst>
      <p:ext uri="{BB962C8B-B14F-4D97-AF65-F5344CB8AC3E}">
        <p14:creationId xmlns:p14="http://schemas.microsoft.com/office/powerpoint/2010/main" val="12431265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timing>
    <p:tnLst>
      <p:par>
        <p:cTn id="1" dur="indefinite" restart="never" nodeType="tmRoot"/>
      </p:par>
    </p:tnLst>
  </p:timing>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新細明體" pitchFamily="18" charset="-120"/>
        </a:defRPr>
      </a:lvl2pPr>
      <a:lvl3pPr algn="ctr" rtl="0" eaLnBrk="0" fontAlgn="base" hangingPunct="0">
        <a:spcBef>
          <a:spcPct val="0"/>
        </a:spcBef>
        <a:spcAft>
          <a:spcPct val="0"/>
        </a:spcAft>
        <a:defRPr kumimoji="1" sz="4400">
          <a:solidFill>
            <a:schemeClr val="tx2"/>
          </a:solidFill>
          <a:latin typeface="Arial" charset="0"/>
          <a:ea typeface="新細明體" pitchFamily="18" charset="-120"/>
        </a:defRPr>
      </a:lvl3pPr>
      <a:lvl4pPr algn="ctr" rtl="0" eaLnBrk="0" fontAlgn="base" hangingPunct="0">
        <a:spcBef>
          <a:spcPct val="0"/>
        </a:spcBef>
        <a:spcAft>
          <a:spcPct val="0"/>
        </a:spcAft>
        <a:defRPr kumimoji="1" sz="4400">
          <a:solidFill>
            <a:schemeClr val="tx2"/>
          </a:solidFill>
          <a:latin typeface="Arial" charset="0"/>
          <a:ea typeface="新細明體" pitchFamily="18" charset="-120"/>
        </a:defRPr>
      </a:lvl4pPr>
      <a:lvl5pPr algn="ctr" rtl="0" eaLnBrk="0" fontAlgn="base" hangingPunct="0">
        <a:spcBef>
          <a:spcPct val="0"/>
        </a:spcBef>
        <a:spcAft>
          <a:spcPct val="0"/>
        </a:spcAft>
        <a:defRPr kumimoji="1" sz="4400">
          <a:solidFill>
            <a:schemeClr val="tx2"/>
          </a:solidFill>
          <a:latin typeface="Arial" charset="0"/>
          <a:ea typeface="新細明體" pitchFamily="18" charset="-120"/>
        </a:defRPr>
      </a:lvl5pPr>
      <a:lvl6pPr marL="457200" algn="ctr" rtl="0" fontAlgn="base">
        <a:spcBef>
          <a:spcPct val="0"/>
        </a:spcBef>
        <a:spcAft>
          <a:spcPct val="0"/>
        </a:spcAft>
        <a:defRPr kumimoji="1" sz="4400">
          <a:solidFill>
            <a:schemeClr val="tx2"/>
          </a:solidFill>
          <a:latin typeface="Arial" charset="0"/>
          <a:ea typeface="新細明體" pitchFamily="18" charset="-120"/>
        </a:defRPr>
      </a:lvl6pPr>
      <a:lvl7pPr marL="914400" algn="ctr" rtl="0" fontAlgn="base">
        <a:spcBef>
          <a:spcPct val="0"/>
        </a:spcBef>
        <a:spcAft>
          <a:spcPct val="0"/>
        </a:spcAft>
        <a:defRPr kumimoji="1" sz="4400">
          <a:solidFill>
            <a:schemeClr val="tx2"/>
          </a:solidFill>
          <a:latin typeface="Arial" charset="0"/>
          <a:ea typeface="新細明體" pitchFamily="18" charset="-120"/>
        </a:defRPr>
      </a:lvl7pPr>
      <a:lvl8pPr marL="1371600" algn="ctr" rtl="0" fontAlgn="base">
        <a:spcBef>
          <a:spcPct val="0"/>
        </a:spcBef>
        <a:spcAft>
          <a:spcPct val="0"/>
        </a:spcAft>
        <a:defRPr kumimoji="1" sz="4400">
          <a:solidFill>
            <a:schemeClr val="tx2"/>
          </a:solidFill>
          <a:latin typeface="Arial" charset="0"/>
          <a:ea typeface="新細明體" pitchFamily="18" charset="-120"/>
        </a:defRPr>
      </a:lvl8pPr>
      <a:lvl9pPr marL="1828800" algn="ctr" rtl="0" fontAlgn="base">
        <a:spcBef>
          <a:spcPct val="0"/>
        </a:spcBef>
        <a:spcAft>
          <a:spcPct val="0"/>
        </a:spcAft>
        <a:defRPr kumimoji="1" sz="4400">
          <a:solidFill>
            <a:schemeClr val="tx2"/>
          </a:solidFill>
          <a:latin typeface="Arial"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stevewhaga@cse.nsysu.edu.tw" TargetMode="External"/><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4.jfi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243554" y="978408"/>
            <a:ext cx="10076688" cy="1380744"/>
          </a:xfrm>
        </p:spPr>
        <p:txBody>
          <a:bodyPr>
            <a:noAutofit/>
          </a:bodyPr>
          <a:lstStyle/>
          <a:p>
            <a:pPr eaLnBrk="1" hangingPunct="1"/>
            <a:r>
              <a:rPr lang="en-US" altLang="zh-TW" sz="8000" dirty="0">
                <a:solidFill>
                  <a:srgbClr val="0033CC"/>
                </a:solidFill>
                <a:effectLst>
                  <a:outerShdw blurRad="38100" dist="38100" dir="2700000" algn="tl">
                    <a:srgbClr val="000000">
                      <a:alpha val="43137"/>
                    </a:srgbClr>
                  </a:outerShdw>
                </a:effectLst>
                <a:latin typeface="FrankRuehl" panose="020E0503060101010101" pitchFamily="34" charset="-79"/>
                <a:cs typeface="FrankRuehl" panose="020E0503060101010101" pitchFamily="34" charset="-79"/>
              </a:rPr>
              <a:t>Programming in Python</a:t>
            </a:r>
            <a:endParaRPr lang="en-US" altLang="zh-TW" sz="11500" dirty="0">
              <a:solidFill>
                <a:srgbClr val="0033CC"/>
              </a:solidFill>
              <a:effectLst>
                <a:outerShdw blurRad="38100" dist="38100" dir="2700000" algn="tl">
                  <a:srgbClr val="000000">
                    <a:alpha val="43137"/>
                  </a:srgbClr>
                </a:outerShdw>
              </a:effectLst>
              <a:latin typeface="FrankRuehl" panose="020E0503060101010101" pitchFamily="34" charset="-79"/>
              <a:cs typeface="FrankRuehl" panose="020E0503060101010101" pitchFamily="34" charset="-79"/>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8433" y="2854872"/>
            <a:ext cx="3810000" cy="3810000"/>
          </a:xfrm>
          <a:prstGeom prst="rect">
            <a:avLst/>
          </a:prstGeom>
        </p:spPr>
      </p:pic>
    </p:spTree>
    <p:extLst>
      <p:ext uri="{BB962C8B-B14F-4D97-AF65-F5344CB8AC3E}">
        <p14:creationId xmlns:p14="http://schemas.microsoft.com/office/powerpoint/2010/main" val="8832095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750094" y="266700"/>
            <a:ext cx="8305800" cy="6172200"/>
          </a:xfrm>
        </p:spPr>
        <p:txBody>
          <a:bodyPr/>
          <a:lstStyle/>
          <a:p>
            <a:pPr eaLnBrk="1" hangingPunct="1">
              <a:buFontTx/>
              <a:buNone/>
            </a:pPr>
            <a:r>
              <a:rPr lang="en-US" altLang="zh-TW" dirty="0" smtClean="0"/>
              <a:t>Professor: Steve </a:t>
            </a:r>
            <a:r>
              <a:rPr lang="en-US" altLang="zh-TW" dirty="0" err="1" smtClean="0"/>
              <a:t>Haga</a:t>
            </a:r>
            <a:endParaRPr lang="en-US" altLang="zh-TW" dirty="0" smtClean="0"/>
          </a:p>
          <a:p>
            <a:pPr eaLnBrk="1" hangingPunct="1">
              <a:buFontTx/>
              <a:buNone/>
            </a:pPr>
            <a:r>
              <a:rPr lang="en-US" altLang="zh-TW" dirty="0" smtClean="0"/>
              <a:t>Office:  F9037</a:t>
            </a:r>
          </a:p>
          <a:p>
            <a:pPr eaLnBrk="1" hangingPunct="1">
              <a:buFontTx/>
              <a:buNone/>
            </a:pPr>
            <a:r>
              <a:rPr lang="en-US" altLang="zh-TW" dirty="0" smtClean="0"/>
              <a:t>Office Hours: Monday 12:00-2:00</a:t>
            </a:r>
          </a:p>
          <a:p>
            <a:pPr eaLnBrk="1" hangingPunct="1">
              <a:buFontTx/>
              <a:buNone/>
            </a:pPr>
            <a:r>
              <a:rPr lang="en-US" altLang="zh-TW" dirty="0" smtClean="0"/>
              <a:t>                      Friday 10:00-12:00</a:t>
            </a:r>
          </a:p>
          <a:p>
            <a:pPr eaLnBrk="1" hangingPunct="1">
              <a:buFontTx/>
              <a:buNone/>
            </a:pPr>
            <a:r>
              <a:rPr lang="en-US" altLang="zh-TW" dirty="0" smtClean="0"/>
              <a:t>Email: </a:t>
            </a:r>
            <a:r>
              <a:rPr lang="en-US" altLang="zh-TW" dirty="0" smtClean="0">
                <a:hlinkClick r:id="rId3"/>
              </a:rPr>
              <a:t>stevewhaga@yahoo.com</a:t>
            </a:r>
            <a:endParaRPr lang="en-US" altLang="zh-TW" dirty="0" smtClean="0"/>
          </a:p>
          <a:p>
            <a:pPr eaLnBrk="1" hangingPunct="1">
              <a:buFontTx/>
              <a:buNone/>
            </a:pPr>
            <a:r>
              <a:rPr lang="en-US" altLang="zh-TW" dirty="0" smtClean="0"/>
              <a:t>	</a:t>
            </a:r>
            <a:r>
              <a:rPr lang="en-US" altLang="zh-TW" sz="2800" dirty="0"/>
              <a:t>(Please write the subject heading in English.)</a:t>
            </a:r>
          </a:p>
          <a:p>
            <a:pPr eaLnBrk="1" hangingPunct="1">
              <a:buFontTx/>
              <a:buNone/>
            </a:pPr>
            <a:endParaRPr lang="en-US" altLang="zh-TW" sz="2800" dirty="0"/>
          </a:p>
          <a:p>
            <a:pPr eaLnBrk="1" hangingPunct="1">
              <a:buFontTx/>
              <a:buNone/>
            </a:pPr>
            <a:r>
              <a:rPr lang="en-US" altLang="zh-TW" sz="2800" dirty="0"/>
              <a:t>TA: </a:t>
            </a:r>
            <a:r>
              <a:rPr lang="de-DE" altLang="zh-TW" sz="2800" dirty="0"/>
              <a:t>Mark Lin </a:t>
            </a:r>
            <a:endParaRPr lang="en-US" sz="2800" dirty="0"/>
          </a:p>
          <a:p>
            <a:pPr eaLnBrk="1" hangingPunct="1">
              <a:buFontTx/>
              <a:buNone/>
            </a:pPr>
            <a:r>
              <a:rPr lang="en-US" altLang="zh-TW" sz="2800" dirty="0"/>
              <a:t>Office:  EC5018</a:t>
            </a:r>
          </a:p>
          <a:p>
            <a:pPr eaLnBrk="1" hangingPunct="1">
              <a:buFontTx/>
              <a:buNone/>
            </a:pPr>
            <a:r>
              <a:rPr lang="en-US" altLang="zh-TW" sz="2800" dirty="0"/>
              <a:t>Office hours: Wednesday 14:00-16:00</a:t>
            </a:r>
          </a:p>
          <a:p>
            <a:pPr eaLnBrk="1" hangingPunct="1">
              <a:buFontTx/>
              <a:buNone/>
            </a:pPr>
            <a:r>
              <a:rPr lang="en-US" altLang="zh-TW" sz="2800" dirty="0" smtClean="0"/>
              <a:t>Email: </a:t>
            </a:r>
            <a:r>
              <a:rPr lang="de-DE" altLang="zh-TW" sz="2800" dirty="0" smtClean="0"/>
              <a:t>marc21517@yahoo.com.tw</a:t>
            </a:r>
            <a:endParaRPr lang="en-US" altLang="zh-TW" dirty="0" smtClean="0"/>
          </a:p>
        </p:txBody>
      </p:sp>
      <p:sp>
        <p:nvSpPr>
          <p:cNvPr id="3" name="Rounded Rectangular Callout 2"/>
          <p:cNvSpPr/>
          <p:nvPr/>
        </p:nvSpPr>
        <p:spPr bwMode="auto">
          <a:xfrm>
            <a:off x="7303294" y="533400"/>
            <a:ext cx="2095500" cy="1219200"/>
          </a:xfrm>
          <a:prstGeom prst="wedgeRoundRectCallout">
            <a:avLst>
              <a:gd name="adj1" fmla="val -88714"/>
              <a:gd name="adj2" fmla="val 46077"/>
              <a:gd name="adj3" fmla="val 16667"/>
            </a:avLst>
          </a:prstGeom>
          <a:solidFill>
            <a:srgbClr val="FFFFCC"/>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lnSpc>
                <a:spcPct val="86000"/>
              </a:lnSpc>
              <a:spcBef>
                <a:spcPct val="0"/>
              </a:spcBef>
              <a:spcAft>
                <a:spcPct val="0"/>
              </a:spcAft>
            </a:pPr>
            <a:r>
              <a:rPr kumimoji="1" lang="en-US" sz="2800" i="1" spc="-20" dirty="0">
                <a:latin typeface="Arial" charset="0"/>
                <a:ea typeface="新細明體" pitchFamily="18" charset="-120"/>
              </a:rPr>
              <a:t>Sometimes</a:t>
            </a:r>
            <a:r>
              <a:rPr kumimoji="1" lang="en-US" sz="2800" spc="-20" dirty="0">
                <a:latin typeface="Arial" charset="0"/>
                <a:ea typeface="新細明體" pitchFamily="18" charset="-120"/>
              </a:rPr>
              <a:t> </a:t>
            </a:r>
          </a:p>
          <a:p>
            <a:pPr algn="ctr" fontAlgn="base">
              <a:lnSpc>
                <a:spcPct val="86000"/>
              </a:lnSpc>
              <a:spcBef>
                <a:spcPct val="0"/>
              </a:spcBef>
              <a:spcAft>
                <a:spcPct val="0"/>
              </a:spcAft>
            </a:pPr>
            <a:r>
              <a:rPr kumimoji="1" lang="en-US" sz="2800" spc="-20" dirty="0">
                <a:latin typeface="Arial" charset="0"/>
                <a:ea typeface="新細明體" pitchFamily="18" charset="-120"/>
              </a:rPr>
              <a:t>in F5012, </a:t>
            </a:r>
          </a:p>
          <a:p>
            <a:pPr algn="ctr" fontAlgn="base">
              <a:lnSpc>
                <a:spcPct val="86000"/>
              </a:lnSpc>
              <a:spcBef>
                <a:spcPct val="0"/>
              </a:spcBef>
              <a:spcAft>
                <a:spcPct val="0"/>
              </a:spcAft>
            </a:pPr>
            <a:r>
              <a:rPr kumimoji="1" lang="en-US" sz="2800" spc="-20" dirty="0">
                <a:latin typeface="Arial" charset="0"/>
                <a:ea typeface="新細明體" pitchFamily="18" charset="-120"/>
              </a:rPr>
              <a:t>not F9037.</a:t>
            </a:r>
            <a:endParaRPr kumimoji="1" lang="en-US" sz="2800" dirty="0">
              <a:latin typeface="Arial" charset="0"/>
              <a:ea typeface="新細明體" pitchFamily="18" charset="-120"/>
            </a:endParaRPr>
          </a:p>
        </p:txBody>
      </p:sp>
    </p:spTree>
    <p:extLst>
      <p:ext uri="{BB962C8B-B14F-4D97-AF65-F5344CB8AC3E}">
        <p14:creationId xmlns:p14="http://schemas.microsoft.com/office/powerpoint/2010/main" val="28836564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0420350" cy="6879119"/>
          </a:xfrm>
          <a:prstGeom prst="rect">
            <a:avLst/>
          </a:prstGeom>
        </p:spPr>
      </p:pic>
      <p:sp>
        <p:nvSpPr>
          <p:cNvPr id="5" name="Rounded Rectangular Callout 4"/>
          <p:cNvSpPr/>
          <p:nvPr/>
        </p:nvSpPr>
        <p:spPr>
          <a:xfrm>
            <a:off x="2611091" y="2409226"/>
            <a:ext cx="6348611" cy="2060666"/>
          </a:xfrm>
          <a:prstGeom prst="wedgeRoundRectCallout">
            <a:avLst>
              <a:gd name="adj1" fmla="val -45411"/>
              <a:gd name="adj2" fmla="val 721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r>
              <a:rPr lang="en-US" altLang="zh-TW" sz="2800" dirty="0">
                <a:solidFill>
                  <a:prstClr val="white"/>
                </a:solidFill>
              </a:rPr>
              <a:t>See how much they are worth? </a:t>
            </a:r>
            <a:br>
              <a:rPr lang="en-US" altLang="zh-TW" sz="2800" dirty="0">
                <a:solidFill>
                  <a:prstClr val="white"/>
                </a:solidFill>
              </a:rPr>
            </a:br>
            <a:r>
              <a:rPr lang="en-US" altLang="zh-TW" sz="2800" dirty="0">
                <a:solidFill>
                  <a:prstClr val="white"/>
                </a:solidFill>
              </a:rPr>
              <a:t>So don’t not do them.</a:t>
            </a:r>
            <a:br>
              <a:rPr lang="en-US" altLang="zh-TW" sz="2800" dirty="0">
                <a:solidFill>
                  <a:prstClr val="white"/>
                </a:solidFill>
              </a:rPr>
            </a:br>
            <a:r>
              <a:rPr lang="en-US" altLang="zh-TW" sz="2800" dirty="0">
                <a:solidFill>
                  <a:prstClr val="white"/>
                </a:solidFill>
              </a:rPr>
              <a:t>(And don’t copy them because both the copier </a:t>
            </a:r>
            <a:r>
              <a:rPr lang="en-US" altLang="zh-TW" sz="2800" b="1" dirty="0">
                <a:solidFill>
                  <a:srgbClr val="FFFF00"/>
                </a:solidFill>
              </a:rPr>
              <a:t>and the helper </a:t>
            </a:r>
            <a:r>
              <a:rPr lang="en-US" altLang="zh-TW" sz="2800" dirty="0">
                <a:solidFill>
                  <a:prstClr val="white"/>
                </a:solidFill>
              </a:rPr>
              <a:t>will fail the course.)</a:t>
            </a:r>
            <a:endParaRPr lang="zh-TW" altLang="en-US" sz="2800" dirty="0">
              <a:solidFill>
                <a:prstClr val="white"/>
              </a:solidFill>
            </a:endParaRPr>
          </a:p>
        </p:txBody>
      </p:sp>
      <p:sp>
        <p:nvSpPr>
          <p:cNvPr id="6" name="Rounded Rectangular Callout 5"/>
          <p:cNvSpPr/>
          <p:nvPr/>
        </p:nvSpPr>
        <p:spPr>
          <a:xfrm>
            <a:off x="3850152" y="5540765"/>
            <a:ext cx="4100842" cy="1317235"/>
          </a:xfrm>
          <a:prstGeom prst="wedgeRoundRectCallout">
            <a:avLst>
              <a:gd name="adj1" fmla="val -87842"/>
              <a:gd name="adj2" fmla="val -4665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altLang="zh-TW" sz="2800" dirty="0" smtClean="0">
                <a:solidFill>
                  <a:prstClr val="white"/>
                </a:solidFill>
              </a:rPr>
              <a:t>If the quizzes are few, then some quiz points will go to attendance and exams.</a:t>
            </a:r>
            <a:endParaRPr lang="zh-TW" altLang="en-US" sz="2800" dirty="0">
              <a:solidFill>
                <a:prstClr val="white"/>
              </a:solidFill>
            </a:endParaRPr>
          </a:p>
        </p:txBody>
      </p:sp>
      <p:sp>
        <p:nvSpPr>
          <p:cNvPr id="7" name="Rounded Rectangular Callout 6"/>
          <p:cNvSpPr/>
          <p:nvPr/>
        </p:nvSpPr>
        <p:spPr>
          <a:xfrm>
            <a:off x="3712797" y="1077288"/>
            <a:ext cx="3427148" cy="1098202"/>
          </a:xfrm>
          <a:prstGeom prst="wedgeRoundRectCallout">
            <a:avLst>
              <a:gd name="adj1" fmla="val 95195"/>
              <a:gd name="adj2" fmla="val -21677"/>
              <a:gd name="adj3" fmla="val 16667"/>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zh-TW" sz="3200" dirty="0">
                <a:solidFill>
                  <a:schemeClr val="tx1"/>
                </a:solidFill>
              </a:rPr>
              <a:t>This is our course number: </a:t>
            </a:r>
            <a:r>
              <a:rPr lang="en-US" altLang="zh-TW" sz="3200" b="1" dirty="0">
                <a:solidFill>
                  <a:srgbClr val="C00000"/>
                </a:solidFill>
              </a:rPr>
              <a:t>CSE282</a:t>
            </a:r>
            <a:r>
              <a:rPr lang="en-US" altLang="zh-TW" sz="3200" dirty="0">
                <a:solidFill>
                  <a:schemeClr val="tx1"/>
                </a:solidFill>
              </a:rPr>
              <a:t>.</a:t>
            </a:r>
            <a:endParaRPr lang="zh-TW" altLang="en-US" sz="3200" dirty="0">
              <a:solidFill>
                <a:schemeClr val="tx1"/>
              </a:solidFill>
            </a:endParaRPr>
          </a:p>
        </p:txBody>
      </p:sp>
    </p:spTree>
    <p:extLst>
      <p:ext uri="{BB962C8B-B14F-4D97-AF65-F5344CB8AC3E}">
        <p14:creationId xmlns:p14="http://schemas.microsoft.com/office/powerpoint/2010/main" val="141390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1"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par>
                                <p:cTn id="18" presetID="14" presetClass="exit" presetSubtype="10" fill="hold" grpId="1" nodeType="withEffect">
                                  <p:stCondLst>
                                    <p:cond delay="0"/>
                                  </p:stCondLst>
                                  <p:childTnLst>
                                    <p:animEffect transition="out" filter="randombar(horizontal)">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randombar(horizontal)">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906" y="90806"/>
            <a:ext cx="10515600" cy="1079627"/>
          </a:xfrm>
        </p:spPr>
        <p:txBody>
          <a:bodyPr>
            <a:normAutofit/>
          </a:bodyPr>
          <a:lstStyle/>
          <a:p>
            <a:pPr algn="ctr"/>
            <a:r>
              <a:rPr lang="en-US" sz="5400" b="1" dirty="0">
                <a:solidFill>
                  <a:srgbClr val="2E75B6"/>
                </a:solidFill>
                <a:latin typeface="Times New Roman" panose="02020603050405020304" pitchFamily="18" charset="0"/>
                <a:cs typeface="Times New Roman" panose="02020603050405020304" pitchFamily="18" charset="0"/>
              </a:rPr>
              <a:t>Who can take the course?</a:t>
            </a:r>
          </a:p>
        </p:txBody>
      </p:sp>
      <p:sp>
        <p:nvSpPr>
          <p:cNvPr id="3" name="Content Placeholder 2"/>
          <p:cNvSpPr>
            <a:spLocks noGrp="1"/>
          </p:cNvSpPr>
          <p:nvPr>
            <p:ph idx="1"/>
          </p:nvPr>
        </p:nvSpPr>
        <p:spPr>
          <a:xfrm>
            <a:off x="0" y="1225296"/>
            <a:ext cx="10851166" cy="5632704"/>
          </a:xfrm>
        </p:spPr>
        <p:txBody>
          <a:bodyPr>
            <a:noAutofit/>
          </a:bodyPr>
          <a:lstStyle/>
          <a:p>
            <a:pPr marL="227013" indent="-227013"/>
            <a:r>
              <a:rPr lang="en-US" sz="4000" dirty="0">
                <a:latin typeface="Arial Narrow" panose="020B0606020202030204" pitchFamily="34" charset="0"/>
              </a:rPr>
              <a:t>This is not CSE 101.</a:t>
            </a:r>
          </a:p>
          <a:p>
            <a:pPr marL="511175" lvl="1" indent="-225425"/>
            <a:r>
              <a:rPr lang="en-US" sz="3400" spc="-30" dirty="0">
                <a:solidFill>
                  <a:srgbClr val="FF0000"/>
                </a:solidFill>
                <a:latin typeface="Arial Narrow" panose="020B0606020202030204" pitchFamily="34" charset="0"/>
              </a:rPr>
              <a:t>Many s</a:t>
            </a:r>
            <a:r>
              <a:rPr lang="en-US" sz="3400" dirty="0">
                <a:solidFill>
                  <a:srgbClr val="FF0000"/>
                </a:solidFill>
                <a:latin typeface="Arial Narrow" panose="020B0606020202030204" pitchFamily="34" charset="0"/>
              </a:rPr>
              <a:t>c</a:t>
            </a:r>
            <a:r>
              <a:rPr lang="en-US" sz="3400" spc="-30" dirty="0">
                <a:solidFill>
                  <a:srgbClr val="FF0000"/>
                </a:solidFill>
                <a:latin typeface="Arial Narrow" panose="020B0606020202030204" pitchFamily="34" charset="0"/>
              </a:rPr>
              <a:t>hools use P</a:t>
            </a:r>
            <a:r>
              <a:rPr lang="en-US" sz="3400" dirty="0">
                <a:solidFill>
                  <a:srgbClr val="FF0000"/>
                </a:solidFill>
                <a:latin typeface="Arial Narrow" panose="020B0606020202030204" pitchFamily="34" charset="0"/>
              </a:rPr>
              <a:t>yt</a:t>
            </a:r>
            <a:r>
              <a:rPr lang="en-US" sz="3400" spc="-30" dirty="0">
                <a:solidFill>
                  <a:srgbClr val="FF0000"/>
                </a:solidFill>
                <a:latin typeface="Arial Narrow" panose="020B0606020202030204" pitchFamily="34" charset="0"/>
              </a:rPr>
              <a:t>hon in </a:t>
            </a:r>
            <a:r>
              <a:rPr lang="en-US" sz="3400" dirty="0">
                <a:solidFill>
                  <a:srgbClr val="FF0000"/>
                </a:solidFill>
                <a:latin typeface="Arial Narrow" panose="020B0606020202030204" pitchFamily="34" charset="0"/>
              </a:rPr>
              <a:t>t</a:t>
            </a:r>
            <a:r>
              <a:rPr lang="en-US" sz="3400" spc="-10" dirty="0">
                <a:solidFill>
                  <a:srgbClr val="FF0000"/>
                </a:solidFill>
                <a:latin typeface="Arial Narrow" panose="020B0606020202030204" pitchFamily="34" charset="0"/>
              </a:rPr>
              <a:t>heir </a:t>
            </a:r>
            <a:r>
              <a:rPr lang="en-US" sz="3400" spc="-10" dirty="0" smtClean="0">
                <a:solidFill>
                  <a:srgbClr val="FF0000"/>
                </a:solidFill>
                <a:latin typeface="Arial Narrow" panose="020B0606020202030204" pitchFamily="34" charset="0"/>
              </a:rPr>
              <a:t>in</a:t>
            </a:r>
            <a:r>
              <a:rPr lang="en-US" sz="3400" dirty="0" smtClean="0">
                <a:solidFill>
                  <a:srgbClr val="FF0000"/>
                </a:solidFill>
                <a:latin typeface="Arial Narrow" panose="020B0606020202030204" pitchFamily="34" charset="0"/>
              </a:rPr>
              <a:t>t</a:t>
            </a:r>
            <a:r>
              <a:rPr lang="en-US" sz="3400" spc="-10" dirty="0" smtClean="0">
                <a:solidFill>
                  <a:srgbClr val="FF0000"/>
                </a:solidFill>
                <a:latin typeface="Arial Narrow" panose="020B0606020202030204" pitchFamily="34" charset="0"/>
              </a:rPr>
              <a:t>ro </a:t>
            </a:r>
            <a:r>
              <a:rPr lang="en-US" sz="3400" spc="-30" dirty="0" smtClean="0">
                <a:solidFill>
                  <a:srgbClr val="FF0000"/>
                </a:solidFill>
                <a:latin typeface="Arial Narrow" panose="020B0606020202030204" pitchFamily="34" charset="0"/>
              </a:rPr>
              <a:t>p</a:t>
            </a:r>
            <a:r>
              <a:rPr lang="en-US" sz="3400" dirty="0" smtClean="0">
                <a:solidFill>
                  <a:srgbClr val="FF0000"/>
                </a:solidFill>
                <a:latin typeface="Arial Narrow" panose="020B0606020202030204" pitchFamily="34" charset="0"/>
              </a:rPr>
              <a:t>r</a:t>
            </a:r>
            <a:r>
              <a:rPr lang="en-US" sz="3400" spc="-30" dirty="0" smtClean="0">
                <a:solidFill>
                  <a:srgbClr val="FF0000"/>
                </a:solidFill>
                <a:latin typeface="Arial Narrow" panose="020B0606020202030204" pitchFamily="34" charset="0"/>
              </a:rPr>
              <a:t>og</a:t>
            </a:r>
            <a:r>
              <a:rPr lang="en-US" sz="3400" dirty="0">
                <a:solidFill>
                  <a:srgbClr val="FF0000"/>
                </a:solidFill>
                <a:latin typeface="Arial Narrow" panose="020B0606020202030204" pitchFamily="34" charset="0"/>
              </a:rPr>
              <a:t>r</a:t>
            </a:r>
            <a:r>
              <a:rPr lang="en-US" sz="3400" spc="-30" dirty="0" smtClean="0">
                <a:solidFill>
                  <a:srgbClr val="FF0000"/>
                </a:solidFill>
                <a:latin typeface="Arial Narrow" panose="020B0606020202030204" pitchFamily="34" charset="0"/>
              </a:rPr>
              <a:t>amming </a:t>
            </a:r>
            <a:r>
              <a:rPr lang="en-US" sz="3400" spc="-30" dirty="0">
                <a:solidFill>
                  <a:srgbClr val="FF0000"/>
                </a:solidFill>
                <a:latin typeface="Arial Narrow" panose="020B0606020202030204" pitchFamily="34" charset="0"/>
              </a:rPr>
              <a:t>clas</a:t>
            </a:r>
            <a:r>
              <a:rPr lang="en-US" sz="3400" spc="-210" dirty="0">
                <a:solidFill>
                  <a:srgbClr val="FF0000"/>
                </a:solidFill>
                <a:latin typeface="Arial Narrow" panose="020B0606020202030204" pitchFamily="34" charset="0"/>
              </a:rPr>
              <a:t>s</a:t>
            </a:r>
            <a:r>
              <a:rPr lang="en-US" sz="3400" spc="-10" dirty="0">
                <a:solidFill>
                  <a:srgbClr val="FF0000"/>
                </a:solidFill>
                <a:latin typeface="Arial Narrow" panose="020B0606020202030204" pitchFamily="34" charset="0"/>
              </a:rPr>
              <a:t>.</a:t>
            </a:r>
          </a:p>
          <a:p>
            <a:pPr marL="511175" lvl="2" indent="234950"/>
            <a:r>
              <a:rPr lang="en-US" sz="3000" dirty="0">
                <a:solidFill>
                  <a:srgbClr val="FF0000"/>
                </a:solidFill>
                <a:latin typeface="Arial Narrow" panose="020B0606020202030204" pitchFamily="34" charset="0"/>
              </a:rPr>
              <a:t>But not NSYSU. We use C++ for that class.</a:t>
            </a:r>
          </a:p>
          <a:p>
            <a:pPr marL="746125" lvl="4" indent="227013"/>
            <a:r>
              <a:rPr lang="en-US" sz="2800" spc="-30" dirty="0">
                <a:solidFill>
                  <a:srgbClr val="FF0000"/>
                </a:solidFill>
                <a:latin typeface="Arial Narrow" panose="020B0606020202030204" pitchFamily="34" charset="0"/>
              </a:rPr>
              <a:t>S</a:t>
            </a:r>
            <a:r>
              <a:rPr lang="en-US" sz="2800" spc="-10" dirty="0">
                <a:solidFill>
                  <a:srgbClr val="FF0000"/>
                </a:solidFill>
                <a:latin typeface="Arial Narrow" panose="020B0606020202030204" pitchFamily="34" charset="0"/>
              </a:rPr>
              <a:t>o </a:t>
            </a:r>
            <a:r>
              <a:rPr lang="en-US" sz="2800" spc="-10" dirty="0" smtClean="0">
                <a:solidFill>
                  <a:srgbClr val="FF0000"/>
                </a:solidFill>
                <a:latin typeface="Arial Narrow" panose="020B0606020202030204" pitchFamily="34" charset="0"/>
              </a:rPr>
              <a:t>I’ll </a:t>
            </a:r>
            <a:r>
              <a:rPr lang="en-US" sz="2800" spc="-30" dirty="0">
                <a:solidFill>
                  <a:srgbClr val="FF0000"/>
                </a:solidFill>
                <a:latin typeface="Arial Narrow" panose="020B0606020202030204" pitchFamily="34" charset="0"/>
              </a:rPr>
              <a:t>som</a:t>
            </a:r>
            <a:r>
              <a:rPr lang="en-US" sz="2800" spc="-10" dirty="0">
                <a:solidFill>
                  <a:srgbClr val="FF0000"/>
                </a:solidFill>
                <a:latin typeface="Arial Narrow" panose="020B0606020202030204" pitchFamily="34" charset="0"/>
              </a:rPr>
              <a:t>etimes c</a:t>
            </a:r>
            <a:r>
              <a:rPr lang="en-US" sz="2800" spc="-30" dirty="0">
                <a:solidFill>
                  <a:srgbClr val="FF0000"/>
                </a:solidFill>
                <a:latin typeface="Arial Narrow" panose="020B0606020202030204" pitchFamily="34" charset="0"/>
              </a:rPr>
              <a:t>ompa</a:t>
            </a:r>
            <a:r>
              <a:rPr lang="en-US" sz="2800" spc="-10" dirty="0">
                <a:solidFill>
                  <a:srgbClr val="FF0000"/>
                </a:solidFill>
                <a:latin typeface="Arial Narrow" panose="020B0606020202030204" pitchFamily="34" charset="0"/>
              </a:rPr>
              <a:t>re to </a:t>
            </a:r>
            <a:r>
              <a:rPr lang="en-US" sz="2800" spc="-10" dirty="0" smtClean="0">
                <a:solidFill>
                  <a:srgbClr val="FF0000"/>
                </a:solidFill>
                <a:latin typeface="Arial Narrow" panose="020B0606020202030204" pitchFamily="34" charset="0"/>
              </a:rPr>
              <a:t>C </a:t>
            </a:r>
            <a:r>
              <a:rPr lang="en-US" sz="2800" spc="-60" dirty="0">
                <a:solidFill>
                  <a:srgbClr val="FF0000"/>
                </a:solidFill>
                <a:latin typeface="Arial Narrow" panose="020B0606020202030204" pitchFamily="34" charset="0"/>
              </a:rPr>
              <a:t>ex</a:t>
            </a:r>
            <a:r>
              <a:rPr lang="en-US" sz="2800" spc="-20" dirty="0">
                <a:solidFill>
                  <a:srgbClr val="FF0000"/>
                </a:solidFill>
                <a:latin typeface="Arial Narrow" panose="020B0606020202030204" pitchFamily="34" charset="0"/>
              </a:rPr>
              <a:t>amples</a:t>
            </a:r>
            <a:r>
              <a:rPr lang="en-US" sz="2800" spc="-10" dirty="0">
                <a:solidFill>
                  <a:srgbClr val="FF0000"/>
                </a:solidFill>
                <a:latin typeface="Arial Narrow" panose="020B0606020202030204" pitchFamily="34" charset="0"/>
              </a:rPr>
              <a:t> </a:t>
            </a:r>
            <a:r>
              <a:rPr lang="en-US" sz="2800" spc="-30" dirty="0">
                <a:latin typeface="Arial Narrow" panose="020B0606020202030204" pitchFamily="34" charset="0"/>
              </a:rPr>
              <a:t>(b</a:t>
            </a:r>
            <a:r>
              <a:rPr lang="en-US" sz="2800" spc="-10" dirty="0">
                <a:latin typeface="Arial Narrow" panose="020B0606020202030204" pitchFamily="34" charset="0"/>
              </a:rPr>
              <a:t>ut </a:t>
            </a:r>
            <a:r>
              <a:rPr lang="en-US" sz="2800" spc="-50" dirty="0">
                <a:latin typeface="Arial Narrow" panose="020B0606020202030204" pitchFamily="34" charset="0"/>
              </a:rPr>
              <a:t>wo</a:t>
            </a:r>
            <a:r>
              <a:rPr lang="en-US" sz="2800" spc="-80" dirty="0">
                <a:latin typeface="Arial Narrow" panose="020B0606020202030204" pitchFamily="34" charset="0"/>
              </a:rPr>
              <a:t>n</a:t>
            </a:r>
            <a:r>
              <a:rPr lang="en-US" sz="2800" spc="-10" dirty="0">
                <a:latin typeface="Arial Narrow" panose="020B0606020202030204" pitchFamily="34" charset="0"/>
              </a:rPr>
              <a:t>’t test </a:t>
            </a:r>
            <a:r>
              <a:rPr lang="en-US" sz="2800" spc="-40" dirty="0">
                <a:latin typeface="Arial Narrow" panose="020B0606020202030204" pitchFamily="34" charset="0"/>
              </a:rPr>
              <a:t>you on </a:t>
            </a:r>
            <a:r>
              <a:rPr lang="en-US" sz="2800" spc="-110" dirty="0">
                <a:latin typeface="Arial Narrow" panose="020B0606020202030204" pitchFamily="34" charset="0"/>
              </a:rPr>
              <a:t>C</a:t>
            </a:r>
            <a:r>
              <a:rPr lang="en-US" sz="2800" spc="-10" dirty="0">
                <a:latin typeface="Arial Narrow" panose="020B0606020202030204" pitchFamily="34" charset="0"/>
              </a:rPr>
              <a:t>) </a:t>
            </a:r>
          </a:p>
          <a:p>
            <a:pPr marL="227013" indent="-227013">
              <a:spcBef>
                <a:spcPts val="1800"/>
              </a:spcBef>
            </a:pPr>
            <a:r>
              <a:rPr lang="en-US" altLang="zh-TW" sz="4000" spc="-40" dirty="0">
                <a:latin typeface="Arial Narrow" panose="020B0606020202030204" pitchFamily="34" charset="0"/>
              </a:rPr>
              <a:t>This is CSE 282.  </a:t>
            </a:r>
            <a:endParaRPr lang="en-US" altLang="zh-TW" sz="3200" spc="-40" dirty="0">
              <a:latin typeface="Arial Narrow" panose="020B0606020202030204" pitchFamily="34" charset="0"/>
            </a:endParaRPr>
          </a:p>
        </p:txBody>
      </p:sp>
    </p:spTree>
    <p:extLst>
      <p:ext uri="{BB962C8B-B14F-4D97-AF65-F5344CB8AC3E}">
        <p14:creationId xmlns:p14="http://schemas.microsoft.com/office/powerpoint/2010/main" val="3007048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0" dur="500"/>
                                        <p:tgtEl>
                                          <p:spTgt spid="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906" y="90806"/>
            <a:ext cx="10515600" cy="1079627"/>
          </a:xfrm>
        </p:spPr>
        <p:txBody>
          <a:bodyPr>
            <a:normAutofit/>
          </a:bodyPr>
          <a:lstStyle/>
          <a:p>
            <a:pPr algn="ctr"/>
            <a:r>
              <a:rPr lang="en-US" sz="5400" b="1" dirty="0">
                <a:solidFill>
                  <a:srgbClr val="2E75B6"/>
                </a:solidFill>
                <a:latin typeface="Times New Roman" panose="02020603050405020304" pitchFamily="18" charset="0"/>
                <a:cs typeface="Times New Roman" panose="02020603050405020304" pitchFamily="18" charset="0"/>
              </a:rPr>
              <a:t>Who can take the course?</a:t>
            </a:r>
          </a:p>
        </p:txBody>
      </p:sp>
      <p:sp>
        <p:nvSpPr>
          <p:cNvPr id="3" name="Content Placeholder 2"/>
          <p:cNvSpPr>
            <a:spLocks noGrp="1"/>
          </p:cNvSpPr>
          <p:nvPr>
            <p:ph idx="1"/>
          </p:nvPr>
        </p:nvSpPr>
        <p:spPr>
          <a:xfrm>
            <a:off x="0" y="1225296"/>
            <a:ext cx="10851166" cy="5632704"/>
          </a:xfrm>
        </p:spPr>
        <p:txBody>
          <a:bodyPr>
            <a:noAutofit/>
          </a:bodyPr>
          <a:lstStyle/>
          <a:p>
            <a:pPr marL="227013" indent="-227013"/>
            <a:r>
              <a:rPr lang="en-US" sz="4000" dirty="0">
                <a:latin typeface="Arial Narrow" panose="020B0606020202030204" pitchFamily="34" charset="0"/>
              </a:rPr>
              <a:t>This is not CSE 101.</a:t>
            </a:r>
          </a:p>
          <a:p>
            <a:pPr marL="511175" lvl="1" indent="-225425"/>
            <a:r>
              <a:rPr lang="en-US" sz="3400" spc="-30" dirty="0">
                <a:solidFill>
                  <a:srgbClr val="FF0000"/>
                </a:solidFill>
                <a:latin typeface="Arial Narrow" panose="020B0606020202030204" pitchFamily="34" charset="0"/>
              </a:rPr>
              <a:t>Many s</a:t>
            </a:r>
            <a:r>
              <a:rPr lang="en-US" sz="3400" dirty="0">
                <a:solidFill>
                  <a:srgbClr val="FF0000"/>
                </a:solidFill>
                <a:latin typeface="Arial Narrow" panose="020B0606020202030204" pitchFamily="34" charset="0"/>
              </a:rPr>
              <a:t>c</a:t>
            </a:r>
            <a:r>
              <a:rPr lang="en-US" sz="3400" spc="-30" dirty="0">
                <a:solidFill>
                  <a:srgbClr val="FF0000"/>
                </a:solidFill>
                <a:latin typeface="Arial Narrow" panose="020B0606020202030204" pitchFamily="34" charset="0"/>
              </a:rPr>
              <a:t>hools use P</a:t>
            </a:r>
            <a:r>
              <a:rPr lang="en-US" sz="3400" dirty="0">
                <a:solidFill>
                  <a:srgbClr val="FF0000"/>
                </a:solidFill>
                <a:latin typeface="Arial Narrow" panose="020B0606020202030204" pitchFamily="34" charset="0"/>
              </a:rPr>
              <a:t>yt</a:t>
            </a:r>
            <a:r>
              <a:rPr lang="en-US" sz="3400" spc="-30" dirty="0">
                <a:solidFill>
                  <a:srgbClr val="FF0000"/>
                </a:solidFill>
                <a:latin typeface="Arial Narrow" panose="020B0606020202030204" pitchFamily="34" charset="0"/>
              </a:rPr>
              <a:t>hon in </a:t>
            </a:r>
            <a:r>
              <a:rPr lang="en-US" sz="3400" dirty="0">
                <a:solidFill>
                  <a:srgbClr val="FF0000"/>
                </a:solidFill>
                <a:latin typeface="Arial Narrow" panose="020B0606020202030204" pitchFamily="34" charset="0"/>
              </a:rPr>
              <a:t>t</a:t>
            </a:r>
            <a:r>
              <a:rPr lang="en-US" sz="3400" spc="-10" dirty="0">
                <a:solidFill>
                  <a:srgbClr val="FF0000"/>
                </a:solidFill>
                <a:latin typeface="Arial Narrow" panose="020B0606020202030204" pitchFamily="34" charset="0"/>
              </a:rPr>
              <a:t>heir </a:t>
            </a:r>
            <a:r>
              <a:rPr lang="en-US" sz="3400" spc="-10" dirty="0" smtClean="0">
                <a:solidFill>
                  <a:srgbClr val="FF0000"/>
                </a:solidFill>
                <a:latin typeface="Arial Narrow" panose="020B0606020202030204" pitchFamily="34" charset="0"/>
              </a:rPr>
              <a:t>in</a:t>
            </a:r>
            <a:r>
              <a:rPr lang="en-US" sz="3400" dirty="0" smtClean="0">
                <a:solidFill>
                  <a:srgbClr val="FF0000"/>
                </a:solidFill>
                <a:latin typeface="Arial Narrow" panose="020B0606020202030204" pitchFamily="34" charset="0"/>
              </a:rPr>
              <a:t>t</a:t>
            </a:r>
            <a:r>
              <a:rPr lang="en-US" sz="3400" spc="-10" dirty="0" smtClean="0">
                <a:solidFill>
                  <a:srgbClr val="FF0000"/>
                </a:solidFill>
                <a:latin typeface="Arial Narrow" panose="020B0606020202030204" pitchFamily="34" charset="0"/>
              </a:rPr>
              <a:t>ro </a:t>
            </a:r>
            <a:r>
              <a:rPr lang="en-US" sz="3400" spc="-30" dirty="0" smtClean="0">
                <a:solidFill>
                  <a:srgbClr val="FF0000"/>
                </a:solidFill>
                <a:latin typeface="Arial Narrow" panose="020B0606020202030204" pitchFamily="34" charset="0"/>
              </a:rPr>
              <a:t>p</a:t>
            </a:r>
            <a:r>
              <a:rPr lang="en-US" sz="3400" dirty="0" smtClean="0">
                <a:solidFill>
                  <a:srgbClr val="FF0000"/>
                </a:solidFill>
                <a:latin typeface="Arial Narrow" panose="020B0606020202030204" pitchFamily="34" charset="0"/>
              </a:rPr>
              <a:t>r</a:t>
            </a:r>
            <a:r>
              <a:rPr lang="en-US" sz="3400" spc="-30" dirty="0" smtClean="0">
                <a:solidFill>
                  <a:srgbClr val="FF0000"/>
                </a:solidFill>
                <a:latin typeface="Arial Narrow" panose="020B0606020202030204" pitchFamily="34" charset="0"/>
              </a:rPr>
              <a:t>og</a:t>
            </a:r>
            <a:r>
              <a:rPr lang="en-US" sz="3400" dirty="0">
                <a:solidFill>
                  <a:srgbClr val="FF0000"/>
                </a:solidFill>
                <a:latin typeface="Arial Narrow" panose="020B0606020202030204" pitchFamily="34" charset="0"/>
              </a:rPr>
              <a:t>r</a:t>
            </a:r>
            <a:r>
              <a:rPr lang="en-US" sz="3400" spc="-30" dirty="0" smtClean="0">
                <a:solidFill>
                  <a:srgbClr val="FF0000"/>
                </a:solidFill>
                <a:latin typeface="Arial Narrow" panose="020B0606020202030204" pitchFamily="34" charset="0"/>
              </a:rPr>
              <a:t>amming </a:t>
            </a:r>
            <a:r>
              <a:rPr lang="en-US" sz="3400" spc="-30" dirty="0">
                <a:solidFill>
                  <a:srgbClr val="FF0000"/>
                </a:solidFill>
                <a:latin typeface="Arial Narrow" panose="020B0606020202030204" pitchFamily="34" charset="0"/>
              </a:rPr>
              <a:t>clas</a:t>
            </a:r>
            <a:r>
              <a:rPr lang="en-US" sz="3400" spc="-210" dirty="0">
                <a:solidFill>
                  <a:srgbClr val="FF0000"/>
                </a:solidFill>
                <a:latin typeface="Arial Narrow" panose="020B0606020202030204" pitchFamily="34" charset="0"/>
              </a:rPr>
              <a:t>s</a:t>
            </a:r>
            <a:r>
              <a:rPr lang="en-US" sz="3400" spc="-10" dirty="0">
                <a:solidFill>
                  <a:srgbClr val="FF0000"/>
                </a:solidFill>
                <a:latin typeface="Arial Narrow" panose="020B0606020202030204" pitchFamily="34" charset="0"/>
              </a:rPr>
              <a:t>.</a:t>
            </a:r>
          </a:p>
          <a:p>
            <a:pPr marL="511175" lvl="2" indent="234950"/>
            <a:r>
              <a:rPr lang="en-US" sz="3000" dirty="0">
                <a:solidFill>
                  <a:srgbClr val="FF0000"/>
                </a:solidFill>
                <a:latin typeface="Arial Narrow" panose="020B0606020202030204" pitchFamily="34" charset="0"/>
              </a:rPr>
              <a:t>But not NSYSU. We use C++ for that class.</a:t>
            </a:r>
          </a:p>
          <a:p>
            <a:pPr marL="746125" lvl="4" indent="227013"/>
            <a:r>
              <a:rPr lang="en-US" sz="2800" spc="-30" dirty="0">
                <a:solidFill>
                  <a:srgbClr val="FF0000"/>
                </a:solidFill>
                <a:latin typeface="Arial Narrow" panose="020B0606020202030204" pitchFamily="34" charset="0"/>
              </a:rPr>
              <a:t>S</a:t>
            </a:r>
            <a:r>
              <a:rPr lang="en-US" sz="2800" spc="-10" dirty="0">
                <a:solidFill>
                  <a:srgbClr val="FF0000"/>
                </a:solidFill>
                <a:latin typeface="Arial Narrow" panose="020B0606020202030204" pitchFamily="34" charset="0"/>
              </a:rPr>
              <a:t>o </a:t>
            </a:r>
            <a:r>
              <a:rPr lang="en-US" sz="2800" spc="-10" dirty="0" smtClean="0">
                <a:solidFill>
                  <a:srgbClr val="FF0000"/>
                </a:solidFill>
                <a:latin typeface="Arial Narrow" panose="020B0606020202030204" pitchFamily="34" charset="0"/>
              </a:rPr>
              <a:t>I’ll </a:t>
            </a:r>
            <a:r>
              <a:rPr lang="en-US" sz="2800" spc="-30" dirty="0">
                <a:solidFill>
                  <a:srgbClr val="FF0000"/>
                </a:solidFill>
                <a:latin typeface="Arial Narrow" panose="020B0606020202030204" pitchFamily="34" charset="0"/>
              </a:rPr>
              <a:t>som</a:t>
            </a:r>
            <a:r>
              <a:rPr lang="en-US" sz="2800" spc="-10" dirty="0">
                <a:solidFill>
                  <a:srgbClr val="FF0000"/>
                </a:solidFill>
                <a:latin typeface="Arial Narrow" panose="020B0606020202030204" pitchFamily="34" charset="0"/>
              </a:rPr>
              <a:t>etimes c</a:t>
            </a:r>
            <a:r>
              <a:rPr lang="en-US" sz="2800" spc="-30" dirty="0">
                <a:solidFill>
                  <a:srgbClr val="FF0000"/>
                </a:solidFill>
                <a:latin typeface="Arial Narrow" panose="020B0606020202030204" pitchFamily="34" charset="0"/>
              </a:rPr>
              <a:t>ompa</a:t>
            </a:r>
            <a:r>
              <a:rPr lang="en-US" sz="2800" spc="-10" dirty="0">
                <a:solidFill>
                  <a:srgbClr val="FF0000"/>
                </a:solidFill>
                <a:latin typeface="Arial Narrow" panose="020B0606020202030204" pitchFamily="34" charset="0"/>
              </a:rPr>
              <a:t>re to </a:t>
            </a:r>
            <a:r>
              <a:rPr lang="en-US" sz="2800" spc="-10" dirty="0" smtClean="0">
                <a:solidFill>
                  <a:srgbClr val="FF0000"/>
                </a:solidFill>
                <a:latin typeface="Arial Narrow" panose="020B0606020202030204" pitchFamily="34" charset="0"/>
              </a:rPr>
              <a:t>C </a:t>
            </a:r>
            <a:r>
              <a:rPr lang="en-US" sz="2800" spc="-60" dirty="0">
                <a:solidFill>
                  <a:srgbClr val="FF0000"/>
                </a:solidFill>
                <a:latin typeface="Arial Narrow" panose="020B0606020202030204" pitchFamily="34" charset="0"/>
              </a:rPr>
              <a:t>ex</a:t>
            </a:r>
            <a:r>
              <a:rPr lang="en-US" sz="2800" spc="-20" dirty="0">
                <a:solidFill>
                  <a:srgbClr val="FF0000"/>
                </a:solidFill>
                <a:latin typeface="Arial Narrow" panose="020B0606020202030204" pitchFamily="34" charset="0"/>
              </a:rPr>
              <a:t>amples</a:t>
            </a:r>
            <a:r>
              <a:rPr lang="en-US" sz="2800" spc="-10" dirty="0">
                <a:solidFill>
                  <a:srgbClr val="FF0000"/>
                </a:solidFill>
                <a:latin typeface="Arial Narrow" panose="020B0606020202030204" pitchFamily="34" charset="0"/>
              </a:rPr>
              <a:t> </a:t>
            </a:r>
            <a:r>
              <a:rPr lang="en-US" sz="2800" spc="-30" dirty="0">
                <a:solidFill>
                  <a:srgbClr val="FF0000"/>
                </a:solidFill>
                <a:latin typeface="Arial Narrow" panose="020B0606020202030204" pitchFamily="34" charset="0"/>
              </a:rPr>
              <a:t>(b</a:t>
            </a:r>
            <a:r>
              <a:rPr lang="en-US" sz="2800" spc="-10" dirty="0">
                <a:solidFill>
                  <a:srgbClr val="FF0000"/>
                </a:solidFill>
                <a:latin typeface="Arial Narrow" panose="020B0606020202030204" pitchFamily="34" charset="0"/>
              </a:rPr>
              <a:t>ut </a:t>
            </a:r>
            <a:r>
              <a:rPr lang="en-US" sz="2800" spc="-50" dirty="0">
                <a:solidFill>
                  <a:srgbClr val="FF0000"/>
                </a:solidFill>
                <a:latin typeface="Arial Narrow" panose="020B0606020202030204" pitchFamily="34" charset="0"/>
              </a:rPr>
              <a:t>wo</a:t>
            </a:r>
            <a:r>
              <a:rPr lang="en-US" sz="2800" spc="-80" dirty="0">
                <a:solidFill>
                  <a:srgbClr val="FF0000"/>
                </a:solidFill>
                <a:latin typeface="Arial Narrow" panose="020B0606020202030204" pitchFamily="34" charset="0"/>
              </a:rPr>
              <a:t>n</a:t>
            </a:r>
            <a:r>
              <a:rPr lang="en-US" sz="2800" spc="-10" dirty="0">
                <a:solidFill>
                  <a:srgbClr val="FF0000"/>
                </a:solidFill>
                <a:latin typeface="Arial Narrow" panose="020B0606020202030204" pitchFamily="34" charset="0"/>
              </a:rPr>
              <a:t>’t test </a:t>
            </a:r>
            <a:r>
              <a:rPr lang="en-US" sz="2800" spc="-40" dirty="0">
                <a:solidFill>
                  <a:srgbClr val="FF0000"/>
                </a:solidFill>
                <a:latin typeface="Arial Narrow" panose="020B0606020202030204" pitchFamily="34" charset="0"/>
              </a:rPr>
              <a:t>you on </a:t>
            </a:r>
            <a:r>
              <a:rPr lang="en-US" sz="2800" spc="-110" dirty="0">
                <a:solidFill>
                  <a:srgbClr val="FF0000"/>
                </a:solidFill>
                <a:latin typeface="Arial Narrow" panose="020B0606020202030204" pitchFamily="34" charset="0"/>
              </a:rPr>
              <a:t>C</a:t>
            </a:r>
            <a:r>
              <a:rPr lang="en-US" sz="2800" spc="-10" dirty="0">
                <a:solidFill>
                  <a:srgbClr val="FF0000"/>
                </a:solidFill>
                <a:latin typeface="Arial Narrow" panose="020B0606020202030204" pitchFamily="34" charset="0"/>
              </a:rPr>
              <a:t>) </a:t>
            </a:r>
          </a:p>
          <a:p>
            <a:pPr marL="227013" indent="-227013">
              <a:spcBef>
                <a:spcPts val="1800"/>
              </a:spcBef>
            </a:pPr>
            <a:r>
              <a:rPr lang="en-US" altLang="zh-TW" sz="4000" spc="-40" dirty="0">
                <a:latin typeface="Arial Narrow" panose="020B0606020202030204" pitchFamily="34" charset="0"/>
              </a:rPr>
              <a:t>This is CSE </a:t>
            </a:r>
            <a:r>
              <a:rPr lang="en-US" altLang="zh-TW" sz="4000" u="sng" spc="-40" dirty="0">
                <a:latin typeface="Arial Narrow" panose="020B0606020202030204" pitchFamily="34" charset="0"/>
              </a:rPr>
              <a:t>2</a:t>
            </a:r>
            <a:r>
              <a:rPr lang="en-US" altLang="zh-TW" sz="4000" spc="-40" dirty="0">
                <a:latin typeface="Arial Narrow" panose="020B0606020202030204" pitchFamily="34" charset="0"/>
              </a:rPr>
              <a:t>82. </a:t>
            </a:r>
            <a:r>
              <a:rPr lang="en-US" altLang="zh-TW" sz="4000" spc="-100" dirty="0" smtClean="0">
                <a:solidFill>
                  <a:srgbClr val="FF0000"/>
                </a:solidFill>
                <a:latin typeface="Arial Narrow" panose="020B0606020202030204" pitchFamily="34" charset="0"/>
              </a:rPr>
              <a:t>(</a:t>
            </a:r>
            <a:r>
              <a:rPr lang="en-US" altLang="zh-TW" sz="4000" spc="-100" dirty="0" err="1" smtClean="0">
                <a:solidFill>
                  <a:srgbClr val="FF0000"/>
                </a:solidFill>
                <a:latin typeface="Arial Narrow" panose="020B0606020202030204" pitchFamily="34" charset="0"/>
              </a:rPr>
              <a:t>i</a:t>
            </a:r>
            <a:r>
              <a:rPr lang="en-US" altLang="zh-TW" sz="4000" spc="-300" dirty="0" err="1" smtClean="0">
                <a:solidFill>
                  <a:srgbClr val="FF0000"/>
                </a:solidFill>
                <a:latin typeface="Arial Narrow" panose="020B0606020202030204" pitchFamily="34" charset="0"/>
              </a:rPr>
              <a:t>e</a:t>
            </a:r>
            <a:r>
              <a:rPr lang="en-US" altLang="zh-TW" sz="4000" spc="-100" dirty="0" smtClean="0">
                <a:solidFill>
                  <a:srgbClr val="FF0000"/>
                </a:solidFill>
                <a:latin typeface="Arial Narrow" panose="020B0606020202030204" pitchFamily="34" charset="0"/>
              </a:rPr>
              <a:t>, </a:t>
            </a:r>
            <a:r>
              <a:rPr lang="en-US" altLang="zh-TW" sz="4000" spc="-60" dirty="0" smtClean="0">
                <a:solidFill>
                  <a:srgbClr val="FF0000"/>
                </a:solidFill>
                <a:latin typeface="Arial Narrow" panose="020B0606020202030204" pitchFamily="34" charset="0"/>
              </a:rPr>
              <a:t>aime</a:t>
            </a:r>
            <a:r>
              <a:rPr lang="en-US" altLang="zh-TW" sz="4000" spc="-100" dirty="0" smtClean="0">
                <a:solidFill>
                  <a:srgbClr val="FF0000"/>
                </a:solidFill>
                <a:latin typeface="Arial Narrow" panose="020B0606020202030204" pitchFamily="34" charset="0"/>
              </a:rPr>
              <a:t>d at 2</a:t>
            </a:r>
            <a:r>
              <a:rPr lang="en-US" altLang="zh-TW" sz="4000" spc="-100" baseline="30000" dirty="0" smtClean="0">
                <a:solidFill>
                  <a:srgbClr val="FF0000"/>
                </a:solidFill>
                <a:latin typeface="Arial Narrow" panose="020B0606020202030204" pitchFamily="34" charset="0"/>
              </a:rPr>
              <a:t>nd</a:t>
            </a:r>
            <a:r>
              <a:rPr lang="en-US" altLang="zh-TW" sz="3200" spc="-100" dirty="0" smtClean="0">
                <a:solidFill>
                  <a:srgbClr val="FF0000"/>
                </a:solidFill>
                <a:latin typeface="Arial Narrow" panose="020B0606020202030204" pitchFamily="34" charset="0"/>
              </a:rPr>
              <a:t> </a:t>
            </a:r>
            <a:r>
              <a:rPr lang="en-US" altLang="zh-TW" sz="4000" spc="-100" dirty="0">
                <a:solidFill>
                  <a:srgbClr val="FF0000"/>
                </a:solidFill>
                <a:latin typeface="Arial Narrow" panose="020B0606020202030204" pitchFamily="34" charset="0"/>
              </a:rPr>
              <a:t>year CSE </a:t>
            </a:r>
            <a:r>
              <a:rPr lang="en-US" altLang="zh-TW" sz="4000" spc="-100" dirty="0" smtClean="0">
                <a:solidFill>
                  <a:srgbClr val="FF0000"/>
                </a:solidFill>
                <a:latin typeface="Arial Narrow" panose="020B0606020202030204" pitchFamily="34" charset="0"/>
              </a:rPr>
              <a:t>student</a:t>
            </a:r>
            <a:r>
              <a:rPr lang="en-US" altLang="zh-TW" sz="4000" spc="-300" dirty="0" smtClean="0">
                <a:solidFill>
                  <a:srgbClr val="FF0000"/>
                </a:solidFill>
                <a:latin typeface="Arial Narrow" panose="020B0606020202030204" pitchFamily="34" charset="0"/>
              </a:rPr>
              <a:t>s</a:t>
            </a:r>
            <a:r>
              <a:rPr lang="en-US" altLang="zh-TW" sz="4000" spc="-100" dirty="0" smtClean="0">
                <a:solidFill>
                  <a:srgbClr val="FF0000"/>
                </a:solidFill>
                <a:latin typeface="Arial Narrow" panose="020B0606020202030204" pitchFamily="34" charset="0"/>
              </a:rPr>
              <a:t>)</a:t>
            </a:r>
            <a:endParaRPr lang="en-US" altLang="zh-TW" sz="4000" spc="-100" dirty="0">
              <a:solidFill>
                <a:srgbClr val="FF0000"/>
              </a:solidFill>
              <a:latin typeface="Arial Narrow" panose="020B0606020202030204" pitchFamily="34" charset="0"/>
            </a:endParaRPr>
          </a:p>
          <a:p>
            <a:pPr marL="511175" indent="-225425"/>
            <a:r>
              <a:rPr lang="en-US" altLang="zh-TW" sz="3600" dirty="0">
                <a:solidFill>
                  <a:srgbClr val="FF0000"/>
                </a:solidFill>
                <a:latin typeface="Arial Narrow" panose="020B0606020202030204" pitchFamily="34" charset="0"/>
              </a:rPr>
              <a:t>2</a:t>
            </a:r>
            <a:r>
              <a:rPr lang="en-US" altLang="zh-TW" sz="3600" baseline="30000" dirty="0">
                <a:solidFill>
                  <a:srgbClr val="FF0000"/>
                </a:solidFill>
                <a:latin typeface="Arial Narrow" panose="020B0606020202030204" pitchFamily="34" charset="0"/>
              </a:rPr>
              <a:t>nd</a:t>
            </a:r>
            <a:r>
              <a:rPr lang="en-US" altLang="zh-TW" sz="3600" dirty="0">
                <a:solidFill>
                  <a:srgbClr val="FF0000"/>
                </a:solidFill>
                <a:latin typeface="Arial Narrow" panose="020B0606020202030204" pitchFamily="34" charset="0"/>
              </a:rPr>
              <a:t> year students know how to program.</a:t>
            </a:r>
          </a:p>
          <a:p>
            <a:pPr marL="511175" lvl="2" indent="234950"/>
            <a:r>
              <a:rPr lang="en-US" sz="3200" dirty="0">
                <a:latin typeface="Arial Narrow" panose="020B0606020202030204" pitchFamily="34" charset="0"/>
              </a:rPr>
              <a:t>If you can’t program, you don’t have enough background.</a:t>
            </a:r>
          </a:p>
          <a:p>
            <a:pPr marL="746125" lvl="3" indent="227013"/>
            <a:r>
              <a:rPr lang="en-US" sz="3000" spc="-10" dirty="0">
                <a:latin typeface="Arial Narrow" panose="020B0606020202030204" pitchFamily="34" charset="0"/>
              </a:rPr>
              <a:t>But, that being said, the programming workload is reasonable.</a:t>
            </a:r>
          </a:p>
          <a:p>
            <a:pPr marL="511175" indent="-225425"/>
            <a:r>
              <a:rPr lang="en-US" altLang="zh-TW" sz="3600" dirty="0">
                <a:solidFill>
                  <a:srgbClr val="FF0000"/>
                </a:solidFill>
                <a:latin typeface="Arial Narrow" panose="020B0606020202030204" pitchFamily="34" charset="0"/>
              </a:rPr>
              <a:t>2</a:t>
            </a:r>
            <a:r>
              <a:rPr lang="en-US" altLang="zh-TW" sz="3600" baseline="30000" dirty="0">
                <a:solidFill>
                  <a:srgbClr val="FF0000"/>
                </a:solidFill>
                <a:latin typeface="Arial Narrow" panose="020B0606020202030204" pitchFamily="34" charset="0"/>
              </a:rPr>
              <a:t>nd</a:t>
            </a:r>
            <a:r>
              <a:rPr lang="en-US" altLang="zh-TW" sz="3600" dirty="0">
                <a:solidFill>
                  <a:srgbClr val="FF0000"/>
                </a:solidFill>
                <a:latin typeface="Arial Narrow" panose="020B0606020202030204" pitchFamily="34" charset="0"/>
              </a:rPr>
              <a:t> year students are not expert programmers.</a:t>
            </a:r>
          </a:p>
          <a:p>
            <a:pPr marL="511175" lvl="2" indent="234950"/>
            <a:r>
              <a:rPr lang="en-US" altLang="zh-TW" sz="3200" dirty="0">
                <a:latin typeface="Arial Narrow" panose="020B0606020202030204" pitchFamily="34" charset="0"/>
              </a:rPr>
              <a:t>The workload and topics covered are matched to this level.</a:t>
            </a:r>
          </a:p>
        </p:txBody>
      </p:sp>
    </p:spTree>
    <p:extLst>
      <p:ext uri="{BB962C8B-B14F-4D97-AF65-F5344CB8AC3E}">
        <p14:creationId xmlns:p14="http://schemas.microsoft.com/office/powerpoint/2010/main" val="380924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tx1"/>
                                      </p:to>
                                    </p:animClr>
                                  </p:sub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1"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969696"/>
                                      </p:to>
                                    </p:animClr>
                                  </p:subTnLst>
                                </p:cTn>
                              </p:par>
                              <p:par>
                                <p:cTn id="12" presetID="14" presetClass="entr" presetSubtype="10" fill="hold" nodeType="with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4"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969696"/>
                                      </p:to>
                                    </p:animClr>
                                  </p:subTnLst>
                                </p:cTn>
                              </p:par>
                              <p:par>
                                <p:cTn id="15" presetID="14" presetClass="entr" presetSubtype="1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randombar(horizontal)">
                                      <p:cBhvr>
                                        <p:cTn id="17"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969696"/>
                                      </p:to>
                                    </p:animClr>
                                  </p:sub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randombar(horizontal)">
                                      <p:cBhvr>
                                        <p:cTn id="22" dur="500"/>
                                        <p:tgtEl>
                                          <p:spTgt spid="3">
                                            <p:txEl>
                                              <p:pRg st="8" end="8"/>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Effect transition="in" filter="randombar(horizontal)">
                                      <p:cBhvr>
                                        <p:cTn id="2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906" y="90806"/>
            <a:ext cx="10515600" cy="1079627"/>
          </a:xfrm>
        </p:spPr>
        <p:txBody>
          <a:bodyPr>
            <a:normAutofit/>
          </a:bodyPr>
          <a:lstStyle/>
          <a:p>
            <a:pPr algn="ctr"/>
            <a:r>
              <a:rPr lang="en-US" sz="5400" b="1" dirty="0">
                <a:solidFill>
                  <a:srgbClr val="2E75B6"/>
                </a:solidFill>
                <a:latin typeface="Times New Roman" panose="02020603050405020304" pitchFamily="18" charset="0"/>
                <a:cs typeface="Times New Roman" panose="02020603050405020304" pitchFamily="18" charset="0"/>
              </a:rPr>
              <a:t>Who can take the course?</a:t>
            </a:r>
          </a:p>
        </p:txBody>
      </p:sp>
      <p:sp>
        <p:nvSpPr>
          <p:cNvPr id="3" name="Content Placeholder 2"/>
          <p:cNvSpPr>
            <a:spLocks noGrp="1"/>
          </p:cNvSpPr>
          <p:nvPr>
            <p:ph idx="1"/>
          </p:nvPr>
        </p:nvSpPr>
        <p:spPr>
          <a:xfrm>
            <a:off x="0" y="1225296"/>
            <a:ext cx="9729788" cy="5632704"/>
          </a:xfrm>
        </p:spPr>
        <p:txBody>
          <a:bodyPr>
            <a:noAutofit/>
          </a:bodyPr>
          <a:lstStyle/>
          <a:p>
            <a:pPr marL="287338" indent="-287338">
              <a:spcBef>
                <a:spcPts val="1800"/>
              </a:spcBef>
            </a:pPr>
            <a:r>
              <a:rPr lang="en-US" sz="4000" dirty="0"/>
              <a:t>What if you could not register because it is full? </a:t>
            </a:r>
          </a:p>
          <a:p>
            <a:pPr marL="287338" indent="-287338">
              <a:spcBef>
                <a:spcPts val="1800"/>
              </a:spcBef>
            </a:pPr>
            <a:r>
              <a:rPr lang="en-US" sz="4000" dirty="0"/>
              <a:t>I can open seats, but we are limited by classroom size.</a:t>
            </a:r>
          </a:p>
          <a:p>
            <a:pPr marL="287338" indent="-287338">
              <a:spcBef>
                <a:spcPts val="1800"/>
              </a:spcBef>
            </a:pPr>
            <a:r>
              <a:rPr lang="en-US" sz="4000" dirty="0"/>
              <a:t>If you have a special consideration, come see me after class.</a:t>
            </a:r>
          </a:p>
          <a:p>
            <a:pPr>
              <a:spcBef>
                <a:spcPts val="1800"/>
              </a:spcBef>
            </a:pPr>
            <a:endParaRPr lang="en-US" sz="4000" dirty="0"/>
          </a:p>
        </p:txBody>
      </p:sp>
    </p:spTree>
    <p:extLst>
      <p:ext uri="{BB962C8B-B14F-4D97-AF65-F5344CB8AC3E}">
        <p14:creationId xmlns:p14="http://schemas.microsoft.com/office/powerpoint/2010/main" val="38670341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2186" y="2854872"/>
            <a:ext cx="3810000" cy="3810000"/>
          </a:xfrm>
          <a:prstGeom prst="rect">
            <a:avLst/>
          </a:prstGeom>
        </p:spPr>
      </p:pic>
      <p:sp>
        <p:nvSpPr>
          <p:cNvPr id="4" name="Title 1"/>
          <p:cNvSpPr txBox="1">
            <a:spLocks/>
          </p:cNvSpPr>
          <p:nvPr/>
        </p:nvSpPr>
        <p:spPr>
          <a:xfrm>
            <a:off x="0" y="90806"/>
            <a:ext cx="9729788" cy="266222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7200" b="1" dirty="0">
                <a:solidFill>
                  <a:srgbClr val="2E75B6"/>
                </a:solidFill>
                <a:latin typeface="Times New Roman" panose="02020603050405020304" pitchFamily="18" charset="0"/>
                <a:cs typeface="Times New Roman" panose="02020603050405020304" pitchFamily="18" charset="0"/>
              </a:rPr>
              <a:t>So </a:t>
            </a:r>
            <a:r>
              <a:rPr lang="en-US" sz="7200" b="1" dirty="0" smtClean="0">
                <a:solidFill>
                  <a:srgbClr val="2E75B6"/>
                </a:solidFill>
                <a:latin typeface="Times New Roman" panose="02020603050405020304" pitchFamily="18" charset="0"/>
                <a:cs typeface="Times New Roman" panose="02020603050405020304" pitchFamily="18" charset="0"/>
              </a:rPr>
              <a:t>how is Python </a:t>
            </a:r>
            <a:r>
              <a:rPr lang="en-US" sz="7200" b="1" dirty="0" smtClean="0">
                <a:solidFill>
                  <a:srgbClr val="FF0000"/>
                </a:solidFill>
                <a:latin typeface="Times New Roman" panose="02020603050405020304" pitchFamily="18" charset="0"/>
                <a:cs typeface="Times New Roman" panose="02020603050405020304" pitchFamily="18" charset="0"/>
              </a:rPr>
              <a:t>syntax</a:t>
            </a:r>
            <a:r>
              <a:rPr lang="en-US" sz="7200" b="1" dirty="0" smtClean="0">
                <a:solidFill>
                  <a:srgbClr val="2E75B6"/>
                </a:solidFill>
                <a:latin typeface="Times New Roman" panose="02020603050405020304" pitchFamily="18" charset="0"/>
                <a:cs typeface="Times New Roman" panose="02020603050405020304" pitchFamily="18" charset="0"/>
              </a:rPr>
              <a:t> different than C?</a:t>
            </a:r>
            <a:endParaRPr lang="en-US" sz="7200" b="1" dirty="0">
              <a:solidFill>
                <a:srgbClr val="2E75B6"/>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clrChange>
              <a:clrFrom>
                <a:srgbClr val="F7F7F7"/>
              </a:clrFrom>
              <a:clrTo>
                <a:srgbClr val="F7F7F7">
                  <a:alpha val="0"/>
                </a:srgbClr>
              </a:clrTo>
            </a:clrChange>
            <a:extLst>
              <a:ext uri="{28A0092B-C50C-407E-A947-70E740481C1C}">
                <a14:useLocalDpi xmlns:a14="http://schemas.microsoft.com/office/drawing/2010/main" val="0"/>
              </a:ext>
            </a:extLst>
          </a:blip>
          <a:stretch>
            <a:fillRect/>
          </a:stretch>
        </p:blipFill>
        <p:spPr>
          <a:xfrm>
            <a:off x="1122853" y="3252921"/>
            <a:ext cx="2613716" cy="3013902"/>
          </a:xfrm>
          <a:prstGeom prst="rect">
            <a:avLst/>
          </a:prstGeom>
        </p:spPr>
      </p:pic>
      <p:sp>
        <p:nvSpPr>
          <p:cNvPr id="6" name="Title 1"/>
          <p:cNvSpPr txBox="1">
            <a:spLocks/>
          </p:cNvSpPr>
          <p:nvPr/>
        </p:nvSpPr>
        <p:spPr>
          <a:xfrm>
            <a:off x="4181213" y="4267695"/>
            <a:ext cx="1367362" cy="98435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7200" b="1" dirty="0" smtClean="0">
                <a:solidFill>
                  <a:srgbClr val="2E75B6"/>
                </a:solidFill>
                <a:latin typeface="Times New Roman" panose="02020603050405020304" pitchFamily="18" charset="0"/>
                <a:cs typeface="Times New Roman" panose="02020603050405020304" pitchFamily="18" charset="0"/>
              </a:rPr>
              <a:t>vs</a:t>
            </a:r>
            <a:endParaRPr lang="en-US" sz="7200" b="1" dirty="0">
              <a:solidFill>
                <a:srgbClr val="2E75B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16690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0" y="1143000"/>
            <a:ext cx="9729787" cy="57150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7475" lvl="1" indent="0">
              <a:spcBef>
                <a:spcPts val="0"/>
              </a:spcBef>
              <a:buNone/>
            </a:pPr>
            <a:r>
              <a:rPr lang="en-US" altLang="en-US" sz="4400" dirty="0" smtClean="0">
                <a:solidFill>
                  <a:sysClr val="windowText" lastClr="000000"/>
                </a:solidFill>
              </a:rPr>
              <a:t>The syntax of:</a:t>
            </a:r>
          </a:p>
          <a:p>
            <a:pPr marL="568325" lvl="1" indent="-395288">
              <a:spcBef>
                <a:spcPts val="0"/>
              </a:spcBef>
            </a:pPr>
            <a:r>
              <a:rPr lang="en-US" altLang="en-US" sz="4000" dirty="0" smtClean="0">
                <a:solidFill>
                  <a:sysClr val="windowText" lastClr="000000"/>
                </a:solidFill>
              </a:rPr>
              <a:t>Comments</a:t>
            </a:r>
          </a:p>
          <a:p>
            <a:pPr marL="568325" lvl="1" indent="-395288">
              <a:spcBef>
                <a:spcPts val="0"/>
              </a:spcBef>
            </a:pPr>
            <a:r>
              <a:rPr lang="en-US" altLang="en-US" sz="4000" dirty="0">
                <a:solidFill>
                  <a:sysClr val="windowText" lastClr="000000"/>
                </a:solidFill>
              </a:rPr>
              <a:t>Separating </a:t>
            </a:r>
            <a:r>
              <a:rPr lang="en-US" altLang="en-US" sz="4000" dirty="0" smtClean="0">
                <a:solidFill>
                  <a:sysClr val="windowText" lastClr="000000"/>
                </a:solidFill>
              </a:rPr>
              <a:t>statements</a:t>
            </a:r>
          </a:p>
          <a:p>
            <a:pPr marL="568325" lvl="1" indent="-395288">
              <a:spcBef>
                <a:spcPts val="0"/>
              </a:spcBef>
            </a:pPr>
            <a:r>
              <a:rPr lang="en-US" altLang="en-US" sz="4000" dirty="0">
                <a:solidFill>
                  <a:sysClr val="windowText" lastClr="000000"/>
                </a:solidFill>
              </a:rPr>
              <a:t>M</a:t>
            </a:r>
            <a:r>
              <a:rPr lang="en-US" altLang="en-US" sz="4000" dirty="0" smtClean="0">
                <a:solidFill>
                  <a:sysClr val="windowText" lastClr="000000"/>
                </a:solidFill>
              </a:rPr>
              <a:t>ulti-statement </a:t>
            </a:r>
            <a:r>
              <a:rPr lang="en-US" altLang="en-US" sz="4000" dirty="0">
                <a:solidFill>
                  <a:sysClr val="windowText" lastClr="000000"/>
                </a:solidFill>
              </a:rPr>
              <a:t>code blocks</a:t>
            </a:r>
          </a:p>
          <a:p>
            <a:pPr marL="568325" lvl="1" indent="-395288">
              <a:spcBef>
                <a:spcPts val="0"/>
              </a:spcBef>
            </a:pPr>
            <a:r>
              <a:rPr lang="en-US" altLang="en-US" sz="4000" dirty="0" smtClean="0">
                <a:solidFill>
                  <a:sysClr val="windowText" lastClr="000000"/>
                </a:solidFill>
              </a:rPr>
              <a:t>Multi-line </a:t>
            </a:r>
            <a:r>
              <a:rPr lang="en-US" altLang="en-US" sz="4000" dirty="0">
                <a:solidFill>
                  <a:sysClr val="windowText" lastClr="000000"/>
                </a:solidFill>
              </a:rPr>
              <a:t>statements</a:t>
            </a:r>
          </a:p>
          <a:p>
            <a:pPr marL="568325" lvl="1" indent="-395288">
              <a:spcBef>
                <a:spcPts val="0"/>
              </a:spcBef>
            </a:pPr>
            <a:r>
              <a:rPr lang="en-US" altLang="en-US" sz="4000" dirty="0">
                <a:solidFill>
                  <a:sysClr val="windowText" lastClr="000000"/>
                </a:solidFill>
              </a:rPr>
              <a:t>Variable (identifier) names</a:t>
            </a:r>
          </a:p>
          <a:p>
            <a:pPr marL="344488" lvl="1" indent="-227013">
              <a:spcBef>
                <a:spcPts val="0"/>
              </a:spcBef>
            </a:pPr>
            <a:endParaRPr lang="en-US" altLang="en-US" sz="4000" dirty="0" smtClean="0">
              <a:solidFill>
                <a:sysClr val="windowText" lastClr="000000"/>
              </a:solidFill>
            </a:endParaRPr>
          </a:p>
          <a:p>
            <a:pPr marL="344488" lvl="1" indent="-227013">
              <a:spcBef>
                <a:spcPts val="0"/>
              </a:spcBef>
            </a:pPr>
            <a:endParaRPr lang="en-US" altLang="en-US" sz="2800" dirty="0" smtClean="0">
              <a:solidFill>
                <a:sysClr val="windowText" lastClr="000000"/>
              </a:solidFill>
            </a:endParaRPr>
          </a:p>
          <a:p>
            <a:pPr marL="344488" lvl="1" indent="-227013">
              <a:spcBef>
                <a:spcPts val="0"/>
              </a:spcBef>
            </a:pPr>
            <a:endParaRPr lang="en-US" altLang="en-US" sz="2800" dirty="0">
              <a:solidFill>
                <a:sysClr val="windowText" lastClr="000000"/>
              </a:solidFill>
            </a:endParaRPr>
          </a:p>
        </p:txBody>
      </p:sp>
      <p:grpSp>
        <p:nvGrpSpPr>
          <p:cNvPr id="11" name="Group 10"/>
          <p:cNvGrpSpPr/>
          <p:nvPr/>
        </p:nvGrpSpPr>
        <p:grpSpPr>
          <a:xfrm>
            <a:off x="0" y="-21265"/>
            <a:ext cx="9729788" cy="1164266"/>
            <a:chOff x="0" y="-21265"/>
            <a:chExt cx="9729788" cy="1164266"/>
          </a:xfrm>
        </p:grpSpPr>
        <p:sp>
          <p:nvSpPr>
            <p:cNvPr id="6" name="Title 1"/>
            <p:cNvSpPr txBox="1">
              <a:spLocks/>
            </p:cNvSpPr>
            <p:nvPr/>
          </p:nvSpPr>
          <p:spPr>
            <a:xfrm>
              <a:off x="0" y="1"/>
              <a:ext cx="9729788" cy="11430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lvl="0">
                <a:defRPr/>
              </a:pPr>
              <a:r>
                <a:rPr lang="en-US" spc="40" dirty="0">
                  <a:solidFill>
                    <a:schemeClr val="bg1"/>
                  </a:solidFill>
                </a:rPr>
                <a:t>Comparing Python to </a:t>
              </a:r>
              <a:r>
                <a:rPr lang="en-US" spc="40" dirty="0" smtClean="0">
                  <a:solidFill>
                    <a:schemeClr val="bg1"/>
                  </a:solidFill>
                </a:rPr>
                <a:t>C</a:t>
              </a:r>
            </a:p>
            <a:p>
              <a:pPr lvl="0">
                <a:defRPr/>
              </a:pPr>
              <a:endParaRPr lang="en-US" sz="200" spc="40" dirty="0" smtClean="0">
                <a:solidFill>
                  <a:srgbClr val="0070C0"/>
                </a:solidFill>
              </a:endParaRPr>
            </a:p>
          </p:txBody>
        </p:sp>
        <p:sp>
          <p:nvSpPr>
            <p:cNvPr id="10" name="Title 1"/>
            <p:cNvSpPr txBox="1">
              <a:spLocks/>
            </p:cNvSpPr>
            <p:nvPr/>
          </p:nvSpPr>
          <p:spPr>
            <a:xfrm>
              <a:off x="0" y="-21265"/>
              <a:ext cx="9729787" cy="101988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40" normalizeH="0" noProof="0" dirty="0" smtClean="0">
                  <a:ln>
                    <a:noFill/>
                  </a:ln>
                  <a:solidFill>
                    <a:srgbClr val="0070C0"/>
                  </a:solidFill>
                  <a:effectLst/>
                  <a:uLnTx/>
                  <a:uFillTx/>
                  <a:latin typeface="Elephant" panose="02020904090505020303" pitchFamily="18" charset="0"/>
                  <a:ea typeface="+mj-ea"/>
                  <a:cs typeface="+mj-cs"/>
                </a:rPr>
                <a:t>Comparing Python to C</a:t>
              </a:r>
              <a:endParaRPr kumimoji="0" lang="en-US" sz="4400" b="0" i="0" u="none" strike="noStrike" kern="1200" cap="none" spc="40" normalizeH="0" noProof="0" dirty="0">
                <a:ln>
                  <a:noFill/>
                </a:ln>
                <a:solidFill>
                  <a:srgbClr val="FF0000"/>
                </a:solidFill>
                <a:effectLst/>
                <a:uLnTx/>
                <a:uFillTx/>
                <a:latin typeface="Elephant" panose="02020904090505020303" pitchFamily="18" charset="0"/>
                <a:ea typeface="+mj-ea"/>
                <a:cs typeface="+mj-cs"/>
              </a:endParaRPr>
            </a:p>
          </p:txBody>
        </p:sp>
      </p:grpSp>
    </p:spTree>
    <p:extLst>
      <p:ext uri="{BB962C8B-B14F-4D97-AF65-F5344CB8AC3E}">
        <p14:creationId xmlns:p14="http://schemas.microsoft.com/office/powerpoint/2010/main" val="375070262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randombar(horizontal)">
                                      <p:cBhvr>
                                        <p:cTn id="7" dur="500"/>
                                        <p:tgtEl>
                                          <p:spTgt spid="16">
                                            <p:txEl>
                                              <p:pRg st="1" end="1"/>
                                            </p:txEl>
                                          </p:spTgt>
                                        </p:tgtEl>
                                      </p:cBhvr>
                                    </p:animEffect>
                                  </p:childTnLst>
                                </p:cTn>
                              </p:par>
                            </p:childTnLst>
                          </p:cTn>
                        </p:par>
                        <p:par>
                          <p:cTn id="8" fill="hold">
                            <p:stCondLst>
                              <p:cond delay="500"/>
                            </p:stCondLst>
                            <p:childTnLst>
                              <p:par>
                                <p:cTn id="9" presetID="14" presetClass="entr" presetSubtype="10" fill="hold" nodeType="afterEffect">
                                  <p:stCondLst>
                                    <p:cond delay="350"/>
                                  </p:stCondLst>
                                  <p:childTnLst>
                                    <p:set>
                                      <p:cBhvr>
                                        <p:cTn id="10" dur="1" fill="hold">
                                          <p:stCondLst>
                                            <p:cond delay="0"/>
                                          </p:stCondLst>
                                        </p:cTn>
                                        <p:tgtEl>
                                          <p:spTgt spid="16">
                                            <p:txEl>
                                              <p:pRg st="2" end="2"/>
                                            </p:txEl>
                                          </p:spTgt>
                                        </p:tgtEl>
                                        <p:attrNameLst>
                                          <p:attrName>style.visibility</p:attrName>
                                        </p:attrNameLst>
                                      </p:cBhvr>
                                      <p:to>
                                        <p:strVal val="visible"/>
                                      </p:to>
                                    </p:set>
                                    <p:animEffect transition="in" filter="randombar(horizontal)">
                                      <p:cBhvr>
                                        <p:cTn id="11" dur="500"/>
                                        <p:tgtEl>
                                          <p:spTgt spid="16">
                                            <p:txEl>
                                              <p:pRg st="2" end="2"/>
                                            </p:txEl>
                                          </p:spTgt>
                                        </p:tgtEl>
                                      </p:cBhvr>
                                    </p:animEffect>
                                  </p:childTnLst>
                                </p:cTn>
                              </p:par>
                            </p:childTnLst>
                          </p:cTn>
                        </p:par>
                        <p:par>
                          <p:cTn id="12" fill="hold">
                            <p:stCondLst>
                              <p:cond delay="1350"/>
                            </p:stCondLst>
                            <p:childTnLst>
                              <p:par>
                                <p:cTn id="13" presetID="14" presetClass="entr" presetSubtype="10" fill="hold" nodeType="afterEffect">
                                  <p:stCondLst>
                                    <p:cond delay="750"/>
                                  </p:stCondLst>
                                  <p:childTnLst>
                                    <p:set>
                                      <p:cBhvr>
                                        <p:cTn id="14" dur="1" fill="hold">
                                          <p:stCondLst>
                                            <p:cond delay="0"/>
                                          </p:stCondLst>
                                        </p:cTn>
                                        <p:tgtEl>
                                          <p:spTgt spid="16">
                                            <p:txEl>
                                              <p:pRg st="3" end="3"/>
                                            </p:txEl>
                                          </p:spTgt>
                                        </p:tgtEl>
                                        <p:attrNameLst>
                                          <p:attrName>style.visibility</p:attrName>
                                        </p:attrNameLst>
                                      </p:cBhvr>
                                      <p:to>
                                        <p:strVal val="visible"/>
                                      </p:to>
                                    </p:set>
                                    <p:animEffect transition="in" filter="randombar(horizontal)">
                                      <p:cBhvr>
                                        <p:cTn id="15" dur="500"/>
                                        <p:tgtEl>
                                          <p:spTgt spid="16">
                                            <p:txEl>
                                              <p:pRg st="3" end="3"/>
                                            </p:txEl>
                                          </p:spTgt>
                                        </p:tgtEl>
                                      </p:cBhvr>
                                    </p:animEffect>
                                  </p:childTnLst>
                                </p:cTn>
                              </p:par>
                            </p:childTnLst>
                          </p:cTn>
                        </p:par>
                        <p:par>
                          <p:cTn id="16" fill="hold">
                            <p:stCondLst>
                              <p:cond delay="2600"/>
                            </p:stCondLst>
                            <p:childTnLst>
                              <p:par>
                                <p:cTn id="17" presetID="14" presetClass="entr" presetSubtype="10" fill="hold" nodeType="afterEffect">
                                  <p:stCondLst>
                                    <p:cond delay="2000"/>
                                  </p:stCondLst>
                                  <p:childTnLst>
                                    <p:set>
                                      <p:cBhvr>
                                        <p:cTn id="18" dur="1" fill="hold">
                                          <p:stCondLst>
                                            <p:cond delay="0"/>
                                          </p:stCondLst>
                                        </p:cTn>
                                        <p:tgtEl>
                                          <p:spTgt spid="16">
                                            <p:txEl>
                                              <p:pRg st="4" end="4"/>
                                            </p:txEl>
                                          </p:spTgt>
                                        </p:tgtEl>
                                        <p:attrNameLst>
                                          <p:attrName>style.visibility</p:attrName>
                                        </p:attrNameLst>
                                      </p:cBhvr>
                                      <p:to>
                                        <p:strVal val="visible"/>
                                      </p:to>
                                    </p:set>
                                    <p:animEffect transition="in" filter="randombar(horizontal)">
                                      <p:cBhvr>
                                        <p:cTn id="19" dur="500"/>
                                        <p:tgtEl>
                                          <p:spTgt spid="16">
                                            <p:txEl>
                                              <p:pRg st="4" end="4"/>
                                            </p:txEl>
                                          </p:spTgt>
                                        </p:tgtEl>
                                      </p:cBhvr>
                                    </p:animEffect>
                                  </p:childTnLst>
                                </p:cTn>
                              </p:par>
                            </p:childTnLst>
                          </p:cTn>
                        </p:par>
                        <p:par>
                          <p:cTn id="20" fill="hold">
                            <p:stCondLst>
                              <p:cond delay="5100"/>
                            </p:stCondLst>
                            <p:childTnLst>
                              <p:par>
                                <p:cTn id="21" presetID="14" presetClass="entr" presetSubtype="10" fill="hold" nodeType="afterEffect">
                                  <p:stCondLst>
                                    <p:cond delay="1500"/>
                                  </p:stCondLst>
                                  <p:childTnLst>
                                    <p:set>
                                      <p:cBhvr>
                                        <p:cTn id="22" dur="1" fill="hold">
                                          <p:stCondLst>
                                            <p:cond delay="0"/>
                                          </p:stCondLst>
                                        </p:cTn>
                                        <p:tgtEl>
                                          <p:spTgt spid="16">
                                            <p:txEl>
                                              <p:pRg st="5" end="5"/>
                                            </p:txEl>
                                          </p:spTgt>
                                        </p:tgtEl>
                                        <p:attrNameLst>
                                          <p:attrName>style.visibility</p:attrName>
                                        </p:attrNameLst>
                                      </p:cBhvr>
                                      <p:to>
                                        <p:strVal val="visible"/>
                                      </p:to>
                                    </p:set>
                                    <p:animEffect transition="in" filter="randombar(horizontal)">
                                      <p:cBhvr>
                                        <p:cTn id="23" dur="500"/>
                                        <p:tgtEl>
                                          <p:spTgt spid="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0" y="1551963"/>
            <a:ext cx="9729787" cy="53060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4488" lvl="1" indent="-227013">
              <a:spcBef>
                <a:spcPts val="0"/>
              </a:spcBef>
            </a:pPr>
            <a:r>
              <a:rPr lang="en-US" altLang="en-US" sz="2800" dirty="0" smtClean="0">
                <a:solidFill>
                  <a:sysClr val="windowText" lastClr="000000"/>
                </a:solidFill>
              </a:rPr>
              <a:t>C allows two styles of comments  ("</a:t>
            </a:r>
            <a:r>
              <a:rPr lang="en-US" altLang="en-US" sz="2800" dirty="0" smtClean="0">
                <a:solidFill>
                  <a:srgbClr val="FF0000"/>
                </a:solidFill>
              </a:rPr>
              <a:t>//</a:t>
            </a:r>
            <a:r>
              <a:rPr lang="en-US" altLang="en-US" sz="2800" dirty="0" smtClean="0">
                <a:solidFill>
                  <a:sysClr val="windowText" lastClr="000000"/>
                </a:solidFill>
              </a:rPr>
              <a:t>"  and  "</a:t>
            </a:r>
            <a:r>
              <a:rPr lang="en-US" altLang="en-US" sz="2800" dirty="0" smtClean="0">
                <a:solidFill>
                  <a:srgbClr val="FF8000"/>
                </a:solidFill>
              </a:rPr>
              <a:t>/*</a:t>
            </a:r>
            <a:r>
              <a:rPr lang="en-US" altLang="en-US" sz="2800" dirty="0" smtClean="0">
                <a:solidFill>
                  <a:srgbClr val="FFC000"/>
                </a:solidFill>
              </a:rPr>
              <a:t>…</a:t>
            </a:r>
            <a:r>
              <a:rPr lang="en-US" altLang="en-US" sz="2800" dirty="0" smtClean="0">
                <a:solidFill>
                  <a:srgbClr val="FF8000"/>
                </a:solidFill>
              </a:rPr>
              <a:t>*/</a:t>
            </a:r>
            <a:r>
              <a:rPr lang="en-US" altLang="en-US" sz="2800" dirty="0" smtClean="0">
                <a:solidFill>
                  <a:sysClr val="windowText" lastClr="000000"/>
                </a:solidFill>
              </a:rPr>
              <a:t>"):  </a:t>
            </a:r>
            <a:endParaRPr lang="en-US" altLang="en-US" sz="2800" dirty="0">
              <a:solidFill>
                <a:sysClr val="windowText" lastClr="000000"/>
              </a:solidFill>
            </a:endParaRPr>
          </a:p>
          <a:p>
            <a:pPr marL="457200" lvl="1" indent="-53975">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a=1; </a:t>
            </a:r>
            <a:r>
              <a:rPr lang="en-US" altLang="en-US" sz="2100" b="1" dirty="0" smtClean="0">
                <a:solidFill>
                  <a:srgbClr val="FF2B00"/>
                </a:solidFill>
                <a:latin typeface="Lucida Console" panose="020B0609040504020204" pitchFamily="49" charset="0"/>
              </a:rPr>
              <a:t>//</a:t>
            </a:r>
            <a:r>
              <a:rPr lang="en-US" altLang="en-US" sz="2100" dirty="0" smtClean="0">
                <a:solidFill>
                  <a:sysClr val="windowText" lastClr="000000"/>
                </a:solidFill>
                <a:latin typeface="Lucida Console" panose="020B0609040504020204" pitchFamily="49" charset="0"/>
              </a:rPr>
              <a:t> </a:t>
            </a:r>
            <a:r>
              <a:rPr lang="en-US" altLang="en-US" sz="2100" dirty="0" smtClean="0">
                <a:solidFill>
                  <a:srgbClr val="FF7C80"/>
                </a:solidFill>
                <a:latin typeface="Lucida Console" panose="020B0609040504020204" pitchFamily="49" charset="0"/>
              </a:rPr>
              <a:t>This is a single-line comment</a:t>
            </a:r>
            <a:endParaRPr lang="en-US" altLang="en-US" sz="2100" dirty="0">
              <a:solidFill>
                <a:srgbClr val="FF7C80"/>
              </a:solidFill>
              <a:latin typeface="Lucida Console" panose="020B0609040504020204" pitchFamily="49" charset="0"/>
            </a:endParaRPr>
          </a:p>
          <a:p>
            <a:pPr marL="457200" lvl="1" indent="-53975">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b=2; </a:t>
            </a:r>
            <a:r>
              <a:rPr lang="en-US" altLang="en-US" sz="2100" b="1" dirty="0" smtClean="0">
                <a:solidFill>
                  <a:srgbClr val="FF8000"/>
                </a:solidFill>
                <a:latin typeface="Lucida Console" panose="020B0609040504020204" pitchFamily="49" charset="0"/>
              </a:rPr>
              <a:t>/*</a:t>
            </a:r>
            <a:r>
              <a:rPr lang="en-US" altLang="en-US" sz="2100" dirty="0" smtClean="0">
                <a:solidFill>
                  <a:srgbClr val="FFC000"/>
                </a:solidFill>
                <a:latin typeface="Lucida Console" panose="020B0609040504020204" pitchFamily="49" charset="0"/>
              </a:rPr>
              <a:t> This is a multi- </a:t>
            </a:r>
            <a:endParaRPr lang="en-US" altLang="en-US" sz="2100" dirty="0">
              <a:solidFill>
                <a:srgbClr val="FFC000"/>
              </a:solidFill>
              <a:latin typeface="Lucida Console" panose="020B0609040504020204" pitchFamily="49" charset="0"/>
            </a:endParaRPr>
          </a:p>
          <a:p>
            <a:pPr marL="457200" lvl="1" indent="-53975">
              <a:spcBef>
                <a:spcPts val="0"/>
              </a:spcBef>
              <a:buNone/>
            </a:pPr>
            <a:r>
              <a:rPr lang="en-US" altLang="en-US" sz="2100" dirty="0">
                <a:solidFill>
                  <a:srgbClr val="FFC000"/>
                </a:solidFill>
                <a:latin typeface="Lucida Console" panose="020B0609040504020204" pitchFamily="49" charset="0"/>
              </a:rPr>
              <a:t>	</a:t>
            </a:r>
            <a:r>
              <a:rPr lang="en-US" altLang="en-US" sz="2100" dirty="0" smtClean="0">
                <a:solidFill>
                  <a:srgbClr val="FFC000"/>
                </a:solidFill>
                <a:latin typeface="Lucida Console" panose="020B0609040504020204" pitchFamily="49" charset="0"/>
              </a:rPr>
              <a:t>         line comment </a:t>
            </a:r>
            <a:r>
              <a:rPr lang="en-US" altLang="en-US" sz="2100" b="1" dirty="0" smtClean="0">
                <a:solidFill>
                  <a:srgbClr val="FF8000"/>
                </a:solidFill>
                <a:latin typeface="Lucida Console" panose="020B0609040504020204" pitchFamily="49" charset="0"/>
              </a:rPr>
              <a:t>*/</a:t>
            </a:r>
            <a:endParaRPr lang="en-US" altLang="en-US" sz="2100" b="1" dirty="0">
              <a:solidFill>
                <a:srgbClr val="FF8000"/>
              </a:solidFill>
              <a:latin typeface="Lucida Console" panose="020B0609040504020204" pitchFamily="49" charset="0"/>
            </a:endParaRPr>
          </a:p>
          <a:p>
            <a:pPr marL="457200" lvl="1" indent="0">
              <a:spcBef>
                <a:spcPts val="0"/>
              </a:spcBef>
              <a:buNone/>
            </a:pPr>
            <a:endParaRPr lang="en-US" altLang="en-US" sz="2800" dirty="0">
              <a:solidFill>
                <a:sysClr val="windowText" lastClr="000000"/>
              </a:solidFill>
            </a:endParaRPr>
          </a:p>
          <a:p>
            <a:pPr marL="344488" lvl="1" indent="-227013">
              <a:spcBef>
                <a:spcPts val="0"/>
              </a:spcBef>
            </a:pPr>
            <a:r>
              <a:rPr lang="en-US" altLang="en-US" sz="2800" spc="-20" dirty="0">
                <a:solidFill>
                  <a:sysClr val="windowText" lastClr="000000"/>
                </a:solidFill>
              </a:rPr>
              <a:t>Python</a:t>
            </a:r>
            <a:r>
              <a:rPr lang="en-US" altLang="en-US" sz="2800" dirty="0" smtClean="0">
                <a:solidFill>
                  <a:sysClr val="windowText" lastClr="000000"/>
                </a:solidFill>
              </a:rPr>
              <a:t> </a:t>
            </a:r>
            <a:r>
              <a:rPr lang="en-US" altLang="en-US" sz="2800" dirty="0">
                <a:solidFill>
                  <a:sysClr val="windowText" lastClr="000000"/>
                </a:solidFill>
              </a:rPr>
              <a:t>only </a:t>
            </a:r>
            <a:r>
              <a:rPr lang="en-US" altLang="en-US" sz="2800" dirty="0" smtClean="0">
                <a:solidFill>
                  <a:sysClr val="windowText" lastClr="000000"/>
                </a:solidFill>
              </a:rPr>
              <a:t>has one style, the single-line comment  ("</a:t>
            </a:r>
            <a:r>
              <a:rPr lang="en-US" altLang="en-US" sz="2800" dirty="0" smtClean="0">
                <a:solidFill>
                  <a:srgbClr val="FF0000"/>
                </a:solidFill>
              </a:rPr>
              <a:t>#</a:t>
            </a:r>
            <a:r>
              <a:rPr lang="en-US" altLang="en-US" sz="2800" dirty="0" smtClean="0">
                <a:solidFill>
                  <a:sysClr val="windowText" lastClr="000000"/>
                </a:solidFill>
              </a:rPr>
              <a:t>"):</a:t>
            </a:r>
            <a:endParaRPr lang="en-US" altLang="en-US" sz="2800" dirty="0">
              <a:solidFill>
                <a:sysClr val="windowText" lastClr="000000"/>
              </a:solidFill>
            </a:endParaRPr>
          </a:p>
          <a:p>
            <a:pPr marL="457200" lvl="1" indent="0">
              <a:spcBef>
                <a:spcPts val="0"/>
              </a:spcBef>
              <a:buNone/>
            </a:pPr>
            <a:r>
              <a:rPr lang="en-US" altLang="en-US" sz="2100" dirty="0" smtClean="0">
                <a:solidFill>
                  <a:sysClr val="windowText" lastClr="000000"/>
                </a:solidFill>
                <a:latin typeface="Lucida Console" panose="020B0609040504020204" pitchFamily="49" charset="0"/>
              </a:rPr>
              <a:t> a=1; </a:t>
            </a:r>
            <a:r>
              <a:rPr lang="en-US" altLang="en-US" sz="2100" b="1" dirty="0" smtClean="0">
                <a:solidFill>
                  <a:srgbClr val="FF2B00"/>
                </a:solidFill>
                <a:latin typeface="Lucida Console" panose="020B0609040504020204" pitchFamily="49" charset="0"/>
              </a:rPr>
              <a:t>#</a:t>
            </a:r>
            <a:r>
              <a:rPr lang="en-US" altLang="en-US" sz="2100" dirty="0" smtClean="0">
                <a:solidFill>
                  <a:sysClr val="windowText" lastClr="000000"/>
                </a:solidFill>
                <a:latin typeface="Lucida Console" panose="020B0609040504020204" pitchFamily="49" charset="0"/>
              </a:rPr>
              <a:t> </a:t>
            </a:r>
            <a:r>
              <a:rPr lang="en-US" altLang="en-US" sz="2100" dirty="0" smtClean="0">
                <a:solidFill>
                  <a:srgbClr val="FF7C80"/>
                </a:solidFill>
                <a:latin typeface="Lucida Console" panose="020B0609040504020204" pitchFamily="49" charset="0"/>
              </a:rPr>
              <a:t>As you can see, “#” is like C’s “//”</a:t>
            </a:r>
            <a:endParaRPr lang="en-US" altLang="en-US" sz="2100" dirty="0">
              <a:solidFill>
                <a:sysClr val="windowText" lastClr="000000"/>
              </a:solidFill>
              <a:latin typeface="Lucida Console" panose="020B0609040504020204" pitchFamily="49" charset="0"/>
            </a:endParaRPr>
          </a:p>
          <a:p>
            <a:pPr marL="457200" lvl="1" indent="0">
              <a:spcBef>
                <a:spcPts val="0"/>
              </a:spcBef>
              <a:buNone/>
            </a:pPr>
            <a:r>
              <a:rPr lang="en-US" altLang="en-US" sz="2100" dirty="0" smtClean="0">
                <a:solidFill>
                  <a:sysClr val="windowText" lastClr="000000"/>
                </a:solidFill>
                <a:latin typeface="Lucida Console" panose="020B0609040504020204" pitchFamily="49" charset="0"/>
              </a:rPr>
              <a:t> b=2;</a:t>
            </a:r>
            <a:r>
              <a:rPr lang="en-US" altLang="en-US" sz="2100" dirty="0">
                <a:solidFill>
                  <a:sysClr val="windowText" lastClr="000000"/>
                </a:solidFill>
                <a:latin typeface="Lucida Console" panose="020B0609040504020204" pitchFamily="49" charset="0"/>
              </a:rPr>
              <a:t> </a:t>
            </a:r>
            <a:r>
              <a:rPr lang="en-US" altLang="en-US" sz="2100" b="1" dirty="0">
                <a:solidFill>
                  <a:srgbClr val="FF8000"/>
                </a:solidFill>
                <a:latin typeface="Lucida Console" panose="020B0609040504020204" pitchFamily="49" charset="0"/>
              </a:rPr>
              <a:t>#</a:t>
            </a:r>
            <a:r>
              <a:rPr lang="en-US" altLang="en-US" sz="2100" dirty="0">
                <a:solidFill>
                  <a:srgbClr val="FFC000"/>
                </a:solidFill>
                <a:latin typeface="Lucida Console" panose="020B0609040504020204" pitchFamily="49" charset="0"/>
              </a:rPr>
              <a:t> </a:t>
            </a:r>
            <a:r>
              <a:rPr lang="en-US" altLang="en-US" sz="2100" dirty="0" smtClean="0">
                <a:solidFill>
                  <a:srgbClr val="FFC000"/>
                </a:solidFill>
                <a:latin typeface="Lucida Console" panose="020B0609040504020204" pitchFamily="49" charset="0"/>
              </a:rPr>
              <a:t>The only way to get a multi-line</a:t>
            </a:r>
            <a:endParaRPr lang="en-US" altLang="en-US" sz="2100" dirty="0">
              <a:solidFill>
                <a:srgbClr val="FFC000"/>
              </a:solidFill>
              <a:latin typeface="Lucida Console" panose="020B0609040504020204" pitchFamily="49" charset="0"/>
            </a:endParaRPr>
          </a:p>
          <a:p>
            <a:pPr marL="457200" lvl="1" indent="0">
              <a:spcBef>
                <a:spcPts val="0"/>
              </a:spcBef>
              <a:buNone/>
            </a:pPr>
            <a:r>
              <a:rPr lang="en-US" altLang="en-US" sz="2100" dirty="0">
                <a:solidFill>
                  <a:srgbClr val="FFC000"/>
                </a:solidFill>
                <a:latin typeface="Lucida Console" panose="020B0609040504020204" pitchFamily="49" charset="0"/>
              </a:rPr>
              <a:t> </a:t>
            </a:r>
            <a:r>
              <a:rPr lang="en-US" altLang="en-US" sz="2100" dirty="0" smtClean="0">
                <a:solidFill>
                  <a:srgbClr val="FFC000"/>
                </a:solidFill>
                <a:latin typeface="Lucida Console" panose="020B0609040504020204" pitchFamily="49" charset="0"/>
              </a:rPr>
              <a:t>     </a:t>
            </a:r>
            <a:r>
              <a:rPr lang="en-US" altLang="en-US" sz="2100" b="1" dirty="0" smtClean="0">
                <a:solidFill>
                  <a:srgbClr val="FF8000"/>
                </a:solidFill>
                <a:latin typeface="Lucida Console" panose="020B0609040504020204" pitchFamily="49" charset="0"/>
              </a:rPr>
              <a:t>#</a:t>
            </a:r>
            <a:r>
              <a:rPr lang="en-US" altLang="en-US" sz="2100" dirty="0" smtClean="0">
                <a:solidFill>
                  <a:srgbClr val="FFC000"/>
                </a:solidFill>
                <a:latin typeface="Lucida Console" panose="020B0609040504020204" pitchFamily="49" charset="0"/>
              </a:rPr>
              <a:t> comment is to use multiple “#”</a:t>
            </a:r>
          </a:p>
          <a:p>
            <a:pPr marL="457200" lvl="1" indent="0">
              <a:spcBef>
                <a:spcPts val="0"/>
              </a:spcBef>
              <a:buNone/>
            </a:pPr>
            <a:endParaRPr lang="en-US" altLang="en-US" sz="2100" dirty="0">
              <a:solidFill>
                <a:sysClr val="windowText" lastClr="000000"/>
              </a:solidFill>
              <a:latin typeface="Lucida Console" panose="020B0609040504020204" pitchFamily="49" charset="0"/>
            </a:endParaRPr>
          </a:p>
          <a:p>
            <a:pPr marL="796925" lvl="2" indent="-227013">
              <a:spcBef>
                <a:spcPts val="0"/>
              </a:spcBef>
            </a:pPr>
            <a:r>
              <a:rPr lang="en-US" altLang="en-US" dirty="0">
                <a:solidFill>
                  <a:sysClr val="windowText" lastClr="000000"/>
                </a:solidFill>
              </a:rPr>
              <a:t>But there is an exception for function headers:  </a:t>
            </a:r>
          </a:p>
          <a:p>
            <a:pPr marL="1082675" lvl="3" indent="-225425">
              <a:spcBef>
                <a:spcPts val="0"/>
              </a:spcBef>
            </a:pPr>
            <a:r>
              <a:rPr lang="en-US" altLang="en-US" spc="-20" dirty="0">
                <a:solidFill>
                  <a:srgbClr val="996633"/>
                </a:solidFill>
              </a:rPr>
              <a:t>Good programming practice </a:t>
            </a:r>
            <a:r>
              <a:rPr lang="en-US" altLang="en-US" spc="-20" dirty="0">
                <a:solidFill>
                  <a:sysClr val="windowText" lastClr="000000"/>
                </a:solidFill>
              </a:rPr>
              <a:t>is to put a </a:t>
            </a:r>
            <a:r>
              <a:rPr lang="en-US" altLang="en-US" spc="-20" dirty="0" smtClean="0">
                <a:solidFill>
                  <a:sysClr val="windowText" lastClr="000000"/>
                </a:solidFill>
              </a:rPr>
              <a:t>comment </a:t>
            </a:r>
            <a:r>
              <a:rPr lang="en-US" altLang="en-US" spc="-20" dirty="0">
                <a:solidFill>
                  <a:sysClr val="windowText" lastClr="000000"/>
                </a:solidFill>
              </a:rPr>
              <a:t>at the </a:t>
            </a:r>
            <a:r>
              <a:rPr lang="en-US" altLang="en-US" spc="-20" dirty="0">
                <a:solidFill>
                  <a:srgbClr val="FF0000"/>
                </a:solidFill>
              </a:rPr>
              <a:t>top </a:t>
            </a:r>
            <a:r>
              <a:rPr lang="en-US" altLang="en-US" spc="-100" dirty="0">
                <a:solidFill>
                  <a:srgbClr val="FF0000"/>
                </a:solidFill>
              </a:rPr>
              <a:t>o</a:t>
            </a:r>
            <a:r>
              <a:rPr lang="en-US" altLang="en-US" spc="-30" dirty="0">
                <a:solidFill>
                  <a:srgbClr val="FF0000"/>
                </a:solidFill>
              </a:rPr>
              <a:t>f each f</a:t>
            </a:r>
            <a:r>
              <a:rPr lang="en-US" altLang="en-US" spc="-90" dirty="0">
                <a:solidFill>
                  <a:srgbClr val="FF0000"/>
                </a:solidFill>
              </a:rPr>
              <a:t>un</a:t>
            </a:r>
            <a:r>
              <a:rPr lang="en-US" altLang="en-US" spc="-30" dirty="0">
                <a:solidFill>
                  <a:srgbClr val="FF0000"/>
                </a:solidFill>
              </a:rPr>
              <a:t>ctio</a:t>
            </a:r>
            <a:r>
              <a:rPr lang="en-US" altLang="en-US" spc="-100" dirty="0">
                <a:solidFill>
                  <a:srgbClr val="FF0000"/>
                </a:solidFill>
              </a:rPr>
              <a:t>n</a:t>
            </a:r>
            <a:r>
              <a:rPr lang="en-US" altLang="en-US" spc="-30" dirty="0">
                <a:solidFill>
                  <a:sysClr val="windowText" lastClr="000000"/>
                </a:solidFill>
              </a:rPr>
              <a:t>, </a:t>
            </a:r>
            <a:r>
              <a:rPr lang="en-US" altLang="en-US" spc="-30" dirty="0" smtClean="0">
                <a:solidFill>
                  <a:sysClr val="windowText" lastClr="000000"/>
                </a:solidFill>
              </a:rPr>
              <a:t>indicating </a:t>
            </a:r>
            <a:r>
              <a:rPr lang="en-US" altLang="en-US" spc="-30" dirty="0">
                <a:solidFill>
                  <a:sysClr val="windowText" lastClr="000000"/>
                </a:solidFill>
              </a:rPr>
              <a:t>its </a:t>
            </a:r>
            <a:r>
              <a:rPr lang="en-US" altLang="en-US" spc="-60" dirty="0">
                <a:solidFill>
                  <a:sysClr val="windowText" lastClr="000000"/>
                </a:solidFill>
              </a:rPr>
              <a:t>inp</a:t>
            </a:r>
            <a:r>
              <a:rPr lang="en-US" altLang="en-US" spc="-30" dirty="0">
                <a:solidFill>
                  <a:sysClr val="windowText" lastClr="000000"/>
                </a:solidFill>
              </a:rPr>
              <a:t>ut</a:t>
            </a:r>
            <a:r>
              <a:rPr lang="en-US" altLang="en-US" spc="-100" dirty="0">
                <a:solidFill>
                  <a:sysClr val="windowText" lastClr="000000"/>
                </a:solidFill>
              </a:rPr>
              <a:t>s</a:t>
            </a:r>
            <a:r>
              <a:rPr lang="en-US" altLang="en-US" spc="-30" dirty="0">
                <a:solidFill>
                  <a:sysClr val="windowText" lastClr="000000"/>
                </a:solidFill>
              </a:rPr>
              <a:t>, </a:t>
            </a:r>
            <a:r>
              <a:rPr lang="en-US" altLang="en-US" spc="-30" dirty="0" smtClean="0">
                <a:solidFill>
                  <a:sysClr val="windowText" lastClr="000000"/>
                </a:solidFill>
              </a:rPr>
              <a:t>output</a:t>
            </a:r>
            <a:r>
              <a:rPr lang="en-US" altLang="en-US" spc="-100" dirty="0">
                <a:solidFill>
                  <a:sysClr val="windowText" lastClr="000000"/>
                </a:solidFill>
              </a:rPr>
              <a:t>s</a:t>
            </a:r>
            <a:r>
              <a:rPr lang="en-US" altLang="en-US" spc="-30" dirty="0" smtClean="0">
                <a:solidFill>
                  <a:sysClr val="windowText" lastClr="000000"/>
                </a:solidFill>
              </a:rPr>
              <a:t>, </a:t>
            </a:r>
            <a:r>
              <a:rPr lang="en-US" altLang="en-US" spc="-30" dirty="0">
                <a:solidFill>
                  <a:sysClr val="windowText" lastClr="000000"/>
                </a:solidFill>
              </a:rPr>
              <a:t>and behav</a:t>
            </a:r>
            <a:r>
              <a:rPr lang="en-US" altLang="en-US" spc="-50" dirty="0">
                <a:solidFill>
                  <a:sysClr val="windowText" lastClr="000000"/>
                </a:solidFill>
              </a:rPr>
              <a:t>io</a:t>
            </a:r>
            <a:r>
              <a:rPr lang="en-US" altLang="en-US" spc="-100" dirty="0">
                <a:solidFill>
                  <a:sysClr val="windowText" lastClr="000000"/>
                </a:solidFill>
              </a:rPr>
              <a:t>r</a:t>
            </a:r>
            <a:r>
              <a:rPr lang="en-US" altLang="en-US" spc="-30" dirty="0">
                <a:solidFill>
                  <a:sysClr val="windowText" lastClr="000000"/>
                </a:solidFill>
              </a:rPr>
              <a:t>.</a:t>
            </a:r>
          </a:p>
          <a:p>
            <a:pPr marL="1482725" lvl="4" indent="-279400">
              <a:lnSpc>
                <a:spcPct val="80000"/>
              </a:lnSpc>
              <a:spcBef>
                <a:spcPts val="600"/>
              </a:spcBef>
            </a:pPr>
            <a:r>
              <a:rPr lang="en-US" altLang="en-US" dirty="0">
                <a:solidFill>
                  <a:sysClr val="windowText" lastClr="000000"/>
                </a:solidFill>
              </a:rPr>
              <a:t>These comments go into something called a </a:t>
            </a:r>
            <a:r>
              <a:rPr lang="en-US" altLang="en-US" dirty="0" err="1">
                <a:solidFill>
                  <a:srgbClr val="996633"/>
                </a:solidFill>
              </a:rPr>
              <a:t>docstring</a:t>
            </a:r>
            <a:r>
              <a:rPr lang="en-US" altLang="en-US" dirty="0">
                <a:solidFill>
                  <a:sysClr val="windowText" lastClr="000000"/>
                </a:solidFill>
              </a:rPr>
              <a:t>. </a:t>
            </a:r>
            <a:r>
              <a:rPr lang="en-US" altLang="en-US" dirty="0" err="1">
                <a:solidFill>
                  <a:sysClr val="windowText" lastClr="000000"/>
                </a:solidFill>
              </a:rPr>
              <a:t>Docstrings</a:t>
            </a:r>
            <a:r>
              <a:rPr lang="en-US" altLang="en-US" dirty="0">
                <a:solidFill>
                  <a:sysClr val="windowText" lastClr="000000"/>
                </a:solidFill>
              </a:rPr>
              <a:t> can be </a:t>
            </a:r>
            <a:r>
              <a:rPr lang="en-US" altLang="en-US" dirty="0" smtClean="0">
                <a:solidFill>
                  <a:sysClr val="windowText" lastClr="000000"/>
                </a:solidFill>
              </a:rPr>
              <a:t>multi-line</a:t>
            </a:r>
            <a:r>
              <a:rPr lang="en-US" altLang="en-US" dirty="0">
                <a:solidFill>
                  <a:sysClr val="windowText" lastClr="000000"/>
                </a:solidFill>
              </a:rPr>
              <a:t>. </a:t>
            </a:r>
            <a:endParaRPr lang="en-US" altLang="en-US" dirty="0">
              <a:solidFill>
                <a:sysClr val="windowText" lastClr="000000"/>
              </a:solidFill>
              <a:latin typeface="Courier New" panose="02070309020205020404" pitchFamily="49" charset="0"/>
              <a:cs typeface="Courier New" panose="02070309020205020404" pitchFamily="49" charset="0"/>
            </a:endParaRPr>
          </a:p>
        </p:txBody>
      </p:sp>
      <p:grpSp>
        <p:nvGrpSpPr>
          <p:cNvPr id="11" name="Group 10"/>
          <p:cNvGrpSpPr/>
          <p:nvPr/>
        </p:nvGrpSpPr>
        <p:grpSpPr>
          <a:xfrm>
            <a:off x="0" y="-21265"/>
            <a:ext cx="9729788" cy="1676882"/>
            <a:chOff x="0" y="-21265"/>
            <a:chExt cx="9729788" cy="1676882"/>
          </a:xfrm>
        </p:grpSpPr>
        <p:sp>
          <p:nvSpPr>
            <p:cNvPr id="6" name="Title 1"/>
            <p:cNvSpPr txBox="1">
              <a:spLocks/>
            </p:cNvSpPr>
            <p:nvPr/>
          </p:nvSpPr>
          <p:spPr>
            <a:xfrm>
              <a:off x="0" y="0"/>
              <a:ext cx="9729788" cy="16556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lvl="0">
                <a:defRPr/>
              </a:pPr>
              <a:r>
                <a:rPr lang="en-US" spc="40" dirty="0">
                  <a:solidFill>
                    <a:schemeClr val="bg1"/>
                  </a:solidFill>
                </a:rPr>
                <a:t>Comparing Python to </a:t>
              </a:r>
              <a:r>
                <a:rPr lang="en-US" spc="40" dirty="0" smtClean="0">
                  <a:solidFill>
                    <a:schemeClr val="bg1"/>
                  </a:solidFill>
                </a:rPr>
                <a:t>C</a:t>
              </a:r>
            </a:p>
            <a:p>
              <a:pPr lvl="0">
                <a:defRPr/>
              </a:pPr>
              <a:endParaRPr lang="en-US" sz="200" spc="40" dirty="0" smtClean="0">
                <a:solidFill>
                  <a:srgbClr val="0070C0"/>
                </a:solidFill>
              </a:endParaRPr>
            </a:p>
            <a:p>
              <a:pPr lvl="0">
                <a:lnSpc>
                  <a:spcPct val="100000"/>
                </a:lnSpc>
                <a:defRPr/>
              </a:pPr>
              <a:r>
                <a:rPr lang="en-US" spc="40" dirty="0" smtClean="0">
                  <a:solidFill>
                    <a:srgbClr val="FF2B00"/>
                  </a:solidFill>
                </a:rPr>
                <a:t>comments</a:t>
              </a:r>
              <a:endParaRPr lang="en-US" spc="40" dirty="0">
                <a:solidFill>
                  <a:srgbClr val="FF2B00"/>
                </a:solidFill>
              </a:endParaRPr>
            </a:p>
          </p:txBody>
        </p:sp>
        <p:sp>
          <p:nvSpPr>
            <p:cNvPr id="10" name="Title 1"/>
            <p:cNvSpPr txBox="1">
              <a:spLocks/>
            </p:cNvSpPr>
            <p:nvPr/>
          </p:nvSpPr>
          <p:spPr>
            <a:xfrm>
              <a:off x="0" y="-21265"/>
              <a:ext cx="9729787" cy="101988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40" normalizeH="0" noProof="0" dirty="0" smtClean="0">
                  <a:ln>
                    <a:noFill/>
                  </a:ln>
                  <a:solidFill>
                    <a:srgbClr val="0070C0"/>
                  </a:solidFill>
                  <a:effectLst/>
                  <a:uLnTx/>
                  <a:uFillTx/>
                  <a:latin typeface="Elephant" panose="02020904090505020303" pitchFamily="18" charset="0"/>
                  <a:ea typeface="+mj-ea"/>
                  <a:cs typeface="+mj-cs"/>
                </a:rPr>
                <a:t>Comparing Python to C</a:t>
              </a:r>
              <a:endParaRPr kumimoji="0" lang="en-US" sz="4400" b="0" i="0" u="none" strike="noStrike" kern="1200" cap="none" spc="40" normalizeH="0" noProof="0" dirty="0">
                <a:ln>
                  <a:noFill/>
                </a:ln>
                <a:solidFill>
                  <a:srgbClr val="FF0000"/>
                </a:solidFill>
                <a:effectLst/>
                <a:uLnTx/>
                <a:uFillTx/>
                <a:latin typeface="Elephant" panose="02020904090505020303" pitchFamily="18" charset="0"/>
                <a:ea typeface="+mj-ea"/>
                <a:cs typeface="+mj-cs"/>
              </a:endParaRPr>
            </a:p>
          </p:txBody>
        </p:sp>
      </p:grpSp>
    </p:spTree>
    <p:extLst>
      <p:ext uri="{BB962C8B-B14F-4D97-AF65-F5344CB8AC3E}">
        <p14:creationId xmlns:p14="http://schemas.microsoft.com/office/powerpoint/2010/main" val="428848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xEl>
                                              <p:pRg st="10" end="10"/>
                                            </p:txEl>
                                          </p:spTgt>
                                        </p:tgtEl>
                                        <p:attrNameLst>
                                          <p:attrName>style.visibility</p:attrName>
                                        </p:attrNameLst>
                                      </p:cBhvr>
                                      <p:to>
                                        <p:strVal val="visible"/>
                                      </p:to>
                                    </p:set>
                                    <p:animEffect transition="in" filter="randombar(horizontal)">
                                      <p:cBhvr>
                                        <p:cTn id="7" dur="500"/>
                                        <p:tgtEl>
                                          <p:spTgt spid="16">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6">
                                            <p:txEl>
                                              <p:pRg st="11" end="11"/>
                                            </p:txEl>
                                          </p:spTgt>
                                        </p:tgtEl>
                                        <p:attrNameLst>
                                          <p:attrName>style.visibility</p:attrName>
                                        </p:attrNameLst>
                                      </p:cBhvr>
                                      <p:to>
                                        <p:strVal val="visible"/>
                                      </p:to>
                                    </p:set>
                                    <p:animEffect transition="in" filter="randombar(horizontal)">
                                      <p:cBhvr>
                                        <p:cTn id="12" dur="500"/>
                                        <p:tgtEl>
                                          <p:spTgt spid="16">
                                            <p:txEl>
                                              <p:pRg st="11" end="1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16">
                                            <p:txEl>
                                              <p:pRg st="12" end="12"/>
                                            </p:txEl>
                                          </p:spTgt>
                                        </p:tgtEl>
                                        <p:attrNameLst>
                                          <p:attrName>style.visibility</p:attrName>
                                        </p:attrNameLst>
                                      </p:cBhvr>
                                      <p:to>
                                        <p:strVal val="visible"/>
                                      </p:to>
                                    </p:set>
                                    <p:animEffect transition="in" filter="randombar(horizontal)">
                                      <p:cBhvr>
                                        <p:cTn id="15" dur="500"/>
                                        <p:tgtEl>
                                          <p:spTgt spid="1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0" y="1551963"/>
            <a:ext cx="9729787" cy="53060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4488" lvl="1" indent="-227013">
              <a:spcBef>
                <a:spcPts val="0"/>
              </a:spcBef>
            </a:pPr>
            <a:r>
              <a:rPr lang="en-US" altLang="en-US" sz="2800" dirty="0">
                <a:solidFill>
                  <a:sysClr val="windowText" lastClr="000000"/>
                </a:solidFill>
              </a:rPr>
              <a:t>C requires a </a:t>
            </a:r>
            <a:r>
              <a:rPr lang="en-US" altLang="en-US" sz="2800" dirty="0" smtClean="0">
                <a:solidFill>
                  <a:sysClr val="windowText" lastClr="000000"/>
                </a:solidFill>
              </a:rPr>
              <a:t>semicolon </a:t>
            </a:r>
            <a:r>
              <a:rPr lang="en-US" altLang="en-US" sz="2800" spc="-60" dirty="0" smtClean="0">
                <a:solidFill>
                  <a:sysClr val="windowText" lastClr="000000"/>
                </a:solidFill>
              </a:rPr>
              <a:t>"</a:t>
            </a:r>
            <a:r>
              <a:rPr lang="en-US" altLang="en-US" sz="2800" b="1" spc="-60" dirty="0" smtClean="0">
                <a:solidFill>
                  <a:srgbClr val="A235C9"/>
                </a:solidFill>
                <a:latin typeface="Lucida Console" panose="020B0609040504020204" pitchFamily="49" charset="0"/>
              </a:rPr>
              <a:t>;</a:t>
            </a:r>
            <a:r>
              <a:rPr lang="en-US" altLang="en-US" sz="2800" dirty="0" smtClean="0">
                <a:solidFill>
                  <a:sysClr val="windowText" lastClr="000000"/>
                </a:solidFill>
              </a:rPr>
              <a:t>" after </a:t>
            </a:r>
            <a:r>
              <a:rPr lang="en-US" altLang="en-US" sz="2800" dirty="0">
                <a:solidFill>
                  <a:sysClr val="windowText" lastClr="000000"/>
                </a:solidFill>
              </a:rPr>
              <a:t>each </a:t>
            </a:r>
            <a:r>
              <a:rPr lang="en-US" altLang="en-US" sz="2800" dirty="0" smtClean="0">
                <a:solidFill>
                  <a:sysClr val="windowText" lastClr="000000"/>
                </a:solidFill>
              </a:rPr>
              <a:t>statement:  </a:t>
            </a:r>
            <a:endParaRPr lang="en-US" altLang="en-US" sz="2800" dirty="0">
              <a:solidFill>
                <a:sysClr val="windowText" lastClr="000000"/>
              </a:solidFill>
            </a:endParaRPr>
          </a:p>
          <a:p>
            <a:pPr marL="457200" lvl="1" indent="-53975">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a:t>
            </a:r>
            <a:r>
              <a:rPr lang="en-US" altLang="en-US" sz="2100" dirty="0" smtClean="0">
                <a:solidFill>
                  <a:prstClr val="black"/>
                </a:solidFill>
                <a:latin typeface="Lucida Console" panose="020B0609040504020204" pitchFamily="49" charset="0"/>
              </a:rPr>
              <a:t>a=1</a:t>
            </a:r>
            <a:r>
              <a:rPr lang="en-US" altLang="en-US" sz="2100" b="1" dirty="0" smtClean="0">
                <a:solidFill>
                  <a:srgbClr val="A235C9"/>
                </a:solidFill>
                <a:latin typeface="Lucida Console" panose="020B0609040504020204" pitchFamily="49" charset="0"/>
              </a:rPr>
              <a:t>;</a:t>
            </a:r>
            <a:endParaRPr lang="en-US" altLang="en-US" sz="2100" b="1" dirty="0">
              <a:solidFill>
                <a:srgbClr val="A235C9"/>
              </a:solidFill>
              <a:latin typeface="Lucida Console" panose="020B0609040504020204" pitchFamily="49" charset="0"/>
            </a:endParaRPr>
          </a:p>
          <a:p>
            <a:pPr marL="457200" lvl="1" indent="-53975">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b=2</a:t>
            </a:r>
            <a:r>
              <a:rPr lang="en-US" altLang="en-US" sz="2100" b="1" dirty="0" smtClean="0">
                <a:solidFill>
                  <a:srgbClr val="A235C9"/>
                </a:solidFill>
                <a:latin typeface="Lucida Console" panose="020B0609040504020204" pitchFamily="49" charset="0"/>
              </a:rPr>
              <a:t>;</a:t>
            </a:r>
            <a:endParaRPr lang="en-US" altLang="en-US" sz="2100" b="1" dirty="0">
              <a:solidFill>
                <a:srgbClr val="A235C9"/>
              </a:solidFill>
              <a:latin typeface="Lucida Console" panose="020B0609040504020204" pitchFamily="49" charset="0"/>
            </a:endParaRPr>
          </a:p>
          <a:p>
            <a:pPr marL="457200" lvl="1" indent="-53975">
              <a:spcBef>
                <a:spcPts val="0"/>
              </a:spcBef>
              <a:buNone/>
            </a:pPr>
            <a:r>
              <a:rPr lang="en-US" altLang="en-US" sz="2100" dirty="0">
                <a:solidFill>
                  <a:srgbClr val="FF7C80"/>
                </a:solidFill>
                <a:latin typeface="Lucida Console" panose="020B0609040504020204" pitchFamily="49" charset="0"/>
              </a:rPr>
              <a:t>	</a:t>
            </a:r>
            <a:r>
              <a:rPr lang="en-US" altLang="en-US" sz="2100" dirty="0" smtClean="0">
                <a:solidFill>
                  <a:srgbClr val="FF7C80"/>
                </a:solidFill>
                <a:latin typeface="Lucida Console" panose="020B0609040504020204" pitchFamily="49" charset="0"/>
              </a:rPr>
              <a:t> </a:t>
            </a:r>
            <a:r>
              <a:rPr lang="en-US" altLang="en-US" sz="2100" dirty="0" smtClean="0">
                <a:latin typeface="Lucida Console" panose="020B0609040504020204" pitchFamily="49" charset="0"/>
              </a:rPr>
              <a:t>c=3</a:t>
            </a:r>
            <a:r>
              <a:rPr lang="en-US" altLang="en-US" sz="2100" b="1" dirty="0">
                <a:solidFill>
                  <a:srgbClr val="A235C9"/>
                </a:solidFill>
                <a:latin typeface="Lucida Console" panose="020B0609040504020204" pitchFamily="49" charset="0"/>
              </a:rPr>
              <a:t>;</a:t>
            </a:r>
            <a:r>
              <a:rPr lang="en-US" altLang="en-US" sz="2100" dirty="0">
                <a:latin typeface="Lucida Console" panose="020B0609040504020204" pitchFamily="49" charset="0"/>
              </a:rPr>
              <a:t> d=4</a:t>
            </a:r>
            <a:r>
              <a:rPr lang="en-US" altLang="en-US" sz="2100" b="1" dirty="0" smtClean="0">
                <a:solidFill>
                  <a:srgbClr val="A235C9"/>
                </a:solidFill>
                <a:latin typeface="Lucida Console" panose="020B0609040504020204" pitchFamily="49" charset="0"/>
              </a:rPr>
              <a:t>;</a:t>
            </a:r>
            <a:endParaRPr lang="en-US" altLang="en-US" sz="2100" b="1" dirty="0">
              <a:solidFill>
                <a:srgbClr val="A235C9"/>
              </a:solidFill>
              <a:latin typeface="Lucida Console" panose="020B0609040504020204" pitchFamily="49" charset="0"/>
            </a:endParaRPr>
          </a:p>
          <a:p>
            <a:pPr marL="457200" lvl="1" indent="0">
              <a:spcBef>
                <a:spcPts val="0"/>
              </a:spcBef>
              <a:buNone/>
            </a:pPr>
            <a:endParaRPr lang="en-US" altLang="en-US" sz="2800" dirty="0">
              <a:solidFill>
                <a:sysClr val="windowText" lastClr="000000"/>
              </a:solidFill>
            </a:endParaRPr>
          </a:p>
          <a:p>
            <a:pPr marL="344488" lvl="1" indent="-227013">
              <a:spcBef>
                <a:spcPts val="0"/>
              </a:spcBef>
            </a:pPr>
            <a:r>
              <a:rPr lang="en-US" altLang="en-US" sz="2800" spc="-20" dirty="0">
                <a:solidFill>
                  <a:sysClr val="windowText" lastClr="000000"/>
                </a:solidFill>
              </a:rPr>
              <a:t>Python</a:t>
            </a:r>
            <a:r>
              <a:rPr lang="en-US" altLang="en-US" sz="2800" dirty="0" smtClean="0">
                <a:solidFill>
                  <a:sysClr val="windowText" lastClr="000000"/>
                </a:solidFill>
              </a:rPr>
              <a:t> </a:t>
            </a:r>
            <a:r>
              <a:rPr lang="en-US" altLang="en-US" sz="2800" dirty="0">
                <a:solidFill>
                  <a:sysClr val="windowText" lastClr="000000"/>
                </a:solidFill>
              </a:rPr>
              <a:t>only </a:t>
            </a:r>
            <a:r>
              <a:rPr lang="en-US" altLang="en-US" sz="2800" dirty="0" smtClean="0">
                <a:solidFill>
                  <a:sysClr val="windowText" lastClr="000000"/>
                </a:solidFill>
              </a:rPr>
              <a:t>requires </a:t>
            </a:r>
            <a:r>
              <a:rPr lang="en-US" altLang="en-US" sz="2800" spc="-60" dirty="0" smtClean="0">
                <a:solidFill>
                  <a:sysClr val="windowText" lastClr="000000"/>
                </a:solidFill>
              </a:rPr>
              <a:t>"</a:t>
            </a:r>
            <a:r>
              <a:rPr lang="en-US" altLang="en-US" sz="2800" b="1" spc="-60" dirty="0" smtClean="0">
                <a:solidFill>
                  <a:srgbClr val="7030A0"/>
                </a:solidFill>
                <a:latin typeface="Lucida Console" panose="020B0609040504020204" pitchFamily="49" charset="0"/>
              </a:rPr>
              <a:t>;</a:t>
            </a:r>
            <a:r>
              <a:rPr lang="en-US" altLang="en-US" sz="2800" dirty="0" smtClean="0">
                <a:solidFill>
                  <a:sysClr val="windowText" lastClr="000000"/>
                </a:solidFill>
              </a:rPr>
              <a:t>"</a:t>
            </a:r>
            <a:r>
              <a:rPr lang="en-US" altLang="en-US" sz="1100" b="1" dirty="0" smtClean="0">
                <a:solidFill>
                  <a:srgbClr val="7030A0"/>
                </a:solidFill>
                <a:latin typeface="Lucida Console" panose="020B0609040504020204" pitchFamily="49" charset="0"/>
              </a:rPr>
              <a:t> </a:t>
            </a:r>
            <a:r>
              <a:rPr lang="en-US" altLang="en-US" sz="2800" dirty="0">
                <a:solidFill>
                  <a:sysClr val="windowText" lastClr="000000"/>
                </a:solidFill>
              </a:rPr>
              <a:t>to separate </a:t>
            </a:r>
            <a:r>
              <a:rPr lang="en-US" altLang="en-US" sz="2800" dirty="0" smtClean="0">
                <a:solidFill>
                  <a:sysClr val="windowText" lastClr="000000"/>
                </a:solidFill>
              </a:rPr>
              <a:t>statements on </a:t>
            </a:r>
            <a:r>
              <a:rPr lang="en-US" altLang="en-US" sz="2800" dirty="0">
                <a:solidFill>
                  <a:sysClr val="windowText" lastClr="000000"/>
                </a:solidFill>
              </a:rPr>
              <a:t>same </a:t>
            </a:r>
            <a:r>
              <a:rPr lang="en-US" altLang="en-US" sz="2800" dirty="0" smtClean="0">
                <a:solidFill>
                  <a:sysClr val="windowText" lastClr="000000"/>
                </a:solidFill>
              </a:rPr>
              <a:t>line:</a:t>
            </a:r>
            <a:endParaRPr lang="en-US" altLang="en-US" sz="2800" dirty="0">
              <a:solidFill>
                <a:sysClr val="windowText" lastClr="000000"/>
              </a:solidFill>
            </a:endParaRPr>
          </a:p>
          <a:p>
            <a:pPr marL="457200" lvl="1" indent="-457200">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a=1  </a:t>
            </a:r>
            <a:r>
              <a:rPr lang="en-US" altLang="en-US" sz="2100" dirty="0">
                <a:solidFill>
                  <a:schemeClr val="bg1">
                    <a:lumMod val="65000"/>
                  </a:schemeClr>
                </a:solidFill>
                <a:latin typeface="Lucida Console" panose="020B0609040504020204" pitchFamily="49" charset="0"/>
              </a:rPr>
              <a:t># </a:t>
            </a:r>
            <a:r>
              <a:rPr lang="en-US" altLang="en-US" sz="2100" dirty="0" smtClean="0">
                <a:solidFill>
                  <a:schemeClr val="bg1">
                    <a:lumMod val="65000"/>
                  </a:schemeClr>
                </a:solidFill>
                <a:latin typeface="Lucida Console" panose="020B0609040504020204" pitchFamily="49" charset="0"/>
              </a:rPr>
              <a:t>Putting no </a:t>
            </a:r>
            <a:r>
              <a:rPr lang="en-US" altLang="en-US" sz="2100" dirty="0">
                <a:solidFill>
                  <a:schemeClr val="bg1">
                    <a:lumMod val="65000"/>
                  </a:schemeClr>
                </a:solidFill>
                <a:latin typeface="Lucida Console" panose="020B0609040504020204" pitchFamily="49" charset="0"/>
              </a:rPr>
              <a:t>semicolon </a:t>
            </a:r>
            <a:r>
              <a:rPr lang="en-US" altLang="en-US" sz="2100" dirty="0" smtClean="0">
                <a:solidFill>
                  <a:schemeClr val="bg1">
                    <a:lumMod val="65000"/>
                  </a:schemeClr>
                </a:solidFill>
                <a:latin typeface="Lucida Console" panose="020B0609040504020204" pitchFamily="49" charset="0"/>
              </a:rPr>
              <a:t>here is </a:t>
            </a:r>
            <a:r>
              <a:rPr lang="en-US" altLang="en-US" sz="2100" dirty="0">
                <a:solidFill>
                  <a:schemeClr val="bg1">
                    <a:lumMod val="65000"/>
                  </a:schemeClr>
                </a:solidFill>
                <a:latin typeface="Lucida Console" panose="020B0609040504020204" pitchFamily="49" charset="0"/>
              </a:rPr>
              <a:t>OK.</a:t>
            </a:r>
          </a:p>
          <a:p>
            <a:pPr marL="457200" lvl="1" indent="-457200">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b=2</a:t>
            </a:r>
            <a:r>
              <a:rPr lang="en-US" altLang="en-US" sz="2100" dirty="0">
                <a:solidFill>
                  <a:schemeClr val="tx1">
                    <a:lumMod val="65000"/>
                    <a:lumOff val="35000"/>
                  </a:schemeClr>
                </a:solidFill>
                <a:latin typeface="Lucida Console" panose="020B0609040504020204" pitchFamily="49" charset="0"/>
              </a:rPr>
              <a:t>;</a:t>
            </a:r>
            <a:r>
              <a:rPr lang="en-US" altLang="en-US" sz="2100" dirty="0">
                <a:solidFill>
                  <a:sysClr val="windowText" lastClr="000000"/>
                </a:solidFill>
                <a:latin typeface="Lucida Console" panose="020B0609040504020204" pitchFamily="49" charset="0"/>
              </a:rPr>
              <a:t> </a:t>
            </a:r>
            <a:r>
              <a:rPr lang="en-US" altLang="en-US" sz="2100" dirty="0">
                <a:solidFill>
                  <a:schemeClr val="bg1">
                    <a:lumMod val="65000"/>
                  </a:schemeClr>
                </a:solidFill>
                <a:latin typeface="Lucida Console" panose="020B0609040504020204" pitchFamily="49" charset="0"/>
              </a:rPr>
              <a:t># </a:t>
            </a:r>
            <a:r>
              <a:rPr lang="en-US" altLang="en-US" sz="2100" dirty="0" smtClean="0">
                <a:solidFill>
                  <a:schemeClr val="bg1">
                    <a:lumMod val="65000"/>
                  </a:schemeClr>
                </a:solidFill>
                <a:latin typeface="Lucida Console" panose="020B0609040504020204" pitchFamily="49" charset="0"/>
              </a:rPr>
              <a:t>Putting a semicolon </a:t>
            </a:r>
            <a:r>
              <a:rPr lang="en-US" altLang="en-US" sz="2100" dirty="0">
                <a:solidFill>
                  <a:schemeClr val="bg1">
                    <a:lumMod val="65000"/>
                  </a:schemeClr>
                </a:solidFill>
                <a:latin typeface="Lucida Console" panose="020B0609040504020204" pitchFamily="49" charset="0"/>
              </a:rPr>
              <a:t>here is </a:t>
            </a:r>
            <a:r>
              <a:rPr lang="en-US" altLang="en-US" sz="2100" dirty="0" smtClean="0">
                <a:solidFill>
                  <a:schemeClr val="bg1">
                    <a:lumMod val="65000"/>
                  </a:schemeClr>
                </a:solidFill>
                <a:latin typeface="Lucida Console" panose="020B0609040504020204" pitchFamily="49" charset="0"/>
              </a:rPr>
              <a:t>OK</a:t>
            </a:r>
            <a:r>
              <a:rPr lang="en-US" altLang="en-US" sz="2100" dirty="0">
                <a:solidFill>
                  <a:schemeClr val="bg1">
                    <a:lumMod val="65000"/>
                  </a:schemeClr>
                </a:solidFill>
                <a:latin typeface="Lucida Console" panose="020B0609040504020204" pitchFamily="49" charset="0"/>
              </a:rPr>
              <a:t>. It is optional.</a:t>
            </a:r>
          </a:p>
          <a:p>
            <a:pPr marL="457200" lvl="1" indent="-457200">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a:t>
            </a:r>
            <a:r>
              <a:rPr lang="en-US" altLang="en-US" sz="2100" dirty="0" smtClean="0">
                <a:latin typeface="Lucida Console" panose="020B0609040504020204" pitchFamily="49" charset="0"/>
              </a:rPr>
              <a:t>c=3</a:t>
            </a:r>
            <a:r>
              <a:rPr lang="en-US" altLang="en-US" sz="2100" dirty="0">
                <a:solidFill>
                  <a:srgbClr val="A235C9"/>
                </a:solidFill>
                <a:latin typeface="Lucida Console" panose="020B0609040504020204" pitchFamily="49" charset="0"/>
              </a:rPr>
              <a:t>;</a:t>
            </a:r>
            <a:r>
              <a:rPr lang="en-US" altLang="en-US" sz="2100" dirty="0">
                <a:latin typeface="Lucida Console" panose="020B0609040504020204" pitchFamily="49" charset="0"/>
              </a:rPr>
              <a:t> d=4</a:t>
            </a:r>
            <a:r>
              <a:rPr lang="en-US" altLang="en-US" sz="2100" dirty="0">
                <a:solidFill>
                  <a:sysClr val="windowText" lastClr="000000"/>
                </a:solidFill>
                <a:latin typeface="Lucida Console" panose="020B0609040504020204" pitchFamily="49" charset="0"/>
              </a:rPr>
              <a:t> </a:t>
            </a:r>
            <a:r>
              <a:rPr lang="en-US" altLang="en-US" sz="2100" dirty="0">
                <a:solidFill>
                  <a:schemeClr val="bg1">
                    <a:lumMod val="65000"/>
                  </a:schemeClr>
                </a:solidFill>
                <a:latin typeface="Lucida Console" panose="020B0609040504020204" pitchFamily="49" charset="0"/>
              </a:rPr>
              <a:t># This </a:t>
            </a:r>
            <a:r>
              <a:rPr lang="en-US" altLang="en-US" sz="2100" dirty="0" smtClean="0">
                <a:solidFill>
                  <a:schemeClr val="bg1">
                    <a:lumMod val="65000"/>
                  </a:schemeClr>
                </a:solidFill>
                <a:latin typeface="Lucida Console" panose="020B0609040504020204" pitchFamily="49" charset="0"/>
              </a:rPr>
              <a:t>semicolon </a:t>
            </a:r>
            <a:r>
              <a:rPr lang="en-US" altLang="en-US" sz="2100" dirty="0">
                <a:solidFill>
                  <a:schemeClr val="bg1">
                    <a:lumMod val="65000"/>
                  </a:schemeClr>
                </a:solidFill>
                <a:latin typeface="Lucida Console" panose="020B0609040504020204" pitchFamily="49" charset="0"/>
              </a:rPr>
              <a:t>separator is required. </a:t>
            </a:r>
          </a:p>
          <a:p>
            <a:pPr marL="457200" lvl="1" indent="0">
              <a:spcBef>
                <a:spcPts val="0"/>
              </a:spcBef>
              <a:buNone/>
            </a:pPr>
            <a:endParaRPr lang="en-US" altLang="en-US" sz="2100" dirty="0">
              <a:solidFill>
                <a:sysClr val="windowText" lastClr="000000"/>
              </a:solidFill>
              <a:latin typeface="Lucida Console" panose="020B0609040504020204" pitchFamily="49" charset="0"/>
            </a:endParaRPr>
          </a:p>
          <a:p>
            <a:pPr marL="796925" lvl="2" indent="-227013">
              <a:spcBef>
                <a:spcPts val="0"/>
              </a:spcBef>
            </a:pPr>
            <a:r>
              <a:rPr lang="en-US" altLang="en-US" dirty="0" smtClean="0">
                <a:solidFill>
                  <a:sysClr val="windowText" lastClr="000000"/>
                </a:solidFill>
              </a:rPr>
              <a:t>As we can see above, Python allows you to put  many statements on one line. </a:t>
            </a:r>
          </a:p>
          <a:p>
            <a:pPr marL="1147763" lvl="3" indent="-285750">
              <a:spcBef>
                <a:spcPts val="600"/>
              </a:spcBef>
            </a:pPr>
            <a:r>
              <a:rPr lang="en-US" altLang="en-US" sz="3200" dirty="0" smtClean="0">
                <a:solidFill>
                  <a:sysClr val="windowText" lastClr="000000"/>
                </a:solidFill>
              </a:rPr>
              <a:t>But we’ll find out that this is not always true.</a:t>
            </a:r>
            <a:br>
              <a:rPr lang="en-US" altLang="en-US" sz="3200" dirty="0" smtClean="0">
                <a:solidFill>
                  <a:sysClr val="windowText" lastClr="000000"/>
                </a:solidFill>
              </a:rPr>
            </a:br>
            <a:r>
              <a:rPr lang="en-US" altLang="en-US" sz="3200" dirty="0" smtClean="0">
                <a:solidFill>
                  <a:sysClr val="windowText" lastClr="000000"/>
                </a:solidFill>
              </a:rPr>
              <a:t>In </a:t>
            </a:r>
            <a:r>
              <a:rPr lang="en-US" altLang="en-US" sz="3200" dirty="0">
                <a:solidFill>
                  <a:sysClr val="windowText" lastClr="000000"/>
                </a:solidFill>
              </a:rPr>
              <a:t>some cases</a:t>
            </a:r>
            <a:r>
              <a:rPr lang="en-US" altLang="en-US" sz="3200" dirty="0" smtClean="0">
                <a:solidFill>
                  <a:sysClr val="windowText" lastClr="000000"/>
                </a:solidFill>
              </a:rPr>
              <a:t>, only one statement is allowed.</a:t>
            </a:r>
            <a:endParaRPr lang="en-US" altLang="en-US" sz="2400" dirty="0">
              <a:solidFill>
                <a:sysClr val="windowText" lastClr="000000"/>
              </a:solidFill>
              <a:latin typeface="Courier New" panose="02070309020205020404" pitchFamily="49" charset="0"/>
              <a:cs typeface="Courier New" panose="02070309020205020404" pitchFamily="49" charset="0"/>
            </a:endParaRPr>
          </a:p>
        </p:txBody>
      </p:sp>
      <p:grpSp>
        <p:nvGrpSpPr>
          <p:cNvPr id="11" name="Group 10"/>
          <p:cNvGrpSpPr/>
          <p:nvPr/>
        </p:nvGrpSpPr>
        <p:grpSpPr>
          <a:xfrm>
            <a:off x="0" y="-21265"/>
            <a:ext cx="9729788" cy="1676882"/>
            <a:chOff x="0" y="-21265"/>
            <a:chExt cx="9729788" cy="1676882"/>
          </a:xfrm>
        </p:grpSpPr>
        <p:sp>
          <p:nvSpPr>
            <p:cNvPr id="6" name="Title 1"/>
            <p:cNvSpPr txBox="1">
              <a:spLocks/>
            </p:cNvSpPr>
            <p:nvPr/>
          </p:nvSpPr>
          <p:spPr>
            <a:xfrm>
              <a:off x="0" y="0"/>
              <a:ext cx="9729788" cy="16556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lvl="0">
                <a:defRPr/>
              </a:pPr>
              <a:r>
                <a:rPr lang="en-US" spc="40" dirty="0">
                  <a:solidFill>
                    <a:schemeClr val="bg1"/>
                  </a:solidFill>
                </a:rPr>
                <a:t>Comparing Python to </a:t>
              </a:r>
              <a:r>
                <a:rPr lang="en-US" spc="40" dirty="0" smtClean="0">
                  <a:solidFill>
                    <a:schemeClr val="bg1"/>
                  </a:solidFill>
                </a:rPr>
                <a:t>C</a:t>
              </a:r>
            </a:p>
            <a:p>
              <a:pPr lvl="0">
                <a:defRPr/>
              </a:pPr>
              <a:endParaRPr lang="en-US" sz="200" spc="40" dirty="0" smtClean="0">
                <a:solidFill>
                  <a:srgbClr val="0070C0"/>
                </a:solidFill>
              </a:endParaRPr>
            </a:p>
            <a:p>
              <a:pPr lvl="0">
                <a:lnSpc>
                  <a:spcPct val="100000"/>
                </a:lnSpc>
                <a:defRPr/>
              </a:pPr>
              <a:r>
                <a:rPr lang="en-US" spc="40" dirty="0">
                  <a:solidFill>
                    <a:srgbClr val="A235C9"/>
                  </a:solidFill>
                </a:rPr>
                <a:t>separating </a:t>
              </a:r>
              <a:r>
                <a:rPr lang="en-US" spc="40" dirty="0" smtClean="0">
                  <a:solidFill>
                    <a:srgbClr val="A235C9"/>
                  </a:solidFill>
                </a:rPr>
                <a:t>statements</a:t>
              </a:r>
              <a:endParaRPr lang="en-US" spc="40" dirty="0">
                <a:solidFill>
                  <a:srgbClr val="A235C9"/>
                </a:solidFill>
              </a:endParaRPr>
            </a:p>
          </p:txBody>
        </p:sp>
        <p:sp>
          <p:nvSpPr>
            <p:cNvPr id="10" name="Title 1"/>
            <p:cNvSpPr txBox="1">
              <a:spLocks/>
            </p:cNvSpPr>
            <p:nvPr/>
          </p:nvSpPr>
          <p:spPr>
            <a:xfrm>
              <a:off x="0" y="-21265"/>
              <a:ext cx="9729787" cy="101988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40" normalizeH="0" noProof="0" dirty="0" smtClean="0">
                  <a:ln>
                    <a:noFill/>
                  </a:ln>
                  <a:solidFill>
                    <a:srgbClr val="0070C0"/>
                  </a:solidFill>
                  <a:effectLst/>
                  <a:uLnTx/>
                  <a:uFillTx/>
                  <a:latin typeface="Elephant" panose="02020904090505020303" pitchFamily="18" charset="0"/>
                  <a:ea typeface="+mj-ea"/>
                  <a:cs typeface="+mj-cs"/>
                </a:rPr>
                <a:t>Comparing Python to C</a:t>
              </a:r>
              <a:endParaRPr kumimoji="0" lang="en-US" sz="4400" b="0" i="0" u="none" strike="noStrike" kern="1200" cap="none" spc="40" normalizeH="0" noProof="0" dirty="0">
                <a:ln>
                  <a:noFill/>
                </a:ln>
                <a:solidFill>
                  <a:srgbClr val="FF0000"/>
                </a:solidFill>
                <a:effectLst/>
                <a:uLnTx/>
                <a:uFillTx/>
                <a:latin typeface="Elephant" panose="02020904090505020303" pitchFamily="18" charset="0"/>
                <a:ea typeface="+mj-ea"/>
                <a:cs typeface="+mj-cs"/>
              </a:endParaRPr>
            </a:p>
          </p:txBody>
        </p:sp>
      </p:grpSp>
    </p:spTree>
    <p:extLst>
      <p:ext uri="{BB962C8B-B14F-4D97-AF65-F5344CB8AC3E}">
        <p14:creationId xmlns:p14="http://schemas.microsoft.com/office/powerpoint/2010/main" val="237642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xEl>
                                              <p:pRg st="10" end="10"/>
                                            </p:txEl>
                                          </p:spTgt>
                                        </p:tgtEl>
                                        <p:attrNameLst>
                                          <p:attrName>style.visibility</p:attrName>
                                        </p:attrNameLst>
                                      </p:cBhvr>
                                      <p:to>
                                        <p:strVal val="visible"/>
                                      </p:to>
                                    </p:set>
                                    <p:animEffect transition="in" filter="randombar(horizontal)">
                                      <p:cBhvr>
                                        <p:cTn id="7" dur="500"/>
                                        <p:tgtEl>
                                          <p:spTgt spid="16">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6">
                                            <p:txEl>
                                              <p:pRg st="11" end="11"/>
                                            </p:txEl>
                                          </p:spTgt>
                                        </p:tgtEl>
                                        <p:attrNameLst>
                                          <p:attrName>style.visibility</p:attrName>
                                        </p:attrNameLst>
                                      </p:cBhvr>
                                      <p:to>
                                        <p:strVal val="visible"/>
                                      </p:to>
                                    </p:set>
                                    <p:animEffect transition="in" filter="randombar(horizontal)">
                                      <p:cBhvr>
                                        <p:cTn id="12" dur="500"/>
                                        <p:tgtEl>
                                          <p:spTgt spid="1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0" y="1551963"/>
            <a:ext cx="9729787" cy="53060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4488" lvl="1" indent="-227013">
              <a:spcBef>
                <a:spcPts val="0"/>
              </a:spcBef>
            </a:pPr>
            <a:r>
              <a:rPr lang="en-US" altLang="en-US" sz="2800" dirty="0">
                <a:solidFill>
                  <a:sysClr val="windowText" lastClr="000000"/>
                </a:solidFill>
              </a:rPr>
              <a:t>C defines code blocks by offsetting </a:t>
            </a:r>
            <a:r>
              <a:rPr lang="en-US" altLang="en-US" sz="2800" dirty="0" smtClean="0">
                <a:solidFill>
                  <a:sysClr val="windowText" lastClr="000000"/>
                </a:solidFill>
              </a:rPr>
              <a:t>them </a:t>
            </a:r>
            <a:r>
              <a:rPr lang="en-US" altLang="en-US" sz="2800" dirty="0">
                <a:solidFill>
                  <a:sysClr val="windowText" lastClr="000000"/>
                </a:solidFill>
              </a:rPr>
              <a:t>with curly braces </a:t>
            </a:r>
            <a:r>
              <a:rPr lang="en-US" altLang="en-US" sz="2800" b="1" dirty="0">
                <a:solidFill>
                  <a:srgbClr val="00B050"/>
                </a:solidFill>
              </a:rPr>
              <a:t>{}</a:t>
            </a:r>
            <a:r>
              <a:rPr lang="en-US" altLang="en-US" sz="2800" dirty="0" smtClean="0">
                <a:solidFill>
                  <a:sysClr val="windowText" lastClr="000000"/>
                </a:solidFill>
              </a:rPr>
              <a:t>:  </a:t>
            </a:r>
            <a:endParaRPr lang="en-US" altLang="en-US" sz="2800" dirty="0">
              <a:solidFill>
                <a:sysClr val="windowText" lastClr="000000"/>
              </a:solidFill>
            </a:endParaRPr>
          </a:p>
          <a:p>
            <a:pPr marL="457200" lvl="1" indent="-53975">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while (1)        </a:t>
            </a:r>
            <a:r>
              <a:rPr lang="en-US" altLang="en-US" sz="2100" b="1" dirty="0" smtClean="0">
                <a:solidFill>
                  <a:srgbClr val="00B050"/>
                </a:solidFill>
                <a:latin typeface="Lucida Console" panose="020B0609040504020204" pitchFamily="49" charset="0"/>
              </a:rPr>
              <a:t>{</a:t>
            </a:r>
            <a:endParaRPr lang="en-US" altLang="en-US" sz="2100" b="1" dirty="0">
              <a:solidFill>
                <a:srgbClr val="00B050"/>
              </a:solidFill>
              <a:latin typeface="Lucida Console" panose="020B0609040504020204" pitchFamily="49" charset="0"/>
            </a:endParaRPr>
          </a:p>
          <a:p>
            <a:pPr marL="457200" lvl="1" indent="-53975">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a:t>
            </a:r>
            <a:r>
              <a:rPr lang="en-US" altLang="en-US" sz="2100" dirty="0" err="1" smtClean="0">
                <a:solidFill>
                  <a:sysClr val="windowText" lastClr="000000"/>
                </a:solidFill>
                <a:latin typeface="Lucida Console" panose="020B0609040504020204" pitchFamily="49" charset="0"/>
              </a:rPr>
              <a:t>printf</a:t>
            </a:r>
            <a:r>
              <a:rPr lang="en-US" altLang="en-US" sz="2100" dirty="0" smtClean="0">
                <a:solidFill>
                  <a:sysClr val="windowText" lastClr="000000"/>
                </a:solidFill>
                <a:latin typeface="Lucida Console" panose="020B0609040504020204" pitchFamily="49" charset="0"/>
              </a:rPr>
              <a:t>("Hi");</a:t>
            </a:r>
            <a:endParaRPr lang="en-US" altLang="en-US" sz="2100" b="1" dirty="0">
              <a:solidFill>
                <a:srgbClr val="FF7C80"/>
              </a:solidFill>
              <a:latin typeface="Lucida Console" panose="020B0609040504020204" pitchFamily="49" charset="0"/>
            </a:endParaRPr>
          </a:p>
          <a:p>
            <a:pPr marL="457200" lvl="1" indent="-53975">
              <a:spcBef>
                <a:spcPts val="0"/>
              </a:spcBef>
              <a:buNone/>
            </a:pPr>
            <a:r>
              <a:rPr lang="en-US" altLang="en-US" sz="2100" dirty="0">
                <a:solidFill>
                  <a:srgbClr val="FF7C80"/>
                </a:solidFill>
                <a:latin typeface="Lucida Console" panose="020B0609040504020204" pitchFamily="49" charset="0"/>
              </a:rPr>
              <a:t>	</a:t>
            </a:r>
            <a:r>
              <a:rPr lang="en-US" altLang="en-US" sz="2100" dirty="0" smtClean="0">
                <a:solidFill>
                  <a:srgbClr val="FF7C80"/>
                </a:solidFill>
                <a:latin typeface="Lucida Console" panose="020B0609040504020204" pitchFamily="49" charset="0"/>
              </a:rPr>
              <a:t> </a:t>
            </a:r>
            <a:r>
              <a:rPr lang="en-US" altLang="en-US" sz="2100" dirty="0" smtClean="0">
                <a:latin typeface="Lucida Console" panose="020B0609040504020204" pitchFamily="49" charset="0"/>
              </a:rPr>
              <a:t>   </a:t>
            </a:r>
            <a:r>
              <a:rPr lang="en-US" altLang="en-US" sz="2100" dirty="0" err="1" smtClean="0">
                <a:latin typeface="Lucida Console" panose="020B0609040504020204" pitchFamily="49" charset="0"/>
              </a:rPr>
              <a:t>printf</a:t>
            </a:r>
            <a:r>
              <a:rPr lang="en-US" altLang="en-US" sz="2100" dirty="0" smtClean="0">
                <a:latin typeface="Lucida Console" panose="020B0609040504020204" pitchFamily="49" charset="0"/>
              </a:rPr>
              <a:t>("Bye"); </a:t>
            </a:r>
            <a:r>
              <a:rPr lang="en-US" altLang="en-US" sz="2100" b="1" dirty="0" smtClean="0">
                <a:solidFill>
                  <a:srgbClr val="00B050"/>
                </a:solidFill>
                <a:latin typeface="Lucida Console" panose="020B0609040504020204" pitchFamily="49" charset="0"/>
              </a:rPr>
              <a:t>}</a:t>
            </a:r>
            <a:endParaRPr lang="en-US" altLang="en-US" sz="2100" b="1" dirty="0">
              <a:solidFill>
                <a:srgbClr val="00B050"/>
              </a:solidFill>
              <a:latin typeface="Lucida Console" panose="020B0609040504020204" pitchFamily="49" charset="0"/>
            </a:endParaRPr>
          </a:p>
          <a:p>
            <a:pPr marL="457200" lvl="1" indent="0">
              <a:spcBef>
                <a:spcPts val="0"/>
              </a:spcBef>
              <a:buNone/>
            </a:pPr>
            <a:endParaRPr lang="en-US" altLang="en-US" sz="2800" dirty="0">
              <a:solidFill>
                <a:sysClr val="windowText" lastClr="000000"/>
              </a:solidFill>
            </a:endParaRPr>
          </a:p>
          <a:p>
            <a:pPr marL="344488" lvl="1" indent="-227013">
              <a:spcBef>
                <a:spcPts val="0"/>
              </a:spcBef>
            </a:pPr>
            <a:r>
              <a:rPr lang="en-US" altLang="en-US" sz="2800" spc="-20" dirty="0">
                <a:solidFill>
                  <a:sysClr val="windowText" lastClr="000000"/>
                </a:solidFill>
              </a:rPr>
              <a:t>Python</a:t>
            </a:r>
            <a:r>
              <a:rPr lang="en-US" altLang="en-US" sz="2400" spc="-20" dirty="0">
                <a:solidFill>
                  <a:sysClr val="windowText" lastClr="000000"/>
                </a:solidFill>
              </a:rPr>
              <a:t> </a:t>
            </a:r>
            <a:r>
              <a:rPr lang="en-US" altLang="en-US" sz="2800" spc="-20" dirty="0" smtClean="0">
                <a:solidFill>
                  <a:sysClr val="windowText" lastClr="000000"/>
                </a:solidFill>
              </a:rPr>
              <a:t>requires</a:t>
            </a:r>
            <a:r>
              <a:rPr lang="en-US" altLang="en-US" sz="2400" spc="-20" dirty="0" smtClean="0">
                <a:solidFill>
                  <a:sysClr val="windowText" lastClr="000000"/>
                </a:solidFill>
              </a:rPr>
              <a:t> </a:t>
            </a:r>
            <a:r>
              <a:rPr lang="en-US" altLang="en-US" sz="2800" spc="-20" dirty="0" smtClean="0">
                <a:solidFill>
                  <a:sysClr val="windowText" lastClr="000000"/>
                </a:solidFill>
              </a:rPr>
              <a:t>proper indentation</a:t>
            </a:r>
            <a:r>
              <a:rPr lang="en-US" altLang="en-US" sz="2400" spc="-20" dirty="0" smtClean="0">
                <a:solidFill>
                  <a:sysClr val="windowText" lastClr="000000"/>
                </a:solidFill>
              </a:rPr>
              <a:t> </a:t>
            </a:r>
            <a:r>
              <a:rPr lang="en-US" altLang="en-US" sz="2800" spc="-20" dirty="0" smtClean="0">
                <a:solidFill>
                  <a:sysClr val="windowText" lastClr="000000"/>
                </a:solidFill>
              </a:rPr>
              <a:t>(</a:t>
            </a:r>
            <a:r>
              <a:rPr lang="zh-TW" altLang="en-US" sz="2400" spc="-20" dirty="0">
                <a:solidFill>
                  <a:sysClr val="windowText" lastClr="000000"/>
                </a:solidFill>
              </a:rPr>
              <a:t>縮進</a:t>
            </a:r>
            <a:r>
              <a:rPr lang="en-US" altLang="en-US" sz="2800" spc="-20" dirty="0" smtClean="0">
                <a:solidFill>
                  <a:sysClr val="windowText" lastClr="000000"/>
                </a:solidFill>
              </a:rPr>
              <a:t>)</a:t>
            </a:r>
            <a:r>
              <a:rPr lang="en-US" altLang="en-US" sz="2400" spc="-20" dirty="0" smtClean="0">
                <a:solidFill>
                  <a:sysClr val="windowText" lastClr="000000"/>
                </a:solidFill>
              </a:rPr>
              <a:t> </a:t>
            </a:r>
            <a:r>
              <a:rPr lang="en-US" altLang="en-US" sz="2800" spc="-20" dirty="0" smtClean="0">
                <a:solidFill>
                  <a:sysClr val="windowText" lastClr="000000"/>
                </a:solidFill>
              </a:rPr>
              <a:t>to</a:t>
            </a:r>
            <a:r>
              <a:rPr lang="en-US" altLang="en-US" sz="2400" spc="-20" dirty="0" smtClean="0">
                <a:solidFill>
                  <a:sysClr val="windowText" lastClr="000000"/>
                </a:solidFill>
              </a:rPr>
              <a:t> </a:t>
            </a:r>
            <a:r>
              <a:rPr lang="en-US" altLang="en-US" sz="2800" spc="-20" dirty="0" smtClean="0">
                <a:solidFill>
                  <a:sysClr val="windowText" lastClr="000000"/>
                </a:solidFill>
              </a:rPr>
              <a:t>identify</a:t>
            </a:r>
            <a:r>
              <a:rPr lang="en-US" altLang="en-US" sz="2400" spc="-20" dirty="0" smtClean="0">
                <a:solidFill>
                  <a:sysClr val="windowText" lastClr="000000"/>
                </a:solidFill>
              </a:rPr>
              <a:t> </a:t>
            </a:r>
            <a:r>
              <a:rPr lang="en-US" altLang="en-US" sz="2800" spc="-20" dirty="0" smtClean="0">
                <a:solidFill>
                  <a:sysClr val="windowText" lastClr="000000"/>
                </a:solidFill>
              </a:rPr>
              <a:t>code</a:t>
            </a:r>
            <a:r>
              <a:rPr lang="en-US" altLang="en-US" sz="2400" spc="-20" dirty="0" smtClean="0">
                <a:solidFill>
                  <a:sysClr val="windowText" lastClr="000000"/>
                </a:solidFill>
              </a:rPr>
              <a:t> </a:t>
            </a:r>
            <a:r>
              <a:rPr lang="en-US" altLang="en-US" sz="2800" spc="-20" dirty="0" smtClean="0">
                <a:solidFill>
                  <a:sysClr val="windowText" lastClr="000000"/>
                </a:solidFill>
              </a:rPr>
              <a:t>blocks:</a:t>
            </a:r>
            <a:endParaRPr lang="en-US" altLang="en-US" sz="2800" spc="-20" dirty="0">
              <a:solidFill>
                <a:sysClr val="windowText" lastClr="000000"/>
              </a:solidFill>
            </a:endParaRPr>
          </a:p>
          <a:p>
            <a:pPr marL="457200" lvl="1" indent="-457200">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while (1):</a:t>
            </a:r>
            <a:endParaRPr lang="en-US" altLang="en-US" sz="2100" dirty="0">
              <a:solidFill>
                <a:schemeClr val="bg1">
                  <a:lumMod val="65000"/>
                </a:schemeClr>
              </a:solidFill>
              <a:latin typeface="Lucida Console" panose="020B0609040504020204" pitchFamily="49" charset="0"/>
            </a:endParaRPr>
          </a:p>
          <a:p>
            <a:pPr marL="457200" lvl="1" indent="-457200">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print("Hi")</a:t>
            </a:r>
            <a:endParaRPr lang="en-US" altLang="en-US" sz="2100" dirty="0">
              <a:solidFill>
                <a:schemeClr val="bg1">
                  <a:lumMod val="65000"/>
                </a:schemeClr>
              </a:solidFill>
              <a:latin typeface="Lucida Console" panose="020B0609040504020204" pitchFamily="49" charset="0"/>
            </a:endParaRPr>
          </a:p>
          <a:p>
            <a:pPr marL="457200" lvl="1" indent="-457200">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print("Bye")</a:t>
            </a:r>
            <a:r>
              <a:rPr lang="en-US" altLang="en-US" sz="2100" dirty="0" smtClean="0">
                <a:solidFill>
                  <a:schemeClr val="bg1">
                    <a:lumMod val="65000"/>
                  </a:schemeClr>
                </a:solidFill>
                <a:latin typeface="Lucida Console" panose="020B0609040504020204" pitchFamily="49" charset="0"/>
              </a:rPr>
              <a:t> </a:t>
            </a:r>
          </a:p>
          <a:p>
            <a:pPr marL="457200" lvl="1" indent="0">
              <a:spcBef>
                <a:spcPts val="0"/>
              </a:spcBef>
              <a:buNone/>
            </a:pPr>
            <a:endParaRPr lang="en-US" altLang="en-US" sz="2100" dirty="0" smtClean="0">
              <a:solidFill>
                <a:sysClr val="windowText" lastClr="000000"/>
              </a:solidFill>
              <a:latin typeface="Lucida Console" panose="020B0609040504020204" pitchFamily="49" charset="0"/>
            </a:endParaRPr>
          </a:p>
          <a:p>
            <a:pPr marL="796925" lvl="2" indent="-227013">
              <a:spcBef>
                <a:spcPts val="0"/>
              </a:spcBef>
            </a:pPr>
            <a:r>
              <a:rPr lang="en-US" altLang="en-US" dirty="0">
                <a:solidFill>
                  <a:sysClr val="windowText" lastClr="000000"/>
                </a:solidFill>
              </a:rPr>
              <a:t>The number of spaces in the indentation is up to you, </a:t>
            </a:r>
            <a:r>
              <a:rPr lang="en-US" altLang="en-US" dirty="0" smtClean="0">
                <a:solidFill>
                  <a:sysClr val="windowText" lastClr="000000"/>
                </a:solidFill>
              </a:rPr>
              <a:t>but </a:t>
            </a:r>
            <a:r>
              <a:rPr lang="en-US" altLang="en-US" dirty="0">
                <a:solidFill>
                  <a:sysClr val="windowText" lastClr="000000"/>
                </a:solidFill>
              </a:rPr>
              <a:t>all statements within the block must be indented </a:t>
            </a:r>
            <a:r>
              <a:rPr lang="en-US" altLang="en-US" dirty="0" smtClean="0">
                <a:solidFill>
                  <a:schemeClr val="accent1">
                    <a:lumMod val="75000"/>
                  </a:schemeClr>
                </a:solidFill>
              </a:rPr>
              <a:t>by </a:t>
            </a:r>
            <a:r>
              <a:rPr lang="en-US" altLang="en-US" dirty="0">
                <a:solidFill>
                  <a:schemeClr val="accent1">
                    <a:lumMod val="75000"/>
                  </a:schemeClr>
                </a:solidFill>
              </a:rPr>
              <a:t>the same amount</a:t>
            </a:r>
            <a:r>
              <a:rPr lang="en-US" altLang="en-US" dirty="0">
                <a:solidFill>
                  <a:sysClr val="windowText" lastClr="000000"/>
                </a:solidFill>
              </a:rPr>
              <a:t>. </a:t>
            </a:r>
          </a:p>
          <a:p>
            <a:pPr marL="1147763" lvl="2" indent="-285750">
              <a:spcBef>
                <a:spcPts val="600"/>
              </a:spcBef>
            </a:pPr>
            <a:r>
              <a:rPr lang="en-US" altLang="en-US" dirty="0">
                <a:solidFill>
                  <a:sysClr val="windowText" lastClr="000000"/>
                </a:solidFill>
              </a:rPr>
              <a:t>E</a:t>
            </a:r>
            <a:r>
              <a:rPr lang="en-US" altLang="en-US" dirty="0" smtClean="0">
                <a:solidFill>
                  <a:sysClr val="windowText" lastClr="000000"/>
                </a:solidFill>
              </a:rPr>
              <a:t>veryone </a:t>
            </a:r>
            <a:r>
              <a:rPr lang="en-US" altLang="en-US" dirty="0">
                <a:solidFill>
                  <a:srgbClr val="FF0000"/>
                </a:solidFill>
              </a:rPr>
              <a:t>just uses the tab </a:t>
            </a:r>
            <a:r>
              <a:rPr lang="en-US" altLang="en-US" dirty="0" smtClean="0">
                <a:solidFill>
                  <a:srgbClr val="FF0000"/>
                </a:solidFill>
              </a:rPr>
              <a:t>ke</a:t>
            </a:r>
            <a:r>
              <a:rPr lang="en-US" altLang="en-US" spc="-250" dirty="0" smtClean="0">
                <a:solidFill>
                  <a:srgbClr val="FF0000"/>
                </a:solidFill>
              </a:rPr>
              <a:t>y (</a:t>
            </a:r>
            <a:r>
              <a:rPr lang="zh-TW" altLang="en-US" sz="2800" spc="-250" dirty="0">
                <a:solidFill>
                  <a:srgbClr val="FF0000"/>
                </a:solidFill>
              </a:rPr>
              <a:t>水平定位符號</a:t>
            </a:r>
            <a:r>
              <a:rPr lang="en-US" altLang="en-US" spc="-250" dirty="0" smtClean="0">
                <a:solidFill>
                  <a:srgbClr val="FF0000"/>
                </a:solidFill>
              </a:rPr>
              <a:t>)</a:t>
            </a:r>
            <a:r>
              <a:rPr lang="en-US" altLang="en-US" sz="2400" dirty="0" smtClean="0">
                <a:solidFill>
                  <a:sysClr val="windowText" lastClr="000000"/>
                </a:solidFill>
                <a:latin typeface="Courier New" panose="02070309020205020404" pitchFamily="49" charset="0"/>
                <a:cs typeface="Courier New" panose="02070309020205020404" pitchFamily="49" charset="0"/>
              </a:rPr>
              <a:t>.</a:t>
            </a:r>
            <a:endParaRPr lang="en-US" altLang="en-US" dirty="0">
              <a:solidFill>
                <a:sysClr val="windowText" lastClr="000000"/>
              </a:solidFill>
            </a:endParaRPr>
          </a:p>
        </p:txBody>
      </p:sp>
      <p:grpSp>
        <p:nvGrpSpPr>
          <p:cNvPr id="11" name="Group 10"/>
          <p:cNvGrpSpPr/>
          <p:nvPr/>
        </p:nvGrpSpPr>
        <p:grpSpPr>
          <a:xfrm>
            <a:off x="0" y="-21265"/>
            <a:ext cx="9729788" cy="1676882"/>
            <a:chOff x="0" y="-21265"/>
            <a:chExt cx="9729788" cy="1676882"/>
          </a:xfrm>
        </p:grpSpPr>
        <p:sp>
          <p:nvSpPr>
            <p:cNvPr id="6" name="Title 1"/>
            <p:cNvSpPr txBox="1">
              <a:spLocks/>
            </p:cNvSpPr>
            <p:nvPr/>
          </p:nvSpPr>
          <p:spPr>
            <a:xfrm>
              <a:off x="0" y="0"/>
              <a:ext cx="9729788" cy="16556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lvl="0">
                <a:defRPr/>
              </a:pPr>
              <a:r>
                <a:rPr lang="en-US" spc="40" dirty="0">
                  <a:solidFill>
                    <a:schemeClr val="bg1"/>
                  </a:solidFill>
                </a:rPr>
                <a:t>Comparing Python to </a:t>
              </a:r>
              <a:r>
                <a:rPr lang="en-US" spc="40" dirty="0" smtClean="0">
                  <a:solidFill>
                    <a:schemeClr val="bg1"/>
                  </a:solidFill>
                </a:rPr>
                <a:t>C</a:t>
              </a:r>
            </a:p>
            <a:p>
              <a:pPr lvl="0">
                <a:defRPr/>
              </a:pPr>
              <a:endParaRPr lang="en-US" sz="200" spc="40" dirty="0" smtClean="0">
                <a:solidFill>
                  <a:srgbClr val="0070C0"/>
                </a:solidFill>
              </a:endParaRPr>
            </a:p>
            <a:p>
              <a:pPr lvl="0">
                <a:lnSpc>
                  <a:spcPct val="100000"/>
                </a:lnSpc>
                <a:defRPr/>
              </a:pPr>
              <a:r>
                <a:rPr lang="en-US" spc="40" dirty="0">
                  <a:solidFill>
                    <a:srgbClr val="00B050"/>
                  </a:solidFill>
                </a:rPr>
                <a:t>multi-statement code </a:t>
              </a:r>
              <a:r>
                <a:rPr lang="en-US" spc="40" dirty="0" smtClean="0">
                  <a:solidFill>
                    <a:srgbClr val="00B050"/>
                  </a:solidFill>
                </a:rPr>
                <a:t>blocks</a:t>
              </a:r>
              <a:endParaRPr lang="en-US" spc="40" dirty="0">
                <a:solidFill>
                  <a:srgbClr val="FF2B00"/>
                </a:solidFill>
              </a:endParaRPr>
            </a:p>
          </p:txBody>
        </p:sp>
        <p:sp>
          <p:nvSpPr>
            <p:cNvPr id="10" name="Title 1"/>
            <p:cNvSpPr txBox="1">
              <a:spLocks/>
            </p:cNvSpPr>
            <p:nvPr/>
          </p:nvSpPr>
          <p:spPr>
            <a:xfrm>
              <a:off x="0" y="-21265"/>
              <a:ext cx="9729787" cy="101988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40" normalizeH="0" noProof="0" dirty="0" smtClean="0">
                  <a:ln>
                    <a:noFill/>
                  </a:ln>
                  <a:solidFill>
                    <a:srgbClr val="0070C0"/>
                  </a:solidFill>
                  <a:effectLst/>
                  <a:uLnTx/>
                  <a:uFillTx/>
                  <a:latin typeface="Elephant" panose="02020904090505020303" pitchFamily="18" charset="0"/>
                  <a:ea typeface="+mj-ea"/>
                  <a:cs typeface="+mj-cs"/>
                </a:rPr>
                <a:t>Comparing Python to C</a:t>
              </a:r>
              <a:endParaRPr kumimoji="0" lang="en-US" sz="4400" b="0" i="0" u="none" strike="noStrike" kern="1200" cap="none" spc="40" normalizeH="0" noProof="0" dirty="0">
                <a:ln>
                  <a:noFill/>
                </a:ln>
                <a:solidFill>
                  <a:srgbClr val="FF0000"/>
                </a:solidFill>
                <a:effectLst/>
                <a:uLnTx/>
                <a:uFillTx/>
                <a:latin typeface="Elephant" panose="02020904090505020303" pitchFamily="18" charset="0"/>
                <a:ea typeface="+mj-ea"/>
                <a:cs typeface="+mj-cs"/>
              </a:endParaRPr>
            </a:p>
          </p:txBody>
        </p:sp>
      </p:grpSp>
    </p:spTree>
    <p:extLst>
      <p:ext uri="{BB962C8B-B14F-4D97-AF65-F5344CB8AC3E}">
        <p14:creationId xmlns:p14="http://schemas.microsoft.com/office/powerpoint/2010/main" val="69778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xEl>
                                              <p:pRg st="10" end="10"/>
                                            </p:txEl>
                                          </p:spTgt>
                                        </p:tgtEl>
                                        <p:attrNameLst>
                                          <p:attrName>style.visibility</p:attrName>
                                        </p:attrNameLst>
                                      </p:cBhvr>
                                      <p:to>
                                        <p:strVal val="visible"/>
                                      </p:to>
                                    </p:set>
                                    <p:animEffect transition="in" filter="randombar(horizontal)">
                                      <p:cBhvr>
                                        <p:cTn id="7" dur="500"/>
                                        <p:tgtEl>
                                          <p:spTgt spid="16">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6">
                                            <p:txEl>
                                              <p:pRg st="11" end="11"/>
                                            </p:txEl>
                                          </p:spTgt>
                                        </p:tgtEl>
                                        <p:attrNameLst>
                                          <p:attrName>style.visibility</p:attrName>
                                        </p:attrNameLst>
                                      </p:cBhvr>
                                      <p:to>
                                        <p:strVal val="visible"/>
                                      </p:to>
                                    </p:set>
                                    <p:animEffect transition="in" filter="randombar(horizontal)">
                                      <p:cBhvr>
                                        <p:cTn id="12" dur="500"/>
                                        <p:tgtEl>
                                          <p:spTgt spid="1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0" y="1551963"/>
            <a:ext cx="9729787" cy="53060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4488" lvl="1" indent="-227013">
              <a:spcBef>
                <a:spcPts val="0"/>
              </a:spcBef>
            </a:pPr>
            <a:r>
              <a:rPr lang="en-US" altLang="en-US" sz="2800" dirty="0">
                <a:solidFill>
                  <a:sysClr val="windowText" lastClr="000000"/>
                </a:solidFill>
              </a:rPr>
              <a:t>C </a:t>
            </a:r>
            <a:r>
              <a:rPr lang="en-US" altLang="en-US" sz="2800" dirty="0" smtClean="0">
                <a:solidFill>
                  <a:sysClr val="windowText" lastClr="000000"/>
                </a:solidFill>
              </a:rPr>
              <a:t>generally ignores newline "\n" characters:  </a:t>
            </a:r>
            <a:endParaRPr lang="en-US" altLang="en-US" sz="2800" dirty="0">
              <a:solidFill>
                <a:sysClr val="windowText" lastClr="000000"/>
              </a:solidFill>
            </a:endParaRPr>
          </a:p>
          <a:p>
            <a:pPr marL="457200" lvl="1" indent="-53975">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a</a:t>
            </a:r>
            <a:endParaRPr lang="en-US" altLang="en-US" sz="2100" b="1" dirty="0">
              <a:solidFill>
                <a:srgbClr val="00B050"/>
              </a:solidFill>
              <a:latin typeface="Lucida Console" panose="020B0609040504020204" pitchFamily="49" charset="0"/>
            </a:endParaRPr>
          </a:p>
          <a:p>
            <a:pPr marL="457200" lvl="1" indent="-53975">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a:t>
            </a:r>
            <a:endParaRPr lang="en-US" altLang="en-US" sz="2100" b="1" dirty="0">
              <a:solidFill>
                <a:srgbClr val="FF7C80"/>
              </a:solidFill>
              <a:latin typeface="Lucida Console" panose="020B0609040504020204" pitchFamily="49" charset="0"/>
            </a:endParaRPr>
          </a:p>
          <a:p>
            <a:pPr marL="457200" lvl="1" indent="-53975">
              <a:spcBef>
                <a:spcPts val="0"/>
              </a:spcBef>
              <a:buNone/>
            </a:pPr>
            <a:r>
              <a:rPr lang="en-US" altLang="en-US" sz="2100" dirty="0">
                <a:solidFill>
                  <a:srgbClr val="FF7C80"/>
                </a:solidFill>
                <a:latin typeface="Lucida Console" panose="020B0609040504020204" pitchFamily="49" charset="0"/>
              </a:rPr>
              <a:t>	</a:t>
            </a:r>
            <a:r>
              <a:rPr lang="en-US" altLang="en-US" sz="2100" dirty="0" smtClean="0">
                <a:solidFill>
                  <a:srgbClr val="FF7C80"/>
                </a:solidFill>
                <a:latin typeface="Lucida Console" panose="020B0609040504020204" pitchFamily="49" charset="0"/>
              </a:rPr>
              <a:t> </a:t>
            </a:r>
            <a:r>
              <a:rPr lang="en-US" altLang="en-US" sz="2100" dirty="0" smtClean="0">
                <a:latin typeface="Lucida Console" panose="020B0609040504020204" pitchFamily="49" charset="0"/>
              </a:rPr>
              <a:t>1</a:t>
            </a:r>
          </a:p>
          <a:p>
            <a:pPr marL="457200" lvl="1" indent="-53975">
              <a:spcBef>
                <a:spcPts val="0"/>
              </a:spcBef>
              <a:buNone/>
            </a:pPr>
            <a:r>
              <a:rPr lang="en-US" altLang="en-US" sz="2100" dirty="0">
                <a:latin typeface="Lucida Console" panose="020B0609040504020204" pitchFamily="49" charset="0"/>
              </a:rPr>
              <a:t> </a:t>
            </a:r>
            <a:r>
              <a:rPr lang="en-US" altLang="en-US" sz="2100" dirty="0" smtClean="0">
                <a:latin typeface="Lucida Console" panose="020B0609040504020204" pitchFamily="49" charset="0"/>
              </a:rPr>
              <a:t>;</a:t>
            </a:r>
          </a:p>
          <a:p>
            <a:pPr marL="457200" lvl="1" indent="-53975">
              <a:spcBef>
                <a:spcPts val="0"/>
              </a:spcBef>
              <a:buNone/>
            </a:pPr>
            <a:endParaRPr lang="en-US" altLang="en-US" sz="700" dirty="0">
              <a:solidFill>
                <a:sysClr val="windowText" lastClr="000000"/>
              </a:solidFill>
            </a:endParaRPr>
          </a:p>
          <a:p>
            <a:pPr marL="344488" lvl="1" indent="-227013">
              <a:spcBef>
                <a:spcPts val="0"/>
              </a:spcBef>
            </a:pPr>
            <a:r>
              <a:rPr lang="en-US" altLang="en-US" sz="2800" spc="-20" dirty="0">
                <a:solidFill>
                  <a:sysClr val="windowText" lastClr="000000"/>
                </a:solidFill>
              </a:rPr>
              <a:t>Python</a:t>
            </a:r>
            <a:r>
              <a:rPr lang="en-US" altLang="en-US" sz="2800" dirty="0" smtClean="0">
                <a:solidFill>
                  <a:sysClr val="windowText" lastClr="000000"/>
                </a:solidFill>
              </a:rPr>
              <a:t> requires a </a:t>
            </a:r>
            <a:r>
              <a:rPr lang="en-US" altLang="en-US" sz="2800" spc="-60" dirty="0" smtClean="0">
                <a:solidFill>
                  <a:sysClr val="windowText" lastClr="000000"/>
                </a:solidFill>
              </a:rPr>
              <a:t>"</a:t>
            </a:r>
            <a:r>
              <a:rPr lang="en-US" altLang="en-US" sz="2800" b="1" spc="-60" dirty="0" smtClean="0">
                <a:solidFill>
                  <a:srgbClr val="00B0F0"/>
                </a:solidFill>
                <a:latin typeface="Lucida Console" panose="020B0609040504020204" pitchFamily="49" charset="0"/>
              </a:rPr>
              <a:t>\</a:t>
            </a:r>
            <a:r>
              <a:rPr lang="en-US" altLang="en-US" sz="2800" dirty="0" smtClean="0">
                <a:solidFill>
                  <a:sysClr val="windowText" lastClr="000000"/>
                </a:solidFill>
              </a:rPr>
              <a:t>"</a:t>
            </a:r>
            <a:r>
              <a:rPr lang="en-US" altLang="en-US" sz="1100" b="1" dirty="0" smtClean="0">
                <a:solidFill>
                  <a:srgbClr val="7030A0"/>
                </a:solidFill>
                <a:latin typeface="Lucida Console" panose="020B0609040504020204" pitchFamily="49" charset="0"/>
              </a:rPr>
              <a:t> </a:t>
            </a:r>
            <a:r>
              <a:rPr lang="en-US" altLang="en-US" sz="2800" dirty="0" smtClean="0">
                <a:solidFill>
                  <a:sysClr val="windowText" lastClr="000000"/>
                </a:solidFill>
              </a:rPr>
              <a:t>at the end of lines that continue:</a:t>
            </a:r>
            <a:endParaRPr lang="en-US" altLang="en-US" sz="2800" dirty="0">
              <a:solidFill>
                <a:sysClr val="windowText" lastClr="000000"/>
              </a:solidFill>
            </a:endParaRPr>
          </a:p>
          <a:p>
            <a:pPr marL="457200" lvl="1" indent="-457200">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a</a:t>
            </a:r>
            <a:r>
              <a:rPr lang="en-US" altLang="en-US" sz="2100" b="1" dirty="0" smtClean="0">
                <a:solidFill>
                  <a:srgbClr val="00B0F0"/>
                </a:solidFill>
                <a:latin typeface="Lucida Console" panose="020B0609040504020204" pitchFamily="49" charset="0"/>
              </a:rPr>
              <a:t>\</a:t>
            </a:r>
            <a:endParaRPr lang="en-US" altLang="en-US" sz="2100" b="1" dirty="0">
              <a:solidFill>
                <a:srgbClr val="00B0F0"/>
              </a:solidFill>
              <a:latin typeface="Lucida Console" panose="020B0609040504020204" pitchFamily="49" charset="0"/>
            </a:endParaRPr>
          </a:p>
          <a:p>
            <a:pPr marL="457200" lvl="1" indent="-457200">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a:t>
            </a:r>
            <a:r>
              <a:rPr lang="en-US" altLang="en-US" sz="2100" b="1" dirty="0" smtClean="0">
                <a:solidFill>
                  <a:srgbClr val="00B0F0"/>
                </a:solidFill>
                <a:latin typeface="Lucida Console" panose="020B0609040504020204" pitchFamily="49" charset="0"/>
              </a:rPr>
              <a:t>\</a:t>
            </a:r>
            <a:endParaRPr lang="en-US" altLang="en-US" sz="2100" b="1" dirty="0">
              <a:solidFill>
                <a:srgbClr val="00B0F0"/>
              </a:solidFill>
              <a:latin typeface="Lucida Console" panose="020B0609040504020204" pitchFamily="49" charset="0"/>
            </a:endParaRPr>
          </a:p>
          <a:p>
            <a:pPr marL="457200" lvl="1" indent="-457200">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1</a:t>
            </a:r>
            <a:endParaRPr lang="en-US" altLang="en-US" sz="2100" dirty="0" smtClean="0">
              <a:solidFill>
                <a:schemeClr val="bg1">
                  <a:lumMod val="65000"/>
                </a:schemeClr>
              </a:solidFill>
              <a:latin typeface="Lucida Console" panose="020B0609040504020204" pitchFamily="49" charset="0"/>
            </a:endParaRPr>
          </a:p>
          <a:p>
            <a:pPr marL="457200" lvl="1" indent="0">
              <a:spcBef>
                <a:spcPts val="0"/>
              </a:spcBef>
              <a:buNone/>
            </a:pPr>
            <a:endParaRPr lang="en-US" altLang="en-US" sz="2100" dirty="0" smtClean="0">
              <a:solidFill>
                <a:sysClr val="windowText" lastClr="000000"/>
              </a:solidFill>
              <a:latin typeface="Lucida Console" panose="020B0609040504020204" pitchFamily="49" charset="0"/>
            </a:endParaRPr>
          </a:p>
          <a:p>
            <a:pPr marL="796925" lvl="2" indent="-227013">
              <a:spcBef>
                <a:spcPts val="0"/>
              </a:spcBef>
            </a:pPr>
            <a:r>
              <a:rPr lang="en-US" altLang="en-US" sz="2900" dirty="0" smtClean="0">
                <a:solidFill>
                  <a:sysClr val="windowText" lastClr="000000"/>
                </a:solidFill>
              </a:rPr>
              <a:t>Except for</a:t>
            </a:r>
            <a:r>
              <a:rPr lang="en-US" altLang="en-US" sz="2800" dirty="0" smtClean="0">
                <a:solidFill>
                  <a:sysClr val="windowText" lastClr="000000"/>
                </a:solidFill>
              </a:rPr>
              <a:t> </a:t>
            </a:r>
            <a:r>
              <a:rPr lang="en-US" altLang="en-US" sz="2800" dirty="0">
                <a:solidFill>
                  <a:sysClr val="windowText" lastClr="000000"/>
                </a:solidFill>
              </a:rPr>
              <a:t>n</a:t>
            </a:r>
            <a:r>
              <a:rPr lang="en-US" altLang="en-US" sz="2800" dirty="0" smtClean="0">
                <a:solidFill>
                  <a:sysClr val="windowText" lastClr="000000"/>
                </a:solidFill>
              </a:rPr>
              <a:t>ewlines inside of </a:t>
            </a:r>
            <a:r>
              <a:rPr lang="en-US" altLang="en-US" sz="2800" dirty="0" smtClean="0">
                <a:solidFill>
                  <a:srgbClr val="B48900"/>
                </a:solidFill>
              </a:rPr>
              <a:t>[</a:t>
            </a:r>
            <a:r>
              <a:rPr lang="en-US" altLang="en-US" sz="2800" dirty="0" smtClean="0">
                <a:solidFill>
                  <a:srgbClr val="FFC91D"/>
                </a:solidFill>
              </a:rPr>
              <a:t>…</a:t>
            </a:r>
            <a:r>
              <a:rPr lang="en-US" altLang="en-US" sz="2800" dirty="0" smtClean="0">
                <a:solidFill>
                  <a:srgbClr val="B48900"/>
                </a:solidFill>
              </a:rPr>
              <a:t>]</a:t>
            </a:r>
            <a:r>
              <a:rPr lang="en-US" altLang="en-US" sz="2800" dirty="0" smtClean="0">
                <a:solidFill>
                  <a:sysClr val="windowText" lastClr="000000"/>
                </a:solidFill>
              </a:rPr>
              <a:t>, </a:t>
            </a:r>
            <a:r>
              <a:rPr lang="en-US" altLang="en-US" sz="2800" dirty="0" smtClean="0">
                <a:solidFill>
                  <a:srgbClr val="B48900"/>
                </a:solidFill>
              </a:rPr>
              <a:t>{</a:t>
            </a:r>
            <a:r>
              <a:rPr lang="en-US" altLang="en-US" sz="2800" dirty="0" smtClean="0">
                <a:solidFill>
                  <a:srgbClr val="FFC000"/>
                </a:solidFill>
              </a:rPr>
              <a:t>…</a:t>
            </a:r>
            <a:r>
              <a:rPr lang="en-US" altLang="en-US" sz="2800" dirty="0" smtClean="0">
                <a:solidFill>
                  <a:srgbClr val="B48900"/>
                </a:solidFill>
              </a:rPr>
              <a:t>}</a:t>
            </a:r>
            <a:r>
              <a:rPr lang="en-US" altLang="en-US" sz="2800" dirty="0" smtClean="0">
                <a:solidFill>
                  <a:sysClr val="windowText" lastClr="000000"/>
                </a:solidFill>
              </a:rPr>
              <a:t>, </a:t>
            </a:r>
            <a:r>
              <a:rPr lang="en-US" altLang="en-US" sz="2800" dirty="0" smtClean="0">
                <a:solidFill>
                  <a:srgbClr val="B48900"/>
                </a:solidFill>
              </a:rPr>
              <a:t>(</a:t>
            </a:r>
            <a:r>
              <a:rPr lang="en-US" altLang="en-US" sz="2800" dirty="0" smtClean="0">
                <a:solidFill>
                  <a:srgbClr val="FFC000"/>
                </a:solidFill>
              </a:rPr>
              <a:t>…</a:t>
            </a:r>
            <a:r>
              <a:rPr lang="en-US" altLang="en-US" sz="2800" dirty="0" smtClean="0">
                <a:solidFill>
                  <a:srgbClr val="B48900"/>
                </a:solidFill>
              </a:rPr>
              <a:t>)</a:t>
            </a:r>
            <a:r>
              <a:rPr lang="en-US" altLang="en-US" sz="2800" dirty="0" smtClean="0">
                <a:solidFill>
                  <a:sysClr val="windowText" lastClr="000000"/>
                </a:solidFill>
              </a:rPr>
              <a:t>, or </a:t>
            </a:r>
            <a:r>
              <a:rPr lang="en-US" altLang="en-US" sz="2800" dirty="0" smtClean="0">
                <a:solidFill>
                  <a:srgbClr val="B48900"/>
                </a:solidFill>
              </a:rPr>
              <a:t>'''</a:t>
            </a:r>
            <a:r>
              <a:rPr lang="en-US" altLang="en-US" sz="2800" dirty="0" smtClean="0">
                <a:solidFill>
                  <a:srgbClr val="FFC000"/>
                </a:solidFill>
              </a:rPr>
              <a:t>…</a:t>
            </a:r>
            <a:r>
              <a:rPr lang="en-US" altLang="en-US" sz="2800" dirty="0" smtClean="0">
                <a:solidFill>
                  <a:srgbClr val="B48900"/>
                </a:solidFill>
              </a:rPr>
              <a:t>'''</a:t>
            </a:r>
            <a:r>
              <a:rPr lang="en-US" altLang="en-US" sz="2800" dirty="0" smtClean="0">
                <a:solidFill>
                  <a:sysClr val="windowText" lastClr="000000"/>
                </a:solidFill>
              </a:rPr>
              <a:t>/</a:t>
            </a:r>
            <a:r>
              <a:rPr lang="en-US" altLang="en-US" sz="2800" dirty="0" smtClean="0">
                <a:solidFill>
                  <a:srgbClr val="B48900"/>
                </a:solidFill>
              </a:rPr>
              <a:t>"""</a:t>
            </a:r>
            <a:r>
              <a:rPr lang="en-US" altLang="en-US" sz="2800" dirty="0" smtClean="0">
                <a:solidFill>
                  <a:srgbClr val="FFC000"/>
                </a:solidFill>
              </a:rPr>
              <a:t>…</a:t>
            </a:r>
            <a:r>
              <a:rPr lang="en-US" altLang="en-US" sz="2800" dirty="0" smtClean="0">
                <a:solidFill>
                  <a:srgbClr val="B48900"/>
                </a:solidFill>
              </a:rPr>
              <a:t>"""</a:t>
            </a:r>
            <a:r>
              <a:rPr lang="en-US" altLang="en-US" sz="2800" dirty="0" smtClean="0">
                <a:solidFill>
                  <a:sysClr val="windowText" lastClr="000000"/>
                </a:solidFill>
              </a:rPr>
              <a:t>:</a:t>
            </a:r>
            <a:endParaRPr lang="en-US" altLang="en-US" sz="2800" dirty="0">
              <a:solidFill>
                <a:sysClr val="windowText" lastClr="000000"/>
              </a:solidFill>
            </a:endParaRPr>
          </a:p>
          <a:p>
            <a:pPr marL="457200" lvl="1" indent="-53975">
              <a:spcBef>
                <a:spcPts val="0"/>
              </a:spcBef>
              <a:buNone/>
            </a:pPr>
            <a:r>
              <a:rPr lang="en-US" altLang="en-US" sz="2800" dirty="0">
                <a:solidFill>
                  <a:sysClr val="windowText" lastClr="000000"/>
                </a:solidFill>
              </a:rPr>
              <a:t>	</a:t>
            </a: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a= </a:t>
            </a:r>
            <a:r>
              <a:rPr lang="en-US" altLang="en-US" sz="2100" b="1" dirty="0" smtClean="0">
                <a:solidFill>
                  <a:srgbClr val="B48900"/>
                </a:solidFill>
                <a:latin typeface="Lucida Console" panose="020B0609040504020204" pitchFamily="49" charset="0"/>
              </a:rPr>
              <a:t>[</a:t>
            </a:r>
            <a:r>
              <a:rPr lang="en-US" altLang="en-US" sz="2100" dirty="0" smtClean="0">
                <a:solidFill>
                  <a:srgbClr val="FFC000"/>
                </a:solidFill>
                <a:latin typeface="Lucida Console" panose="020B0609040504020204" pitchFamily="49" charset="0"/>
              </a:rPr>
              <a:t>1, 2,</a:t>
            </a:r>
            <a:endParaRPr lang="en-US" altLang="en-US" sz="2100" b="1" dirty="0" smtClean="0">
              <a:solidFill>
                <a:srgbClr val="FFC000"/>
              </a:solidFill>
              <a:latin typeface="Lucida Console" panose="020B0609040504020204" pitchFamily="49" charset="0"/>
            </a:endParaRPr>
          </a:p>
          <a:p>
            <a:pPr marL="457200" lvl="1" indent="-53975">
              <a:spcBef>
                <a:spcPts val="0"/>
              </a:spcBef>
              <a:buNone/>
            </a:pPr>
            <a:r>
              <a:rPr lang="en-US" altLang="en-US" sz="2100" b="1" dirty="0">
                <a:solidFill>
                  <a:srgbClr val="FFC000"/>
                </a:solidFill>
                <a:latin typeface="Lucida Console" panose="020B0609040504020204" pitchFamily="49" charset="0"/>
              </a:rPr>
              <a:t>	</a:t>
            </a:r>
            <a:r>
              <a:rPr lang="en-US" altLang="en-US" sz="2100" b="1" dirty="0" smtClean="0">
                <a:solidFill>
                  <a:srgbClr val="FFC000"/>
                </a:solidFill>
                <a:latin typeface="Lucida Console" panose="020B0609040504020204" pitchFamily="49" charset="0"/>
              </a:rPr>
              <a:t>	</a:t>
            </a:r>
            <a:r>
              <a:rPr lang="en-US" altLang="en-US" sz="2100" dirty="0" smtClean="0">
                <a:solidFill>
                  <a:srgbClr val="FFC000"/>
                </a:solidFill>
                <a:latin typeface="Lucida Console" panose="020B0609040504020204" pitchFamily="49" charset="0"/>
              </a:rPr>
              <a:t>     3, 4</a:t>
            </a:r>
            <a:r>
              <a:rPr lang="en-US" altLang="en-US" sz="2100" b="1" dirty="0" smtClean="0">
                <a:solidFill>
                  <a:srgbClr val="B48900"/>
                </a:solidFill>
                <a:latin typeface="Lucida Console" panose="020B0609040504020204" pitchFamily="49" charset="0"/>
              </a:rPr>
              <a:t>]</a:t>
            </a:r>
            <a:endParaRPr lang="en-US" altLang="en-US" sz="2100" b="1" dirty="0">
              <a:solidFill>
                <a:srgbClr val="B48900"/>
              </a:solidFill>
              <a:latin typeface="Lucida Console" panose="020B0609040504020204" pitchFamily="49" charset="0"/>
            </a:endParaRPr>
          </a:p>
          <a:p>
            <a:pPr marL="457200" lvl="1" indent="-457200">
              <a:spcBef>
                <a:spcPts val="0"/>
              </a:spcBef>
              <a:buNone/>
            </a:pPr>
            <a:r>
              <a:rPr lang="en-US" altLang="en-US" sz="2100" dirty="0">
                <a:solidFill>
                  <a:sysClr val="windowText" lastClr="000000"/>
                </a:solidFill>
                <a:latin typeface="Lucida Console" panose="020B0609040504020204" pitchFamily="49" charset="0"/>
              </a:rPr>
              <a:t>	</a:t>
            </a:r>
            <a:r>
              <a:rPr lang="en-US" altLang="en-US" sz="2100" dirty="0" smtClean="0">
                <a:solidFill>
                  <a:sysClr val="windowText" lastClr="000000"/>
                </a:solidFill>
                <a:latin typeface="Lucida Console" panose="020B0609040504020204" pitchFamily="49" charset="0"/>
              </a:rPr>
              <a:t>	 b= </a:t>
            </a:r>
            <a:r>
              <a:rPr lang="en-US" altLang="en-US" sz="2100" b="1" dirty="0" smtClean="0">
                <a:solidFill>
                  <a:srgbClr val="B48900"/>
                </a:solidFill>
                <a:latin typeface="Lucida Console" panose="020B0609040504020204" pitchFamily="49" charset="0"/>
              </a:rPr>
              <a:t>'''</a:t>
            </a:r>
            <a:r>
              <a:rPr lang="en-US" altLang="en-US" sz="2100" dirty="0" smtClean="0">
                <a:solidFill>
                  <a:srgbClr val="FFC000"/>
                </a:solidFill>
                <a:latin typeface="Lucida Console" panose="020B0609040504020204" pitchFamily="49" charset="0"/>
              </a:rPr>
              <a:t>A</a:t>
            </a:r>
            <a:r>
              <a:rPr lang="en-US" altLang="en-US" sz="2100" dirty="0" smtClean="0">
                <a:solidFill>
                  <a:srgbClr val="FFE48F"/>
                </a:solidFill>
                <a:latin typeface="Lucida Console" panose="020B0609040504020204" pitchFamily="49" charset="0"/>
              </a:rPr>
              <a:t> </a:t>
            </a:r>
            <a:r>
              <a:rPr lang="en-US" altLang="en-US" sz="2100" dirty="0" smtClean="0">
                <a:solidFill>
                  <a:srgbClr val="FFC000"/>
                </a:solidFill>
                <a:latin typeface="Lucida Console" panose="020B0609040504020204" pitchFamily="49" charset="0"/>
              </a:rPr>
              <a:t>multiline</a:t>
            </a:r>
            <a:br>
              <a:rPr lang="en-US" altLang="en-US" sz="2100" dirty="0" smtClean="0">
                <a:solidFill>
                  <a:srgbClr val="FFC000"/>
                </a:solidFill>
                <a:latin typeface="Lucida Console" panose="020B0609040504020204" pitchFamily="49" charset="0"/>
              </a:rPr>
            </a:br>
            <a:r>
              <a:rPr lang="en-US" altLang="en-US" sz="2100" dirty="0" smtClean="0">
                <a:solidFill>
                  <a:srgbClr val="FFC000"/>
                </a:solidFill>
                <a:latin typeface="Lucida Console" panose="020B0609040504020204" pitchFamily="49" charset="0"/>
              </a:rPr>
              <a:t>    string</a:t>
            </a:r>
            <a:r>
              <a:rPr lang="en-US" altLang="en-US" sz="2100" b="1" dirty="0" smtClean="0">
                <a:solidFill>
                  <a:srgbClr val="B48900"/>
                </a:solidFill>
                <a:latin typeface="Lucida Console" panose="020B0609040504020204" pitchFamily="49" charset="0"/>
              </a:rPr>
              <a:t>'''</a:t>
            </a:r>
            <a:endParaRPr lang="en-US" altLang="en-US" sz="2100" b="1" dirty="0">
              <a:solidFill>
                <a:srgbClr val="B48900"/>
              </a:solidFill>
              <a:latin typeface="Lucida Console" panose="020B0609040504020204" pitchFamily="49" charset="0"/>
            </a:endParaRPr>
          </a:p>
        </p:txBody>
      </p:sp>
      <p:grpSp>
        <p:nvGrpSpPr>
          <p:cNvPr id="11" name="Group 10"/>
          <p:cNvGrpSpPr/>
          <p:nvPr/>
        </p:nvGrpSpPr>
        <p:grpSpPr>
          <a:xfrm>
            <a:off x="0" y="-21265"/>
            <a:ext cx="9729788" cy="1676882"/>
            <a:chOff x="0" y="-21265"/>
            <a:chExt cx="9729788" cy="1676882"/>
          </a:xfrm>
        </p:grpSpPr>
        <p:sp>
          <p:nvSpPr>
            <p:cNvPr id="6" name="Title 1"/>
            <p:cNvSpPr txBox="1">
              <a:spLocks/>
            </p:cNvSpPr>
            <p:nvPr/>
          </p:nvSpPr>
          <p:spPr>
            <a:xfrm>
              <a:off x="0" y="0"/>
              <a:ext cx="9729788" cy="16556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lvl="0">
                <a:defRPr/>
              </a:pPr>
              <a:r>
                <a:rPr lang="en-US" spc="40" dirty="0">
                  <a:solidFill>
                    <a:schemeClr val="bg1"/>
                  </a:solidFill>
                </a:rPr>
                <a:t>Comparing Python to </a:t>
              </a:r>
              <a:r>
                <a:rPr lang="en-US" spc="40" dirty="0" smtClean="0">
                  <a:solidFill>
                    <a:schemeClr val="bg1"/>
                  </a:solidFill>
                </a:rPr>
                <a:t>C</a:t>
              </a:r>
            </a:p>
            <a:p>
              <a:pPr lvl="0">
                <a:defRPr/>
              </a:pPr>
              <a:endParaRPr lang="en-US" sz="200" spc="40" dirty="0" smtClean="0">
                <a:solidFill>
                  <a:srgbClr val="0070C0"/>
                </a:solidFill>
              </a:endParaRPr>
            </a:p>
            <a:p>
              <a:pPr lvl="0">
                <a:lnSpc>
                  <a:spcPct val="100000"/>
                </a:lnSpc>
                <a:defRPr/>
              </a:pPr>
              <a:r>
                <a:rPr lang="en-US" spc="40" dirty="0" smtClean="0">
                  <a:solidFill>
                    <a:srgbClr val="00B0F0"/>
                  </a:solidFill>
                </a:rPr>
                <a:t>multi-line statements</a:t>
              </a:r>
              <a:endParaRPr lang="en-US" spc="40" dirty="0">
                <a:solidFill>
                  <a:srgbClr val="00B0F0"/>
                </a:solidFill>
              </a:endParaRPr>
            </a:p>
          </p:txBody>
        </p:sp>
        <p:sp>
          <p:nvSpPr>
            <p:cNvPr id="10" name="Title 1"/>
            <p:cNvSpPr txBox="1">
              <a:spLocks/>
            </p:cNvSpPr>
            <p:nvPr/>
          </p:nvSpPr>
          <p:spPr>
            <a:xfrm>
              <a:off x="0" y="-21265"/>
              <a:ext cx="9729787" cy="101988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40" normalizeH="0" noProof="0" dirty="0" smtClean="0">
                  <a:ln>
                    <a:noFill/>
                  </a:ln>
                  <a:solidFill>
                    <a:srgbClr val="0070C0"/>
                  </a:solidFill>
                  <a:effectLst/>
                  <a:uLnTx/>
                  <a:uFillTx/>
                  <a:latin typeface="Elephant" panose="02020904090505020303" pitchFamily="18" charset="0"/>
                  <a:ea typeface="+mj-ea"/>
                  <a:cs typeface="+mj-cs"/>
                </a:rPr>
                <a:t>Comparing Python to C</a:t>
              </a:r>
              <a:endParaRPr kumimoji="0" lang="en-US" sz="4400" b="0" i="0" u="none" strike="noStrike" kern="1200" cap="none" spc="40" normalizeH="0" noProof="0" dirty="0">
                <a:ln>
                  <a:noFill/>
                </a:ln>
                <a:solidFill>
                  <a:srgbClr val="FF0000"/>
                </a:solidFill>
                <a:effectLst/>
                <a:uLnTx/>
                <a:uFillTx/>
                <a:latin typeface="Elephant" panose="02020904090505020303" pitchFamily="18" charset="0"/>
                <a:ea typeface="+mj-ea"/>
                <a:cs typeface="+mj-cs"/>
              </a:endParaRPr>
            </a:p>
          </p:txBody>
        </p:sp>
      </p:grpSp>
    </p:spTree>
    <p:extLst>
      <p:ext uri="{BB962C8B-B14F-4D97-AF65-F5344CB8AC3E}">
        <p14:creationId xmlns:p14="http://schemas.microsoft.com/office/powerpoint/2010/main" val="254930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xEl>
                                              <p:pRg st="11" end="11"/>
                                            </p:txEl>
                                          </p:spTgt>
                                        </p:tgtEl>
                                        <p:attrNameLst>
                                          <p:attrName>style.visibility</p:attrName>
                                        </p:attrNameLst>
                                      </p:cBhvr>
                                      <p:to>
                                        <p:strVal val="visible"/>
                                      </p:to>
                                    </p:set>
                                    <p:animEffect transition="in" filter="randombar(horizontal)">
                                      <p:cBhvr>
                                        <p:cTn id="7" dur="500"/>
                                        <p:tgtEl>
                                          <p:spTgt spid="16">
                                            <p:txEl>
                                              <p:pRg st="11" end="1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6">
                                            <p:txEl>
                                              <p:pRg st="12" end="12"/>
                                            </p:txEl>
                                          </p:spTgt>
                                        </p:tgtEl>
                                        <p:attrNameLst>
                                          <p:attrName>style.visibility</p:attrName>
                                        </p:attrNameLst>
                                      </p:cBhvr>
                                      <p:to>
                                        <p:strVal val="visible"/>
                                      </p:to>
                                    </p:set>
                                    <p:animEffect transition="in" filter="randombar(horizontal)">
                                      <p:cBhvr>
                                        <p:cTn id="10" dur="500"/>
                                        <p:tgtEl>
                                          <p:spTgt spid="16">
                                            <p:txEl>
                                              <p:pRg st="12" end="1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16">
                                            <p:txEl>
                                              <p:pRg st="13" end="13"/>
                                            </p:txEl>
                                          </p:spTgt>
                                        </p:tgtEl>
                                        <p:attrNameLst>
                                          <p:attrName>style.visibility</p:attrName>
                                        </p:attrNameLst>
                                      </p:cBhvr>
                                      <p:to>
                                        <p:strVal val="visible"/>
                                      </p:to>
                                    </p:set>
                                    <p:animEffect transition="in" filter="randombar(horizontal)">
                                      <p:cBhvr>
                                        <p:cTn id="13" dur="500"/>
                                        <p:tgtEl>
                                          <p:spTgt spid="16">
                                            <p:txEl>
                                              <p:pRg st="13" end="1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16">
                                            <p:txEl>
                                              <p:pRg st="14" end="14"/>
                                            </p:txEl>
                                          </p:spTgt>
                                        </p:tgtEl>
                                        <p:attrNameLst>
                                          <p:attrName>style.visibility</p:attrName>
                                        </p:attrNameLst>
                                      </p:cBhvr>
                                      <p:to>
                                        <p:strVal val="visible"/>
                                      </p:to>
                                    </p:set>
                                    <p:animEffect transition="in" filter="randombar(horizontal)">
                                      <p:cBhvr>
                                        <p:cTn id="16" dur="500"/>
                                        <p:tgtEl>
                                          <p:spTgt spid="1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0" y="1499616"/>
            <a:ext cx="9729787" cy="53060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4488" lvl="1" indent="-227013">
              <a:lnSpc>
                <a:spcPct val="110000"/>
              </a:lnSpc>
              <a:spcBef>
                <a:spcPts val="0"/>
              </a:spcBef>
            </a:pPr>
            <a:r>
              <a:rPr lang="en-US" altLang="en-US" sz="2800" dirty="0" smtClean="0">
                <a:solidFill>
                  <a:sysClr val="windowText" lastClr="000000"/>
                </a:solidFill>
              </a:rPr>
              <a:t>C and Python both have roughly the same rules:</a:t>
            </a:r>
          </a:p>
          <a:p>
            <a:pPr marL="628650" lvl="2" indent="-225425">
              <a:lnSpc>
                <a:spcPct val="110000"/>
              </a:lnSpc>
              <a:spcBef>
                <a:spcPts val="0"/>
              </a:spcBef>
            </a:pPr>
            <a:r>
              <a:rPr lang="en-US" altLang="en-US" sz="2400" dirty="0" smtClean="0">
                <a:solidFill>
                  <a:sysClr val="windowText" lastClr="000000"/>
                </a:solidFill>
              </a:rPr>
              <a:t>The first character must be a</a:t>
            </a:r>
            <a:r>
              <a:rPr lang="en-US" altLang="en-US" sz="2400" dirty="0" smtClean="0">
                <a:solidFill>
                  <a:srgbClr val="996633"/>
                </a:solidFill>
              </a:rPr>
              <a:t> </a:t>
            </a:r>
            <a:r>
              <a:rPr lang="en-US" altLang="en-US" sz="2400" b="1" dirty="0" smtClean="0">
                <a:solidFill>
                  <a:srgbClr val="996633"/>
                </a:solidFill>
              </a:rPr>
              <a:t>letter</a:t>
            </a:r>
            <a:r>
              <a:rPr lang="en-US" altLang="en-US" sz="2400" dirty="0" smtClean="0">
                <a:solidFill>
                  <a:sysClr val="windowText" lastClr="000000"/>
                </a:solidFill>
              </a:rPr>
              <a:t> or an </a:t>
            </a:r>
            <a:r>
              <a:rPr lang="en-US" altLang="en-US" sz="2400" b="1" dirty="0" smtClean="0">
                <a:solidFill>
                  <a:srgbClr val="996633"/>
                </a:solidFill>
              </a:rPr>
              <a:t>underscore</a:t>
            </a:r>
            <a:r>
              <a:rPr lang="en-US" altLang="en-US" sz="2400" dirty="0" smtClean="0">
                <a:solidFill>
                  <a:sysClr val="windowText" lastClr="000000"/>
                </a:solidFill>
              </a:rPr>
              <a:t> (</a:t>
            </a:r>
            <a:r>
              <a:rPr lang="en-US" altLang="en-US" sz="2400" b="1" dirty="0" smtClean="0">
                <a:solidFill>
                  <a:srgbClr val="996633"/>
                </a:solidFill>
                <a:latin typeface="Bahnschrift" panose="020B0502040204020203" pitchFamily="34" charset="0"/>
              </a:rPr>
              <a:t>_</a:t>
            </a:r>
            <a:r>
              <a:rPr lang="en-US" altLang="en-US" sz="2400" dirty="0" smtClean="0">
                <a:solidFill>
                  <a:sysClr val="windowText" lastClr="000000"/>
                </a:solidFill>
              </a:rPr>
              <a:t>).</a:t>
            </a:r>
          </a:p>
          <a:p>
            <a:pPr marL="628650" lvl="2" indent="-225425">
              <a:lnSpc>
                <a:spcPct val="110000"/>
              </a:lnSpc>
              <a:spcBef>
                <a:spcPts val="0"/>
              </a:spcBef>
            </a:pPr>
            <a:r>
              <a:rPr lang="en-US" altLang="en-US" sz="2400" dirty="0" smtClean="0">
                <a:solidFill>
                  <a:sysClr val="windowText" lastClr="000000"/>
                </a:solidFill>
              </a:rPr>
              <a:t>Additional characters may be </a:t>
            </a:r>
            <a:r>
              <a:rPr lang="en-US" altLang="en-US" sz="2400" b="1" dirty="0" smtClean="0">
                <a:solidFill>
                  <a:srgbClr val="996633"/>
                </a:solidFill>
              </a:rPr>
              <a:t>letters</a:t>
            </a:r>
            <a:r>
              <a:rPr lang="en-US" altLang="en-US" sz="2400" dirty="0" smtClean="0">
                <a:solidFill>
                  <a:sysClr val="windowText" lastClr="000000"/>
                </a:solidFill>
              </a:rPr>
              <a:t>, </a:t>
            </a:r>
            <a:r>
              <a:rPr lang="en-US" altLang="en-US" sz="2400" b="1" dirty="0" smtClean="0">
                <a:solidFill>
                  <a:srgbClr val="996633"/>
                </a:solidFill>
              </a:rPr>
              <a:t>numbers</a:t>
            </a:r>
            <a:r>
              <a:rPr lang="en-US" altLang="en-US" sz="2400" dirty="0" smtClean="0">
                <a:solidFill>
                  <a:sysClr val="windowText" lastClr="000000"/>
                </a:solidFill>
              </a:rPr>
              <a:t> or </a:t>
            </a:r>
            <a:r>
              <a:rPr lang="en-US" altLang="en-US" sz="2400" b="1" dirty="0" smtClean="0">
                <a:solidFill>
                  <a:srgbClr val="996633"/>
                </a:solidFill>
              </a:rPr>
              <a:t>underscores</a:t>
            </a:r>
            <a:r>
              <a:rPr lang="en-US" altLang="en-US" sz="2400" dirty="0" smtClean="0">
                <a:solidFill>
                  <a:sysClr val="windowText" lastClr="000000"/>
                </a:solidFill>
              </a:rPr>
              <a:t>.</a:t>
            </a:r>
          </a:p>
          <a:p>
            <a:pPr marL="628650" lvl="2" indent="-225425">
              <a:lnSpc>
                <a:spcPct val="110000"/>
              </a:lnSpc>
              <a:spcBef>
                <a:spcPts val="0"/>
              </a:spcBef>
            </a:pPr>
            <a:r>
              <a:rPr lang="en-US" altLang="en-US" sz="2400" dirty="0" smtClean="0">
                <a:solidFill>
                  <a:sysClr val="windowText" lastClr="000000"/>
                </a:solidFill>
              </a:rPr>
              <a:t>Letters are </a:t>
            </a:r>
            <a:r>
              <a:rPr lang="en-US" altLang="en-US" sz="2400" b="1" dirty="0" smtClean="0">
                <a:solidFill>
                  <a:srgbClr val="996633"/>
                </a:solidFill>
              </a:rPr>
              <a:t>case-sensitive</a:t>
            </a:r>
            <a:r>
              <a:rPr lang="en-US" altLang="en-US" sz="2400" dirty="0" smtClean="0">
                <a:solidFill>
                  <a:sysClr val="windowText" lastClr="000000"/>
                </a:solidFill>
              </a:rPr>
              <a:t> (</a:t>
            </a:r>
            <a:r>
              <a:rPr lang="zh-TW" altLang="en-US" sz="2300" dirty="0">
                <a:solidFill>
                  <a:sysClr val="windowText" lastClr="000000"/>
                </a:solidFill>
              </a:rPr>
              <a:t>大小寫有區別</a:t>
            </a:r>
            <a:r>
              <a:rPr lang="en-US" altLang="en-US" sz="2400" dirty="0" smtClean="0">
                <a:solidFill>
                  <a:sysClr val="windowText" lastClr="000000"/>
                </a:solidFill>
              </a:rPr>
              <a:t>).</a:t>
            </a:r>
          </a:p>
          <a:p>
            <a:pPr marL="628650" lvl="2" indent="-225425">
              <a:lnSpc>
                <a:spcPct val="110000"/>
              </a:lnSpc>
              <a:spcBef>
                <a:spcPts val="0"/>
              </a:spcBef>
            </a:pPr>
            <a:r>
              <a:rPr lang="en-US" altLang="en-US" sz="2400" dirty="0" smtClean="0">
                <a:solidFill>
                  <a:sysClr val="windowText" lastClr="000000"/>
                </a:solidFill>
              </a:rPr>
              <a:t>Language </a:t>
            </a:r>
            <a:r>
              <a:rPr lang="en-US" altLang="en-US" sz="2400" b="1" dirty="0">
                <a:solidFill>
                  <a:srgbClr val="996633"/>
                </a:solidFill>
              </a:rPr>
              <a:t>keywords </a:t>
            </a:r>
            <a:r>
              <a:rPr lang="en-US" altLang="en-US" sz="2400" b="1" dirty="0" smtClean="0">
                <a:solidFill>
                  <a:srgbClr val="996633"/>
                </a:solidFill>
              </a:rPr>
              <a:t>can’t </a:t>
            </a:r>
            <a:r>
              <a:rPr lang="en-US" altLang="en-US" sz="2400" b="1" dirty="0">
                <a:solidFill>
                  <a:srgbClr val="996633"/>
                </a:solidFill>
              </a:rPr>
              <a:t>be used</a:t>
            </a:r>
            <a:r>
              <a:rPr lang="en-US" altLang="en-US" sz="2400" b="1" dirty="0">
                <a:solidFill>
                  <a:sysClr val="windowText" lastClr="000000"/>
                </a:solidFill>
              </a:rPr>
              <a:t> </a:t>
            </a:r>
            <a:r>
              <a:rPr lang="en-US" altLang="en-US" sz="2400" dirty="0">
                <a:solidFill>
                  <a:sysClr val="windowText" lastClr="000000"/>
                </a:solidFill>
              </a:rPr>
              <a:t>as variable </a:t>
            </a:r>
            <a:r>
              <a:rPr lang="en-US" altLang="en-US" sz="2400" dirty="0" smtClean="0">
                <a:solidFill>
                  <a:sysClr val="windowText" lastClr="000000"/>
                </a:solidFill>
              </a:rPr>
              <a:t>names (</a:t>
            </a:r>
            <a:r>
              <a:rPr lang="en-US" altLang="en-US" sz="2400" dirty="0" err="1" smtClean="0">
                <a:solidFill>
                  <a:sysClr val="windowText" lastClr="000000"/>
                </a:solidFill>
              </a:rPr>
              <a:t>eg</a:t>
            </a:r>
            <a:r>
              <a:rPr lang="en-US" altLang="en-US" sz="2400" dirty="0" smtClean="0">
                <a:solidFill>
                  <a:sysClr val="windowText" lastClr="000000"/>
                </a:solidFill>
              </a:rPr>
              <a:t>. </a:t>
            </a:r>
            <a:r>
              <a:rPr lang="en-US" altLang="en-US" sz="2400" spc="-200" dirty="0" smtClean="0">
                <a:solidFill>
                  <a:srgbClr val="FFC000"/>
                </a:solidFill>
                <a:latin typeface="Lucida Console" panose="020B0609040504020204" pitchFamily="49" charset="0"/>
              </a:rPr>
              <a:t>for</a:t>
            </a:r>
            <a:r>
              <a:rPr lang="en-US" altLang="en-US" sz="2400" spc="-200" dirty="0" smtClean="0">
                <a:solidFill>
                  <a:sysClr val="windowText" lastClr="000000"/>
                </a:solidFill>
              </a:rPr>
              <a:t>,</a:t>
            </a:r>
            <a:r>
              <a:rPr lang="en-US" altLang="en-US" sz="2400" dirty="0">
                <a:solidFill>
                  <a:sysClr val="windowText" lastClr="000000"/>
                </a:solidFill>
              </a:rPr>
              <a:t> </a:t>
            </a:r>
            <a:r>
              <a:rPr lang="en-US" altLang="en-US" sz="2400" spc="-200" dirty="0" smtClean="0">
                <a:solidFill>
                  <a:srgbClr val="FFC000"/>
                </a:solidFill>
                <a:latin typeface="Lucida Console" panose="020B0609040504020204" pitchFamily="49" charset="0"/>
              </a:rPr>
              <a:t>if</a:t>
            </a:r>
            <a:r>
              <a:rPr lang="en-US" altLang="en-US" sz="2400" dirty="0" smtClean="0">
                <a:solidFill>
                  <a:sysClr val="windowText" lastClr="000000"/>
                </a:solidFill>
              </a:rPr>
              <a:t>, </a:t>
            </a:r>
            <a:r>
              <a:rPr lang="en-US" altLang="en-US" sz="2400" dirty="0" err="1" smtClean="0">
                <a:solidFill>
                  <a:sysClr val="windowText" lastClr="000000"/>
                </a:solidFill>
              </a:rPr>
              <a:t>etc</a:t>
            </a:r>
            <a:r>
              <a:rPr lang="en-US" altLang="en-US" sz="2400" dirty="0" smtClean="0">
                <a:solidFill>
                  <a:sysClr val="windowText" lastClr="000000"/>
                </a:solidFill>
              </a:rPr>
              <a:t>).</a:t>
            </a:r>
            <a:endParaRPr lang="en-US" altLang="en-US" sz="2400" dirty="0">
              <a:solidFill>
                <a:sysClr val="windowText" lastClr="000000"/>
              </a:solidFill>
            </a:endParaRPr>
          </a:p>
          <a:p>
            <a:pPr marL="574675" lvl="2" indent="0">
              <a:lnSpc>
                <a:spcPct val="110000"/>
              </a:lnSpc>
              <a:spcBef>
                <a:spcPts val="0"/>
              </a:spcBef>
              <a:buNone/>
            </a:pPr>
            <a:endParaRPr lang="en-US" altLang="en-US" sz="2100" dirty="0" smtClean="0">
              <a:latin typeface="Lucida Console" panose="020B0609040504020204" pitchFamily="49" charset="0"/>
            </a:endParaRPr>
          </a:p>
          <a:p>
            <a:pPr marL="457200" lvl="1" indent="-53975">
              <a:lnSpc>
                <a:spcPct val="110000"/>
              </a:lnSpc>
              <a:spcBef>
                <a:spcPts val="0"/>
              </a:spcBef>
              <a:buNone/>
            </a:pPr>
            <a:endParaRPr lang="en-US" altLang="en-US" sz="700" dirty="0">
              <a:solidFill>
                <a:sysClr val="windowText" lastClr="000000"/>
              </a:solidFill>
            </a:endParaRPr>
          </a:p>
          <a:p>
            <a:pPr marL="344488" lvl="1" indent="-227013">
              <a:spcBef>
                <a:spcPts val="0"/>
              </a:spcBef>
            </a:pPr>
            <a:r>
              <a:rPr lang="en-US" altLang="en-US" sz="2800" dirty="0" smtClean="0">
                <a:solidFill>
                  <a:sysClr val="windowText" lastClr="000000"/>
                </a:solidFill>
              </a:rPr>
              <a:t>Although Python has no other rules, it does suggest that you follow certain naming conventions (</a:t>
            </a:r>
            <a:r>
              <a:rPr lang="zh-TW" altLang="en-US" sz="2600" dirty="0">
                <a:solidFill>
                  <a:sysClr val="windowText" lastClr="000000"/>
                </a:solidFill>
              </a:rPr>
              <a:t>命名</a:t>
            </a:r>
            <a:r>
              <a:rPr lang="zh-TW" altLang="en-US" sz="2600" dirty="0" smtClean="0">
                <a:solidFill>
                  <a:sysClr val="windowText" lastClr="000000"/>
                </a:solidFill>
              </a:rPr>
              <a:t>慣例</a:t>
            </a:r>
            <a:r>
              <a:rPr lang="en-US" altLang="en-US" sz="2800" dirty="0" smtClean="0">
                <a:solidFill>
                  <a:sysClr val="windowText" lastClr="000000"/>
                </a:solidFill>
              </a:rPr>
              <a:t>):</a:t>
            </a:r>
          </a:p>
          <a:p>
            <a:pPr marL="628650" lvl="2" indent="-225425">
              <a:lnSpc>
                <a:spcPct val="110000"/>
              </a:lnSpc>
              <a:spcBef>
                <a:spcPts val="0"/>
              </a:spcBef>
            </a:pPr>
            <a:r>
              <a:rPr lang="en-US" altLang="en-US" sz="2400" spc="-40" dirty="0" smtClean="0">
                <a:solidFill>
                  <a:srgbClr val="FF0000"/>
                </a:solidFill>
              </a:rPr>
              <a:t>First</a:t>
            </a:r>
            <a:r>
              <a:rPr lang="en-US" altLang="en-US" sz="2400" spc="-40" dirty="0" smtClean="0">
                <a:solidFill>
                  <a:sysClr val="windowText" lastClr="000000"/>
                </a:solidFill>
              </a:rPr>
              <a:t> character is an </a:t>
            </a:r>
            <a:r>
              <a:rPr lang="en-US" altLang="en-US" sz="2400" spc="-40" dirty="0" smtClean="0">
                <a:solidFill>
                  <a:srgbClr val="FF0000"/>
                </a:solidFill>
              </a:rPr>
              <a:t>upper case (</a:t>
            </a:r>
            <a:r>
              <a:rPr lang="zh-TW" altLang="en-US" sz="2300" spc="-40" dirty="0">
                <a:solidFill>
                  <a:srgbClr val="FF0000"/>
                </a:solidFill>
              </a:rPr>
              <a:t>大寫</a:t>
            </a:r>
            <a:r>
              <a:rPr lang="en-US" altLang="en-US" sz="2400" spc="-40" dirty="0" smtClean="0">
                <a:solidFill>
                  <a:srgbClr val="FF0000"/>
                </a:solidFill>
              </a:rPr>
              <a:t>) </a:t>
            </a:r>
            <a:r>
              <a:rPr lang="en-US" altLang="en-US" sz="2400" spc="-40" dirty="0" smtClean="0">
                <a:solidFill>
                  <a:sysClr val="windowText" lastClr="000000"/>
                </a:solidFill>
              </a:rPr>
              <a:t>letter </a:t>
            </a:r>
            <a:r>
              <a:rPr lang="en-US" altLang="en-US" sz="2400" spc="-40" dirty="0">
                <a:solidFill>
                  <a:sysClr val="windowText" lastClr="000000"/>
                </a:solidFill>
              </a:rPr>
              <a:t>→ A </a:t>
            </a:r>
            <a:r>
              <a:rPr lang="en-US" altLang="en-US" sz="2400" spc="-40" dirty="0">
                <a:solidFill>
                  <a:srgbClr val="FF0000"/>
                </a:solidFill>
              </a:rPr>
              <a:t>class name</a:t>
            </a:r>
          </a:p>
          <a:p>
            <a:pPr marL="628650" lvl="2" indent="-225425">
              <a:lnSpc>
                <a:spcPct val="110000"/>
              </a:lnSpc>
              <a:spcBef>
                <a:spcPts val="0"/>
              </a:spcBef>
            </a:pPr>
            <a:r>
              <a:rPr lang="en-US" altLang="en-US" sz="2400" spc="-40" dirty="0" smtClean="0">
                <a:solidFill>
                  <a:srgbClr val="00B050"/>
                </a:solidFill>
              </a:rPr>
              <a:t>First</a:t>
            </a:r>
            <a:r>
              <a:rPr lang="en-US" altLang="en-US" sz="2400" spc="-40" dirty="0" smtClean="0">
                <a:solidFill>
                  <a:sysClr val="windowText" lastClr="000000"/>
                </a:solidFill>
              </a:rPr>
              <a:t> </a:t>
            </a:r>
            <a:r>
              <a:rPr lang="en-US" altLang="en-US" sz="2400" spc="-40" dirty="0">
                <a:solidFill>
                  <a:sysClr val="windowText" lastClr="000000"/>
                </a:solidFill>
              </a:rPr>
              <a:t>character is </a:t>
            </a:r>
            <a:r>
              <a:rPr lang="en-US" altLang="en-US" sz="2400" spc="-40" dirty="0" smtClean="0">
                <a:solidFill>
                  <a:sysClr val="windowText" lastClr="000000"/>
                </a:solidFill>
              </a:rPr>
              <a:t>an </a:t>
            </a:r>
            <a:r>
              <a:rPr lang="en-US" altLang="en-US" sz="2400" spc="-40" dirty="0" smtClean="0">
                <a:solidFill>
                  <a:srgbClr val="00B050"/>
                </a:solidFill>
              </a:rPr>
              <a:t>underscore</a:t>
            </a:r>
            <a:r>
              <a:rPr lang="en-US" altLang="en-US" sz="2400" spc="-40" dirty="0" smtClean="0">
                <a:solidFill>
                  <a:sysClr val="windowText" lastClr="000000"/>
                </a:solidFill>
              </a:rPr>
              <a:t> → An </a:t>
            </a:r>
            <a:r>
              <a:rPr lang="en-US" altLang="en-US" sz="2400" spc="-40" dirty="0">
                <a:solidFill>
                  <a:sysClr val="windowText" lastClr="000000"/>
                </a:solidFill>
              </a:rPr>
              <a:t>identifier </a:t>
            </a:r>
            <a:r>
              <a:rPr lang="en-US" altLang="en-US" sz="2400" spc="-40" dirty="0" smtClean="0">
                <a:solidFill>
                  <a:sysClr val="windowText" lastClr="000000"/>
                </a:solidFill>
              </a:rPr>
              <a:t>that is </a:t>
            </a:r>
            <a:r>
              <a:rPr lang="en-US" altLang="en-US" sz="2400" spc="-40" dirty="0">
                <a:solidFill>
                  <a:sysClr val="windowText" lastClr="000000"/>
                </a:solidFill>
              </a:rPr>
              <a:t>meant to be </a:t>
            </a:r>
            <a:r>
              <a:rPr lang="en-US" altLang="en-US" sz="2400" spc="-40" dirty="0">
                <a:solidFill>
                  <a:srgbClr val="00B050"/>
                </a:solidFill>
              </a:rPr>
              <a:t>private</a:t>
            </a:r>
          </a:p>
          <a:p>
            <a:pPr marL="628650" lvl="2" indent="-225425">
              <a:lnSpc>
                <a:spcPct val="110000"/>
              </a:lnSpc>
              <a:spcBef>
                <a:spcPts val="0"/>
              </a:spcBef>
            </a:pPr>
            <a:r>
              <a:rPr lang="en-US" altLang="en-US" sz="2400" spc="-40" dirty="0" smtClean="0">
                <a:solidFill>
                  <a:srgbClr val="00B0F0"/>
                </a:solidFill>
              </a:rPr>
              <a:t>First</a:t>
            </a:r>
            <a:r>
              <a:rPr lang="en-US" altLang="en-US" sz="2400" spc="-40" dirty="0" smtClean="0">
                <a:solidFill>
                  <a:sysClr val="windowText" lastClr="000000"/>
                </a:solidFill>
              </a:rPr>
              <a:t> </a:t>
            </a:r>
            <a:r>
              <a:rPr lang="en-US" altLang="en-US" sz="2400" spc="-40" dirty="0" smtClean="0">
                <a:solidFill>
                  <a:srgbClr val="00B0F0"/>
                </a:solidFill>
              </a:rPr>
              <a:t>two </a:t>
            </a:r>
            <a:r>
              <a:rPr lang="en-US" altLang="en-US" sz="2400" spc="-40" dirty="0" smtClean="0">
                <a:solidFill>
                  <a:sysClr val="windowText" lastClr="000000"/>
                </a:solidFill>
              </a:rPr>
              <a:t>characters are</a:t>
            </a:r>
            <a:r>
              <a:rPr lang="en-US" altLang="en-US" sz="2400" spc="-40" dirty="0" smtClean="0">
                <a:solidFill>
                  <a:srgbClr val="00B0F0"/>
                </a:solidFill>
              </a:rPr>
              <a:t> underscores </a:t>
            </a:r>
            <a:r>
              <a:rPr lang="en-US" altLang="en-US" sz="2400" spc="-40" dirty="0">
                <a:solidFill>
                  <a:sysClr val="windowText" lastClr="000000"/>
                </a:solidFill>
              </a:rPr>
              <a:t>→ An identifier </a:t>
            </a:r>
            <a:r>
              <a:rPr lang="en-US" altLang="en-US" sz="2400" spc="-40" dirty="0" smtClean="0">
                <a:solidFill>
                  <a:sysClr val="windowText" lastClr="000000"/>
                </a:solidFill>
              </a:rPr>
              <a:t>that is </a:t>
            </a:r>
            <a:r>
              <a:rPr lang="en-US" altLang="en-US" sz="2400" spc="-40" dirty="0" smtClean="0">
                <a:solidFill>
                  <a:srgbClr val="00B0F0"/>
                </a:solidFill>
              </a:rPr>
              <a:t>strongly </a:t>
            </a:r>
            <a:r>
              <a:rPr lang="en-US" altLang="en-US" sz="2400" spc="-40" dirty="0">
                <a:solidFill>
                  <a:srgbClr val="00B0F0"/>
                </a:solidFill>
              </a:rPr>
              <a:t>private</a:t>
            </a:r>
          </a:p>
          <a:p>
            <a:pPr marL="628650" lvl="2" indent="-225425">
              <a:lnSpc>
                <a:spcPct val="110000"/>
              </a:lnSpc>
              <a:spcBef>
                <a:spcPts val="0"/>
              </a:spcBef>
            </a:pPr>
            <a:r>
              <a:rPr lang="en-US" altLang="en-US" sz="2400" spc="-40" dirty="0" smtClean="0">
                <a:solidFill>
                  <a:srgbClr val="7030A0"/>
                </a:solidFill>
              </a:rPr>
              <a:t>Last </a:t>
            </a:r>
            <a:r>
              <a:rPr lang="en-US" altLang="en-US" sz="2400" spc="-40" dirty="0">
                <a:solidFill>
                  <a:srgbClr val="7030A0"/>
                </a:solidFill>
              </a:rPr>
              <a:t>two </a:t>
            </a:r>
            <a:r>
              <a:rPr lang="en-US" altLang="en-US" sz="2400" spc="-40" dirty="0">
                <a:solidFill>
                  <a:sysClr val="windowText" lastClr="000000"/>
                </a:solidFill>
              </a:rPr>
              <a:t>characters are </a:t>
            </a:r>
            <a:r>
              <a:rPr lang="en-US" altLang="en-US" sz="2400" spc="-40" dirty="0">
                <a:solidFill>
                  <a:srgbClr val="7030A0"/>
                </a:solidFill>
              </a:rPr>
              <a:t>underscores</a:t>
            </a:r>
            <a:r>
              <a:rPr lang="en-US" altLang="en-US" sz="2400" spc="-40" dirty="0">
                <a:solidFill>
                  <a:sysClr val="windowText" lastClr="000000"/>
                </a:solidFill>
              </a:rPr>
              <a:t> → </a:t>
            </a:r>
            <a:r>
              <a:rPr lang="en-US" altLang="en-US" sz="2400" spc="-40" dirty="0" smtClean="0">
                <a:solidFill>
                  <a:sysClr val="windowText" lastClr="000000"/>
                </a:solidFill>
              </a:rPr>
              <a:t>A </a:t>
            </a:r>
            <a:r>
              <a:rPr lang="en-US" altLang="en-US" sz="2400" spc="-40" dirty="0">
                <a:solidFill>
                  <a:srgbClr val="7030A0"/>
                </a:solidFill>
              </a:rPr>
              <a:t>language-defined special </a:t>
            </a:r>
            <a:r>
              <a:rPr lang="en-US" altLang="en-US" sz="2400" spc="-40" dirty="0" smtClean="0">
                <a:solidFill>
                  <a:srgbClr val="7030A0"/>
                </a:solidFill>
              </a:rPr>
              <a:t>name</a:t>
            </a:r>
            <a:endParaRPr lang="en-US" altLang="en-US" sz="2400" spc="-40" dirty="0">
              <a:solidFill>
                <a:srgbClr val="7030A0"/>
              </a:solidFill>
            </a:endParaRPr>
          </a:p>
        </p:txBody>
      </p:sp>
      <p:grpSp>
        <p:nvGrpSpPr>
          <p:cNvPr id="11" name="Group 10"/>
          <p:cNvGrpSpPr/>
          <p:nvPr/>
        </p:nvGrpSpPr>
        <p:grpSpPr>
          <a:xfrm>
            <a:off x="0" y="-21265"/>
            <a:ext cx="9729788" cy="1676882"/>
            <a:chOff x="0" y="-21265"/>
            <a:chExt cx="9729788" cy="1676882"/>
          </a:xfrm>
        </p:grpSpPr>
        <p:sp>
          <p:nvSpPr>
            <p:cNvPr id="6" name="Title 1"/>
            <p:cNvSpPr txBox="1">
              <a:spLocks/>
            </p:cNvSpPr>
            <p:nvPr/>
          </p:nvSpPr>
          <p:spPr>
            <a:xfrm>
              <a:off x="0" y="0"/>
              <a:ext cx="9729788" cy="165561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lvl="0">
                <a:defRPr/>
              </a:pPr>
              <a:r>
                <a:rPr lang="en-US" spc="40" dirty="0">
                  <a:solidFill>
                    <a:schemeClr val="bg1"/>
                  </a:solidFill>
                </a:rPr>
                <a:t>Comparing Python to </a:t>
              </a:r>
              <a:r>
                <a:rPr lang="en-US" spc="40" dirty="0" smtClean="0">
                  <a:solidFill>
                    <a:schemeClr val="bg1"/>
                  </a:solidFill>
                </a:rPr>
                <a:t>C</a:t>
              </a:r>
            </a:p>
            <a:p>
              <a:pPr lvl="0">
                <a:defRPr/>
              </a:pPr>
              <a:endParaRPr lang="en-US" sz="200" spc="40" dirty="0" smtClean="0">
                <a:solidFill>
                  <a:srgbClr val="0070C0"/>
                </a:solidFill>
              </a:endParaRPr>
            </a:p>
            <a:p>
              <a:pPr lvl="0">
                <a:lnSpc>
                  <a:spcPct val="100000"/>
                </a:lnSpc>
                <a:defRPr/>
              </a:pPr>
              <a:r>
                <a:rPr lang="en-US" spc="40" dirty="0" smtClean="0">
                  <a:solidFill>
                    <a:srgbClr val="996633"/>
                  </a:solidFill>
                </a:rPr>
                <a:t>Variable (</a:t>
              </a:r>
              <a:r>
                <a:rPr lang="en-US" spc="400" dirty="0" smtClean="0">
                  <a:solidFill>
                    <a:srgbClr val="996633"/>
                  </a:solidFill>
                </a:rPr>
                <a:t>identi</a:t>
              </a:r>
              <a:r>
                <a:rPr lang="en-US" spc="450" dirty="0" smtClean="0">
                  <a:solidFill>
                    <a:srgbClr val="996633"/>
                  </a:solidFill>
                </a:rPr>
                <a:t>f</a:t>
              </a:r>
              <a:r>
                <a:rPr lang="en-US" spc="400" dirty="0" smtClean="0">
                  <a:solidFill>
                    <a:srgbClr val="996633"/>
                  </a:solidFill>
                </a:rPr>
                <a:t>ier</a:t>
              </a:r>
              <a:r>
                <a:rPr lang="en-US" spc="40" dirty="0" smtClean="0">
                  <a:solidFill>
                    <a:srgbClr val="996633"/>
                  </a:solidFill>
                </a:rPr>
                <a:t>) names</a:t>
              </a:r>
              <a:endParaRPr lang="en-US" spc="40" dirty="0">
                <a:solidFill>
                  <a:srgbClr val="996633"/>
                </a:solidFill>
              </a:endParaRPr>
            </a:p>
          </p:txBody>
        </p:sp>
        <p:sp>
          <p:nvSpPr>
            <p:cNvPr id="10" name="Title 1"/>
            <p:cNvSpPr txBox="1">
              <a:spLocks/>
            </p:cNvSpPr>
            <p:nvPr/>
          </p:nvSpPr>
          <p:spPr>
            <a:xfrm>
              <a:off x="0" y="-21265"/>
              <a:ext cx="9729787" cy="101988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40" normalizeH="0" noProof="0" dirty="0" smtClean="0">
                  <a:ln>
                    <a:noFill/>
                  </a:ln>
                  <a:solidFill>
                    <a:srgbClr val="0070C0"/>
                  </a:solidFill>
                  <a:effectLst/>
                  <a:uLnTx/>
                  <a:uFillTx/>
                  <a:latin typeface="Elephant" panose="02020904090505020303" pitchFamily="18" charset="0"/>
                  <a:ea typeface="+mj-ea"/>
                  <a:cs typeface="+mj-cs"/>
                </a:rPr>
                <a:t>Comparing Python to C</a:t>
              </a:r>
              <a:endParaRPr kumimoji="0" lang="en-US" sz="4400" b="0" i="0" u="none" strike="noStrike" kern="1200" cap="none" spc="40" normalizeH="0" noProof="0" dirty="0">
                <a:ln>
                  <a:noFill/>
                </a:ln>
                <a:solidFill>
                  <a:srgbClr val="FF0000"/>
                </a:solidFill>
                <a:effectLst/>
                <a:uLnTx/>
                <a:uFillTx/>
                <a:latin typeface="Elephant" panose="02020904090505020303" pitchFamily="18" charset="0"/>
                <a:ea typeface="+mj-ea"/>
                <a:cs typeface="+mj-cs"/>
              </a:endParaRPr>
            </a:p>
          </p:txBody>
        </p:sp>
      </p:grpSp>
    </p:spTree>
    <p:extLst>
      <p:ext uri="{BB962C8B-B14F-4D97-AF65-F5344CB8AC3E}">
        <p14:creationId xmlns:p14="http://schemas.microsoft.com/office/powerpoint/2010/main" val="2007187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randombar(horizontal)">
                                      <p:cBhvr>
                                        <p:cTn id="7" dur="500"/>
                                        <p:tgtEl>
                                          <p:spTgt spid="16">
                                            <p:txEl>
                                              <p:pRg st="1" end="1"/>
                                            </p:txEl>
                                          </p:spTgt>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Effect transition="in" filter="randombar(horizontal)">
                                      <p:cBhvr>
                                        <p:cTn id="11" dur="500"/>
                                        <p:tgtEl>
                                          <p:spTgt spid="16">
                                            <p:txEl>
                                              <p:pRg st="2" end="2"/>
                                            </p:txEl>
                                          </p:spTgt>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animEffect transition="in" filter="randombar(horizontal)">
                                      <p:cBhvr>
                                        <p:cTn id="15" dur="500"/>
                                        <p:tgtEl>
                                          <p:spTgt spid="16">
                                            <p:txEl>
                                              <p:pRg st="3" end="3"/>
                                            </p:txEl>
                                          </p:spTgt>
                                        </p:tgtEl>
                                      </p:cBhvr>
                                    </p:animEffect>
                                  </p:childTnLst>
                                </p:cTn>
                              </p:par>
                            </p:childTnLst>
                          </p:cTn>
                        </p:par>
                        <p:par>
                          <p:cTn id="16" fill="hold">
                            <p:stCondLst>
                              <p:cond delay="1500"/>
                            </p:stCondLst>
                            <p:childTnLst>
                              <p:par>
                                <p:cTn id="17" presetID="14" presetClass="entr" presetSubtype="10" fill="hold" nodeType="after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animEffect transition="in" filter="randombar(horizontal)">
                                      <p:cBhvr>
                                        <p:cTn id="19" dur="500"/>
                                        <p:tgtEl>
                                          <p:spTgt spid="16">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16">
                                            <p:txEl>
                                              <p:pRg st="7" end="7"/>
                                            </p:txEl>
                                          </p:spTgt>
                                        </p:tgtEl>
                                        <p:attrNameLst>
                                          <p:attrName>style.visibility</p:attrName>
                                        </p:attrNameLst>
                                      </p:cBhvr>
                                      <p:to>
                                        <p:strVal val="visible"/>
                                      </p:to>
                                    </p:set>
                                    <p:animEffect transition="in" filter="randombar(horizontal)">
                                      <p:cBhvr>
                                        <p:cTn id="24" dur="500"/>
                                        <p:tgtEl>
                                          <p:spTgt spid="16">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16">
                                            <p:txEl>
                                              <p:pRg st="8" end="8"/>
                                            </p:txEl>
                                          </p:spTgt>
                                        </p:tgtEl>
                                        <p:attrNameLst>
                                          <p:attrName>style.visibility</p:attrName>
                                        </p:attrNameLst>
                                      </p:cBhvr>
                                      <p:to>
                                        <p:strVal val="visible"/>
                                      </p:to>
                                    </p:set>
                                    <p:animEffect transition="in" filter="randombar(horizontal)">
                                      <p:cBhvr>
                                        <p:cTn id="29" dur="500"/>
                                        <p:tgtEl>
                                          <p:spTgt spid="16">
                                            <p:txEl>
                                              <p:pRg st="8" end="8"/>
                                            </p:txEl>
                                          </p:spTgt>
                                        </p:tgtEl>
                                      </p:cBhvr>
                                    </p:animEffect>
                                  </p:childTnLst>
                                </p:cTn>
                              </p:par>
                            </p:childTnLst>
                          </p:cTn>
                        </p:par>
                        <p:par>
                          <p:cTn id="30" fill="hold">
                            <p:stCondLst>
                              <p:cond delay="500"/>
                            </p:stCondLst>
                            <p:childTnLst>
                              <p:par>
                                <p:cTn id="31" presetID="14" presetClass="entr" presetSubtype="10" fill="hold" nodeType="afterEffect">
                                  <p:stCondLst>
                                    <p:cond delay="0"/>
                                  </p:stCondLst>
                                  <p:childTnLst>
                                    <p:set>
                                      <p:cBhvr>
                                        <p:cTn id="32" dur="1" fill="hold">
                                          <p:stCondLst>
                                            <p:cond delay="0"/>
                                          </p:stCondLst>
                                        </p:cTn>
                                        <p:tgtEl>
                                          <p:spTgt spid="16">
                                            <p:txEl>
                                              <p:pRg st="9" end="9"/>
                                            </p:txEl>
                                          </p:spTgt>
                                        </p:tgtEl>
                                        <p:attrNameLst>
                                          <p:attrName>style.visibility</p:attrName>
                                        </p:attrNameLst>
                                      </p:cBhvr>
                                      <p:to>
                                        <p:strVal val="visible"/>
                                      </p:to>
                                    </p:set>
                                    <p:animEffect transition="in" filter="randombar(horizontal)">
                                      <p:cBhvr>
                                        <p:cTn id="33" dur="500"/>
                                        <p:tgtEl>
                                          <p:spTgt spid="16">
                                            <p:txEl>
                                              <p:pRg st="9" end="9"/>
                                            </p:txEl>
                                          </p:spTgt>
                                        </p:tgtEl>
                                      </p:cBhvr>
                                    </p:animEffect>
                                  </p:childTnLst>
                                </p:cTn>
                              </p:par>
                            </p:childTnLst>
                          </p:cTn>
                        </p:par>
                        <p:par>
                          <p:cTn id="34" fill="hold">
                            <p:stCondLst>
                              <p:cond delay="1000"/>
                            </p:stCondLst>
                            <p:childTnLst>
                              <p:par>
                                <p:cTn id="35" presetID="14" presetClass="entr" presetSubtype="10" fill="hold" nodeType="afterEffect">
                                  <p:stCondLst>
                                    <p:cond delay="0"/>
                                  </p:stCondLst>
                                  <p:childTnLst>
                                    <p:set>
                                      <p:cBhvr>
                                        <p:cTn id="36" dur="1" fill="hold">
                                          <p:stCondLst>
                                            <p:cond delay="0"/>
                                          </p:stCondLst>
                                        </p:cTn>
                                        <p:tgtEl>
                                          <p:spTgt spid="16">
                                            <p:txEl>
                                              <p:pRg st="10" end="10"/>
                                            </p:txEl>
                                          </p:spTgt>
                                        </p:tgtEl>
                                        <p:attrNameLst>
                                          <p:attrName>style.visibility</p:attrName>
                                        </p:attrNameLst>
                                      </p:cBhvr>
                                      <p:to>
                                        <p:strVal val="visible"/>
                                      </p:to>
                                    </p:set>
                                    <p:animEffect transition="in" filter="randombar(horizontal)">
                                      <p:cBhvr>
                                        <p:cTn id="37" dur="500"/>
                                        <p:tgtEl>
                                          <p:spTgt spid="16">
                                            <p:txEl>
                                              <p:pRg st="10" end="10"/>
                                            </p:txEl>
                                          </p:spTgt>
                                        </p:tgtEl>
                                      </p:cBhvr>
                                    </p:animEffect>
                                  </p:childTnLst>
                                </p:cTn>
                              </p:par>
                            </p:childTnLst>
                          </p:cTn>
                        </p:par>
                        <p:par>
                          <p:cTn id="38" fill="hold">
                            <p:stCondLst>
                              <p:cond delay="1500"/>
                            </p:stCondLst>
                            <p:childTnLst>
                              <p:par>
                                <p:cTn id="39" presetID="14" presetClass="entr" presetSubtype="10" fill="hold" nodeType="afterEffect">
                                  <p:stCondLst>
                                    <p:cond delay="0"/>
                                  </p:stCondLst>
                                  <p:childTnLst>
                                    <p:set>
                                      <p:cBhvr>
                                        <p:cTn id="40" dur="1" fill="hold">
                                          <p:stCondLst>
                                            <p:cond delay="0"/>
                                          </p:stCondLst>
                                        </p:cTn>
                                        <p:tgtEl>
                                          <p:spTgt spid="16">
                                            <p:txEl>
                                              <p:pRg st="11" end="11"/>
                                            </p:txEl>
                                          </p:spTgt>
                                        </p:tgtEl>
                                        <p:attrNameLst>
                                          <p:attrName>style.visibility</p:attrName>
                                        </p:attrNameLst>
                                      </p:cBhvr>
                                      <p:to>
                                        <p:strVal val="visible"/>
                                      </p:to>
                                    </p:set>
                                    <p:animEffect transition="in" filter="randombar(horizontal)">
                                      <p:cBhvr>
                                        <p:cTn id="41" dur="500"/>
                                        <p:tgtEl>
                                          <p:spTgt spid="1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414670" y="2278495"/>
            <a:ext cx="9315118" cy="45795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spcBef>
                <a:spcPts val="0"/>
              </a:spcBef>
              <a:spcAft>
                <a:spcPts val="200"/>
              </a:spcAft>
            </a:pPr>
            <a:r>
              <a:rPr lang="en-US" sz="3200" dirty="0" smtClean="0">
                <a:solidFill>
                  <a:srgbClr val="7030A0"/>
                </a:solidFill>
              </a:rPr>
              <a:t>For example</a:t>
            </a:r>
            <a:r>
              <a:rPr lang="en-US" sz="3200" dirty="0" smtClean="0">
                <a:solidFill>
                  <a:sysClr val="windowText" lastClr="000000"/>
                </a:solidFill>
              </a:rPr>
              <a:t>: Python3 defines print() as a function, whereas it was a keyword in Python2.</a:t>
            </a:r>
          </a:p>
          <a:p>
            <a:pPr marL="509588" lvl="1" indent="-220663">
              <a:spcBef>
                <a:spcPts val="0"/>
              </a:spcBef>
              <a:spcAft>
                <a:spcPts val="1800"/>
              </a:spcAft>
            </a:pPr>
            <a:r>
              <a:rPr lang="en-US" sz="3000" dirty="0" smtClean="0">
                <a:solidFill>
                  <a:sysClr val="windowText" lastClr="000000"/>
                </a:solidFill>
              </a:rPr>
              <a:t>This means that Python2 did not require parentheses () after the word “print”, because it wasn’t a function call.</a:t>
            </a:r>
            <a:endParaRPr kumimoji="0" lang="en-US" sz="3000" b="0" i="0" u="none" strike="noStrike" kern="1200" cap="none" spc="0" normalizeH="0" baseline="0" noProof="0" dirty="0" smtClean="0">
              <a:ln>
                <a:noFill/>
              </a:ln>
              <a:solidFill>
                <a:sysClr val="windowText" lastClr="000000"/>
              </a:solidFill>
              <a:effectLst/>
              <a:uLnTx/>
              <a:uFillTx/>
              <a:latin typeface="Calibri"/>
            </a:endParaRPr>
          </a:p>
          <a:p>
            <a:pPr lvl="0">
              <a:spcBef>
                <a:spcPts val="0"/>
              </a:spcBef>
              <a:spcAft>
                <a:spcPts val="200"/>
              </a:spcAft>
            </a:pPr>
            <a:r>
              <a:rPr lang="en-US" sz="3200" dirty="0" smtClean="0"/>
              <a:t>The redefining of print is </a:t>
            </a:r>
            <a:r>
              <a:rPr lang="en-US" sz="3200" dirty="0" smtClean="0">
                <a:solidFill>
                  <a:srgbClr val="7030A0"/>
                </a:solidFill>
              </a:rPr>
              <a:t>the </a:t>
            </a:r>
            <a:r>
              <a:rPr lang="en-US" sz="3200" b="1" dirty="0" smtClean="0">
                <a:solidFill>
                  <a:srgbClr val="7030A0"/>
                </a:solidFill>
              </a:rPr>
              <a:t>smallest</a:t>
            </a:r>
            <a:r>
              <a:rPr lang="en-US" sz="3200" dirty="0" smtClean="0">
                <a:solidFill>
                  <a:srgbClr val="7030A0"/>
                </a:solidFill>
              </a:rPr>
              <a:t> difference</a:t>
            </a:r>
            <a:r>
              <a:rPr lang="en-US" sz="3200" dirty="0">
                <a:solidFill>
                  <a:srgbClr val="7030A0"/>
                </a:solidFill>
              </a:rPr>
              <a:t> </a:t>
            </a:r>
            <a:r>
              <a:rPr lang="en-US" sz="3200" dirty="0" smtClean="0">
                <a:solidFill>
                  <a:sysClr val="windowText" lastClr="000000"/>
                </a:solidFill>
              </a:rPr>
              <a:t>that there is between the versions:</a:t>
            </a:r>
            <a:endParaRPr lang="en-US" sz="3200" dirty="0">
              <a:solidFill>
                <a:sysClr val="windowText" lastClr="000000"/>
              </a:solidFill>
            </a:endParaRPr>
          </a:p>
          <a:p>
            <a:pPr marL="509588" lvl="1" indent="-220663">
              <a:spcBef>
                <a:spcPts val="0"/>
              </a:spcBef>
              <a:spcAft>
                <a:spcPts val="1800"/>
              </a:spcAft>
            </a:pPr>
            <a:r>
              <a:rPr lang="en-US" sz="3000" spc="-40" dirty="0" smtClean="0">
                <a:solidFill>
                  <a:sysClr val="windowText" lastClr="000000"/>
                </a:solidFill>
              </a:rPr>
              <a:t>Becaus</a:t>
            </a:r>
            <a:r>
              <a:rPr lang="en-US" sz="3000" spc="-200" dirty="0">
                <a:solidFill>
                  <a:sysClr val="windowText" lastClr="000000"/>
                </a:solidFill>
              </a:rPr>
              <a:t>e</a:t>
            </a:r>
            <a:r>
              <a:rPr lang="en-US" sz="3000" spc="-40" dirty="0" smtClean="0">
                <a:solidFill>
                  <a:sysClr val="windowText" lastClr="000000"/>
                </a:solidFill>
              </a:rPr>
              <a:t>,</a:t>
            </a:r>
            <a:r>
              <a:rPr lang="en-US" sz="2800" spc="-40" dirty="0" smtClean="0">
                <a:solidFill>
                  <a:sysClr val="windowText" lastClr="000000"/>
                </a:solidFill>
              </a:rPr>
              <a:t> </a:t>
            </a:r>
            <a:r>
              <a:rPr lang="en-US" sz="3000" spc="-40" dirty="0" smtClean="0">
                <a:solidFill>
                  <a:sysClr val="windowText" lastClr="000000"/>
                </a:solidFill>
              </a:rPr>
              <a:t>to</a:t>
            </a:r>
            <a:r>
              <a:rPr lang="en-US" sz="2800" spc="-40" dirty="0" smtClean="0">
                <a:solidFill>
                  <a:sysClr val="windowText" lastClr="000000"/>
                </a:solidFill>
              </a:rPr>
              <a:t> </a:t>
            </a:r>
            <a:r>
              <a:rPr lang="en-US" sz="3000" spc="-40" dirty="0" smtClean="0">
                <a:solidFill>
                  <a:sysClr val="windowText" lastClr="000000"/>
                </a:solidFill>
              </a:rPr>
              <a:t>update Pyt</a:t>
            </a:r>
            <a:r>
              <a:rPr lang="en-US" sz="3000" spc="-80" dirty="0" smtClean="0">
                <a:solidFill>
                  <a:sysClr val="windowText" lastClr="000000"/>
                </a:solidFill>
              </a:rPr>
              <a:t>hon</a:t>
            </a:r>
            <a:r>
              <a:rPr lang="en-US" sz="3000" spc="-40" dirty="0" smtClean="0">
                <a:solidFill>
                  <a:sysClr val="windowText" lastClr="000000"/>
                </a:solidFill>
              </a:rPr>
              <a:t>2</a:t>
            </a:r>
            <a:r>
              <a:rPr lang="en-US" sz="2800" spc="-40" dirty="0" smtClean="0">
                <a:solidFill>
                  <a:sysClr val="windowText" lastClr="000000"/>
                </a:solidFill>
              </a:rPr>
              <a:t> </a:t>
            </a:r>
            <a:r>
              <a:rPr lang="en-US" sz="3000" spc="-40" dirty="0" smtClean="0">
                <a:solidFill>
                  <a:sysClr val="windowText" lastClr="000000"/>
                </a:solidFill>
              </a:rPr>
              <a:t>cod</a:t>
            </a:r>
            <a:r>
              <a:rPr lang="en-US" sz="3000" spc="-200" dirty="0" smtClean="0">
                <a:solidFill>
                  <a:sysClr val="windowText" lastClr="000000"/>
                </a:solidFill>
              </a:rPr>
              <a:t>e</a:t>
            </a:r>
            <a:r>
              <a:rPr lang="en-US" sz="3000" spc="-40" dirty="0" smtClean="0">
                <a:solidFill>
                  <a:sysClr val="windowText" lastClr="000000"/>
                </a:solidFill>
              </a:rPr>
              <a:t>,</a:t>
            </a:r>
            <a:r>
              <a:rPr lang="en-US" sz="2800" spc="-40" dirty="0" smtClean="0">
                <a:solidFill>
                  <a:sysClr val="windowText" lastClr="000000"/>
                </a:solidFill>
              </a:rPr>
              <a:t> </a:t>
            </a:r>
            <a:r>
              <a:rPr lang="en-US" sz="3000" spc="-40" dirty="0" smtClean="0">
                <a:solidFill>
                  <a:sysClr val="windowText" lastClr="000000"/>
                </a:solidFill>
              </a:rPr>
              <a:t>just add parentheses</a:t>
            </a:r>
            <a:r>
              <a:rPr lang="en-US" sz="2800" dirty="0" smtClean="0">
                <a:solidFill>
                  <a:sysClr val="windowText" lastClr="000000"/>
                </a:solidFill>
              </a:rPr>
              <a:t> </a:t>
            </a:r>
            <a:r>
              <a:rPr lang="en-US" sz="3000" dirty="0" smtClean="0">
                <a:solidFill>
                  <a:sysClr val="windowText" lastClr="000000"/>
                </a:solidFill>
              </a:rPr>
              <a:t>(</a:t>
            </a:r>
            <a:r>
              <a:rPr lang="en-US" sz="3000" spc="-200" dirty="0" smtClean="0">
                <a:solidFill>
                  <a:sysClr val="windowText" lastClr="000000"/>
                </a:solidFill>
              </a:rPr>
              <a:t>).</a:t>
            </a:r>
            <a:endParaRPr lang="en-US" sz="3000" spc="-200" dirty="0">
              <a:solidFill>
                <a:sysClr val="windowText" lastClr="000000"/>
              </a:solidFill>
            </a:endParaRPr>
          </a:p>
          <a:p>
            <a:pPr lvl="0">
              <a:spcBef>
                <a:spcPts val="0"/>
              </a:spcBef>
              <a:spcAft>
                <a:spcPts val="200"/>
              </a:spcAft>
            </a:pPr>
            <a:r>
              <a:rPr lang="en-US" sz="3200" dirty="0" smtClean="0"/>
              <a:t>It is also </a:t>
            </a:r>
            <a:r>
              <a:rPr lang="en-US" sz="3200" dirty="0" smtClean="0">
                <a:solidFill>
                  <a:srgbClr val="7030A0"/>
                </a:solidFill>
              </a:rPr>
              <a:t>the </a:t>
            </a:r>
            <a:r>
              <a:rPr lang="en-US" sz="3200" b="1" dirty="0" smtClean="0">
                <a:solidFill>
                  <a:srgbClr val="7030A0"/>
                </a:solidFill>
              </a:rPr>
              <a:t>biggest</a:t>
            </a:r>
            <a:r>
              <a:rPr lang="en-US" sz="3200" dirty="0" smtClean="0">
                <a:solidFill>
                  <a:srgbClr val="7030A0"/>
                </a:solidFill>
              </a:rPr>
              <a:t> difference </a:t>
            </a:r>
            <a:r>
              <a:rPr lang="en-US" sz="3200" dirty="0" smtClean="0">
                <a:solidFill>
                  <a:sysClr val="windowText" lastClr="000000"/>
                </a:solidFill>
              </a:rPr>
              <a:t>between the versions:</a:t>
            </a:r>
          </a:p>
          <a:p>
            <a:pPr marL="509588" lvl="1" indent="-220663">
              <a:spcBef>
                <a:spcPts val="0"/>
              </a:spcBef>
              <a:spcAft>
                <a:spcPts val="1800"/>
              </a:spcAft>
            </a:pPr>
            <a:r>
              <a:rPr lang="en-US" sz="3000" dirty="0" smtClean="0">
                <a:solidFill>
                  <a:sysClr val="windowText" lastClr="000000"/>
                </a:solidFill>
              </a:rPr>
              <a:t>Because it affects almost every Pytho</a:t>
            </a:r>
            <a:r>
              <a:rPr lang="en-US" sz="3000" spc="-60" dirty="0" smtClean="0">
                <a:solidFill>
                  <a:sysClr val="windowText" lastClr="000000"/>
                </a:solidFill>
              </a:rPr>
              <a:t>n</a:t>
            </a:r>
            <a:r>
              <a:rPr lang="en-US" sz="3000" dirty="0" smtClean="0">
                <a:solidFill>
                  <a:sysClr val="windowText" lastClr="000000"/>
                </a:solidFill>
              </a:rPr>
              <a:t>2 program.</a:t>
            </a:r>
            <a:endParaRPr kumimoji="0" lang="en-US" sz="3000" b="0" i="0" u="none" strike="noStrike" kern="1200" cap="none" spc="0" normalizeH="0" baseline="0" noProof="0" dirty="0" smtClean="0">
              <a:ln>
                <a:noFill/>
              </a:ln>
              <a:solidFill>
                <a:sysClr val="windowText" lastClr="000000"/>
              </a:solidFill>
              <a:effectLst/>
              <a:uLnTx/>
              <a:uFillTx/>
              <a:latin typeface="Calibri"/>
            </a:endParaRPr>
          </a:p>
        </p:txBody>
      </p:sp>
      <p:sp>
        <p:nvSpPr>
          <p:cNvPr id="11" name="Title 1"/>
          <p:cNvSpPr txBox="1">
            <a:spLocks/>
          </p:cNvSpPr>
          <p:nvPr/>
        </p:nvSpPr>
        <p:spPr>
          <a:xfrm>
            <a:off x="0" y="1160956"/>
            <a:ext cx="9729788" cy="148911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40" normalizeH="0" noProof="0" dirty="0" smtClean="0">
                <a:ln>
                  <a:noFill/>
                </a:ln>
                <a:solidFill>
                  <a:srgbClr val="FF0000"/>
                </a:solidFill>
                <a:effectLst/>
                <a:uLnTx/>
                <a:uFillTx/>
                <a:latin typeface="+mn-lt"/>
              </a:rPr>
              <a:t>  Python3 isn’t backwards compatible to Python2.</a:t>
            </a:r>
            <a:endParaRPr kumimoji="0" lang="en-US" sz="3600" b="0" i="0" u="none" strike="noStrike" kern="1200" cap="none" spc="40" normalizeH="0" noProof="0" dirty="0">
              <a:ln>
                <a:noFill/>
              </a:ln>
              <a:solidFill>
                <a:srgbClr val="FF0000"/>
              </a:solidFill>
              <a:effectLst/>
              <a:uLnTx/>
              <a:uFillTx/>
              <a:latin typeface="+mn-lt"/>
            </a:endParaRPr>
          </a:p>
        </p:txBody>
      </p:sp>
      <p:grpSp>
        <p:nvGrpSpPr>
          <p:cNvPr id="5" name="Group 4"/>
          <p:cNvGrpSpPr/>
          <p:nvPr/>
        </p:nvGrpSpPr>
        <p:grpSpPr>
          <a:xfrm>
            <a:off x="0" y="-21265"/>
            <a:ext cx="9729788" cy="1676882"/>
            <a:chOff x="0" y="-21265"/>
            <a:chExt cx="9729788" cy="1676882"/>
          </a:xfrm>
        </p:grpSpPr>
        <p:sp>
          <p:nvSpPr>
            <p:cNvPr id="6" name="Title 1"/>
            <p:cNvSpPr txBox="1">
              <a:spLocks/>
            </p:cNvSpPr>
            <p:nvPr/>
          </p:nvSpPr>
          <p:spPr>
            <a:xfrm>
              <a:off x="0" y="0"/>
              <a:ext cx="9729788" cy="165561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lvl="0">
                <a:defRPr/>
              </a:pPr>
              <a:r>
                <a:rPr lang="en-US" spc="40" dirty="0">
                  <a:solidFill>
                    <a:schemeClr val="bg1"/>
                  </a:solidFill>
                </a:rPr>
                <a:t>Comparing Python to </a:t>
              </a:r>
              <a:r>
                <a:rPr lang="en-US" spc="40" dirty="0" smtClean="0">
                  <a:solidFill>
                    <a:schemeClr val="bg1"/>
                  </a:solidFill>
                </a:rPr>
                <a:t>C</a:t>
              </a:r>
            </a:p>
            <a:p>
              <a:pPr lvl="0">
                <a:defRPr/>
              </a:pPr>
              <a:endParaRPr lang="en-US" sz="200" spc="40" dirty="0" smtClean="0">
                <a:solidFill>
                  <a:srgbClr val="0070C0"/>
                </a:solidFill>
              </a:endParaRPr>
            </a:p>
            <a:p>
              <a:pPr lvl="0">
                <a:lnSpc>
                  <a:spcPct val="100000"/>
                </a:lnSpc>
                <a:defRPr/>
              </a:pPr>
              <a:r>
                <a:rPr lang="en-US" sz="4000" spc="-50" dirty="0" smtClean="0">
                  <a:solidFill>
                    <a:srgbClr val="996633"/>
                  </a:solidFill>
                </a:rPr>
                <a:t>(Since we’re on the subject of comparing)</a:t>
              </a:r>
              <a:endParaRPr lang="en-US" sz="4000" spc="-50" dirty="0">
                <a:solidFill>
                  <a:srgbClr val="996633"/>
                </a:solidFill>
              </a:endParaRPr>
            </a:p>
          </p:txBody>
        </p:sp>
        <p:sp>
          <p:nvSpPr>
            <p:cNvPr id="7" name="Title 1"/>
            <p:cNvSpPr txBox="1">
              <a:spLocks/>
            </p:cNvSpPr>
            <p:nvPr/>
          </p:nvSpPr>
          <p:spPr>
            <a:xfrm>
              <a:off x="0" y="-21265"/>
              <a:ext cx="9729787" cy="101988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rgbClr val="002060"/>
                  </a:solidFill>
                  <a:latin typeface="Elephant" panose="02020904090505020303"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40" normalizeH="0" noProof="0" dirty="0" smtClean="0">
                  <a:ln>
                    <a:noFill/>
                  </a:ln>
                  <a:solidFill>
                    <a:srgbClr val="0070C0"/>
                  </a:solidFill>
                  <a:effectLst/>
                  <a:uLnTx/>
                  <a:uFillTx/>
                  <a:latin typeface="Elephant" panose="02020904090505020303" pitchFamily="18" charset="0"/>
                  <a:ea typeface="+mj-ea"/>
                  <a:cs typeface="+mj-cs"/>
                </a:rPr>
                <a:t>Comparing Python3 to </a:t>
              </a:r>
              <a:r>
                <a:rPr kumimoji="0" lang="en-US" sz="4400" b="0" i="0" u="none" strike="noStrike" kern="1200" cap="none" spc="40" normalizeH="0" noProof="0" dirty="0" smtClean="0">
                  <a:ln>
                    <a:noFill/>
                  </a:ln>
                  <a:solidFill>
                    <a:srgbClr val="FF0000"/>
                  </a:solidFill>
                  <a:effectLst/>
                  <a:uLnTx/>
                  <a:uFillTx/>
                  <a:latin typeface="Elephant" panose="02020904090505020303" pitchFamily="18" charset="0"/>
                  <a:ea typeface="+mj-ea"/>
                  <a:cs typeface="+mj-cs"/>
                </a:rPr>
                <a:t>Python2</a:t>
              </a:r>
              <a:endParaRPr kumimoji="0" lang="en-US" sz="4400" b="0" i="0" u="none" strike="noStrike" kern="1200" cap="none" spc="40" normalizeH="0" noProof="0" dirty="0">
                <a:ln>
                  <a:noFill/>
                </a:ln>
                <a:solidFill>
                  <a:srgbClr val="FF0000"/>
                </a:solidFill>
                <a:effectLst/>
                <a:uLnTx/>
                <a:uFillTx/>
                <a:latin typeface="Elephant" panose="02020904090505020303" pitchFamily="18" charset="0"/>
                <a:ea typeface="+mj-ea"/>
                <a:cs typeface="+mj-cs"/>
              </a:endParaRPr>
            </a:p>
          </p:txBody>
        </p:sp>
      </p:grpSp>
    </p:spTree>
    <p:extLst>
      <p:ext uri="{BB962C8B-B14F-4D97-AF65-F5344CB8AC3E}">
        <p14:creationId xmlns:p14="http://schemas.microsoft.com/office/powerpoint/2010/main" val="290241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randombar(horizontal)">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randombar(horizontal)">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randombar(horizontal)">
                                      <p:cBhvr>
                                        <p:cTn id="22" dur="500"/>
                                        <p:tgtEl>
                                          <p:spTgt spid="8">
                                            <p:txEl>
                                              <p:pRg st="2" end="2"/>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Effect transition="in" filter="randombar(horizontal)">
                                      <p:cBhvr>
                                        <p:cTn id="25" dur="500"/>
                                        <p:tgtEl>
                                          <p:spTgt spid="8">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8">
                                            <p:txEl>
                                              <p:pRg st="4" end="4"/>
                                            </p:txEl>
                                          </p:spTgt>
                                        </p:tgtEl>
                                        <p:attrNameLst>
                                          <p:attrName>style.visibility</p:attrName>
                                        </p:attrNameLst>
                                      </p:cBhvr>
                                      <p:to>
                                        <p:strVal val="visible"/>
                                      </p:to>
                                    </p:set>
                                    <p:animEffect transition="in" filter="randombar(horizontal)">
                                      <p:cBhvr>
                                        <p:cTn id="30" dur="500"/>
                                        <p:tgtEl>
                                          <p:spTgt spid="8">
                                            <p:txEl>
                                              <p:pRg st="4" end="4"/>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randombar(horizontal)">
                                      <p:cBhvr>
                                        <p:cTn id="33"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92906" y="90806"/>
            <a:ext cx="10515600" cy="229283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7200" b="1" dirty="0">
                <a:solidFill>
                  <a:srgbClr val="2E75B6"/>
                </a:solidFill>
                <a:latin typeface="Times New Roman" panose="02020603050405020304" pitchFamily="18" charset="0"/>
                <a:cs typeface="Times New Roman" panose="02020603050405020304" pitchFamily="18" charset="0"/>
              </a:rPr>
              <a:t>So what is so special about Python?</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5582" y="4605907"/>
            <a:ext cx="3221175" cy="2556488"/>
          </a:xfrm>
          <a:prstGeom prst="rect">
            <a:avLst/>
          </a:prstGeom>
        </p:spPr>
      </p:pic>
      <p:pic>
        <p:nvPicPr>
          <p:cNvPr id="6" name="Picture 5"/>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18654"/>
          <a:stretch/>
        </p:blipFill>
        <p:spPr>
          <a:xfrm>
            <a:off x="2952970" y="1840836"/>
            <a:ext cx="3810000" cy="3099297"/>
          </a:xfrm>
          <a:prstGeom prst="rect">
            <a:avLst/>
          </a:prstGeom>
        </p:spPr>
      </p:pic>
    </p:spTree>
    <p:extLst>
      <p:ext uri="{BB962C8B-B14F-4D97-AF65-F5344CB8AC3E}">
        <p14:creationId xmlns:p14="http://schemas.microsoft.com/office/powerpoint/2010/main" val="562131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047" y="1085850"/>
            <a:ext cx="9959984" cy="143065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98047" y="2516505"/>
            <a:ext cx="9959984" cy="140779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427" y="3895725"/>
            <a:ext cx="9959984" cy="1981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0427" y="5876925"/>
            <a:ext cx="9959984" cy="981075"/>
          </a:xfrm>
          <a:prstGeom prst="rect">
            <a:avLst/>
          </a:prstGeom>
          <a:solidFill>
            <a:srgbClr val="FFAB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a:spLocks noGrp="1" noChangeArrowheads="1"/>
          </p:cNvSpPr>
          <p:nvPr/>
        </p:nvSpPr>
        <p:spPr bwMode="auto">
          <a:xfrm>
            <a:off x="-6607" y="1133477"/>
            <a:ext cx="9736395" cy="5655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a:lstStyle>
          <a:p>
            <a:pPr indent="-285750">
              <a:lnSpc>
                <a:spcPct val="80000"/>
              </a:lnSpc>
            </a:pPr>
            <a:r>
              <a:rPr lang="en-US" altLang="en-US" sz="3600" dirty="0" smtClean="0">
                <a:solidFill>
                  <a:schemeClr val="tx1"/>
                </a:solidFill>
                <a:latin typeface="Arial Narrow" panose="020B0606020202030204" pitchFamily="34" charset="0"/>
                <a:cs typeface="Times New Roman" panose="02020603050405020304" pitchFamily="18" charset="0"/>
              </a:rPr>
              <a:t>Readability (</a:t>
            </a:r>
            <a:r>
              <a:rPr lang="zh-TW" altLang="en-US" sz="3200" dirty="0">
                <a:solidFill>
                  <a:schemeClr val="tx1"/>
                </a:solidFill>
                <a:latin typeface="Arial Narrow" panose="020B0606020202030204" pitchFamily="34" charset="0"/>
                <a:cs typeface="Times New Roman" panose="02020603050405020304" pitchFamily="18" charset="0"/>
              </a:rPr>
              <a:t>可讀性</a:t>
            </a:r>
            <a:r>
              <a:rPr lang="en-US" altLang="en-US" sz="3600" dirty="0" smtClean="0">
                <a:solidFill>
                  <a:schemeClr val="tx1"/>
                </a:solidFill>
                <a:latin typeface="Arial Narrow" panose="020B0606020202030204" pitchFamily="34" charset="0"/>
                <a:cs typeface="Times New Roman" panose="02020603050405020304" pitchFamily="18" charset="0"/>
              </a:rPr>
              <a:t>)</a:t>
            </a:r>
            <a:endParaRPr lang="en-US" altLang="en-US" sz="3600" dirty="0">
              <a:solidFill>
                <a:schemeClr val="tx1"/>
              </a:solidFill>
              <a:latin typeface="Arial Narrow" panose="020B0606020202030204" pitchFamily="34" charset="0"/>
              <a:cs typeface="Times New Roman" panose="02020603050405020304" pitchFamily="18" charset="0"/>
            </a:endParaRPr>
          </a:p>
          <a:p>
            <a:pPr marL="685800" lvl="1">
              <a:lnSpc>
                <a:spcPct val="80000"/>
              </a:lnSpc>
              <a:spcBef>
                <a:spcPts val="0"/>
              </a:spcBef>
            </a:pPr>
            <a:r>
              <a:rPr lang="en-US" altLang="en-US" sz="3200" dirty="0" smtClean="0">
                <a:solidFill>
                  <a:schemeClr val="tx1"/>
                </a:solidFill>
                <a:latin typeface="Arial Narrow" panose="020B0606020202030204" pitchFamily="34" charset="0"/>
                <a:cs typeface="Times New Roman" panose="02020603050405020304" pitchFamily="18" charset="0"/>
              </a:rPr>
              <a:t>Simpler</a:t>
            </a:r>
            <a:r>
              <a:rPr lang="en-US" altLang="en-US" sz="2800" dirty="0" smtClean="0">
                <a:solidFill>
                  <a:schemeClr val="tx1"/>
                </a:solidFill>
                <a:latin typeface="Arial Narrow" panose="020B0606020202030204" pitchFamily="34" charset="0"/>
                <a:cs typeface="Times New Roman" panose="02020603050405020304" pitchFamily="18" charset="0"/>
              </a:rPr>
              <a:t> </a:t>
            </a:r>
            <a:r>
              <a:rPr lang="en-US" altLang="en-US" sz="3200" dirty="0">
                <a:solidFill>
                  <a:schemeClr val="tx1"/>
                </a:solidFill>
                <a:latin typeface="Arial Narrow" panose="020B0606020202030204" pitchFamily="34" charset="0"/>
                <a:cs typeface="Times New Roman" panose="02020603050405020304" pitchFamily="18" charset="0"/>
              </a:rPr>
              <a:t>keywords,</a:t>
            </a:r>
            <a:r>
              <a:rPr lang="en-US" altLang="en-US" sz="2800" dirty="0">
                <a:solidFill>
                  <a:schemeClr val="tx1"/>
                </a:solidFill>
                <a:latin typeface="Arial Narrow" panose="020B0606020202030204" pitchFamily="34" charset="0"/>
                <a:cs typeface="Times New Roman" panose="02020603050405020304" pitchFamily="18" charset="0"/>
              </a:rPr>
              <a:t> </a:t>
            </a:r>
            <a:r>
              <a:rPr lang="en-US" altLang="en-US" sz="3200" dirty="0">
                <a:solidFill>
                  <a:schemeClr val="tx1"/>
                </a:solidFill>
                <a:latin typeface="Arial Narrow" panose="020B0606020202030204" pitchFamily="34" charset="0"/>
                <a:cs typeface="Times New Roman" panose="02020603050405020304" pitchFamily="18" charset="0"/>
              </a:rPr>
              <a:t>programming</a:t>
            </a:r>
            <a:r>
              <a:rPr lang="en-US" altLang="en-US" sz="2800" dirty="0">
                <a:solidFill>
                  <a:schemeClr val="tx1"/>
                </a:solidFill>
                <a:latin typeface="Arial Narrow" panose="020B0606020202030204" pitchFamily="34" charset="0"/>
                <a:cs typeface="Times New Roman" panose="02020603050405020304" pitchFamily="18" charset="0"/>
              </a:rPr>
              <a:t> </a:t>
            </a:r>
            <a:r>
              <a:rPr lang="en-US" altLang="en-US" sz="3200" dirty="0">
                <a:solidFill>
                  <a:schemeClr val="tx1"/>
                </a:solidFill>
                <a:latin typeface="Arial Narrow" panose="020B0606020202030204" pitchFamily="34" charset="0"/>
                <a:cs typeface="Times New Roman" panose="02020603050405020304" pitchFamily="18" charset="0"/>
              </a:rPr>
              <a:t>structures,</a:t>
            </a:r>
            <a:r>
              <a:rPr lang="en-US" altLang="en-US" sz="2800" dirty="0">
                <a:solidFill>
                  <a:schemeClr val="tx1"/>
                </a:solidFill>
                <a:latin typeface="Arial Narrow" panose="020B0606020202030204" pitchFamily="34" charset="0"/>
                <a:cs typeface="Times New Roman" panose="02020603050405020304" pitchFamily="18" charset="0"/>
              </a:rPr>
              <a:t> </a:t>
            </a:r>
            <a:r>
              <a:rPr lang="en-US" altLang="en-US" sz="3200" dirty="0" smtClean="0">
                <a:solidFill>
                  <a:schemeClr val="tx1"/>
                </a:solidFill>
                <a:latin typeface="Arial Narrow" panose="020B0606020202030204" pitchFamily="34" charset="0"/>
                <a:cs typeface="Times New Roman" panose="02020603050405020304" pitchFamily="18" charset="0"/>
              </a:rPr>
              <a:t>data</a:t>
            </a:r>
            <a:r>
              <a:rPr lang="en-US" altLang="en-US" sz="2800" dirty="0" smtClean="0">
                <a:solidFill>
                  <a:schemeClr val="tx1"/>
                </a:solidFill>
                <a:latin typeface="Arial Narrow" panose="020B0606020202030204" pitchFamily="34" charset="0"/>
                <a:cs typeface="Times New Roman" panose="02020603050405020304" pitchFamily="18" charset="0"/>
              </a:rPr>
              <a:t> </a:t>
            </a:r>
            <a:r>
              <a:rPr lang="en-US" altLang="en-US" sz="3200" dirty="0" smtClean="0">
                <a:solidFill>
                  <a:schemeClr val="tx1"/>
                </a:solidFill>
                <a:latin typeface="Arial Narrow" panose="020B0606020202030204" pitchFamily="34" charset="0"/>
                <a:cs typeface="Times New Roman" panose="02020603050405020304" pitchFamily="18" charset="0"/>
              </a:rPr>
              <a:t>types.</a:t>
            </a:r>
            <a:endParaRPr lang="en-US" altLang="en-US" sz="3200" dirty="0">
              <a:solidFill>
                <a:schemeClr val="tx1"/>
              </a:solidFill>
              <a:latin typeface="Arial Narrow" panose="020B0606020202030204" pitchFamily="34" charset="0"/>
              <a:cs typeface="Times New Roman" panose="02020603050405020304" pitchFamily="18" charset="0"/>
            </a:endParaRPr>
          </a:p>
          <a:p>
            <a:pPr marL="685800" lvl="1">
              <a:lnSpc>
                <a:spcPct val="80000"/>
              </a:lnSpc>
              <a:spcBef>
                <a:spcPts val="300"/>
              </a:spcBef>
            </a:pPr>
            <a:r>
              <a:rPr lang="en-US" altLang="en-US" sz="3200" spc="-30" dirty="0">
                <a:solidFill>
                  <a:schemeClr val="tx1"/>
                </a:solidFill>
                <a:latin typeface="Arial Narrow" panose="020B0606020202030204" pitchFamily="34" charset="0"/>
                <a:cs typeface="Times New Roman" panose="02020603050405020304" pitchFamily="18" charset="0"/>
              </a:rPr>
              <a:t>Enforced indentation</a:t>
            </a:r>
            <a:r>
              <a:rPr lang="en-US" altLang="en-US" sz="2800" spc="-30" dirty="0">
                <a:solidFill>
                  <a:schemeClr val="tx1"/>
                </a:solidFill>
                <a:latin typeface="Arial Narrow" panose="020B0606020202030204" pitchFamily="34" charset="0"/>
                <a:cs typeface="Times New Roman" panose="02020603050405020304" pitchFamily="18" charset="0"/>
              </a:rPr>
              <a:t> </a:t>
            </a:r>
            <a:r>
              <a:rPr lang="en-US" altLang="zh-TW" sz="3200" spc="-40" dirty="0" smtClean="0">
                <a:solidFill>
                  <a:schemeClr val="tx1"/>
                </a:solidFill>
                <a:latin typeface="Arial Narrow" panose="020B0606020202030204" pitchFamily="34" charset="0"/>
                <a:cs typeface="Times New Roman" panose="02020603050405020304" pitchFamily="18" charset="0"/>
              </a:rPr>
              <a:t>(</a:t>
            </a:r>
            <a:r>
              <a:rPr lang="zh-TW" altLang="en-US" sz="2800" spc="-40" dirty="0">
                <a:solidFill>
                  <a:schemeClr val="tx1"/>
                </a:solidFill>
                <a:latin typeface="Arial Narrow" panose="020B0606020202030204" pitchFamily="34" charset="0"/>
                <a:cs typeface="Times New Roman" panose="02020603050405020304" pitchFamily="18" charset="0"/>
              </a:rPr>
              <a:t>強制縮</a:t>
            </a:r>
            <a:r>
              <a:rPr lang="zh-TW" altLang="en-US" sz="2800" spc="-140" dirty="0">
                <a:solidFill>
                  <a:schemeClr val="tx1"/>
                </a:solidFill>
                <a:latin typeface="Arial Narrow" panose="020B0606020202030204" pitchFamily="34" charset="0"/>
                <a:cs typeface="Times New Roman" panose="02020603050405020304" pitchFamily="18" charset="0"/>
              </a:rPr>
              <a:t>排</a:t>
            </a:r>
            <a:r>
              <a:rPr lang="en-US" altLang="zh-TW" sz="3200" spc="-140" dirty="0" smtClean="0">
                <a:solidFill>
                  <a:schemeClr val="tx1"/>
                </a:solidFill>
                <a:latin typeface="Arial Narrow" panose="020B0606020202030204" pitchFamily="34" charset="0"/>
                <a:cs typeface="Times New Roman" panose="02020603050405020304" pitchFamily="18" charset="0"/>
              </a:rPr>
              <a:t>)</a:t>
            </a:r>
            <a:r>
              <a:rPr lang="en-US" altLang="zh-TW" sz="3200" spc="-40" dirty="0" smtClean="0">
                <a:solidFill>
                  <a:schemeClr val="tx1"/>
                </a:solidFill>
                <a:latin typeface="Arial Narrow" panose="020B0606020202030204" pitchFamily="34" charset="0"/>
                <a:cs typeface="Times New Roman" panose="02020603050405020304" pitchFamily="18" charset="0"/>
              </a:rPr>
              <a:t>,</a:t>
            </a:r>
            <a:r>
              <a:rPr lang="en-US" altLang="en-US" sz="3200" spc="-40" dirty="0" smtClean="0">
                <a:solidFill>
                  <a:schemeClr val="tx1"/>
                </a:solidFill>
                <a:latin typeface="Arial Narrow" panose="020B0606020202030204" pitchFamily="34" charset="0"/>
                <a:cs typeface="Times New Roman" panose="02020603050405020304" pitchFamily="18" charset="0"/>
              </a:rPr>
              <a:t> </a:t>
            </a:r>
            <a:r>
              <a:rPr lang="en-US" altLang="en-US" sz="3200" spc="-30" dirty="0" smtClean="0">
                <a:solidFill>
                  <a:schemeClr val="tx1"/>
                </a:solidFill>
                <a:latin typeface="Arial Narrow" panose="020B0606020202030204" pitchFamily="34" charset="0"/>
                <a:cs typeface="Times New Roman" panose="02020603050405020304" pitchFamily="18" charset="0"/>
              </a:rPr>
              <a:t>less punctuation</a:t>
            </a:r>
            <a:r>
              <a:rPr lang="en-US" altLang="en-US" sz="2800" spc="-30" dirty="0" smtClean="0">
                <a:solidFill>
                  <a:schemeClr val="tx1"/>
                </a:solidFill>
                <a:latin typeface="Arial Narrow" panose="020B0606020202030204" pitchFamily="34" charset="0"/>
                <a:cs typeface="Times New Roman" panose="02020603050405020304" pitchFamily="18" charset="0"/>
              </a:rPr>
              <a:t> </a:t>
            </a:r>
            <a:r>
              <a:rPr lang="en-US" altLang="en-US" sz="3200" spc="-40" dirty="0" smtClean="0">
                <a:solidFill>
                  <a:schemeClr val="tx1"/>
                </a:solidFill>
                <a:latin typeface="Arial Narrow" panose="020B0606020202030204" pitchFamily="34" charset="0"/>
                <a:cs typeface="Times New Roman" panose="02020603050405020304" pitchFamily="18" charset="0"/>
              </a:rPr>
              <a:t>(</a:t>
            </a:r>
            <a:r>
              <a:rPr lang="zh-TW" altLang="en-US" sz="2800" spc="-40" dirty="0">
                <a:solidFill>
                  <a:schemeClr val="tx1"/>
                </a:solidFill>
                <a:latin typeface="Arial Narrow" panose="020B0606020202030204" pitchFamily="34" charset="0"/>
                <a:cs typeface="Times New Roman" panose="02020603050405020304" pitchFamily="18" charset="0"/>
              </a:rPr>
              <a:t>標點符號</a:t>
            </a:r>
            <a:r>
              <a:rPr lang="en-US" altLang="zh-TW" sz="3200" spc="-40" dirty="0" smtClean="0">
                <a:solidFill>
                  <a:schemeClr val="tx1"/>
                </a:solidFill>
                <a:latin typeface="Arial Narrow" panose="020B0606020202030204" pitchFamily="34" charset="0"/>
                <a:cs typeface="Times New Roman" panose="02020603050405020304" pitchFamily="18" charset="0"/>
              </a:rPr>
              <a:t>)</a:t>
            </a:r>
            <a:endParaRPr lang="en-US" altLang="en-US" sz="3200" spc="-40" dirty="0">
              <a:solidFill>
                <a:schemeClr val="tx1"/>
              </a:solidFill>
              <a:latin typeface="Arial Narrow" panose="020B0606020202030204" pitchFamily="34" charset="0"/>
              <a:cs typeface="Times New Roman" panose="02020603050405020304" pitchFamily="18" charset="0"/>
            </a:endParaRPr>
          </a:p>
          <a:p>
            <a:pPr indent="-285750">
              <a:lnSpc>
                <a:spcPct val="80000"/>
              </a:lnSpc>
              <a:spcBef>
                <a:spcPts val="1200"/>
              </a:spcBef>
            </a:pPr>
            <a:r>
              <a:rPr lang="en-US" altLang="en-US" sz="3600" dirty="0" smtClean="0">
                <a:solidFill>
                  <a:schemeClr val="tx1"/>
                </a:solidFill>
                <a:latin typeface="Arial Narrow" panose="020B0606020202030204" pitchFamily="34" charset="0"/>
                <a:cs typeface="Times New Roman" panose="02020603050405020304" pitchFamily="18" charset="0"/>
              </a:rPr>
              <a:t>Learnability (</a:t>
            </a:r>
            <a:r>
              <a:rPr lang="zh-TW" altLang="en-US" sz="3200" dirty="0">
                <a:solidFill>
                  <a:schemeClr val="tx1"/>
                </a:solidFill>
                <a:latin typeface="Arial Narrow" panose="020B0606020202030204" pitchFamily="34" charset="0"/>
                <a:cs typeface="Times New Roman" panose="02020603050405020304" pitchFamily="18" charset="0"/>
              </a:rPr>
              <a:t>易學性</a:t>
            </a:r>
            <a:r>
              <a:rPr lang="en-US" altLang="en-US" sz="3600" dirty="0" smtClean="0">
                <a:solidFill>
                  <a:schemeClr val="tx1"/>
                </a:solidFill>
                <a:latin typeface="Arial Narrow" panose="020B0606020202030204" pitchFamily="34" charset="0"/>
                <a:cs typeface="Times New Roman" panose="02020603050405020304" pitchFamily="18" charset="0"/>
              </a:rPr>
              <a:t>)</a:t>
            </a:r>
            <a:endParaRPr lang="en-US" altLang="en-US" sz="3600" dirty="0">
              <a:solidFill>
                <a:schemeClr val="tx1"/>
              </a:solidFill>
              <a:latin typeface="Arial Narrow" panose="020B0606020202030204" pitchFamily="34" charset="0"/>
              <a:cs typeface="Times New Roman" panose="02020603050405020304" pitchFamily="18" charset="0"/>
            </a:endParaRPr>
          </a:p>
          <a:p>
            <a:pPr marL="685800" lvl="1">
              <a:lnSpc>
                <a:spcPct val="80000"/>
              </a:lnSpc>
              <a:spcBef>
                <a:spcPts val="0"/>
              </a:spcBef>
            </a:pPr>
            <a:r>
              <a:rPr lang="en-US" altLang="en-US" sz="3200" dirty="0" smtClean="0">
                <a:solidFill>
                  <a:schemeClr val="tx1"/>
                </a:solidFill>
                <a:latin typeface="Arial Narrow" panose="020B0606020202030204" pitchFamily="34" charset="0"/>
                <a:cs typeface="Times New Roman" panose="02020603050405020304" pitchFamily="18" charset="0"/>
              </a:rPr>
              <a:t>Simpler</a:t>
            </a:r>
            <a:r>
              <a:rPr lang="en-US" altLang="en-US" sz="2800" dirty="0" smtClean="0">
                <a:solidFill>
                  <a:schemeClr val="tx1"/>
                </a:solidFill>
                <a:latin typeface="Arial Narrow" panose="020B0606020202030204" pitchFamily="34" charset="0"/>
                <a:cs typeface="Times New Roman" panose="02020603050405020304" pitchFamily="18" charset="0"/>
              </a:rPr>
              <a:t> </a:t>
            </a:r>
            <a:r>
              <a:rPr lang="en-US" altLang="en-US" sz="3200" dirty="0">
                <a:solidFill>
                  <a:schemeClr val="tx1"/>
                </a:solidFill>
                <a:latin typeface="Arial Narrow" panose="020B0606020202030204" pitchFamily="34" charset="0"/>
                <a:cs typeface="Times New Roman" panose="02020603050405020304" pitchFamily="18" charset="0"/>
              </a:rPr>
              <a:t>keywords,</a:t>
            </a:r>
            <a:r>
              <a:rPr lang="en-US" altLang="en-US" sz="2800" dirty="0">
                <a:solidFill>
                  <a:schemeClr val="tx1"/>
                </a:solidFill>
                <a:latin typeface="Arial Narrow" panose="020B0606020202030204" pitchFamily="34" charset="0"/>
                <a:cs typeface="Times New Roman" panose="02020603050405020304" pitchFamily="18" charset="0"/>
              </a:rPr>
              <a:t> </a:t>
            </a:r>
            <a:r>
              <a:rPr lang="en-US" altLang="en-US" sz="3200" dirty="0">
                <a:solidFill>
                  <a:schemeClr val="tx1"/>
                </a:solidFill>
                <a:latin typeface="Arial Narrow" panose="020B0606020202030204" pitchFamily="34" charset="0"/>
                <a:cs typeface="Times New Roman" panose="02020603050405020304" pitchFamily="18" charset="0"/>
              </a:rPr>
              <a:t>programming</a:t>
            </a:r>
            <a:r>
              <a:rPr lang="en-US" altLang="en-US" sz="2800" dirty="0">
                <a:solidFill>
                  <a:schemeClr val="tx1"/>
                </a:solidFill>
                <a:latin typeface="Arial Narrow" panose="020B0606020202030204" pitchFamily="34" charset="0"/>
                <a:cs typeface="Times New Roman" panose="02020603050405020304" pitchFamily="18" charset="0"/>
              </a:rPr>
              <a:t> </a:t>
            </a:r>
            <a:r>
              <a:rPr lang="en-US" altLang="en-US" sz="3200" dirty="0">
                <a:solidFill>
                  <a:schemeClr val="tx1"/>
                </a:solidFill>
                <a:latin typeface="Arial Narrow" panose="020B0606020202030204" pitchFamily="34" charset="0"/>
                <a:cs typeface="Times New Roman" panose="02020603050405020304" pitchFamily="18" charset="0"/>
              </a:rPr>
              <a:t>structures,</a:t>
            </a:r>
            <a:r>
              <a:rPr lang="en-US" altLang="en-US" sz="2800" dirty="0">
                <a:solidFill>
                  <a:schemeClr val="tx1"/>
                </a:solidFill>
                <a:latin typeface="Arial Narrow" panose="020B0606020202030204" pitchFamily="34" charset="0"/>
                <a:cs typeface="Times New Roman" panose="02020603050405020304" pitchFamily="18" charset="0"/>
              </a:rPr>
              <a:t> </a:t>
            </a:r>
            <a:r>
              <a:rPr lang="en-US" altLang="en-US" sz="3200" dirty="0">
                <a:solidFill>
                  <a:schemeClr val="tx1"/>
                </a:solidFill>
                <a:latin typeface="Arial Narrow" panose="020B0606020202030204" pitchFamily="34" charset="0"/>
                <a:cs typeface="Times New Roman" panose="02020603050405020304" pitchFamily="18" charset="0"/>
              </a:rPr>
              <a:t>data</a:t>
            </a:r>
            <a:r>
              <a:rPr lang="en-US" altLang="en-US" sz="2800" dirty="0">
                <a:solidFill>
                  <a:schemeClr val="tx1"/>
                </a:solidFill>
                <a:latin typeface="Arial Narrow" panose="020B0606020202030204" pitchFamily="34" charset="0"/>
                <a:cs typeface="Times New Roman" panose="02020603050405020304" pitchFamily="18" charset="0"/>
              </a:rPr>
              <a:t> </a:t>
            </a:r>
            <a:r>
              <a:rPr lang="en-US" altLang="en-US" sz="3200" dirty="0" smtClean="0">
                <a:solidFill>
                  <a:schemeClr val="tx1"/>
                </a:solidFill>
                <a:latin typeface="Arial Narrow" panose="020B0606020202030204" pitchFamily="34" charset="0"/>
                <a:cs typeface="Times New Roman" panose="02020603050405020304" pitchFamily="18" charset="0"/>
              </a:rPr>
              <a:t>types.</a:t>
            </a:r>
            <a:endParaRPr lang="en-US" altLang="en-US" sz="3200" dirty="0">
              <a:solidFill>
                <a:schemeClr val="tx1"/>
              </a:solidFill>
              <a:latin typeface="Arial Narrow" panose="020B0606020202030204" pitchFamily="34" charset="0"/>
              <a:cs typeface="Times New Roman" panose="02020603050405020304" pitchFamily="18" charset="0"/>
            </a:endParaRPr>
          </a:p>
          <a:p>
            <a:pPr marL="685800" lvl="1">
              <a:lnSpc>
                <a:spcPct val="80000"/>
              </a:lnSpc>
              <a:spcBef>
                <a:spcPts val="300"/>
              </a:spcBef>
            </a:pPr>
            <a:r>
              <a:rPr lang="en-US" altLang="en-US" sz="3200" dirty="0">
                <a:solidFill>
                  <a:schemeClr val="tx1"/>
                </a:solidFill>
                <a:latin typeface="Arial Narrow" panose="020B0606020202030204" pitchFamily="34" charset="0"/>
                <a:cs typeface="Times New Roman" panose="02020603050405020304" pitchFamily="18" charset="0"/>
              </a:rPr>
              <a:t>Many schools use it in their introductory computer </a:t>
            </a:r>
            <a:r>
              <a:rPr lang="en-US" altLang="en-US" sz="3200" dirty="0" smtClean="0">
                <a:solidFill>
                  <a:schemeClr val="tx1"/>
                </a:solidFill>
                <a:latin typeface="Arial Narrow" panose="020B0606020202030204" pitchFamily="34" charset="0"/>
                <a:cs typeface="Times New Roman" panose="02020603050405020304" pitchFamily="18" charset="0"/>
              </a:rPr>
              <a:t>courses.</a:t>
            </a:r>
            <a:endParaRPr lang="en-US" altLang="en-US" sz="3600" dirty="0" smtClean="0">
              <a:solidFill>
                <a:schemeClr val="tx1"/>
              </a:solidFill>
              <a:latin typeface="Arial Narrow" panose="020B0606020202030204" pitchFamily="34" charset="0"/>
              <a:cs typeface="Times New Roman" panose="02020603050405020304" pitchFamily="18" charset="0"/>
            </a:endParaRPr>
          </a:p>
          <a:p>
            <a:pPr indent="-285750">
              <a:lnSpc>
                <a:spcPct val="80000"/>
              </a:lnSpc>
              <a:spcBef>
                <a:spcPts val="1800"/>
              </a:spcBef>
            </a:pPr>
            <a:r>
              <a:rPr lang="en-US" altLang="en-US" sz="3600" dirty="0" smtClean="0">
                <a:solidFill>
                  <a:schemeClr val="tx1"/>
                </a:solidFill>
                <a:latin typeface="Arial Narrow" panose="020B0606020202030204" pitchFamily="34" charset="0"/>
                <a:cs typeface="Times New Roman" panose="02020603050405020304" pitchFamily="18" charset="0"/>
              </a:rPr>
              <a:t>Bug Preventability (</a:t>
            </a:r>
            <a:r>
              <a:rPr lang="zh-TW" altLang="en-US" sz="3200" dirty="0">
                <a:solidFill>
                  <a:schemeClr val="tx1"/>
                </a:solidFill>
                <a:latin typeface="Arial Narrow" panose="020B0606020202030204" pitchFamily="34" charset="0"/>
                <a:cs typeface="Times New Roman" panose="02020603050405020304" pitchFamily="18" charset="0"/>
              </a:rPr>
              <a:t>預防錯誤</a:t>
            </a:r>
            <a:r>
              <a:rPr lang="en-US" altLang="en-US" sz="3600" dirty="0" smtClean="0">
                <a:solidFill>
                  <a:schemeClr val="tx1"/>
                </a:solidFill>
                <a:latin typeface="Arial Narrow" panose="020B0606020202030204" pitchFamily="34" charset="0"/>
                <a:cs typeface="Times New Roman" panose="02020603050405020304" pitchFamily="18" charset="0"/>
              </a:rPr>
              <a:t>)</a:t>
            </a:r>
            <a:endParaRPr lang="en-US" altLang="en-US" sz="3600" dirty="0">
              <a:solidFill>
                <a:schemeClr val="tx1"/>
              </a:solidFill>
              <a:latin typeface="Arial Narrow" panose="020B0606020202030204" pitchFamily="34" charset="0"/>
              <a:cs typeface="Times New Roman" panose="02020603050405020304" pitchFamily="18" charset="0"/>
            </a:endParaRPr>
          </a:p>
          <a:p>
            <a:pPr marL="685800" lvl="1">
              <a:lnSpc>
                <a:spcPct val="80000"/>
              </a:lnSpc>
              <a:spcBef>
                <a:spcPts val="0"/>
              </a:spcBef>
            </a:pPr>
            <a:r>
              <a:rPr lang="en-US" altLang="en-US" sz="3200" dirty="0" smtClean="0">
                <a:solidFill>
                  <a:schemeClr val="tx1"/>
                </a:solidFill>
                <a:latin typeface="Arial Narrow" panose="020B0606020202030204" pitchFamily="34" charset="0"/>
                <a:cs typeface="Times New Roman" panose="02020603050405020304" pitchFamily="18" charset="0"/>
              </a:rPr>
              <a:t>Enforced indentation prevents misplaced blocks.</a:t>
            </a:r>
            <a:endParaRPr lang="en-US" altLang="en-US" sz="3200" dirty="0">
              <a:solidFill>
                <a:schemeClr val="tx1"/>
              </a:solidFill>
              <a:latin typeface="Arial Narrow" panose="020B0606020202030204" pitchFamily="34" charset="0"/>
              <a:cs typeface="Times New Roman" panose="02020603050405020304" pitchFamily="18" charset="0"/>
            </a:endParaRPr>
          </a:p>
          <a:p>
            <a:pPr marL="685800" lvl="1">
              <a:lnSpc>
                <a:spcPct val="80000"/>
              </a:lnSpc>
              <a:spcBef>
                <a:spcPts val="300"/>
              </a:spcBef>
            </a:pPr>
            <a:r>
              <a:rPr lang="en-US" altLang="en-US" sz="3200" dirty="0" smtClean="0">
                <a:solidFill>
                  <a:schemeClr val="tx1"/>
                </a:solidFill>
                <a:latin typeface="Arial Narrow" panose="020B0606020202030204" pitchFamily="34" charset="0"/>
                <a:cs typeface="Times New Roman" panose="02020603050405020304" pitchFamily="18" charset="0"/>
              </a:rPr>
              <a:t>Lack of pointers prevents most memory errors.</a:t>
            </a:r>
          </a:p>
          <a:p>
            <a:pPr marL="685800" lvl="1">
              <a:lnSpc>
                <a:spcPct val="80000"/>
              </a:lnSpc>
              <a:spcBef>
                <a:spcPts val="300"/>
              </a:spcBef>
            </a:pPr>
            <a:r>
              <a:rPr lang="en-US" altLang="en-US" sz="3200" dirty="0" smtClean="0">
                <a:solidFill>
                  <a:schemeClr val="tx1"/>
                </a:solidFill>
                <a:latin typeface="Arial Narrow" panose="020B0606020202030204" pitchFamily="34" charset="0"/>
                <a:cs typeface="Times New Roman" panose="02020603050405020304" pitchFamily="18" charset="0"/>
              </a:rPr>
              <a:t>Type checking prevents misinterpreting data values.</a:t>
            </a:r>
          </a:p>
          <a:p>
            <a:pPr indent="-285750">
              <a:lnSpc>
                <a:spcPct val="80000"/>
              </a:lnSpc>
              <a:spcBef>
                <a:spcPts val="1800"/>
              </a:spcBef>
              <a:tabLst>
                <a:tab pos="115888" algn="l"/>
              </a:tabLst>
            </a:pPr>
            <a:r>
              <a:rPr lang="en-US" altLang="en-US" sz="3600" spc="-100" dirty="0">
                <a:solidFill>
                  <a:schemeClr val="tx1"/>
                </a:solidFill>
                <a:latin typeface="Arial Narrow" panose="020B0606020202030204" pitchFamily="34" charset="0"/>
                <a:cs typeface="Times New Roman" panose="02020603050405020304" pitchFamily="18" charset="0"/>
              </a:rPr>
              <a:t>M</a:t>
            </a:r>
            <a:r>
              <a:rPr lang="en-US" altLang="en-US" sz="3600" dirty="0" smtClean="0">
                <a:solidFill>
                  <a:schemeClr val="tx1"/>
                </a:solidFill>
                <a:latin typeface="Arial Narrow" panose="020B0606020202030204" pitchFamily="34" charset="0"/>
                <a:cs typeface="Times New Roman" panose="02020603050405020304" pitchFamily="18" charset="0"/>
              </a:rPr>
              <a:t>aintainabilit</a:t>
            </a:r>
            <a:r>
              <a:rPr lang="en-US" altLang="en-US" sz="3600" spc="-300" dirty="0" smtClean="0">
                <a:solidFill>
                  <a:schemeClr val="tx1"/>
                </a:solidFill>
                <a:latin typeface="Arial Narrow" panose="020B0606020202030204" pitchFamily="34" charset="0"/>
                <a:cs typeface="Times New Roman" panose="02020603050405020304" pitchFamily="18" charset="0"/>
              </a:rPr>
              <a:t>y</a:t>
            </a:r>
            <a:r>
              <a:rPr lang="en-US" altLang="en-US" sz="3600" dirty="0">
                <a:solidFill>
                  <a:schemeClr val="tx1"/>
                </a:solidFill>
                <a:latin typeface="Arial Narrow" panose="020B0606020202030204" pitchFamily="34" charset="0"/>
                <a:cs typeface="Times New Roman" panose="02020603050405020304" pitchFamily="18" charset="0"/>
              </a:rPr>
              <a:t>,</a:t>
            </a:r>
            <a:r>
              <a:rPr lang="en-US" altLang="en-US" sz="3200" dirty="0">
                <a:solidFill>
                  <a:schemeClr val="tx1"/>
                </a:solidFill>
                <a:latin typeface="Arial Narrow" panose="020B0606020202030204" pitchFamily="34" charset="0"/>
                <a:cs typeface="Times New Roman" panose="02020603050405020304" pitchFamily="18" charset="0"/>
              </a:rPr>
              <a:t> </a:t>
            </a:r>
            <a:r>
              <a:rPr lang="en-US" altLang="en-US" sz="3600" spc="-100" dirty="0" smtClean="0">
                <a:solidFill>
                  <a:schemeClr val="tx1"/>
                </a:solidFill>
                <a:latin typeface="Arial Narrow" panose="020B0606020202030204" pitchFamily="34" charset="0"/>
                <a:cs typeface="Times New Roman" panose="02020603050405020304" pitchFamily="18" charset="0"/>
              </a:rPr>
              <a:t>P</a:t>
            </a:r>
            <a:r>
              <a:rPr lang="en-US" altLang="en-US" sz="3600" spc="-60" dirty="0" smtClean="0">
                <a:solidFill>
                  <a:schemeClr val="tx1"/>
                </a:solidFill>
                <a:latin typeface="Arial Narrow" panose="020B0606020202030204" pitchFamily="34" charset="0"/>
                <a:cs typeface="Times New Roman" panose="02020603050405020304" pitchFamily="18" charset="0"/>
              </a:rPr>
              <a:t>o</a:t>
            </a:r>
            <a:r>
              <a:rPr lang="en-US" altLang="en-US" sz="3600" dirty="0" smtClean="0">
                <a:solidFill>
                  <a:schemeClr val="tx1"/>
                </a:solidFill>
                <a:latin typeface="Arial Narrow" panose="020B0606020202030204" pitchFamily="34" charset="0"/>
                <a:cs typeface="Times New Roman" panose="02020603050405020304" pitchFamily="18" charset="0"/>
              </a:rPr>
              <a:t>rtabilit</a:t>
            </a:r>
            <a:r>
              <a:rPr lang="en-US" altLang="en-US" sz="3600" spc="-300" dirty="0">
                <a:solidFill>
                  <a:schemeClr val="tx1"/>
                </a:solidFill>
                <a:latin typeface="Arial Narrow" panose="020B0606020202030204" pitchFamily="34" charset="0"/>
                <a:cs typeface="Times New Roman" panose="02020603050405020304" pitchFamily="18" charset="0"/>
              </a:rPr>
              <a:t>y</a:t>
            </a:r>
            <a:r>
              <a:rPr lang="en-US" altLang="en-US" sz="3600" dirty="0" smtClean="0">
                <a:solidFill>
                  <a:schemeClr val="tx1"/>
                </a:solidFill>
                <a:latin typeface="Arial Narrow" panose="020B0606020202030204" pitchFamily="34" charset="0"/>
                <a:cs typeface="Times New Roman" panose="02020603050405020304" pitchFamily="18" charset="0"/>
              </a:rPr>
              <a:t>,</a:t>
            </a:r>
            <a:r>
              <a:rPr lang="en-US" altLang="en-US" sz="3200" dirty="0" smtClean="0">
                <a:solidFill>
                  <a:schemeClr val="tx1"/>
                </a:solidFill>
                <a:latin typeface="Arial Narrow" panose="020B0606020202030204" pitchFamily="34" charset="0"/>
                <a:cs typeface="Times New Roman" panose="02020603050405020304" pitchFamily="18" charset="0"/>
              </a:rPr>
              <a:t> </a:t>
            </a:r>
            <a:r>
              <a:rPr lang="en-US" altLang="en-US" sz="3600" spc="-100" dirty="0" smtClean="0">
                <a:solidFill>
                  <a:schemeClr val="tx1"/>
                </a:solidFill>
                <a:latin typeface="Arial Narrow" panose="020B0606020202030204" pitchFamily="34" charset="0"/>
                <a:cs typeface="Times New Roman" panose="02020603050405020304" pitchFamily="18" charset="0"/>
              </a:rPr>
              <a:t>S</a:t>
            </a:r>
            <a:r>
              <a:rPr lang="en-US" altLang="en-US" sz="3600" dirty="0" smtClean="0">
                <a:solidFill>
                  <a:schemeClr val="tx1"/>
                </a:solidFill>
                <a:latin typeface="Arial Narrow" panose="020B0606020202030204" pitchFamily="34" charset="0"/>
                <a:cs typeface="Times New Roman" panose="02020603050405020304" pitchFamily="18" charset="0"/>
              </a:rPr>
              <a:t>c</a:t>
            </a:r>
            <a:r>
              <a:rPr lang="en-US" altLang="en-US" sz="3600" spc="-40" dirty="0" smtClean="0">
                <a:solidFill>
                  <a:schemeClr val="tx1"/>
                </a:solidFill>
                <a:latin typeface="Arial Narrow" panose="020B0606020202030204" pitchFamily="34" charset="0"/>
                <a:cs typeface="Times New Roman" panose="02020603050405020304" pitchFamily="18" charset="0"/>
              </a:rPr>
              <a:t>ala</a:t>
            </a:r>
            <a:r>
              <a:rPr lang="en-US" altLang="en-US" sz="3600" dirty="0" smtClean="0">
                <a:solidFill>
                  <a:schemeClr val="tx1"/>
                </a:solidFill>
                <a:latin typeface="Arial Narrow" panose="020B0606020202030204" pitchFamily="34" charset="0"/>
                <a:cs typeface="Times New Roman" panose="02020603050405020304" pitchFamily="18" charset="0"/>
              </a:rPr>
              <a:t>bilit</a:t>
            </a:r>
            <a:r>
              <a:rPr lang="en-US" altLang="en-US" sz="3600" spc="-300" dirty="0">
                <a:solidFill>
                  <a:schemeClr val="tx1"/>
                </a:solidFill>
                <a:latin typeface="Arial Narrow" panose="020B0606020202030204" pitchFamily="34" charset="0"/>
                <a:cs typeface="Times New Roman" panose="02020603050405020304" pitchFamily="18" charset="0"/>
              </a:rPr>
              <a:t>y</a:t>
            </a:r>
            <a:r>
              <a:rPr lang="en-US" altLang="en-US" sz="3600" dirty="0" smtClean="0">
                <a:solidFill>
                  <a:schemeClr val="tx1"/>
                </a:solidFill>
                <a:latin typeface="Arial Narrow" panose="020B0606020202030204" pitchFamily="34" charset="0"/>
                <a:cs typeface="Times New Roman" panose="02020603050405020304" pitchFamily="18" charset="0"/>
              </a:rPr>
              <a:t>,</a:t>
            </a:r>
            <a:r>
              <a:rPr lang="en-US" altLang="en-US" sz="3200" dirty="0" smtClean="0">
                <a:solidFill>
                  <a:schemeClr val="tx1"/>
                </a:solidFill>
                <a:latin typeface="Arial Narrow" panose="020B0606020202030204" pitchFamily="34" charset="0"/>
                <a:cs typeface="Times New Roman" panose="02020603050405020304" pitchFamily="18" charset="0"/>
              </a:rPr>
              <a:t> </a:t>
            </a:r>
            <a:r>
              <a:rPr lang="en-US" altLang="en-US" sz="3600" spc="-100" dirty="0" smtClean="0">
                <a:solidFill>
                  <a:schemeClr val="tx1"/>
                </a:solidFill>
                <a:latin typeface="Arial Narrow" panose="020B0606020202030204" pitchFamily="34" charset="0"/>
                <a:cs typeface="Times New Roman" panose="02020603050405020304" pitchFamily="18" charset="0"/>
              </a:rPr>
              <a:t>M</a:t>
            </a:r>
            <a:r>
              <a:rPr lang="en-US" altLang="en-US" sz="3600" spc="-40" dirty="0" smtClean="0">
                <a:solidFill>
                  <a:schemeClr val="tx1"/>
                </a:solidFill>
                <a:latin typeface="Arial Narrow" panose="020B0606020202030204" pitchFamily="34" charset="0"/>
                <a:cs typeface="Times New Roman" panose="02020603050405020304" pitchFamily="18" charset="0"/>
              </a:rPr>
              <a:t>odul</a:t>
            </a:r>
            <a:r>
              <a:rPr lang="en-US" altLang="en-US" sz="3600" dirty="0" smtClean="0">
                <a:solidFill>
                  <a:schemeClr val="tx1"/>
                </a:solidFill>
                <a:latin typeface="Arial Narrow" panose="020B0606020202030204" pitchFamily="34" charset="0"/>
                <a:cs typeface="Times New Roman" panose="02020603050405020304" pitchFamily="18" charset="0"/>
              </a:rPr>
              <a:t>arit</a:t>
            </a:r>
            <a:r>
              <a:rPr lang="en-US" altLang="en-US" sz="3600" spc="-300" dirty="0">
                <a:solidFill>
                  <a:schemeClr val="tx1"/>
                </a:solidFill>
                <a:latin typeface="Arial Narrow" panose="020B0606020202030204" pitchFamily="34" charset="0"/>
                <a:cs typeface="Times New Roman" panose="02020603050405020304" pitchFamily="18" charset="0"/>
              </a:rPr>
              <a:t>y</a:t>
            </a:r>
            <a:r>
              <a:rPr lang="en-US" altLang="en-US" sz="3600" dirty="0" smtClean="0">
                <a:solidFill>
                  <a:schemeClr val="tx1"/>
                </a:solidFill>
                <a:latin typeface="Arial Narrow" panose="020B0606020202030204" pitchFamily="34" charset="0"/>
                <a:cs typeface="Times New Roman" panose="02020603050405020304" pitchFamily="18" charset="0"/>
              </a:rPr>
              <a:t> </a:t>
            </a:r>
            <a:r>
              <a:rPr lang="en-US" altLang="en-US" sz="3600" spc="-200" dirty="0" smtClean="0">
                <a:solidFill>
                  <a:schemeClr val="tx1"/>
                </a:solidFill>
                <a:latin typeface="Arial Narrow" panose="020B0606020202030204" pitchFamily="34" charset="0"/>
                <a:cs typeface="Times New Roman" panose="02020603050405020304" pitchFamily="18" charset="0"/>
              </a:rPr>
              <a:t>(</a:t>
            </a:r>
            <a:r>
              <a:rPr lang="zh-TW" altLang="en-US" sz="3200" dirty="0">
                <a:solidFill>
                  <a:schemeClr val="tx1"/>
                </a:solidFill>
                <a:latin typeface="Arial Narrow" panose="020B0606020202030204" pitchFamily="34" charset="0"/>
                <a:cs typeface="Times New Roman" panose="02020603050405020304" pitchFamily="18" charset="0"/>
              </a:rPr>
              <a:t>模</a:t>
            </a:r>
            <a:r>
              <a:rPr lang="zh-TW" altLang="en-US" sz="3200" spc="-100" dirty="0" smtClean="0">
                <a:solidFill>
                  <a:schemeClr val="tx1"/>
                </a:solidFill>
                <a:latin typeface="Arial Narrow" panose="020B0606020202030204" pitchFamily="34" charset="0"/>
                <a:cs typeface="Times New Roman" panose="02020603050405020304" pitchFamily="18" charset="0"/>
              </a:rPr>
              <a:t>組</a:t>
            </a:r>
            <a:r>
              <a:rPr lang="zh-TW" altLang="en-US" sz="3200" spc="-200" dirty="0" smtClean="0">
                <a:solidFill>
                  <a:schemeClr val="tx1"/>
                </a:solidFill>
                <a:latin typeface="Arial Narrow" panose="020B0606020202030204" pitchFamily="34" charset="0"/>
                <a:cs typeface="Times New Roman" panose="02020603050405020304" pitchFamily="18" charset="0"/>
              </a:rPr>
              <a:t>化</a:t>
            </a:r>
            <a:r>
              <a:rPr lang="en-US" altLang="en-US" sz="3600" dirty="0" smtClean="0">
                <a:solidFill>
                  <a:schemeClr val="tx1"/>
                </a:solidFill>
                <a:latin typeface="Arial Narrow" panose="020B0606020202030204" pitchFamily="34" charset="0"/>
                <a:cs typeface="Times New Roman" panose="02020603050405020304" pitchFamily="18" charset="0"/>
              </a:rPr>
              <a:t>)</a:t>
            </a:r>
            <a:endParaRPr lang="en-US" altLang="en-US" sz="3600" dirty="0">
              <a:solidFill>
                <a:schemeClr val="tx1"/>
              </a:solidFill>
              <a:latin typeface="Arial Narrow" panose="020B0606020202030204" pitchFamily="34" charset="0"/>
              <a:cs typeface="Times New Roman" panose="02020603050405020304" pitchFamily="18" charset="0"/>
            </a:endParaRPr>
          </a:p>
          <a:p>
            <a:pPr marL="685800" lvl="1">
              <a:lnSpc>
                <a:spcPct val="80000"/>
              </a:lnSpc>
              <a:spcBef>
                <a:spcPts val="0"/>
              </a:spcBef>
            </a:pPr>
            <a:r>
              <a:rPr lang="en-US" altLang="en-US" sz="3200" dirty="0" smtClean="0">
                <a:solidFill>
                  <a:schemeClr val="tx1"/>
                </a:solidFill>
                <a:latin typeface="Arial Narrow" panose="020B0606020202030204" pitchFamily="34" charset="0"/>
                <a:cs typeface="Times New Roman" panose="02020603050405020304" pitchFamily="18" charset="0"/>
              </a:rPr>
              <a:t>Many toolsets</a:t>
            </a:r>
            <a:r>
              <a:rPr lang="en-US" altLang="en-US" sz="2800" dirty="0" smtClean="0">
                <a:solidFill>
                  <a:schemeClr val="tx1"/>
                </a:solidFill>
                <a:latin typeface="Arial Narrow" panose="020B0606020202030204" pitchFamily="34" charset="0"/>
                <a:cs typeface="Times New Roman" panose="02020603050405020304" pitchFamily="18" charset="0"/>
              </a:rPr>
              <a:t> </a:t>
            </a:r>
            <a:r>
              <a:rPr lang="en-US" altLang="en-US" sz="3200" dirty="0" smtClean="0">
                <a:solidFill>
                  <a:schemeClr val="tx1"/>
                </a:solidFill>
                <a:latin typeface="Arial Narrow" panose="020B0606020202030204" pitchFamily="34" charset="0"/>
                <a:cs typeface="Times New Roman" panose="02020603050405020304" pitchFamily="18" charset="0"/>
              </a:rPr>
              <a:t>exist for</a:t>
            </a:r>
            <a:r>
              <a:rPr lang="en-US" altLang="en-US" sz="2800" dirty="0" smtClean="0">
                <a:solidFill>
                  <a:schemeClr val="tx1"/>
                </a:solidFill>
                <a:latin typeface="Arial Narrow" panose="020B0606020202030204" pitchFamily="34" charset="0"/>
                <a:cs typeface="Times New Roman" panose="02020603050405020304" pitchFamily="18" charset="0"/>
              </a:rPr>
              <a:t> </a:t>
            </a:r>
            <a:r>
              <a:rPr lang="en-US" altLang="en-US" sz="3200" dirty="0">
                <a:solidFill>
                  <a:schemeClr val="tx1"/>
                </a:solidFill>
                <a:latin typeface="Arial Narrow" panose="020B0606020202030204" pitchFamily="34" charset="0"/>
                <a:cs typeface="Times New Roman" panose="02020603050405020304" pitchFamily="18" charset="0"/>
              </a:rPr>
              <a:t>many</a:t>
            </a:r>
            <a:r>
              <a:rPr lang="en-US" altLang="en-US" sz="2800" dirty="0">
                <a:solidFill>
                  <a:schemeClr val="tx1"/>
                </a:solidFill>
                <a:latin typeface="Arial Narrow" panose="020B0606020202030204" pitchFamily="34" charset="0"/>
                <a:cs typeface="Times New Roman" panose="02020603050405020304" pitchFamily="18" charset="0"/>
              </a:rPr>
              <a:t> </a:t>
            </a:r>
            <a:r>
              <a:rPr lang="en-US" altLang="en-US" sz="3200" dirty="0">
                <a:solidFill>
                  <a:schemeClr val="tx1"/>
                </a:solidFill>
                <a:latin typeface="Arial Narrow" panose="020B0606020202030204" pitchFamily="34" charset="0"/>
                <a:cs typeface="Times New Roman" panose="02020603050405020304" pitchFamily="18" charset="0"/>
              </a:rPr>
              <a:t>application</a:t>
            </a:r>
            <a:r>
              <a:rPr lang="en-US" altLang="en-US" sz="2800" dirty="0">
                <a:solidFill>
                  <a:schemeClr val="tx1"/>
                </a:solidFill>
                <a:latin typeface="Arial Narrow" panose="020B0606020202030204" pitchFamily="34" charset="0"/>
                <a:cs typeface="Times New Roman" panose="02020603050405020304" pitchFamily="18" charset="0"/>
              </a:rPr>
              <a:t> </a:t>
            </a:r>
            <a:r>
              <a:rPr lang="en-US" altLang="en-US" sz="3200" dirty="0" smtClean="0">
                <a:solidFill>
                  <a:schemeClr val="tx1"/>
                </a:solidFill>
                <a:latin typeface="Arial Narrow" panose="020B0606020202030204" pitchFamily="34" charset="0"/>
                <a:cs typeface="Times New Roman" panose="02020603050405020304" pitchFamily="18" charset="0"/>
              </a:rPr>
              <a:t>areas.</a:t>
            </a:r>
            <a:r>
              <a:rPr lang="en-US" altLang="en-US" sz="3200" dirty="0">
                <a:solidFill>
                  <a:schemeClr val="tx1"/>
                </a:solidFill>
                <a:latin typeface="Arial Narrow" panose="020B0606020202030204" pitchFamily="34" charset="0"/>
                <a:cs typeface="Times New Roman" panose="02020603050405020304" pitchFamily="18" charset="0"/>
              </a:rPr>
              <a:t/>
            </a:r>
            <a:br>
              <a:rPr lang="en-US" altLang="en-US" sz="3200" dirty="0">
                <a:solidFill>
                  <a:schemeClr val="tx1"/>
                </a:solidFill>
                <a:latin typeface="Arial Narrow" panose="020B0606020202030204" pitchFamily="34" charset="0"/>
                <a:cs typeface="Times New Roman" panose="02020603050405020304" pitchFamily="18" charset="0"/>
              </a:rPr>
            </a:br>
            <a:endParaRPr lang="en-US" altLang="en-US" sz="1400" dirty="0">
              <a:solidFill>
                <a:schemeClr val="tx1"/>
              </a:solidFill>
              <a:latin typeface="Arial Narrow" panose="020B0606020202030204" pitchFamily="34" charset="0"/>
              <a:cs typeface="Times New Roman" panose="02020603050405020304" pitchFamily="18" charset="0"/>
            </a:endParaRPr>
          </a:p>
        </p:txBody>
      </p:sp>
      <p:sp>
        <p:nvSpPr>
          <p:cNvPr id="6" name="Title 1"/>
          <p:cNvSpPr txBox="1">
            <a:spLocks/>
          </p:cNvSpPr>
          <p:nvPr/>
        </p:nvSpPr>
        <p:spPr>
          <a:xfrm>
            <a:off x="0" y="-3841"/>
            <a:ext cx="9729788" cy="1055401"/>
          </a:xfrm>
          <a:prstGeom prst="rect">
            <a:avLst/>
          </a:prstGeom>
          <a:solidFill>
            <a:schemeClr val="bg1"/>
          </a:solidFill>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Design </a:t>
            </a:r>
            <a:r>
              <a:rPr lang="en-US" sz="5400" b="1" dirty="0">
                <a:solidFill>
                  <a:srgbClr val="2E75B6"/>
                </a:solidFill>
                <a:latin typeface="Times New Roman" panose="02020603050405020304" pitchFamily="18" charset="0"/>
                <a:cs typeface="Times New Roman" panose="02020603050405020304" pitchFamily="18" charset="0"/>
              </a:rPr>
              <a:t>considerations</a:t>
            </a:r>
            <a:r>
              <a:rPr lang="en-US" sz="5400" b="1" dirty="0">
                <a:solidFill>
                  <a:schemeClr val="accent1">
                    <a:lumMod val="75000"/>
                  </a:schemeClr>
                </a:solidFill>
                <a:latin typeface="Times New Roman" panose="02020603050405020304" pitchFamily="18" charset="0"/>
                <a:cs typeface="Times New Roman" panose="02020603050405020304" pitchFamily="18" charset="0"/>
              </a:rPr>
              <a:t> of Python:</a:t>
            </a:r>
          </a:p>
        </p:txBody>
      </p:sp>
    </p:spTree>
    <p:extLst>
      <p:ext uri="{BB962C8B-B14F-4D97-AF65-F5344CB8AC3E}">
        <p14:creationId xmlns:p14="http://schemas.microsoft.com/office/powerpoint/2010/main" val="137792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0" dur="500"/>
                                        <p:tgtEl>
                                          <p:spTgt spid="5">
                                            <p:txEl>
                                              <p:pRg st="0" end="0"/>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3" dur="500"/>
                                        <p:tgtEl>
                                          <p:spTgt spid="5">
                                            <p:txEl>
                                              <p:pRg st="1" end="1"/>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randombar(horizontal)">
                                      <p:cBhvr>
                                        <p:cTn id="21" dur="500"/>
                                        <p:tgtEl>
                                          <p:spTgt spid="7"/>
                                        </p:tgtEl>
                                      </p:cBhvr>
                                    </p:animEffect>
                                  </p:childTnLst>
                                </p:cTn>
                              </p:par>
                              <p:par>
                                <p:cTn id="22" presetID="14" presetClass="entr" presetSubtype="10" fill="hold"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4" dur="500"/>
                                        <p:tgtEl>
                                          <p:spTgt spid="5">
                                            <p:txEl>
                                              <p:pRg st="3" end="3"/>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7" dur="500"/>
                                        <p:tgtEl>
                                          <p:spTgt spid="5">
                                            <p:txEl>
                                              <p:pRg st="4" end="4"/>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randombar(horizontal)">
                                      <p:cBhvr>
                                        <p:cTn id="30" dur="500"/>
                                        <p:tgtEl>
                                          <p:spTgt spid="5">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randombar(horizontal)">
                                      <p:cBhvr>
                                        <p:cTn id="35" dur="500"/>
                                        <p:tgtEl>
                                          <p:spTgt spid="8"/>
                                        </p:tgtEl>
                                      </p:cBhvr>
                                    </p:animEffect>
                                  </p:childTnLst>
                                </p:cTn>
                              </p:par>
                              <p:par>
                                <p:cTn id="36" presetID="14" presetClass="entr" presetSubtype="10" fill="hold" nodeType="withEffect">
                                  <p:stCondLst>
                                    <p:cond delay="0"/>
                                  </p:stCondLst>
                                  <p:childTnLst>
                                    <p:set>
                                      <p:cBhvr>
                                        <p:cTn id="37" dur="1" fill="hold">
                                          <p:stCondLst>
                                            <p:cond delay="0"/>
                                          </p:stCondLst>
                                        </p:cTn>
                                        <p:tgtEl>
                                          <p:spTgt spid="5">
                                            <p:txEl>
                                              <p:pRg st="6" end="6"/>
                                            </p:txEl>
                                          </p:spTgt>
                                        </p:tgtEl>
                                        <p:attrNameLst>
                                          <p:attrName>style.visibility</p:attrName>
                                        </p:attrNameLst>
                                      </p:cBhvr>
                                      <p:to>
                                        <p:strVal val="visible"/>
                                      </p:to>
                                    </p:set>
                                    <p:animEffect transition="in" filter="randombar(horizontal)">
                                      <p:cBhvr>
                                        <p:cTn id="38" dur="500"/>
                                        <p:tgtEl>
                                          <p:spTgt spid="5">
                                            <p:txEl>
                                              <p:pRg st="6" end="6"/>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Effect transition="in" filter="randombar(horizontal)">
                                      <p:cBhvr>
                                        <p:cTn id="41" dur="500"/>
                                        <p:tgtEl>
                                          <p:spTgt spid="5">
                                            <p:txEl>
                                              <p:pRg st="7" end="7"/>
                                            </p:txEl>
                                          </p:spTgt>
                                        </p:tgtEl>
                                      </p:cBhvr>
                                    </p:animEffect>
                                  </p:childTnLst>
                                </p:cTn>
                              </p:par>
                              <p:par>
                                <p:cTn id="42" presetID="14" presetClass="entr" presetSubtype="10" fill="hold" nodeType="withEffect">
                                  <p:stCondLst>
                                    <p:cond delay="0"/>
                                  </p:stCondLst>
                                  <p:childTnLst>
                                    <p:set>
                                      <p:cBhvr>
                                        <p:cTn id="43" dur="1" fill="hold">
                                          <p:stCondLst>
                                            <p:cond delay="0"/>
                                          </p:stCondLst>
                                        </p:cTn>
                                        <p:tgtEl>
                                          <p:spTgt spid="5">
                                            <p:txEl>
                                              <p:pRg st="8" end="8"/>
                                            </p:txEl>
                                          </p:spTgt>
                                        </p:tgtEl>
                                        <p:attrNameLst>
                                          <p:attrName>style.visibility</p:attrName>
                                        </p:attrNameLst>
                                      </p:cBhvr>
                                      <p:to>
                                        <p:strVal val="visible"/>
                                      </p:to>
                                    </p:set>
                                    <p:animEffect transition="in" filter="randombar(horizontal)">
                                      <p:cBhvr>
                                        <p:cTn id="44" dur="500"/>
                                        <p:tgtEl>
                                          <p:spTgt spid="5">
                                            <p:txEl>
                                              <p:pRg st="8" end="8"/>
                                            </p:txEl>
                                          </p:spTgt>
                                        </p:tgtEl>
                                      </p:cBhvr>
                                    </p:animEffect>
                                  </p:childTnLst>
                                </p:cTn>
                              </p:par>
                              <p:par>
                                <p:cTn id="45" presetID="14" presetClass="entr" presetSubtype="10" fill="hold" nodeType="with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Effect transition="in" filter="randombar(horizontal)">
                                      <p:cBhvr>
                                        <p:cTn id="47" dur="500"/>
                                        <p:tgtEl>
                                          <p:spTgt spid="5">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randombar(horizontal)">
                                      <p:cBhvr>
                                        <p:cTn id="52" dur="500"/>
                                        <p:tgtEl>
                                          <p:spTgt spid="9"/>
                                        </p:tgtEl>
                                      </p:cBhvr>
                                    </p:animEffect>
                                  </p:childTnLst>
                                </p:cTn>
                              </p:par>
                              <p:par>
                                <p:cTn id="53" presetID="14" presetClass="entr" presetSubtype="10" fill="hold" nodeType="withEffect">
                                  <p:stCondLst>
                                    <p:cond delay="0"/>
                                  </p:stCondLst>
                                  <p:childTnLst>
                                    <p:set>
                                      <p:cBhvr>
                                        <p:cTn id="54" dur="1" fill="hold">
                                          <p:stCondLst>
                                            <p:cond delay="0"/>
                                          </p:stCondLst>
                                        </p:cTn>
                                        <p:tgtEl>
                                          <p:spTgt spid="5">
                                            <p:txEl>
                                              <p:pRg st="10" end="10"/>
                                            </p:txEl>
                                          </p:spTgt>
                                        </p:tgtEl>
                                        <p:attrNameLst>
                                          <p:attrName>style.visibility</p:attrName>
                                        </p:attrNameLst>
                                      </p:cBhvr>
                                      <p:to>
                                        <p:strVal val="visible"/>
                                      </p:to>
                                    </p:set>
                                    <p:animEffect transition="in" filter="randombar(horizontal)">
                                      <p:cBhvr>
                                        <p:cTn id="55" dur="500"/>
                                        <p:tgtEl>
                                          <p:spTgt spid="5">
                                            <p:txEl>
                                              <p:pRg st="10" end="10"/>
                                            </p:txEl>
                                          </p:spTgt>
                                        </p:tgtEl>
                                      </p:cBhvr>
                                    </p:animEffect>
                                  </p:childTnLst>
                                </p:cTn>
                              </p:par>
                              <p:par>
                                <p:cTn id="56" presetID="14" presetClass="entr" presetSubtype="10" fill="hold" nodeType="withEffect">
                                  <p:stCondLst>
                                    <p:cond delay="0"/>
                                  </p:stCondLst>
                                  <p:childTnLst>
                                    <p:set>
                                      <p:cBhvr>
                                        <p:cTn id="57" dur="1" fill="hold">
                                          <p:stCondLst>
                                            <p:cond delay="0"/>
                                          </p:stCondLst>
                                        </p:cTn>
                                        <p:tgtEl>
                                          <p:spTgt spid="5">
                                            <p:txEl>
                                              <p:pRg st="11" end="11"/>
                                            </p:txEl>
                                          </p:spTgt>
                                        </p:tgtEl>
                                        <p:attrNameLst>
                                          <p:attrName>style.visibility</p:attrName>
                                        </p:attrNameLst>
                                      </p:cBhvr>
                                      <p:to>
                                        <p:strVal val="visible"/>
                                      </p:to>
                                    </p:set>
                                    <p:animEffect transition="in" filter="randombar(horizontal)">
                                      <p:cBhvr>
                                        <p:cTn id="58"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0" y="123827"/>
            <a:ext cx="9729788" cy="1446381"/>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699" b="1" dirty="0" smtClean="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smtClean="0">
                <a:solidFill>
                  <a:schemeClr val="accent1">
                    <a:lumMod val="75000"/>
                  </a:schemeClr>
                </a:solidFill>
                <a:latin typeface="Times New Roman" panose="02020603050405020304" pitchFamily="18" charset="0"/>
                <a:cs typeface="Times New Roman" panose="02020603050405020304" pitchFamily="18" charset="0"/>
              </a:rPr>
            </a:br>
            <a:r>
              <a:rPr lang="en-US" sz="4699" b="1" dirty="0" smtClean="0">
                <a:solidFill>
                  <a:schemeClr val="accent1">
                    <a:lumMod val="75000"/>
                  </a:schemeClr>
                </a:solidFill>
                <a:latin typeface="Times New Roman" panose="02020603050405020304" pitchFamily="18" charset="0"/>
                <a:cs typeface="Times New Roman" panose="02020603050405020304" pitchFamily="18" charset="0"/>
              </a:rPr>
              <a:t>Dynamic Value Binding</a:t>
            </a:r>
            <a:r>
              <a:rPr lang="en-US" sz="4699" b="1" dirty="0" smtClean="0">
                <a:solidFill>
                  <a:schemeClr val="bg1"/>
                </a:solidFill>
                <a:latin typeface="Times New Roman" panose="02020603050405020304" pitchFamily="18" charset="0"/>
                <a:cs typeface="Times New Roman" panose="02020603050405020304" pitchFamily="18" charset="0"/>
              </a:rPr>
              <a:t>:</a:t>
            </a:r>
            <a:r>
              <a:rPr lang="en-US" sz="4699" b="1" dirty="0" smtClean="0">
                <a:solidFill>
                  <a:schemeClr val="accent1">
                    <a:lumMod val="75000"/>
                  </a:schemeClr>
                </a:solidFill>
                <a:latin typeface="Times New Roman" panose="02020603050405020304" pitchFamily="18" charset="0"/>
                <a:cs typeface="Times New Roman" panose="02020603050405020304" pitchFamily="18" charset="0"/>
              </a:rPr>
              <a:t> </a:t>
            </a:r>
            <a:endParaRPr lang="en-US" sz="4699"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0" name="Rounded Rectangular Callout 9"/>
          <p:cNvSpPr/>
          <p:nvPr/>
        </p:nvSpPr>
        <p:spPr>
          <a:xfrm>
            <a:off x="6333170" y="2392680"/>
            <a:ext cx="1732124" cy="1021080"/>
          </a:xfrm>
          <a:prstGeom prst="wedgeRoundRectCallout">
            <a:avLst>
              <a:gd name="adj1" fmla="val -19593"/>
              <a:gd name="adj2" fmla="val -1481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r>
              <a:rPr lang="en-US" sz="4800" b="1" spc="-200" dirty="0" smtClean="0">
                <a:solidFill>
                  <a:schemeClr val="bg1"/>
                </a:solidFill>
                <a:latin typeface="Times New Roman" panose="02020603050405020304" pitchFamily="18" charset="0"/>
                <a:cs typeface="Times New Roman" panose="02020603050405020304" pitchFamily="18" charset="0"/>
              </a:rPr>
              <a:t>(</a:t>
            </a:r>
            <a:r>
              <a:rPr lang="zh-TW" altLang="en-US" sz="4400" b="1" spc="-200" dirty="0">
                <a:solidFill>
                  <a:schemeClr val="bg1"/>
                </a:solidFill>
                <a:latin typeface="Times New Roman" panose="02020603050405020304" pitchFamily="18" charset="0"/>
                <a:cs typeface="Times New Roman" panose="02020603050405020304" pitchFamily="18" charset="0"/>
              </a:rPr>
              <a:t>連結</a:t>
            </a:r>
            <a:r>
              <a:rPr lang="en-US" sz="4800" b="1" spc="-200" dirty="0" smtClean="0">
                <a:solidFill>
                  <a:schemeClr val="bg1"/>
                </a:solidFill>
                <a:latin typeface="Times New Roman" panose="02020603050405020304" pitchFamily="18" charset="0"/>
                <a:cs typeface="Times New Roman" panose="02020603050405020304" pitchFamily="18" charset="0"/>
              </a:rPr>
              <a:t>)</a:t>
            </a:r>
            <a:endParaRPr lang="en-US" sz="4800" dirty="0">
              <a:solidFill>
                <a:schemeClr val="bg1"/>
              </a:solidFill>
            </a:endParaRPr>
          </a:p>
        </p:txBody>
      </p:sp>
      <p:sp>
        <p:nvSpPr>
          <p:cNvPr id="11" name="Rounded Rectangular Callout 10"/>
          <p:cNvSpPr/>
          <p:nvPr/>
        </p:nvSpPr>
        <p:spPr>
          <a:xfrm>
            <a:off x="1435894" y="2392680"/>
            <a:ext cx="2072642" cy="1021080"/>
          </a:xfrm>
          <a:prstGeom prst="wedgeRoundRectCallout">
            <a:avLst>
              <a:gd name="adj1" fmla="val 22093"/>
              <a:gd name="adj2" fmla="val -14711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wrap="none" tIns="0" rtlCol="0" anchor="ctr"/>
          <a:lstStyle/>
          <a:p>
            <a:pPr algn="ctr"/>
            <a:r>
              <a:rPr lang="en-US" sz="4800" b="1" spc="-200" dirty="0" smtClean="0">
                <a:solidFill>
                  <a:schemeClr val="bg1"/>
                </a:solidFill>
                <a:latin typeface="Times New Roman" panose="02020603050405020304" pitchFamily="18" charset="0"/>
                <a:cs typeface="Times New Roman" panose="02020603050405020304" pitchFamily="18" charset="0"/>
              </a:rPr>
              <a:t>(</a:t>
            </a:r>
            <a:r>
              <a:rPr lang="zh-TW" altLang="en-US" sz="4400" b="1" spc="-200" dirty="0">
                <a:solidFill>
                  <a:schemeClr val="bg1"/>
                </a:solidFill>
                <a:latin typeface="Times New Roman" panose="02020603050405020304" pitchFamily="18" charset="0"/>
                <a:cs typeface="Times New Roman" panose="02020603050405020304" pitchFamily="18" charset="0"/>
              </a:rPr>
              <a:t>動態的</a:t>
            </a:r>
            <a:r>
              <a:rPr lang="en-US" sz="4800" b="1" spc="-200" dirty="0" smtClean="0">
                <a:solidFill>
                  <a:schemeClr val="bg1"/>
                </a:solidFill>
                <a:latin typeface="Times New Roman" panose="02020603050405020304" pitchFamily="18" charset="0"/>
                <a:cs typeface="Times New Roman" panose="02020603050405020304" pitchFamily="18" charset="0"/>
              </a:rPr>
              <a:t>)</a:t>
            </a:r>
            <a:endParaRPr lang="en-US" sz="4800" dirty="0">
              <a:solidFill>
                <a:schemeClr val="bg1"/>
              </a:solidFill>
            </a:endParaRPr>
          </a:p>
        </p:txBody>
      </p:sp>
      <p:grpSp>
        <p:nvGrpSpPr>
          <p:cNvPr id="4" name="Group 3"/>
          <p:cNvGrpSpPr/>
          <p:nvPr/>
        </p:nvGrpSpPr>
        <p:grpSpPr>
          <a:xfrm>
            <a:off x="3871915" y="1400653"/>
            <a:ext cx="2135979" cy="2013107"/>
            <a:chOff x="3814766" y="1400653"/>
            <a:chExt cx="2135979" cy="2013107"/>
          </a:xfrm>
        </p:grpSpPr>
        <p:sp>
          <p:nvSpPr>
            <p:cNvPr id="2" name="Rounded Rectangular Callout 1"/>
            <p:cNvSpPr/>
            <p:nvPr/>
          </p:nvSpPr>
          <p:spPr>
            <a:xfrm>
              <a:off x="3814766" y="2392680"/>
              <a:ext cx="2135979" cy="1021080"/>
            </a:xfrm>
            <a:prstGeom prst="wedgeRoundRectCallout">
              <a:avLst>
                <a:gd name="adj1" fmla="val 25"/>
                <a:gd name="adj2" fmla="val -4918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wrap="none" tIns="0" rtlCol="0" anchor="ctr"/>
            <a:lstStyle/>
            <a:p>
              <a:pPr algn="ctr"/>
              <a:r>
                <a:rPr lang="en-US" sz="4800" b="1" spc="-200" dirty="0" smtClean="0">
                  <a:solidFill>
                    <a:schemeClr val="bg1"/>
                  </a:solidFill>
                  <a:latin typeface="Times New Roman" panose="02020603050405020304" pitchFamily="18" charset="0"/>
                  <a:cs typeface="Times New Roman" panose="02020603050405020304" pitchFamily="18" charset="0"/>
                </a:rPr>
                <a:t>(</a:t>
              </a:r>
              <a:r>
                <a:rPr lang="zh-TW" altLang="en-US" sz="4400" b="1" spc="-200" dirty="0">
                  <a:solidFill>
                    <a:schemeClr val="bg1"/>
                  </a:solidFill>
                  <a:latin typeface="Times New Roman" panose="02020603050405020304" pitchFamily="18" charset="0"/>
                  <a:cs typeface="Times New Roman" panose="02020603050405020304" pitchFamily="18" charset="0"/>
                </a:rPr>
                <a:t>數值</a:t>
              </a:r>
              <a:r>
                <a:rPr lang="en-US" sz="4800" b="1" spc="-200" dirty="0" smtClean="0">
                  <a:solidFill>
                    <a:schemeClr val="bg1"/>
                  </a:solidFill>
                  <a:latin typeface="Times New Roman" panose="02020603050405020304" pitchFamily="18" charset="0"/>
                  <a:cs typeface="Times New Roman" panose="02020603050405020304" pitchFamily="18" charset="0"/>
                </a:rPr>
                <a:t>)</a:t>
              </a:r>
              <a:endParaRPr lang="en-US" sz="4800" dirty="0">
                <a:solidFill>
                  <a:schemeClr val="bg1"/>
                </a:solidFill>
              </a:endParaRPr>
            </a:p>
          </p:txBody>
        </p:sp>
        <p:sp>
          <p:nvSpPr>
            <p:cNvPr id="3" name="Isosceles Triangle 2"/>
            <p:cNvSpPr/>
            <p:nvPr/>
          </p:nvSpPr>
          <p:spPr>
            <a:xfrm>
              <a:off x="4695822" y="1400653"/>
              <a:ext cx="446475" cy="99202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p:cNvSpPr/>
            <p:nvPr/>
          </p:nvSpPr>
          <p:spPr>
            <a:xfrm>
              <a:off x="4693445" y="1504122"/>
              <a:ext cx="451910" cy="933259"/>
            </a:xfrm>
            <a:prstGeom prst="triangle">
              <a:avLst/>
            </a:prstGeom>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ounded Rectangular Callout 11"/>
          <p:cNvSpPr/>
          <p:nvPr/>
        </p:nvSpPr>
        <p:spPr>
          <a:xfrm>
            <a:off x="3993708" y="4572000"/>
            <a:ext cx="1740783" cy="1021080"/>
          </a:xfrm>
          <a:prstGeom prst="wedgeRoundRectCallout">
            <a:avLst>
              <a:gd name="adj1" fmla="val 104294"/>
              <a:gd name="adj2" fmla="val -176841"/>
              <a:gd name="adj3" fmla="val 16667"/>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wrap="none" tIns="0" rtlCol="0" anchor="ctr"/>
          <a:lstStyle/>
          <a:p>
            <a:pPr algn="ctr"/>
            <a:r>
              <a:rPr lang="en-US" sz="4800" b="1" spc="-200" dirty="0" smtClean="0">
                <a:solidFill>
                  <a:srgbClr val="A6A6A6"/>
                </a:solidFill>
                <a:latin typeface="Times New Roman" panose="02020603050405020304" pitchFamily="18" charset="0"/>
                <a:cs typeface="Times New Roman" panose="02020603050405020304" pitchFamily="18" charset="0"/>
              </a:rPr>
              <a:t>(</a:t>
            </a:r>
            <a:r>
              <a:rPr lang="zh-TW" altLang="en-US" sz="4400" b="1" spc="-200" dirty="0">
                <a:solidFill>
                  <a:schemeClr val="bg1"/>
                </a:solidFill>
                <a:latin typeface="Times New Roman" panose="02020603050405020304" pitchFamily="18" charset="0"/>
                <a:cs typeface="Times New Roman" panose="02020603050405020304" pitchFamily="18" charset="0"/>
              </a:rPr>
              <a:t>連結的</a:t>
            </a:r>
            <a:r>
              <a:rPr lang="en-US" sz="4800" b="1" spc="-200" dirty="0" smtClean="0">
                <a:solidFill>
                  <a:srgbClr val="A6A6A6"/>
                </a:solidFill>
                <a:latin typeface="Times New Roman" panose="02020603050405020304" pitchFamily="18" charset="0"/>
                <a:cs typeface="Times New Roman" panose="02020603050405020304" pitchFamily="18" charset="0"/>
              </a:rPr>
              <a:t>)</a:t>
            </a:r>
            <a:endParaRPr lang="en-US" sz="4800" dirty="0">
              <a:solidFill>
                <a:srgbClr val="A6A6A6"/>
              </a:solidFill>
            </a:endParaRPr>
          </a:p>
        </p:txBody>
      </p:sp>
      <p:sp>
        <p:nvSpPr>
          <p:cNvPr id="19" name="Rounded Rectangular Callout 18"/>
          <p:cNvSpPr/>
          <p:nvPr/>
        </p:nvSpPr>
        <p:spPr>
          <a:xfrm>
            <a:off x="5708209" y="4572000"/>
            <a:ext cx="1485900" cy="1021080"/>
          </a:xfrm>
          <a:prstGeom prst="wedgeRoundRectCallout">
            <a:avLst>
              <a:gd name="adj1" fmla="val -92162"/>
              <a:gd name="adj2" fmla="val -177686"/>
              <a:gd name="adj3" fmla="val 16667"/>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wrap="none" tIns="0" rtlCol="0" anchor="ctr"/>
          <a:lstStyle/>
          <a:p>
            <a:pPr algn="ctr"/>
            <a:r>
              <a:rPr lang="zh-TW" altLang="en-US" sz="4800" b="1" spc="-200" dirty="0">
                <a:solidFill>
                  <a:schemeClr val="bg1"/>
                </a:solidFill>
                <a:latin typeface="Times New Roman" panose="02020603050405020304" pitchFamily="18" charset="0"/>
                <a:cs typeface="Times New Roman" panose="02020603050405020304" pitchFamily="18" charset="0"/>
              </a:rPr>
              <a:t>數值</a:t>
            </a:r>
            <a:r>
              <a:rPr lang="en-US" sz="4800" b="1" spc="-200" dirty="0" smtClean="0">
                <a:solidFill>
                  <a:srgbClr val="A6A6A6"/>
                </a:solidFill>
                <a:latin typeface="Times New Roman" panose="02020603050405020304" pitchFamily="18" charset="0"/>
                <a:cs typeface="Times New Roman" panose="02020603050405020304" pitchFamily="18" charset="0"/>
              </a:rPr>
              <a:t>)</a:t>
            </a:r>
            <a:endParaRPr lang="en-US" sz="4800" dirty="0">
              <a:solidFill>
                <a:srgbClr val="A6A6A6"/>
              </a:solidFill>
            </a:endParaRPr>
          </a:p>
        </p:txBody>
      </p:sp>
      <p:sp>
        <p:nvSpPr>
          <p:cNvPr id="13" name="Rounded Rectangular Callout 12"/>
          <p:cNvSpPr/>
          <p:nvPr/>
        </p:nvSpPr>
        <p:spPr>
          <a:xfrm>
            <a:off x="2622108" y="4572000"/>
            <a:ext cx="1386842" cy="1021080"/>
          </a:xfrm>
          <a:prstGeom prst="wedgeRoundRectCallout">
            <a:avLst>
              <a:gd name="adj1" fmla="val -53172"/>
              <a:gd name="adj2" fmla="val -182601"/>
              <a:gd name="adj3" fmla="val 16667"/>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wrap="none" tIns="0" rtlCol="0" anchor="ctr"/>
          <a:lstStyle/>
          <a:p>
            <a:pPr algn="ctr"/>
            <a:r>
              <a:rPr lang="en-US" sz="4800" b="1" spc="-200" dirty="0" smtClean="0">
                <a:solidFill>
                  <a:srgbClr val="A6A6A6"/>
                </a:solidFill>
                <a:latin typeface="Times New Roman" panose="02020603050405020304" pitchFamily="18" charset="0"/>
                <a:cs typeface="Times New Roman" panose="02020603050405020304" pitchFamily="18" charset="0"/>
              </a:rPr>
              <a:t>(</a:t>
            </a:r>
            <a:r>
              <a:rPr lang="zh-TW" altLang="en-US" sz="4400" b="1" spc="-200" dirty="0" smtClean="0">
                <a:solidFill>
                  <a:schemeClr val="bg1"/>
                </a:solidFill>
                <a:latin typeface="Times New Roman" panose="02020603050405020304" pitchFamily="18" charset="0"/>
                <a:cs typeface="Times New Roman" panose="02020603050405020304" pitchFamily="18" charset="0"/>
              </a:rPr>
              <a:t>動態</a:t>
            </a:r>
            <a:endParaRPr lang="en-US" sz="4800" dirty="0">
              <a:solidFill>
                <a:srgbClr val="A6A6A6"/>
              </a:solidFill>
            </a:endParaRPr>
          </a:p>
        </p:txBody>
      </p:sp>
    </p:spTree>
    <p:extLst>
      <p:ext uri="{BB962C8B-B14F-4D97-AF65-F5344CB8AC3E}">
        <p14:creationId xmlns:p14="http://schemas.microsoft.com/office/powerpoint/2010/main" val="36403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par>
                                <p:cTn id="11" presetID="22" presetClass="entr" presetSubtype="1"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childTnLst>
                          </p:cTn>
                        </p:par>
                        <p:par>
                          <p:cTn id="14" fill="hold">
                            <p:stCondLst>
                              <p:cond delay="500"/>
                            </p:stCondLst>
                            <p:childTnLst>
                              <p:par>
                                <p:cTn id="15" presetID="22" presetClass="entr" presetSubtype="1"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up)">
                                      <p:cBhvr>
                                        <p:cTn id="20" dur="500"/>
                                        <p:tgtEl>
                                          <p:spTgt spid="19"/>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9"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969156" y="5705435"/>
            <a:ext cx="1105" cy="23626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solidFill>
                <a:latin typeface="Lucida Console" panose="020B0609040504020204" pitchFamily="49" charset="0"/>
              </a:rPr>
              <a:t>% 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p:txBody>
      </p:sp>
      <p:cxnSp>
        <p:nvCxnSpPr>
          <p:cNvPr id="13" name="Straight Connector 12"/>
          <p:cNvCxnSpPr/>
          <p:nvPr/>
        </p:nvCxnSpPr>
        <p:spPr>
          <a:xfrm>
            <a:off x="637498"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ounded Rectangular Callout 13"/>
          <p:cNvSpPr/>
          <p:nvPr/>
        </p:nvSpPr>
        <p:spPr>
          <a:xfrm>
            <a:off x="4542953" y="2144599"/>
            <a:ext cx="4899245" cy="626235"/>
          </a:xfrm>
          <a:prstGeom prst="wedgeRoundRectCallout">
            <a:avLst>
              <a:gd name="adj1" fmla="val -86581"/>
              <a:gd name="adj2" fmla="val -38217"/>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a:solidFill>
                  <a:srgbClr val="0033CC"/>
                </a:solidFill>
              </a:rPr>
              <a:t>Here is a C++ program...</a:t>
            </a:r>
          </a:p>
        </p:txBody>
      </p:sp>
      <p:sp>
        <p:nvSpPr>
          <p:cNvPr id="9"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
        <p:nvSpPr>
          <p:cNvPr id="10" name="Rounded Rectangular Callout 9"/>
          <p:cNvSpPr/>
          <p:nvPr/>
        </p:nvSpPr>
        <p:spPr>
          <a:xfrm>
            <a:off x="969156" y="3011861"/>
            <a:ext cx="2433315" cy="1121418"/>
          </a:xfrm>
          <a:prstGeom prst="wedgeRoundRectCallout">
            <a:avLst>
              <a:gd name="adj1" fmla="val -44649"/>
              <a:gd name="adj2" fmla="val -11174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smtClean="0">
                <a:solidFill>
                  <a:srgbClr val="0033CC"/>
                </a:solidFill>
              </a:rPr>
              <a:t>“cat” is just the UNIX command to display a file.</a:t>
            </a:r>
            <a:endParaRPr lang="en-US" sz="2436" dirty="0">
              <a:solidFill>
                <a:srgbClr val="0033CC"/>
              </a:solidFill>
            </a:endParaRPr>
          </a:p>
        </p:txBody>
      </p:sp>
    </p:spTree>
    <p:extLst>
      <p:ext uri="{BB962C8B-B14F-4D97-AF65-F5344CB8AC3E}">
        <p14:creationId xmlns:p14="http://schemas.microsoft.com/office/powerpoint/2010/main" val="43089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childTnLst>
                                    <p:anim calcmode="discrete" valueType="str">
                                      <p:cBhvr>
                                        <p:cTn id="8" dur="1000" fill="hold"/>
                                        <p:tgtEl>
                                          <p:spTgt spid="13"/>
                                        </p:tgtEl>
                                        <p:attrNameLst>
                                          <p:attrName>style.visibility</p:attrName>
                                        </p:attrNameLst>
                                      </p:cBhvr>
                                      <p:tavLst>
                                        <p:tav tm="0">
                                          <p:val>
                                            <p:strVal val="hidden"/>
                                          </p:val>
                                        </p:tav>
                                        <p:tav tm="50000">
                                          <p:val>
                                            <p:strVal val="visible"/>
                                          </p:val>
                                        </p:tav>
                                      </p:tavLst>
                                    </p:anim>
                                  </p:childTnLst>
                                </p:cTn>
                              </p:par>
                              <p:par>
                                <p:cTn id="9" presetID="14" presetClass="entr" presetSubtype="1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randombar(horizontal)">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randombar(horizontal)">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xit" presetSubtype="10" fill="hold" grpId="1" nodeType="clickEffect">
                                  <p:stCondLst>
                                    <p:cond delay="0"/>
                                  </p:stCondLst>
                                  <p:childTnLst>
                                    <p:animEffect transition="out" filter="randombar(horizontal)">
                                      <p:cBhvr>
                                        <p:cTn id="20" dur="500"/>
                                        <p:tgtEl>
                                          <p:spTgt spid="10"/>
                                        </p:tgtEl>
                                      </p:cBhvr>
                                    </p:animEffect>
                                    <p:set>
                                      <p:cBhvr>
                                        <p:cTn id="21"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0" grpId="0" animBg="1"/>
      <p:bldP spid="10"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solidFill>
                <a:latin typeface="Lucida Console" panose="020B0609040504020204" pitchFamily="49" charset="0"/>
              </a:rPr>
              <a:t>% 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p:txBody>
      </p:sp>
      <p:sp>
        <p:nvSpPr>
          <p:cNvPr id="14" name="Rounded Rectangular Callout 13"/>
          <p:cNvSpPr/>
          <p:nvPr/>
        </p:nvSpPr>
        <p:spPr>
          <a:xfrm>
            <a:off x="4542953" y="2144599"/>
            <a:ext cx="4899245" cy="626235"/>
          </a:xfrm>
          <a:prstGeom prst="wedgeRoundRectCallout">
            <a:avLst>
              <a:gd name="adj1" fmla="val -86581"/>
              <a:gd name="adj2" fmla="val -38217"/>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a:solidFill>
                  <a:srgbClr val="0033CC"/>
                </a:solidFill>
              </a:rPr>
              <a:t>Here is a C++ program...</a:t>
            </a: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
        <p:nvSpPr>
          <p:cNvPr id="9" name="Rounded Rectangular Callout 8"/>
          <p:cNvSpPr/>
          <p:nvPr/>
        </p:nvSpPr>
        <p:spPr>
          <a:xfrm>
            <a:off x="4335025" y="4363585"/>
            <a:ext cx="5130500" cy="772592"/>
          </a:xfrm>
          <a:prstGeom prst="wedgeRoundRectCallout">
            <a:avLst>
              <a:gd name="adj1" fmla="val -110189"/>
              <a:gd name="adj2" fmla="val 15565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a:solidFill>
                  <a:srgbClr val="0033CC"/>
                </a:solidFill>
              </a:rPr>
              <a:t>Let’s compile it </a:t>
            </a:r>
            <a:r>
              <a:rPr lang="en-US" sz="2436" dirty="0" smtClean="0">
                <a:solidFill>
                  <a:srgbClr val="0033CC"/>
                </a:solidFill>
              </a:rPr>
              <a:t>(if this were Python, we could skip this step).</a:t>
            </a:r>
            <a:endParaRPr lang="en-US" sz="2436" dirty="0">
              <a:solidFill>
                <a:srgbClr val="0033CC"/>
              </a:solidFill>
            </a:endParaRPr>
          </a:p>
        </p:txBody>
      </p:sp>
      <p:cxnSp>
        <p:nvCxnSpPr>
          <p:cNvPr id="10" name="Straight Connector 9"/>
          <p:cNvCxnSpPr/>
          <p:nvPr/>
        </p:nvCxnSpPr>
        <p:spPr>
          <a:xfrm>
            <a:off x="4335026"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25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xit" presetSubtype="10" fill="hold" grpId="0" nodeType="withEffect">
                                  <p:stCondLst>
                                    <p:cond delay="0"/>
                                  </p:stCondLst>
                                  <p:childTnLst>
                                    <p:animEffect transition="out" filter="randombar(horizontal)">
                                      <p:cBhvr>
                                        <p:cTn id="9" dur="500"/>
                                        <p:tgtEl>
                                          <p:spTgt spid="14"/>
                                        </p:tgtEl>
                                      </p:cBhvr>
                                    </p:animEffect>
                                    <p:set>
                                      <p:cBhvr>
                                        <p:cTn id="10" dur="1" fill="hold">
                                          <p:stCondLst>
                                            <p:cond delay="499"/>
                                          </p:stCondLst>
                                        </p:cTn>
                                        <p:tgtEl>
                                          <p:spTgt spid="1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4" presetClass="exit" presetSubtype="10" fill="hold" grpId="1" nodeType="clickEffect">
                                  <p:stCondLst>
                                    <p:cond delay="0"/>
                                  </p:stCondLst>
                                  <p:childTnLst>
                                    <p:animEffect transition="out" filter="randombar(horizontal)">
                                      <p:cBhvr>
                                        <p:cTn id="14" dur="500"/>
                                        <p:tgtEl>
                                          <p:spTgt spid="9"/>
                                        </p:tgtEl>
                                      </p:cBhvr>
                                    </p:animEffect>
                                    <p:set>
                                      <p:cBhvr>
                                        <p:cTn id="15" dur="1" fill="hold">
                                          <p:stCondLst>
                                            <p:cond delay="499"/>
                                          </p:stCondLst>
                                        </p:cTn>
                                        <p:tgtEl>
                                          <p:spTgt spid="9"/>
                                        </p:tgtEl>
                                        <p:attrNameLst>
                                          <p:attrName>style.visibility</p:attrName>
                                        </p:attrNameLst>
                                      </p:cBhvr>
                                      <p:to>
                                        <p:strVal val="hidden"/>
                                      </p:to>
                                    </p:set>
                                  </p:childTnLst>
                                </p:cTn>
                              </p:par>
                              <p:par>
                                <p:cTn id="16" presetID="35" presetClass="emph" presetSubtype="0" repeatCount="indefinite" fill="hold" nodeType="withEffect">
                                  <p:stCondLst>
                                    <p:cond delay="0"/>
                                  </p:stCondLst>
                                  <p:childTnLst>
                                    <p:anim calcmode="discrete" valueType="str">
                                      <p:cBhvr>
                                        <p:cTn id="17"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9" grpId="0" animBg="1"/>
      <p:bldP spid="9"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TW" sz="2088" dirty="0" smtClean="0">
              <a:solidFill>
                <a:prstClr val="white"/>
              </a:solidFill>
              <a:latin typeface="Lucida Console" panose="020B0609040504020204" pitchFamily="49" charset="0"/>
            </a:endParaRPr>
          </a:p>
          <a:p>
            <a:r>
              <a:rPr lang="en-US" altLang="zh-TW" sz="2088" dirty="0" smtClean="0">
                <a:solidFill>
                  <a:prstClr val="white"/>
                </a:solidFill>
                <a:latin typeface="Lucida Console" panose="020B0609040504020204" pitchFamily="49" charset="0"/>
              </a:rPr>
              <a:t>#</a:t>
            </a:r>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smtClean="0">
                <a:solidFill>
                  <a:prstClr val="white"/>
                </a:solidFill>
                <a:latin typeface="Lucida Console" panose="020B0609040504020204" pitchFamily="49" charset="0"/>
              </a:rPr>
              <a:t>cube.x</a:t>
            </a:r>
            <a:endParaRPr lang="en-US" altLang="zh-TW" sz="2088" dirty="0" smtClean="0">
              <a:solidFill>
                <a:prstClr val="white"/>
              </a:solidFill>
              <a:latin typeface="Lucida Console" panose="020B0609040504020204" pitchFamily="49" charset="0"/>
            </a:endParaRPr>
          </a:p>
          <a:p>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10" name="Straight Connector 9"/>
          <p:cNvCxnSpPr/>
          <p:nvPr/>
        </p:nvCxnSpPr>
        <p:spPr>
          <a:xfrm>
            <a:off x="1814294"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ounded Rectangular Callout 10"/>
          <p:cNvSpPr/>
          <p:nvPr/>
        </p:nvSpPr>
        <p:spPr>
          <a:xfrm>
            <a:off x="4556423" y="5039396"/>
            <a:ext cx="4899245" cy="772592"/>
          </a:xfrm>
          <a:prstGeom prst="wedgeRoundRectCallout">
            <a:avLst>
              <a:gd name="adj1" fmla="val -104532"/>
              <a:gd name="adj2" fmla="val 7776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a:solidFill>
                  <a:srgbClr val="0033CC"/>
                </a:solidFill>
              </a:rPr>
              <a:t>Let’s run it.</a:t>
            </a:r>
          </a:p>
        </p:txBody>
      </p:sp>
    </p:spTree>
    <p:extLst>
      <p:ext uri="{BB962C8B-B14F-4D97-AF65-F5344CB8AC3E}">
        <p14:creationId xmlns:p14="http://schemas.microsoft.com/office/powerpoint/2010/main" val="414071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0"/>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randombar(horizontal)">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11"/>
                                        </p:tgtEl>
                                      </p:cBhvr>
                                    </p:animEffect>
                                    <p:set>
                                      <p:cBhvr>
                                        <p:cTn id="14"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using </a:t>
            </a:r>
            <a:r>
              <a:rPr lang="en-US" altLang="zh-TW" sz="2088" dirty="0">
                <a:solidFill>
                  <a:prstClr val="white"/>
                </a:solidFill>
                <a:latin typeface="Lucida Console" panose="020B0609040504020204" pitchFamily="49" charset="0"/>
              </a:rPr>
              <a:t>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smtClean="0">
                <a:solidFill>
                  <a:prstClr val="white"/>
                </a:solidFill>
                <a:latin typeface="Lucida Console" panose="020B0609040504020204" pitchFamily="49" charset="0"/>
              </a:rPr>
              <a:t>cube.x</a:t>
            </a:r>
            <a:endParaRPr lang="en-US" altLang="zh-TW" sz="2088" dirty="0" smtClean="0">
              <a:solidFill>
                <a:prstClr val="white"/>
              </a:solidFill>
              <a:latin typeface="Lucida Console" panose="020B0609040504020204" pitchFamily="49" charset="0"/>
            </a:endParaRPr>
          </a:p>
          <a:p>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2062962867"/>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err="1" smtClean="0">
                <a:solidFill>
                  <a:prstClr val="white"/>
                </a:solidFill>
                <a:latin typeface="Lucida Console" panose="020B0609040504020204" pitchFamily="49" charset="0"/>
              </a:rPr>
              <a:t>int</a:t>
            </a:r>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main()</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smtClean="0">
                <a:solidFill>
                  <a:prstClr val="white"/>
                </a:solidFill>
                <a:latin typeface="Lucida Console" panose="020B0609040504020204" pitchFamily="49" charset="0"/>
              </a:rPr>
              <a:t>cube.x</a:t>
            </a:r>
            <a:endParaRPr lang="en-US" altLang="zh-TW" sz="2088" dirty="0" smtClean="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1638710040"/>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smtClean="0">
                <a:solidFill>
                  <a:prstClr val="white"/>
                </a:solidFill>
                <a:latin typeface="Lucida Console" panose="020B0609040504020204" pitchFamily="49" charset="0"/>
              </a:rPr>
              <a:t>cube.x</a:t>
            </a:r>
            <a:endParaRPr lang="en-US" altLang="zh-TW" sz="2088" dirty="0" smtClean="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2383975307"/>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   for (</a:t>
            </a:r>
            <a:r>
              <a:rPr lang="en-US" altLang="zh-TW" sz="2088" dirty="0" err="1" smtClean="0">
                <a:solidFill>
                  <a:prstClr val="white"/>
                </a:solidFill>
                <a:latin typeface="Lucida Console" panose="020B0609040504020204" pitchFamily="49" charset="0"/>
              </a:rPr>
              <a:t>i</a:t>
            </a:r>
            <a:r>
              <a:rPr lang="en-US" altLang="zh-TW" sz="2088" dirty="0" smtClean="0">
                <a:solidFill>
                  <a:prstClr val="white"/>
                </a:solidFill>
                <a:latin typeface="Lucida Console" panose="020B0609040504020204" pitchFamily="49" charset="0"/>
              </a:rPr>
              <a:t>=0;i&lt;39;i++) </a:t>
            </a:r>
            <a:r>
              <a:rPr lang="en-US" altLang="zh-TW" sz="2088" dirty="0" err="1" smtClean="0">
                <a:solidFill>
                  <a:prstClr val="white"/>
                </a:solidFill>
                <a:latin typeface="Lucida Console" panose="020B0609040504020204" pitchFamily="49" charset="0"/>
              </a:rPr>
              <a:t>cout</a:t>
            </a:r>
            <a:r>
              <a:rPr lang="en-US" altLang="zh-TW" sz="2088" dirty="0" smtClean="0">
                <a:solidFill>
                  <a:prstClr val="white"/>
                </a:solidFill>
                <a:latin typeface="Lucida Console" panose="020B0609040504020204" pitchFamily="49" charset="0"/>
              </a:rPr>
              <a:t>&lt;&lt;"*";</a:t>
            </a:r>
          </a:p>
          <a:p>
            <a:r>
              <a:rPr lang="en-US" altLang="zh-TW" sz="2088" dirty="0" smtClean="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smtClean="0">
                <a:solidFill>
                  <a:prstClr val="white"/>
                </a:solidFill>
                <a:latin typeface="Lucida Console" panose="020B0609040504020204" pitchFamily="49" charset="0"/>
              </a:rPr>
              <a:t>cube.x</a:t>
            </a:r>
            <a:endParaRPr lang="en-US" altLang="zh-TW" sz="2088" dirty="0" smtClean="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Enter a number: </a:t>
            </a: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5" name="Straight Connector 4"/>
          <p:cNvCxnSpPr/>
          <p:nvPr/>
        </p:nvCxnSpPr>
        <p:spPr>
          <a:xfrm>
            <a:off x="2979366" y="5910828"/>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ounded Rectangular Callout 5"/>
          <p:cNvSpPr/>
          <p:nvPr/>
        </p:nvSpPr>
        <p:spPr>
          <a:xfrm>
            <a:off x="5377545" y="4017710"/>
            <a:ext cx="2676693" cy="772592"/>
          </a:xfrm>
          <a:prstGeom prst="wedgeRoundRectCallout">
            <a:avLst>
              <a:gd name="adj1" fmla="val -137921"/>
              <a:gd name="adj2" fmla="val 20350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It’s waiting for a number.</a:t>
            </a:r>
          </a:p>
        </p:txBody>
      </p:sp>
    </p:spTree>
    <p:extLst>
      <p:ext uri="{BB962C8B-B14F-4D97-AF65-F5344CB8AC3E}">
        <p14:creationId xmlns:p14="http://schemas.microsoft.com/office/powerpoint/2010/main" val="3510840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randombar(horizontal)">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cube.x</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Enter a number</a:t>
            </a:r>
            <a:r>
              <a:rPr lang="en-US" altLang="zh-TW" sz="2088" dirty="0" smtClean="0">
                <a:solidFill>
                  <a:prstClr val="white"/>
                </a:solidFill>
                <a:latin typeface="Lucida Console" panose="020B0609040504020204" pitchFamily="49" charset="0"/>
              </a:rPr>
              <a:t>: 5</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9" name="Straight Connector 8"/>
          <p:cNvCxnSpPr/>
          <p:nvPr/>
        </p:nvCxnSpPr>
        <p:spPr>
          <a:xfrm>
            <a:off x="3188926"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ounded Rectangular Callout 6"/>
          <p:cNvSpPr/>
          <p:nvPr/>
        </p:nvSpPr>
        <p:spPr>
          <a:xfrm>
            <a:off x="6864620" y="5146871"/>
            <a:ext cx="2676693" cy="772592"/>
          </a:xfrm>
          <a:prstGeom prst="wedgeRoundRectCallout">
            <a:avLst>
              <a:gd name="adj1" fmla="val -187288"/>
              <a:gd name="adj2" fmla="val 60987"/>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a:solidFill>
                  <a:srgbClr val="0033CC"/>
                </a:solidFill>
              </a:rPr>
              <a:t>Let’s give it ‘5’.</a:t>
            </a:r>
          </a:p>
        </p:txBody>
      </p:sp>
      <p:sp>
        <p:nvSpPr>
          <p:cNvPr id="11" name="Rounded Rectangular Callout 10"/>
          <p:cNvSpPr/>
          <p:nvPr/>
        </p:nvSpPr>
        <p:spPr>
          <a:xfrm>
            <a:off x="5377545" y="4017710"/>
            <a:ext cx="2676693" cy="772592"/>
          </a:xfrm>
          <a:prstGeom prst="wedgeRoundRectCallout">
            <a:avLst>
              <a:gd name="adj1" fmla="val -137921"/>
              <a:gd name="adj2" fmla="val 20350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It’s waiting for a number.</a:t>
            </a:r>
          </a:p>
        </p:txBody>
      </p:sp>
    </p:spTree>
    <p:extLst>
      <p:ext uri="{BB962C8B-B14F-4D97-AF65-F5344CB8AC3E}">
        <p14:creationId xmlns:p14="http://schemas.microsoft.com/office/powerpoint/2010/main" val="395871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9"/>
                                        </p:tgtEl>
                                        <p:attrNameLst>
                                          <p:attrName>style.visibility</p:attrName>
                                        </p:attrNameLst>
                                      </p:cBhvr>
                                      <p:tavLst>
                                        <p:tav tm="0">
                                          <p:val>
                                            <p:strVal val="hidden"/>
                                          </p:val>
                                        </p:tav>
                                        <p:tav tm="50000">
                                          <p:val>
                                            <p:strVal val="visible"/>
                                          </p:val>
                                        </p:tav>
                                      </p:tavLst>
                                    </p:anim>
                                  </p:childTnLst>
                                </p:cTn>
                              </p:par>
                              <p:par>
                                <p:cTn id="7" presetID="14" presetClass="exit" presetSubtype="10" fill="hold" grpId="0" nodeType="withEffect">
                                  <p:stCondLst>
                                    <p:cond delay="0"/>
                                  </p:stCondLst>
                                  <p:childTnLst>
                                    <p:animEffect transition="out" filter="randombar(horizontal)">
                                      <p:cBhvr>
                                        <p:cTn id="8" dur="500"/>
                                        <p:tgtEl>
                                          <p:spTgt spid="11"/>
                                        </p:tgtEl>
                                      </p:cBhvr>
                                    </p:animEffect>
                                    <p:set>
                                      <p:cBhvr>
                                        <p:cTn id="9" dur="1" fill="hold">
                                          <p:stCondLst>
                                            <p:cond delay="499"/>
                                          </p:stCondLst>
                                        </p:cTn>
                                        <p:tgtEl>
                                          <p:spTgt spid="11"/>
                                        </p:tgtEl>
                                        <p:attrNameLst>
                                          <p:attrName>style.visibility</p:attrName>
                                        </p:attrNameLst>
                                      </p:cBhvr>
                                      <p:to>
                                        <p:strVal val="hidden"/>
                                      </p:to>
                                    </p:set>
                                  </p:childTnLst>
                                </p:cTn>
                              </p:par>
                              <p:par>
                                <p:cTn id="10" presetID="14" presetClass="entr" presetSubtype="1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1"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   </a:t>
            </a:r>
            <a:r>
              <a:rPr lang="en-US" altLang="zh-TW" sz="2088" dirty="0" err="1" smtClean="0">
                <a:solidFill>
                  <a:prstClr val="white"/>
                </a:solidFill>
                <a:latin typeface="Lucida Console" panose="020B0609040504020204" pitchFamily="49" charset="0"/>
              </a:rPr>
              <a:t>cout</a:t>
            </a:r>
            <a:r>
              <a:rPr lang="en-US" altLang="zh-TW" sz="2088" dirty="0" smtClean="0">
                <a:solidFill>
                  <a:prstClr val="white"/>
                </a:solidFill>
                <a:latin typeface="Lucida Console" panose="020B0609040504020204" pitchFamily="49" charset="0"/>
              </a:rPr>
              <a:t>&lt;&lt;"\n* Example Program to Compute the Cube *\n";</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cube.x</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Enter a number</a:t>
            </a:r>
            <a:r>
              <a:rPr lang="en-US" altLang="zh-TW" sz="2088" dirty="0" smtClean="0">
                <a:solidFill>
                  <a:prstClr val="white"/>
                </a:solidFill>
                <a:latin typeface="Lucida Console" panose="020B0609040504020204" pitchFamily="49" charset="0"/>
              </a:rPr>
              <a:t>: 5</a:t>
            </a:r>
          </a:p>
          <a:p>
            <a:r>
              <a:rPr lang="en-US" altLang="zh-TW" sz="2088" dirty="0" smtClean="0">
                <a:solidFill>
                  <a:prstClr val="white"/>
                </a:solidFill>
                <a:latin typeface="Lucida Console" panose="020B0609040504020204" pitchFamily="49" charset="0"/>
              </a:rPr>
              <a:t>125</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1320013238"/>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smtClean="0">
                <a:solidFill>
                  <a:prstClr val="white"/>
                </a:solidFill>
                <a:latin typeface="Lucida Console" panose="020B0609040504020204" pitchFamily="49" charset="0"/>
              </a:rPr>
              <a:t>&lt;&lt;"*";</a:t>
            </a:r>
          </a:p>
          <a:p>
            <a:r>
              <a:rPr lang="en-US" altLang="zh-TW" sz="2088" dirty="0" smtClean="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cube.x</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a:solidFill>
                  <a:prstClr val="white"/>
                </a:solidFill>
                <a:latin typeface="Lucida Console" panose="020B0609040504020204" pitchFamily="49" charset="0"/>
              </a:rPr>
              <a:t>%</a:t>
            </a: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7" name="Straight Connector 6"/>
          <p:cNvCxnSpPr/>
          <p:nvPr/>
        </p:nvCxnSpPr>
        <p:spPr>
          <a:xfrm>
            <a:off x="704747"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ounded Rectangular Callout 10"/>
          <p:cNvSpPr/>
          <p:nvPr/>
        </p:nvSpPr>
        <p:spPr>
          <a:xfrm>
            <a:off x="4590702" y="4955651"/>
            <a:ext cx="4899245" cy="772592"/>
          </a:xfrm>
          <a:prstGeom prst="wedgeRoundRectCallout">
            <a:avLst>
              <a:gd name="adj1" fmla="val -104019"/>
              <a:gd name="adj2" fmla="val 4741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a:solidFill>
                  <a:srgbClr val="0033CC"/>
                </a:solidFill>
              </a:rPr>
              <a:t>So it works. Of course.</a:t>
            </a:r>
          </a:p>
        </p:txBody>
      </p:sp>
      <p:sp>
        <p:nvSpPr>
          <p:cNvPr id="9" name="Rounded Rectangular Callout 8"/>
          <p:cNvSpPr/>
          <p:nvPr/>
        </p:nvSpPr>
        <p:spPr>
          <a:xfrm>
            <a:off x="4594444" y="5364604"/>
            <a:ext cx="4899245" cy="772592"/>
          </a:xfrm>
          <a:prstGeom prst="wedgeRoundRectCallout">
            <a:avLst>
              <a:gd name="adj1" fmla="val -49989"/>
              <a:gd name="adj2" fmla="val -2661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36" dirty="0">
                <a:solidFill>
                  <a:srgbClr val="0033CC"/>
                </a:solidFill>
              </a:rPr>
              <a:t>But let’s look at that program again...</a:t>
            </a:r>
          </a:p>
        </p:txBody>
      </p:sp>
    </p:spTree>
    <p:extLst>
      <p:ext uri="{BB962C8B-B14F-4D97-AF65-F5344CB8AC3E}">
        <p14:creationId xmlns:p14="http://schemas.microsoft.com/office/powerpoint/2010/main" val="80102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randombar(horizontal)">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11"/>
                                        </p:tgtEl>
                                      </p:cBhvr>
                                    </p:animEffect>
                                    <p:set>
                                      <p:cBhvr>
                                        <p:cTn id="14" dur="1" fill="hold">
                                          <p:stCondLst>
                                            <p:cond delay="499"/>
                                          </p:stCondLst>
                                        </p:cTn>
                                        <p:tgtEl>
                                          <p:spTgt spid="11"/>
                                        </p:tgtEl>
                                        <p:attrNameLst>
                                          <p:attrName>style.visibility</p:attrName>
                                        </p:attrNameLst>
                                      </p:cBhvr>
                                      <p:to>
                                        <p:strVal val="hidden"/>
                                      </p:to>
                                    </p:set>
                                  </p:childTnLst>
                                </p:cTn>
                              </p:par>
                              <p:par>
                                <p:cTn id="15" presetID="14" presetClass="entr" presetSubtype="1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solidFill>
                <a:latin typeface="Lucida Console" panose="020B0609040504020204" pitchFamily="49" charset="0"/>
              </a:rPr>
              <a:t> </a:t>
            </a:r>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smtClean="0">
                <a:solidFill>
                  <a:prstClr val="white"/>
                </a:solidFill>
                <a:latin typeface="Lucida Console" panose="020B0609040504020204" pitchFamily="49" charset="0"/>
              </a:rPr>
              <a:t>&lt;&lt;"*";</a:t>
            </a:r>
          </a:p>
          <a:p>
            <a:r>
              <a:rPr lang="en-US" altLang="zh-TW" sz="2088" dirty="0" smtClean="0">
                <a:solidFill>
                  <a:prstClr val="white"/>
                </a:solidFill>
                <a:latin typeface="Lucida Console" panose="020B0609040504020204" pitchFamily="49" charset="0"/>
              </a:rPr>
              <a:t>   </a:t>
            </a:r>
            <a:r>
              <a:rPr lang="en-US" altLang="zh-TW" sz="2088" dirty="0" err="1" smtClean="0">
                <a:solidFill>
                  <a:prstClr val="white"/>
                </a:solidFill>
                <a:latin typeface="Lucida Console" panose="020B0609040504020204" pitchFamily="49" charset="0"/>
              </a:rPr>
              <a:t>cout</a:t>
            </a:r>
            <a:r>
              <a:rPr lang="en-US" altLang="zh-TW" sz="2088" dirty="0" smtClean="0">
                <a:solidFill>
                  <a:prstClr val="white"/>
                </a:solidFill>
                <a:latin typeface="Lucida Console" panose="020B0609040504020204" pitchFamily="49" charset="0"/>
              </a:rPr>
              <a:t>&lt;&lt;"\</a:t>
            </a:r>
            <a:r>
              <a:rPr lang="en-US" altLang="zh-TW" sz="2088" dirty="0" err="1" smtClean="0">
                <a:solidFill>
                  <a:prstClr val="white"/>
                </a:solidFill>
                <a:latin typeface="Lucida Console" panose="020B0609040504020204" pitchFamily="49" charset="0"/>
              </a:rPr>
              <a:t>nEnter</a:t>
            </a:r>
            <a:r>
              <a:rPr lang="en-US" altLang="zh-TW" sz="2088" dirty="0" smtClean="0">
                <a:solidFill>
                  <a:prstClr val="white"/>
                </a:solidFill>
                <a:latin typeface="Lucida Console" panose="020B0609040504020204" pitchFamily="49" charset="0"/>
              </a:rPr>
              <a:t> a number: ";</a:t>
            </a:r>
          </a:p>
          <a:p>
            <a:r>
              <a:rPr lang="en-US" altLang="zh-TW" sz="2088" dirty="0" smtClean="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cube.x</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a:solidFill>
                  <a:prstClr val="white"/>
                </a:solidFill>
                <a:latin typeface="Lucida Console" panose="020B0609040504020204" pitchFamily="49" charset="0"/>
              </a:rPr>
              <a:t>% cat </a:t>
            </a:r>
            <a:r>
              <a:rPr lang="en-US" altLang="zh-TW" sz="2088" dirty="0" smtClean="0">
                <a:solidFill>
                  <a:prstClr val="white"/>
                </a:solidFill>
                <a:latin typeface="Lucida Console" panose="020B0609040504020204" pitchFamily="49" charset="0"/>
              </a:rPr>
              <a:t>cube.cpp</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7" name="Straight Connector 6"/>
          <p:cNvCxnSpPr/>
          <p:nvPr/>
        </p:nvCxnSpPr>
        <p:spPr>
          <a:xfrm>
            <a:off x="2722745"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ounded Rectangular Callout 12"/>
          <p:cNvSpPr/>
          <p:nvPr/>
        </p:nvSpPr>
        <p:spPr>
          <a:xfrm>
            <a:off x="4594444" y="5364604"/>
            <a:ext cx="4899245" cy="772592"/>
          </a:xfrm>
          <a:prstGeom prst="wedgeRoundRectCallout">
            <a:avLst>
              <a:gd name="adj1" fmla="val -85226"/>
              <a:gd name="adj2" fmla="val 3663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36" dirty="0">
                <a:solidFill>
                  <a:srgbClr val="0033CC"/>
                </a:solidFill>
              </a:rPr>
              <a:t>But let’s look at that program again...</a:t>
            </a:r>
          </a:p>
        </p:txBody>
      </p:sp>
    </p:spTree>
    <p:extLst>
      <p:ext uri="{BB962C8B-B14F-4D97-AF65-F5344CB8AC3E}">
        <p14:creationId xmlns:p14="http://schemas.microsoft.com/office/powerpoint/2010/main" val="403898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xit" presetSubtype="10" fill="hold" grpId="0" nodeType="clickEffect">
                                  <p:stCondLst>
                                    <p:cond delay="0"/>
                                  </p:stCondLst>
                                  <p:childTnLst>
                                    <p:animEffect transition="out" filter="randombar(horizontal)">
                                      <p:cBhvr>
                                        <p:cTn id="10" dur="500"/>
                                        <p:tgtEl>
                                          <p:spTgt spid="13"/>
                                        </p:tgtEl>
                                      </p:cBhvr>
                                    </p:animEffect>
                                    <p:set>
                                      <p:cBhvr>
                                        <p:cTn id="11"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   </a:t>
            </a:r>
            <a:r>
              <a:rPr lang="en-US" altLang="zh-TW" sz="2088" dirty="0" err="1" smtClean="0">
                <a:solidFill>
                  <a:prstClr val="white"/>
                </a:solidFill>
                <a:latin typeface="Lucida Console" panose="020B0609040504020204" pitchFamily="49" charset="0"/>
              </a:rPr>
              <a:t>cout</a:t>
            </a:r>
            <a:r>
              <a:rPr lang="en-US" altLang="zh-TW" sz="2088" dirty="0" smtClean="0">
                <a:solidFill>
                  <a:prstClr val="white"/>
                </a:solidFill>
                <a:latin typeface="Lucida Console" panose="020B0609040504020204" pitchFamily="49" charset="0"/>
              </a:rPr>
              <a:t>&lt;&lt;"\</a:t>
            </a:r>
            <a:r>
              <a:rPr lang="en-US" altLang="zh-TW" sz="2088" dirty="0" err="1" smtClean="0">
                <a:solidFill>
                  <a:prstClr val="white"/>
                </a:solidFill>
                <a:latin typeface="Lucida Console" panose="020B0609040504020204" pitchFamily="49" charset="0"/>
              </a:rPr>
              <a:t>nEnter</a:t>
            </a:r>
            <a:r>
              <a:rPr lang="en-US" altLang="zh-TW" sz="2088" dirty="0" smtClean="0">
                <a:solidFill>
                  <a:prstClr val="white"/>
                </a:solidFill>
                <a:latin typeface="Lucida Console" panose="020B0609040504020204" pitchFamily="49" charset="0"/>
              </a:rPr>
              <a:t> a number: ";</a:t>
            </a:r>
          </a:p>
          <a:p>
            <a:r>
              <a:rPr lang="en-US" altLang="zh-TW" sz="2088" dirty="0" smtClean="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smtClean="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   </a:t>
            </a:r>
            <a:r>
              <a:rPr lang="en-US" altLang="zh-TW" sz="2088" dirty="0" err="1" smtClean="0">
                <a:solidFill>
                  <a:prstClr val="white"/>
                </a:solidFill>
                <a:latin typeface="Lucida Console" panose="020B0609040504020204" pitchFamily="49" charset="0"/>
              </a:rPr>
              <a:t>cout</a:t>
            </a:r>
            <a:r>
              <a:rPr lang="en-US" altLang="zh-TW" sz="2088" dirty="0" smtClean="0">
                <a:solidFill>
                  <a:prstClr val="white"/>
                </a:solidFill>
                <a:latin typeface="Lucida Console" panose="020B0609040504020204" pitchFamily="49" charset="0"/>
              </a:rPr>
              <a:t>&lt;&lt;</a:t>
            </a:r>
            <a:r>
              <a:rPr lang="en-US" altLang="zh-TW" sz="2088" dirty="0" err="1" smtClean="0">
                <a:solidFill>
                  <a:prstClr val="white"/>
                </a:solidFill>
                <a:latin typeface="Lucida Console" panose="020B0609040504020204" pitchFamily="49" charset="0"/>
              </a:rPr>
              <a:t>i</a:t>
            </a:r>
            <a:r>
              <a:rPr lang="en-US" altLang="zh-TW" sz="2088" dirty="0" smtClean="0">
                <a:solidFill>
                  <a:prstClr val="white"/>
                </a:solidFill>
                <a:latin typeface="Lucida Console" panose="020B0609040504020204" pitchFamily="49" charset="0"/>
              </a:rPr>
              <a:t>&lt;&lt;"^3 = "&lt;&lt;</a:t>
            </a:r>
            <a:r>
              <a:rPr lang="en-US" altLang="zh-TW" sz="2088" dirty="0" err="1" smtClean="0">
                <a:solidFill>
                  <a:prstClr val="white"/>
                </a:solidFill>
                <a:latin typeface="Lucida Console" panose="020B0609040504020204" pitchFamily="49" charset="0"/>
              </a:rPr>
              <a:t>i</a:t>
            </a:r>
            <a:r>
              <a:rPr lang="en-US" altLang="zh-TW" sz="2088" dirty="0" smtClean="0">
                <a:solidFill>
                  <a:prstClr val="white"/>
                </a:solidFill>
                <a:latin typeface="Lucida Console" panose="020B0609040504020204" pitchFamily="49" charset="0"/>
              </a:rPr>
              <a:t>*</a:t>
            </a:r>
            <a:r>
              <a:rPr lang="en-US" altLang="zh-TW" sz="2088" dirty="0" err="1" smtClean="0">
                <a:solidFill>
                  <a:prstClr val="white"/>
                </a:solidFill>
                <a:latin typeface="Lucida Console" panose="020B0609040504020204" pitchFamily="49" charset="0"/>
              </a:rPr>
              <a:t>i</a:t>
            </a:r>
            <a:r>
              <a:rPr lang="en-US" altLang="zh-TW" sz="2088" dirty="0" smtClean="0">
                <a:solidFill>
                  <a:prstClr val="white"/>
                </a:solidFill>
                <a:latin typeface="Lucida Console" panose="020B0609040504020204" pitchFamily="49" charset="0"/>
              </a:rPr>
              <a:t>*</a:t>
            </a:r>
            <a:r>
              <a:rPr lang="en-US" altLang="zh-TW" sz="2088" dirty="0" err="1" smtClean="0">
                <a:solidFill>
                  <a:prstClr val="white"/>
                </a:solidFill>
                <a:latin typeface="Lucida Console" panose="020B0609040504020204" pitchFamily="49" charset="0"/>
              </a:rPr>
              <a:t>i</a:t>
            </a:r>
            <a:r>
              <a:rPr lang="en-US" altLang="zh-TW" sz="2088" dirty="0" smtClean="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cube.x</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Enter a number: 5</a:t>
            </a:r>
          </a:p>
          <a:p>
            <a:r>
              <a:rPr lang="en-US" altLang="zh-TW" sz="2088" dirty="0">
                <a:solidFill>
                  <a:prstClr val="white"/>
                </a:solidFill>
                <a:latin typeface="Lucida Console" panose="020B0609040504020204" pitchFamily="49" charset="0"/>
              </a:rPr>
              <a:t>5^3 =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smtClean="0">
                <a:solidFill>
                  <a:prstClr val="white"/>
                </a:solidFill>
                <a:latin typeface="Lucida Console" panose="020B0609040504020204" pitchFamily="49" charset="0"/>
              </a:rPr>
              <a:t>&gt;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1163876619"/>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   </a:t>
            </a:r>
            <a:r>
              <a:rPr lang="en-US" altLang="zh-TW" sz="2088" dirty="0" err="1" smtClean="0">
                <a:solidFill>
                  <a:prstClr val="white"/>
                </a:solidFill>
                <a:latin typeface="Lucida Console" panose="020B0609040504020204" pitchFamily="49" charset="0"/>
              </a:rPr>
              <a:t>cin</a:t>
            </a:r>
            <a:r>
              <a:rPr lang="en-US" altLang="zh-TW" sz="2088" dirty="0" smtClean="0">
                <a:solidFill>
                  <a:prstClr val="white"/>
                </a:solidFill>
                <a:latin typeface="Lucida Console" panose="020B0609040504020204" pitchFamily="49" charset="0"/>
              </a:rPr>
              <a:t>&gt;&gt;</a:t>
            </a:r>
            <a:r>
              <a:rPr lang="en-US" altLang="zh-TW" sz="2088" dirty="0" err="1" smtClean="0">
                <a:solidFill>
                  <a:prstClr val="white"/>
                </a:solidFill>
                <a:latin typeface="Lucida Console" panose="020B0609040504020204" pitchFamily="49" charset="0"/>
              </a:rPr>
              <a:t>i</a:t>
            </a:r>
            <a:r>
              <a:rPr lang="en-US" altLang="zh-TW" sz="2088" dirty="0" smtClean="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cube.x</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834519499"/>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cube.x</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3732615520"/>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cube.x</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int</a:t>
            </a:r>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a:t>
            </a:r>
            <a:r>
              <a:rPr lang="en-US" altLang="zh-TW" sz="2088" dirty="0" smtClean="0">
                <a:solidFill>
                  <a:srgbClr val="FDFDFD"/>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1112164162"/>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solidFill>
                <a:latin typeface="Lucida Console" panose="020B0609040504020204" pitchFamily="49" charset="0"/>
              </a:rPr>
              <a:t>% g++ -o </a:t>
            </a:r>
            <a:r>
              <a:rPr lang="en-US" altLang="zh-TW" sz="2088" dirty="0" err="1">
                <a:solidFill>
                  <a:prstClr val="white"/>
                </a:solidFill>
                <a:latin typeface="Lucida Console" panose="020B0609040504020204" pitchFamily="49" charset="0"/>
              </a:rPr>
              <a:t>cube.x</a:t>
            </a:r>
            <a:r>
              <a:rPr lang="en-US" altLang="zh-TW" sz="2088" dirty="0">
                <a:solidFill>
                  <a:prstClr val="white"/>
                </a:solidFill>
                <a:latin typeface="Lucida Console" panose="020B0609040504020204" pitchFamily="49" charset="0"/>
              </a:rPr>
              <a:t> cube.cpp</a:t>
            </a:r>
          </a:p>
          <a:p>
            <a:r>
              <a:rPr lang="en-US" altLang="zh-TW" sz="2088" dirty="0" smtClean="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cube.x</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Example Program to Compute the Cube *</a:t>
            </a:r>
          </a:p>
          <a:p>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int</a:t>
            </a:r>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a:t>
            </a:r>
            <a:r>
              <a:rPr lang="en-US" altLang="zh-TW" sz="2088" dirty="0">
                <a:solidFill>
                  <a:srgbClr val="FDFDFD"/>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smtClean="0">
                <a:solidFill>
                  <a:prstClr val="white"/>
                </a:solidFill>
                <a:latin typeface="Lucida Console" panose="020B0609040504020204" pitchFamily="49" charset="0"/>
              </a:rPr>
              <a:t>&lt;&lt;"*";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4008456922"/>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cube.x</a:t>
            </a:r>
            <a:endParaRPr lang="en-US" altLang="zh-TW" sz="2088" dirty="0">
              <a:solidFill>
                <a:prstClr val="white"/>
              </a:solidFill>
              <a:latin typeface="Lucida Console" panose="020B0609040504020204" pitchFamily="49" charset="0"/>
            </a:endParaRPr>
          </a:p>
          <a:p>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a:p>
            <a:r>
              <a:rPr lang="en-US" altLang="zh-TW" sz="2088" dirty="0">
                <a:solidFill>
                  <a:prstClr val="white"/>
                </a:solidFill>
                <a:latin typeface="Lucida Console" panose="020B0609040504020204" pitchFamily="49" charset="0"/>
              </a:rPr>
              <a:t>* Example Program to Compute the Cube *</a:t>
            </a:r>
          </a:p>
          <a:p>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int</a:t>
            </a:r>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a:t>
            </a:r>
            <a:r>
              <a:rPr lang="en-US" altLang="zh-TW" sz="2088" dirty="0">
                <a:solidFill>
                  <a:srgbClr val="FDFDFD"/>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2404910590"/>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Example Program to Compute the Cube *</a:t>
            </a:r>
          </a:p>
          <a:p>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int</a:t>
            </a:r>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a:t>
            </a:r>
            <a:r>
              <a:rPr lang="en-US" altLang="zh-TW" sz="2088" dirty="0">
                <a:solidFill>
                  <a:srgbClr val="FDFDFD"/>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smtClean="0">
                <a:solidFill>
                  <a:prstClr val="white"/>
                </a:solidFill>
                <a:latin typeface="Lucida Console" panose="020B0609040504020204" pitchFamily="49" charset="0"/>
              </a:rPr>
              <a:t>&lt;&lt;"*";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3671133296"/>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solidFill>
                <a:latin typeface="Lucida Console" panose="020B0609040504020204" pitchFamily="49" charset="0"/>
              </a:rPr>
              <a:t>* Example Program to Compute the Cube *</a:t>
            </a:r>
          </a:p>
          <a:p>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int</a:t>
            </a:r>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a:t>
            </a:r>
            <a:r>
              <a:rPr lang="en-US" altLang="zh-TW" sz="2088" dirty="0">
                <a:solidFill>
                  <a:srgbClr val="FDFDFD"/>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543737630"/>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int</a:t>
            </a:r>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a:t>
            </a:r>
            <a:r>
              <a:rPr lang="en-US" altLang="zh-TW" sz="2088" dirty="0">
                <a:solidFill>
                  <a:srgbClr val="FDFDFD"/>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1525768116"/>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Enter </a:t>
            </a:r>
            <a:r>
              <a:rPr lang="en-US" altLang="zh-TW" sz="2088" dirty="0">
                <a:solidFill>
                  <a:prstClr val="white"/>
                </a:solidFill>
                <a:latin typeface="Lucida Console" panose="020B0609040504020204" pitchFamily="49" charset="0"/>
              </a:rPr>
              <a:t>a number: 5</a:t>
            </a:r>
          </a:p>
          <a:p>
            <a:r>
              <a:rPr lang="en-US" altLang="zh-TW" sz="2088" dirty="0">
                <a:solidFill>
                  <a:prstClr val="white"/>
                </a:solidFill>
                <a:latin typeface="Lucida Console" panose="020B0609040504020204" pitchFamily="49" charset="0"/>
              </a:rPr>
              <a:t>5^3 =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int</a:t>
            </a:r>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a:t>
            </a:r>
            <a:r>
              <a:rPr lang="en-US" altLang="zh-TW" sz="2088" dirty="0">
                <a:solidFill>
                  <a:srgbClr val="FDFDFD"/>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4155841325"/>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smtClean="0">
                <a:solidFill>
                  <a:prstClr val="white"/>
                </a:solidFill>
                <a:latin typeface="Lucida Console" panose="020B0609040504020204" pitchFamily="49" charset="0"/>
              </a:rPr>
              <a:t>5^3 </a:t>
            </a:r>
            <a:r>
              <a:rPr lang="en-US" altLang="zh-TW" sz="2088" dirty="0">
                <a:solidFill>
                  <a:prstClr val="white"/>
                </a:solidFill>
                <a:latin typeface="Lucida Console" panose="020B0609040504020204" pitchFamily="49" charset="0"/>
              </a:rPr>
              <a:t>= 125</a:t>
            </a:r>
          </a:p>
          <a:p>
            <a:r>
              <a:rPr lang="en-US" altLang="zh-TW" sz="2088" dirty="0" smtClean="0">
                <a:solidFill>
                  <a:prstClr val="white"/>
                </a:solidFill>
                <a:latin typeface="Lucida Console" panose="020B0609040504020204" pitchFamily="49" charset="0"/>
              </a:rPr>
              <a:t>% </a:t>
            </a:r>
            <a:r>
              <a:rPr lang="en-US" altLang="zh-TW" sz="2088" dirty="0">
                <a:solidFill>
                  <a:prstClr val="white"/>
                </a:solidFill>
                <a:latin typeface="Lucida Console" panose="020B0609040504020204" pitchFamily="49" charset="0"/>
              </a:rPr>
              <a:t>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int</a:t>
            </a:r>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a:t>
            </a:r>
            <a:r>
              <a:rPr lang="en-US" altLang="zh-TW" sz="2088" dirty="0">
                <a:solidFill>
                  <a:srgbClr val="FDFDFD"/>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smtClean="0">
                <a:solidFill>
                  <a:prstClr val="white"/>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spTree>
    <p:extLst>
      <p:ext uri="{BB962C8B-B14F-4D97-AF65-F5344CB8AC3E}">
        <p14:creationId xmlns:p14="http://schemas.microsoft.com/office/powerpoint/2010/main" val="1412118695"/>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solidFill>
                <a:latin typeface="Lucida Console" panose="020B0609040504020204" pitchFamily="49" charset="0"/>
              </a:rPr>
              <a:t>% cat cube.cpp</a:t>
            </a:r>
          </a:p>
          <a:p>
            <a:r>
              <a:rPr lang="en-US" altLang="zh-TW" sz="2088" dirty="0">
                <a:solidFill>
                  <a:prstClr val="white"/>
                </a:solidFill>
                <a:latin typeface="Lucida Console" panose="020B0609040504020204" pitchFamily="49" charset="0"/>
              </a:rPr>
              <a:t>#include &lt;</a:t>
            </a:r>
            <a:r>
              <a:rPr lang="en-US" altLang="zh-TW" sz="2088" dirty="0" err="1">
                <a:solidFill>
                  <a:prstClr val="white"/>
                </a:solidFill>
                <a:latin typeface="Lucida Console" panose="020B0609040504020204" pitchFamily="49" charset="0"/>
              </a:rPr>
              <a:t>iostream</a:t>
            </a:r>
            <a:r>
              <a:rPr lang="en-US" altLang="zh-TW" sz="2088" dirty="0">
                <a:solidFill>
                  <a:prstClr val="white"/>
                </a:solidFill>
                <a:latin typeface="Lucida Console" panose="020B0609040504020204" pitchFamily="49" charset="0"/>
              </a:rPr>
              <a:t>&gt;</a:t>
            </a:r>
          </a:p>
          <a:p>
            <a:r>
              <a:rPr lang="en-US" altLang="zh-TW" sz="2088" dirty="0">
                <a:solidFill>
                  <a:prstClr val="white"/>
                </a:solidFill>
                <a:latin typeface="Lucida Console" panose="020B0609040504020204" pitchFamily="49" charset="0"/>
              </a:rPr>
              <a:t>using namespace </a:t>
            </a:r>
            <a:r>
              <a:rPr lang="en-US" altLang="zh-TW" sz="2088" dirty="0" err="1">
                <a:solidFill>
                  <a:prstClr val="white"/>
                </a:solidFill>
                <a:latin typeface="Lucida Console" panose="020B0609040504020204" pitchFamily="49" charset="0"/>
              </a:rPr>
              <a:t>std</a:t>
            </a:r>
            <a:r>
              <a:rPr lang="en-US" altLang="zh-TW" sz="2088" dirty="0">
                <a:solidFill>
                  <a:prstClr val="white"/>
                </a:solidFill>
                <a:latin typeface="Lucida Console" panose="020B0609040504020204" pitchFamily="49" charset="0"/>
              </a:rPr>
              <a:t>;</a:t>
            </a:r>
            <a:endParaRPr lang="zh-TW" altLang="en-US" sz="2088" dirty="0">
              <a:solidFill>
                <a:prstClr val="white"/>
              </a:solidFill>
              <a:latin typeface="Lucida Console" panose="020B0609040504020204" pitchFamily="49" charset="0"/>
            </a:endParaRPr>
          </a:p>
          <a:p>
            <a:r>
              <a:rPr lang="en-US" altLang="zh-TW" sz="2088" dirty="0" err="1">
                <a:solidFill>
                  <a:prstClr val="white"/>
                </a:solidFill>
                <a:latin typeface="Lucida Console" panose="020B0609040504020204" pitchFamily="49" charset="0"/>
              </a:rPr>
              <a:t>int</a:t>
            </a:r>
            <a:r>
              <a:rPr lang="en-US" altLang="zh-TW" sz="2088" dirty="0">
                <a:solidFill>
                  <a:prstClr val="white"/>
                </a:solidFill>
                <a:latin typeface="Lucida Console" panose="020B0609040504020204" pitchFamily="49" charset="0"/>
              </a:rPr>
              <a:t> main()</a:t>
            </a:r>
          </a:p>
          <a:p>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int</a:t>
            </a:r>
            <a:r>
              <a:rPr lang="en-US" altLang="zh-TW" sz="2088" dirty="0">
                <a:solidFill>
                  <a:srgbClr val="FDFDFD"/>
                </a:solidFill>
                <a:latin typeface="Lucida Console" panose="020B0609040504020204" pitchFamily="49" charset="0"/>
              </a:rPr>
              <a:t> </a:t>
            </a:r>
            <a:r>
              <a:rPr lang="en-US" altLang="zh-TW" sz="2088" dirty="0" err="1">
                <a:solidFill>
                  <a:srgbClr val="FDFDFD"/>
                </a:solidFill>
                <a:latin typeface="Lucida Console" panose="020B0609040504020204" pitchFamily="49" charset="0"/>
              </a:rPr>
              <a:t>i</a:t>
            </a:r>
            <a:r>
              <a:rPr lang="en-US" altLang="zh-TW" sz="2088" dirty="0">
                <a:solidFill>
                  <a:srgbClr val="FDFDFD"/>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&lt;&lt;"\n* Example Program to Compute the Cube *\n";</a:t>
            </a:r>
          </a:p>
          <a:p>
            <a:r>
              <a:rPr lang="en-US" altLang="zh-TW" sz="2088" dirty="0">
                <a:solidFill>
                  <a:prstClr val="white"/>
                </a:solidFill>
                <a:latin typeface="Lucida Console" panose="020B0609040504020204" pitchFamily="49" charset="0"/>
              </a:rPr>
              <a:t>   for (</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=0;i&lt;39;i++)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nEnter</a:t>
            </a:r>
            <a:r>
              <a:rPr lang="en-US" altLang="zh-TW" sz="2088" dirty="0">
                <a:solidFill>
                  <a:prstClr val="white"/>
                </a:solidFill>
                <a:latin typeface="Lucida Console" panose="020B0609040504020204" pitchFamily="49" charset="0"/>
              </a:rPr>
              <a:t> a number: ";</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cin</a:t>
            </a:r>
            <a:r>
              <a:rPr lang="en-US" altLang="zh-TW" sz="2088" dirty="0">
                <a:solidFill>
                  <a:prstClr val="white"/>
                </a:solidFill>
                <a:latin typeface="Lucida Console" panose="020B0609040504020204" pitchFamily="49" charset="0"/>
              </a:rPr>
              <a:t>&gt;&gt;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err="1">
                <a:solidFill>
                  <a:prstClr val="white"/>
                </a:solidFill>
                <a:latin typeface="Lucida Console" panose="020B0609040504020204" pitchFamily="49" charset="0"/>
              </a:rPr>
              <a:t>cout</a:t>
            </a:r>
            <a:r>
              <a:rPr lang="en-US" altLang="zh-TW" sz="2088" dirty="0">
                <a:solidFill>
                  <a:prstClr val="white"/>
                </a:solidFill>
                <a:latin typeface="Lucida Console" panose="020B0609040504020204" pitchFamily="49" charset="0"/>
              </a:rPr>
              <a:t>&lt;&lt;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&lt;&lt;"^3 = "&lt;&lt;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r>
              <a:rPr lang="en-US" altLang="zh-TW" sz="2088" dirty="0" err="1">
                <a:solidFill>
                  <a:prstClr val="white"/>
                </a:solidFill>
                <a:latin typeface="Lucida Console" panose="020B0609040504020204" pitchFamily="49" charset="0"/>
              </a:rPr>
              <a:t>i</a:t>
            </a:r>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a:t>
            </a: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7" name="Straight Connector 6"/>
          <p:cNvCxnSpPr/>
          <p:nvPr/>
        </p:nvCxnSpPr>
        <p:spPr>
          <a:xfrm>
            <a:off x="704747"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3865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65000"/>
                  </a:prstClr>
                </a:solidFill>
                <a:latin typeface="Lucida Console" panose="020B0609040504020204" pitchFamily="49" charset="0"/>
              </a:rPr>
              <a:t>% cat cube.cpp</a:t>
            </a:r>
          </a:p>
          <a:p>
            <a:r>
              <a:rPr lang="en-US" altLang="zh-TW" sz="2088" dirty="0">
                <a:solidFill>
                  <a:prstClr val="white">
                    <a:lumMod val="65000"/>
                  </a:prstClr>
                </a:solidFill>
                <a:latin typeface="Lucida Console" panose="020B0609040504020204" pitchFamily="49" charset="0"/>
              </a:rPr>
              <a:t>#include &lt;</a:t>
            </a:r>
            <a:r>
              <a:rPr lang="en-US" altLang="zh-TW" sz="2088" dirty="0" err="1">
                <a:solidFill>
                  <a:prstClr val="white">
                    <a:lumMod val="65000"/>
                  </a:prstClr>
                </a:solidFill>
                <a:latin typeface="Lucida Console" panose="020B0609040504020204" pitchFamily="49" charset="0"/>
              </a:rPr>
              <a:t>iostream</a:t>
            </a:r>
            <a:r>
              <a:rPr lang="en-US" altLang="zh-TW" sz="2088" dirty="0">
                <a:solidFill>
                  <a:prstClr val="white">
                    <a:lumMod val="65000"/>
                  </a:prstClr>
                </a:solidFill>
                <a:latin typeface="Lucida Console" panose="020B0609040504020204" pitchFamily="49" charset="0"/>
              </a:rPr>
              <a:t>&gt;</a:t>
            </a:r>
          </a:p>
          <a:p>
            <a:r>
              <a:rPr lang="en-US" altLang="zh-TW" sz="2088" dirty="0">
                <a:solidFill>
                  <a:prstClr val="white">
                    <a:lumMod val="65000"/>
                  </a:prstClr>
                </a:solidFill>
                <a:latin typeface="Lucida Console" panose="020B0609040504020204" pitchFamily="49" charset="0"/>
              </a:rPr>
              <a:t>using namespace </a:t>
            </a:r>
            <a:r>
              <a:rPr lang="en-US" altLang="zh-TW" sz="2088" dirty="0" err="1">
                <a:solidFill>
                  <a:prstClr val="white">
                    <a:lumMod val="65000"/>
                  </a:prstClr>
                </a:solidFill>
                <a:latin typeface="Lucida Console" panose="020B0609040504020204" pitchFamily="49" charset="0"/>
              </a:rPr>
              <a:t>std</a:t>
            </a:r>
            <a:r>
              <a:rPr lang="en-US" altLang="zh-TW" sz="2088" dirty="0">
                <a:solidFill>
                  <a:prstClr val="white">
                    <a:lumMod val="65000"/>
                  </a:prstClr>
                </a:solidFill>
                <a:latin typeface="Lucida Console" panose="020B0609040504020204" pitchFamily="49" charset="0"/>
              </a:rPr>
              <a:t>;</a:t>
            </a:r>
            <a:endParaRPr lang="zh-TW" altLang="en-US" sz="2088" dirty="0">
              <a:solidFill>
                <a:prstClr val="white">
                  <a:lumMod val="65000"/>
                </a:prstClr>
              </a:solidFill>
              <a:latin typeface="Lucida Console" panose="020B0609040504020204" pitchFamily="49" charset="0"/>
            </a:endParaRPr>
          </a:p>
          <a:p>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main()</a:t>
            </a:r>
          </a:p>
          <a:p>
            <a:r>
              <a:rPr lang="en-US" altLang="zh-TW" sz="2088" dirty="0">
                <a:solidFill>
                  <a:prstClr val="white">
                    <a:lumMod val="65000"/>
                  </a:prstClr>
                </a:solidFill>
                <a:latin typeface="Lucida Console" panose="020B0609040504020204" pitchFamily="49" charset="0"/>
              </a:rPr>
              <a:t>{  </a:t>
            </a:r>
            <a:r>
              <a:rPr lang="en-US" altLang="zh-TW" sz="2088" dirty="0" err="1">
                <a:solidFill>
                  <a:srgbClr val="FFFF00"/>
                </a:solidFill>
                <a:latin typeface="Lucida Console" panose="020B0609040504020204" pitchFamily="49" charset="0"/>
              </a:rPr>
              <a:t>int</a:t>
            </a:r>
            <a:r>
              <a:rPr lang="en-US" altLang="zh-TW" sz="2088" dirty="0">
                <a:solidFill>
                  <a:srgbClr val="FFFF00"/>
                </a:solidFill>
                <a:latin typeface="Lucida Console" panose="020B0609040504020204" pitchFamily="49" charset="0"/>
              </a:rPr>
              <a:t> </a:t>
            </a:r>
            <a:r>
              <a:rPr lang="en-US" altLang="zh-TW" sz="2088" dirty="0" err="1">
                <a:solidFill>
                  <a:srgbClr val="FFFF00"/>
                </a:solidFill>
                <a:latin typeface="Lucida Console" panose="020B0609040504020204" pitchFamily="49" charset="0"/>
              </a:rPr>
              <a:t>i</a:t>
            </a:r>
            <a:r>
              <a:rPr lang="en-US" altLang="zh-TW" sz="2088" dirty="0">
                <a:solidFill>
                  <a:srgbClr val="FFFF00"/>
                </a:solidFill>
                <a:latin typeface="Lucida Console" panose="020B0609040504020204" pitchFamily="49" charset="0"/>
              </a:rPr>
              <a:t>;</a:t>
            </a:r>
          </a:p>
          <a:p>
            <a:r>
              <a:rPr lang="en-US" altLang="zh-TW" sz="2088" dirty="0">
                <a:solidFill>
                  <a:prstClr val="white"/>
                </a:solidFill>
                <a:latin typeface="Lucida Console" panose="020B0609040504020204" pitchFamily="49" charset="0"/>
              </a:rPr>
              <a:t>   </a:t>
            </a:r>
            <a:r>
              <a:rPr lang="en-US" altLang="zh-TW" sz="2088" dirty="0">
                <a:solidFill>
                  <a:prstClr val="white">
                    <a:lumMod val="65000"/>
                  </a:prstClr>
                </a:solidFill>
                <a:latin typeface="Lucida Console" panose="020B0609040504020204" pitchFamily="49" charset="0"/>
              </a:rPr>
              <a:t>for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=0;i&lt;39;i++)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&lt;&lt;"\n* Example Program to Compute the Cube *\n";</a:t>
            </a:r>
          </a:p>
          <a:p>
            <a:r>
              <a:rPr lang="en-US" altLang="zh-TW" sz="2088" dirty="0">
                <a:solidFill>
                  <a:prstClr val="white">
                    <a:lumMod val="65000"/>
                  </a:prstClr>
                </a:solidFill>
                <a:latin typeface="Lucida Console" panose="020B0609040504020204" pitchFamily="49" charset="0"/>
              </a:rPr>
              <a:t>   for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=0;i&lt;39;i++)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nEnter</a:t>
            </a:r>
            <a:r>
              <a:rPr lang="en-US" altLang="zh-TW" sz="2088" dirty="0">
                <a:solidFill>
                  <a:prstClr val="white">
                    <a:lumMod val="65000"/>
                  </a:prstClr>
                </a:solidFill>
                <a:latin typeface="Lucida Console" panose="020B0609040504020204" pitchFamily="49" charset="0"/>
              </a:rPr>
              <a:t> a number: ";</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cin</a:t>
            </a:r>
            <a:r>
              <a:rPr lang="en-US" altLang="zh-TW" sz="2088" dirty="0">
                <a:solidFill>
                  <a:prstClr val="white">
                    <a:lumMod val="65000"/>
                  </a:prstClr>
                </a:solidFill>
                <a:latin typeface="Lucida Console" panose="020B0609040504020204" pitchFamily="49" charset="0"/>
              </a:rPr>
              <a:t>&gt;&gt;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&lt;&lt;"^3 = "&lt;&lt;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7" name="Straight Connector 6"/>
          <p:cNvCxnSpPr/>
          <p:nvPr/>
        </p:nvCxnSpPr>
        <p:spPr>
          <a:xfrm>
            <a:off x="704747"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ounded Rectangular Callout 9"/>
          <p:cNvSpPr/>
          <p:nvPr/>
        </p:nvSpPr>
        <p:spPr>
          <a:xfrm>
            <a:off x="5967984" y="2537719"/>
            <a:ext cx="3457995" cy="772592"/>
          </a:xfrm>
          <a:prstGeom prst="wedgeRoundRectCallout">
            <a:avLst>
              <a:gd name="adj1" fmla="val -168243"/>
              <a:gd name="adj2" fmla="val 7539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r>
              <a:rPr lang="en-US" sz="2436" dirty="0">
                <a:solidFill>
                  <a:srgbClr val="0033CC"/>
                </a:solidFill>
              </a:rPr>
              <a:t>The program only declares one variable,  ‘</a:t>
            </a:r>
            <a:r>
              <a:rPr lang="en-US" sz="2436" dirty="0" err="1">
                <a:solidFill>
                  <a:srgbClr val="0033CC"/>
                </a:solidFill>
              </a:rPr>
              <a:t>i</a:t>
            </a:r>
            <a:r>
              <a:rPr lang="en-US" sz="2436" dirty="0">
                <a:solidFill>
                  <a:srgbClr val="0033CC"/>
                </a:solidFill>
              </a:rPr>
              <a:t>’.</a:t>
            </a:r>
          </a:p>
        </p:txBody>
      </p:sp>
    </p:spTree>
    <p:extLst>
      <p:ext uri="{BB962C8B-B14F-4D97-AF65-F5344CB8AC3E}">
        <p14:creationId xmlns:p14="http://schemas.microsoft.com/office/powerpoint/2010/main" val="352236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randombar(horizontal)">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65000"/>
                  </a:prstClr>
                </a:solidFill>
                <a:latin typeface="Lucida Console" panose="020B0609040504020204" pitchFamily="49" charset="0"/>
              </a:rPr>
              <a:t>% cat cube.cpp</a:t>
            </a:r>
          </a:p>
          <a:p>
            <a:r>
              <a:rPr lang="en-US" altLang="zh-TW" sz="2088" dirty="0">
                <a:solidFill>
                  <a:prstClr val="white">
                    <a:lumMod val="65000"/>
                  </a:prstClr>
                </a:solidFill>
                <a:latin typeface="Lucida Console" panose="020B0609040504020204" pitchFamily="49" charset="0"/>
              </a:rPr>
              <a:t>#include &lt;</a:t>
            </a:r>
            <a:r>
              <a:rPr lang="en-US" altLang="zh-TW" sz="2088" dirty="0" err="1">
                <a:solidFill>
                  <a:prstClr val="white">
                    <a:lumMod val="65000"/>
                  </a:prstClr>
                </a:solidFill>
                <a:latin typeface="Lucida Console" panose="020B0609040504020204" pitchFamily="49" charset="0"/>
              </a:rPr>
              <a:t>iostream</a:t>
            </a:r>
            <a:r>
              <a:rPr lang="en-US" altLang="zh-TW" sz="2088" dirty="0">
                <a:solidFill>
                  <a:prstClr val="white">
                    <a:lumMod val="65000"/>
                  </a:prstClr>
                </a:solidFill>
                <a:latin typeface="Lucida Console" panose="020B0609040504020204" pitchFamily="49" charset="0"/>
              </a:rPr>
              <a:t>&gt;</a:t>
            </a:r>
          </a:p>
          <a:p>
            <a:r>
              <a:rPr lang="en-US" altLang="zh-TW" sz="2088" dirty="0">
                <a:solidFill>
                  <a:prstClr val="white">
                    <a:lumMod val="65000"/>
                  </a:prstClr>
                </a:solidFill>
                <a:latin typeface="Lucida Console" panose="020B0609040504020204" pitchFamily="49" charset="0"/>
              </a:rPr>
              <a:t>using namespace </a:t>
            </a:r>
            <a:r>
              <a:rPr lang="en-US" altLang="zh-TW" sz="2088" dirty="0" err="1">
                <a:solidFill>
                  <a:prstClr val="white">
                    <a:lumMod val="65000"/>
                  </a:prstClr>
                </a:solidFill>
                <a:latin typeface="Lucida Console" panose="020B0609040504020204" pitchFamily="49" charset="0"/>
              </a:rPr>
              <a:t>std</a:t>
            </a:r>
            <a:r>
              <a:rPr lang="en-US" altLang="zh-TW" sz="2088" dirty="0">
                <a:solidFill>
                  <a:prstClr val="white">
                    <a:lumMod val="65000"/>
                  </a:prstClr>
                </a:solidFill>
                <a:latin typeface="Lucida Console" panose="020B0609040504020204" pitchFamily="49" charset="0"/>
              </a:rPr>
              <a:t>;</a:t>
            </a:r>
            <a:endParaRPr lang="zh-TW" altLang="en-US" sz="2088" dirty="0">
              <a:solidFill>
                <a:prstClr val="white">
                  <a:lumMod val="65000"/>
                </a:prstClr>
              </a:solidFill>
              <a:latin typeface="Lucida Console" panose="020B0609040504020204" pitchFamily="49" charset="0"/>
            </a:endParaRPr>
          </a:p>
          <a:p>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main()</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for (</a:t>
            </a:r>
            <a:r>
              <a:rPr lang="en-US" altLang="zh-TW" sz="2088" dirty="0" err="1">
                <a:solidFill>
                  <a:srgbClr val="FFFF00"/>
                </a:solidFill>
                <a:latin typeface="Lucida Console" panose="020B0609040504020204" pitchFamily="49" charset="0"/>
              </a:rPr>
              <a:t>i</a:t>
            </a:r>
            <a:r>
              <a:rPr lang="en-US" altLang="zh-TW" sz="2088" dirty="0">
                <a:solidFill>
                  <a:srgbClr val="FFFF00"/>
                </a:solidFill>
                <a:latin typeface="Lucida Console" panose="020B0609040504020204" pitchFamily="49" charset="0"/>
              </a:rPr>
              <a:t>=0;i&lt;39;i++</a:t>
            </a:r>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&lt;&lt;"\n* Example Program to Compute the Cube *\n";</a:t>
            </a:r>
          </a:p>
          <a:p>
            <a:r>
              <a:rPr lang="en-US" altLang="zh-TW" sz="2088" dirty="0">
                <a:solidFill>
                  <a:prstClr val="white">
                    <a:lumMod val="65000"/>
                  </a:prstClr>
                </a:solidFill>
                <a:latin typeface="Lucida Console" panose="020B0609040504020204" pitchFamily="49" charset="0"/>
              </a:rPr>
              <a:t>   for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=0;i&lt;39;i++)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nEnter</a:t>
            </a:r>
            <a:r>
              <a:rPr lang="en-US" altLang="zh-TW" sz="2088" dirty="0">
                <a:solidFill>
                  <a:prstClr val="white">
                    <a:lumMod val="65000"/>
                  </a:prstClr>
                </a:solidFill>
                <a:latin typeface="Lucida Console" panose="020B0609040504020204" pitchFamily="49" charset="0"/>
              </a:rPr>
              <a:t> a number: ";</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cin</a:t>
            </a:r>
            <a:r>
              <a:rPr lang="en-US" altLang="zh-TW" sz="2088" dirty="0">
                <a:solidFill>
                  <a:prstClr val="white">
                    <a:lumMod val="65000"/>
                  </a:prstClr>
                </a:solidFill>
                <a:latin typeface="Lucida Console" panose="020B0609040504020204" pitchFamily="49" charset="0"/>
              </a:rPr>
              <a:t>&gt;&gt;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&lt;&lt;"^3 = "&lt;&lt;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7" name="Straight Connector 6"/>
          <p:cNvCxnSpPr/>
          <p:nvPr/>
        </p:nvCxnSpPr>
        <p:spPr>
          <a:xfrm>
            <a:off x="704747"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ounded Rectangular Callout 9"/>
          <p:cNvSpPr/>
          <p:nvPr/>
        </p:nvSpPr>
        <p:spPr>
          <a:xfrm>
            <a:off x="5967984" y="2537719"/>
            <a:ext cx="3457995" cy="772592"/>
          </a:xfrm>
          <a:prstGeom prst="wedgeRoundRectCallout">
            <a:avLst>
              <a:gd name="adj1" fmla="val -168243"/>
              <a:gd name="adj2" fmla="val 7539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r>
              <a:rPr lang="en-US" sz="2436" dirty="0">
                <a:solidFill>
                  <a:srgbClr val="0033CC"/>
                </a:solidFill>
              </a:rPr>
              <a:t>The program only declares one variable,  ‘</a:t>
            </a:r>
            <a:r>
              <a:rPr lang="en-US" sz="2436" dirty="0" err="1">
                <a:solidFill>
                  <a:srgbClr val="0033CC"/>
                </a:solidFill>
              </a:rPr>
              <a:t>i</a:t>
            </a:r>
            <a:r>
              <a:rPr lang="en-US" sz="2436" dirty="0">
                <a:solidFill>
                  <a:srgbClr val="0033CC"/>
                </a:solidFill>
              </a:rPr>
              <a:t>’.</a:t>
            </a:r>
          </a:p>
        </p:txBody>
      </p:sp>
      <p:sp>
        <p:nvSpPr>
          <p:cNvPr id="11" name="Rounded Rectangular Callout 10"/>
          <p:cNvSpPr/>
          <p:nvPr/>
        </p:nvSpPr>
        <p:spPr>
          <a:xfrm>
            <a:off x="6468468" y="2417950"/>
            <a:ext cx="2589663" cy="1107285"/>
          </a:xfrm>
          <a:prstGeom prst="wedgeRoundRectCallout">
            <a:avLst>
              <a:gd name="adj1" fmla="val -168339"/>
              <a:gd name="adj2" fmla="val 7122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Notice that ‘</a:t>
            </a:r>
            <a:r>
              <a:rPr lang="en-US" sz="2436" dirty="0" err="1">
                <a:solidFill>
                  <a:srgbClr val="0033CC"/>
                </a:solidFill>
              </a:rPr>
              <a:t>i</a:t>
            </a:r>
            <a:r>
              <a:rPr lang="en-US" sz="2436" dirty="0">
                <a:solidFill>
                  <a:srgbClr val="0033CC"/>
                </a:solidFill>
              </a:rPr>
              <a:t>’ does dynamically change its value.</a:t>
            </a:r>
          </a:p>
        </p:txBody>
      </p:sp>
    </p:spTree>
    <p:extLst>
      <p:ext uri="{BB962C8B-B14F-4D97-AF65-F5344CB8AC3E}">
        <p14:creationId xmlns:p14="http://schemas.microsoft.com/office/powerpoint/2010/main" val="295340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par>
                                <p:cTn id="7" presetID="14" presetClass="exit" presetSubtype="10" fill="hold" grpId="0" nodeType="withEffect">
                                  <p:stCondLst>
                                    <p:cond delay="0"/>
                                  </p:stCondLst>
                                  <p:childTnLst>
                                    <p:animEffect transition="out" filter="randombar(horizontal)">
                                      <p:cBhvr>
                                        <p:cTn id="8" dur="500"/>
                                        <p:tgtEl>
                                          <p:spTgt spid="10"/>
                                        </p:tgtEl>
                                      </p:cBhvr>
                                    </p:animEffect>
                                    <p:set>
                                      <p:cBhvr>
                                        <p:cTn id="9" dur="1" fill="hold">
                                          <p:stCondLst>
                                            <p:cond delay="499"/>
                                          </p:stCondLst>
                                        </p:cTn>
                                        <p:tgtEl>
                                          <p:spTgt spid="10"/>
                                        </p:tgtEl>
                                        <p:attrNameLst>
                                          <p:attrName>style.visibility</p:attrName>
                                        </p:attrNameLst>
                                      </p:cBhvr>
                                      <p:to>
                                        <p:strVal val="hidden"/>
                                      </p:to>
                                    </p:set>
                                  </p:childTnLst>
                                </p:cTn>
                              </p:par>
                              <p:par>
                                <p:cTn id="10" presetID="14" presetClass="entr" presetSubtype="1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65000"/>
                  </a:prstClr>
                </a:solidFill>
                <a:latin typeface="Lucida Console" panose="020B0609040504020204" pitchFamily="49" charset="0"/>
              </a:rPr>
              <a:t>% cat cube.cpp</a:t>
            </a:r>
          </a:p>
          <a:p>
            <a:r>
              <a:rPr lang="en-US" altLang="zh-TW" sz="2088" dirty="0">
                <a:solidFill>
                  <a:prstClr val="white">
                    <a:lumMod val="65000"/>
                  </a:prstClr>
                </a:solidFill>
                <a:latin typeface="Lucida Console" panose="020B0609040504020204" pitchFamily="49" charset="0"/>
              </a:rPr>
              <a:t>#include &lt;</a:t>
            </a:r>
            <a:r>
              <a:rPr lang="en-US" altLang="zh-TW" sz="2088" dirty="0" err="1">
                <a:solidFill>
                  <a:prstClr val="white">
                    <a:lumMod val="65000"/>
                  </a:prstClr>
                </a:solidFill>
                <a:latin typeface="Lucida Console" panose="020B0609040504020204" pitchFamily="49" charset="0"/>
              </a:rPr>
              <a:t>iostream</a:t>
            </a:r>
            <a:r>
              <a:rPr lang="en-US" altLang="zh-TW" sz="2088" dirty="0">
                <a:solidFill>
                  <a:prstClr val="white">
                    <a:lumMod val="65000"/>
                  </a:prstClr>
                </a:solidFill>
                <a:latin typeface="Lucida Console" panose="020B0609040504020204" pitchFamily="49" charset="0"/>
              </a:rPr>
              <a:t>&gt;</a:t>
            </a:r>
          </a:p>
          <a:p>
            <a:r>
              <a:rPr lang="en-US" altLang="zh-TW" sz="2088" dirty="0">
                <a:solidFill>
                  <a:prstClr val="white">
                    <a:lumMod val="65000"/>
                  </a:prstClr>
                </a:solidFill>
                <a:latin typeface="Lucida Console" panose="020B0609040504020204" pitchFamily="49" charset="0"/>
              </a:rPr>
              <a:t>using namespace </a:t>
            </a:r>
            <a:r>
              <a:rPr lang="en-US" altLang="zh-TW" sz="2088" dirty="0" err="1">
                <a:solidFill>
                  <a:prstClr val="white">
                    <a:lumMod val="65000"/>
                  </a:prstClr>
                </a:solidFill>
                <a:latin typeface="Lucida Console" panose="020B0609040504020204" pitchFamily="49" charset="0"/>
              </a:rPr>
              <a:t>std</a:t>
            </a:r>
            <a:r>
              <a:rPr lang="en-US" altLang="zh-TW" sz="2088" dirty="0">
                <a:solidFill>
                  <a:prstClr val="white">
                    <a:lumMod val="65000"/>
                  </a:prstClr>
                </a:solidFill>
                <a:latin typeface="Lucida Console" panose="020B0609040504020204" pitchFamily="49" charset="0"/>
              </a:rPr>
              <a:t>;</a:t>
            </a:r>
            <a:endParaRPr lang="zh-TW" altLang="en-US" sz="2088" dirty="0">
              <a:solidFill>
                <a:prstClr val="white">
                  <a:lumMod val="65000"/>
                </a:prstClr>
              </a:solidFill>
              <a:latin typeface="Lucida Console" panose="020B0609040504020204" pitchFamily="49" charset="0"/>
            </a:endParaRPr>
          </a:p>
          <a:p>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main()</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for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=0;i&lt;39;i++)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&lt;&lt;"\n* Example Program to Compute the Cube *\n";</a:t>
            </a:r>
          </a:p>
          <a:p>
            <a:r>
              <a:rPr lang="en-US" altLang="zh-TW" sz="2088" dirty="0">
                <a:solidFill>
                  <a:prstClr val="white">
                    <a:lumMod val="65000"/>
                  </a:prstClr>
                </a:solidFill>
                <a:latin typeface="Lucida Console" panose="020B0609040504020204" pitchFamily="49" charset="0"/>
              </a:rPr>
              <a:t>   for (</a:t>
            </a:r>
            <a:r>
              <a:rPr lang="en-US" altLang="zh-TW" sz="2088" dirty="0" err="1">
                <a:solidFill>
                  <a:srgbClr val="FFFF00"/>
                </a:solidFill>
                <a:latin typeface="Lucida Console" panose="020B0609040504020204" pitchFamily="49" charset="0"/>
              </a:rPr>
              <a:t>i</a:t>
            </a:r>
            <a:r>
              <a:rPr lang="en-US" altLang="zh-TW" sz="2088" dirty="0">
                <a:solidFill>
                  <a:srgbClr val="FFFF00"/>
                </a:solidFill>
                <a:latin typeface="Lucida Console" panose="020B0609040504020204" pitchFamily="49" charset="0"/>
              </a:rPr>
              <a:t>=0;i&lt;39;i++</a:t>
            </a:r>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nEnter</a:t>
            </a:r>
            <a:r>
              <a:rPr lang="en-US" altLang="zh-TW" sz="2088" dirty="0">
                <a:solidFill>
                  <a:prstClr val="white">
                    <a:lumMod val="65000"/>
                  </a:prstClr>
                </a:solidFill>
                <a:latin typeface="Lucida Console" panose="020B0609040504020204" pitchFamily="49" charset="0"/>
              </a:rPr>
              <a:t> a number: ";</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cin</a:t>
            </a:r>
            <a:r>
              <a:rPr lang="en-US" altLang="zh-TW" sz="2088" dirty="0">
                <a:solidFill>
                  <a:prstClr val="white">
                    <a:lumMod val="65000"/>
                  </a:prstClr>
                </a:solidFill>
                <a:latin typeface="Lucida Console" panose="020B0609040504020204" pitchFamily="49" charset="0"/>
              </a:rPr>
              <a:t>&gt;&gt;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&lt;&lt;"^3 = "&lt;&lt;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7" name="Straight Connector 6"/>
          <p:cNvCxnSpPr/>
          <p:nvPr/>
        </p:nvCxnSpPr>
        <p:spPr>
          <a:xfrm>
            <a:off x="704747"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ounded Rectangular Callout 10"/>
          <p:cNvSpPr/>
          <p:nvPr/>
        </p:nvSpPr>
        <p:spPr>
          <a:xfrm>
            <a:off x="6468468" y="2417950"/>
            <a:ext cx="2589663" cy="1107285"/>
          </a:xfrm>
          <a:prstGeom prst="wedgeRoundRectCallout">
            <a:avLst>
              <a:gd name="adj1" fmla="val -168339"/>
              <a:gd name="adj2" fmla="val 7122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Notice that ‘</a:t>
            </a:r>
            <a:r>
              <a:rPr lang="en-US" sz="2436" dirty="0" err="1">
                <a:solidFill>
                  <a:srgbClr val="0033CC"/>
                </a:solidFill>
              </a:rPr>
              <a:t>i</a:t>
            </a:r>
            <a:r>
              <a:rPr lang="en-US" sz="2436" dirty="0">
                <a:solidFill>
                  <a:srgbClr val="0033CC"/>
                </a:solidFill>
              </a:rPr>
              <a:t>’ does dynamically change its value.</a:t>
            </a:r>
          </a:p>
        </p:txBody>
      </p:sp>
      <p:sp>
        <p:nvSpPr>
          <p:cNvPr id="14" name="Rounded Rectangular Callout 13"/>
          <p:cNvSpPr/>
          <p:nvPr/>
        </p:nvSpPr>
        <p:spPr>
          <a:xfrm>
            <a:off x="6633664" y="3027891"/>
            <a:ext cx="2826530" cy="1107285"/>
          </a:xfrm>
          <a:prstGeom prst="wedgeRoundRectCallout">
            <a:avLst>
              <a:gd name="adj1" fmla="val -166080"/>
              <a:gd name="adj2" fmla="val 71938"/>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Is ‘</a:t>
            </a:r>
            <a:r>
              <a:rPr lang="en-US" sz="2436" dirty="0" err="1">
                <a:solidFill>
                  <a:srgbClr val="0033CC"/>
                </a:solidFill>
              </a:rPr>
              <a:t>i</a:t>
            </a:r>
            <a:r>
              <a:rPr lang="en-US" sz="2436" dirty="0">
                <a:solidFill>
                  <a:srgbClr val="0033CC"/>
                </a:solidFill>
              </a:rPr>
              <a:t>’ still the same variable, when its used in a new loop?</a:t>
            </a:r>
          </a:p>
        </p:txBody>
      </p:sp>
    </p:spTree>
    <p:extLst>
      <p:ext uri="{BB962C8B-B14F-4D97-AF65-F5344CB8AC3E}">
        <p14:creationId xmlns:p14="http://schemas.microsoft.com/office/powerpoint/2010/main" val="1301918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par>
                                <p:cTn id="7" presetID="14" presetClass="exit" presetSubtype="10" fill="hold" grpId="0" nodeType="withEffect">
                                  <p:stCondLst>
                                    <p:cond delay="0"/>
                                  </p:stCondLst>
                                  <p:childTnLst>
                                    <p:animEffect transition="out" filter="randombar(horizontal)">
                                      <p:cBhvr>
                                        <p:cTn id="8" dur="500"/>
                                        <p:tgtEl>
                                          <p:spTgt spid="11"/>
                                        </p:tgtEl>
                                      </p:cBhvr>
                                    </p:animEffect>
                                    <p:set>
                                      <p:cBhvr>
                                        <p:cTn id="9" dur="1" fill="hold">
                                          <p:stCondLst>
                                            <p:cond delay="499"/>
                                          </p:stCondLst>
                                        </p:cTn>
                                        <p:tgtEl>
                                          <p:spTgt spid="11"/>
                                        </p:tgtEl>
                                        <p:attrNameLst>
                                          <p:attrName>style.visibility</p:attrName>
                                        </p:attrNameLst>
                                      </p:cBhvr>
                                      <p:to>
                                        <p:strVal val="hidden"/>
                                      </p:to>
                                    </p:set>
                                  </p:childTnLst>
                                </p:cTn>
                              </p:par>
                              <p:par>
                                <p:cTn id="10" presetID="14" presetClass="entr" presetSubtype="1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randombar(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65000"/>
                  </a:prstClr>
                </a:solidFill>
                <a:latin typeface="Lucida Console" panose="020B0609040504020204" pitchFamily="49" charset="0"/>
              </a:rPr>
              <a:t>% cat cube.cpp</a:t>
            </a:r>
          </a:p>
          <a:p>
            <a:r>
              <a:rPr lang="en-US" altLang="zh-TW" sz="2088" dirty="0">
                <a:solidFill>
                  <a:prstClr val="white">
                    <a:lumMod val="65000"/>
                  </a:prstClr>
                </a:solidFill>
                <a:latin typeface="Lucida Console" panose="020B0609040504020204" pitchFamily="49" charset="0"/>
              </a:rPr>
              <a:t>#include &lt;</a:t>
            </a:r>
            <a:r>
              <a:rPr lang="en-US" altLang="zh-TW" sz="2088" dirty="0" err="1">
                <a:solidFill>
                  <a:prstClr val="white">
                    <a:lumMod val="65000"/>
                  </a:prstClr>
                </a:solidFill>
                <a:latin typeface="Lucida Console" panose="020B0609040504020204" pitchFamily="49" charset="0"/>
              </a:rPr>
              <a:t>iostream</a:t>
            </a:r>
            <a:r>
              <a:rPr lang="en-US" altLang="zh-TW" sz="2088" dirty="0">
                <a:solidFill>
                  <a:prstClr val="white">
                    <a:lumMod val="65000"/>
                  </a:prstClr>
                </a:solidFill>
                <a:latin typeface="Lucida Console" panose="020B0609040504020204" pitchFamily="49" charset="0"/>
              </a:rPr>
              <a:t>&gt;</a:t>
            </a:r>
          </a:p>
          <a:p>
            <a:r>
              <a:rPr lang="en-US" altLang="zh-TW" sz="2088" dirty="0">
                <a:solidFill>
                  <a:prstClr val="white">
                    <a:lumMod val="65000"/>
                  </a:prstClr>
                </a:solidFill>
                <a:latin typeface="Lucida Console" panose="020B0609040504020204" pitchFamily="49" charset="0"/>
              </a:rPr>
              <a:t>using namespace </a:t>
            </a:r>
            <a:r>
              <a:rPr lang="en-US" altLang="zh-TW" sz="2088" dirty="0" err="1">
                <a:solidFill>
                  <a:prstClr val="white">
                    <a:lumMod val="65000"/>
                  </a:prstClr>
                </a:solidFill>
                <a:latin typeface="Lucida Console" panose="020B0609040504020204" pitchFamily="49" charset="0"/>
              </a:rPr>
              <a:t>std</a:t>
            </a:r>
            <a:r>
              <a:rPr lang="en-US" altLang="zh-TW" sz="2088" dirty="0">
                <a:solidFill>
                  <a:prstClr val="white">
                    <a:lumMod val="65000"/>
                  </a:prstClr>
                </a:solidFill>
                <a:latin typeface="Lucida Console" panose="020B0609040504020204" pitchFamily="49" charset="0"/>
              </a:rPr>
              <a:t>;</a:t>
            </a:r>
            <a:endParaRPr lang="zh-TW" altLang="en-US" sz="2088" dirty="0">
              <a:solidFill>
                <a:prstClr val="white">
                  <a:lumMod val="65000"/>
                </a:prstClr>
              </a:solidFill>
              <a:latin typeface="Lucida Console" panose="020B0609040504020204" pitchFamily="49" charset="0"/>
            </a:endParaRPr>
          </a:p>
          <a:p>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main()</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for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=0;i&lt;39;i++)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&lt;&lt;"\n* Example Program to Compute the Cube *\n";</a:t>
            </a:r>
          </a:p>
          <a:p>
            <a:r>
              <a:rPr lang="en-US" altLang="zh-TW" sz="2088" dirty="0">
                <a:solidFill>
                  <a:prstClr val="white">
                    <a:lumMod val="65000"/>
                  </a:prstClr>
                </a:solidFill>
                <a:latin typeface="Lucida Console" panose="020B0609040504020204" pitchFamily="49" charset="0"/>
              </a:rPr>
              <a:t>   for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=0;i&lt;39;i++)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nEnter</a:t>
            </a:r>
            <a:r>
              <a:rPr lang="en-US" altLang="zh-TW" sz="2088" dirty="0">
                <a:solidFill>
                  <a:prstClr val="white">
                    <a:lumMod val="65000"/>
                  </a:prstClr>
                </a:solidFill>
                <a:latin typeface="Lucida Console" panose="020B0609040504020204" pitchFamily="49" charset="0"/>
              </a:rPr>
              <a:t> a number: ";</a:t>
            </a:r>
          </a:p>
          <a:p>
            <a:r>
              <a:rPr lang="en-US" altLang="zh-TW" sz="2088" dirty="0">
                <a:solidFill>
                  <a:prstClr val="white">
                    <a:lumMod val="65000"/>
                  </a:prstClr>
                </a:solidFill>
                <a:latin typeface="Lucida Console" panose="020B0609040504020204" pitchFamily="49" charset="0"/>
              </a:rPr>
              <a:t>   </a:t>
            </a:r>
            <a:r>
              <a:rPr lang="en-US" altLang="zh-TW" sz="2088" dirty="0" err="1">
                <a:solidFill>
                  <a:srgbClr val="FFFF00"/>
                </a:solidFill>
                <a:latin typeface="Lucida Console" panose="020B0609040504020204" pitchFamily="49" charset="0"/>
              </a:rPr>
              <a:t>cin</a:t>
            </a:r>
            <a:r>
              <a:rPr lang="en-US" altLang="zh-TW" sz="2088" dirty="0">
                <a:solidFill>
                  <a:srgbClr val="FFFF00"/>
                </a:solidFill>
                <a:latin typeface="Lucida Console" panose="020B0609040504020204" pitchFamily="49" charset="0"/>
              </a:rPr>
              <a:t>&gt;&gt;</a:t>
            </a:r>
            <a:r>
              <a:rPr lang="en-US" altLang="zh-TW" sz="2088" dirty="0" err="1">
                <a:solidFill>
                  <a:srgbClr val="FFFF00"/>
                </a:solidFill>
                <a:latin typeface="Lucida Console" panose="020B0609040504020204" pitchFamily="49" charset="0"/>
              </a:rPr>
              <a:t>i</a:t>
            </a:r>
            <a:r>
              <a:rPr lang="en-US" altLang="zh-TW" sz="2088" dirty="0">
                <a:solidFill>
                  <a:srgbClr val="FFFF00"/>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&lt;&lt;"^3 = "&lt;&lt;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7" name="Straight Connector 6"/>
          <p:cNvCxnSpPr/>
          <p:nvPr/>
        </p:nvCxnSpPr>
        <p:spPr>
          <a:xfrm>
            <a:off x="704747"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ounded Rectangular Callout 13"/>
          <p:cNvSpPr/>
          <p:nvPr/>
        </p:nvSpPr>
        <p:spPr>
          <a:xfrm>
            <a:off x="6633664" y="3027891"/>
            <a:ext cx="2826530" cy="1107285"/>
          </a:xfrm>
          <a:prstGeom prst="wedgeRoundRectCallout">
            <a:avLst>
              <a:gd name="adj1" fmla="val -166080"/>
              <a:gd name="adj2" fmla="val 71938"/>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Is ‘</a:t>
            </a:r>
            <a:r>
              <a:rPr lang="en-US" sz="2436" dirty="0" err="1">
                <a:solidFill>
                  <a:srgbClr val="0033CC"/>
                </a:solidFill>
              </a:rPr>
              <a:t>i</a:t>
            </a:r>
            <a:r>
              <a:rPr lang="en-US" sz="2436" dirty="0">
                <a:solidFill>
                  <a:srgbClr val="0033CC"/>
                </a:solidFill>
              </a:rPr>
              <a:t>’ still the same variable, when its used in a new loop?</a:t>
            </a:r>
          </a:p>
        </p:txBody>
      </p:sp>
      <p:sp>
        <p:nvSpPr>
          <p:cNvPr id="16" name="Rounded Rectangular Callout 15"/>
          <p:cNvSpPr/>
          <p:nvPr/>
        </p:nvSpPr>
        <p:spPr>
          <a:xfrm>
            <a:off x="5365074" y="3997936"/>
            <a:ext cx="4093726" cy="1107285"/>
          </a:xfrm>
          <a:prstGeom prst="wedgeRoundRectCallout">
            <a:avLst>
              <a:gd name="adj1" fmla="val -133557"/>
              <a:gd name="adj2" fmla="val 4813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Well it is definitely a different variable now: it’s not even a loop index anymore.</a:t>
            </a:r>
          </a:p>
        </p:txBody>
      </p:sp>
      <p:sp>
        <p:nvSpPr>
          <p:cNvPr id="13" name="Rounded Rectangular Callout 12"/>
          <p:cNvSpPr/>
          <p:nvPr/>
        </p:nvSpPr>
        <p:spPr>
          <a:xfrm>
            <a:off x="4147805" y="1720867"/>
            <a:ext cx="5277161" cy="1383360"/>
          </a:xfrm>
          <a:prstGeom prst="wedgeRoundRectCallout">
            <a:avLst>
              <a:gd name="adj1" fmla="val 32877"/>
              <a:gd name="adj2" fmla="val 12096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And that’s the point: most languages let you reuse previously-declared variables for a new purpose. (Of course the old value is overwritten and lost.)</a:t>
            </a:r>
          </a:p>
        </p:txBody>
      </p:sp>
    </p:spTree>
    <p:extLst>
      <p:ext uri="{BB962C8B-B14F-4D97-AF65-F5344CB8AC3E}">
        <p14:creationId xmlns:p14="http://schemas.microsoft.com/office/powerpoint/2010/main" val="3948219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par>
                                <p:cTn id="7" presetID="14" presetClass="exit" presetSubtype="10" fill="hold" grpId="0" nodeType="withEffect">
                                  <p:stCondLst>
                                    <p:cond delay="0"/>
                                  </p:stCondLst>
                                  <p:childTnLst>
                                    <p:animEffect transition="out" filter="randombar(horizontal)">
                                      <p:cBhvr>
                                        <p:cTn id="8" dur="500"/>
                                        <p:tgtEl>
                                          <p:spTgt spid="14"/>
                                        </p:tgtEl>
                                      </p:cBhvr>
                                    </p:animEffect>
                                    <p:set>
                                      <p:cBhvr>
                                        <p:cTn id="9" dur="1" fill="hold">
                                          <p:stCondLst>
                                            <p:cond delay="499"/>
                                          </p:stCondLst>
                                        </p:cTn>
                                        <p:tgtEl>
                                          <p:spTgt spid="14"/>
                                        </p:tgtEl>
                                        <p:attrNameLst>
                                          <p:attrName>style.visibility</p:attrName>
                                        </p:attrNameLst>
                                      </p:cBhvr>
                                      <p:to>
                                        <p:strVal val="hidden"/>
                                      </p:to>
                                    </p:set>
                                  </p:childTnLst>
                                </p:cTn>
                              </p:par>
                              <p:par>
                                <p:cTn id="10" presetID="14" presetClass="entr" presetSubtype="1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randombar(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randombar(horizontal)">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65000"/>
                  </a:prstClr>
                </a:solidFill>
                <a:latin typeface="Lucida Console" panose="020B0609040504020204" pitchFamily="49" charset="0"/>
              </a:rPr>
              <a:t>% cat cube.cpp</a:t>
            </a:r>
          </a:p>
          <a:p>
            <a:r>
              <a:rPr lang="en-US" altLang="zh-TW" sz="2088" dirty="0">
                <a:solidFill>
                  <a:prstClr val="white">
                    <a:lumMod val="65000"/>
                  </a:prstClr>
                </a:solidFill>
                <a:latin typeface="Lucida Console" panose="020B0609040504020204" pitchFamily="49" charset="0"/>
              </a:rPr>
              <a:t>#include &lt;</a:t>
            </a:r>
            <a:r>
              <a:rPr lang="en-US" altLang="zh-TW" sz="2088" dirty="0" err="1">
                <a:solidFill>
                  <a:prstClr val="white">
                    <a:lumMod val="65000"/>
                  </a:prstClr>
                </a:solidFill>
                <a:latin typeface="Lucida Console" panose="020B0609040504020204" pitchFamily="49" charset="0"/>
              </a:rPr>
              <a:t>iostream</a:t>
            </a:r>
            <a:r>
              <a:rPr lang="en-US" altLang="zh-TW" sz="2088" dirty="0">
                <a:solidFill>
                  <a:prstClr val="white">
                    <a:lumMod val="65000"/>
                  </a:prstClr>
                </a:solidFill>
                <a:latin typeface="Lucida Console" panose="020B0609040504020204" pitchFamily="49" charset="0"/>
              </a:rPr>
              <a:t>&gt;</a:t>
            </a:r>
          </a:p>
          <a:p>
            <a:r>
              <a:rPr lang="en-US" altLang="zh-TW" sz="2088" dirty="0">
                <a:solidFill>
                  <a:prstClr val="white">
                    <a:lumMod val="65000"/>
                  </a:prstClr>
                </a:solidFill>
                <a:latin typeface="Lucida Console" panose="020B0609040504020204" pitchFamily="49" charset="0"/>
              </a:rPr>
              <a:t>using namespace </a:t>
            </a:r>
            <a:r>
              <a:rPr lang="en-US" altLang="zh-TW" sz="2088" dirty="0" err="1">
                <a:solidFill>
                  <a:prstClr val="white">
                    <a:lumMod val="65000"/>
                  </a:prstClr>
                </a:solidFill>
                <a:latin typeface="Lucida Console" panose="020B0609040504020204" pitchFamily="49" charset="0"/>
              </a:rPr>
              <a:t>std</a:t>
            </a:r>
            <a:r>
              <a:rPr lang="en-US" altLang="zh-TW" sz="2088" dirty="0">
                <a:solidFill>
                  <a:prstClr val="white">
                    <a:lumMod val="65000"/>
                  </a:prstClr>
                </a:solidFill>
                <a:latin typeface="Lucida Console" panose="020B0609040504020204" pitchFamily="49" charset="0"/>
              </a:rPr>
              <a:t>;</a:t>
            </a:r>
            <a:endParaRPr lang="zh-TW" altLang="en-US" sz="2088" dirty="0">
              <a:solidFill>
                <a:prstClr val="white">
                  <a:lumMod val="65000"/>
                </a:prstClr>
              </a:solidFill>
              <a:latin typeface="Lucida Console" panose="020B0609040504020204" pitchFamily="49" charset="0"/>
            </a:endParaRPr>
          </a:p>
          <a:p>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main()</a:t>
            </a:r>
          </a:p>
          <a:p>
            <a:r>
              <a:rPr lang="en-US" altLang="zh-TW" sz="2088" dirty="0">
                <a:solidFill>
                  <a:prstClr val="white">
                    <a:lumMod val="65000"/>
                  </a:prstClr>
                </a:solidFill>
                <a:latin typeface="Lucida Console" panose="020B0609040504020204" pitchFamily="49" charset="0"/>
              </a:rPr>
              <a:t>{  </a:t>
            </a:r>
            <a:r>
              <a:rPr lang="en-US" altLang="zh-TW" sz="2088" dirty="0" err="1">
                <a:solidFill>
                  <a:srgbClr val="FFFF00"/>
                </a:solidFill>
                <a:latin typeface="Lucida Console" panose="020B0609040504020204" pitchFamily="49" charset="0"/>
              </a:rPr>
              <a:t>int</a:t>
            </a:r>
            <a:r>
              <a:rPr lang="en-US" altLang="zh-TW" sz="2088" dirty="0">
                <a:solidFill>
                  <a:srgbClr val="FFFF00"/>
                </a:solidFill>
                <a:latin typeface="Lucida Console" panose="020B0609040504020204" pitchFamily="49" charset="0"/>
              </a:rPr>
              <a:t> </a:t>
            </a:r>
            <a:r>
              <a:rPr lang="en-US" altLang="zh-TW" sz="2088" dirty="0" err="1">
                <a:solidFill>
                  <a:srgbClr val="FFFF00"/>
                </a:solidFill>
                <a:latin typeface="Lucida Console" panose="020B0609040504020204" pitchFamily="49" charset="0"/>
              </a:rPr>
              <a:t>i</a:t>
            </a:r>
            <a:r>
              <a:rPr lang="en-US" altLang="zh-TW" sz="2088" dirty="0">
                <a:solidFill>
                  <a:srgbClr val="FFFF00"/>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for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=0;i&lt;39;i++)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&lt;&lt;"\n* Example Program to Compute the Cube *\n";</a:t>
            </a:r>
          </a:p>
          <a:p>
            <a:r>
              <a:rPr lang="en-US" altLang="zh-TW" sz="2088" dirty="0">
                <a:solidFill>
                  <a:prstClr val="white">
                    <a:lumMod val="65000"/>
                  </a:prstClr>
                </a:solidFill>
                <a:latin typeface="Lucida Console" panose="020B0609040504020204" pitchFamily="49" charset="0"/>
              </a:rPr>
              <a:t>   for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=0;i&lt;39;i++)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nEnter</a:t>
            </a:r>
            <a:r>
              <a:rPr lang="en-US" altLang="zh-TW" sz="2088" dirty="0">
                <a:solidFill>
                  <a:prstClr val="white">
                    <a:lumMod val="65000"/>
                  </a:prstClr>
                </a:solidFill>
                <a:latin typeface="Lucida Console" panose="020B0609040504020204" pitchFamily="49" charset="0"/>
              </a:rPr>
              <a:t> a number: ";</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cin</a:t>
            </a:r>
            <a:r>
              <a:rPr lang="en-US" altLang="zh-TW" sz="2088" dirty="0">
                <a:solidFill>
                  <a:prstClr val="white">
                    <a:lumMod val="65000"/>
                  </a:prstClr>
                </a:solidFill>
                <a:latin typeface="Lucida Console" panose="020B0609040504020204" pitchFamily="49" charset="0"/>
              </a:rPr>
              <a:t>&gt;&gt;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&lt;&lt;"^3 = "&lt;&lt;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p:txBody>
      </p:sp>
      <p:sp>
        <p:nvSpPr>
          <p:cNvPr id="15" name="Title 1"/>
          <p:cNvSpPr>
            <a:spLocks noGrp="1"/>
          </p:cNvSpPr>
          <p:nvPr>
            <p:ph type="title"/>
          </p:nvPr>
        </p:nvSpPr>
        <p:spPr>
          <a:xfrm>
            <a:off x="0" y="123827"/>
            <a:ext cx="9729788" cy="1446381"/>
          </a:xfrm>
          <a:solidFill>
            <a:schemeClr val="bg1"/>
          </a:solidFill>
        </p:spPr>
        <p:txBody>
          <a:bodyPr>
            <a:normAutofit/>
          </a:bodyPr>
          <a:lstStyle/>
          <a:p>
            <a:pPr algn="ctr"/>
            <a:r>
              <a:rPr lang="en-US" sz="4699" b="1" dirty="0">
                <a:solidFill>
                  <a:schemeClr val="accent1">
                    <a:lumMod val="75000"/>
                  </a:schemeClr>
                </a:solidFill>
                <a:latin typeface="Times New Roman" panose="02020603050405020304" pitchFamily="18" charset="0"/>
                <a:cs typeface="Times New Roman" panose="02020603050405020304" pitchFamily="18" charset="0"/>
              </a:rPr>
              <a:t>Most Languages Have </a:t>
            </a:r>
            <a:br>
              <a:rPr lang="en-US" sz="4699" b="1" dirty="0">
                <a:solidFill>
                  <a:schemeClr val="accent1">
                    <a:lumMod val="75000"/>
                  </a:schemeClr>
                </a:solidFill>
                <a:latin typeface="Times New Roman" panose="02020603050405020304" pitchFamily="18" charset="0"/>
                <a:cs typeface="Times New Roman" panose="02020603050405020304" pitchFamily="18" charset="0"/>
              </a:rPr>
            </a:br>
            <a:r>
              <a:rPr lang="en-US" sz="4699" b="1" dirty="0">
                <a:solidFill>
                  <a:schemeClr val="accent1">
                    <a:lumMod val="75000"/>
                  </a:schemeClr>
                </a:solidFill>
                <a:latin typeface="Times New Roman" panose="02020603050405020304" pitchFamily="18" charset="0"/>
                <a:cs typeface="Times New Roman" panose="02020603050405020304" pitchFamily="18" charset="0"/>
              </a:rPr>
              <a:t>Dynamic Value Binding: </a:t>
            </a:r>
          </a:p>
        </p:txBody>
      </p:sp>
      <p:cxnSp>
        <p:nvCxnSpPr>
          <p:cNvPr id="7" name="Straight Connector 6"/>
          <p:cNvCxnSpPr/>
          <p:nvPr/>
        </p:nvCxnSpPr>
        <p:spPr>
          <a:xfrm>
            <a:off x="704747"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ounded Rectangular Callout 15"/>
          <p:cNvSpPr/>
          <p:nvPr/>
        </p:nvSpPr>
        <p:spPr>
          <a:xfrm>
            <a:off x="5365074" y="3997936"/>
            <a:ext cx="4093726" cy="1107285"/>
          </a:xfrm>
          <a:prstGeom prst="wedgeRoundRectCallout">
            <a:avLst>
              <a:gd name="adj1" fmla="val -133557"/>
              <a:gd name="adj2" fmla="val 4813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Well it is definitely a different variable now: it’s not even a loop index anymore.</a:t>
            </a:r>
          </a:p>
        </p:txBody>
      </p:sp>
      <p:sp>
        <p:nvSpPr>
          <p:cNvPr id="13" name="Rounded Rectangular Callout 12"/>
          <p:cNvSpPr/>
          <p:nvPr/>
        </p:nvSpPr>
        <p:spPr>
          <a:xfrm>
            <a:off x="4147805" y="1720867"/>
            <a:ext cx="5277161" cy="1383360"/>
          </a:xfrm>
          <a:prstGeom prst="wedgeRoundRectCallout">
            <a:avLst>
              <a:gd name="adj1" fmla="val 32877"/>
              <a:gd name="adj2" fmla="val 12096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And that’s the point: most languages let you reuse previously-declared variables for a new purpose. (Of course the old value is overwritten and lost.)</a:t>
            </a:r>
          </a:p>
        </p:txBody>
      </p:sp>
      <p:sp>
        <p:nvSpPr>
          <p:cNvPr id="9" name="Rounded Rectangular Callout 8"/>
          <p:cNvSpPr/>
          <p:nvPr/>
        </p:nvSpPr>
        <p:spPr>
          <a:xfrm>
            <a:off x="-1952" y="1720868"/>
            <a:ext cx="4093726" cy="1307023"/>
          </a:xfrm>
          <a:prstGeom prst="wedgeRoundRectCallout">
            <a:avLst>
              <a:gd name="adj1" fmla="val -21071"/>
              <a:gd name="adj2" fmla="val 8111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r>
              <a:rPr lang="en-US" sz="2436" dirty="0">
                <a:solidFill>
                  <a:srgbClr val="0033CC"/>
                </a:solidFill>
              </a:rPr>
              <a:t>But notice: even though we repurposed ‘</a:t>
            </a:r>
            <a:r>
              <a:rPr lang="en-US" sz="2436" dirty="0" err="1">
                <a:solidFill>
                  <a:srgbClr val="0033CC"/>
                </a:solidFill>
              </a:rPr>
              <a:t>i</a:t>
            </a:r>
            <a:r>
              <a:rPr lang="en-US" sz="2436" dirty="0">
                <a:solidFill>
                  <a:srgbClr val="0033CC"/>
                </a:solidFill>
              </a:rPr>
              <a:t>’, it remained an integer. Why is that?</a:t>
            </a:r>
          </a:p>
        </p:txBody>
      </p:sp>
      <p:sp>
        <p:nvSpPr>
          <p:cNvPr id="10" name="Rounded Rectangular Callout 9"/>
          <p:cNvSpPr/>
          <p:nvPr/>
        </p:nvSpPr>
        <p:spPr>
          <a:xfrm>
            <a:off x="4661228" y="1725303"/>
            <a:ext cx="4770313" cy="1437568"/>
          </a:xfrm>
          <a:prstGeom prst="wedgeRoundRectCallout">
            <a:avLst>
              <a:gd name="adj1" fmla="val -75236"/>
              <a:gd name="adj2" fmla="val 2245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436" dirty="0">
                <a:solidFill>
                  <a:srgbClr val="0033CC"/>
                </a:solidFill>
              </a:rPr>
              <a:t>It is because C++ does not have dynamic </a:t>
            </a:r>
            <a:r>
              <a:rPr lang="en-US" sz="2436" b="1" dirty="0">
                <a:solidFill>
                  <a:srgbClr val="FF0000"/>
                </a:solidFill>
              </a:rPr>
              <a:t>type</a:t>
            </a:r>
            <a:r>
              <a:rPr lang="en-US" sz="2436" dirty="0">
                <a:solidFill>
                  <a:srgbClr val="0033CC"/>
                </a:solidFill>
              </a:rPr>
              <a:t> binding (which is just another way of saying that what it does have is </a:t>
            </a:r>
            <a:r>
              <a:rPr lang="en-US" sz="2436" i="1" dirty="0">
                <a:solidFill>
                  <a:srgbClr val="FF0000"/>
                </a:solidFill>
              </a:rPr>
              <a:t>static</a:t>
            </a:r>
            <a:r>
              <a:rPr lang="en-US" sz="2436" i="1" dirty="0">
                <a:solidFill>
                  <a:srgbClr val="0033CC"/>
                </a:solidFill>
              </a:rPr>
              <a:t> </a:t>
            </a:r>
            <a:r>
              <a:rPr lang="en-US" sz="2436" i="1" dirty="0">
                <a:solidFill>
                  <a:srgbClr val="FF0000"/>
                </a:solidFill>
              </a:rPr>
              <a:t>type binding</a:t>
            </a:r>
            <a:r>
              <a:rPr lang="en-US" sz="2436" dirty="0">
                <a:solidFill>
                  <a:srgbClr val="0033CC"/>
                </a:solidFill>
              </a:rPr>
              <a:t>).</a:t>
            </a:r>
          </a:p>
        </p:txBody>
      </p:sp>
      <p:sp>
        <p:nvSpPr>
          <p:cNvPr id="18"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sz="4699" b="1" dirty="0" smtClean="0">
                <a:solidFill>
                  <a:srgbClr val="5B9BD5">
                    <a:lumMod val="75000"/>
                  </a:srgbClr>
                </a:solidFill>
                <a:latin typeface="Times New Roman" panose="02020603050405020304" pitchFamily="18" charset="0"/>
                <a:cs typeface="Times New Roman" panose="02020603050405020304" pitchFamily="18" charset="0"/>
              </a:rPr>
              <a:t>Most </a:t>
            </a:r>
            <a:r>
              <a:rPr lang="en-US" sz="4699" b="1" dirty="0">
                <a:solidFill>
                  <a:srgbClr val="5B9BD5">
                    <a:lumMod val="75000"/>
                  </a:srgbClr>
                </a:solidFill>
                <a:latin typeface="Times New Roman" panose="02020603050405020304" pitchFamily="18" charset="0"/>
                <a:cs typeface="Times New Roman" panose="02020603050405020304" pitchFamily="18" charset="0"/>
              </a:rPr>
              <a:t>Languages </a:t>
            </a:r>
            <a:r>
              <a:rPr lang="en-US" sz="4699" b="1" i="1" dirty="0">
                <a:solidFill>
                  <a:srgbClr val="5B9BD5">
                    <a:lumMod val="75000"/>
                  </a:srgbClr>
                </a:solidFill>
                <a:latin typeface="Times New Roman" panose="02020603050405020304" pitchFamily="18" charset="0"/>
                <a:cs typeface="Times New Roman" panose="02020603050405020304" pitchFamily="18" charset="0"/>
              </a:rPr>
              <a:t>Don’t</a:t>
            </a:r>
            <a:r>
              <a:rPr lang="en-US" sz="4699" b="1" dirty="0">
                <a:solidFill>
                  <a:srgbClr val="5B9BD5">
                    <a:lumMod val="75000"/>
                  </a:srgbClr>
                </a:solidFill>
                <a:latin typeface="Times New Roman" panose="02020603050405020304" pitchFamily="18" charset="0"/>
                <a:cs typeface="Times New Roman" panose="02020603050405020304" pitchFamily="18" charset="0"/>
              </a:rPr>
              <a:t> Have </a:t>
            </a:r>
            <a:br>
              <a:rPr lang="en-US" sz="4699" b="1" dirty="0">
                <a:solidFill>
                  <a:srgbClr val="5B9BD5">
                    <a:lumMod val="75000"/>
                  </a:srgbClr>
                </a:solidFill>
                <a:latin typeface="Times New Roman" panose="02020603050405020304" pitchFamily="18" charset="0"/>
                <a:cs typeface="Times New Roman" panose="02020603050405020304" pitchFamily="18" charset="0"/>
              </a:rPr>
            </a:br>
            <a:r>
              <a:rPr lang="en-US" sz="4699" b="1" dirty="0">
                <a:solidFill>
                  <a:srgbClr val="5B9BD5">
                    <a:lumMod val="75000"/>
                  </a:srgbClr>
                </a:solidFill>
                <a:latin typeface="Times New Roman" panose="02020603050405020304" pitchFamily="18" charset="0"/>
                <a:cs typeface="Times New Roman" panose="02020603050405020304" pitchFamily="18" charset="0"/>
              </a:rPr>
              <a:t>Dynamic </a:t>
            </a:r>
            <a:r>
              <a:rPr lang="en-US" sz="4699" b="1" dirty="0">
                <a:solidFill>
                  <a:srgbClr val="FF0000"/>
                </a:solidFill>
                <a:latin typeface="Times New Roman" panose="02020603050405020304" pitchFamily="18" charset="0"/>
                <a:cs typeface="Times New Roman" panose="02020603050405020304" pitchFamily="18" charset="0"/>
              </a:rPr>
              <a:t>Type</a:t>
            </a:r>
            <a:r>
              <a:rPr lang="en-US" sz="4699" b="1" dirty="0">
                <a:solidFill>
                  <a:srgbClr val="5B9BD5">
                    <a:lumMod val="75000"/>
                  </a:srgbClr>
                </a:solidFill>
                <a:latin typeface="Times New Roman" panose="02020603050405020304" pitchFamily="18" charset="0"/>
                <a:cs typeface="Times New Roman" panose="02020603050405020304" pitchFamily="18" charset="0"/>
              </a:rPr>
              <a:t> Binding: </a:t>
            </a:r>
          </a:p>
        </p:txBody>
      </p:sp>
    </p:spTree>
    <p:extLst>
      <p:ext uri="{BB962C8B-B14F-4D97-AF65-F5344CB8AC3E}">
        <p14:creationId xmlns:p14="http://schemas.microsoft.com/office/powerpoint/2010/main" val="223723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randombar(horizontal)">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0" nodeType="clickEffect">
                                  <p:stCondLst>
                                    <p:cond delay="0"/>
                                  </p:stCondLst>
                                  <p:childTnLst>
                                    <p:animEffect transition="out" filter="randombar(horizontal)">
                                      <p:cBhvr>
                                        <p:cTn id="13" dur="500"/>
                                        <p:tgtEl>
                                          <p:spTgt spid="16"/>
                                        </p:tgtEl>
                                      </p:cBhvr>
                                    </p:animEffect>
                                    <p:set>
                                      <p:cBhvr>
                                        <p:cTn id="14" dur="1" fill="hold">
                                          <p:stCondLst>
                                            <p:cond delay="499"/>
                                          </p:stCondLst>
                                        </p:cTn>
                                        <p:tgtEl>
                                          <p:spTgt spid="16"/>
                                        </p:tgtEl>
                                        <p:attrNameLst>
                                          <p:attrName>style.visibility</p:attrName>
                                        </p:attrNameLst>
                                      </p:cBhvr>
                                      <p:to>
                                        <p:strVal val="hidden"/>
                                      </p:to>
                                    </p:set>
                                  </p:childTnLst>
                                </p:cTn>
                              </p:par>
                              <p:par>
                                <p:cTn id="15" presetID="14" presetClass="exit" presetSubtype="10" fill="hold" grpId="0" nodeType="withEffect">
                                  <p:stCondLst>
                                    <p:cond delay="0"/>
                                  </p:stCondLst>
                                  <p:childTnLst>
                                    <p:animEffect transition="out" filter="randombar(horizontal)">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par>
                                <p:cTn id="18" presetID="14" presetClass="entr" presetSubtype="1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randombar(horizontal)">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randombar(horizontal)">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xit" presetSubtype="10" fill="hold" grpId="1" nodeType="clickEffect">
                                  <p:stCondLst>
                                    <p:cond delay="0"/>
                                  </p:stCondLst>
                                  <p:childTnLst>
                                    <p:animEffect transition="out" filter="randombar(horizontal)">
                                      <p:cBhvr>
                                        <p:cTn id="29" dur="500"/>
                                        <p:tgtEl>
                                          <p:spTgt spid="9"/>
                                        </p:tgtEl>
                                      </p:cBhvr>
                                    </p:animEffect>
                                    <p:set>
                                      <p:cBhvr>
                                        <p:cTn id="30" dur="1" fill="hold">
                                          <p:stCondLst>
                                            <p:cond delay="499"/>
                                          </p:stCondLst>
                                        </p:cTn>
                                        <p:tgtEl>
                                          <p:spTgt spid="9"/>
                                        </p:tgtEl>
                                        <p:attrNameLst>
                                          <p:attrName>style.visibility</p:attrName>
                                        </p:attrNameLst>
                                      </p:cBhvr>
                                      <p:to>
                                        <p:strVal val="hidden"/>
                                      </p:to>
                                    </p:set>
                                  </p:childTnLst>
                                </p:cTn>
                              </p:par>
                              <p:par>
                                <p:cTn id="31" presetID="14" presetClass="exit" presetSubtype="10" fill="hold" grpId="1" nodeType="withEffect">
                                  <p:stCondLst>
                                    <p:cond delay="0"/>
                                  </p:stCondLst>
                                  <p:childTnLst>
                                    <p:animEffect transition="out" filter="randombar(horizontal)">
                                      <p:cBhvr>
                                        <p:cTn id="32" dur="500"/>
                                        <p:tgtEl>
                                          <p:spTgt spid="10"/>
                                        </p:tgtEl>
                                      </p:cBhvr>
                                    </p:animEffect>
                                    <p:set>
                                      <p:cBhvr>
                                        <p:cTn id="33"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3" grpId="0" animBg="1"/>
      <p:bldP spid="9" grpId="0" animBg="1"/>
      <p:bldP spid="9" grpId="1" animBg="1"/>
      <p:bldP spid="10" grpId="0" animBg="1"/>
      <p:bldP spid="10" grpId="1" animBg="1"/>
      <p:bldP spid="1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sz="4699" b="1" dirty="0" smtClean="0">
                <a:solidFill>
                  <a:srgbClr val="5B9BD5">
                    <a:lumMod val="75000"/>
                  </a:srgbClr>
                </a:solidFill>
                <a:latin typeface="Times New Roman" panose="02020603050405020304" pitchFamily="18" charset="0"/>
                <a:cs typeface="Times New Roman" panose="02020603050405020304" pitchFamily="18" charset="0"/>
              </a:rPr>
              <a:t>Most </a:t>
            </a:r>
            <a:r>
              <a:rPr lang="en-US" sz="4699" b="1" dirty="0">
                <a:solidFill>
                  <a:srgbClr val="5B9BD5">
                    <a:lumMod val="75000"/>
                  </a:srgbClr>
                </a:solidFill>
                <a:latin typeface="Times New Roman" panose="02020603050405020304" pitchFamily="18" charset="0"/>
                <a:cs typeface="Times New Roman" panose="02020603050405020304" pitchFamily="18" charset="0"/>
              </a:rPr>
              <a:t>Languages </a:t>
            </a:r>
            <a:r>
              <a:rPr lang="en-US" sz="4699" b="1" i="1" dirty="0">
                <a:solidFill>
                  <a:srgbClr val="5B9BD5">
                    <a:lumMod val="75000"/>
                  </a:srgbClr>
                </a:solidFill>
                <a:latin typeface="Times New Roman" panose="02020603050405020304" pitchFamily="18" charset="0"/>
                <a:cs typeface="Times New Roman" panose="02020603050405020304" pitchFamily="18" charset="0"/>
              </a:rPr>
              <a:t>Don’t</a:t>
            </a:r>
            <a:r>
              <a:rPr lang="en-US" sz="4699" b="1" dirty="0">
                <a:solidFill>
                  <a:srgbClr val="5B9BD5">
                    <a:lumMod val="75000"/>
                  </a:srgbClr>
                </a:solidFill>
                <a:latin typeface="Times New Roman" panose="02020603050405020304" pitchFamily="18" charset="0"/>
                <a:cs typeface="Times New Roman" panose="02020603050405020304" pitchFamily="18" charset="0"/>
              </a:rPr>
              <a:t> Have </a:t>
            </a:r>
            <a:br>
              <a:rPr lang="en-US" sz="4699" b="1" dirty="0">
                <a:solidFill>
                  <a:srgbClr val="5B9BD5">
                    <a:lumMod val="75000"/>
                  </a:srgbClr>
                </a:solidFill>
                <a:latin typeface="Times New Roman" panose="02020603050405020304" pitchFamily="18" charset="0"/>
                <a:cs typeface="Times New Roman" panose="02020603050405020304" pitchFamily="18" charset="0"/>
              </a:rPr>
            </a:br>
            <a:r>
              <a:rPr lang="en-US" sz="4699" b="1" dirty="0">
                <a:solidFill>
                  <a:srgbClr val="5B9BD5">
                    <a:lumMod val="75000"/>
                  </a:srgbClr>
                </a:solidFill>
                <a:latin typeface="Times New Roman" panose="02020603050405020304" pitchFamily="18" charset="0"/>
                <a:cs typeface="Times New Roman" panose="02020603050405020304" pitchFamily="18" charset="0"/>
              </a:rPr>
              <a:t>Dynamic </a:t>
            </a:r>
            <a:r>
              <a:rPr lang="en-US" sz="4699" b="1" dirty="0">
                <a:solidFill>
                  <a:srgbClr val="FF0000"/>
                </a:solidFill>
                <a:latin typeface="Times New Roman" panose="02020603050405020304" pitchFamily="18" charset="0"/>
                <a:cs typeface="Times New Roman" panose="02020603050405020304" pitchFamily="18" charset="0"/>
              </a:rPr>
              <a:t>Type</a:t>
            </a:r>
            <a:r>
              <a:rPr lang="en-US" sz="4699" b="1" dirty="0">
                <a:solidFill>
                  <a:srgbClr val="5B9BD5">
                    <a:lumMod val="75000"/>
                  </a:srgbClr>
                </a:solidFill>
                <a:latin typeface="Times New Roman" panose="02020603050405020304" pitchFamily="18" charset="0"/>
                <a:cs typeface="Times New Roman" panose="02020603050405020304" pitchFamily="18" charset="0"/>
              </a:rPr>
              <a:t> Binding: </a:t>
            </a: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65000"/>
                  </a:prstClr>
                </a:solidFill>
                <a:latin typeface="Lucida Console" panose="020B0609040504020204" pitchFamily="49" charset="0"/>
              </a:rPr>
              <a:t>%</a:t>
            </a:r>
            <a:r>
              <a:rPr lang="en-US" altLang="zh-TW" sz="2088" dirty="0">
                <a:solidFill>
                  <a:prstClr val="white"/>
                </a:solidFill>
                <a:latin typeface="Lucida Console" panose="020B0609040504020204" pitchFamily="49" charset="0"/>
              </a:rPr>
              <a:t> cat broken.cpp</a:t>
            </a:r>
          </a:p>
          <a:p>
            <a:r>
              <a:rPr lang="en-US" altLang="zh-TW" sz="2088" dirty="0">
                <a:solidFill>
                  <a:prstClr val="white">
                    <a:lumMod val="65000"/>
                  </a:prstClr>
                </a:solidFill>
                <a:latin typeface="Lucida Console" panose="020B0609040504020204" pitchFamily="49" charset="0"/>
              </a:rPr>
              <a:t>#include &lt;</a:t>
            </a:r>
            <a:r>
              <a:rPr lang="en-US" altLang="zh-TW" sz="2088" dirty="0" err="1">
                <a:solidFill>
                  <a:prstClr val="white">
                    <a:lumMod val="65000"/>
                  </a:prstClr>
                </a:solidFill>
                <a:latin typeface="Lucida Console" panose="020B0609040504020204" pitchFamily="49" charset="0"/>
              </a:rPr>
              <a:t>iostream</a:t>
            </a:r>
            <a:r>
              <a:rPr lang="en-US" altLang="zh-TW" sz="2088" dirty="0">
                <a:solidFill>
                  <a:prstClr val="white">
                    <a:lumMod val="65000"/>
                  </a:prstClr>
                </a:solidFill>
                <a:latin typeface="Lucida Console" panose="020B0609040504020204" pitchFamily="49" charset="0"/>
              </a:rPr>
              <a:t>&gt;</a:t>
            </a:r>
          </a:p>
          <a:p>
            <a:r>
              <a:rPr lang="en-US" altLang="zh-TW" sz="2088" dirty="0">
                <a:solidFill>
                  <a:prstClr val="white">
                    <a:lumMod val="65000"/>
                  </a:prstClr>
                </a:solidFill>
                <a:latin typeface="Lucida Console" panose="020B0609040504020204" pitchFamily="49" charset="0"/>
              </a:rPr>
              <a:t>using namespace </a:t>
            </a:r>
            <a:r>
              <a:rPr lang="en-US" altLang="zh-TW" sz="2088" dirty="0" err="1">
                <a:solidFill>
                  <a:prstClr val="white">
                    <a:lumMod val="65000"/>
                  </a:prstClr>
                </a:solidFill>
                <a:latin typeface="Lucida Console" panose="020B0609040504020204" pitchFamily="49" charset="0"/>
              </a:rPr>
              <a:t>std</a:t>
            </a:r>
            <a:r>
              <a:rPr lang="en-US" altLang="zh-TW" sz="2088" dirty="0">
                <a:solidFill>
                  <a:prstClr val="white">
                    <a:lumMod val="65000"/>
                  </a:prstClr>
                </a:solidFill>
                <a:latin typeface="Lucida Console" panose="020B0609040504020204" pitchFamily="49" charset="0"/>
              </a:rPr>
              <a:t>;</a:t>
            </a:r>
            <a:endParaRPr lang="zh-TW" altLang="en-US" sz="2088" dirty="0">
              <a:solidFill>
                <a:prstClr val="white">
                  <a:lumMod val="65000"/>
                </a:prstClr>
              </a:solidFill>
              <a:latin typeface="Lucida Console" panose="020B0609040504020204" pitchFamily="49" charset="0"/>
            </a:endParaRPr>
          </a:p>
          <a:p>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main()</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 = 1;</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 = "Hello";</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a:p>
            <a:r>
              <a:rPr lang="en-US" altLang="zh-TW" sz="2088" dirty="0">
                <a:solidFill>
                  <a:srgbClr val="FFFF00"/>
                </a:solidFill>
                <a:latin typeface="Lucida Console" panose="020B0609040504020204" pitchFamily="49" charset="0"/>
              </a:rPr>
              <a:t>% g++ broken.cpp</a:t>
            </a:r>
          </a:p>
          <a:p>
            <a:r>
              <a:rPr lang="en-US" altLang="zh-TW" sz="2088" dirty="0">
                <a:solidFill>
                  <a:srgbClr val="FFFF00"/>
                </a:solidFill>
                <a:latin typeface="Lucida Console" panose="020B0609040504020204" pitchFamily="49" charset="0"/>
              </a:rPr>
              <a:t>broken.cpp:6:6: error: invalid conversion from </a:t>
            </a:r>
            <a:br>
              <a:rPr lang="en-US" altLang="zh-TW" sz="2088" dirty="0">
                <a:solidFill>
                  <a:srgbClr val="FFFF00"/>
                </a:solidFill>
                <a:latin typeface="Lucida Console" panose="020B0609040504020204" pitchFamily="49" charset="0"/>
              </a:rPr>
            </a:br>
            <a:r>
              <a:rPr lang="en-US" altLang="zh-TW" sz="2088" dirty="0">
                <a:solidFill>
                  <a:srgbClr val="FFFF00"/>
                </a:solidFill>
                <a:latin typeface="Lucida Console" panose="020B0609040504020204" pitchFamily="49" charset="0"/>
              </a:rPr>
              <a:t>‘</a:t>
            </a:r>
            <a:r>
              <a:rPr lang="en-US" altLang="zh-TW" sz="2088" dirty="0" err="1">
                <a:solidFill>
                  <a:srgbClr val="FFFF00"/>
                </a:solidFill>
                <a:latin typeface="Lucida Console" panose="020B0609040504020204" pitchFamily="49" charset="0"/>
              </a:rPr>
              <a:t>const</a:t>
            </a:r>
            <a:r>
              <a:rPr lang="en-US" altLang="zh-TW" sz="2088" dirty="0">
                <a:solidFill>
                  <a:srgbClr val="FFFF00"/>
                </a:solidFill>
                <a:latin typeface="Lucida Console" panose="020B0609040504020204" pitchFamily="49" charset="0"/>
              </a:rPr>
              <a:t> char*’ to ‘</a:t>
            </a:r>
            <a:r>
              <a:rPr lang="en-US" altLang="zh-TW" sz="2088" dirty="0" err="1">
                <a:solidFill>
                  <a:srgbClr val="FFFF00"/>
                </a:solidFill>
                <a:latin typeface="Lucida Console" panose="020B0609040504020204" pitchFamily="49" charset="0"/>
              </a:rPr>
              <a:t>int</a:t>
            </a:r>
            <a:r>
              <a:rPr lang="en-US" altLang="zh-TW" sz="2088" dirty="0">
                <a:solidFill>
                  <a:srgbClr val="FFFF00"/>
                </a:solidFill>
                <a:latin typeface="Lucida Console" panose="020B0609040504020204" pitchFamily="49" charset="0"/>
              </a:rPr>
              <a:t>’ [-</a:t>
            </a:r>
            <a:r>
              <a:rPr lang="en-US" altLang="zh-TW" sz="2088" dirty="0" err="1">
                <a:solidFill>
                  <a:srgbClr val="FFFF00"/>
                </a:solidFill>
                <a:latin typeface="Lucida Console" panose="020B0609040504020204" pitchFamily="49" charset="0"/>
              </a:rPr>
              <a:t>fpermissive</a:t>
            </a:r>
            <a:r>
              <a:rPr lang="en-US" altLang="zh-TW" sz="2088" dirty="0">
                <a:solidFill>
                  <a:srgbClr val="FFFF00"/>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a:p>
            <a:r>
              <a:rPr lang="en-US" altLang="zh-TW" sz="2088" dirty="0">
                <a:solidFill>
                  <a:prstClr val="white">
                    <a:lumMod val="65000"/>
                  </a:prstClr>
                </a:solidFill>
                <a:latin typeface="Lucida Console" panose="020B0609040504020204" pitchFamily="49" charset="0"/>
              </a:rPr>
              <a:t>%</a:t>
            </a:r>
          </a:p>
        </p:txBody>
      </p:sp>
      <p:cxnSp>
        <p:nvCxnSpPr>
          <p:cNvPr id="7" name="Straight Connector 6"/>
          <p:cNvCxnSpPr/>
          <p:nvPr/>
        </p:nvCxnSpPr>
        <p:spPr>
          <a:xfrm>
            <a:off x="704747"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8285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sz="4699" b="1" dirty="0" smtClean="0">
                <a:solidFill>
                  <a:srgbClr val="5B9BD5">
                    <a:lumMod val="75000"/>
                  </a:srgbClr>
                </a:solidFill>
                <a:latin typeface="Times New Roman" panose="02020603050405020304" pitchFamily="18" charset="0"/>
                <a:cs typeface="Times New Roman" panose="02020603050405020304" pitchFamily="18" charset="0"/>
              </a:rPr>
              <a:t>Most </a:t>
            </a:r>
            <a:r>
              <a:rPr lang="en-US" sz="4699" b="1" dirty="0">
                <a:solidFill>
                  <a:srgbClr val="5B9BD5">
                    <a:lumMod val="75000"/>
                  </a:srgbClr>
                </a:solidFill>
                <a:latin typeface="Times New Roman" panose="02020603050405020304" pitchFamily="18" charset="0"/>
                <a:cs typeface="Times New Roman" panose="02020603050405020304" pitchFamily="18" charset="0"/>
              </a:rPr>
              <a:t>Languages </a:t>
            </a:r>
            <a:r>
              <a:rPr lang="en-US" sz="4699" b="1" i="1" dirty="0">
                <a:solidFill>
                  <a:srgbClr val="5B9BD5">
                    <a:lumMod val="75000"/>
                  </a:srgbClr>
                </a:solidFill>
                <a:latin typeface="Times New Roman" panose="02020603050405020304" pitchFamily="18" charset="0"/>
                <a:cs typeface="Times New Roman" panose="02020603050405020304" pitchFamily="18" charset="0"/>
              </a:rPr>
              <a:t>Don’t</a:t>
            </a:r>
            <a:r>
              <a:rPr lang="en-US" sz="4699" b="1" dirty="0">
                <a:solidFill>
                  <a:srgbClr val="5B9BD5">
                    <a:lumMod val="75000"/>
                  </a:srgbClr>
                </a:solidFill>
                <a:latin typeface="Times New Roman" panose="02020603050405020304" pitchFamily="18" charset="0"/>
                <a:cs typeface="Times New Roman" panose="02020603050405020304" pitchFamily="18" charset="0"/>
              </a:rPr>
              <a:t> Have </a:t>
            </a:r>
            <a:br>
              <a:rPr lang="en-US" sz="4699" b="1" dirty="0">
                <a:solidFill>
                  <a:srgbClr val="5B9BD5">
                    <a:lumMod val="75000"/>
                  </a:srgbClr>
                </a:solidFill>
                <a:latin typeface="Times New Roman" panose="02020603050405020304" pitchFamily="18" charset="0"/>
                <a:cs typeface="Times New Roman" panose="02020603050405020304" pitchFamily="18" charset="0"/>
              </a:rPr>
            </a:br>
            <a:r>
              <a:rPr lang="en-US" sz="4699" b="1" dirty="0">
                <a:solidFill>
                  <a:srgbClr val="5B9BD5">
                    <a:lumMod val="75000"/>
                  </a:srgbClr>
                </a:solidFill>
                <a:latin typeface="Times New Roman" panose="02020603050405020304" pitchFamily="18" charset="0"/>
                <a:cs typeface="Times New Roman" panose="02020603050405020304" pitchFamily="18" charset="0"/>
              </a:rPr>
              <a:t>Dynamic </a:t>
            </a:r>
            <a:r>
              <a:rPr lang="en-US" sz="4699" b="1" dirty="0">
                <a:solidFill>
                  <a:srgbClr val="FF0000"/>
                </a:solidFill>
                <a:latin typeface="Times New Roman" panose="02020603050405020304" pitchFamily="18" charset="0"/>
                <a:cs typeface="Times New Roman" panose="02020603050405020304" pitchFamily="18" charset="0"/>
              </a:rPr>
              <a:t>Type</a:t>
            </a:r>
            <a:r>
              <a:rPr lang="en-US" sz="4699" b="1" dirty="0">
                <a:solidFill>
                  <a:srgbClr val="5B9BD5">
                    <a:lumMod val="75000"/>
                  </a:srgbClr>
                </a:solidFill>
                <a:latin typeface="Times New Roman" panose="02020603050405020304" pitchFamily="18" charset="0"/>
                <a:cs typeface="Times New Roman" panose="02020603050405020304" pitchFamily="18" charset="0"/>
              </a:rPr>
              <a:t> Binding: </a:t>
            </a: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65000"/>
                  </a:prstClr>
                </a:solidFill>
                <a:latin typeface="Lucida Console" panose="020B0609040504020204" pitchFamily="49" charset="0"/>
              </a:rPr>
              <a:t>%</a:t>
            </a:r>
            <a:r>
              <a:rPr lang="en-US" altLang="zh-TW" sz="2088" dirty="0">
                <a:solidFill>
                  <a:prstClr val="white"/>
                </a:solidFill>
                <a:latin typeface="Lucida Console" panose="020B0609040504020204" pitchFamily="49" charset="0"/>
              </a:rPr>
              <a:t> cat broken.cpp</a:t>
            </a:r>
          </a:p>
          <a:p>
            <a:r>
              <a:rPr lang="en-US" altLang="zh-TW" sz="2088" dirty="0">
                <a:solidFill>
                  <a:prstClr val="white">
                    <a:lumMod val="65000"/>
                  </a:prstClr>
                </a:solidFill>
                <a:latin typeface="Lucida Console" panose="020B0609040504020204" pitchFamily="49" charset="0"/>
              </a:rPr>
              <a:t>#include &lt;</a:t>
            </a:r>
            <a:r>
              <a:rPr lang="en-US" altLang="zh-TW" sz="2088" dirty="0" err="1">
                <a:solidFill>
                  <a:prstClr val="white">
                    <a:lumMod val="65000"/>
                  </a:prstClr>
                </a:solidFill>
                <a:latin typeface="Lucida Console" panose="020B0609040504020204" pitchFamily="49" charset="0"/>
              </a:rPr>
              <a:t>iostream</a:t>
            </a:r>
            <a:r>
              <a:rPr lang="en-US" altLang="zh-TW" sz="2088" dirty="0">
                <a:solidFill>
                  <a:prstClr val="white">
                    <a:lumMod val="65000"/>
                  </a:prstClr>
                </a:solidFill>
                <a:latin typeface="Lucida Console" panose="020B0609040504020204" pitchFamily="49" charset="0"/>
              </a:rPr>
              <a:t>&gt;</a:t>
            </a:r>
          </a:p>
          <a:p>
            <a:r>
              <a:rPr lang="en-US" altLang="zh-TW" sz="2088" dirty="0">
                <a:solidFill>
                  <a:prstClr val="white">
                    <a:lumMod val="65000"/>
                  </a:prstClr>
                </a:solidFill>
                <a:latin typeface="Lucida Console" panose="020B0609040504020204" pitchFamily="49" charset="0"/>
              </a:rPr>
              <a:t>using namespace </a:t>
            </a:r>
            <a:r>
              <a:rPr lang="en-US" altLang="zh-TW" sz="2088" dirty="0" err="1">
                <a:solidFill>
                  <a:prstClr val="white">
                    <a:lumMod val="65000"/>
                  </a:prstClr>
                </a:solidFill>
                <a:latin typeface="Lucida Console" panose="020B0609040504020204" pitchFamily="49" charset="0"/>
              </a:rPr>
              <a:t>std</a:t>
            </a:r>
            <a:r>
              <a:rPr lang="en-US" altLang="zh-TW" sz="2088" dirty="0">
                <a:solidFill>
                  <a:prstClr val="white">
                    <a:lumMod val="65000"/>
                  </a:prstClr>
                </a:solidFill>
                <a:latin typeface="Lucida Console" panose="020B0609040504020204" pitchFamily="49" charset="0"/>
              </a:rPr>
              <a:t>;</a:t>
            </a:r>
            <a:endParaRPr lang="zh-TW" altLang="en-US" sz="2088" dirty="0">
              <a:solidFill>
                <a:prstClr val="white">
                  <a:lumMod val="65000"/>
                </a:prstClr>
              </a:solidFill>
              <a:latin typeface="Lucida Console" panose="020B0609040504020204" pitchFamily="49" charset="0"/>
            </a:endParaRPr>
          </a:p>
          <a:p>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main()</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 = 1;</a:t>
            </a:r>
          </a:p>
          <a:p>
            <a:r>
              <a:rPr lang="en-US" altLang="zh-TW" sz="2088" dirty="0">
                <a:solidFill>
                  <a:prstClr val="white">
                    <a:lumMod val="65000"/>
                  </a:prstClr>
                </a:solidFill>
                <a:latin typeface="Lucida Console" panose="020B0609040504020204" pitchFamily="49" charset="0"/>
              </a:rPr>
              <a:t>   </a:t>
            </a:r>
            <a:r>
              <a:rPr lang="en-US" altLang="zh-TW" sz="2088" dirty="0" err="1">
                <a:solidFill>
                  <a:srgbClr val="FF3333"/>
                </a:solidFill>
                <a:latin typeface="Lucida Console" panose="020B0609040504020204" pitchFamily="49" charset="0"/>
              </a:rPr>
              <a:t>i</a:t>
            </a:r>
            <a:r>
              <a:rPr lang="en-US" altLang="zh-TW" sz="2088" dirty="0">
                <a:solidFill>
                  <a:srgbClr val="FF3333"/>
                </a:solidFill>
                <a:latin typeface="Lucida Console" panose="020B0609040504020204" pitchFamily="49" charset="0"/>
              </a:rPr>
              <a:t> = "Hello";</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a:p>
            <a:r>
              <a:rPr lang="en-US" altLang="zh-TW" sz="2088" dirty="0">
                <a:solidFill>
                  <a:srgbClr val="FFFF00"/>
                </a:solidFill>
                <a:latin typeface="Lucida Console" panose="020B0609040504020204" pitchFamily="49" charset="0"/>
              </a:rPr>
              <a:t>% g++ broken.cpp</a:t>
            </a:r>
          </a:p>
          <a:p>
            <a:r>
              <a:rPr lang="en-US" altLang="zh-TW" sz="2088" dirty="0">
                <a:solidFill>
                  <a:srgbClr val="FFFF00"/>
                </a:solidFill>
                <a:latin typeface="Lucida Console" panose="020B0609040504020204" pitchFamily="49" charset="0"/>
              </a:rPr>
              <a:t>broken.cpp:6:6: </a:t>
            </a:r>
            <a:r>
              <a:rPr lang="en-US" altLang="zh-TW" sz="2088" dirty="0">
                <a:solidFill>
                  <a:srgbClr val="FF3333"/>
                </a:solidFill>
                <a:latin typeface="Lucida Console" panose="020B0609040504020204" pitchFamily="49" charset="0"/>
              </a:rPr>
              <a:t>error</a:t>
            </a:r>
            <a:r>
              <a:rPr lang="en-US" altLang="zh-TW" sz="2088" dirty="0">
                <a:solidFill>
                  <a:srgbClr val="FFFF00"/>
                </a:solidFill>
                <a:latin typeface="Lucida Console" panose="020B0609040504020204" pitchFamily="49" charset="0"/>
              </a:rPr>
              <a:t>: invalid conversion from </a:t>
            </a:r>
            <a:br>
              <a:rPr lang="en-US" altLang="zh-TW" sz="2088" dirty="0">
                <a:solidFill>
                  <a:srgbClr val="FFFF00"/>
                </a:solidFill>
                <a:latin typeface="Lucida Console" panose="020B0609040504020204" pitchFamily="49" charset="0"/>
              </a:rPr>
            </a:br>
            <a:r>
              <a:rPr lang="en-US" altLang="zh-TW" sz="2088" dirty="0">
                <a:solidFill>
                  <a:srgbClr val="FFFF00"/>
                </a:solidFill>
                <a:latin typeface="Lucida Console" panose="020B0609040504020204" pitchFamily="49" charset="0"/>
              </a:rPr>
              <a:t>‘</a:t>
            </a:r>
            <a:r>
              <a:rPr lang="en-US" altLang="zh-TW" sz="2088" dirty="0" err="1">
                <a:solidFill>
                  <a:srgbClr val="FFFF00"/>
                </a:solidFill>
                <a:latin typeface="Lucida Console" panose="020B0609040504020204" pitchFamily="49" charset="0"/>
              </a:rPr>
              <a:t>const</a:t>
            </a:r>
            <a:r>
              <a:rPr lang="en-US" altLang="zh-TW" sz="2088" dirty="0">
                <a:solidFill>
                  <a:srgbClr val="FFFF00"/>
                </a:solidFill>
                <a:latin typeface="Lucida Console" panose="020B0609040504020204" pitchFamily="49" charset="0"/>
              </a:rPr>
              <a:t> char*’ to ‘</a:t>
            </a:r>
            <a:r>
              <a:rPr lang="en-US" altLang="zh-TW" sz="2088" dirty="0" err="1">
                <a:solidFill>
                  <a:srgbClr val="FFFF00"/>
                </a:solidFill>
                <a:latin typeface="Lucida Console" panose="020B0609040504020204" pitchFamily="49" charset="0"/>
              </a:rPr>
              <a:t>int</a:t>
            </a:r>
            <a:r>
              <a:rPr lang="en-US" altLang="zh-TW" sz="2088" dirty="0">
                <a:solidFill>
                  <a:srgbClr val="FFFF00"/>
                </a:solidFill>
                <a:latin typeface="Lucida Console" panose="020B0609040504020204" pitchFamily="49" charset="0"/>
              </a:rPr>
              <a:t>’ [-</a:t>
            </a:r>
            <a:r>
              <a:rPr lang="en-US" altLang="zh-TW" sz="2088" dirty="0" err="1">
                <a:solidFill>
                  <a:srgbClr val="FFFF00"/>
                </a:solidFill>
                <a:latin typeface="Lucida Console" panose="020B0609040504020204" pitchFamily="49" charset="0"/>
              </a:rPr>
              <a:t>fpermissive</a:t>
            </a:r>
            <a:r>
              <a:rPr lang="en-US" altLang="zh-TW" sz="2088" dirty="0">
                <a:solidFill>
                  <a:srgbClr val="FFFF00"/>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a:p>
            <a:r>
              <a:rPr lang="en-US" altLang="zh-TW" sz="2088" dirty="0">
                <a:solidFill>
                  <a:prstClr val="white">
                    <a:lumMod val="65000"/>
                  </a:prstClr>
                </a:solidFill>
                <a:latin typeface="Lucida Console" panose="020B0609040504020204" pitchFamily="49" charset="0"/>
              </a:rPr>
              <a:t>%</a:t>
            </a:r>
          </a:p>
        </p:txBody>
      </p:sp>
      <p:cxnSp>
        <p:nvCxnSpPr>
          <p:cNvPr id="7" name="Straight Connector 6"/>
          <p:cNvCxnSpPr/>
          <p:nvPr/>
        </p:nvCxnSpPr>
        <p:spPr>
          <a:xfrm>
            <a:off x="704747"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3230572" y="3755765"/>
            <a:ext cx="5773312" cy="1437568"/>
            <a:chOff x="3744940" y="3755765"/>
            <a:chExt cx="5773312" cy="1437568"/>
          </a:xfrm>
        </p:grpSpPr>
        <p:sp>
          <p:nvSpPr>
            <p:cNvPr id="9" name="Rounded Rectangular Callout 8"/>
            <p:cNvSpPr/>
            <p:nvPr/>
          </p:nvSpPr>
          <p:spPr>
            <a:xfrm>
              <a:off x="4747939" y="3755765"/>
              <a:ext cx="4770313" cy="1437568"/>
            </a:xfrm>
            <a:prstGeom prst="wedgeRoundRectCallout">
              <a:avLst>
                <a:gd name="adj1" fmla="val -81822"/>
                <a:gd name="adj2" fmla="val -2297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a:solidFill>
                    <a:srgbClr val="0033CC"/>
                  </a:solidFill>
                </a:rPr>
                <a:t>See? You can’t change its type. (And that is because you can’t undo the original declaration.)</a:t>
              </a:r>
            </a:p>
          </p:txBody>
        </p:sp>
        <p:sp>
          <p:nvSpPr>
            <p:cNvPr id="10" name="Isosceles Triangle 9"/>
            <p:cNvSpPr/>
            <p:nvPr/>
          </p:nvSpPr>
          <p:spPr>
            <a:xfrm rot="13633135">
              <a:off x="4272828" y="4120021"/>
              <a:ext cx="420121" cy="1475897"/>
            </a:xfrm>
            <a:prstGeom prst="triangle">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grpSp>
    </p:spTree>
    <p:extLst>
      <p:ext uri="{BB962C8B-B14F-4D97-AF65-F5344CB8AC3E}">
        <p14:creationId xmlns:p14="http://schemas.microsoft.com/office/powerpoint/2010/main" val="292346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par>
                                <p:cTn id="7" presetID="14" presetClass="entr" presetSubtype="1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randombar(horizontal)">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sz="4699" b="1" dirty="0" smtClean="0">
                <a:solidFill>
                  <a:srgbClr val="5B9BD5">
                    <a:lumMod val="75000"/>
                  </a:srgbClr>
                </a:solidFill>
                <a:latin typeface="Times New Roman" panose="02020603050405020304" pitchFamily="18" charset="0"/>
                <a:cs typeface="Times New Roman" panose="02020603050405020304" pitchFamily="18" charset="0"/>
              </a:rPr>
              <a:t>Most </a:t>
            </a:r>
            <a:r>
              <a:rPr lang="en-US" sz="4699" b="1" dirty="0">
                <a:solidFill>
                  <a:srgbClr val="5B9BD5">
                    <a:lumMod val="75000"/>
                  </a:srgbClr>
                </a:solidFill>
                <a:latin typeface="Times New Roman" panose="02020603050405020304" pitchFamily="18" charset="0"/>
                <a:cs typeface="Times New Roman" panose="02020603050405020304" pitchFamily="18" charset="0"/>
              </a:rPr>
              <a:t>Languages </a:t>
            </a:r>
            <a:r>
              <a:rPr lang="en-US" sz="4699" b="1" i="1" dirty="0">
                <a:solidFill>
                  <a:srgbClr val="5B9BD5">
                    <a:lumMod val="75000"/>
                  </a:srgbClr>
                </a:solidFill>
                <a:latin typeface="Times New Roman" panose="02020603050405020304" pitchFamily="18" charset="0"/>
                <a:cs typeface="Times New Roman" panose="02020603050405020304" pitchFamily="18" charset="0"/>
              </a:rPr>
              <a:t>Don’t</a:t>
            </a:r>
            <a:r>
              <a:rPr lang="en-US" sz="4699" b="1" dirty="0">
                <a:solidFill>
                  <a:srgbClr val="5B9BD5">
                    <a:lumMod val="75000"/>
                  </a:srgbClr>
                </a:solidFill>
                <a:latin typeface="Times New Roman" panose="02020603050405020304" pitchFamily="18" charset="0"/>
                <a:cs typeface="Times New Roman" panose="02020603050405020304" pitchFamily="18" charset="0"/>
              </a:rPr>
              <a:t> Have </a:t>
            </a:r>
            <a:br>
              <a:rPr lang="en-US" sz="4699" b="1" dirty="0">
                <a:solidFill>
                  <a:srgbClr val="5B9BD5">
                    <a:lumMod val="75000"/>
                  </a:srgbClr>
                </a:solidFill>
                <a:latin typeface="Times New Roman" panose="02020603050405020304" pitchFamily="18" charset="0"/>
                <a:cs typeface="Times New Roman" panose="02020603050405020304" pitchFamily="18" charset="0"/>
              </a:rPr>
            </a:br>
            <a:r>
              <a:rPr lang="en-US" sz="4699" b="1" dirty="0">
                <a:solidFill>
                  <a:srgbClr val="5B9BD5">
                    <a:lumMod val="75000"/>
                  </a:srgbClr>
                </a:solidFill>
                <a:latin typeface="Times New Roman" panose="02020603050405020304" pitchFamily="18" charset="0"/>
                <a:cs typeface="Times New Roman" panose="02020603050405020304" pitchFamily="18" charset="0"/>
              </a:rPr>
              <a:t>Dynamic </a:t>
            </a:r>
            <a:r>
              <a:rPr lang="en-US" sz="4699" b="1" dirty="0">
                <a:solidFill>
                  <a:srgbClr val="FF0000"/>
                </a:solidFill>
                <a:latin typeface="Times New Roman" panose="02020603050405020304" pitchFamily="18" charset="0"/>
                <a:cs typeface="Times New Roman" panose="02020603050405020304" pitchFamily="18" charset="0"/>
              </a:rPr>
              <a:t>Type</a:t>
            </a:r>
            <a:r>
              <a:rPr lang="en-US" sz="4699" b="1" dirty="0">
                <a:solidFill>
                  <a:srgbClr val="5B9BD5">
                    <a:lumMod val="75000"/>
                  </a:srgbClr>
                </a:solidFill>
                <a:latin typeface="Times New Roman" panose="02020603050405020304" pitchFamily="18" charset="0"/>
                <a:cs typeface="Times New Roman" panose="02020603050405020304" pitchFamily="18" charset="0"/>
              </a:rPr>
              <a:t> Binding: </a:t>
            </a: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65000"/>
                  </a:prstClr>
                </a:solidFill>
                <a:latin typeface="Lucida Console" panose="020B0609040504020204" pitchFamily="49" charset="0"/>
              </a:rPr>
              <a:t>%</a:t>
            </a:r>
            <a:r>
              <a:rPr lang="en-US" altLang="zh-TW" sz="2088" dirty="0">
                <a:solidFill>
                  <a:prstClr val="white"/>
                </a:solidFill>
                <a:latin typeface="Lucida Console" panose="020B0609040504020204" pitchFamily="49" charset="0"/>
              </a:rPr>
              <a:t> cat broken.cpp</a:t>
            </a:r>
          </a:p>
          <a:p>
            <a:r>
              <a:rPr lang="en-US" altLang="zh-TW" sz="2088" dirty="0">
                <a:solidFill>
                  <a:prstClr val="white">
                    <a:lumMod val="65000"/>
                  </a:prstClr>
                </a:solidFill>
                <a:latin typeface="Lucida Console" panose="020B0609040504020204" pitchFamily="49" charset="0"/>
              </a:rPr>
              <a:t>#include &lt;</a:t>
            </a:r>
            <a:r>
              <a:rPr lang="en-US" altLang="zh-TW" sz="2088" dirty="0" err="1">
                <a:solidFill>
                  <a:prstClr val="white">
                    <a:lumMod val="65000"/>
                  </a:prstClr>
                </a:solidFill>
                <a:latin typeface="Lucida Console" panose="020B0609040504020204" pitchFamily="49" charset="0"/>
              </a:rPr>
              <a:t>iostream</a:t>
            </a:r>
            <a:r>
              <a:rPr lang="en-US" altLang="zh-TW" sz="2088" dirty="0">
                <a:solidFill>
                  <a:prstClr val="white">
                    <a:lumMod val="65000"/>
                  </a:prstClr>
                </a:solidFill>
                <a:latin typeface="Lucida Console" panose="020B0609040504020204" pitchFamily="49" charset="0"/>
              </a:rPr>
              <a:t>&gt;</a:t>
            </a:r>
          </a:p>
          <a:p>
            <a:r>
              <a:rPr lang="en-US" altLang="zh-TW" sz="2088" dirty="0">
                <a:solidFill>
                  <a:prstClr val="white">
                    <a:lumMod val="65000"/>
                  </a:prstClr>
                </a:solidFill>
                <a:latin typeface="Lucida Console" panose="020B0609040504020204" pitchFamily="49" charset="0"/>
              </a:rPr>
              <a:t>using namespace </a:t>
            </a:r>
            <a:r>
              <a:rPr lang="en-US" altLang="zh-TW" sz="2088" dirty="0" err="1">
                <a:solidFill>
                  <a:prstClr val="white">
                    <a:lumMod val="65000"/>
                  </a:prstClr>
                </a:solidFill>
                <a:latin typeface="Lucida Console" panose="020B0609040504020204" pitchFamily="49" charset="0"/>
              </a:rPr>
              <a:t>std</a:t>
            </a:r>
            <a:r>
              <a:rPr lang="en-US" altLang="zh-TW" sz="2088" dirty="0">
                <a:solidFill>
                  <a:prstClr val="white">
                    <a:lumMod val="65000"/>
                  </a:prstClr>
                </a:solidFill>
                <a:latin typeface="Lucida Console" panose="020B0609040504020204" pitchFamily="49" charset="0"/>
              </a:rPr>
              <a:t>;</a:t>
            </a:r>
            <a:endParaRPr lang="zh-TW" altLang="en-US" sz="2088" dirty="0">
              <a:solidFill>
                <a:prstClr val="white">
                  <a:lumMod val="65000"/>
                </a:prstClr>
              </a:solidFill>
              <a:latin typeface="Lucida Console" panose="020B0609040504020204" pitchFamily="49" charset="0"/>
            </a:endParaRPr>
          </a:p>
          <a:p>
            <a:r>
              <a:rPr lang="en-US" altLang="zh-TW" sz="2088" dirty="0" err="1">
                <a:solidFill>
                  <a:prstClr val="white">
                    <a:lumMod val="65000"/>
                  </a:prstClr>
                </a:solidFill>
                <a:latin typeface="Lucida Console" panose="020B0609040504020204" pitchFamily="49" charset="0"/>
              </a:rPr>
              <a:t>int</a:t>
            </a:r>
            <a:r>
              <a:rPr lang="en-US" altLang="zh-TW" sz="2088" dirty="0">
                <a:solidFill>
                  <a:prstClr val="white">
                    <a:lumMod val="65000"/>
                  </a:prstClr>
                </a:solidFill>
                <a:latin typeface="Lucida Console" panose="020B0609040504020204" pitchFamily="49" charset="0"/>
              </a:rPr>
              <a:t> main()</a:t>
            </a:r>
          </a:p>
          <a:p>
            <a:r>
              <a:rPr lang="en-US" altLang="zh-TW" sz="2088" dirty="0">
                <a:solidFill>
                  <a:prstClr val="white">
                    <a:lumMod val="65000"/>
                  </a:prstClr>
                </a:solidFill>
                <a:latin typeface="Lucida Console" panose="020B0609040504020204" pitchFamily="49" charset="0"/>
              </a:rPr>
              <a:t>{  </a:t>
            </a:r>
            <a:r>
              <a:rPr lang="en-US" altLang="zh-TW" sz="2088" dirty="0" err="1">
                <a:solidFill>
                  <a:srgbClr val="00B0F0"/>
                </a:solidFill>
                <a:latin typeface="Lucida Console" panose="020B0609040504020204" pitchFamily="49" charset="0"/>
              </a:rPr>
              <a:t>int</a:t>
            </a:r>
            <a:r>
              <a:rPr lang="en-US" altLang="zh-TW" sz="2088" dirty="0">
                <a:solidFill>
                  <a:srgbClr val="00B0F0"/>
                </a:solidFill>
                <a:latin typeface="Lucida Console" panose="020B0609040504020204" pitchFamily="49" charset="0"/>
              </a:rPr>
              <a:t> </a:t>
            </a:r>
            <a:r>
              <a:rPr lang="en-US" altLang="zh-TW" sz="2088" dirty="0" err="1">
                <a:solidFill>
                  <a:srgbClr val="00B0F0"/>
                </a:solidFill>
                <a:latin typeface="Lucida Console" panose="020B0609040504020204" pitchFamily="49" charset="0"/>
              </a:rPr>
              <a:t>i</a:t>
            </a:r>
            <a:r>
              <a:rPr lang="en-US" altLang="zh-TW" sz="2088" dirty="0">
                <a:solidFill>
                  <a:srgbClr val="00B0F0"/>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 = 1;</a:t>
            </a:r>
          </a:p>
          <a:p>
            <a:r>
              <a:rPr lang="en-US" altLang="zh-TW" sz="2088" dirty="0">
                <a:solidFill>
                  <a:prstClr val="white">
                    <a:lumMod val="65000"/>
                  </a:prstClr>
                </a:solidFill>
                <a:latin typeface="Lucida Console" panose="020B0609040504020204" pitchFamily="49" charset="0"/>
              </a:rPr>
              <a:t>   </a:t>
            </a:r>
            <a:r>
              <a:rPr lang="en-US" altLang="zh-TW" sz="2088" dirty="0" err="1">
                <a:solidFill>
                  <a:srgbClr val="FF3333"/>
                </a:solidFill>
                <a:latin typeface="Lucida Console" panose="020B0609040504020204" pitchFamily="49" charset="0"/>
              </a:rPr>
              <a:t>i</a:t>
            </a:r>
            <a:r>
              <a:rPr lang="en-US" altLang="zh-TW" sz="2088" dirty="0">
                <a:solidFill>
                  <a:srgbClr val="FF3333"/>
                </a:solidFill>
                <a:latin typeface="Lucida Console" panose="020B0609040504020204" pitchFamily="49" charset="0"/>
              </a:rPr>
              <a:t> = "Hello";</a:t>
            </a:r>
          </a:p>
          <a:p>
            <a:r>
              <a:rPr lang="en-US" altLang="zh-TW" sz="2088" dirty="0">
                <a:solidFill>
                  <a:prstClr val="white">
                    <a:lumMod val="65000"/>
                  </a:prstClr>
                </a:solidFill>
                <a:latin typeface="Lucida Console" panose="020B0609040504020204" pitchFamily="49" charset="0"/>
              </a:rPr>
              <a:t>   </a:t>
            </a:r>
            <a:r>
              <a:rPr lang="en-US" altLang="zh-TW" sz="2088" dirty="0" err="1">
                <a:solidFill>
                  <a:prstClr val="white">
                    <a:lumMod val="65000"/>
                  </a:prstClr>
                </a:solidFill>
                <a:latin typeface="Lucida Console" panose="020B0609040504020204" pitchFamily="49" charset="0"/>
              </a:rPr>
              <a:t>cout</a:t>
            </a:r>
            <a:r>
              <a:rPr lang="en-US" altLang="zh-TW" sz="2088" dirty="0">
                <a:solidFill>
                  <a:prstClr val="white">
                    <a:lumMod val="65000"/>
                  </a:prstClr>
                </a:solidFill>
                <a:latin typeface="Lucida Console" panose="020B0609040504020204" pitchFamily="49" charset="0"/>
              </a:rPr>
              <a:t>&lt;&lt;</a:t>
            </a:r>
            <a:r>
              <a:rPr lang="en-US" altLang="zh-TW" sz="2088" dirty="0" err="1">
                <a:solidFill>
                  <a:prstClr val="white">
                    <a:lumMod val="65000"/>
                  </a:prstClr>
                </a:solidFill>
                <a:latin typeface="Lucida Console" panose="020B0609040504020204" pitchFamily="49" charset="0"/>
              </a:rPr>
              <a:t>i</a:t>
            </a:r>
            <a:r>
              <a:rPr lang="en-US" altLang="zh-TW" sz="2088" dirty="0">
                <a:solidFill>
                  <a:prstClr val="white">
                    <a:lumMod val="65000"/>
                  </a:prstClr>
                </a:solidFill>
                <a:latin typeface="Lucida Console" panose="020B0609040504020204" pitchFamily="49" charset="0"/>
              </a:rPr>
              <a:t>;</a:t>
            </a:r>
          </a:p>
          <a:p>
            <a:r>
              <a:rPr lang="en-US" altLang="zh-TW" sz="2088" dirty="0">
                <a:solidFill>
                  <a:prstClr val="white">
                    <a:lumMod val="65000"/>
                  </a:prstClr>
                </a:solidFill>
                <a:latin typeface="Lucida Console" panose="020B0609040504020204" pitchFamily="49" charset="0"/>
              </a:rPr>
              <a:t>}</a:t>
            </a:r>
          </a:p>
          <a:p>
            <a:r>
              <a:rPr lang="en-US" altLang="zh-TW" sz="2088" dirty="0">
                <a:solidFill>
                  <a:srgbClr val="FFFF00"/>
                </a:solidFill>
                <a:latin typeface="Lucida Console" panose="020B0609040504020204" pitchFamily="49" charset="0"/>
              </a:rPr>
              <a:t>% g++ broken.cpp</a:t>
            </a:r>
          </a:p>
          <a:p>
            <a:r>
              <a:rPr lang="en-US" altLang="zh-TW" sz="2088" dirty="0">
                <a:solidFill>
                  <a:srgbClr val="FFFF00"/>
                </a:solidFill>
                <a:latin typeface="Lucida Console" panose="020B0609040504020204" pitchFamily="49" charset="0"/>
              </a:rPr>
              <a:t>broken.cpp:6:6: </a:t>
            </a:r>
            <a:r>
              <a:rPr lang="en-US" altLang="zh-TW" sz="2088" dirty="0">
                <a:solidFill>
                  <a:srgbClr val="FF3333"/>
                </a:solidFill>
                <a:latin typeface="Lucida Console" panose="020B0609040504020204" pitchFamily="49" charset="0"/>
              </a:rPr>
              <a:t>error</a:t>
            </a:r>
            <a:r>
              <a:rPr lang="en-US" altLang="zh-TW" sz="2088" dirty="0">
                <a:solidFill>
                  <a:srgbClr val="FFFF00"/>
                </a:solidFill>
                <a:latin typeface="Lucida Console" panose="020B0609040504020204" pitchFamily="49" charset="0"/>
              </a:rPr>
              <a:t>: invalid conversion from </a:t>
            </a:r>
            <a:br>
              <a:rPr lang="en-US" altLang="zh-TW" sz="2088" dirty="0">
                <a:solidFill>
                  <a:srgbClr val="FFFF00"/>
                </a:solidFill>
                <a:latin typeface="Lucida Console" panose="020B0609040504020204" pitchFamily="49" charset="0"/>
              </a:rPr>
            </a:br>
            <a:r>
              <a:rPr lang="en-US" altLang="zh-TW" sz="2088" dirty="0">
                <a:solidFill>
                  <a:srgbClr val="FFFF00"/>
                </a:solidFill>
                <a:latin typeface="Lucida Console" panose="020B0609040504020204" pitchFamily="49" charset="0"/>
              </a:rPr>
              <a:t>‘</a:t>
            </a:r>
            <a:r>
              <a:rPr lang="en-US" altLang="zh-TW" sz="2088" dirty="0" err="1">
                <a:solidFill>
                  <a:srgbClr val="FFFF00"/>
                </a:solidFill>
                <a:latin typeface="Lucida Console" panose="020B0609040504020204" pitchFamily="49" charset="0"/>
              </a:rPr>
              <a:t>const</a:t>
            </a:r>
            <a:r>
              <a:rPr lang="en-US" altLang="zh-TW" sz="2088" dirty="0">
                <a:solidFill>
                  <a:srgbClr val="FFFF00"/>
                </a:solidFill>
                <a:latin typeface="Lucida Console" panose="020B0609040504020204" pitchFamily="49" charset="0"/>
              </a:rPr>
              <a:t> char*’ to ‘</a:t>
            </a:r>
            <a:r>
              <a:rPr lang="en-US" altLang="zh-TW" sz="2088" dirty="0" err="1">
                <a:solidFill>
                  <a:srgbClr val="FFFF00"/>
                </a:solidFill>
                <a:latin typeface="Lucida Console" panose="020B0609040504020204" pitchFamily="49" charset="0"/>
              </a:rPr>
              <a:t>int</a:t>
            </a:r>
            <a:r>
              <a:rPr lang="en-US" altLang="zh-TW" sz="2088" dirty="0">
                <a:solidFill>
                  <a:srgbClr val="FFFF00"/>
                </a:solidFill>
                <a:latin typeface="Lucida Console" panose="020B0609040504020204" pitchFamily="49" charset="0"/>
              </a:rPr>
              <a:t>’ [-</a:t>
            </a:r>
            <a:r>
              <a:rPr lang="en-US" altLang="zh-TW" sz="2088" dirty="0" err="1">
                <a:solidFill>
                  <a:srgbClr val="FFFF00"/>
                </a:solidFill>
                <a:latin typeface="Lucida Console" panose="020B0609040504020204" pitchFamily="49" charset="0"/>
              </a:rPr>
              <a:t>fpermissive</a:t>
            </a:r>
            <a:r>
              <a:rPr lang="en-US" altLang="zh-TW" sz="2088" dirty="0">
                <a:solidFill>
                  <a:srgbClr val="FFFF00"/>
                </a:solidFill>
                <a:latin typeface="Lucida Console" panose="020B0609040504020204" pitchFamily="49" charset="0"/>
              </a:rPr>
              <a:t>]</a:t>
            </a:r>
            <a:endParaRPr lang="en-US" altLang="zh-TW" sz="2088" dirty="0">
              <a:solidFill>
                <a:prstClr val="white"/>
              </a:solidFill>
              <a:latin typeface="Lucida Console" panose="020B0609040504020204" pitchFamily="49" charset="0"/>
            </a:endParaRPr>
          </a:p>
          <a:p>
            <a:r>
              <a:rPr lang="en-US" altLang="zh-TW" sz="2088" dirty="0">
                <a:solidFill>
                  <a:prstClr val="white">
                    <a:lumMod val="65000"/>
                  </a:prstClr>
                </a:solidFill>
                <a:latin typeface="Lucida Console" panose="020B0609040504020204" pitchFamily="49" charset="0"/>
              </a:rPr>
              <a:t>%</a:t>
            </a:r>
          </a:p>
        </p:txBody>
      </p:sp>
      <p:cxnSp>
        <p:nvCxnSpPr>
          <p:cNvPr id="7" name="Straight Connector 6"/>
          <p:cNvCxnSpPr/>
          <p:nvPr/>
        </p:nvCxnSpPr>
        <p:spPr>
          <a:xfrm>
            <a:off x="704747" y="591083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3230572" y="3755765"/>
            <a:ext cx="5773312" cy="1437568"/>
            <a:chOff x="3744940" y="3755765"/>
            <a:chExt cx="5773312" cy="1437568"/>
          </a:xfrm>
        </p:grpSpPr>
        <p:sp>
          <p:nvSpPr>
            <p:cNvPr id="9" name="Rounded Rectangular Callout 8"/>
            <p:cNvSpPr/>
            <p:nvPr/>
          </p:nvSpPr>
          <p:spPr>
            <a:xfrm>
              <a:off x="4747939" y="3755765"/>
              <a:ext cx="4770313" cy="1437568"/>
            </a:xfrm>
            <a:prstGeom prst="wedgeRoundRectCallout">
              <a:avLst>
                <a:gd name="adj1" fmla="val -81822"/>
                <a:gd name="adj2" fmla="val -2297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a:solidFill>
                    <a:srgbClr val="0033CC"/>
                  </a:solidFill>
                </a:rPr>
                <a:t>See? You can’t change its type. (And that is because you can’t undo the </a:t>
              </a:r>
              <a:r>
                <a:rPr lang="en-US" sz="2436" dirty="0">
                  <a:solidFill>
                    <a:srgbClr val="00B0F0"/>
                  </a:solidFill>
                </a:rPr>
                <a:t>original declaration</a:t>
              </a:r>
              <a:r>
                <a:rPr lang="en-US" sz="2436" dirty="0">
                  <a:solidFill>
                    <a:srgbClr val="0033CC"/>
                  </a:solidFill>
                </a:rPr>
                <a:t>.)</a:t>
              </a:r>
            </a:p>
          </p:txBody>
        </p:sp>
        <p:sp>
          <p:nvSpPr>
            <p:cNvPr id="10" name="Isosceles Triangle 9"/>
            <p:cNvSpPr/>
            <p:nvPr/>
          </p:nvSpPr>
          <p:spPr>
            <a:xfrm rot="13633135">
              <a:off x="4272828" y="4120021"/>
              <a:ext cx="420121" cy="1475897"/>
            </a:xfrm>
            <a:prstGeom prst="triangle">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prstClr val="white"/>
                </a:solidFill>
              </a:endParaRPr>
            </a:p>
          </p:txBody>
        </p:sp>
      </p:grpSp>
      <p:cxnSp>
        <p:nvCxnSpPr>
          <p:cNvPr id="11" name="Straight Arrow Connector 10"/>
          <p:cNvCxnSpPr/>
          <p:nvPr/>
        </p:nvCxnSpPr>
        <p:spPr>
          <a:xfrm flipH="1" flipV="1">
            <a:off x="1771653" y="3518809"/>
            <a:ext cx="4767943" cy="1232807"/>
          </a:xfrm>
          <a:prstGeom prst="straightConnector1">
            <a:avLst/>
          </a:prstGeom>
          <a:ln w="38100">
            <a:solidFill>
              <a:srgbClr val="00B0F0"/>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491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par>
                                <p:cTn id="7" presetID="22" presetClass="entr" presetSubtype="2"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wipe(right)">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a:t>
            </a:r>
          </a:p>
          <a:p>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black"/>
                </a:solidFill>
                <a:latin typeface="Lucida Console" panose="020B0609040504020204" pitchFamily="49" charset="0"/>
                <a:cs typeface="Consolas" panose="020B0609020204030204" pitchFamily="49" charset="0"/>
              </a:rPr>
              <a:t>x="pineapple“</a:t>
            </a:r>
          </a:p>
          <a:p>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endParaRPr lang="en-US" altLang="zh-TW" sz="2088" dirty="0">
              <a:solidFill>
                <a:prstClr val="black"/>
              </a:solidFill>
              <a:latin typeface="Lucida Console" panose="020B0609040504020204" pitchFamily="49" charset="0"/>
              <a:cs typeface="Consolas" panose="020B0609020204030204" pitchFamily="49" charset="0"/>
            </a:endParaRPr>
          </a:p>
          <a:p>
            <a:endParaRPr lang="en-US" altLang="zh-TW" sz="2088" dirty="0">
              <a:solidFill>
                <a:prstClr val="black"/>
              </a:solidFill>
              <a:latin typeface="Lucida Console" panose="020B0609040504020204" pitchFamily="49" charset="0"/>
              <a:cs typeface="Consolas" panose="020B0609020204030204" pitchFamily="49" charset="0"/>
            </a:endParaRPr>
          </a:p>
        </p:txBody>
      </p:sp>
      <p:cxnSp>
        <p:nvCxnSpPr>
          <p:cNvPr id="15" name="Straight Connector 14"/>
          <p:cNvCxnSpPr/>
          <p:nvPr/>
        </p:nvCxnSpPr>
        <p:spPr>
          <a:xfrm>
            <a:off x="1018280" y="3701137"/>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4329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x=1</a:t>
            </a:r>
          </a:p>
          <a:p>
            <a:r>
              <a:rPr lang="en-US" altLang="zh-TW" sz="2088" dirty="0" smtClean="0">
                <a:solidFill>
                  <a:prstClr val="white">
                    <a:lumMod val="95000"/>
                  </a:prstClr>
                </a:solidFill>
                <a:latin typeface="Lucida Console" panose="020B0609040504020204" pitchFamily="49" charset="0"/>
                <a:cs typeface="Consolas" panose="020B0609020204030204" pitchFamily="49" charset="0"/>
              </a:rPr>
              <a:t>  </a:t>
            </a:r>
          </a:p>
          <a:p>
            <a:endParaRPr lang="en-US" altLang="zh-TW" sz="2088" dirty="0" smtClean="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smtClean="0">
                <a:solidFill>
                  <a:prstClr val="white">
                    <a:lumMod val="95000"/>
                  </a:prstClr>
                </a:solidFill>
                <a:latin typeface="Lucida Console" panose="020B0609040504020204" pitchFamily="49" charset="0"/>
                <a:cs typeface="Consolas" panose="020B0609020204030204" pitchFamily="49" charset="0"/>
              </a:rPr>
              <a:t>  </a:t>
            </a:r>
            <a:r>
              <a:rPr lang="en-US" altLang="zh-TW" sz="2088" dirty="0" smtClean="0">
                <a:solidFill>
                  <a:prstClr val="black"/>
                </a:solidFill>
                <a:latin typeface="Lucida Console" panose="020B0609040504020204" pitchFamily="49" charset="0"/>
                <a:cs typeface="Consolas" panose="020B0609020204030204" pitchFamily="49" charset="0"/>
              </a:rPr>
              <a:t>x="pineapple“</a:t>
            </a:r>
          </a:p>
          <a:p>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endParaRPr lang="en-US" altLang="zh-TW" sz="2088" dirty="0">
              <a:solidFill>
                <a:prstClr val="black"/>
              </a:solidFill>
              <a:latin typeface="Lucida Console" panose="020B0609040504020204" pitchFamily="49" charset="0"/>
              <a:cs typeface="Consolas" panose="020B0609020204030204" pitchFamily="49" charset="0"/>
            </a:endParaRPr>
          </a:p>
          <a:p>
            <a:endParaRPr lang="en-US" altLang="zh-TW" sz="2088" dirty="0">
              <a:solidFill>
                <a:prstClr val="black"/>
              </a:solidFill>
              <a:latin typeface="Lucida Console" panose="020B0609040504020204" pitchFamily="49" charset="0"/>
              <a:cs typeface="Consolas" panose="020B0609020204030204" pitchFamily="49" charset="0"/>
            </a:endParaRPr>
          </a:p>
        </p:txBody>
      </p:sp>
      <p:cxnSp>
        <p:nvCxnSpPr>
          <p:cNvPr id="16" name="Straight Connector 15"/>
          <p:cNvCxnSpPr/>
          <p:nvPr/>
        </p:nvCxnSpPr>
        <p:spPr>
          <a:xfrm>
            <a:off x="1642440" y="3662231"/>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ounded Rectangular Callout 12"/>
          <p:cNvSpPr/>
          <p:nvPr/>
        </p:nvSpPr>
        <p:spPr>
          <a:xfrm>
            <a:off x="3277283" y="3621004"/>
            <a:ext cx="2552018" cy="498891"/>
          </a:xfrm>
          <a:prstGeom prst="wedgeRoundRectCallout">
            <a:avLst>
              <a:gd name="adj1" fmla="val -113446"/>
              <a:gd name="adj2" fmla="val -1552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smtClean="0">
                <a:solidFill>
                  <a:srgbClr val="0033CC"/>
                </a:solidFill>
              </a:rPr>
              <a:t>This is an integer.</a:t>
            </a:r>
            <a:endParaRPr lang="en-US" sz="2436" dirty="0">
              <a:solidFill>
                <a:srgbClr val="0033CC"/>
              </a:solidFill>
            </a:endParaRPr>
          </a:p>
        </p:txBody>
      </p:sp>
    </p:spTree>
    <p:extLst>
      <p:ext uri="{BB962C8B-B14F-4D97-AF65-F5344CB8AC3E}">
        <p14:creationId xmlns:p14="http://schemas.microsoft.com/office/powerpoint/2010/main" val="2786701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35" presetClass="emph" presetSubtype="0" repeatCount="indefinite" fill="hold" nodeType="withEffect">
                                  <p:stCondLst>
                                    <p:cond delay="0"/>
                                  </p:stCondLst>
                                  <p:childTnLst>
                                    <p:anim calcmode="discrete" valueType="str">
                                      <p:cBhvr>
                                        <p:cTn id="9" dur="1000" fill="hold"/>
                                        <p:tgtEl>
                                          <p:spTgt spid="1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x=1</a:t>
            </a:r>
          </a:p>
          <a:p>
            <a:r>
              <a:rPr lang="en-US" altLang="zh-TW" sz="2088" dirty="0" smtClean="0">
                <a:solidFill>
                  <a:prstClr val="white">
                    <a:lumMod val="95000"/>
                  </a:prstClr>
                </a:solidFill>
                <a:latin typeface="Lucida Console" panose="020B0609040504020204" pitchFamily="49" charset="0"/>
                <a:cs typeface="Consolas" panose="020B0609020204030204" pitchFamily="49" charset="0"/>
              </a:rPr>
              <a:t>&gt;&gt;&gt; print </a:t>
            </a:r>
            <a:r>
              <a:rPr lang="en-US" altLang="zh-TW" sz="2088" dirty="0">
                <a:solidFill>
                  <a:prstClr val="white">
                    <a:lumMod val="95000"/>
                  </a:prstClr>
                </a:solidFill>
                <a:latin typeface="Lucida Console" panose="020B0609040504020204" pitchFamily="49" charset="0"/>
                <a:cs typeface="Consolas" panose="020B0609020204030204" pitchFamily="49" charset="0"/>
              </a:rPr>
              <a:t>(x</a:t>
            </a:r>
            <a:r>
              <a:rPr lang="en-US" altLang="zh-TW" sz="2088" dirty="0" smtClean="0">
                <a:solidFill>
                  <a:prstClr val="white">
                    <a:lumMod val="95000"/>
                  </a:prstClr>
                </a:solidFill>
                <a:latin typeface="Lucida Console" panose="020B0609040504020204" pitchFamily="49" charset="0"/>
                <a:cs typeface="Consolas" panose="020B0609020204030204" pitchFamily="49" charset="0"/>
              </a:rPr>
              <a:t>)  </a:t>
            </a:r>
          </a:p>
          <a:p>
            <a:endParaRPr lang="en-US" altLang="zh-TW" sz="2088" dirty="0" smtClean="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smtClean="0">
                <a:solidFill>
                  <a:prstClr val="white">
                    <a:lumMod val="95000"/>
                  </a:prstClr>
                </a:solidFill>
                <a:latin typeface="Lucida Console" panose="020B0609040504020204" pitchFamily="49" charset="0"/>
                <a:cs typeface="Consolas" panose="020B0609020204030204" pitchFamily="49" charset="0"/>
              </a:rPr>
              <a:t>  </a:t>
            </a:r>
            <a:r>
              <a:rPr lang="en-US" altLang="zh-TW" sz="2088" dirty="0" smtClean="0">
                <a:solidFill>
                  <a:prstClr val="black"/>
                </a:solidFill>
                <a:latin typeface="Lucida Console" panose="020B0609040504020204" pitchFamily="49" charset="0"/>
                <a:cs typeface="Consolas" panose="020B0609020204030204" pitchFamily="49" charset="0"/>
              </a:rPr>
              <a:t>x="pineapple“</a:t>
            </a:r>
          </a:p>
          <a:p>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endParaRPr lang="en-US" altLang="zh-TW" sz="2088" dirty="0">
              <a:solidFill>
                <a:prstClr val="black"/>
              </a:solidFill>
              <a:latin typeface="Lucida Console" panose="020B0609040504020204" pitchFamily="49" charset="0"/>
              <a:cs typeface="Consolas" panose="020B0609020204030204" pitchFamily="49" charset="0"/>
            </a:endParaRPr>
          </a:p>
          <a:p>
            <a:endParaRPr lang="en-US" altLang="zh-TW" sz="2088" dirty="0">
              <a:solidFill>
                <a:prstClr val="black"/>
              </a:solidFill>
              <a:latin typeface="Lucida Console" panose="020B0609040504020204" pitchFamily="49" charset="0"/>
              <a:cs typeface="Consolas" panose="020B0609020204030204" pitchFamily="49" charset="0"/>
            </a:endParaRPr>
          </a:p>
        </p:txBody>
      </p:sp>
      <p:cxnSp>
        <p:nvCxnSpPr>
          <p:cNvPr id="16" name="Straight Connector 15"/>
          <p:cNvCxnSpPr/>
          <p:nvPr/>
        </p:nvCxnSpPr>
        <p:spPr>
          <a:xfrm>
            <a:off x="2570907" y="4014547"/>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ounded Rectangular Callout 12"/>
          <p:cNvSpPr/>
          <p:nvPr/>
        </p:nvSpPr>
        <p:spPr>
          <a:xfrm>
            <a:off x="3277283" y="3621004"/>
            <a:ext cx="2552018" cy="498891"/>
          </a:xfrm>
          <a:prstGeom prst="wedgeRoundRectCallout">
            <a:avLst>
              <a:gd name="adj1" fmla="val -113446"/>
              <a:gd name="adj2" fmla="val -1552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smtClean="0">
                <a:solidFill>
                  <a:srgbClr val="0033CC"/>
                </a:solidFill>
              </a:rPr>
              <a:t>This is an integer.</a:t>
            </a:r>
            <a:endParaRPr lang="en-US" sz="2436" dirty="0">
              <a:solidFill>
                <a:srgbClr val="0033CC"/>
              </a:solidFill>
            </a:endParaRPr>
          </a:p>
        </p:txBody>
      </p:sp>
      <p:sp>
        <p:nvSpPr>
          <p:cNvPr id="7" name="Rounded Rectangular Callout 6"/>
          <p:cNvSpPr/>
          <p:nvPr/>
        </p:nvSpPr>
        <p:spPr>
          <a:xfrm>
            <a:off x="3277283" y="3992606"/>
            <a:ext cx="2552018" cy="498891"/>
          </a:xfrm>
          <a:prstGeom prst="wedgeRoundRectCallout">
            <a:avLst>
              <a:gd name="adj1" fmla="val -81107"/>
              <a:gd name="adj2" fmla="val -2210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smtClean="0">
                <a:solidFill>
                  <a:srgbClr val="0033CC"/>
                </a:solidFill>
              </a:rPr>
              <a:t>Let’s print it.</a:t>
            </a:r>
            <a:endParaRPr lang="en-US" sz="2436" dirty="0">
              <a:solidFill>
                <a:srgbClr val="0033CC"/>
              </a:solidFill>
            </a:endParaRPr>
          </a:p>
        </p:txBody>
      </p:sp>
    </p:spTree>
    <p:extLst>
      <p:ext uri="{BB962C8B-B14F-4D97-AF65-F5344CB8AC3E}">
        <p14:creationId xmlns:p14="http://schemas.microsoft.com/office/powerpoint/2010/main" val="409803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6"/>
                                        </p:tgtEl>
                                        <p:attrNameLst>
                                          <p:attrName>style.visibility</p:attrName>
                                        </p:attrNameLst>
                                      </p:cBhvr>
                                      <p:tavLst>
                                        <p:tav tm="0">
                                          <p:val>
                                            <p:strVal val="hidden"/>
                                          </p:val>
                                        </p:tav>
                                        <p:tav tm="50000">
                                          <p:val>
                                            <p:strVal val="visible"/>
                                          </p:val>
                                        </p:tav>
                                      </p:tavLst>
                                    </p:anim>
                                  </p:childTnLst>
                                </p:cTn>
                              </p:par>
                              <p:par>
                                <p:cTn id="7" presetID="14" presetClass="exit" presetSubtype="10" fill="hold" grpId="0" nodeType="withEffect">
                                  <p:stCondLst>
                                    <p:cond delay="0"/>
                                  </p:stCondLst>
                                  <p:childTnLst>
                                    <p:animEffect transition="out" filter="randombar(horizontal)">
                                      <p:cBhvr>
                                        <p:cTn id="8" dur="500"/>
                                        <p:tgtEl>
                                          <p:spTgt spid="13"/>
                                        </p:tgtEl>
                                      </p:cBhvr>
                                    </p:animEffect>
                                    <p:set>
                                      <p:cBhvr>
                                        <p:cTn id="9" dur="1" fill="hold">
                                          <p:stCondLst>
                                            <p:cond delay="499"/>
                                          </p:stCondLst>
                                        </p:cTn>
                                        <p:tgtEl>
                                          <p:spTgt spid="13"/>
                                        </p:tgtEl>
                                        <p:attrNameLst>
                                          <p:attrName>style.visibility</p:attrName>
                                        </p:attrNameLst>
                                      </p:cBhvr>
                                      <p:to>
                                        <p:strVal val="hidden"/>
                                      </p:to>
                                    </p:set>
                                  </p:childTnLst>
                                </p:cTn>
                              </p:par>
                            </p:childTnLst>
                          </p:cTn>
                        </p:par>
                        <p:par>
                          <p:cTn id="10" fill="hold">
                            <p:stCondLst>
                              <p:cond delay="1000"/>
                            </p:stCondLst>
                            <p:childTnLst>
                              <p:par>
                                <p:cTn id="11" presetID="14" presetClass="entr" presetSubtype="1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x=1</a:t>
            </a:r>
          </a:p>
          <a:p>
            <a:r>
              <a:rPr lang="en-US" altLang="zh-TW" sz="2088" dirty="0" smtClean="0">
                <a:solidFill>
                  <a:prstClr val="white">
                    <a:lumMod val="95000"/>
                  </a:prstClr>
                </a:solidFill>
                <a:latin typeface="Lucida Console" panose="020B0609040504020204" pitchFamily="49" charset="0"/>
                <a:cs typeface="Consolas" panose="020B0609020204030204" pitchFamily="49" charset="0"/>
              </a:rPr>
              <a:t>&gt;&gt;&gt; print </a:t>
            </a:r>
            <a:r>
              <a:rPr lang="en-US" altLang="zh-TW" sz="2088" dirty="0">
                <a:solidFill>
                  <a:prstClr val="white">
                    <a:lumMod val="95000"/>
                  </a:prstClr>
                </a:solidFill>
                <a:latin typeface="Lucida Console" panose="020B0609040504020204" pitchFamily="49" charset="0"/>
                <a:cs typeface="Consolas" panose="020B0609020204030204" pitchFamily="49" charset="0"/>
              </a:rPr>
              <a:t>(x</a:t>
            </a:r>
            <a:r>
              <a:rPr lang="en-US" altLang="zh-TW" sz="2088" dirty="0" smtClean="0">
                <a:solidFill>
                  <a:prstClr val="white">
                    <a:lumMod val="95000"/>
                  </a:prstClr>
                </a:solidFill>
                <a:latin typeface="Lucida Console" panose="020B0609040504020204" pitchFamily="49" charset="0"/>
                <a:cs typeface="Consolas" panose="020B0609020204030204" pitchFamily="49" charset="0"/>
              </a:rPr>
              <a:t>)  </a:t>
            </a:r>
          </a:p>
          <a:p>
            <a:r>
              <a:rPr lang="en-US" altLang="zh-TW" sz="2088" dirty="0" smtClean="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smtClean="0">
                <a:solidFill>
                  <a:prstClr val="white">
                    <a:lumMod val="95000"/>
                  </a:prstClr>
                </a:solidFill>
                <a:latin typeface="Lucida Console" panose="020B0609040504020204" pitchFamily="49" charset="0"/>
                <a:cs typeface="Consolas" panose="020B0609020204030204" pitchFamily="49" charset="0"/>
              </a:rPr>
              <a:t>&gt;&gt;&gt;   </a:t>
            </a:r>
            <a:r>
              <a:rPr lang="en-US" altLang="zh-TW" sz="2088" dirty="0" smtClean="0">
                <a:solidFill>
                  <a:prstClr val="black"/>
                </a:solidFill>
                <a:latin typeface="Lucida Console" panose="020B0609040504020204" pitchFamily="49" charset="0"/>
                <a:cs typeface="Consolas" panose="020B0609020204030204" pitchFamily="49" charset="0"/>
              </a:rPr>
              <a:t>x="pineapple“</a:t>
            </a:r>
          </a:p>
          <a:p>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endParaRPr lang="en-US" altLang="zh-TW" sz="2088" dirty="0">
              <a:solidFill>
                <a:prstClr val="black"/>
              </a:solidFill>
              <a:latin typeface="Lucida Console" panose="020B0609040504020204" pitchFamily="49" charset="0"/>
              <a:cs typeface="Consolas" panose="020B0609020204030204" pitchFamily="49" charset="0"/>
            </a:endParaRPr>
          </a:p>
          <a:p>
            <a:endParaRPr lang="en-US" altLang="zh-TW" sz="2088" dirty="0">
              <a:solidFill>
                <a:prstClr val="black"/>
              </a:solidFill>
              <a:latin typeface="Lucida Console" panose="020B0609040504020204" pitchFamily="49" charset="0"/>
              <a:cs typeface="Consolas" panose="020B0609020204030204" pitchFamily="49" charset="0"/>
            </a:endParaRPr>
          </a:p>
        </p:txBody>
      </p:sp>
      <p:sp>
        <p:nvSpPr>
          <p:cNvPr id="7" name="Rounded Rectangular Callout 6"/>
          <p:cNvSpPr/>
          <p:nvPr/>
        </p:nvSpPr>
        <p:spPr>
          <a:xfrm>
            <a:off x="3277283" y="3992606"/>
            <a:ext cx="2552018" cy="498891"/>
          </a:xfrm>
          <a:prstGeom prst="wedgeRoundRectCallout">
            <a:avLst>
              <a:gd name="adj1" fmla="val -81107"/>
              <a:gd name="adj2" fmla="val -2210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smtClean="0">
                <a:solidFill>
                  <a:srgbClr val="0033CC"/>
                </a:solidFill>
              </a:rPr>
              <a:t>Let’s print it.</a:t>
            </a:r>
            <a:endParaRPr lang="en-US" sz="2436" dirty="0">
              <a:solidFill>
                <a:srgbClr val="0033CC"/>
              </a:solidFill>
            </a:endParaRPr>
          </a:p>
        </p:txBody>
      </p:sp>
      <p:cxnSp>
        <p:nvCxnSpPr>
          <p:cNvPr id="9" name="Straight Connector 8"/>
          <p:cNvCxnSpPr/>
          <p:nvPr/>
        </p:nvCxnSpPr>
        <p:spPr>
          <a:xfrm>
            <a:off x="1064262" y="4631865"/>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ounded Rectangular Callout 9"/>
          <p:cNvSpPr/>
          <p:nvPr/>
        </p:nvSpPr>
        <p:spPr>
          <a:xfrm>
            <a:off x="3274939" y="4252855"/>
            <a:ext cx="2552018" cy="498891"/>
          </a:xfrm>
          <a:prstGeom prst="wedgeRoundRectCallout">
            <a:avLst>
              <a:gd name="adj1" fmla="val -152033"/>
              <a:gd name="adj2" fmla="val -1458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36" spc="-10" dirty="0" smtClean="0">
                <a:solidFill>
                  <a:srgbClr val="0033CC"/>
                </a:solidFill>
              </a:rPr>
              <a:t>Yep. It’s an integer.</a:t>
            </a:r>
            <a:endParaRPr lang="en-US" sz="2436" spc="-10" dirty="0">
              <a:solidFill>
                <a:srgbClr val="0033CC"/>
              </a:solidFill>
            </a:endParaRPr>
          </a:p>
        </p:txBody>
      </p:sp>
    </p:spTree>
    <p:extLst>
      <p:ext uri="{BB962C8B-B14F-4D97-AF65-F5344CB8AC3E}">
        <p14:creationId xmlns:p14="http://schemas.microsoft.com/office/powerpoint/2010/main" val="3555653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9"/>
                                        </p:tgtEl>
                                        <p:attrNameLst>
                                          <p:attrName>style.visibility</p:attrName>
                                        </p:attrNameLst>
                                      </p:cBhvr>
                                      <p:tavLst>
                                        <p:tav tm="0">
                                          <p:val>
                                            <p:strVal val="hidden"/>
                                          </p:val>
                                        </p:tav>
                                        <p:tav tm="50000">
                                          <p:val>
                                            <p:strVal val="visible"/>
                                          </p:val>
                                        </p:tav>
                                      </p:tavLst>
                                    </p:anim>
                                  </p:childTnLst>
                                </p:cTn>
                              </p:par>
                              <p:par>
                                <p:cTn id="7" presetID="14" presetClass="exit" presetSubtype="10" fill="hold" grpId="0" nodeType="withEffect">
                                  <p:stCondLst>
                                    <p:cond delay="0"/>
                                  </p:stCondLst>
                                  <p:childTnLst>
                                    <p:animEffect transition="out" filter="randombar(horizontal)">
                                      <p:cBhvr>
                                        <p:cTn id="8" dur="500"/>
                                        <p:tgtEl>
                                          <p:spTgt spid="7"/>
                                        </p:tgtEl>
                                      </p:cBhvr>
                                    </p:animEffect>
                                    <p:set>
                                      <p:cBhvr>
                                        <p:cTn id="9" dur="1" fill="hold">
                                          <p:stCondLst>
                                            <p:cond delay="499"/>
                                          </p:stCondLst>
                                        </p:cTn>
                                        <p:tgtEl>
                                          <p:spTgt spid="7"/>
                                        </p:tgtEl>
                                        <p:attrNameLst>
                                          <p:attrName>style.visibility</p:attrName>
                                        </p:attrNameLst>
                                      </p:cBhvr>
                                      <p:to>
                                        <p:strVal val="hidden"/>
                                      </p:to>
                                    </p:set>
                                  </p:childTnLst>
                                </p:cTn>
                              </p:par>
                            </p:childTnLst>
                          </p:cTn>
                        </p:par>
                        <p:par>
                          <p:cTn id="10" fill="hold">
                            <p:stCondLst>
                              <p:cond delay="1000"/>
                            </p:stCondLst>
                            <p:childTnLst>
                              <p:par>
                                <p:cTn id="11" presetID="14" presetClass="entr" presetSubtype="1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randombar(horizontal)">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x="Hello" </a:t>
            </a:r>
            <a:r>
              <a:rPr lang="en-US" altLang="zh-TW" sz="2088" dirty="0">
                <a:solidFill>
                  <a:prstClr val="black"/>
                </a:solidFill>
                <a:latin typeface="Lucida Console" panose="020B0609040504020204" pitchFamily="49" charset="0"/>
                <a:cs typeface="Consolas" panose="020B0609020204030204" pitchFamily="49" charset="0"/>
              </a:rPr>
              <a:t>x="pineapple“</a:t>
            </a:r>
          </a:p>
          <a:p>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endParaRPr lang="en-US" altLang="zh-TW" sz="2088" dirty="0">
              <a:solidFill>
                <a:prstClr val="black"/>
              </a:solidFill>
              <a:latin typeface="Lucida Console" panose="020B0609040504020204" pitchFamily="49" charset="0"/>
              <a:cs typeface="Consolas" panose="020B0609020204030204" pitchFamily="49" charset="0"/>
            </a:endParaRPr>
          </a:p>
          <a:p>
            <a:endParaRPr lang="en-US" altLang="zh-TW" sz="2088" dirty="0">
              <a:solidFill>
                <a:prstClr val="black"/>
              </a:solidFill>
              <a:latin typeface="Lucida Console" panose="020B0609040504020204" pitchFamily="49" charset="0"/>
              <a:cs typeface="Consolas" panose="020B0609020204030204" pitchFamily="49" charset="0"/>
            </a:endParaRPr>
          </a:p>
        </p:txBody>
      </p:sp>
      <p:cxnSp>
        <p:nvCxnSpPr>
          <p:cNvPr id="16" name="Straight Connector 15"/>
          <p:cNvCxnSpPr/>
          <p:nvPr/>
        </p:nvCxnSpPr>
        <p:spPr>
          <a:xfrm>
            <a:off x="2569495" y="4631865"/>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ounded Rectangular Callout 6"/>
          <p:cNvSpPr/>
          <p:nvPr/>
        </p:nvSpPr>
        <p:spPr>
          <a:xfrm>
            <a:off x="3274939" y="4252855"/>
            <a:ext cx="2552018" cy="498891"/>
          </a:xfrm>
          <a:prstGeom prst="wedgeRoundRectCallout">
            <a:avLst>
              <a:gd name="adj1" fmla="val -152033"/>
              <a:gd name="adj2" fmla="val -1458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36" spc="-10" dirty="0" smtClean="0">
                <a:solidFill>
                  <a:srgbClr val="0033CC"/>
                </a:solidFill>
              </a:rPr>
              <a:t>Yep. It’s an integer.</a:t>
            </a:r>
            <a:endParaRPr lang="en-US" sz="2436" spc="-10" dirty="0">
              <a:solidFill>
                <a:srgbClr val="0033CC"/>
              </a:solidFill>
            </a:endParaRPr>
          </a:p>
        </p:txBody>
      </p:sp>
      <p:sp>
        <p:nvSpPr>
          <p:cNvPr id="13" name="Rounded Rectangular Callout 12"/>
          <p:cNvSpPr/>
          <p:nvPr/>
        </p:nvSpPr>
        <p:spPr>
          <a:xfrm>
            <a:off x="4039282" y="3138023"/>
            <a:ext cx="4094027" cy="1437568"/>
          </a:xfrm>
          <a:prstGeom prst="wedgeRoundRectCallout">
            <a:avLst>
              <a:gd name="adj1" fmla="val -91242"/>
              <a:gd name="adj2" fmla="val 5365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a:solidFill>
                  <a:srgbClr val="0033CC"/>
                </a:solidFill>
              </a:rPr>
              <a:t>We can give x a new type of data, because Python uses </a:t>
            </a:r>
            <a:r>
              <a:rPr lang="en-US" sz="2436" i="1" dirty="0">
                <a:solidFill>
                  <a:srgbClr val="FF0000"/>
                </a:solidFill>
              </a:rPr>
              <a:t>dynamic</a:t>
            </a:r>
            <a:r>
              <a:rPr lang="en-US" sz="2436" i="1" dirty="0">
                <a:solidFill>
                  <a:srgbClr val="0033CC"/>
                </a:solidFill>
              </a:rPr>
              <a:t> </a:t>
            </a:r>
            <a:r>
              <a:rPr lang="en-US" sz="2436" i="1" dirty="0">
                <a:solidFill>
                  <a:srgbClr val="FF0000"/>
                </a:solidFill>
              </a:rPr>
              <a:t>type binding</a:t>
            </a:r>
            <a:r>
              <a:rPr lang="en-US" sz="2436" dirty="0">
                <a:solidFill>
                  <a:srgbClr val="0033CC"/>
                </a:solidFill>
              </a:rPr>
              <a:t>.</a:t>
            </a:r>
          </a:p>
        </p:txBody>
      </p:sp>
    </p:spTree>
    <p:extLst>
      <p:ext uri="{BB962C8B-B14F-4D97-AF65-F5344CB8AC3E}">
        <p14:creationId xmlns:p14="http://schemas.microsoft.com/office/powerpoint/2010/main" val="372206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6"/>
                                        </p:tgtEl>
                                        <p:attrNameLst>
                                          <p:attrName>style.visibility</p:attrName>
                                        </p:attrNameLst>
                                      </p:cBhvr>
                                      <p:tavLst>
                                        <p:tav tm="0">
                                          <p:val>
                                            <p:strVal val="hidden"/>
                                          </p:val>
                                        </p:tav>
                                        <p:tav tm="50000">
                                          <p:val>
                                            <p:strVal val="visible"/>
                                          </p:val>
                                        </p:tav>
                                      </p:tavLst>
                                    </p:anim>
                                  </p:childTnLst>
                                </p:cTn>
                              </p:par>
                              <p:par>
                                <p:cTn id="7" presetID="14" presetClass="exit" presetSubtype="10" fill="hold" grpId="0" nodeType="withEffect">
                                  <p:stCondLst>
                                    <p:cond delay="0"/>
                                  </p:stCondLst>
                                  <p:childTnLst>
                                    <p:animEffect transition="out" filter="randombar(horizontal)">
                                      <p:cBhvr>
                                        <p:cTn id="8" dur="500"/>
                                        <p:tgtEl>
                                          <p:spTgt spid="7"/>
                                        </p:tgtEl>
                                      </p:cBhvr>
                                    </p:animEffect>
                                    <p:set>
                                      <p:cBhvr>
                                        <p:cTn id="9" dur="1" fill="hold">
                                          <p:stCondLst>
                                            <p:cond delay="499"/>
                                          </p:stCondLst>
                                        </p:cTn>
                                        <p:tgtEl>
                                          <p:spTgt spid="7"/>
                                        </p:tgtEl>
                                        <p:attrNameLst>
                                          <p:attrName>style.visibility</p:attrName>
                                        </p:attrNameLst>
                                      </p:cBhvr>
                                      <p:to>
                                        <p:strVal val="hidden"/>
                                      </p:to>
                                    </p:set>
                                  </p:childTnLst>
                                </p:cTn>
                              </p:par>
                            </p:childTnLst>
                          </p:cTn>
                        </p:par>
                        <p:par>
                          <p:cTn id="10" fill="hold">
                            <p:stCondLst>
                              <p:cond delay="1000"/>
                            </p:stCondLst>
                            <p:childTnLst>
                              <p:par>
                                <p:cTn id="11" presetID="14" presetClass="entr" presetSubtype="1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randombar(horizontal)">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x="Hello" </a:t>
            </a:r>
            <a:r>
              <a:rPr lang="en-US" altLang="zh-TW" sz="2088" dirty="0">
                <a:solidFill>
                  <a:prstClr val="black"/>
                </a:solidFill>
                <a:latin typeface="Lucida Console" panose="020B0609040504020204" pitchFamily="49" charset="0"/>
                <a:cs typeface="Consolas" panose="020B0609020204030204" pitchFamily="49" charset="0"/>
              </a:rPr>
              <a:t>x="pineapple“</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a:t>
            </a:r>
            <a:r>
              <a:rPr lang="en-US" altLang="zh-TW" sz="2088" dirty="0">
                <a:solidFill>
                  <a:prstClr val="black"/>
                </a:solidFill>
                <a:latin typeface="Lucida Console" panose="020B0609040504020204" pitchFamily="49" charset="0"/>
                <a:cs typeface="Consolas" panose="020B0609020204030204" pitchFamily="49" charset="0"/>
              </a:rPr>
              <a:t>“</a:t>
            </a:r>
          </a:p>
          <a:p>
            <a:endParaRPr lang="en-US" altLang="zh-TW" sz="2088" dirty="0">
              <a:solidFill>
                <a:prstClr val="black"/>
              </a:solidFill>
              <a:latin typeface="Lucida Console" panose="020B0609040504020204" pitchFamily="49" charset="0"/>
              <a:cs typeface="Consolas" panose="020B0609020204030204" pitchFamily="49" charset="0"/>
            </a:endParaRPr>
          </a:p>
        </p:txBody>
      </p:sp>
      <p:cxnSp>
        <p:nvCxnSpPr>
          <p:cNvPr id="7" name="Straight Connector 6"/>
          <p:cNvCxnSpPr/>
          <p:nvPr/>
        </p:nvCxnSpPr>
        <p:spPr>
          <a:xfrm>
            <a:off x="1017167" y="5613650"/>
            <a:ext cx="1205" cy="25758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ounded Rectangular Callout 12"/>
          <p:cNvSpPr/>
          <p:nvPr/>
        </p:nvSpPr>
        <p:spPr>
          <a:xfrm>
            <a:off x="4039282" y="3138023"/>
            <a:ext cx="4094027" cy="1437568"/>
          </a:xfrm>
          <a:prstGeom prst="wedgeRoundRectCallout">
            <a:avLst>
              <a:gd name="adj1" fmla="val -91242"/>
              <a:gd name="adj2" fmla="val 5365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36" dirty="0">
                <a:solidFill>
                  <a:srgbClr val="0033CC"/>
                </a:solidFill>
              </a:rPr>
              <a:t>We can give x a new type of data, because Python uses </a:t>
            </a:r>
            <a:r>
              <a:rPr lang="en-US" sz="2436" i="1" dirty="0">
                <a:solidFill>
                  <a:srgbClr val="FF0000"/>
                </a:solidFill>
              </a:rPr>
              <a:t>dynamic</a:t>
            </a:r>
            <a:r>
              <a:rPr lang="en-US" sz="2436" i="1" dirty="0">
                <a:solidFill>
                  <a:srgbClr val="0033CC"/>
                </a:solidFill>
              </a:rPr>
              <a:t> </a:t>
            </a:r>
            <a:r>
              <a:rPr lang="en-US" sz="2436" i="1" dirty="0">
                <a:solidFill>
                  <a:srgbClr val="FF0000"/>
                </a:solidFill>
              </a:rPr>
              <a:t>type binding</a:t>
            </a:r>
            <a:r>
              <a:rPr lang="en-US" sz="2436" dirty="0">
                <a:solidFill>
                  <a:srgbClr val="0033CC"/>
                </a:solidFill>
              </a:rPr>
              <a:t>.</a:t>
            </a:r>
          </a:p>
        </p:txBody>
      </p:sp>
    </p:spTree>
    <p:extLst>
      <p:ext uri="{BB962C8B-B14F-4D97-AF65-F5344CB8AC3E}">
        <p14:creationId xmlns:p14="http://schemas.microsoft.com/office/powerpoint/2010/main" val="1908730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7"/>
                                        </p:tgtEl>
                                        <p:attrNameLst>
                                          <p:attrName>style.visibility</p:attrName>
                                        </p:attrNameLst>
                                      </p:cBhvr>
                                      <p:tavLst>
                                        <p:tav tm="0">
                                          <p:val>
                                            <p:strVal val="hidden"/>
                                          </p:val>
                                        </p:tav>
                                        <p:tav tm="50000">
                                          <p:val>
                                            <p:strVal val="visible"/>
                                          </p:val>
                                        </p:tav>
                                      </p:tavLst>
                                    </p:anim>
                                  </p:childTnLst>
                                </p:cTn>
                              </p:par>
                              <p:par>
                                <p:cTn id="7" presetID="14" presetClass="exit" presetSubtype="10" fill="hold" grpId="0" nodeType="withEffect">
                                  <p:stCondLst>
                                    <p:cond delay="0"/>
                                  </p:stCondLst>
                                  <p:childTnLst>
                                    <p:animEffect transition="out" filter="randombar(horizontal)">
                                      <p:cBhvr>
                                        <p:cTn id="8" dur="500"/>
                                        <p:tgtEl>
                                          <p:spTgt spid="13"/>
                                        </p:tgtEl>
                                      </p:cBhvr>
                                    </p:animEffect>
                                    <p:set>
                                      <p:cBhvr>
                                        <p:cTn id="9"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a:t>
            </a:r>
            <a:r>
              <a:rPr lang="en-US" altLang="zh-TW" sz="2088" dirty="0">
                <a:solidFill>
                  <a:srgbClr val="FFFF00"/>
                </a:solidFill>
                <a:latin typeface="Lucida Console" panose="020B0609040504020204" pitchFamily="49" charset="0"/>
                <a:cs typeface="Consolas" panose="020B0609020204030204" pitchFamily="49" charset="0"/>
              </a:rPr>
              <a:t>=</a:t>
            </a:r>
            <a:r>
              <a:rPr lang="en-US" altLang="zh-TW" sz="2088" dirty="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x="Hello" </a:t>
            </a:r>
            <a:r>
              <a:rPr lang="en-US" altLang="zh-TW" sz="2088" dirty="0">
                <a:solidFill>
                  <a:prstClr val="black"/>
                </a:solidFill>
                <a:latin typeface="Lucida Console" panose="020B0609040504020204" pitchFamily="49" charset="0"/>
                <a:cs typeface="Consolas" panose="020B0609020204030204" pitchFamily="49" charset="0"/>
              </a:rPr>
              <a:t>x="pineapple“</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a:t>
            </a:r>
            <a:r>
              <a:rPr lang="en-US" altLang="zh-TW" sz="2088" dirty="0">
                <a:solidFill>
                  <a:prstClr val="black"/>
                </a:solidFill>
                <a:latin typeface="Lucida Console" panose="020B0609040504020204" pitchFamily="49" charset="0"/>
                <a:cs typeface="Consolas" panose="020B0609020204030204" pitchFamily="49" charset="0"/>
              </a:rPr>
              <a:t>“</a:t>
            </a:r>
          </a:p>
          <a:p>
            <a:endParaRPr lang="en-US" altLang="zh-TW" sz="2088" dirty="0">
              <a:solidFill>
                <a:prstClr val="black"/>
              </a:solidFill>
              <a:latin typeface="Lucida Console" panose="020B0609040504020204" pitchFamily="49" charset="0"/>
              <a:cs typeface="Consolas" panose="020B0609020204030204" pitchFamily="49" charset="0"/>
            </a:endParaRPr>
          </a:p>
        </p:txBody>
      </p:sp>
      <p:sp>
        <p:nvSpPr>
          <p:cNvPr id="9" name="Rounded Rectangular Callout 8"/>
          <p:cNvSpPr/>
          <p:nvPr/>
        </p:nvSpPr>
        <p:spPr>
          <a:xfrm>
            <a:off x="143933" y="2579876"/>
            <a:ext cx="2233008" cy="434910"/>
          </a:xfrm>
          <a:prstGeom prst="wedgeRoundRectCallout">
            <a:avLst>
              <a:gd name="adj1" fmla="val 2515"/>
              <a:gd name="adj2" fmla="val 22416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When it sees an = </a:t>
            </a:r>
            <a:endParaRPr lang="en-US" sz="2400" spc="-20" dirty="0">
              <a:solidFill>
                <a:srgbClr val="0033CC"/>
              </a:solidFill>
            </a:endParaRPr>
          </a:p>
        </p:txBody>
      </p:sp>
    </p:spTree>
    <p:extLst>
      <p:ext uri="{BB962C8B-B14F-4D97-AF65-F5344CB8AC3E}">
        <p14:creationId xmlns:p14="http://schemas.microsoft.com/office/powerpoint/2010/main" val="1894019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a:t>
            </a:r>
            <a:r>
              <a:rPr lang="en-US" altLang="zh-TW" sz="2088" dirty="0">
                <a:solidFill>
                  <a:srgbClr val="FFFF00"/>
                </a:solidFill>
                <a:latin typeface="Lucida Console" panose="020B0609040504020204" pitchFamily="49" charset="0"/>
                <a:cs typeface="Consolas" panose="020B0609020204030204" pitchFamily="49" charset="0"/>
              </a:rPr>
              <a:t>=</a:t>
            </a:r>
            <a:r>
              <a:rPr lang="en-US" altLang="zh-TW" sz="2088" dirty="0">
                <a:solidFill>
                  <a:srgbClr val="FFABE7"/>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x="Hello" </a:t>
            </a:r>
            <a:r>
              <a:rPr lang="en-US" altLang="zh-TW" sz="2088" dirty="0">
                <a:solidFill>
                  <a:prstClr val="black"/>
                </a:solidFill>
                <a:latin typeface="Lucida Console" panose="020B0609040504020204" pitchFamily="49" charset="0"/>
                <a:cs typeface="Consolas" panose="020B0609020204030204" pitchFamily="49" charset="0"/>
              </a:rPr>
              <a:t>x="pineapple“</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a:t>
            </a:r>
            <a:r>
              <a:rPr lang="en-US" altLang="zh-TW" sz="2088" dirty="0">
                <a:solidFill>
                  <a:prstClr val="black"/>
                </a:solidFill>
                <a:latin typeface="Lucida Console" panose="020B0609040504020204" pitchFamily="49" charset="0"/>
                <a:cs typeface="Consolas" panose="020B0609020204030204" pitchFamily="49" charset="0"/>
              </a:rPr>
              <a:t>“</a:t>
            </a:r>
          </a:p>
          <a:p>
            <a:endParaRPr lang="en-US" altLang="zh-TW" sz="2088" dirty="0">
              <a:solidFill>
                <a:prstClr val="black"/>
              </a:solidFill>
              <a:latin typeface="Lucida Console" panose="020B0609040504020204" pitchFamily="49" charset="0"/>
              <a:cs typeface="Consolas" panose="020B0609020204030204" pitchFamily="49" charset="0"/>
            </a:endParaRPr>
          </a:p>
        </p:txBody>
      </p:sp>
      <p:sp>
        <p:nvSpPr>
          <p:cNvPr id="9" name="Rounded Rectangular Callout 8"/>
          <p:cNvSpPr/>
          <p:nvPr/>
        </p:nvSpPr>
        <p:spPr>
          <a:xfrm>
            <a:off x="143933" y="2579876"/>
            <a:ext cx="2233008" cy="434910"/>
          </a:xfrm>
          <a:prstGeom prst="wedgeRoundRectCallout">
            <a:avLst>
              <a:gd name="adj1" fmla="val 2515"/>
              <a:gd name="adj2" fmla="val 22416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When it sees an = </a:t>
            </a:r>
            <a:endParaRPr lang="en-US" sz="2400" spc="-20" dirty="0">
              <a:solidFill>
                <a:srgbClr val="0033CC"/>
              </a:solidFill>
            </a:endParaRPr>
          </a:p>
        </p:txBody>
      </p:sp>
      <p:sp>
        <p:nvSpPr>
          <p:cNvPr id="11" name="Rounded Rectangular Callout 10"/>
          <p:cNvSpPr/>
          <p:nvPr/>
        </p:nvSpPr>
        <p:spPr>
          <a:xfrm>
            <a:off x="2376941" y="2579876"/>
            <a:ext cx="4515058" cy="434910"/>
          </a:xfrm>
          <a:prstGeom prst="wedgeRoundRectCallout">
            <a:avLst>
              <a:gd name="adj1" fmla="val -67794"/>
              <a:gd name="adj2" fmla="val 22302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it looks on the right-hand side (RHS)</a:t>
            </a:r>
            <a:endParaRPr lang="en-US" sz="2400" spc="-20" dirty="0">
              <a:solidFill>
                <a:srgbClr val="0033CC"/>
              </a:solidFill>
            </a:endParaRPr>
          </a:p>
        </p:txBody>
      </p:sp>
      <p:sp>
        <p:nvSpPr>
          <p:cNvPr id="15" name="Rounded Rectangular Callout 14"/>
          <p:cNvSpPr/>
          <p:nvPr/>
        </p:nvSpPr>
        <p:spPr>
          <a:xfrm>
            <a:off x="6891998" y="2579876"/>
            <a:ext cx="2837789" cy="434910"/>
          </a:xfrm>
          <a:prstGeom prst="wedgeRoundRectCallout">
            <a:avLst>
              <a:gd name="adj1" fmla="val -23375"/>
              <a:gd name="adj2" fmla="val 4788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to infer (</a:t>
            </a:r>
            <a:r>
              <a:rPr lang="zh-TW" altLang="en-US" sz="2000" spc="-20" dirty="0">
                <a:solidFill>
                  <a:srgbClr val="0033CC"/>
                </a:solidFill>
              </a:rPr>
              <a:t>推斷</a:t>
            </a:r>
            <a:r>
              <a:rPr lang="en-US" sz="2400" spc="-20" dirty="0" smtClean="0">
                <a:solidFill>
                  <a:srgbClr val="0033CC"/>
                </a:solidFill>
              </a:rPr>
              <a:t>) the type.</a:t>
            </a:r>
            <a:endParaRPr lang="en-US" sz="2400" spc="-20" dirty="0">
              <a:solidFill>
                <a:srgbClr val="0033CC"/>
              </a:solidFill>
            </a:endParaRPr>
          </a:p>
        </p:txBody>
      </p:sp>
      <p:grpSp>
        <p:nvGrpSpPr>
          <p:cNvPr id="19" name="Group 18"/>
          <p:cNvGrpSpPr/>
          <p:nvPr/>
        </p:nvGrpSpPr>
        <p:grpSpPr>
          <a:xfrm>
            <a:off x="8602612" y="3813920"/>
            <a:ext cx="1127177" cy="641523"/>
            <a:chOff x="8602612" y="3813920"/>
            <a:chExt cx="1127177" cy="641523"/>
          </a:xfrm>
        </p:grpSpPr>
        <p:cxnSp>
          <p:nvCxnSpPr>
            <p:cNvPr id="25" name="Straight Arrow Connector 24"/>
            <p:cNvCxnSpPr/>
            <p:nvPr/>
          </p:nvCxnSpPr>
          <p:spPr>
            <a:xfrm rot="16200000" flipH="1">
              <a:off x="8909389" y="3905389"/>
              <a:ext cx="4763" cy="618317"/>
            </a:xfrm>
            <a:prstGeom prst="straightConnector1">
              <a:avLst/>
            </a:prstGeom>
            <a:ln w="38100">
              <a:solidFill>
                <a:srgbClr val="41719C"/>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9211521" y="3968889"/>
              <a:ext cx="518268"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dirty="0" smtClean="0"/>
                <a:t>…</a:t>
              </a:r>
              <a:endParaRPr lang="en-US" dirty="0"/>
            </a:p>
          </p:txBody>
        </p:sp>
        <p:sp>
          <p:nvSpPr>
            <p:cNvPr id="29" name="Rectangle 28"/>
            <p:cNvSpPr/>
            <p:nvPr/>
          </p:nvSpPr>
          <p:spPr>
            <a:xfrm>
              <a:off x="8705216" y="3813920"/>
              <a:ext cx="465898" cy="334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3200" b="1" dirty="0" smtClean="0">
                  <a:solidFill>
                    <a:srgbClr val="5B9BD5"/>
                  </a:solidFill>
                </a:rPr>
                <a:t>Y</a:t>
              </a:r>
              <a:endParaRPr lang="en-US" sz="3200" b="1" dirty="0">
                <a:solidFill>
                  <a:srgbClr val="5B9BD5"/>
                </a:solidFill>
              </a:endParaRPr>
            </a:p>
          </p:txBody>
        </p:sp>
      </p:grpSp>
      <p:grpSp>
        <p:nvGrpSpPr>
          <p:cNvPr id="20" name="Group 19"/>
          <p:cNvGrpSpPr/>
          <p:nvPr/>
        </p:nvGrpSpPr>
        <p:grpSpPr>
          <a:xfrm>
            <a:off x="7173328" y="4994770"/>
            <a:ext cx="1466190" cy="1104308"/>
            <a:chOff x="7173328" y="4994770"/>
            <a:chExt cx="1466190" cy="1104308"/>
          </a:xfrm>
        </p:grpSpPr>
        <p:cxnSp>
          <p:nvCxnSpPr>
            <p:cNvPr id="18" name="Straight Arrow Connector 17"/>
            <p:cNvCxnSpPr/>
            <p:nvPr/>
          </p:nvCxnSpPr>
          <p:spPr>
            <a:xfrm flipH="1">
              <a:off x="7899627" y="4994770"/>
              <a:ext cx="4763" cy="618317"/>
            </a:xfrm>
            <a:prstGeom prst="straightConnector1">
              <a:avLst/>
            </a:prstGeom>
            <a:ln w="38100">
              <a:solidFill>
                <a:srgbClr val="41719C"/>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173328" y="5612524"/>
              <a:ext cx="1466190"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It’s an</a:t>
              </a:r>
              <a:br>
                <a:rPr lang="en-US" dirty="0" smtClean="0"/>
              </a:br>
              <a:r>
                <a:rPr lang="en-US" sz="2000" b="1" dirty="0" smtClean="0">
                  <a:solidFill>
                    <a:srgbClr val="FFC000"/>
                  </a:solidFill>
                </a:rPr>
                <a:t>INTEGER</a:t>
              </a:r>
              <a:endParaRPr lang="en-US" sz="2000" b="1" dirty="0">
                <a:solidFill>
                  <a:srgbClr val="FFC000"/>
                </a:solidFill>
              </a:endParaRPr>
            </a:p>
          </p:txBody>
        </p:sp>
        <p:sp>
          <p:nvSpPr>
            <p:cNvPr id="31" name="Rectangle 30"/>
            <p:cNvSpPr/>
            <p:nvPr/>
          </p:nvSpPr>
          <p:spPr>
            <a:xfrm>
              <a:off x="7943290" y="5102902"/>
              <a:ext cx="465898" cy="334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3200" b="1" dirty="0" smtClean="0">
                  <a:solidFill>
                    <a:srgbClr val="5B9BD5"/>
                  </a:solidFill>
                </a:rPr>
                <a:t>N</a:t>
              </a:r>
              <a:endParaRPr lang="en-US" sz="3200" b="1" dirty="0">
                <a:solidFill>
                  <a:srgbClr val="5B9BD5"/>
                </a:solidFill>
              </a:endParaRPr>
            </a:p>
          </p:txBody>
        </p:sp>
      </p:grpSp>
      <p:grpSp>
        <p:nvGrpSpPr>
          <p:cNvPr id="10" name="Group 9"/>
          <p:cNvGrpSpPr/>
          <p:nvPr/>
        </p:nvGrpSpPr>
        <p:grpSpPr>
          <a:xfrm>
            <a:off x="3523593" y="4994770"/>
            <a:ext cx="1466190" cy="1104308"/>
            <a:chOff x="3523593" y="4994770"/>
            <a:chExt cx="1466190" cy="1104308"/>
          </a:xfrm>
        </p:grpSpPr>
        <p:cxnSp>
          <p:nvCxnSpPr>
            <p:cNvPr id="27" name="Straight Arrow Connector 26"/>
            <p:cNvCxnSpPr/>
            <p:nvPr/>
          </p:nvCxnSpPr>
          <p:spPr>
            <a:xfrm flipH="1">
              <a:off x="4249892" y="4994770"/>
              <a:ext cx="4763" cy="618317"/>
            </a:xfrm>
            <a:prstGeom prst="straightConnector1">
              <a:avLst/>
            </a:prstGeom>
            <a:ln w="38100">
              <a:solidFill>
                <a:srgbClr val="41719C"/>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3523593" y="5612524"/>
              <a:ext cx="1466190"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It’s some other</a:t>
              </a:r>
              <a:br>
                <a:rPr lang="en-US" dirty="0" smtClean="0"/>
              </a:br>
              <a:r>
                <a:rPr lang="en-US" dirty="0" smtClean="0"/>
                <a:t>data type</a:t>
              </a:r>
              <a:endParaRPr lang="en-US" dirty="0"/>
            </a:p>
          </p:txBody>
        </p:sp>
        <p:sp>
          <p:nvSpPr>
            <p:cNvPr id="32" name="Rectangle 31"/>
            <p:cNvSpPr/>
            <p:nvPr/>
          </p:nvSpPr>
          <p:spPr>
            <a:xfrm>
              <a:off x="4301438" y="5102902"/>
              <a:ext cx="465898" cy="334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3200" b="1" dirty="0" smtClean="0">
                  <a:solidFill>
                    <a:srgbClr val="5B9BD5"/>
                  </a:solidFill>
                </a:rPr>
                <a:t>N</a:t>
              </a:r>
              <a:endParaRPr lang="en-US" sz="3200" b="1" dirty="0">
                <a:solidFill>
                  <a:srgbClr val="5B9BD5"/>
                </a:solidFill>
              </a:endParaRPr>
            </a:p>
          </p:txBody>
        </p:sp>
      </p:grpSp>
      <p:grpSp>
        <p:nvGrpSpPr>
          <p:cNvPr id="16" name="Group 15"/>
          <p:cNvGrpSpPr/>
          <p:nvPr/>
        </p:nvGrpSpPr>
        <p:grpSpPr>
          <a:xfrm>
            <a:off x="6450606" y="3428999"/>
            <a:ext cx="2315018" cy="1566334"/>
            <a:chOff x="6450606" y="3428999"/>
            <a:chExt cx="2315018" cy="1566334"/>
          </a:xfrm>
        </p:grpSpPr>
        <p:cxnSp>
          <p:nvCxnSpPr>
            <p:cNvPr id="26" name="Straight Arrow Connector 25"/>
            <p:cNvCxnSpPr/>
            <p:nvPr/>
          </p:nvCxnSpPr>
          <p:spPr>
            <a:xfrm rot="16200000" flipH="1">
              <a:off x="6757383" y="3905389"/>
              <a:ext cx="4763" cy="618317"/>
            </a:xfrm>
            <a:prstGeom prst="straightConnector1">
              <a:avLst/>
            </a:prstGeom>
            <a:ln w="38100">
              <a:solidFill>
                <a:srgbClr val="41719C"/>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Decision 1"/>
            <p:cNvSpPr/>
            <p:nvPr/>
          </p:nvSpPr>
          <p:spPr>
            <a:xfrm>
              <a:off x="7062012" y="3428999"/>
              <a:ext cx="1703612" cy="156633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Does</a:t>
              </a:r>
              <a:br>
                <a:rPr lang="en-US" dirty="0" smtClean="0"/>
              </a:br>
              <a:r>
                <a:rPr lang="en-US" dirty="0" smtClean="0"/>
                <a:t> the number </a:t>
              </a:r>
              <a:br>
                <a:rPr lang="en-US" dirty="0" smtClean="0"/>
              </a:br>
              <a:r>
                <a:rPr lang="en-US" dirty="0" smtClean="0"/>
                <a:t>contain a </a:t>
              </a:r>
              <a:br>
                <a:rPr lang="en-US" dirty="0" smtClean="0"/>
              </a:br>
              <a:r>
                <a:rPr lang="en-US" dirty="0" smtClean="0"/>
                <a:t>decimal </a:t>
              </a:r>
            </a:p>
            <a:p>
              <a:pPr algn="ctr">
                <a:lnSpc>
                  <a:spcPct val="85000"/>
                </a:lnSpc>
              </a:pPr>
              <a:r>
                <a:rPr lang="en-US" dirty="0" smtClean="0"/>
                <a:t> point?</a:t>
              </a:r>
              <a:endParaRPr lang="en-US" dirty="0"/>
            </a:p>
          </p:txBody>
        </p:sp>
      </p:grpSp>
      <p:grpSp>
        <p:nvGrpSpPr>
          <p:cNvPr id="6" name="Group 5"/>
          <p:cNvGrpSpPr/>
          <p:nvPr/>
        </p:nvGrpSpPr>
        <p:grpSpPr>
          <a:xfrm>
            <a:off x="4944999" y="3813920"/>
            <a:ext cx="1693330" cy="641523"/>
            <a:chOff x="4944999" y="3813920"/>
            <a:chExt cx="1693330" cy="641523"/>
          </a:xfrm>
        </p:grpSpPr>
        <p:cxnSp>
          <p:nvCxnSpPr>
            <p:cNvPr id="23" name="Straight Arrow Connector 22"/>
            <p:cNvCxnSpPr/>
            <p:nvPr/>
          </p:nvCxnSpPr>
          <p:spPr>
            <a:xfrm rot="16200000" flipH="1">
              <a:off x="5251776" y="3905389"/>
              <a:ext cx="4763" cy="618317"/>
            </a:xfrm>
            <a:prstGeom prst="straightConnector1">
              <a:avLst/>
            </a:prstGeom>
            <a:ln w="38100">
              <a:solidFill>
                <a:srgbClr val="41719C"/>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5079126" y="3813920"/>
              <a:ext cx="465898" cy="334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3200" b="1" dirty="0" smtClean="0">
                  <a:solidFill>
                    <a:srgbClr val="5B9BD5"/>
                  </a:solidFill>
                </a:rPr>
                <a:t>Y</a:t>
              </a:r>
              <a:endParaRPr lang="en-US" sz="3200" b="1" dirty="0">
                <a:solidFill>
                  <a:srgbClr val="5B9BD5"/>
                </a:solidFill>
              </a:endParaRPr>
            </a:p>
          </p:txBody>
        </p:sp>
        <p:sp>
          <p:nvSpPr>
            <p:cNvPr id="33" name="Rectangle 32"/>
            <p:cNvSpPr/>
            <p:nvPr/>
          </p:nvSpPr>
          <p:spPr>
            <a:xfrm>
              <a:off x="5569668" y="3968889"/>
              <a:ext cx="1068661"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dirty="0"/>
                <a:t>T</a:t>
              </a:r>
              <a:r>
                <a:rPr lang="en-US" dirty="0" smtClean="0"/>
                <a:t>hen it’s </a:t>
              </a:r>
              <a:r>
                <a:rPr lang="en-US" spc="-10" dirty="0" smtClean="0"/>
                <a:t>a</a:t>
              </a:r>
              <a:r>
                <a:rPr lang="en-US" sz="1600" spc="-10" dirty="0" smtClean="0"/>
                <a:t> </a:t>
              </a:r>
              <a:r>
                <a:rPr lang="en-US" spc="-10" dirty="0" smtClean="0"/>
                <a:t>number</a:t>
              </a:r>
              <a:endParaRPr lang="en-US" spc="-10" dirty="0"/>
            </a:p>
          </p:txBody>
        </p:sp>
      </p:grpSp>
      <p:grpSp>
        <p:nvGrpSpPr>
          <p:cNvPr id="13" name="Group 12"/>
          <p:cNvGrpSpPr/>
          <p:nvPr/>
        </p:nvGrpSpPr>
        <p:grpSpPr>
          <a:xfrm>
            <a:off x="1608083" y="3428999"/>
            <a:ext cx="3543951" cy="1566334"/>
            <a:chOff x="1608083" y="3428999"/>
            <a:chExt cx="3543951" cy="1566334"/>
          </a:xfrm>
        </p:grpSpPr>
        <p:sp>
          <p:nvSpPr>
            <p:cNvPr id="24" name="Flowchart: Decision 23"/>
            <p:cNvSpPr/>
            <p:nvPr/>
          </p:nvSpPr>
          <p:spPr>
            <a:xfrm>
              <a:off x="3357277" y="3428999"/>
              <a:ext cx="1794757" cy="156633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Is</a:t>
              </a:r>
            </a:p>
            <a:p>
              <a:pPr algn="ctr">
                <a:lnSpc>
                  <a:spcPct val="85000"/>
                </a:lnSpc>
              </a:pPr>
              <a:r>
                <a:rPr lang="en-US" dirty="0" smtClean="0"/>
                <a:t>the first</a:t>
              </a:r>
            </a:p>
            <a:p>
              <a:pPr algn="ctr">
                <a:lnSpc>
                  <a:spcPct val="85000"/>
                </a:lnSpc>
              </a:pPr>
              <a:r>
                <a:rPr lang="en-US" dirty="0" smtClean="0"/>
                <a:t>character</a:t>
              </a:r>
              <a:r>
                <a:rPr lang="en-US" dirty="0"/>
                <a:t> </a:t>
              </a:r>
              <a:r>
                <a:rPr lang="en-US" dirty="0" smtClean="0"/>
                <a:t>a </a:t>
              </a:r>
            </a:p>
            <a:p>
              <a:pPr algn="ctr">
                <a:lnSpc>
                  <a:spcPct val="85000"/>
                </a:lnSpc>
              </a:pPr>
              <a:r>
                <a:rPr lang="en-US" dirty="0"/>
                <a:t>digit (</a:t>
              </a:r>
              <a:r>
                <a:rPr lang="en-US" altLang="zh-TW" dirty="0"/>
                <a:t>0</a:t>
              </a:r>
              <a:r>
                <a:rPr lang="zh-TW" altLang="en-US" dirty="0"/>
                <a:t>到</a:t>
              </a:r>
              <a:r>
                <a:rPr lang="en-US" altLang="zh-TW" dirty="0"/>
                <a:t>9</a:t>
              </a:r>
              <a:r>
                <a:rPr lang="zh-TW" altLang="en-US" dirty="0"/>
                <a:t>中</a:t>
              </a:r>
              <a:endParaRPr lang="en-US" altLang="zh-TW" dirty="0"/>
            </a:p>
            <a:p>
              <a:pPr algn="ctr">
                <a:lnSpc>
                  <a:spcPct val="85000"/>
                </a:lnSpc>
              </a:pPr>
              <a:r>
                <a:rPr lang="zh-TW" altLang="en-US" dirty="0"/>
                <a:t>的任一</a:t>
              </a:r>
              <a:r>
                <a:rPr lang="en-US" dirty="0"/>
                <a:t>)</a:t>
              </a:r>
            </a:p>
            <a:p>
              <a:pPr algn="ctr">
                <a:lnSpc>
                  <a:spcPct val="85000"/>
                </a:lnSpc>
              </a:pPr>
              <a:r>
                <a:rPr lang="en-US" dirty="0"/>
                <a:t>?</a:t>
              </a:r>
            </a:p>
          </p:txBody>
        </p:sp>
        <p:cxnSp>
          <p:nvCxnSpPr>
            <p:cNvPr id="4" name="Straight Arrow Connector 3"/>
            <p:cNvCxnSpPr/>
            <p:nvPr/>
          </p:nvCxnSpPr>
          <p:spPr>
            <a:xfrm>
              <a:off x="1608083" y="3813920"/>
              <a:ext cx="2278117" cy="154969"/>
            </a:xfrm>
            <a:prstGeom prst="straightConnector1">
              <a:avLst/>
            </a:prstGeom>
            <a:ln w="38100">
              <a:solidFill>
                <a:srgbClr val="FFABE7"/>
              </a:solidFill>
              <a:prstDash val="sys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9020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par>
                                <p:cTn id="23" presetID="22" presetClass="entr" presetSubtype="8"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up)">
                                      <p:cBhvr>
                                        <p:cTn id="35" dur="500"/>
                                        <p:tgtEl>
                                          <p:spTgt spid="20"/>
                                        </p:tgtEl>
                                      </p:cBhvr>
                                    </p:animEffect>
                                  </p:childTnLst>
                                </p:cTn>
                              </p:par>
                              <p:par>
                                <p:cTn id="36" presetID="22" presetClass="entr" presetSubtype="8"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a:t>
            </a:r>
            <a:r>
              <a:rPr lang="en-US" altLang="zh-TW" sz="2088" dirty="0">
                <a:solidFill>
                  <a:srgbClr val="FFC000"/>
                </a:solidFill>
                <a:latin typeface="Lucida Console" panose="020B0609040504020204" pitchFamily="49" charset="0"/>
                <a:cs typeface="Consolas" panose="020B0609020204030204" pitchFamily="49" charset="0"/>
              </a:rPr>
              <a:t>x</a:t>
            </a:r>
            <a:r>
              <a:rPr lang="en-US" altLang="zh-TW" sz="2088" dirty="0">
                <a:solidFill>
                  <a:srgbClr val="FFFF00"/>
                </a:solidFill>
                <a:latin typeface="Lucida Console" panose="020B0609040504020204" pitchFamily="49" charset="0"/>
                <a:cs typeface="Consolas" panose="020B0609020204030204" pitchFamily="49" charset="0"/>
              </a:rPr>
              <a:t>=</a:t>
            </a:r>
            <a:r>
              <a:rPr lang="en-US" altLang="zh-TW" sz="2088" dirty="0">
                <a:solidFill>
                  <a:srgbClr val="FFABE7"/>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x="Hello" </a:t>
            </a:r>
            <a:r>
              <a:rPr lang="en-US" altLang="zh-TW" sz="2088" dirty="0">
                <a:solidFill>
                  <a:prstClr val="black"/>
                </a:solidFill>
                <a:latin typeface="Lucida Console" panose="020B0609040504020204" pitchFamily="49" charset="0"/>
                <a:cs typeface="Consolas" panose="020B0609020204030204" pitchFamily="49" charset="0"/>
              </a:rPr>
              <a:t>x="pineapple“</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a:t>
            </a:r>
            <a:r>
              <a:rPr lang="en-US" altLang="zh-TW" sz="2088" dirty="0">
                <a:solidFill>
                  <a:prstClr val="black"/>
                </a:solidFill>
                <a:latin typeface="Lucida Console" panose="020B0609040504020204" pitchFamily="49" charset="0"/>
                <a:cs typeface="Consolas" panose="020B0609020204030204" pitchFamily="49" charset="0"/>
              </a:rPr>
              <a:t>“</a:t>
            </a:r>
          </a:p>
          <a:p>
            <a:endParaRPr lang="en-US" altLang="zh-TW" sz="2088" dirty="0">
              <a:solidFill>
                <a:prstClr val="black"/>
              </a:solidFill>
              <a:latin typeface="Lucida Console" panose="020B0609040504020204" pitchFamily="49" charset="0"/>
              <a:cs typeface="Consolas" panose="020B0609020204030204" pitchFamily="49" charset="0"/>
            </a:endParaRPr>
          </a:p>
        </p:txBody>
      </p:sp>
      <p:sp>
        <p:nvSpPr>
          <p:cNvPr id="9" name="Rounded Rectangular Callout 8"/>
          <p:cNvSpPr/>
          <p:nvPr/>
        </p:nvSpPr>
        <p:spPr>
          <a:xfrm>
            <a:off x="143933" y="2579876"/>
            <a:ext cx="2233008" cy="434910"/>
          </a:xfrm>
          <a:prstGeom prst="wedgeRoundRectCallout">
            <a:avLst>
              <a:gd name="adj1" fmla="val 2515"/>
              <a:gd name="adj2" fmla="val 22416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When it sees an = </a:t>
            </a:r>
            <a:endParaRPr lang="en-US" sz="2400" spc="-20" dirty="0">
              <a:solidFill>
                <a:srgbClr val="0033CC"/>
              </a:solidFill>
            </a:endParaRPr>
          </a:p>
        </p:txBody>
      </p:sp>
      <p:sp>
        <p:nvSpPr>
          <p:cNvPr id="11" name="Rounded Rectangular Callout 10"/>
          <p:cNvSpPr/>
          <p:nvPr/>
        </p:nvSpPr>
        <p:spPr>
          <a:xfrm>
            <a:off x="2376941" y="2579876"/>
            <a:ext cx="4515058" cy="434910"/>
          </a:xfrm>
          <a:prstGeom prst="wedgeRoundRectCallout">
            <a:avLst>
              <a:gd name="adj1" fmla="val -67794"/>
              <a:gd name="adj2" fmla="val 22302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it looks on the right-hand side (RHS)</a:t>
            </a:r>
            <a:endParaRPr lang="en-US" sz="2400" spc="-20" dirty="0">
              <a:solidFill>
                <a:srgbClr val="0033CC"/>
              </a:solidFill>
            </a:endParaRPr>
          </a:p>
        </p:txBody>
      </p:sp>
      <p:sp>
        <p:nvSpPr>
          <p:cNvPr id="21" name="Rectangle 20"/>
          <p:cNvSpPr/>
          <p:nvPr/>
        </p:nvSpPr>
        <p:spPr>
          <a:xfrm>
            <a:off x="7173328" y="5612524"/>
            <a:ext cx="1466190"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It’s an</a:t>
            </a:r>
            <a:br>
              <a:rPr lang="en-US" dirty="0" smtClean="0"/>
            </a:br>
            <a:r>
              <a:rPr lang="en-US" sz="2000" b="1" dirty="0" smtClean="0">
                <a:solidFill>
                  <a:srgbClr val="FFC000"/>
                </a:solidFill>
              </a:rPr>
              <a:t>INTEGER</a:t>
            </a:r>
            <a:endParaRPr lang="en-US" sz="2000" b="1" dirty="0">
              <a:solidFill>
                <a:srgbClr val="FFC000"/>
              </a:solidFill>
            </a:endParaRPr>
          </a:p>
        </p:txBody>
      </p:sp>
      <p:sp>
        <p:nvSpPr>
          <p:cNvPr id="34" name="Rectangle 33"/>
          <p:cNvSpPr/>
          <p:nvPr/>
        </p:nvSpPr>
        <p:spPr>
          <a:xfrm>
            <a:off x="1643846" y="3521382"/>
            <a:ext cx="1466190"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It’s an</a:t>
            </a:r>
            <a:br>
              <a:rPr lang="en-US" dirty="0" smtClean="0"/>
            </a:br>
            <a:r>
              <a:rPr lang="en-US" sz="2000" b="1" dirty="0" smtClean="0">
                <a:solidFill>
                  <a:srgbClr val="FFC000"/>
                </a:solidFill>
              </a:rPr>
              <a:t>INTEGER</a:t>
            </a:r>
            <a:endParaRPr lang="en-US" sz="2000" b="1" dirty="0">
              <a:solidFill>
                <a:srgbClr val="FFC000"/>
              </a:solidFill>
            </a:endParaRPr>
          </a:p>
        </p:txBody>
      </p:sp>
      <p:sp>
        <p:nvSpPr>
          <p:cNvPr id="10" name="Rounded Rectangular Callout 9"/>
          <p:cNvSpPr/>
          <p:nvPr/>
        </p:nvSpPr>
        <p:spPr>
          <a:xfrm>
            <a:off x="6891998" y="2579876"/>
            <a:ext cx="2837789" cy="434910"/>
          </a:xfrm>
          <a:prstGeom prst="wedgeRoundRectCallout">
            <a:avLst>
              <a:gd name="adj1" fmla="val -23375"/>
              <a:gd name="adj2" fmla="val 4788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to </a:t>
            </a:r>
            <a:r>
              <a:rPr lang="en-US" sz="2400" spc="-20" dirty="0" smtClean="0">
                <a:solidFill>
                  <a:srgbClr val="FF0000"/>
                </a:solidFill>
              </a:rPr>
              <a:t>infer (</a:t>
            </a:r>
            <a:r>
              <a:rPr lang="zh-TW" altLang="en-US" sz="2000" spc="-20" dirty="0">
                <a:solidFill>
                  <a:srgbClr val="FF0000"/>
                </a:solidFill>
              </a:rPr>
              <a:t>推斷</a:t>
            </a:r>
            <a:r>
              <a:rPr lang="en-US" sz="2400" spc="-20" dirty="0" smtClean="0">
                <a:solidFill>
                  <a:srgbClr val="FF0000"/>
                </a:solidFill>
              </a:rPr>
              <a:t>)</a:t>
            </a:r>
            <a:r>
              <a:rPr lang="en-US" sz="2400" spc="-20" dirty="0" smtClean="0">
                <a:solidFill>
                  <a:srgbClr val="0033CC"/>
                </a:solidFill>
              </a:rPr>
              <a:t> the type.</a:t>
            </a:r>
            <a:endParaRPr lang="en-US" sz="2400" spc="-20" dirty="0">
              <a:solidFill>
                <a:srgbClr val="0033CC"/>
              </a:solidFill>
            </a:endParaRPr>
          </a:p>
        </p:txBody>
      </p:sp>
      <p:cxnSp>
        <p:nvCxnSpPr>
          <p:cNvPr id="20" name="Straight Arrow Connector 19"/>
          <p:cNvCxnSpPr/>
          <p:nvPr/>
        </p:nvCxnSpPr>
        <p:spPr>
          <a:xfrm flipH="1">
            <a:off x="7899627" y="2971800"/>
            <a:ext cx="4763" cy="2641287"/>
          </a:xfrm>
          <a:prstGeom prst="straightConnector1">
            <a:avLst/>
          </a:prstGeom>
          <a:ln w="38100">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0807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nodeType="clickEffect">
                                  <p:stCondLst>
                                    <p:cond delay="0"/>
                                  </p:stCondLst>
                                  <p:childTnLst>
                                    <p:animEffect transition="out" filter="wipe(down)">
                                      <p:cBhvr>
                                        <p:cTn id="11" dur="500"/>
                                        <p:tgtEl>
                                          <p:spTgt spid="20"/>
                                        </p:tgtEl>
                                      </p:cBhvr>
                                    </p:animEffect>
                                    <p:set>
                                      <p:cBhvr>
                                        <p:cTn id="12" dur="1" fill="hold">
                                          <p:stCondLst>
                                            <p:cond delay="499"/>
                                          </p:stCondLst>
                                        </p:cTn>
                                        <p:tgtEl>
                                          <p:spTgt spid="20"/>
                                        </p:tgtEl>
                                        <p:attrNameLst>
                                          <p:attrName>style.visibility</p:attrName>
                                        </p:attrNameLst>
                                      </p:cBhvr>
                                      <p:to>
                                        <p:strVal val="hidden"/>
                                      </p:to>
                                    </p:set>
                                  </p:childTnLst>
                                </p:cTn>
                              </p:par>
                            </p:childTnLst>
                          </p:cTn>
                        </p:par>
                        <p:par>
                          <p:cTn id="13" fill="hold">
                            <p:stCondLst>
                              <p:cond delay="500"/>
                            </p:stCondLst>
                            <p:childTnLst>
                              <p:par>
                                <p:cTn id="14" presetID="64" presetClass="path" presetSubtype="0" fill="hold" grpId="0" nodeType="afterEffect">
                                  <p:stCondLst>
                                    <p:cond delay="0"/>
                                  </p:stCondLst>
                                  <p:childTnLst>
                                    <p:animMotion origin="layout" path="M -5.92266E-7 -3.7037E-6 L -0.56828 -0.30439 " pathEditMode="relative" rAng="0" ptsTypes="AA">
                                      <p:cBhvr>
                                        <p:cTn id="15" dur="1000" fill="hold"/>
                                        <p:tgtEl>
                                          <p:spTgt spid="21"/>
                                        </p:tgtEl>
                                        <p:attrNameLst>
                                          <p:attrName>ppt_x</p:attrName>
                                          <p:attrName>ppt_y</p:attrName>
                                        </p:attrNameLst>
                                      </p:cBhvr>
                                      <p:rCtr x="-28422" y="-15231"/>
                                    </p:animMotion>
                                  </p:childTnLst>
                                </p:cTn>
                              </p:par>
                            </p:childTnLst>
                          </p:cTn>
                        </p:par>
                        <p:par>
                          <p:cTn id="16" fill="hold">
                            <p:stCondLst>
                              <p:cond delay="1500"/>
                            </p:stCondLst>
                            <p:childTnLst>
                              <p:par>
                                <p:cTn id="17" presetID="1" presetClass="exit" presetSubtype="0" fill="hold" grpId="1" nodeType="afterEffect">
                                  <p:stCondLst>
                                    <p:cond delay="0"/>
                                  </p:stCondLst>
                                  <p:childTnLst>
                                    <p:set>
                                      <p:cBhvr>
                                        <p:cTn id="18" dur="1" fill="hold">
                                          <p:stCondLst>
                                            <p:cond delay="0"/>
                                          </p:stCondLst>
                                        </p:cTn>
                                        <p:tgtEl>
                                          <p:spTgt spid="21"/>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3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a:t>
            </a:r>
            <a:r>
              <a:rPr lang="en-US" altLang="zh-TW" sz="2088" dirty="0">
                <a:solidFill>
                  <a:srgbClr val="F2F2F2"/>
                </a:solidFill>
                <a:latin typeface="Lucida Console" panose="020B0609040504020204" pitchFamily="49" charset="0"/>
                <a:cs typeface="Consolas" panose="020B0609020204030204" pitchFamily="49" charset="0"/>
              </a:rPr>
              <a:t>x=1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a:t>
            </a:r>
            <a:r>
              <a:rPr lang="en-US" altLang="zh-TW" sz="2088" dirty="0">
                <a:solidFill>
                  <a:srgbClr val="FFC000"/>
                </a:solidFill>
                <a:latin typeface="Lucida Console" panose="020B0609040504020204" pitchFamily="49" charset="0"/>
                <a:cs typeface="Consolas" panose="020B0609020204030204" pitchFamily="49" charset="0"/>
              </a:rPr>
              <a:t>=</a:t>
            </a:r>
            <a:r>
              <a:rPr lang="en-US" altLang="zh-TW" sz="2088" dirty="0">
                <a:solidFill>
                  <a:prstClr val="white">
                    <a:lumMod val="95000"/>
                  </a:prstClr>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a:t>
            </a:r>
            <a:r>
              <a:rPr lang="en-US" altLang="zh-TW" sz="2088" dirty="0">
                <a:solidFill>
                  <a:prstClr val="black"/>
                </a:solidFill>
                <a:latin typeface="Lucida Console" panose="020B0609040504020204" pitchFamily="49" charset="0"/>
                <a:cs typeface="Consolas" panose="020B0609020204030204" pitchFamily="49" charset="0"/>
              </a:rPr>
              <a:t>“</a:t>
            </a:r>
          </a:p>
          <a:p>
            <a:endParaRPr lang="en-US" altLang="zh-TW" sz="2088" dirty="0">
              <a:solidFill>
                <a:prstClr val="black"/>
              </a:solidFill>
              <a:latin typeface="Lucida Console" panose="020B0609040504020204" pitchFamily="49" charset="0"/>
              <a:cs typeface="Consolas" panose="020B0609020204030204" pitchFamily="49" charset="0"/>
            </a:endParaRPr>
          </a:p>
        </p:txBody>
      </p:sp>
      <p:sp>
        <p:nvSpPr>
          <p:cNvPr id="9" name="Rounded Rectangular Callout 8"/>
          <p:cNvSpPr/>
          <p:nvPr/>
        </p:nvSpPr>
        <p:spPr>
          <a:xfrm>
            <a:off x="143933" y="6371501"/>
            <a:ext cx="2233008" cy="434910"/>
          </a:xfrm>
          <a:prstGeom prst="wedgeRoundRectCallout">
            <a:avLst>
              <a:gd name="adj1" fmla="val 3221"/>
              <a:gd name="adj2" fmla="val -39571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When it sees an = </a:t>
            </a:r>
            <a:endParaRPr lang="en-US" sz="2400" spc="-20" dirty="0">
              <a:solidFill>
                <a:srgbClr val="0033CC"/>
              </a:solidFill>
            </a:endParaRPr>
          </a:p>
        </p:txBody>
      </p:sp>
      <p:sp>
        <p:nvSpPr>
          <p:cNvPr id="34" name="Rectangle 33"/>
          <p:cNvSpPr/>
          <p:nvPr/>
        </p:nvSpPr>
        <p:spPr>
          <a:xfrm>
            <a:off x="1643846" y="3521382"/>
            <a:ext cx="1466190"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It’s an</a:t>
            </a:r>
            <a:br>
              <a:rPr lang="en-US" dirty="0" smtClean="0"/>
            </a:br>
            <a:r>
              <a:rPr lang="en-US" sz="2000" b="1" dirty="0" smtClean="0">
                <a:solidFill>
                  <a:srgbClr val="FFC000"/>
                </a:solidFill>
              </a:rPr>
              <a:t>INTEGER</a:t>
            </a:r>
            <a:endParaRPr lang="en-US" sz="2000" b="1" dirty="0">
              <a:solidFill>
                <a:srgbClr val="FFC000"/>
              </a:solidFill>
            </a:endParaRPr>
          </a:p>
        </p:txBody>
      </p:sp>
    </p:spTree>
    <p:extLst>
      <p:ext uri="{BB962C8B-B14F-4D97-AF65-F5344CB8AC3E}">
        <p14:creationId xmlns:p14="http://schemas.microsoft.com/office/powerpoint/2010/main" val="78545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a:t>
            </a:r>
            <a:r>
              <a:rPr lang="en-US" altLang="zh-TW" sz="2088" dirty="0">
                <a:solidFill>
                  <a:srgbClr val="F2F2F2"/>
                </a:solidFill>
                <a:latin typeface="Lucida Console" panose="020B0609040504020204" pitchFamily="49" charset="0"/>
                <a:cs typeface="Consolas" panose="020B0609020204030204" pitchFamily="49" charset="0"/>
              </a:rPr>
              <a:t>x=1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a:t>
            </a:r>
            <a:r>
              <a:rPr lang="en-US" altLang="zh-TW" sz="2088" dirty="0">
                <a:solidFill>
                  <a:srgbClr val="FFC000"/>
                </a:solidFill>
                <a:latin typeface="Lucida Console" panose="020B0609040504020204" pitchFamily="49" charset="0"/>
                <a:cs typeface="Consolas" panose="020B0609020204030204" pitchFamily="49" charset="0"/>
              </a:rPr>
              <a:t>=</a:t>
            </a:r>
            <a:r>
              <a:rPr lang="en-US" altLang="zh-TW" sz="2088" dirty="0">
                <a:solidFill>
                  <a:srgbClr val="FFABE7"/>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a:t>
            </a:r>
            <a:r>
              <a:rPr lang="en-US" altLang="zh-TW" sz="2088" dirty="0">
                <a:solidFill>
                  <a:prstClr val="black"/>
                </a:solidFill>
                <a:latin typeface="Lucida Console" panose="020B0609040504020204" pitchFamily="49" charset="0"/>
                <a:cs typeface="Consolas" panose="020B0609020204030204" pitchFamily="49" charset="0"/>
              </a:rPr>
              <a:t>“</a:t>
            </a:r>
          </a:p>
          <a:p>
            <a:endParaRPr lang="en-US" altLang="zh-TW" sz="2088" dirty="0">
              <a:solidFill>
                <a:prstClr val="black"/>
              </a:solidFill>
              <a:latin typeface="Lucida Console" panose="020B0609040504020204" pitchFamily="49" charset="0"/>
              <a:cs typeface="Consolas" panose="020B0609020204030204" pitchFamily="49" charset="0"/>
            </a:endParaRPr>
          </a:p>
        </p:txBody>
      </p:sp>
      <p:sp>
        <p:nvSpPr>
          <p:cNvPr id="9" name="Rounded Rectangular Callout 8"/>
          <p:cNvSpPr/>
          <p:nvPr/>
        </p:nvSpPr>
        <p:spPr>
          <a:xfrm>
            <a:off x="143933" y="6371501"/>
            <a:ext cx="2233008" cy="434910"/>
          </a:xfrm>
          <a:prstGeom prst="wedgeRoundRectCallout">
            <a:avLst>
              <a:gd name="adj1" fmla="val 3221"/>
              <a:gd name="adj2" fmla="val -39571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When it sees an = </a:t>
            </a:r>
            <a:endParaRPr lang="en-US" sz="2400" spc="-20" dirty="0">
              <a:solidFill>
                <a:srgbClr val="0033CC"/>
              </a:solidFill>
            </a:endParaRPr>
          </a:p>
        </p:txBody>
      </p:sp>
      <p:sp>
        <p:nvSpPr>
          <p:cNvPr id="11" name="Rounded Rectangular Callout 10"/>
          <p:cNvSpPr/>
          <p:nvPr/>
        </p:nvSpPr>
        <p:spPr>
          <a:xfrm>
            <a:off x="2376941" y="6371501"/>
            <a:ext cx="4515058" cy="434910"/>
          </a:xfrm>
          <a:prstGeom prst="wedgeRoundRectCallout">
            <a:avLst>
              <a:gd name="adj1" fmla="val -58017"/>
              <a:gd name="adj2" fmla="val -39322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it looks on the right-hand side (RHS)</a:t>
            </a:r>
            <a:endParaRPr lang="en-US" sz="2400" spc="-20" dirty="0">
              <a:solidFill>
                <a:srgbClr val="0033CC"/>
              </a:solidFill>
            </a:endParaRPr>
          </a:p>
        </p:txBody>
      </p:sp>
      <p:sp>
        <p:nvSpPr>
          <p:cNvPr id="15" name="Rounded Rectangular Callout 14"/>
          <p:cNvSpPr/>
          <p:nvPr/>
        </p:nvSpPr>
        <p:spPr>
          <a:xfrm>
            <a:off x="6891998" y="6371501"/>
            <a:ext cx="2837789" cy="434910"/>
          </a:xfrm>
          <a:prstGeom prst="wedgeRoundRectCallout">
            <a:avLst>
              <a:gd name="adj1" fmla="val -23375"/>
              <a:gd name="adj2" fmla="val 4788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to infer (</a:t>
            </a:r>
            <a:r>
              <a:rPr lang="zh-TW" altLang="en-US" sz="2000" spc="-20" dirty="0">
                <a:solidFill>
                  <a:srgbClr val="0033CC"/>
                </a:solidFill>
              </a:rPr>
              <a:t>推斷</a:t>
            </a:r>
            <a:r>
              <a:rPr lang="en-US" sz="2400" spc="-20" dirty="0">
                <a:solidFill>
                  <a:srgbClr val="0033CC"/>
                </a:solidFill>
              </a:rPr>
              <a:t>) the </a:t>
            </a:r>
            <a:r>
              <a:rPr lang="en-US" sz="2400" spc="-20" dirty="0" smtClean="0">
                <a:solidFill>
                  <a:srgbClr val="0033CC"/>
                </a:solidFill>
              </a:rPr>
              <a:t>type.</a:t>
            </a:r>
            <a:endParaRPr lang="en-US" sz="2400" spc="-20" dirty="0">
              <a:solidFill>
                <a:srgbClr val="0033CC"/>
              </a:solidFill>
            </a:endParaRPr>
          </a:p>
        </p:txBody>
      </p:sp>
      <p:sp>
        <p:nvSpPr>
          <p:cNvPr id="34" name="Rectangle 33"/>
          <p:cNvSpPr/>
          <p:nvPr/>
        </p:nvSpPr>
        <p:spPr>
          <a:xfrm>
            <a:off x="1643846" y="3521382"/>
            <a:ext cx="1466190"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It’s an</a:t>
            </a:r>
            <a:br>
              <a:rPr lang="en-US" dirty="0" smtClean="0"/>
            </a:br>
            <a:r>
              <a:rPr lang="en-US" sz="2000" b="1" dirty="0" smtClean="0">
                <a:solidFill>
                  <a:srgbClr val="FFC000"/>
                </a:solidFill>
              </a:rPr>
              <a:t>INTEGER</a:t>
            </a:r>
            <a:endParaRPr lang="en-US" sz="2000" b="1" dirty="0">
              <a:solidFill>
                <a:srgbClr val="FFC000"/>
              </a:solidFill>
            </a:endParaRPr>
          </a:p>
        </p:txBody>
      </p:sp>
    </p:spTree>
    <p:extLst>
      <p:ext uri="{BB962C8B-B14F-4D97-AF65-F5344CB8AC3E}">
        <p14:creationId xmlns:p14="http://schemas.microsoft.com/office/powerpoint/2010/main" val="528449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a:t>
            </a:r>
            <a:r>
              <a:rPr lang="en-US" altLang="zh-TW" sz="2088" dirty="0">
                <a:solidFill>
                  <a:srgbClr val="F2F2F2"/>
                </a:solidFill>
                <a:latin typeface="Lucida Console" panose="020B0609040504020204" pitchFamily="49" charset="0"/>
                <a:cs typeface="Consolas" panose="020B0609020204030204" pitchFamily="49" charset="0"/>
              </a:rPr>
              <a:t>x=1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a:t>
            </a:r>
            <a:r>
              <a:rPr lang="en-US" altLang="zh-TW" sz="2088" dirty="0">
                <a:solidFill>
                  <a:srgbClr val="FFC000"/>
                </a:solidFill>
                <a:latin typeface="Lucida Console" panose="020B0609040504020204" pitchFamily="49" charset="0"/>
                <a:cs typeface="Consolas" panose="020B0609020204030204" pitchFamily="49" charset="0"/>
              </a:rPr>
              <a:t>=</a:t>
            </a:r>
            <a:r>
              <a:rPr lang="en-US" altLang="zh-TW" sz="2088" dirty="0">
                <a:solidFill>
                  <a:srgbClr val="FFABE7"/>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a:t>
            </a:r>
            <a:r>
              <a:rPr lang="en-US" altLang="zh-TW" sz="2088" dirty="0">
                <a:solidFill>
                  <a:prstClr val="black"/>
                </a:solidFill>
                <a:latin typeface="Lucida Console" panose="020B0609040504020204" pitchFamily="49" charset="0"/>
                <a:cs typeface="Consolas" panose="020B0609020204030204" pitchFamily="49" charset="0"/>
              </a:rPr>
              <a:t>“</a:t>
            </a:r>
          </a:p>
          <a:p>
            <a:endParaRPr lang="en-US" altLang="zh-TW" sz="2088" dirty="0">
              <a:solidFill>
                <a:prstClr val="black"/>
              </a:solidFill>
              <a:latin typeface="Lucida Console" panose="020B0609040504020204" pitchFamily="49" charset="0"/>
              <a:cs typeface="Consolas" panose="020B0609020204030204" pitchFamily="49" charset="0"/>
            </a:endParaRPr>
          </a:p>
        </p:txBody>
      </p:sp>
      <p:sp>
        <p:nvSpPr>
          <p:cNvPr id="9" name="Rounded Rectangular Callout 8"/>
          <p:cNvSpPr/>
          <p:nvPr/>
        </p:nvSpPr>
        <p:spPr>
          <a:xfrm>
            <a:off x="143933" y="6371501"/>
            <a:ext cx="2233008" cy="434910"/>
          </a:xfrm>
          <a:prstGeom prst="wedgeRoundRectCallout">
            <a:avLst>
              <a:gd name="adj1" fmla="val 3221"/>
              <a:gd name="adj2" fmla="val -39571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When it sees an = </a:t>
            </a:r>
            <a:endParaRPr lang="en-US" sz="2400" spc="-20" dirty="0">
              <a:solidFill>
                <a:srgbClr val="0033CC"/>
              </a:solidFill>
            </a:endParaRPr>
          </a:p>
        </p:txBody>
      </p:sp>
      <p:sp>
        <p:nvSpPr>
          <p:cNvPr id="11" name="Rounded Rectangular Callout 10"/>
          <p:cNvSpPr/>
          <p:nvPr/>
        </p:nvSpPr>
        <p:spPr>
          <a:xfrm>
            <a:off x="2376941" y="6371501"/>
            <a:ext cx="4515058" cy="434910"/>
          </a:xfrm>
          <a:prstGeom prst="wedgeRoundRectCallout">
            <a:avLst>
              <a:gd name="adj1" fmla="val -58017"/>
              <a:gd name="adj2" fmla="val -39322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it looks on the right-hand side (RHS)</a:t>
            </a:r>
            <a:endParaRPr lang="en-US" sz="2400" spc="-20" dirty="0">
              <a:solidFill>
                <a:srgbClr val="0033CC"/>
              </a:solidFill>
            </a:endParaRPr>
          </a:p>
        </p:txBody>
      </p:sp>
      <p:sp>
        <p:nvSpPr>
          <p:cNvPr id="15" name="Rounded Rectangular Callout 14"/>
          <p:cNvSpPr/>
          <p:nvPr/>
        </p:nvSpPr>
        <p:spPr>
          <a:xfrm>
            <a:off x="6891998" y="6371501"/>
            <a:ext cx="2837789" cy="434910"/>
          </a:xfrm>
          <a:prstGeom prst="wedgeRoundRectCallout">
            <a:avLst>
              <a:gd name="adj1" fmla="val -23375"/>
              <a:gd name="adj2" fmla="val 4788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to infer </a:t>
            </a:r>
            <a:r>
              <a:rPr lang="en-US" sz="2400" spc="-20" dirty="0">
                <a:solidFill>
                  <a:srgbClr val="0033CC"/>
                </a:solidFill>
              </a:rPr>
              <a:t>(</a:t>
            </a:r>
            <a:r>
              <a:rPr lang="zh-TW" altLang="en-US" sz="2000" spc="-20" dirty="0">
                <a:solidFill>
                  <a:srgbClr val="0033CC"/>
                </a:solidFill>
              </a:rPr>
              <a:t>推斷</a:t>
            </a:r>
            <a:r>
              <a:rPr lang="en-US" sz="2400" spc="-20" dirty="0">
                <a:solidFill>
                  <a:srgbClr val="0033CC"/>
                </a:solidFill>
              </a:rPr>
              <a:t>) the </a:t>
            </a:r>
            <a:r>
              <a:rPr lang="en-US" sz="2400" spc="-20" dirty="0" smtClean="0">
                <a:solidFill>
                  <a:srgbClr val="0033CC"/>
                </a:solidFill>
              </a:rPr>
              <a:t>type.</a:t>
            </a:r>
            <a:endParaRPr lang="en-US" sz="2400" spc="-20" dirty="0">
              <a:solidFill>
                <a:srgbClr val="0033CC"/>
              </a:solidFill>
            </a:endParaRPr>
          </a:p>
        </p:txBody>
      </p:sp>
      <p:sp>
        <p:nvSpPr>
          <p:cNvPr id="34" name="Rectangle 33"/>
          <p:cNvSpPr/>
          <p:nvPr/>
        </p:nvSpPr>
        <p:spPr>
          <a:xfrm>
            <a:off x="1643846" y="3521382"/>
            <a:ext cx="1466190"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It’s an</a:t>
            </a:r>
            <a:br>
              <a:rPr lang="en-US" dirty="0" smtClean="0"/>
            </a:br>
            <a:r>
              <a:rPr lang="en-US" sz="2000" b="1" dirty="0" smtClean="0">
                <a:solidFill>
                  <a:srgbClr val="FFC000"/>
                </a:solidFill>
              </a:rPr>
              <a:t>INTEGER</a:t>
            </a:r>
            <a:endParaRPr lang="en-US" sz="2000" b="1" dirty="0">
              <a:solidFill>
                <a:srgbClr val="FFC000"/>
              </a:solidFill>
            </a:endParaRPr>
          </a:p>
        </p:txBody>
      </p:sp>
      <p:grpSp>
        <p:nvGrpSpPr>
          <p:cNvPr id="13" name="Group 12"/>
          <p:cNvGrpSpPr/>
          <p:nvPr/>
        </p:nvGrpSpPr>
        <p:grpSpPr>
          <a:xfrm>
            <a:off x="3690720" y="4549081"/>
            <a:ext cx="1466190" cy="1104308"/>
            <a:chOff x="3523593" y="4994770"/>
            <a:chExt cx="1466190" cy="1104308"/>
          </a:xfrm>
        </p:grpSpPr>
        <p:cxnSp>
          <p:nvCxnSpPr>
            <p:cNvPr id="16" name="Straight Arrow Connector 15"/>
            <p:cNvCxnSpPr/>
            <p:nvPr/>
          </p:nvCxnSpPr>
          <p:spPr>
            <a:xfrm flipH="1">
              <a:off x="4249892" y="4994770"/>
              <a:ext cx="4763" cy="618317"/>
            </a:xfrm>
            <a:prstGeom prst="straightConnector1">
              <a:avLst/>
            </a:prstGeom>
            <a:ln w="38100">
              <a:solidFill>
                <a:srgbClr val="41719C"/>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523593" y="5612524"/>
              <a:ext cx="1466190"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It’s some other</a:t>
              </a:r>
              <a:br>
                <a:rPr lang="en-US" dirty="0" smtClean="0"/>
              </a:br>
              <a:r>
                <a:rPr lang="en-US" dirty="0" smtClean="0"/>
                <a:t>data type</a:t>
              </a:r>
              <a:endParaRPr lang="en-US" dirty="0"/>
            </a:p>
          </p:txBody>
        </p:sp>
        <p:sp>
          <p:nvSpPr>
            <p:cNvPr id="18" name="Rectangle 17"/>
            <p:cNvSpPr/>
            <p:nvPr/>
          </p:nvSpPr>
          <p:spPr>
            <a:xfrm>
              <a:off x="4301438" y="5102902"/>
              <a:ext cx="465898" cy="334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3200" b="1" dirty="0" smtClean="0">
                  <a:solidFill>
                    <a:srgbClr val="5B9BD5"/>
                  </a:solidFill>
                </a:rPr>
                <a:t>N</a:t>
              </a:r>
              <a:endParaRPr lang="en-US" sz="3200" b="1" dirty="0">
                <a:solidFill>
                  <a:srgbClr val="5B9BD5"/>
                </a:solidFill>
              </a:endParaRPr>
            </a:p>
          </p:txBody>
        </p:sp>
      </p:grpSp>
      <p:grpSp>
        <p:nvGrpSpPr>
          <p:cNvPr id="19" name="Group 18"/>
          <p:cNvGrpSpPr/>
          <p:nvPr/>
        </p:nvGrpSpPr>
        <p:grpSpPr>
          <a:xfrm>
            <a:off x="5112126" y="3368231"/>
            <a:ext cx="1693330" cy="641523"/>
            <a:chOff x="4944999" y="3813920"/>
            <a:chExt cx="1693330" cy="641523"/>
          </a:xfrm>
        </p:grpSpPr>
        <p:cxnSp>
          <p:nvCxnSpPr>
            <p:cNvPr id="20" name="Straight Arrow Connector 19"/>
            <p:cNvCxnSpPr/>
            <p:nvPr/>
          </p:nvCxnSpPr>
          <p:spPr>
            <a:xfrm rot="16200000" flipH="1">
              <a:off x="5251776" y="3905389"/>
              <a:ext cx="4763" cy="618317"/>
            </a:xfrm>
            <a:prstGeom prst="straightConnector1">
              <a:avLst/>
            </a:prstGeom>
            <a:ln w="38100">
              <a:solidFill>
                <a:srgbClr val="41719C"/>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5079126" y="3813920"/>
              <a:ext cx="465898" cy="334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3200" b="1" dirty="0" smtClean="0">
                  <a:solidFill>
                    <a:srgbClr val="5B9BD5"/>
                  </a:solidFill>
                </a:rPr>
                <a:t>Y</a:t>
              </a:r>
              <a:endParaRPr lang="en-US" sz="3200" b="1" dirty="0">
                <a:solidFill>
                  <a:srgbClr val="5B9BD5"/>
                </a:solidFill>
              </a:endParaRPr>
            </a:p>
          </p:txBody>
        </p:sp>
        <p:sp>
          <p:nvSpPr>
            <p:cNvPr id="22" name="Rectangle 21"/>
            <p:cNvSpPr/>
            <p:nvPr/>
          </p:nvSpPr>
          <p:spPr>
            <a:xfrm>
              <a:off x="5569668" y="3968889"/>
              <a:ext cx="1068661"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dirty="0"/>
                <a:t>Then it’s </a:t>
              </a:r>
              <a:r>
                <a:rPr lang="en-US" spc="-10" dirty="0"/>
                <a:t>a</a:t>
              </a:r>
              <a:r>
                <a:rPr lang="en-US" sz="1600" spc="-10" dirty="0"/>
                <a:t> </a:t>
              </a:r>
              <a:r>
                <a:rPr lang="en-US" spc="-10" dirty="0"/>
                <a:t>number</a:t>
              </a:r>
            </a:p>
          </p:txBody>
        </p:sp>
      </p:grpSp>
      <p:grpSp>
        <p:nvGrpSpPr>
          <p:cNvPr id="23" name="Group 22"/>
          <p:cNvGrpSpPr/>
          <p:nvPr/>
        </p:nvGrpSpPr>
        <p:grpSpPr>
          <a:xfrm>
            <a:off x="1637494" y="2983310"/>
            <a:ext cx="3681667" cy="1667422"/>
            <a:chOff x="1470367" y="3428999"/>
            <a:chExt cx="3681667" cy="1667422"/>
          </a:xfrm>
        </p:grpSpPr>
        <p:sp>
          <p:nvSpPr>
            <p:cNvPr id="24" name="Flowchart: Decision 23"/>
            <p:cNvSpPr/>
            <p:nvPr/>
          </p:nvSpPr>
          <p:spPr>
            <a:xfrm>
              <a:off x="3357277" y="3428999"/>
              <a:ext cx="1794757" cy="156633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Is</a:t>
              </a:r>
            </a:p>
            <a:p>
              <a:pPr algn="ctr">
                <a:lnSpc>
                  <a:spcPct val="85000"/>
                </a:lnSpc>
              </a:pPr>
              <a:r>
                <a:rPr lang="en-US" dirty="0" smtClean="0"/>
                <a:t>the first</a:t>
              </a:r>
            </a:p>
            <a:p>
              <a:pPr algn="ctr">
                <a:lnSpc>
                  <a:spcPct val="85000"/>
                </a:lnSpc>
              </a:pPr>
              <a:r>
                <a:rPr lang="en-US" dirty="0" smtClean="0"/>
                <a:t>character</a:t>
              </a:r>
              <a:r>
                <a:rPr lang="en-US" dirty="0"/>
                <a:t> </a:t>
              </a:r>
              <a:r>
                <a:rPr lang="en-US" dirty="0" smtClean="0"/>
                <a:t>a </a:t>
              </a:r>
            </a:p>
            <a:p>
              <a:pPr algn="ctr">
                <a:lnSpc>
                  <a:spcPct val="85000"/>
                </a:lnSpc>
              </a:pPr>
              <a:r>
                <a:rPr lang="en-US" dirty="0" smtClean="0"/>
                <a:t>digit (</a:t>
              </a:r>
              <a:r>
                <a:rPr lang="en-US" altLang="zh-TW" dirty="0" smtClean="0"/>
                <a:t>0</a:t>
              </a:r>
              <a:r>
                <a:rPr lang="zh-TW" altLang="en-US" dirty="0"/>
                <a:t>到</a:t>
              </a:r>
              <a:r>
                <a:rPr lang="en-US" altLang="zh-TW" dirty="0"/>
                <a:t>9</a:t>
              </a:r>
              <a:r>
                <a:rPr lang="zh-TW" altLang="en-US" dirty="0" smtClean="0"/>
                <a:t>中</a:t>
              </a:r>
              <a:endParaRPr lang="en-US" altLang="zh-TW" dirty="0" smtClean="0"/>
            </a:p>
            <a:p>
              <a:pPr algn="ctr">
                <a:lnSpc>
                  <a:spcPct val="85000"/>
                </a:lnSpc>
              </a:pPr>
              <a:r>
                <a:rPr lang="zh-TW" altLang="en-US" dirty="0" smtClean="0"/>
                <a:t>的</a:t>
              </a:r>
              <a:r>
                <a:rPr lang="zh-TW" altLang="en-US" dirty="0"/>
                <a:t>任一</a:t>
              </a:r>
              <a:r>
                <a:rPr lang="en-US" dirty="0" smtClean="0"/>
                <a:t>)</a:t>
              </a:r>
            </a:p>
            <a:p>
              <a:pPr algn="ctr">
                <a:lnSpc>
                  <a:spcPct val="85000"/>
                </a:lnSpc>
              </a:pPr>
              <a:r>
                <a:rPr lang="en-US" dirty="0" smtClean="0"/>
                <a:t>?</a:t>
              </a:r>
              <a:endParaRPr lang="en-US" dirty="0"/>
            </a:p>
          </p:txBody>
        </p:sp>
        <p:cxnSp>
          <p:nvCxnSpPr>
            <p:cNvPr id="25" name="Straight Arrow Connector 24"/>
            <p:cNvCxnSpPr/>
            <p:nvPr/>
          </p:nvCxnSpPr>
          <p:spPr>
            <a:xfrm flipV="1">
              <a:off x="1470367" y="3968889"/>
              <a:ext cx="2415833" cy="1127532"/>
            </a:xfrm>
            <a:prstGeom prst="straightConnector1">
              <a:avLst/>
            </a:prstGeom>
            <a:ln w="38100">
              <a:solidFill>
                <a:srgbClr val="FFABE7"/>
              </a:solidFill>
              <a:prstDash val="sysDash"/>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7284338" y="5011866"/>
            <a:ext cx="1693330" cy="641523"/>
            <a:chOff x="4944999" y="3813920"/>
            <a:chExt cx="1693330" cy="641523"/>
          </a:xfrm>
        </p:grpSpPr>
        <p:cxnSp>
          <p:nvCxnSpPr>
            <p:cNvPr id="30" name="Straight Arrow Connector 29"/>
            <p:cNvCxnSpPr/>
            <p:nvPr/>
          </p:nvCxnSpPr>
          <p:spPr>
            <a:xfrm rot="16200000" flipH="1">
              <a:off x="5251776" y="3905389"/>
              <a:ext cx="4763" cy="618317"/>
            </a:xfrm>
            <a:prstGeom prst="straightConnector1">
              <a:avLst/>
            </a:prstGeom>
            <a:ln w="38100">
              <a:solidFill>
                <a:srgbClr val="41719C"/>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5079126" y="3813920"/>
              <a:ext cx="465898" cy="334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3200" b="1" dirty="0" smtClean="0">
                  <a:solidFill>
                    <a:srgbClr val="5B9BD5"/>
                  </a:solidFill>
                </a:rPr>
                <a:t>Y</a:t>
              </a:r>
              <a:endParaRPr lang="en-US" sz="3200" b="1" dirty="0">
                <a:solidFill>
                  <a:srgbClr val="5B9BD5"/>
                </a:solidFill>
              </a:endParaRPr>
            </a:p>
          </p:txBody>
        </p:sp>
        <p:sp>
          <p:nvSpPr>
            <p:cNvPr id="32" name="Rectangle 31"/>
            <p:cNvSpPr/>
            <p:nvPr/>
          </p:nvSpPr>
          <p:spPr>
            <a:xfrm>
              <a:off x="5569668" y="3968889"/>
              <a:ext cx="1068661"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dirty="0" smtClean="0"/>
                <a:t>It’s a</a:t>
              </a:r>
              <a:br>
                <a:rPr lang="en-US" dirty="0" smtClean="0"/>
              </a:br>
              <a:r>
                <a:rPr lang="en-US" b="1" dirty="0" smtClean="0">
                  <a:solidFill>
                    <a:srgbClr val="FFC000"/>
                  </a:solidFill>
                </a:rPr>
                <a:t>STRING</a:t>
              </a:r>
              <a:endParaRPr lang="en-US" b="1" dirty="0">
                <a:solidFill>
                  <a:srgbClr val="FFC000"/>
                </a:solidFill>
              </a:endParaRPr>
            </a:p>
          </p:txBody>
        </p:sp>
      </p:grpSp>
      <p:grpSp>
        <p:nvGrpSpPr>
          <p:cNvPr id="26" name="Group 25"/>
          <p:cNvGrpSpPr/>
          <p:nvPr/>
        </p:nvGrpSpPr>
        <p:grpSpPr>
          <a:xfrm>
            <a:off x="5168086" y="4626945"/>
            <a:ext cx="2315018" cy="1566334"/>
            <a:chOff x="6450606" y="3428999"/>
            <a:chExt cx="2315018" cy="1566334"/>
          </a:xfrm>
        </p:grpSpPr>
        <p:cxnSp>
          <p:nvCxnSpPr>
            <p:cNvPr id="27" name="Straight Arrow Connector 26"/>
            <p:cNvCxnSpPr/>
            <p:nvPr/>
          </p:nvCxnSpPr>
          <p:spPr>
            <a:xfrm rot="16200000" flipH="1">
              <a:off x="6757383" y="3905389"/>
              <a:ext cx="4763" cy="618317"/>
            </a:xfrm>
            <a:prstGeom prst="straightConnector1">
              <a:avLst/>
            </a:prstGeom>
            <a:ln w="38100">
              <a:solidFill>
                <a:srgbClr val="41719C"/>
              </a:solidFill>
              <a:tailEnd type="triangle"/>
            </a:ln>
          </p:spPr>
          <p:style>
            <a:lnRef idx="1">
              <a:schemeClr val="accent1"/>
            </a:lnRef>
            <a:fillRef idx="0">
              <a:schemeClr val="accent1"/>
            </a:fillRef>
            <a:effectRef idx="0">
              <a:schemeClr val="accent1"/>
            </a:effectRef>
            <a:fontRef idx="minor">
              <a:schemeClr val="tx1"/>
            </a:fontRef>
          </p:style>
        </p:cxnSp>
        <p:sp>
          <p:nvSpPr>
            <p:cNvPr id="28" name="Flowchart: Decision 27"/>
            <p:cNvSpPr/>
            <p:nvPr/>
          </p:nvSpPr>
          <p:spPr>
            <a:xfrm>
              <a:off x="7062012" y="3428999"/>
              <a:ext cx="1703612" cy="156633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Is</a:t>
              </a:r>
              <a:br>
                <a:rPr lang="en-US" dirty="0" smtClean="0"/>
              </a:br>
              <a:r>
                <a:rPr lang="en-US" dirty="0" smtClean="0"/>
                <a:t>the first</a:t>
              </a:r>
              <a:br>
                <a:rPr lang="en-US" dirty="0" smtClean="0"/>
              </a:br>
              <a:r>
                <a:rPr lang="en-US" dirty="0" smtClean="0"/>
                <a:t>character a</a:t>
              </a:r>
              <a:br>
                <a:rPr lang="en-US" dirty="0" smtClean="0"/>
              </a:br>
              <a:r>
                <a:rPr lang="en-US" dirty="0" smtClean="0"/>
                <a:t>quote</a:t>
              </a:r>
              <a:br>
                <a:rPr lang="en-US" dirty="0" smtClean="0"/>
              </a:br>
              <a:r>
                <a:rPr lang="en-US" dirty="0" smtClean="0"/>
                <a:t>?</a:t>
              </a:r>
              <a:endParaRPr lang="en-US" dirty="0"/>
            </a:p>
          </p:txBody>
        </p:sp>
      </p:grpSp>
    </p:spTree>
    <p:extLst>
      <p:ext uri="{BB962C8B-B14F-4D97-AF65-F5344CB8AC3E}">
        <p14:creationId xmlns:p14="http://schemas.microsoft.com/office/powerpoint/2010/main" val="3876613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par>
                                <p:cTn id="13" presetID="22" presetClass="entr" presetSubtype="8"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left)">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left)">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wipe(left)">
                                      <p:cBhvr>
                                        <p:cTn id="2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txBox="1">
            <a:spLocks/>
          </p:cNvSpPr>
          <p:nvPr/>
        </p:nvSpPr>
        <p:spPr>
          <a:xfrm>
            <a:off x="-1951" y="128018"/>
            <a:ext cx="9731740" cy="1446381"/>
          </a:xfrm>
          <a:prstGeom prst="rect">
            <a:avLst/>
          </a:prstGeom>
          <a:solidFill>
            <a:schemeClr val="bg1"/>
          </a:solidFill>
        </p:spPr>
        <p:txBody>
          <a:bodyPr vert="horz" lIns="91440" tIns="45720" rIns="91440" bIns="45720" rtlCol="0" anchor="ctr">
            <a:normAutofit/>
          </a:bodyPr>
          <a:lstStyle>
            <a:lvl1pPr algn="l" defTabSz="795619" rtl="0" eaLnBrk="1" latinLnBrk="0" hangingPunct="1">
              <a:lnSpc>
                <a:spcPct val="90000"/>
              </a:lnSpc>
              <a:spcBef>
                <a:spcPct val="0"/>
              </a:spcBef>
              <a:buNone/>
              <a:defRPr sz="3828" kern="1200">
                <a:solidFill>
                  <a:schemeClr val="tx1"/>
                </a:solidFill>
                <a:latin typeface="+mj-lt"/>
                <a:ea typeface="+mj-ea"/>
                <a:cs typeface="+mj-cs"/>
              </a:defRPr>
            </a:lvl1pPr>
          </a:lstStyle>
          <a:p>
            <a:pPr algn="ct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But Python Does Have</a:t>
            </a:r>
            <a:br>
              <a:rPr lang="en-US" altLang="zh-TW" sz="4699" b="1" dirty="0">
                <a:solidFill>
                  <a:srgbClr val="5B9BD5">
                    <a:lumMod val="75000"/>
                  </a:srgbClr>
                </a:solidFill>
                <a:latin typeface="Times New Roman" panose="02020603050405020304" pitchFamily="18" charset="0"/>
                <a:cs typeface="Times New Roman" panose="02020603050405020304" pitchFamily="18" charset="0"/>
              </a:rPr>
            </a:br>
            <a:r>
              <a:rPr lang="en-US" altLang="zh-TW" sz="4699" b="1" dirty="0">
                <a:solidFill>
                  <a:srgbClr val="FF0000"/>
                </a:solidFill>
                <a:latin typeface="Times New Roman" panose="02020603050405020304" pitchFamily="18" charset="0"/>
                <a:cs typeface="Times New Roman" panose="02020603050405020304" pitchFamily="18" charset="0"/>
              </a:rPr>
              <a:t>Dynamic Type Binding</a:t>
            </a:r>
            <a:r>
              <a:rPr lang="en-US" altLang="zh-TW" sz="4699" b="1" dirty="0">
                <a:solidFill>
                  <a:srgbClr val="5B9BD5">
                    <a:lumMod val="75000"/>
                  </a:srgbClr>
                </a:solidFill>
                <a:latin typeface="Times New Roman" panose="02020603050405020304" pitchFamily="18" charset="0"/>
                <a:cs typeface="Times New Roman" panose="02020603050405020304" pitchFamily="18" charset="0"/>
              </a:rPr>
              <a:t>: </a:t>
            </a:r>
            <a:endParaRPr lang="en-US" sz="4699" b="1" dirty="0">
              <a:solidFill>
                <a:srgbClr val="5B9BD5">
                  <a:lumMod val="75000"/>
                </a:srgbClr>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a:off x="38355" y="1827381"/>
            <a:ext cx="9606576" cy="4585028"/>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6">
              <a:solidFill>
                <a:prstClr val="white"/>
              </a:solidFill>
            </a:endParaRPr>
          </a:p>
        </p:txBody>
      </p:sp>
      <p:sp>
        <p:nvSpPr>
          <p:cNvPr id="12" name="Rectangle 11"/>
          <p:cNvSpPr/>
          <p:nvPr/>
        </p:nvSpPr>
        <p:spPr>
          <a:xfrm>
            <a:off x="330067" y="2073280"/>
            <a:ext cx="8957204" cy="411999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88" dirty="0">
                <a:solidFill>
                  <a:prstClr val="white">
                    <a:lumMod val="95000"/>
                  </a:prstClr>
                </a:solidFill>
                <a:latin typeface="Lucida Console" panose="020B0609040504020204" pitchFamily="49" charset="0"/>
                <a:cs typeface="Consolas" panose="020B0609020204030204" pitchFamily="49" charset="0"/>
              </a:rPr>
              <a:t>% python3</a:t>
            </a:r>
          </a:p>
          <a:p>
            <a:r>
              <a:rPr lang="en-US" altLang="zh-TW" sz="2088" dirty="0">
                <a:solidFill>
                  <a:prstClr val="white">
                    <a:lumMod val="95000"/>
                  </a:prstClr>
                </a:solidFill>
                <a:latin typeface="Lucida Console" panose="020B0609040504020204" pitchFamily="49" charset="0"/>
                <a:cs typeface="Consolas" panose="020B0609020204030204" pitchFamily="49" charset="0"/>
              </a:rPr>
              <a:t>Python </a:t>
            </a:r>
            <a:r>
              <a:rPr lang="pt-BR" altLang="zh-TW" sz="2088" dirty="0">
                <a:solidFill>
                  <a:prstClr val="white">
                    <a:lumMod val="95000"/>
                  </a:prstClr>
                </a:solidFill>
                <a:latin typeface="Lucida Console" panose="020B0609040504020204" pitchFamily="49" charset="0"/>
                <a:cs typeface="Consolas" panose="020B0609020204030204" pitchFamily="49" charset="0"/>
              </a:rPr>
              <a:t>3.6.1 (default, Mar 21 2017, 21:49:16)</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[GCC 5.4.0] on </a:t>
            </a:r>
            <a:r>
              <a:rPr lang="en-US" altLang="zh-TW" sz="2088" dirty="0" err="1">
                <a:solidFill>
                  <a:prstClr val="white">
                    <a:lumMod val="95000"/>
                  </a:prstClr>
                </a:solidFill>
                <a:latin typeface="Lucida Console" panose="020B0609040504020204" pitchFamily="49" charset="0"/>
                <a:cs typeface="Consolas" panose="020B0609020204030204" pitchFamily="49" charset="0"/>
              </a:rPr>
              <a:t>cygwin</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Type "help", "copyright", or "license" for more information.</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a:t>
            </a:r>
            <a:r>
              <a:rPr lang="en-US" altLang="zh-TW" sz="2088" dirty="0">
                <a:solidFill>
                  <a:srgbClr val="F2F2F2"/>
                </a:solidFill>
                <a:latin typeface="Lucida Console" panose="020B0609040504020204" pitchFamily="49" charset="0"/>
                <a:cs typeface="Consolas" panose="020B0609020204030204" pitchFamily="49" charset="0"/>
              </a:rPr>
              <a:t>x=1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1</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x</a:t>
            </a:r>
            <a:r>
              <a:rPr lang="en-US" altLang="zh-TW" sz="2088" dirty="0">
                <a:solidFill>
                  <a:srgbClr val="FFC000"/>
                </a:solidFill>
                <a:latin typeface="Lucida Console" panose="020B0609040504020204" pitchFamily="49" charset="0"/>
                <a:cs typeface="Consolas" panose="020B0609020204030204" pitchFamily="49" charset="0"/>
              </a:rPr>
              <a:t>=</a:t>
            </a:r>
            <a:r>
              <a:rPr lang="en-US" altLang="zh-TW" sz="2088" dirty="0">
                <a:solidFill>
                  <a:srgbClr val="FFABE7"/>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 print (x)</a:t>
            </a:r>
          </a:p>
          <a:p>
            <a:r>
              <a:rPr lang="en-US" altLang="zh-TW" sz="2088" dirty="0">
                <a:solidFill>
                  <a:prstClr val="white">
                    <a:lumMod val="95000"/>
                  </a:prstClr>
                </a:solidFill>
                <a:latin typeface="Lucida Console" panose="020B0609040504020204" pitchFamily="49" charset="0"/>
                <a:cs typeface="Consolas" panose="020B0609020204030204" pitchFamily="49" charset="0"/>
              </a:rPr>
              <a:t>Hello </a:t>
            </a:r>
            <a:r>
              <a:rPr lang="en-US" altLang="zh-TW" sz="2088" dirty="0">
                <a:solidFill>
                  <a:prstClr val="black"/>
                </a:solidFill>
                <a:latin typeface="Lucida Console" panose="020B0609040504020204" pitchFamily="49" charset="0"/>
                <a:cs typeface="Consolas" panose="020B0609020204030204" pitchFamily="49" charset="0"/>
              </a:rPr>
              <a:t>x="pineapple</a:t>
            </a:r>
            <a:endParaRPr lang="en-US" altLang="zh-TW" sz="2088" dirty="0">
              <a:solidFill>
                <a:prstClr val="white">
                  <a:lumMod val="95000"/>
                </a:prstClr>
              </a:solidFill>
              <a:latin typeface="Lucida Console" panose="020B0609040504020204" pitchFamily="49" charset="0"/>
              <a:cs typeface="Consolas" panose="020B0609020204030204" pitchFamily="49" charset="0"/>
            </a:endParaRPr>
          </a:p>
          <a:p>
            <a:r>
              <a:rPr lang="en-US" altLang="zh-TW" sz="2088" dirty="0">
                <a:solidFill>
                  <a:prstClr val="white">
                    <a:lumMod val="95000"/>
                  </a:prstClr>
                </a:solidFill>
                <a:latin typeface="Lucida Console" panose="020B0609040504020204" pitchFamily="49" charset="0"/>
                <a:cs typeface="Consolas" panose="020B0609020204030204" pitchFamily="49" charset="0"/>
              </a:rPr>
              <a:t>&gt;&gt;&gt;</a:t>
            </a:r>
            <a:r>
              <a:rPr lang="en-US" altLang="zh-TW" sz="2088" dirty="0">
                <a:solidFill>
                  <a:prstClr val="black"/>
                </a:solidFill>
                <a:latin typeface="Lucida Console" panose="020B0609040504020204" pitchFamily="49" charset="0"/>
                <a:cs typeface="Consolas" panose="020B0609020204030204" pitchFamily="49" charset="0"/>
              </a:rPr>
              <a:t>“</a:t>
            </a:r>
          </a:p>
          <a:p>
            <a:endParaRPr lang="en-US" altLang="zh-TW" sz="2088" dirty="0">
              <a:solidFill>
                <a:prstClr val="black"/>
              </a:solidFill>
              <a:latin typeface="Lucida Console" panose="020B0609040504020204" pitchFamily="49" charset="0"/>
              <a:cs typeface="Consolas" panose="020B0609020204030204" pitchFamily="49" charset="0"/>
            </a:endParaRPr>
          </a:p>
        </p:txBody>
      </p:sp>
      <p:sp>
        <p:nvSpPr>
          <p:cNvPr id="9" name="Rounded Rectangular Callout 8"/>
          <p:cNvSpPr/>
          <p:nvPr/>
        </p:nvSpPr>
        <p:spPr>
          <a:xfrm>
            <a:off x="143933" y="6371501"/>
            <a:ext cx="2233008" cy="434910"/>
          </a:xfrm>
          <a:prstGeom prst="wedgeRoundRectCallout">
            <a:avLst>
              <a:gd name="adj1" fmla="val 3221"/>
              <a:gd name="adj2" fmla="val -39571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When it sees an = </a:t>
            </a:r>
            <a:endParaRPr lang="en-US" sz="2400" spc="-20" dirty="0">
              <a:solidFill>
                <a:srgbClr val="0033CC"/>
              </a:solidFill>
            </a:endParaRPr>
          </a:p>
        </p:txBody>
      </p:sp>
      <p:sp>
        <p:nvSpPr>
          <p:cNvPr id="11" name="Rounded Rectangular Callout 10"/>
          <p:cNvSpPr/>
          <p:nvPr/>
        </p:nvSpPr>
        <p:spPr>
          <a:xfrm>
            <a:off x="2376941" y="6371501"/>
            <a:ext cx="4515058" cy="434910"/>
          </a:xfrm>
          <a:prstGeom prst="wedgeRoundRectCallout">
            <a:avLst>
              <a:gd name="adj1" fmla="val -58017"/>
              <a:gd name="adj2" fmla="val -39322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smtClean="0">
                <a:solidFill>
                  <a:srgbClr val="0033CC"/>
                </a:solidFill>
              </a:rPr>
              <a:t> it looks on the right-hand side (RHS)</a:t>
            </a:r>
            <a:endParaRPr lang="en-US" sz="2400" spc="-20" dirty="0">
              <a:solidFill>
                <a:srgbClr val="0033CC"/>
              </a:solidFill>
            </a:endParaRPr>
          </a:p>
        </p:txBody>
      </p:sp>
      <p:sp>
        <p:nvSpPr>
          <p:cNvPr id="15" name="Rounded Rectangular Callout 14"/>
          <p:cNvSpPr/>
          <p:nvPr/>
        </p:nvSpPr>
        <p:spPr>
          <a:xfrm>
            <a:off x="6891998" y="6371501"/>
            <a:ext cx="2837789" cy="434910"/>
          </a:xfrm>
          <a:prstGeom prst="wedgeRoundRectCallout">
            <a:avLst>
              <a:gd name="adj1" fmla="val -23375"/>
              <a:gd name="adj2" fmla="val 4788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400" spc="-20" dirty="0">
                <a:solidFill>
                  <a:srgbClr val="0033CC"/>
                </a:solidFill>
              </a:rPr>
              <a:t>to infer (</a:t>
            </a:r>
            <a:r>
              <a:rPr lang="zh-TW" altLang="en-US" sz="2000" spc="-20" dirty="0">
                <a:solidFill>
                  <a:srgbClr val="0033CC"/>
                </a:solidFill>
              </a:rPr>
              <a:t>推斷</a:t>
            </a:r>
            <a:r>
              <a:rPr lang="en-US" sz="2400" spc="-20" dirty="0">
                <a:solidFill>
                  <a:srgbClr val="0033CC"/>
                </a:solidFill>
              </a:rPr>
              <a:t>) the </a:t>
            </a:r>
            <a:r>
              <a:rPr lang="en-US" sz="2400" spc="-20" dirty="0" smtClean="0">
                <a:solidFill>
                  <a:srgbClr val="0033CC"/>
                </a:solidFill>
              </a:rPr>
              <a:t>type.</a:t>
            </a:r>
            <a:endParaRPr lang="en-US" sz="2400" spc="-20" dirty="0">
              <a:solidFill>
                <a:srgbClr val="0033CC"/>
              </a:solidFill>
            </a:endParaRPr>
          </a:p>
        </p:txBody>
      </p:sp>
      <p:sp>
        <p:nvSpPr>
          <p:cNvPr id="34" name="Rectangle 33"/>
          <p:cNvSpPr/>
          <p:nvPr/>
        </p:nvSpPr>
        <p:spPr>
          <a:xfrm>
            <a:off x="1643846" y="3521382"/>
            <a:ext cx="1466190"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85000"/>
              </a:lnSpc>
            </a:pPr>
            <a:r>
              <a:rPr lang="en-US" dirty="0" smtClean="0"/>
              <a:t>It’s an</a:t>
            </a:r>
            <a:br>
              <a:rPr lang="en-US" dirty="0" smtClean="0"/>
            </a:br>
            <a:r>
              <a:rPr lang="en-US" sz="2000" b="1" dirty="0" smtClean="0">
                <a:solidFill>
                  <a:srgbClr val="FFC000"/>
                </a:solidFill>
              </a:rPr>
              <a:t>INTEGER</a:t>
            </a:r>
            <a:endParaRPr lang="en-US" sz="2000" b="1" dirty="0">
              <a:solidFill>
                <a:srgbClr val="FFC000"/>
              </a:solidFill>
            </a:endParaRPr>
          </a:p>
        </p:txBody>
      </p:sp>
      <p:sp>
        <p:nvSpPr>
          <p:cNvPr id="32" name="Rectangle 31"/>
          <p:cNvSpPr/>
          <p:nvPr/>
        </p:nvSpPr>
        <p:spPr>
          <a:xfrm>
            <a:off x="7909007" y="5166835"/>
            <a:ext cx="1068661"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dirty="0" smtClean="0"/>
              <a:t>It’s a</a:t>
            </a:r>
            <a:br>
              <a:rPr lang="en-US" dirty="0" smtClean="0"/>
            </a:br>
            <a:r>
              <a:rPr lang="en-US" b="1" dirty="0" smtClean="0">
                <a:solidFill>
                  <a:srgbClr val="FFC000"/>
                </a:solidFill>
              </a:rPr>
              <a:t>STRING</a:t>
            </a:r>
            <a:endParaRPr lang="en-US" b="1" dirty="0">
              <a:solidFill>
                <a:srgbClr val="FFC000"/>
              </a:solidFill>
            </a:endParaRPr>
          </a:p>
        </p:txBody>
      </p:sp>
      <p:sp>
        <p:nvSpPr>
          <p:cNvPr id="33" name="Rectangle 32"/>
          <p:cNvSpPr/>
          <p:nvPr/>
        </p:nvSpPr>
        <p:spPr>
          <a:xfrm>
            <a:off x="2575705" y="4499428"/>
            <a:ext cx="1068661" cy="486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dirty="0" smtClean="0"/>
              <a:t>It’s a</a:t>
            </a:r>
            <a:br>
              <a:rPr lang="en-US" dirty="0" smtClean="0"/>
            </a:br>
            <a:r>
              <a:rPr lang="en-US" b="1" dirty="0" smtClean="0">
                <a:solidFill>
                  <a:srgbClr val="FFC000"/>
                </a:solidFill>
              </a:rPr>
              <a:t>STRING</a:t>
            </a:r>
            <a:endParaRPr lang="en-US" b="1" dirty="0">
              <a:solidFill>
                <a:srgbClr val="FFC000"/>
              </a:solidFill>
            </a:endParaRPr>
          </a:p>
        </p:txBody>
      </p:sp>
    </p:spTree>
    <p:extLst>
      <p:ext uri="{BB962C8B-B14F-4D97-AF65-F5344CB8AC3E}">
        <p14:creationId xmlns:p14="http://schemas.microsoft.com/office/powerpoint/2010/main" val="807170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fill="hold" grpId="1" nodeType="withEffect">
                                  <p:stCondLst>
                                    <p:cond delay="0"/>
                                  </p:stCondLst>
                                  <p:childTnLst>
                                    <p:animMotion origin="layout" path="M 1.74906E-6 1.11111E-6 L -0.54691 -0.09583 " pathEditMode="relative" rAng="0" ptsTypes="AA">
                                      <p:cBhvr>
                                        <p:cTn id="6" dur="1000" fill="hold"/>
                                        <p:tgtEl>
                                          <p:spTgt spid="32"/>
                                        </p:tgtEl>
                                        <p:attrNameLst>
                                          <p:attrName>ppt_x</p:attrName>
                                          <p:attrName>ppt_y</p:attrName>
                                        </p:attrNameLst>
                                      </p:cBhvr>
                                      <p:rCtr x="-27345" y="-4792"/>
                                    </p:animMotion>
                                  </p:childTnLst>
                                </p:cTn>
                              </p:par>
                            </p:childTnLst>
                          </p:cTn>
                        </p:par>
                        <p:par>
                          <p:cTn id="7" fill="hold">
                            <p:stCondLst>
                              <p:cond delay="1000"/>
                            </p:stCondLst>
                            <p:childTnLst>
                              <p:par>
                                <p:cTn id="8" presetID="1" presetClass="exit" presetSubtype="0" fill="hold" grpId="0" nodeType="afterEffect">
                                  <p:stCondLst>
                                    <p:cond delay="0"/>
                                  </p:stCondLst>
                                  <p:childTnLst>
                                    <p:set>
                                      <p:cBhvr>
                                        <p:cTn id="9" dur="1" fill="hold">
                                          <p:stCondLst>
                                            <p:cond delay="0"/>
                                          </p:stCondLst>
                                        </p:cTn>
                                        <p:tgtEl>
                                          <p:spTgt spid="32"/>
                                        </p:tgtEl>
                                        <p:attrNameLst>
                                          <p:attrName>style.visibility</p:attrName>
                                        </p:attrNameLst>
                                      </p:cBhvr>
                                      <p:to>
                                        <p:strVal val="hidden"/>
                                      </p:to>
                                    </p:set>
                                  </p:childTnLst>
                                </p:cTn>
                              </p:par>
                              <p:par>
                                <p:cTn id="10" presetID="1" presetClass="entr" presetSubtype="0"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childTnLst>
                                </p:cTn>
                              </p:par>
                            </p:childTnLst>
                          </p:cTn>
                        </p:par>
                        <p:par>
                          <p:cTn id="12" fill="hold">
                            <p:stCondLst>
                              <p:cond delay="1000"/>
                            </p:stCondLst>
                            <p:childTnLst>
                              <p:par>
                                <p:cTn id="13" presetID="14" presetClass="exit" presetSubtype="10" fill="hold" grpId="0" nodeType="afterEffect">
                                  <p:stCondLst>
                                    <p:cond delay="0"/>
                                  </p:stCondLst>
                                  <p:childTnLst>
                                    <p:animEffect transition="out" filter="randombar(horizontal)">
                                      <p:cBhvr>
                                        <p:cTn id="14" dur="500"/>
                                        <p:tgtEl>
                                          <p:spTgt spid="9"/>
                                        </p:tgtEl>
                                      </p:cBhvr>
                                    </p:animEffect>
                                    <p:set>
                                      <p:cBhvr>
                                        <p:cTn id="15" dur="1" fill="hold">
                                          <p:stCondLst>
                                            <p:cond delay="499"/>
                                          </p:stCondLst>
                                        </p:cTn>
                                        <p:tgtEl>
                                          <p:spTgt spid="9"/>
                                        </p:tgtEl>
                                        <p:attrNameLst>
                                          <p:attrName>style.visibility</p:attrName>
                                        </p:attrNameLst>
                                      </p:cBhvr>
                                      <p:to>
                                        <p:strVal val="hidden"/>
                                      </p:to>
                                    </p:set>
                                  </p:childTnLst>
                                </p:cTn>
                              </p:par>
                              <p:par>
                                <p:cTn id="16" presetID="14" presetClass="exit" presetSubtype="10" fill="hold" grpId="0" nodeType="withEffect">
                                  <p:stCondLst>
                                    <p:cond delay="0"/>
                                  </p:stCondLst>
                                  <p:childTnLst>
                                    <p:animEffect transition="out" filter="randombar(horizontal)">
                                      <p:cBhvr>
                                        <p:cTn id="17" dur="500"/>
                                        <p:tgtEl>
                                          <p:spTgt spid="11"/>
                                        </p:tgtEl>
                                      </p:cBhvr>
                                    </p:animEffect>
                                    <p:set>
                                      <p:cBhvr>
                                        <p:cTn id="18" dur="1" fill="hold">
                                          <p:stCondLst>
                                            <p:cond delay="499"/>
                                          </p:stCondLst>
                                        </p:cTn>
                                        <p:tgtEl>
                                          <p:spTgt spid="11"/>
                                        </p:tgtEl>
                                        <p:attrNameLst>
                                          <p:attrName>style.visibility</p:attrName>
                                        </p:attrNameLst>
                                      </p:cBhvr>
                                      <p:to>
                                        <p:strVal val="hidden"/>
                                      </p:to>
                                    </p:set>
                                  </p:childTnLst>
                                </p:cTn>
                              </p:par>
                              <p:par>
                                <p:cTn id="19" presetID="14" presetClass="exit" presetSubtype="10" fill="hold" grpId="0" nodeType="withEffect">
                                  <p:stCondLst>
                                    <p:cond delay="0"/>
                                  </p:stCondLst>
                                  <p:childTnLst>
                                    <p:animEffect transition="out" filter="randombar(horizontal)">
                                      <p:cBhvr>
                                        <p:cTn id="20" dur="500"/>
                                        <p:tgtEl>
                                          <p:spTgt spid="15"/>
                                        </p:tgtEl>
                                      </p:cBhvr>
                                    </p:animEffect>
                                    <p:set>
                                      <p:cBhvr>
                                        <p:cTn id="21"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5" grpId="0" animBg="1"/>
      <p:bldP spid="32" grpId="0" animBg="1"/>
      <p:bldP spid="32" grpId="1" animBg="1"/>
      <p:bldP spid="3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nvSpPr>
        <p:spPr bwMode="auto">
          <a:xfrm>
            <a:off x="0" y="1325880"/>
            <a:ext cx="9729788" cy="5463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a:lstStyle>
          <a:p>
            <a:r>
              <a:rPr lang="en-US" altLang="en-US" sz="3600" u="sng" spc="50" dirty="0">
                <a:solidFill>
                  <a:srgbClr val="008000"/>
                </a:solidFill>
                <a:latin typeface="Arial Narrow" panose="020B0606020202030204" pitchFamily="34" charset="0"/>
                <a:cs typeface="Times New Roman" panose="02020603050405020304" pitchFamily="18" charset="0"/>
              </a:rPr>
              <a:t>Interpreted languages</a:t>
            </a:r>
            <a:r>
              <a:rPr lang="en-US" altLang="en-US" sz="3600" spc="50" dirty="0">
                <a:solidFill>
                  <a:srgbClr val="008000"/>
                </a:solidFill>
                <a:latin typeface="Arial Narrow" panose="020B0606020202030204" pitchFamily="34" charset="0"/>
                <a:cs typeface="Times New Roman" panose="02020603050405020304" pitchFamily="18" charset="0"/>
              </a:rPr>
              <a:t> </a:t>
            </a:r>
            <a:r>
              <a:rPr lang="en-US" altLang="en-US" sz="3600" spc="50" dirty="0">
                <a:solidFill>
                  <a:schemeClr val="tx1"/>
                </a:solidFill>
                <a:latin typeface="Arial Narrow" panose="020B0606020202030204" pitchFamily="34" charset="0"/>
                <a:cs typeface="Times New Roman" panose="02020603050405020304" pitchFamily="18" charset="0"/>
              </a:rPr>
              <a:t>aren’t </a:t>
            </a:r>
            <a:r>
              <a:rPr lang="en-US" altLang="en-US" sz="3600" spc="50" dirty="0" smtClean="0">
                <a:solidFill>
                  <a:schemeClr val="tx1"/>
                </a:solidFill>
                <a:latin typeface="Arial Narrow" panose="020B0606020202030204" pitchFamily="34" charset="0"/>
                <a:cs typeface="Times New Roman" panose="02020603050405020304" pitchFamily="18" charset="0"/>
              </a:rPr>
              <a:t>precompiled (</a:t>
            </a:r>
            <a:r>
              <a:rPr lang="zh-TW" altLang="en-US" sz="3200" spc="50" dirty="0">
                <a:solidFill>
                  <a:schemeClr val="tx1"/>
                </a:solidFill>
                <a:latin typeface="Arial Narrow" panose="020B0606020202030204" pitchFamily="34" charset="0"/>
                <a:cs typeface="Times New Roman" panose="02020603050405020304" pitchFamily="18" charset="0"/>
              </a:rPr>
              <a:t>直譯語言不需要事前編譯</a:t>
            </a:r>
            <a:r>
              <a:rPr lang="en-US" altLang="en-US" sz="3600" spc="50" dirty="0" smtClean="0">
                <a:solidFill>
                  <a:schemeClr val="tx1"/>
                </a:solidFill>
                <a:latin typeface="Arial Narrow" panose="020B0606020202030204" pitchFamily="34" charset="0"/>
                <a:cs typeface="Times New Roman" panose="02020603050405020304" pitchFamily="18" charset="0"/>
              </a:rPr>
              <a:t>). </a:t>
            </a:r>
            <a:endParaRPr lang="en-US" altLang="en-US" sz="3600" spc="50" dirty="0">
              <a:solidFill>
                <a:schemeClr val="tx1"/>
              </a:solidFill>
              <a:latin typeface="Arial Narrow" panose="020B0606020202030204" pitchFamily="34" charset="0"/>
              <a:cs typeface="Times New Roman" panose="02020603050405020304" pitchFamily="18" charset="0"/>
            </a:endParaRPr>
          </a:p>
          <a:p>
            <a:pPr marL="685800" lvl="1" indent="-338138">
              <a:spcBef>
                <a:spcPts val="0"/>
              </a:spcBef>
            </a:pPr>
            <a:r>
              <a:rPr lang="en-US" altLang="en-US" sz="3200" spc="50" dirty="0">
                <a:solidFill>
                  <a:srgbClr val="FF0000"/>
                </a:solidFill>
                <a:latin typeface="Arial Narrow" panose="020B0606020202030204" pitchFamily="34" charset="0"/>
                <a:cs typeface="Times New Roman" panose="02020603050405020304" pitchFamily="18" charset="0"/>
              </a:rPr>
              <a:t>Instead, each line is compiled when it is </a:t>
            </a:r>
            <a:r>
              <a:rPr lang="en-US" altLang="en-US" sz="3200" spc="50" dirty="0" smtClean="0">
                <a:solidFill>
                  <a:srgbClr val="FF0000"/>
                </a:solidFill>
                <a:latin typeface="Arial Narrow" panose="020B0606020202030204" pitchFamily="34" charset="0"/>
                <a:cs typeface="Times New Roman" panose="02020603050405020304" pitchFamily="18" charset="0"/>
              </a:rPr>
              <a:t>reached.</a:t>
            </a:r>
            <a:endParaRPr lang="en-US" altLang="en-US" sz="3200" spc="50" dirty="0">
              <a:solidFill>
                <a:srgbClr val="FF0000"/>
              </a:solidFill>
              <a:latin typeface="Arial Narrow" panose="020B0606020202030204" pitchFamily="34" charset="0"/>
              <a:cs typeface="Times New Roman" panose="02020603050405020304" pitchFamily="18" charset="0"/>
            </a:endParaRPr>
          </a:p>
          <a:p>
            <a:pPr marL="966788" lvl="2" indent="-276225">
              <a:lnSpc>
                <a:spcPct val="80000"/>
              </a:lnSpc>
            </a:pPr>
            <a:r>
              <a:rPr lang="en-US" altLang="en-US" sz="2900" spc="50" dirty="0" smtClean="0">
                <a:solidFill>
                  <a:schemeClr val="tx1">
                    <a:lumMod val="75000"/>
                    <a:lumOff val="25000"/>
                  </a:schemeClr>
                </a:solidFill>
                <a:latin typeface="Arial Narrow" panose="020B0606020202030204" pitchFamily="34" charset="0"/>
                <a:cs typeface="Times New Roman" panose="02020603050405020304" pitchFamily="18" charset="0"/>
              </a:rPr>
              <a:t>But just-in-time (JIT) compilation or </a:t>
            </a:r>
            <a:r>
              <a:rPr lang="en-US" altLang="en-US" sz="2900" spc="50" dirty="0" err="1" smtClean="0">
                <a:solidFill>
                  <a:schemeClr val="tx1">
                    <a:lumMod val="75000"/>
                    <a:lumOff val="25000"/>
                  </a:schemeClr>
                </a:solidFill>
                <a:latin typeface="Arial Narrow" panose="020B0606020202030204" pitchFamily="34" charset="0"/>
                <a:cs typeface="Times New Roman" panose="02020603050405020304" pitchFamily="18" charset="0"/>
              </a:rPr>
              <a:t>precompilation</a:t>
            </a:r>
            <a:r>
              <a:rPr lang="en-US" altLang="en-US" sz="2900" spc="50" dirty="0" smtClean="0">
                <a:solidFill>
                  <a:schemeClr val="tx1">
                    <a:lumMod val="75000"/>
                    <a:lumOff val="25000"/>
                  </a:schemeClr>
                </a:solidFill>
                <a:latin typeface="Arial Narrow" panose="020B0606020202030204" pitchFamily="34" charset="0"/>
                <a:cs typeface="Times New Roman" panose="02020603050405020304" pitchFamily="18" charset="0"/>
              </a:rPr>
              <a:t> can be used to reduce overhead delays.</a:t>
            </a:r>
            <a:endParaRPr lang="en-US" altLang="en-US" sz="2900" spc="50" dirty="0">
              <a:solidFill>
                <a:schemeClr val="tx1">
                  <a:lumMod val="75000"/>
                  <a:lumOff val="25000"/>
                </a:schemeClr>
              </a:solidFill>
              <a:latin typeface="Arial Narrow" panose="020B0606020202030204" pitchFamily="34" charset="0"/>
              <a:cs typeface="Times New Roman" panose="02020603050405020304" pitchFamily="18" charset="0"/>
            </a:endParaRPr>
          </a:p>
          <a:p>
            <a:pPr>
              <a:spcBef>
                <a:spcPts val="1800"/>
              </a:spcBef>
            </a:pPr>
            <a:r>
              <a:rPr lang="en-US" altLang="en-US" sz="3600" spc="50" dirty="0">
                <a:solidFill>
                  <a:schemeClr val="tx1"/>
                </a:solidFill>
                <a:latin typeface="Arial Narrow" panose="020B0606020202030204" pitchFamily="34" charset="0"/>
                <a:cs typeface="Times New Roman" panose="02020603050405020304" pitchFamily="18" charset="0"/>
              </a:rPr>
              <a:t>Python can be run interactively </a:t>
            </a:r>
            <a:r>
              <a:rPr lang="en-US" altLang="en-US" sz="3600" b="1" i="1" spc="50" dirty="0">
                <a:solidFill>
                  <a:schemeClr val="tx1"/>
                </a:solidFill>
                <a:latin typeface="Arial Narrow" panose="020B0606020202030204" pitchFamily="34" charset="0"/>
                <a:cs typeface="Times New Roman" panose="02020603050405020304" pitchFamily="18" charset="0"/>
              </a:rPr>
              <a:t>or</a:t>
            </a:r>
            <a:r>
              <a:rPr lang="en-US" altLang="en-US" sz="3600" spc="50" dirty="0">
                <a:solidFill>
                  <a:schemeClr val="tx1"/>
                </a:solidFill>
                <a:latin typeface="Arial Narrow" panose="020B0606020202030204" pitchFamily="34" charset="0"/>
                <a:cs typeface="Times New Roman" panose="02020603050405020304" pitchFamily="18" charset="0"/>
              </a:rPr>
              <a:t> in script mode.</a:t>
            </a:r>
          </a:p>
          <a:p>
            <a:pPr marL="685800" lvl="1" indent="-338138">
              <a:spcBef>
                <a:spcPts val="0"/>
              </a:spcBef>
            </a:pPr>
            <a:r>
              <a:rPr lang="en-US" altLang="en-US" sz="3200" u="sng" dirty="0">
                <a:solidFill>
                  <a:srgbClr val="008000"/>
                </a:solidFill>
                <a:latin typeface="Arial Narrow" panose="020B0606020202030204" pitchFamily="34" charset="0"/>
                <a:cs typeface="Times New Roman" panose="02020603050405020304" pitchFamily="18" charset="0"/>
              </a:rPr>
              <a:t>Interactive mode</a:t>
            </a:r>
            <a:r>
              <a:rPr lang="en-US" altLang="en-US" sz="3200" dirty="0">
                <a:solidFill>
                  <a:srgbClr val="008000"/>
                </a:solidFill>
                <a:latin typeface="Arial Narrow" panose="020B0606020202030204" pitchFamily="34" charset="0"/>
                <a:cs typeface="Times New Roman" panose="02020603050405020304" pitchFamily="18" charset="0"/>
              </a:rPr>
              <a:t> </a:t>
            </a:r>
            <a:r>
              <a:rPr lang="en-US" altLang="en-US" sz="3200" dirty="0" smtClean="0">
                <a:solidFill>
                  <a:srgbClr val="008000"/>
                </a:solidFill>
                <a:latin typeface="Arial Narrow" panose="020B0606020202030204" pitchFamily="34" charset="0"/>
                <a:cs typeface="Times New Roman" panose="02020603050405020304" pitchFamily="18" charset="0"/>
              </a:rPr>
              <a:t>(</a:t>
            </a:r>
            <a:r>
              <a:rPr lang="zh-TW" altLang="en-US" sz="2800" dirty="0">
                <a:solidFill>
                  <a:srgbClr val="008000"/>
                </a:solidFill>
                <a:latin typeface="Arial Narrow" panose="020B0606020202030204" pitchFamily="34" charset="0"/>
                <a:cs typeface="Times New Roman" panose="02020603050405020304" pitchFamily="18" charset="0"/>
              </a:rPr>
              <a:t>互動模式</a:t>
            </a:r>
            <a:r>
              <a:rPr lang="en-US" altLang="en-US" sz="3200" dirty="0" smtClean="0">
                <a:solidFill>
                  <a:srgbClr val="008000"/>
                </a:solidFill>
                <a:latin typeface="Arial Narrow" panose="020B0606020202030204" pitchFamily="34" charset="0"/>
                <a:cs typeface="Times New Roman" panose="02020603050405020304" pitchFamily="18" charset="0"/>
              </a:rPr>
              <a:t>):</a:t>
            </a:r>
            <a:r>
              <a:rPr lang="en-US" altLang="en-US" sz="3200" dirty="0" smtClean="0">
                <a:solidFill>
                  <a:srgbClr val="FF0000"/>
                </a:solidFill>
                <a:latin typeface="Arial Narrow" panose="020B0606020202030204" pitchFamily="34" charset="0"/>
                <a:cs typeface="Times New Roman" panose="02020603050405020304" pitchFamily="18" charset="0"/>
              </a:rPr>
              <a:t> </a:t>
            </a:r>
            <a:r>
              <a:rPr lang="en-US" altLang="en-US" sz="3200" spc="30" dirty="0">
                <a:solidFill>
                  <a:srgbClr val="FF0000"/>
                </a:solidFill>
                <a:latin typeface="Arial Narrow" panose="020B0606020202030204" pitchFamily="34" charset="0"/>
                <a:cs typeface="Times New Roman" panose="02020603050405020304" pitchFamily="18" charset="0"/>
              </a:rPr>
              <a:t>type commands as they run</a:t>
            </a:r>
            <a:r>
              <a:rPr lang="en-US" altLang="en-US" sz="3200" dirty="0">
                <a:solidFill>
                  <a:srgbClr val="FF0000"/>
                </a:solidFill>
                <a:latin typeface="Arial Narrow" panose="020B0606020202030204" pitchFamily="34" charset="0"/>
                <a:cs typeface="Times New Roman" panose="02020603050405020304" pitchFamily="18" charset="0"/>
              </a:rPr>
              <a:t>.</a:t>
            </a:r>
          </a:p>
          <a:p>
            <a:pPr marL="1033463" lvl="2" indent="-287338">
              <a:spcBef>
                <a:spcPts val="0"/>
              </a:spcBef>
            </a:pP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It</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is</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a</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good</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way</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to</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test</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things</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out,</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especially</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when</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learning</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the</a:t>
            </a:r>
            <a:r>
              <a:rPr lang="en-US" altLang="en-US" sz="2800" spc="100" dirty="0">
                <a:solidFill>
                  <a:schemeClr val="tx1">
                    <a:lumMod val="75000"/>
                    <a:lumOff val="25000"/>
                  </a:schemeClr>
                </a:solidFill>
                <a:latin typeface="Arial Narrow" panose="020B0606020202030204" pitchFamily="34" charset="0"/>
                <a:cs typeface="Times New Roman" panose="02020603050405020304" pitchFamily="18" charset="0"/>
              </a:rPr>
              <a:t> </a:t>
            </a:r>
            <a:r>
              <a:rPr lang="en-US" altLang="en-US" sz="3200" spc="100" dirty="0">
                <a:solidFill>
                  <a:schemeClr val="tx1">
                    <a:lumMod val="75000"/>
                    <a:lumOff val="25000"/>
                  </a:schemeClr>
                </a:solidFill>
                <a:latin typeface="Arial Narrow" panose="020B0606020202030204" pitchFamily="34" charset="0"/>
                <a:cs typeface="Times New Roman" panose="02020603050405020304" pitchFamily="18" charset="0"/>
              </a:rPr>
              <a:t>language</a:t>
            </a:r>
            <a:r>
              <a:rPr lang="en-US" altLang="en-US" sz="3200" spc="50" dirty="0">
                <a:solidFill>
                  <a:schemeClr val="tx1">
                    <a:lumMod val="75000"/>
                    <a:lumOff val="25000"/>
                  </a:schemeClr>
                </a:solidFill>
                <a:latin typeface="Arial Narrow" panose="020B0606020202030204" pitchFamily="34" charset="0"/>
                <a:cs typeface="Times New Roman" panose="02020603050405020304" pitchFamily="18" charset="0"/>
              </a:rPr>
              <a:t>.</a:t>
            </a:r>
          </a:p>
          <a:p>
            <a:pPr marL="685800" lvl="1" indent="-338138"/>
            <a:r>
              <a:rPr lang="en-US" altLang="en-US" sz="3200" u="sng" dirty="0">
                <a:solidFill>
                  <a:srgbClr val="008000"/>
                </a:solidFill>
                <a:latin typeface="Arial Narrow" panose="020B0606020202030204" pitchFamily="34" charset="0"/>
                <a:cs typeface="Times New Roman" panose="02020603050405020304" pitchFamily="18" charset="0"/>
              </a:rPr>
              <a:t>Script </a:t>
            </a:r>
            <a:r>
              <a:rPr lang="en-US" altLang="en-US" sz="3200" u="sng" dirty="0" smtClean="0">
                <a:solidFill>
                  <a:srgbClr val="008000"/>
                </a:solidFill>
                <a:latin typeface="Arial Narrow" panose="020B0606020202030204" pitchFamily="34" charset="0"/>
                <a:cs typeface="Times New Roman" panose="02020603050405020304" pitchFamily="18" charset="0"/>
              </a:rPr>
              <a:t>mode (</a:t>
            </a:r>
            <a:r>
              <a:rPr lang="zh-TW" altLang="en-US" sz="2800" u="sng" dirty="0">
                <a:solidFill>
                  <a:srgbClr val="008000"/>
                </a:solidFill>
                <a:latin typeface="Arial Narrow" panose="020B0606020202030204" pitchFamily="34" charset="0"/>
                <a:cs typeface="Times New Roman" panose="02020603050405020304" pitchFamily="18" charset="0"/>
              </a:rPr>
              <a:t>腳本模式</a:t>
            </a:r>
            <a:r>
              <a:rPr lang="en-US" altLang="en-US" sz="3200" u="sng" dirty="0" smtClean="0">
                <a:solidFill>
                  <a:srgbClr val="008000"/>
                </a:solidFill>
                <a:latin typeface="Arial Narrow" panose="020B0606020202030204" pitchFamily="34" charset="0"/>
                <a:cs typeface="Times New Roman" panose="02020603050405020304" pitchFamily="18" charset="0"/>
              </a:rPr>
              <a:t>)</a:t>
            </a:r>
            <a:r>
              <a:rPr lang="en-US" altLang="en-US" sz="3200" dirty="0" smtClean="0">
                <a:solidFill>
                  <a:srgbClr val="008000"/>
                </a:solidFill>
                <a:latin typeface="Arial Narrow" panose="020B0606020202030204" pitchFamily="34" charset="0"/>
                <a:cs typeface="Times New Roman" panose="02020603050405020304" pitchFamily="18" charset="0"/>
              </a:rPr>
              <a:t>: </a:t>
            </a:r>
            <a:r>
              <a:rPr lang="en-US" altLang="en-US" sz="3200" spc="30" dirty="0" smtClean="0">
                <a:solidFill>
                  <a:srgbClr val="FF0000"/>
                </a:solidFill>
                <a:latin typeface="Arial Narrow" panose="020B0606020202030204" pitchFamily="34" charset="0"/>
                <a:cs typeface="Times New Roman" panose="02020603050405020304" pitchFamily="18" charset="0"/>
              </a:rPr>
              <a:t>pass in the commands </a:t>
            </a:r>
            <a:r>
              <a:rPr lang="en-US" altLang="en-US" sz="3200" spc="30" dirty="0">
                <a:solidFill>
                  <a:srgbClr val="FF0000"/>
                </a:solidFill>
                <a:latin typeface="Arial Narrow" panose="020B0606020202030204" pitchFamily="34" charset="0"/>
                <a:cs typeface="Times New Roman" panose="02020603050405020304" pitchFamily="18" charset="0"/>
              </a:rPr>
              <a:t>from a file</a:t>
            </a:r>
            <a:r>
              <a:rPr lang="en-US" altLang="en-US" sz="3200" dirty="0">
                <a:solidFill>
                  <a:srgbClr val="FF0000"/>
                </a:solidFill>
                <a:latin typeface="Arial Narrow" panose="020B0606020202030204" pitchFamily="34" charset="0"/>
                <a:cs typeface="Times New Roman" panose="02020603050405020304" pitchFamily="18" charset="0"/>
              </a:rPr>
              <a:t>.</a:t>
            </a:r>
          </a:p>
        </p:txBody>
      </p:sp>
      <p:sp>
        <p:nvSpPr>
          <p:cNvPr id="6" name="Title 1"/>
          <p:cNvSpPr txBox="1">
            <a:spLocks/>
          </p:cNvSpPr>
          <p:nvPr/>
        </p:nvSpPr>
        <p:spPr>
          <a:xfrm>
            <a:off x="0" y="64740"/>
            <a:ext cx="9729788"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000" b="1" dirty="0">
                <a:solidFill>
                  <a:schemeClr val="accent1">
                    <a:lumMod val="75000"/>
                  </a:schemeClr>
                </a:solidFill>
                <a:latin typeface="Times New Roman" panose="02020603050405020304" pitchFamily="18" charset="0"/>
                <a:cs typeface="Times New Roman" panose="02020603050405020304" pitchFamily="18" charset="0"/>
              </a:rPr>
              <a:t>Python is an </a:t>
            </a:r>
            <a:r>
              <a:rPr lang="en-US" sz="5000" b="1" i="1" spc="200" dirty="0">
                <a:solidFill>
                  <a:schemeClr val="accent1">
                    <a:lumMod val="75000"/>
                  </a:schemeClr>
                </a:solidFill>
                <a:latin typeface="Times New Roman" panose="02020603050405020304" pitchFamily="18" charset="0"/>
                <a:cs typeface="Times New Roman" panose="02020603050405020304" pitchFamily="18" charset="0"/>
              </a:rPr>
              <a:t>interpreted</a:t>
            </a:r>
            <a:r>
              <a:rPr lang="en-US" sz="5000" b="1" dirty="0">
                <a:solidFill>
                  <a:schemeClr val="accent1">
                    <a:lumMod val="75000"/>
                  </a:schemeClr>
                </a:solidFill>
                <a:latin typeface="Times New Roman" panose="02020603050405020304" pitchFamily="18" charset="0"/>
                <a:cs typeface="Times New Roman" panose="02020603050405020304" pitchFamily="18" charset="0"/>
              </a:rPr>
              <a:t> language</a:t>
            </a:r>
          </a:p>
        </p:txBody>
      </p:sp>
    </p:spTree>
    <p:extLst>
      <p:ext uri="{BB962C8B-B14F-4D97-AF65-F5344CB8AC3E}">
        <p14:creationId xmlns:p14="http://schemas.microsoft.com/office/powerpoint/2010/main" val="3680772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subTnLst>
                                    <p:animClr clrSpc="rgb" dir="cw">
                                      <p:cBhvr override="childStyle">
                                        <p:cTn dur="1" fill="hold" display="0" masterRel="nextClick" afterEffect="1"/>
                                        <p:tgtEl>
                                          <p:spTgt spid="5">
                                            <p:txEl>
                                              <p:pRg st="1" end="1"/>
                                            </p:txEl>
                                          </p:spTgt>
                                        </p:tgtEl>
                                        <p:attrNameLst>
                                          <p:attrName>ppt_c</p:attrName>
                                        </p:attrNameLst>
                                      </p:cBhvr>
                                      <p:to>
                                        <a:srgbClr val="808080"/>
                                      </p:to>
                                    </p:animClr>
                                  </p:subTnLst>
                                </p:cTn>
                              </p:par>
                              <p:par>
                                <p:cTn id="13" presetID="14" presetClass="entr" presetSubtype="1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5"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0" dur="500"/>
                                        <p:tgtEl>
                                          <p:spTgt spid="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5" dur="500"/>
                                        <p:tgtEl>
                                          <p:spTgt spid="5">
                                            <p:txEl>
                                              <p:pRg st="4" end="4"/>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8" dur="500"/>
                                        <p:tgtEl>
                                          <p:spTgt spid="5">
                                            <p:txEl>
                                              <p:pRg st="5" end="5"/>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randombar(horizontal)">
                                      <p:cBhvr>
                                        <p:cTn id="31"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1" y="1588169"/>
            <a:ext cx="9729437"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1"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python</a:t>
            </a:r>
          </a:p>
          <a:p>
            <a:r>
              <a:rPr lang="en-US" sz="2200" dirty="0">
                <a:solidFill>
                  <a:schemeClr val="tx1"/>
                </a:solidFill>
                <a:latin typeface="Lucida Console" panose="020B0609040504020204" pitchFamily="49" charset="0"/>
                <a:cs typeface="Consolas" panose="020B0609020204030204" pitchFamily="49" charset="0"/>
              </a:rPr>
              <a:t>Python 2.7.10 (default, Jun  1 2015, 18:05:38)</a:t>
            </a:r>
          </a:p>
          <a:p>
            <a:r>
              <a:rPr lang="en-US" sz="2200" dirty="0">
                <a:solidFill>
                  <a:schemeClr val="tx1"/>
                </a:solidFill>
                <a:latin typeface="Lucida Console" panose="020B0609040504020204" pitchFamily="49" charset="0"/>
                <a:cs typeface="Consolas" panose="020B0609020204030204" pitchFamily="49" charset="0"/>
              </a:rPr>
              <a:t>[GCC 4.9.2] on </a:t>
            </a:r>
          </a:p>
          <a:p>
            <a:r>
              <a:rPr lang="en-US" sz="2200" dirty="0">
                <a:solidFill>
                  <a:schemeClr val="tx1"/>
                </a:solidFill>
                <a:latin typeface="Lucida Console" panose="020B0609040504020204" pitchFamily="49" charset="0"/>
                <a:cs typeface="Consolas" panose="020B0609020204030204" pitchFamily="49" charset="0"/>
              </a:rPr>
              <a:t>Type "help", "copyright", or "license" for more information.</a:t>
            </a:r>
          </a:p>
          <a:p>
            <a:r>
              <a:rPr lang="en-US" sz="2200" dirty="0">
                <a:solidFill>
                  <a:schemeClr val="tx1"/>
                </a:solidFill>
                <a:latin typeface="Lucida Console" panose="020B0609040504020204" pitchFamily="49" charset="0"/>
                <a:cs typeface="Consolas" panose="020B0609020204030204" pitchFamily="49" charset="0"/>
              </a:rPr>
              <a:t>&gt;&gt;&gt; x=5</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5 6</a:t>
            </a:r>
          </a:p>
          <a:p>
            <a:r>
              <a:rPr lang="en-US" sz="2200" dirty="0">
                <a:solidFill>
                  <a:schemeClr val="tx1"/>
                </a:solidFill>
                <a:latin typeface="Lucida Console" panose="020B0609040504020204" pitchFamily="49" charset="0"/>
                <a:cs typeface="Consolas" panose="020B0609020204030204" pitchFamily="49" charset="0"/>
              </a:rPr>
              <a:t>&gt;&gt;&gt; x="pineapple"</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"&lt;&gt;", </a:t>
            </a:r>
            <a:r>
              <a:rPr lang="en-US" sz="2200" dirty="0">
                <a:solidFill>
                  <a:schemeClr val="tx1"/>
                </a:solidFill>
                <a:latin typeface="Lucida Console" panose="020B0609040504020204" pitchFamily="49" charset="0"/>
                <a:cs typeface="Consolas" panose="020B0609020204030204" pitchFamily="49" charset="0"/>
              </a:rPr>
              <a:t>line 1, in &lt;module&gt;</a:t>
            </a: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and 'int' </a:t>
            </a:r>
            <a:r>
              <a:rPr lang="en-US" sz="2200" dirty="0" smtClean="0">
                <a:solidFill>
                  <a:schemeClr val="tx1"/>
                </a:solidFill>
                <a:latin typeface="Lucida Console" panose="020B0609040504020204" pitchFamily="49" charset="0"/>
                <a:cs typeface="Consolas" panose="020B0609020204030204" pitchFamily="49" charset="0"/>
              </a:rPr>
              <a:t>objects</a:t>
            </a:r>
            <a:endParaRPr lang="en-US" sz="2200" dirty="0">
              <a:solidFill>
                <a:schemeClr val="tx1"/>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697927" y="1881877"/>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ounded Rectangular Callout 10"/>
          <p:cNvSpPr/>
          <p:nvPr/>
        </p:nvSpPr>
        <p:spPr>
          <a:xfrm>
            <a:off x="2138433" y="2608610"/>
            <a:ext cx="5446955" cy="2152236"/>
          </a:xfrm>
          <a:prstGeom prst="wedgeRoundRectCallout">
            <a:avLst>
              <a:gd name="adj1" fmla="val -75181"/>
              <a:gd name="adj2" fmla="val -7252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Here, </a:t>
            </a:r>
            <a:r>
              <a:rPr lang="en-US" sz="2800" dirty="0" smtClean="0">
                <a:solidFill>
                  <a:srgbClr val="0033CC"/>
                </a:solidFill>
              </a:rPr>
              <a:t>we imagine a </a:t>
            </a:r>
            <a:r>
              <a:rPr lang="en-US" sz="2800" dirty="0">
                <a:solidFill>
                  <a:srgbClr val="0033CC"/>
                </a:solidFill>
              </a:rPr>
              <a:t>UNIX terminal </a:t>
            </a:r>
            <a:r>
              <a:rPr lang="en-US" sz="2800" dirty="0" smtClean="0">
                <a:solidFill>
                  <a:srgbClr val="0033CC"/>
                </a:solidFill>
              </a:rPr>
              <a:t>with a </a:t>
            </a:r>
            <a:r>
              <a:rPr lang="en-US" sz="2800" dirty="0">
                <a:solidFill>
                  <a:srgbClr val="0033CC"/>
                </a:solidFill>
              </a:rPr>
              <a:t>“%” </a:t>
            </a:r>
            <a:r>
              <a:rPr lang="en-US" sz="2800" dirty="0" smtClean="0">
                <a:solidFill>
                  <a:srgbClr val="0033CC"/>
                </a:solidFill>
              </a:rPr>
              <a:t>for the prompt </a:t>
            </a:r>
            <a:r>
              <a:rPr lang="en-US" sz="2800" dirty="0">
                <a:solidFill>
                  <a:srgbClr val="0033CC"/>
                </a:solidFill>
              </a:rPr>
              <a:t>symbol. </a:t>
            </a:r>
            <a:br>
              <a:rPr lang="en-US" sz="2800" dirty="0">
                <a:solidFill>
                  <a:srgbClr val="0033CC"/>
                </a:solidFill>
              </a:rPr>
            </a:br>
            <a:r>
              <a:rPr lang="en-US" sz="2800" dirty="0">
                <a:solidFill>
                  <a:srgbClr val="0033CC"/>
                </a:solidFill>
              </a:rPr>
              <a:t>The blinking cursor indicates that it is waiting for </a:t>
            </a:r>
            <a:r>
              <a:rPr lang="en-US" sz="2800" dirty="0" smtClean="0">
                <a:solidFill>
                  <a:srgbClr val="0033CC"/>
                </a:solidFill>
              </a:rPr>
              <a:t>a </a:t>
            </a:r>
            <a:r>
              <a:rPr lang="en-US" sz="2800" dirty="0">
                <a:solidFill>
                  <a:srgbClr val="0033CC"/>
                </a:solidFill>
              </a:rPr>
              <a:t>UNIX command.</a:t>
            </a:r>
          </a:p>
        </p:txBody>
      </p:sp>
    </p:spTree>
    <p:extLst>
      <p:ext uri="{BB962C8B-B14F-4D97-AF65-F5344CB8AC3E}">
        <p14:creationId xmlns:p14="http://schemas.microsoft.com/office/powerpoint/2010/main" val="308619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randombar(horizontal)">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11"/>
                                        </p:tgtEl>
                                      </p:cBhvr>
                                    </p:animEffect>
                                    <p:set>
                                      <p:cBhvr>
                                        <p:cTn id="16"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48" y="1588169"/>
            <a:ext cx="9729440"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28"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python3</a:t>
            </a:r>
          </a:p>
          <a:p>
            <a:r>
              <a:rPr lang="en-US" sz="2200" dirty="0">
                <a:solidFill>
                  <a:schemeClr val="tx1"/>
                </a:solidFill>
                <a:latin typeface="Lucida Console" panose="020B0609040504020204" pitchFamily="49" charset="0"/>
                <a:cs typeface="Consolas" panose="020B0609020204030204" pitchFamily="49" charset="0"/>
              </a:rPr>
              <a:t>Python 2.7.10 (default, Jun  1 2015, 18:05:38)</a:t>
            </a:r>
          </a:p>
          <a:p>
            <a:r>
              <a:rPr lang="en-US" sz="2200" dirty="0">
                <a:solidFill>
                  <a:schemeClr val="tx1"/>
                </a:solidFill>
                <a:latin typeface="Lucida Console" panose="020B0609040504020204" pitchFamily="49" charset="0"/>
                <a:cs typeface="Consolas" panose="020B0609020204030204" pitchFamily="49" charset="0"/>
              </a:rPr>
              <a:t>[GCC 4.9.2] on </a:t>
            </a:r>
          </a:p>
          <a:p>
            <a:r>
              <a:rPr lang="en-US" sz="2200" dirty="0">
                <a:solidFill>
                  <a:schemeClr val="tx1"/>
                </a:solidFill>
                <a:latin typeface="Lucida Console" panose="020B0609040504020204" pitchFamily="49" charset="0"/>
                <a:cs typeface="Consolas" panose="020B0609020204030204" pitchFamily="49" charset="0"/>
              </a:rPr>
              <a:t>Type "help", "copyright", or "license" for more information.</a:t>
            </a:r>
          </a:p>
          <a:p>
            <a:r>
              <a:rPr lang="en-US" sz="2200" dirty="0">
                <a:solidFill>
                  <a:schemeClr val="tx1"/>
                </a:solidFill>
                <a:latin typeface="Lucida Console" panose="020B0609040504020204" pitchFamily="49" charset="0"/>
                <a:cs typeface="Consolas" panose="020B0609020204030204" pitchFamily="49" charset="0"/>
              </a:rPr>
              <a:t>&gt;&gt;&gt; x=5</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5 6</a:t>
            </a:r>
          </a:p>
          <a:p>
            <a:r>
              <a:rPr lang="en-US" sz="2200" dirty="0">
                <a:solidFill>
                  <a:schemeClr val="tx1"/>
                </a:solidFill>
                <a:latin typeface="Lucida Console" panose="020B0609040504020204" pitchFamily="49" charset="0"/>
                <a:cs typeface="Consolas" panose="020B0609020204030204" pitchFamily="49" charset="0"/>
              </a:rPr>
              <a:t>&gt;&gt;&gt; x="pineapple"</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"&lt;&gt;", </a:t>
            </a:r>
            <a:r>
              <a:rPr lang="en-US" sz="2200" dirty="0">
                <a:solidFill>
                  <a:schemeClr val="tx1"/>
                </a:solidFill>
                <a:latin typeface="Lucida Console" panose="020B0609040504020204" pitchFamily="49" charset="0"/>
                <a:cs typeface="Consolas" panose="020B0609020204030204" pitchFamily="49" charset="0"/>
              </a:rPr>
              <a:t>line 1, in &lt;module&gt;</a:t>
            </a: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and 'int' </a:t>
            </a:r>
            <a:r>
              <a:rPr lang="en-US" sz="2200" dirty="0" smtClean="0">
                <a:solidFill>
                  <a:schemeClr val="tx1"/>
                </a:solidFill>
                <a:latin typeface="Lucida Console" panose="020B0609040504020204" pitchFamily="49" charset="0"/>
                <a:cs typeface="Consolas" panose="020B0609020204030204" pitchFamily="49" charset="0"/>
              </a:rPr>
              <a:t>objects</a:t>
            </a:r>
            <a:endParaRPr lang="en-US" sz="2200" dirty="0">
              <a:solidFill>
                <a:schemeClr val="tx1"/>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1974852" y="1892510"/>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ounded Rectangular Callout 8"/>
          <p:cNvSpPr/>
          <p:nvPr/>
        </p:nvSpPr>
        <p:spPr>
          <a:xfrm>
            <a:off x="2869064" y="1873581"/>
            <a:ext cx="6675483" cy="704734"/>
          </a:xfrm>
          <a:prstGeom prst="wedgeRoundRectCallout">
            <a:avLst>
              <a:gd name="adj1" fmla="val -61861"/>
              <a:gd name="adj2" fmla="val -24341"/>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sz="2800" dirty="0">
                <a:solidFill>
                  <a:srgbClr val="0033CC"/>
                </a:solidFill>
              </a:rPr>
              <a:t>This is how </a:t>
            </a:r>
            <a:r>
              <a:rPr lang="en-US" sz="2800" b="1" i="1" dirty="0">
                <a:solidFill>
                  <a:srgbClr val="FF0000"/>
                </a:solidFill>
              </a:rPr>
              <a:t>I</a:t>
            </a:r>
            <a:r>
              <a:rPr lang="en-US" sz="2800" b="1" i="1" dirty="0">
                <a:solidFill>
                  <a:srgbClr val="0033CC"/>
                </a:solidFill>
              </a:rPr>
              <a:t> </a:t>
            </a:r>
            <a:r>
              <a:rPr lang="en-US" sz="2800" dirty="0">
                <a:solidFill>
                  <a:srgbClr val="0033CC"/>
                </a:solidFill>
              </a:rPr>
              <a:t>run Python, from within UNIX.</a:t>
            </a:r>
          </a:p>
        </p:txBody>
      </p:sp>
      <p:sp>
        <p:nvSpPr>
          <p:cNvPr id="11" name="Rounded Rectangular Callout 10"/>
          <p:cNvSpPr/>
          <p:nvPr/>
        </p:nvSpPr>
        <p:spPr>
          <a:xfrm>
            <a:off x="2869063" y="2949780"/>
            <a:ext cx="6675483" cy="704734"/>
          </a:xfrm>
          <a:prstGeom prst="wedgeRoundRectCallout">
            <a:avLst>
              <a:gd name="adj1" fmla="val -21281"/>
              <a:gd name="adj2" fmla="val -132027"/>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sz="2800" dirty="0">
                <a:solidFill>
                  <a:srgbClr val="0033CC"/>
                </a:solidFill>
              </a:rPr>
              <a:t>Q: But how will </a:t>
            </a:r>
            <a:r>
              <a:rPr lang="en-US" sz="2800" b="1" i="1" dirty="0">
                <a:solidFill>
                  <a:srgbClr val="FF0000"/>
                </a:solidFill>
              </a:rPr>
              <a:t>you</a:t>
            </a:r>
            <a:r>
              <a:rPr lang="en-US" sz="2800" b="1" i="1" dirty="0">
                <a:solidFill>
                  <a:srgbClr val="0033CC"/>
                </a:solidFill>
              </a:rPr>
              <a:t> </a:t>
            </a:r>
            <a:r>
              <a:rPr lang="en-US" sz="2800" dirty="0">
                <a:solidFill>
                  <a:srgbClr val="0033CC"/>
                </a:solidFill>
              </a:rPr>
              <a:t>run Python?</a:t>
            </a:r>
          </a:p>
        </p:txBody>
      </p:sp>
      <p:sp>
        <p:nvSpPr>
          <p:cNvPr id="12" name="Rounded Rectangular Callout 11"/>
          <p:cNvSpPr/>
          <p:nvPr/>
        </p:nvSpPr>
        <p:spPr>
          <a:xfrm>
            <a:off x="6221247" y="3948226"/>
            <a:ext cx="3323299" cy="2634153"/>
          </a:xfrm>
          <a:prstGeom prst="wedgeRoundRectCallout">
            <a:avLst>
              <a:gd name="adj1" fmla="val -42708"/>
              <a:gd name="adj2" fmla="val -6820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sz="2800" dirty="0">
                <a:solidFill>
                  <a:srgbClr val="0033CC"/>
                </a:solidFill>
              </a:rPr>
              <a:t>A2: Or you can use any other Python3 software you want. Use google to find out what your options are.</a:t>
            </a:r>
          </a:p>
        </p:txBody>
      </p:sp>
      <p:sp>
        <p:nvSpPr>
          <p:cNvPr id="10" name="Rounded Rectangular Callout 9"/>
          <p:cNvSpPr/>
          <p:nvPr/>
        </p:nvSpPr>
        <p:spPr>
          <a:xfrm>
            <a:off x="2869062" y="3948226"/>
            <a:ext cx="3352184" cy="2634153"/>
          </a:xfrm>
          <a:prstGeom prst="wedgeRoundRectCallout">
            <a:avLst>
              <a:gd name="adj1" fmla="val 46458"/>
              <a:gd name="adj2" fmla="val -7044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sz="2800" dirty="0">
                <a:solidFill>
                  <a:srgbClr val="0033CC"/>
                </a:solidFill>
              </a:rPr>
              <a:t>A1: Well, you can do it like me: </a:t>
            </a:r>
            <a:br>
              <a:rPr lang="en-US" sz="2800" dirty="0">
                <a:solidFill>
                  <a:srgbClr val="0033CC"/>
                </a:solidFill>
              </a:rPr>
            </a:br>
            <a:r>
              <a:rPr lang="en-US" sz="2800" dirty="0">
                <a:solidFill>
                  <a:srgbClr val="0033CC"/>
                </a:solidFill>
              </a:rPr>
              <a:t>Use Cygwin, a free UNIX emulator (and click the Python box when you install).</a:t>
            </a:r>
          </a:p>
        </p:txBody>
      </p:sp>
    </p:spTree>
    <p:extLst>
      <p:ext uri="{BB962C8B-B14F-4D97-AF65-F5344CB8AC3E}">
        <p14:creationId xmlns:p14="http://schemas.microsoft.com/office/powerpoint/2010/main" val="2177664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randombar(horizont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randombar(horizont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randombar(horizont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xit" presetSubtype="10" fill="hold" grpId="1" nodeType="clickEffect">
                                  <p:stCondLst>
                                    <p:cond delay="0"/>
                                  </p:stCondLst>
                                  <p:childTnLst>
                                    <p:animEffect transition="out" filter="randombar(horizontal)">
                                      <p:cBhvr>
                                        <p:cTn id="30" dur="500"/>
                                        <p:tgtEl>
                                          <p:spTgt spid="9"/>
                                        </p:tgtEl>
                                      </p:cBhvr>
                                    </p:animEffect>
                                    <p:set>
                                      <p:cBhvr>
                                        <p:cTn id="31" dur="1" fill="hold">
                                          <p:stCondLst>
                                            <p:cond delay="499"/>
                                          </p:stCondLst>
                                        </p:cTn>
                                        <p:tgtEl>
                                          <p:spTgt spid="9"/>
                                        </p:tgtEl>
                                        <p:attrNameLst>
                                          <p:attrName>style.visibility</p:attrName>
                                        </p:attrNameLst>
                                      </p:cBhvr>
                                      <p:to>
                                        <p:strVal val="hidden"/>
                                      </p:to>
                                    </p:set>
                                  </p:childTnLst>
                                </p:cTn>
                              </p:par>
                              <p:par>
                                <p:cTn id="32" presetID="14" presetClass="exit" presetSubtype="10" fill="hold" grpId="1" nodeType="withEffect">
                                  <p:stCondLst>
                                    <p:cond delay="0"/>
                                  </p:stCondLst>
                                  <p:childTnLst>
                                    <p:animEffect transition="out" filter="randombar(horizontal)">
                                      <p:cBhvr>
                                        <p:cTn id="33" dur="500"/>
                                        <p:tgtEl>
                                          <p:spTgt spid="10"/>
                                        </p:tgtEl>
                                      </p:cBhvr>
                                    </p:animEffect>
                                    <p:set>
                                      <p:cBhvr>
                                        <p:cTn id="34" dur="1" fill="hold">
                                          <p:stCondLst>
                                            <p:cond delay="499"/>
                                          </p:stCondLst>
                                        </p:cTn>
                                        <p:tgtEl>
                                          <p:spTgt spid="10"/>
                                        </p:tgtEl>
                                        <p:attrNameLst>
                                          <p:attrName>style.visibility</p:attrName>
                                        </p:attrNameLst>
                                      </p:cBhvr>
                                      <p:to>
                                        <p:strVal val="hidden"/>
                                      </p:to>
                                    </p:set>
                                  </p:childTnLst>
                                </p:cTn>
                              </p:par>
                              <p:par>
                                <p:cTn id="35" presetID="14" presetClass="exit" presetSubtype="10" fill="hold" grpId="1" nodeType="withEffect">
                                  <p:stCondLst>
                                    <p:cond delay="0"/>
                                  </p:stCondLst>
                                  <p:childTnLst>
                                    <p:animEffect transition="out" filter="randombar(horizontal)">
                                      <p:cBhvr>
                                        <p:cTn id="36" dur="500"/>
                                        <p:tgtEl>
                                          <p:spTgt spid="11"/>
                                        </p:tgtEl>
                                      </p:cBhvr>
                                    </p:animEffect>
                                    <p:set>
                                      <p:cBhvr>
                                        <p:cTn id="37" dur="1" fill="hold">
                                          <p:stCondLst>
                                            <p:cond delay="499"/>
                                          </p:stCondLst>
                                        </p:cTn>
                                        <p:tgtEl>
                                          <p:spTgt spid="11"/>
                                        </p:tgtEl>
                                        <p:attrNameLst>
                                          <p:attrName>style.visibility</p:attrName>
                                        </p:attrNameLst>
                                      </p:cBhvr>
                                      <p:to>
                                        <p:strVal val="hidden"/>
                                      </p:to>
                                    </p:set>
                                  </p:childTnLst>
                                </p:cTn>
                              </p:par>
                              <p:par>
                                <p:cTn id="38" presetID="14" presetClass="exit" presetSubtype="10" fill="hold" grpId="1" nodeType="withEffect">
                                  <p:stCondLst>
                                    <p:cond delay="0"/>
                                  </p:stCondLst>
                                  <p:childTnLst>
                                    <p:animEffect transition="out" filter="randombar(horizontal)">
                                      <p:cBhvr>
                                        <p:cTn id="39" dur="500"/>
                                        <p:tgtEl>
                                          <p:spTgt spid="12"/>
                                        </p:tgtEl>
                                      </p:cBhvr>
                                    </p:animEffect>
                                    <p:set>
                                      <p:cBhvr>
                                        <p:cTn id="40"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1" grpId="0" animBg="1"/>
      <p:bldP spid="11" grpId="1" animBg="1"/>
      <p:bldP spid="12" grpId="0" animBg="1"/>
      <p:bldP spid="12" grpId="1" animBg="1"/>
      <p:bldP spid="10" grpId="0" animBg="1"/>
      <p:bldP spid="10"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5 6</a:t>
            </a:r>
          </a:p>
          <a:p>
            <a:r>
              <a:rPr lang="en-US" sz="2200" dirty="0">
                <a:solidFill>
                  <a:schemeClr val="tx1"/>
                </a:solidFill>
                <a:latin typeface="Lucida Console" panose="020B0609040504020204" pitchFamily="49" charset="0"/>
                <a:cs typeface="Consolas" panose="020B0609020204030204" pitchFamily="49" charset="0"/>
              </a:rPr>
              <a:t>&gt;&gt;&gt; x="pineapple"</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"&lt;&gt;", </a:t>
            </a:r>
            <a:r>
              <a:rPr lang="en-US" sz="2200" dirty="0">
                <a:solidFill>
                  <a:schemeClr val="tx1"/>
                </a:solidFill>
                <a:latin typeface="Lucida Console" panose="020B0609040504020204" pitchFamily="49" charset="0"/>
                <a:cs typeface="Consolas" panose="020B0609020204030204" pitchFamily="49" charset="0"/>
              </a:rPr>
              <a:t>line 1, in &lt;module&gt;</a:t>
            </a: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and 'int' </a:t>
            </a:r>
            <a:r>
              <a:rPr lang="en-US" sz="2200" dirty="0" smtClean="0">
                <a:solidFill>
                  <a:schemeClr val="tx1"/>
                </a:solidFill>
                <a:latin typeface="Lucida Console" panose="020B0609040504020204" pitchFamily="49" charset="0"/>
                <a:cs typeface="Consolas" panose="020B0609020204030204" pitchFamily="49" charset="0"/>
              </a:rPr>
              <a:t>objects</a:t>
            </a:r>
          </a:p>
          <a:p>
            <a:r>
              <a:rPr lang="en-US" sz="2200" dirty="0" smtClean="0">
                <a:solidFill>
                  <a:schemeClr val="tx1"/>
                </a:solidFill>
                <a:latin typeface="Lucida Console" panose="020B0609040504020204" pitchFamily="49" charset="0"/>
                <a:cs typeface="Consolas" panose="020B0609020204030204" pitchFamily="49" charset="0"/>
              </a:rPr>
              <a:t>&gt;&gt;&gt;</a:t>
            </a:r>
            <a:endParaRPr lang="en-US" sz="2200" dirty="0">
              <a:solidFill>
                <a:schemeClr val="tx1"/>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1021781" y="3255693"/>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3438631" y="3953291"/>
            <a:ext cx="6038020" cy="1950553"/>
          </a:xfrm>
          <a:prstGeom prst="wedgeRoundRectCallout">
            <a:avLst>
              <a:gd name="adj1" fmla="val -90629"/>
              <a:gd name="adj2" fmla="val -71481"/>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The “&gt;&gt;&gt;” is Python’s interactive prompt. I can now begin programming (but it doesn’t “feel” like programming because it is interactive).</a:t>
            </a:r>
          </a:p>
        </p:txBody>
      </p:sp>
    </p:spTree>
    <p:extLst>
      <p:ext uri="{BB962C8B-B14F-4D97-AF65-F5344CB8AC3E}">
        <p14:creationId xmlns:p14="http://schemas.microsoft.com/office/powerpoint/2010/main" val="288419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0" y="1588168"/>
            <a:ext cx="9729788"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1"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python3</a:t>
            </a:r>
          </a:p>
          <a:p>
            <a:r>
              <a:rPr lang="en-US" sz="2200" dirty="0">
                <a:solidFill>
                  <a:schemeClr val="bg1">
                    <a:lumMod val="95000"/>
                  </a:schemeClr>
                </a:solidFill>
                <a:latin typeface="Lucida Console" panose="020B0609040504020204" pitchFamily="49" charset="0"/>
                <a:cs typeface="Consolas" panose="020B0609020204030204" pitchFamily="49" charset="0"/>
              </a:rPr>
              <a:t>Python </a:t>
            </a:r>
            <a:r>
              <a:rPr lang="pt-BR"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[GCC 5.4.0] on </a:t>
            </a:r>
            <a:r>
              <a:rPr lang="en-US" sz="2200" dirty="0" err="1">
                <a:solidFill>
                  <a:schemeClr val="bg1">
                    <a:lumMod val="95000"/>
                  </a:schemeClr>
                </a:solidFill>
                <a:latin typeface="Lucida Console" panose="020B0609040504020204" pitchFamily="49" charset="0"/>
                <a:cs typeface="Consolas" panose="020B0609020204030204" pitchFamily="49" charset="0"/>
              </a:rPr>
              <a:t>cygwin</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tx1"/>
                </a:solidFill>
                <a:latin typeface="Lucida Console" panose="020B0609040504020204" pitchFamily="49" charset="0"/>
                <a:cs typeface="Consolas" panose="020B0609020204030204" pitchFamily="49" charset="0"/>
              </a:rPr>
              <a:t>&gt;&gt;&gt;</a:t>
            </a:r>
            <a:r>
              <a:rPr lang="en-US" sz="22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print x, x+1</a:t>
            </a:r>
          </a:p>
          <a:p>
            <a:r>
              <a:rPr lang="en-US" sz="2200" dirty="0">
                <a:solidFill>
                  <a:schemeClr val="tx1"/>
                </a:solidFill>
                <a:latin typeface="Lucida Console" panose="020B0609040504020204" pitchFamily="49" charset="0"/>
                <a:cs typeface="Consolas" panose="020B0609020204030204" pitchFamily="49" charset="0"/>
              </a:rPr>
              <a:t>5 6</a:t>
            </a:r>
          </a:p>
          <a:p>
            <a:r>
              <a:rPr lang="en-US" sz="2200" dirty="0">
                <a:solidFill>
                  <a:schemeClr val="tx1"/>
                </a:solidFill>
                <a:latin typeface="Lucida Console" panose="020B0609040504020204" pitchFamily="49" charset="0"/>
                <a:cs typeface="Consolas" panose="020B0609020204030204" pitchFamily="49" charset="0"/>
              </a:rPr>
              <a:t>&gt;&gt;&gt; x="pineapple"</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"&lt;&gt;", </a:t>
            </a:r>
            <a:r>
              <a:rPr lang="en-US" sz="2200" dirty="0">
                <a:solidFill>
                  <a:schemeClr val="tx1"/>
                </a:solidFill>
                <a:latin typeface="Lucida Console" panose="020B0609040504020204" pitchFamily="49" charset="0"/>
                <a:cs typeface="Consolas" panose="020B0609020204030204" pitchFamily="49" charset="0"/>
              </a:rPr>
              <a:t>line 1, in &lt;module&gt;</a:t>
            </a: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and 'int' </a:t>
            </a:r>
            <a:r>
              <a:rPr lang="en-US" sz="2200" dirty="0" smtClean="0">
                <a:solidFill>
                  <a:schemeClr val="tx1"/>
                </a:solidFill>
                <a:latin typeface="Lucida Console" panose="020B0609040504020204" pitchFamily="49" charset="0"/>
                <a:cs typeface="Consolas" panose="020B0609020204030204" pitchFamily="49" charset="0"/>
              </a:rPr>
              <a:t>objects</a:t>
            </a:r>
          </a:p>
          <a:p>
            <a:r>
              <a:rPr lang="en-US" sz="2200" dirty="0" smtClean="0">
                <a:solidFill>
                  <a:schemeClr val="tx1"/>
                </a:solidFill>
                <a:latin typeface="Lucida Console" panose="020B0609040504020204" pitchFamily="49" charset="0"/>
                <a:cs typeface="Consolas" panose="020B0609020204030204" pitchFamily="49" charset="0"/>
              </a:rPr>
              <a:t>&gt;&gt;&gt;</a:t>
            </a:r>
            <a:endParaRPr lang="en-US" sz="2200" dirty="0">
              <a:solidFill>
                <a:schemeClr val="tx1"/>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1707578" y="3243169"/>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3336752" y="3608802"/>
            <a:ext cx="4236866" cy="1549607"/>
          </a:xfrm>
          <a:prstGeom prst="wedgeRoundRectCallout">
            <a:avLst>
              <a:gd name="adj1" fmla="val -86410"/>
              <a:gd name="adj2" fmla="val -6179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I have now written my program’s first command (a variable initialization).</a:t>
            </a:r>
          </a:p>
        </p:txBody>
      </p:sp>
    </p:spTree>
    <p:extLst>
      <p:ext uri="{BB962C8B-B14F-4D97-AF65-F5344CB8AC3E}">
        <p14:creationId xmlns:p14="http://schemas.microsoft.com/office/powerpoint/2010/main" val="31617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2" y="1588169"/>
            <a:ext cx="9729436"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2"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tx1"/>
                </a:solidFill>
                <a:latin typeface="Lucida Console" panose="020B0609040504020204" pitchFamily="49" charset="0"/>
                <a:cs typeface="Consolas" panose="020B0609020204030204" pitchFamily="49" charset="0"/>
              </a:rPr>
              <a:t>print x, x+1</a:t>
            </a:r>
          </a:p>
          <a:p>
            <a:r>
              <a:rPr lang="en-US" sz="2200" dirty="0">
                <a:solidFill>
                  <a:schemeClr val="tx1"/>
                </a:solidFill>
                <a:latin typeface="Lucida Console" panose="020B0609040504020204" pitchFamily="49" charset="0"/>
                <a:cs typeface="Consolas" panose="020B0609020204030204" pitchFamily="49" charset="0"/>
              </a:rPr>
              <a:t>5 6</a:t>
            </a:r>
          </a:p>
          <a:p>
            <a:r>
              <a:rPr lang="en-US" sz="2200" dirty="0">
                <a:solidFill>
                  <a:schemeClr val="tx1"/>
                </a:solidFill>
                <a:latin typeface="Lucida Console" panose="020B0609040504020204" pitchFamily="49" charset="0"/>
                <a:cs typeface="Consolas" panose="020B0609020204030204" pitchFamily="49" charset="0"/>
              </a:rPr>
              <a:t>&gt;&gt;&gt; x="pineapple"</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"&lt;&gt;", </a:t>
            </a:r>
            <a:r>
              <a:rPr lang="en-US" sz="2200" dirty="0">
                <a:solidFill>
                  <a:schemeClr val="tx1"/>
                </a:solidFill>
                <a:latin typeface="Lucida Console" panose="020B0609040504020204" pitchFamily="49" charset="0"/>
                <a:cs typeface="Consolas" panose="020B0609020204030204" pitchFamily="49" charset="0"/>
              </a:rPr>
              <a:t>line 1, in &lt;module&gt;</a:t>
            </a: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and 'int' </a:t>
            </a:r>
            <a:r>
              <a:rPr lang="en-US" sz="2200" dirty="0" smtClean="0">
                <a:solidFill>
                  <a:schemeClr val="tx1"/>
                </a:solidFill>
                <a:latin typeface="Lucida Console" panose="020B0609040504020204" pitchFamily="49" charset="0"/>
                <a:cs typeface="Consolas" panose="020B0609020204030204" pitchFamily="49" charset="0"/>
              </a:rPr>
              <a:t>objects</a:t>
            </a:r>
          </a:p>
          <a:p>
            <a:r>
              <a:rPr lang="en-US" sz="2200" dirty="0" smtClean="0">
                <a:solidFill>
                  <a:schemeClr val="tx1"/>
                </a:solidFill>
                <a:latin typeface="Lucida Console" panose="020B0609040504020204" pitchFamily="49" charset="0"/>
                <a:cs typeface="Consolas" panose="020B0609020204030204" pitchFamily="49" charset="0"/>
              </a:rPr>
              <a:t>&gt;&gt;&gt;</a:t>
            </a:r>
            <a:endParaRPr lang="en-US" sz="2200" dirty="0">
              <a:solidFill>
                <a:schemeClr val="tx1"/>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1021779" y="3596377"/>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3012901" y="3630710"/>
            <a:ext cx="6339819" cy="1498715"/>
          </a:xfrm>
          <a:prstGeom prst="wedgeRoundRectCallout">
            <a:avLst>
              <a:gd name="adj1" fmla="val -86798"/>
              <a:gd name="adj2" fmla="val -53841"/>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Python gave no error message. That means it has accepted the command </a:t>
            </a:r>
            <a:r>
              <a:rPr lang="en-US" sz="2800" dirty="0" smtClean="0">
                <a:solidFill>
                  <a:srgbClr val="0033CC"/>
                </a:solidFill>
              </a:rPr>
              <a:t>and </a:t>
            </a:r>
            <a:r>
              <a:rPr lang="en-US" sz="2800" dirty="0">
                <a:solidFill>
                  <a:srgbClr val="0033CC"/>
                </a:solidFill>
              </a:rPr>
              <a:t>is waiting for the rest of the program.</a:t>
            </a:r>
          </a:p>
        </p:txBody>
      </p:sp>
    </p:spTree>
    <p:extLst>
      <p:ext uri="{BB962C8B-B14F-4D97-AF65-F5344CB8AC3E}">
        <p14:creationId xmlns:p14="http://schemas.microsoft.com/office/powerpoint/2010/main" val="105304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randombar(horizontal)">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2" y="1588169"/>
            <a:ext cx="9729436"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2"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5 6</a:t>
            </a:r>
          </a:p>
          <a:p>
            <a:r>
              <a:rPr lang="en-US" sz="2200" dirty="0">
                <a:solidFill>
                  <a:schemeClr val="tx1"/>
                </a:solidFill>
                <a:latin typeface="Lucida Console" panose="020B0609040504020204" pitchFamily="49" charset="0"/>
                <a:cs typeface="Consolas" panose="020B0609020204030204" pitchFamily="49" charset="0"/>
              </a:rPr>
              <a:t>&gt;&gt;&gt; x="pineapple"</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"&lt;&gt;", </a:t>
            </a:r>
            <a:r>
              <a:rPr lang="en-US" sz="2200" dirty="0">
                <a:solidFill>
                  <a:schemeClr val="tx1"/>
                </a:solidFill>
                <a:latin typeface="Lucida Console" panose="020B0609040504020204" pitchFamily="49" charset="0"/>
                <a:cs typeface="Consolas" panose="020B0609020204030204" pitchFamily="49" charset="0"/>
              </a:rPr>
              <a:t>line 1, in &lt;module&gt;</a:t>
            </a: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and 'int' objects</a:t>
            </a:r>
          </a:p>
          <a:p>
            <a:r>
              <a:rPr lang="en-US" sz="2200" dirty="0">
                <a:solidFill>
                  <a:schemeClr val="tx1"/>
                </a:solidFill>
                <a:latin typeface="Lucida Console" panose="020B0609040504020204" pitchFamily="49" charset="0"/>
                <a:cs typeface="Consolas" panose="020B0609020204030204" pitchFamily="49" charset="0"/>
              </a:rPr>
              <a:t>&gt;&gt;&gt;</a:t>
            </a:r>
          </a:p>
        </p:txBody>
      </p:sp>
      <p:cxnSp>
        <p:nvCxnSpPr>
          <p:cNvPr id="3" name="Straight Connector 2"/>
          <p:cNvCxnSpPr/>
          <p:nvPr/>
        </p:nvCxnSpPr>
        <p:spPr>
          <a:xfrm>
            <a:off x="3512469" y="3587960"/>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3077616" y="4087129"/>
            <a:ext cx="3581601" cy="1200487"/>
          </a:xfrm>
          <a:prstGeom prst="wedgeRoundRectCallout">
            <a:avLst>
              <a:gd name="adj1" fmla="val -90701"/>
              <a:gd name="adj2" fmla="val -6815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This second command will have an </a:t>
            </a:r>
            <a:r>
              <a:rPr lang="en-US" sz="2800" dirty="0" smtClean="0">
                <a:solidFill>
                  <a:srgbClr val="0033CC"/>
                </a:solidFill>
              </a:rPr>
              <a:t>output.</a:t>
            </a:r>
            <a:endParaRPr lang="en-US" sz="2800" dirty="0">
              <a:solidFill>
                <a:srgbClr val="0033CC"/>
              </a:solidFill>
            </a:endParaRPr>
          </a:p>
        </p:txBody>
      </p:sp>
    </p:spTree>
    <p:extLst>
      <p:ext uri="{BB962C8B-B14F-4D97-AF65-F5344CB8AC3E}">
        <p14:creationId xmlns:p14="http://schemas.microsoft.com/office/powerpoint/2010/main" val="382458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0" y="1588169"/>
            <a:ext cx="9729438"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0"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bg1">
                    <a:lumMod val="95000"/>
                  </a:schemeClr>
                </a:solidFill>
                <a:latin typeface="Lucida Console" panose="020B0609040504020204" pitchFamily="49" charset="0"/>
                <a:cs typeface="Consolas" panose="020B0609020204030204" pitchFamily="49" charset="0"/>
              </a:rPr>
              <a:t>5 6</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tx1"/>
                </a:solidFill>
                <a:latin typeface="Lucida Console" panose="020B0609040504020204" pitchFamily="49" charset="0"/>
                <a:cs typeface="Consolas" panose="020B0609020204030204" pitchFamily="49" charset="0"/>
              </a:rPr>
              <a:t>x="pineapple"</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"&lt;&gt;", </a:t>
            </a:r>
            <a:r>
              <a:rPr lang="en-US" sz="2200" dirty="0">
                <a:solidFill>
                  <a:schemeClr val="tx1"/>
                </a:solidFill>
                <a:latin typeface="Lucida Console" panose="020B0609040504020204" pitchFamily="49" charset="0"/>
                <a:cs typeface="Consolas" panose="020B0609020204030204" pitchFamily="49" charset="0"/>
              </a:rPr>
              <a:t>line 1, in &lt;module&gt;</a:t>
            </a: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and 'int' objects</a:t>
            </a:r>
          </a:p>
          <a:p>
            <a:r>
              <a:rPr lang="en-US" sz="2200" dirty="0">
                <a:solidFill>
                  <a:schemeClr val="tx1"/>
                </a:solidFill>
                <a:latin typeface="Lucida Console" panose="020B0609040504020204" pitchFamily="49" charset="0"/>
                <a:cs typeface="Consolas" panose="020B0609020204030204" pitchFamily="49" charset="0"/>
              </a:rPr>
              <a:t>&gt;&gt;&gt;</a:t>
            </a:r>
          </a:p>
        </p:txBody>
      </p:sp>
      <p:cxnSp>
        <p:nvCxnSpPr>
          <p:cNvPr id="3" name="Straight Connector 2"/>
          <p:cNvCxnSpPr/>
          <p:nvPr/>
        </p:nvCxnSpPr>
        <p:spPr>
          <a:xfrm>
            <a:off x="1021777" y="4257516"/>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3663865" y="4363074"/>
            <a:ext cx="3790950" cy="818526"/>
          </a:xfrm>
          <a:prstGeom prst="wedgeRoundRectCallout">
            <a:avLst>
              <a:gd name="adj1" fmla="val -118339"/>
              <a:gd name="adj2" fmla="val -8469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And here is that </a:t>
            </a:r>
            <a:r>
              <a:rPr lang="en-US" sz="2800" dirty="0" smtClean="0">
                <a:solidFill>
                  <a:srgbClr val="0033CC"/>
                </a:solidFill>
              </a:rPr>
              <a:t>output.</a:t>
            </a:r>
            <a:endParaRPr lang="en-US" sz="2800" dirty="0">
              <a:solidFill>
                <a:srgbClr val="0033CC"/>
              </a:solidFill>
            </a:endParaRPr>
          </a:p>
        </p:txBody>
      </p:sp>
    </p:spTree>
    <p:extLst>
      <p:ext uri="{BB962C8B-B14F-4D97-AF65-F5344CB8AC3E}">
        <p14:creationId xmlns:p14="http://schemas.microsoft.com/office/powerpoint/2010/main" val="249963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randombar(horizontal)">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bg1">
                    <a:lumMod val="95000"/>
                  </a:schemeClr>
                </a:solidFill>
                <a:latin typeface="Lucida Console" panose="020B0609040504020204" pitchFamily="49" charset="0"/>
                <a:cs typeface="Consolas" panose="020B0609020204030204" pitchFamily="49" charset="0"/>
              </a:rPr>
              <a:t>5 6</a:t>
            </a:r>
          </a:p>
          <a:p>
            <a:r>
              <a:rPr lang="en-US" sz="2200" dirty="0">
                <a:solidFill>
                  <a:schemeClr val="bg1">
                    <a:lumMod val="95000"/>
                  </a:schemeClr>
                </a:solidFill>
                <a:latin typeface="Lucida Console" panose="020B0609040504020204" pitchFamily="49" charset="0"/>
                <a:cs typeface="Consolas" panose="020B0609020204030204" pitchFamily="49" charset="0"/>
              </a:rPr>
              <a:t>&gt;&gt;&gt; for x in range(3):</a:t>
            </a:r>
          </a:p>
          <a:p>
            <a:r>
              <a:rPr lang="en-US" sz="2200" dirty="0">
                <a:solidFill>
                  <a:schemeClr val="tx1"/>
                </a:solidFill>
                <a:latin typeface="Lucida Console" panose="020B0609040504020204" pitchFamily="49" charset="0"/>
                <a:cs typeface="Consolas" panose="020B0609020204030204" pitchFamily="49" charset="0"/>
              </a:rPr>
              <a:t>...    print x</a:t>
            </a:r>
          </a:p>
          <a:p>
            <a:r>
              <a:rPr lang="en-US" sz="2200" dirty="0">
                <a:solidFill>
                  <a:schemeClr val="tx1"/>
                </a:solidFill>
                <a:latin typeface="Lucida Console" panose="020B0609040504020204" pitchFamily="49" charset="0"/>
                <a:cs typeface="Consolas" panose="020B0609020204030204" pitchFamily="49" charset="0"/>
              </a:rPr>
              <a:t>...</a:t>
            </a:r>
          </a:p>
          <a:p>
            <a:r>
              <a:rPr lang="en-US" sz="2200" dirty="0">
                <a:solidFill>
                  <a:schemeClr val="tx1"/>
                </a:solidFill>
                <a:latin typeface="Lucida Console" panose="020B0609040504020204" pitchFamily="49" charset="0"/>
                <a:cs typeface="Consolas" panose="020B0609020204030204" pitchFamily="49" charset="0"/>
              </a:rPr>
              <a:t>0</a:t>
            </a:r>
          </a:p>
          <a:p>
            <a:r>
              <a:rPr lang="en-US" sz="2200" dirty="0">
                <a:solidFill>
                  <a:schemeClr val="tx1"/>
                </a:solidFill>
                <a:latin typeface="Lucida Console" panose="020B0609040504020204" pitchFamily="49" charset="0"/>
                <a:cs typeface="Consolas" panose="020B0609020204030204" pitchFamily="49" charset="0"/>
              </a:rPr>
              <a:t>1</a:t>
            </a:r>
          </a:p>
          <a:p>
            <a:r>
              <a:rPr lang="en-US" sz="2200" dirty="0">
                <a:solidFill>
                  <a:schemeClr val="tx1"/>
                </a:solidFill>
                <a:latin typeface="Lucida Console" panose="020B0609040504020204" pitchFamily="49" charset="0"/>
                <a:cs typeface="Consolas" panose="020B0609020204030204" pitchFamily="49" charset="0"/>
              </a:rPr>
              <a:t>2</a:t>
            </a:r>
          </a:p>
          <a:p>
            <a:r>
              <a:rPr lang="en-US" sz="2200" dirty="0">
                <a:solidFill>
                  <a:schemeClr val="tx1"/>
                </a:solidFill>
                <a:latin typeface="Lucida Console" panose="020B0609040504020204" pitchFamily="49" charset="0"/>
                <a:cs typeface="Consolas" panose="020B0609020204030204" pitchFamily="49" charset="0"/>
              </a:rPr>
              <a:t>&gt;&gt;&gt;</a:t>
            </a:r>
          </a:p>
        </p:txBody>
      </p:sp>
      <p:cxnSp>
        <p:nvCxnSpPr>
          <p:cNvPr id="3" name="Straight Connector 2"/>
          <p:cNvCxnSpPr/>
          <p:nvPr/>
        </p:nvCxnSpPr>
        <p:spPr>
          <a:xfrm>
            <a:off x="4184081" y="4257516"/>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2913099" y="4747114"/>
            <a:ext cx="6477000" cy="1259804"/>
          </a:xfrm>
          <a:prstGeom prst="wedgeRoundRectCallout">
            <a:avLst>
              <a:gd name="adj1" fmla="val -70137"/>
              <a:gd name="adj2" fmla="val -6863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800" dirty="0">
                <a:solidFill>
                  <a:srgbClr val="0033CC"/>
                </a:solidFill>
              </a:rPr>
              <a:t>Our third command is a for-loop (of </a:t>
            </a:r>
            <a:r>
              <a:rPr lang="en-US" sz="2800" dirty="0" smtClean="0">
                <a:solidFill>
                  <a:srgbClr val="0033CC"/>
                </a:solidFill>
              </a:rPr>
              <a:t>the</a:t>
            </a:r>
            <a:br>
              <a:rPr lang="en-US" sz="2800" dirty="0" smtClean="0">
                <a:solidFill>
                  <a:srgbClr val="0033CC"/>
                </a:solidFill>
              </a:rPr>
            </a:br>
            <a:r>
              <a:rPr lang="en-US" sz="2800" dirty="0" smtClean="0">
                <a:solidFill>
                  <a:srgbClr val="0033CC"/>
                </a:solidFill>
              </a:rPr>
              <a:t>numbers </a:t>
            </a:r>
            <a:r>
              <a:rPr lang="en-US" sz="2800" dirty="0">
                <a:solidFill>
                  <a:srgbClr val="0033CC"/>
                </a:solidFill>
              </a:rPr>
              <a:t>in the range up to 3 (</a:t>
            </a:r>
            <a:r>
              <a:rPr lang="en-US" sz="2800" i="1" dirty="0">
                <a:solidFill>
                  <a:srgbClr val="0033CC"/>
                </a:solidFill>
              </a:rPr>
              <a:t>i.e.</a:t>
            </a:r>
            <a:r>
              <a:rPr lang="en-US" sz="2800" dirty="0">
                <a:solidFill>
                  <a:srgbClr val="0033CC"/>
                </a:solidFill>
              </a:rPr>
              <a:t> 0, </a:t>
            </a:r>
            <a:r>
              <a:rPr lang="en-US" sz="2800" dirty="0" smtClean="0">
                <a:solidFill>
                  <a:srgbClr val="0033CC"/>
                </a:solidFill>
              </a:rPr>
              <a:t>1 &amp; </a:t>
            </a:r>
            <a:r>
              <a:rPr lang="en-US" sz="2800" dirty="0">
                <a:solidFill>
                  <a:srgbClr val="0033CC"/>
                </a:solidFill>
              </a:rPr>
              <a:t>2)).</a:t>
            </a:r>
          </a:p>
        </p:txBody>
      </p:sp>
    </p:spTree>
    <p:extLst>
      <p:ext uri="{BB962C8B-B14F-4D97-AF65-F5344CB8AC3E}">
        <p14:creationId xmlns:p14="http://schemas.microsoft.com/office/powerpoint/2010/main" val="211413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2" y="1588169"/>
            <a:ext cx="9729436"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2"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bg1">
                    <a:lumMod val="95000"/>
                  </a:schemeClr>
                </a:solidFill>
                <a:latin typeface="Lucida Console" panose="020B0609040504020204" pitchFamily="49" charset="0"/>
                <a:cs typeface="Consolas" panose="020B0609020204030204" pitchFamily="49" charset="0"/>
              </a:rPr>
              <a:t>5 6</a:t>
            </a:r>
          </a:p>
          <a:p>
            <a:r>
              <a:rPr lang="en-US" sz="2200" dirty="0">
                <a:solidFill>
                  <a:schemeClr val="bg1">
                    <a:lumMod val="95000"/>
                  </a:schemeClr>
                </a:solidFill>
                <a:latin typeface="Lucida Console" panose="020B0609040504020204" pitchFamily="49" charset="0"/>
                <a:cs typeface="Consolas" panose="020B0609020204030204" pitchFamily="49" charset="0"/>
              </a:rPr>
              <a:t>&gt;&gt;&gt; for x in range(3):</a:t>
            </a:r>
          </a:p>
          <a:p>
            <a:r>
              <a:rPr lang="en-US" sz="22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   print x</a:t>
            </a:r>
          </a:p>
          <a:p>
            <a:r>
              <a:rPr lang="en-US" sz="2200" dirty="0">
                <a:solidFill>
                  <a:schemeClr val="tx1"/>
                </a:solidFill>
                <a:latin typeface="Lucida Console" panose="020B0609040504020204" pitchFamily="49" charset="0"/>
                <a:cs typeface="Consolas" panose="020B0609020204030204" pitchFamily="49" charset="0"/>
              </a:rPr>
              <a:t>...</a:t>
            </a:r>
          </a:p>
          <a:p>
            <a:r>
              <a:rPr lang="en-US" sz="2200" dirty="0">
                <a:solidFill>
                  <a:schemeClr val="tx1"/>
                </a:solidFill>
                <a:latin typeface="Lucida Console" panose="020B0609040504020204" pitchFamily="49" charset="0"/>
                <a:cs typeface="Consolas" panose="020B0609020204030204" pitchFamily="49" charset="0"/>
              </a:rPr>
              <a:t>0</a:t>
            </a:r>
          </a:p>
          <a:p>
            <a:r>
              <a:rPr lang="en-US" sz="2200" dirty="0">
                <a:solidFill>
                  <a:schemeClr val="tx1"/>
                </a:solidFill>
                <a:latin typeface="Lucida Console" panose="020B0609040504020204" pitchFamily="49" charset="0"/>
                <a:cs typeface="Consolas" panose="020B0609020204030204" pitchFamily="49" charset="0"/>
              </a:rPr>
              <a:t>1</a:t>
            </a:r>
          </a:p>
          <a:p>
            <a:r>
              <a:rPr lang="en-US" sz="2200" dirty="0">
                <a:solidFill>
                  <a:schemeClr val="tx1"/>
                </a:solidFill>
                <a:latin typeface="Lucida Console" panose="020B0609040504020204" pitchFamily="49" charset="0"/>
                <a:cs typeface="Consolas" panose="020B0609020204030204" pitchFamily="49" charset="0"/>
              </a:rPr>
              <a:t>2</a:t>
            </a:r>
          </a:p>
          <a:p>
            <a:r>
              <a:rPr lang="en-US" sz="2200" dirty="0">
                <a:solidFill>
                  <a:schemeClr val="tx1"/>
                </a:solidFill>
                <a:latin typeface="Lucida Console" panose="020B0609040504020204" pitchFamily="49" charset="0"/>
                <a:cs typeface="Consolas" panose="020B0609020204030204" pitchFamily="49" charset="0"/>
              </a:rPr>
              <a:t>&gt;&gt;&gt;</a:t>
            </a:r>
          </a:p>
        </p:txBody>
      </p:sp>
      <p:cxnSp>
        <p:nvCxnSpPr>
          <p:cNvPr id="3" name="Straight Connector 2"/>
          <p:cNvCxnSpPr/>
          <p:nvPr/>
        </p:nvCxnSpPr>
        <p:spPr>
          <a:xfrm>
            <a:off x="1002729" y="4581366"/>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2027583" y="4996528"/>
            <a:ext cx="7531407" cy="1503663"/>
          </a:xfrm>
          <a:prstGeom prst="wedgeRoundRectCallout">
            <a:avLst>
              <a:gd name="adj1" fmla="val -66353"/>
              <a:gd name="adj2" fmla="val -5673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The prompt has changed now. </a:t>
            </a:r>
            <a:r>
              <a:rPr lang="en-US" sz="2800" dirty="0" smtClean="0">
                <a:solidFill>
                  <a:srgbClr val="0033CC"/>
                </a:solidFill>
              </a:rPr>
              <a:t>The </a:t>
            </a:r>
            <a:r>
              <a:rPr lang="en-US" sz="2800" dirty="0">
                <a:solidFill>
                  <a:srgbClr val="0033CC"/>
                </a:solidFill>
              </a:rPr>
              <a:t>“…” indicates that </a:t>
            </a:r>
            <a:r>
              <a:rPr lang="en-US" sz="2800" dirty="0" smtClean="0">
                <a:solidFill>
                  <a:srgbClr val="0033CC"/>
                </a:solidFill>
              </a:rPr>
              <a:t>Python </a:t>
            </a:r>
            <a:r>
              <a:rPr lang="en-US" sz="2800" dirty="0">
                <a:solidFill>
                  <a:srgbClr val="0033CC"/>
                </a:solidFill>
              </a:rPr>
              <a:t>is waiting for more information. </a:t>
            </a:r>
            <a:r>
              <a:rPr lang="en-US" sz="2800" dirty="0" smtClean="0">
                <a:solidFill>
                  <a:srgbClr val="0033CC"/>
                </a:solidFill>
              </a:rPr>
              <a:t/>
            </a:r>
            <a:br>
              <a:rPr lang="en-US" sz="2800" dirty="0" smtClean="0">
                <a:solidFill>
                  <a:srgbClr val="0033CC"/>
                </a:solidFill>
              </a:rPr>
            </a:br>
            <a:r>
              <a:rPr lang="en-US" sz="2800" dirty="0" smtClean="0">
                <a:solidFill>
                  <a:srgbClr val="0033CC"/>
                </a:solidFill>
              </a:rPr>
              <a:t>That is </a:t>
            </a:r>
            <a:r>
              <a:rPr lang="en-US" sz="2800" dirty="0">
                <a:solidFill>
                  <a:srgbClr val="0033CC"/>
                </a:solidFill>
              </a:rPr>
              <a:t>because our loop doesn’t have a body yet.</a:t>
            </a:r>
          </a:p>
        </p:txBody>
      </p:sp>
    </p:spTree>
    <p:extLst>
      <p:ext uri="{BB962C8B-B14F-4D97-AF65-F5344CB8AC3E}">
        <p14:creationId xmlns:p14="http://schemas.microsoft.com/office/powerpoint/2010/main" val="252927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bg1">
                    <a:lumMod val="95000"/>
                  </a:schemeClr>
                </a:solidFill>
                <a:latin typeface="Lucida Console" panose="020B0609040504020204" pitchFamily="49" charset="0"/>
                <a:cs typeface="Consolas" panose="020B0609020204030204" pitchFamily="49" charset="0"/>
              </a:rPr>
              <a:t>5 6</a:t>
            </a:r>
          </a:p>
          <a:p>
            <a:r>
              <a:rPr lang="en-US" sz="2200" dirty="0">
                <a:solidFill>
                  <a:schemeClr val="bg1">
                    <a:lumMod val="95000"/>
                  </a:schemeClr>
                </a:solidFill>
                <a:latin typeface="Lucida Console" panose="020B0609040504020204" pitchFamily="49" charset="0"/>
                <a:cs typeface="Consolas" panose="020B0609020204030204" pitchFamily="49" charset="0"/>
              </a:rPr>
              <a:t>&gt;&gt;&gt; for x in range(3):</a:t>
            </a:r>
          </a:p>
          <a:p>
            <a:r>
              <a:rPr lang="en-US" sz="2200" dirty="0">
                <a:solidFill>
                  <a:schemeClr val="bg1">
                    <a:lumMod val="95000"/>
                  </a:schemeClr>
                </a:solidFill>
                <a:latin typeface="Lucida Console" panose="020B0609040504020204" pitchFamily="49" charset="0"/>
                <a:cs typeface="Consolas" panose="020B0609020204030204" pitchFamily="49" charset="0"/>
              </a:rPr>
              <a:t>...    print (x)</a:t>
            </a:r>
          </a:p>
          <a:p>
            <a:r>
              <a:rPr lang="en-US" sz="2200" dirty="0">
                <a:solidFill>
                  <a:schemeClr val="tx1"/>
                </a:solidFill>
                <a:latin typeface="Lucida Console" panose="020B0609040504020204" pitchFamily="49" charset="0"/>
                <a:cs typeface="Consolas" panose="020B0609020204030204" pitchFamily="49" charset="0"/>
              </a:rPr>
              <a:t>...</a:t>
            </a:r>
          </a:p>
          <a:p>
            <a:r>
              <a:rPr lang="en-US" sz="2200" dirty="0">
                <a:solidFill>
                  <a:schemeClr val="tx1"/>
                </a:solidFill>
                <a:latin typeface="Lucida Console" panose="020B0609040504020204" pitchFamily="49" charset="0"/>
                <a:cs typeface="Consolas" panose="020B0609020204030204" pitchFamily="49" charset="0"/>
              </a:rPr>
              <a:t>0</a:t>
            </a:r>
          </a:p>
          <a:p>
            <a:r>
              <a:rPr lang="en-US" sz="2200" dirty="0">
                <a:solidFill>
                  <a:schemeClr val="tx1"/>
                </a:solidFill>
                <a:latin typeface="Lucida Console" panose="020B0609040504020204" pitchFamily="49" charset="0"/>
                <a:cs typeface="Consolas" panose="020B0609020204030204" pitchFamily="49" charset="0"/>
              </a:rPr>
              <a:t>1</a:t>
            </a:r>
          </a:p>
          <a:p>
            <a:r>
              <a:rPr lang="en-US" sz="2200" dirty="0">
                <a:solidFill>
                  <a:schemeClr val="tx1"/>
                </a:solidFill>
                <a:latin typeface="Lucida Console" panose="020B0609040504020204" pitchFamily="49" charset="0"/>
                <a:cs typeface="Consolas" panose="020B0609020204030204" pitchFamily="49" charset="0"/>
              </a:rPr>
              <a:t>2</a:t>
            </a:r>
          </a:p>
          <a:p>
            <a:r>
              <a:rPr lang="en-US" sz="2200" dirty="0">
                <a:solidFill>
                  <a:schemeClr val="tx1"/>
                </a:solidFill>
                <a:latin typeface="Lucida Console" panose="020B0609040504020204" pitchFamily="49" charset="0"/>
                <a:cs typeface="Consolas" panose="020B0609020204030204" pitchFamily="49" charset="0"/>
              </a:rPr>
              <a:t>&gt;&gt;&gt;</a:t>
            </a:r>
          </a:p>
        </p:txBody>
      </p:sp>
      <p:cxnSp>
        <p:nvCxnSpPr>
          <p:cNvPr id="3" name="Straight Connector 2"/>
          <p:cNvCxnSpPr/>
          <p:nvPr/>
        </p:nvCxnSpPr>
        <p:spPr>
          <a:xfrm>
            <a:off x="3171787" y="4591999"/>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3221516" y="5013505"/>
            <a:ext cx="3184615" cy="1133011"/>
          </a:xfrm>
          <a:prstGeom prst="wedgeRoundRectCallout">
            <a:avLst>
              <a:gd name="adj1" fmla="val -73915"/>
              <a:gd name="adj2" fmla="val -6118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We will print these 3 numbers.</a:t>
            </a:r>
          </a:p>
        </p:txBody>
      </p:sp>
      <p:sp>
        <p:nvSpPr>
          <p:cNvPr id="9" name="Rounded Rectangular Callout 8"/>
          <p:cNvSpPr/>
          <p:nvPr/>
        </p:nvSpPr>
        <p:spPr>
          <a:xfrm>
            <a:off x="726844" y="5229703"/>
            <a:ext cx="3427714" cy="1133011"/>
          </a:xfrm>
          <a:prstGeom prst="wedgeRoundRectCallout">
            <a:avLst>
              <a:gd name="adj1" fmla="val -35520"/>
              <a:gd name="adj2" fmla="val -8464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2800" dirty="0">
                <a:solidFill>
                  <a:srgbClr val="0033CC"/>
                </a:solidFill>
              </a:rPr>
              <a:t>This indentation </a:t>
            </a:r>
            <a:r>
              <a:rPr lang="en-US" sz="2800" dirty="0" smtClean="0">
                <a:solidFill>
                  <a:srgbClr val="0033CC"/>
                </a:solidFill>
              </a:rPr>
              <a:t>(</a:t>
            </a:r>
            <a:r>
              <a:rPr lang="zh-TW" altLang="en-US" sz="2800" dirty="0">
                <a:solidFill>
                  <a:srgbClr val="0033CC"/>
                </a:solidFill>
              </a:rPr>
              <a:t>縮排</a:t>
            </a:r>
            <a:r>
              <a:rPr lang="en-US" sz="2800" dirty="0" smtClean="0">
                <a:solidFill>
                  <a:srgbClr val="0033CC"/>
                </a:solidFill>
              </a:rPr>
              <a:t>)</a:t>
            </a:r>
            <a:br>
              <a:rPr lang="en-US" sz="2800" dirty="0" smtClean="0">
                <a:solidFill>
                  <a:srgbClr val="0033CC"/>
                </a:solidFill>
              </a:rPr>
            </a:br>
            <a:r>
              <a:rPr lang="en-US" sz="2800" dirty="0" smtClean="0">
                <a:solidFill>
                  <a:srgbClr val="0033CC"/>
                </a:solidFill>
              </a:rPr>
              <a:t> </a:t>
            </a:r>
            <a:r>
              <a:rPr lang="en-US" sz="2800" dirty="0">
                <a:solidFill>
                  <a:srgbClr val="0033CC"/>
                </a:solidFill>
              </a:rPr>
              <a:t>was necessary.</a:t>
            </a:r>
          </a:p>
        </p:txBody>
      </p:sp>
      <p:sp>
        <p:nvSpPr>
          <p:cNvPr id="12" name="Rounded Rectangular Callout 11"/>
          <p:cNvSpPr/>
          <p:nvPr/>
        </p:nvSpPr>
        <p:spPr>
          <a:xfrm>
            <a:off x="4021616" y="5013505"/>
            <a:ext cx="3184615" cy="1133011"/>
          </a:xfrm>
          <a:prstGeom prst="wedgeRoundRectCallout">
            <a:avLst>
              <a:gd name="adj1" fmla="val -73915"/>
              <a:gd name="adj2" fmla="val -6118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Now, let’s hit “enter”.</a:t>
            </a:r>
          </a:p>
        </p:txBody>
      </p:sp>
    </p:spTree>
    <p:extLst>
      <p:ext uri="{BB962C8B-B14F-4D97-AF65-F5344CB8AC3E}">
        <p14:creationId xmlns:p14="http://schemas.microsoft.com/office/powerpoint/2010/main" val="503460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par>
                          <p:cTn id="17" fill="hold">
                            <p:stCondLst>
                              <p:cond delay="500"/>
                            </p:stCondLst>
                            <p:childTnLst>
                              <p:par>
                                <p:cTn id="18" presetID="14"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randombar(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xit" presetSubtype="10" fill="hold" grpId="1" nodeType="clickEffect">
                                  <p:stCondLst>
                                    <p:cond delay="0"/>
                                  </p:stCondLst>
                                  <p:childTnLst>
                                    <p:animEffect transition="out" filter="randombar(horizontal)">
                                      <p:cBhvr>
                                        <p:cTn id="24" dur="500"/>
                                        <p:tgtEl>
                                          <p:spTgt spid="9"/>
                                        </p:tgtEl>
                                      </p:cBhvr>
                                    </p:animEffect>
                                    <p:set>
                                      <p:cBhvr>
                                        <p:cTn id="25" dur="1" fill="hold">
                                          <p:stCondLst>
                                            <p:cond delay="499"/>
                                          </p:stCondLst>
                                        </p:cTn>
                                        <p:tgtEl>
                                          <p:spTgt spid="9"/>
                                        </p:tgtEl>
                                        <p:attrNameLst>
                                          <p:attrName>style.visibility</p:attrName>
                                        </p:attrNameLst>
                                      </p:cBhvr>
                                      <p:to>
                                        <p:strVal val="hidden"/>
                                      </p:to>
                                    </p:set>
                                  </p:childTnLst>
                                </p:cTn>
                              </p:par>
                            </p:childTnLst>
                          </p:cTn>
                        </p:par>
                        <p:par>
                          <p:cTn id="26" fill="hold">
                            <p:stCondLst>
                              <p:cond delay="500"/>
                            </p:stCondLst>
                            <p:childTnLst>
                              <p:par>
                                <p:cTn id="27" presetID="14" presetClass="entr" presetSubtype="1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randombar(horizontal)">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1" y="1588169"/>
            <a:ext cx="9729437"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1"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bg1">
                    <a:lumMod val="95000"/>
                  </a:schemeClr>
                </a:solidFill>
                <a:latin typeface="Lucida Console" panose="020B0609040504020204" pitchFamily="49" charset="0"/>
                <a:cs typeface="Consolas" panose="020B0609020204030204" pitchFamily="49" charset="0"/>
              </a:rPr>
              <a:t>5 6</a:t>
            </a:r>
          </a:p>
          <a:p>
            <a:r>
              <a:rPr lang="en-US" sz="2200" dirty="0">
                <a:solidFill>
                  <a:schemeClr val="bg1">
                    <a:lumMod val="95000"/>
                  </a:schemeClr>
                </a:solidFill>
                <a:latin typeface="Lucida Console" panose="020B0609040504020204" pitchFamily="49" charset="0"/>
                <a:cs typeface="Consolas" panose="020B0609020204030204" pitchFamily="49" charset="0"/>
              </a:rPr>
              <a:t>&gt;&gt;&gt; for x in range(3):</a:t>
            </a:r>
          </a:p>
          <a:p>
            <a:r>
              <a:rPr lang="en-US" sz="2200" dirty="0">
                <a:solidFill>
                  <a:schemeClr val="bg1">
                    <a:lumMod val="95000"/>
                  </a:schemeClr>
                </a:solidFill>
                <a:latin typeface="Lucida Console" panose="020B0609040504020204" pitchFamily="49" charset="0"/>
                <a:cs typeface="Consolas" panose="020B0609020204030204" pitchFamily="49" charset="0"/>
              </a:rPr>
              <a:t>...    print (x)</a:t>
            </a:r>
          </a:p>
          <a:p>
            <a:r>
              <a:rPr lang="en-US" sz="2200" dirty="0">
                <a:solidFill>
                  <a:schemeClr val="bg1">
                    <a:lumMod val="95000"/>
                  </a:schemeClr>
                </a:solidFill>
                <a:latin typeface="Lucida Console" panose="020B0609040504020204" pitchFamily="49" charset="0"/>
                <a:cs typeface="Consolas" panose="020B0609020204030204" pitchFamily="49" charset="0"/>
              </a:rPr>
              <a:t>...</a:t>
            </a:r>
          </a:p>
          <a:p>
            <a:r>
              <a:rPr lang="en-US" sz="2200" dirty="0">
                <a:solidFill>
                  <a:schemeClr val="tx1"/>
                </a:solidFill>
                <a:latin typeface="Lucida Console" panose="020B0609040504020204" pitchFamily="49" charset="0"/>
                <a:cs typeface="Consolas" panose="020B0609020204030204" pitchFamily="49" charset="0"/>
              </a:rPr>
              <a:t>0</a:t>
            </a:r>
          </a:p>
          <a:p>
            <a:r>
              <a:rPr lang="en-US" sz="2200" dirty="0">
                <a:solidFill>
                  <a:schemeClr val="tx1"/>
                </a:solidFill>
                <a:latin typeface="Lucida Console" panose="020B0609040504020204" pitchFamily="49" charset="0"/>
                <a:cs typeface="Consolas" panose="020B0609020204030204" pitchFamily="49" charset="0"/>
              </a:rPr>
              <a:t>1</a:t>
            </a:r>
          </a:p>
          <a:p>
            <a:r>
              <a:rPr lang="en-US" sz="2200" dirty="0">
                <a:solidFill>
                  <a:schemeClr val="tx1"/>
                </a:solidFill>
                <a:latin typeface="Lucida Console" panose="020B0609040504020204" pitchFamily="49" charset="0"/>
                <a:cs typeface="Consolas" panose="020B0609020204030204" pitchFamily="49" charset="0"/>
              </a:rPr>
              <a:t>2</a:t>
            </a:r>
          </a:p>
          <a:p>
            <a:r>
              <a:rPr lang="en-US" sz="2200" dirty="0">
                <a:solidFill>
                  <a:schemeClr val="tx1"/>
                </a:solidFill>
                <a:latin typeface="Lucida Console" panose="020B0609040504020204" pitchFamily="49" charset="0"/>
                <a:cs typeface="Consolas" panose="020B0609020204030204" pitchFamily="49" charset="0"/>
              </a:rPr>
              <a:t>&gt;&gt;&gt;</a:t>
            </a:r>
          </a:p>
        </p:txBody>
      </p:sp>
      <p:cxnSp>
        <p:nvCxnSpPr>
          <p:cNvPr id="3" name="Straight Connector 2"/>
          <p:cNvCxnSpPr/>
          <p:nvPr/>
        </p:nvCxnSpPr>
        <p:spPr>
          <a:xfrm>
            <a:off x="1034867" y="4898268"/>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2100782" y="4898268"/>
            <a:ext cx="7458208" cy="1826382"/>
          </a:xfrm>
          <a:prstGeom prst="wedgeRoundRectCallout">
            <a:avLst>
              <a:gd name="adj1" fmla="val -62957"/>
              <a:gd name="adj2" fmla="val -4154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Although my loop body is done, Python doesn’t know that it is. </a:t>
            </a:r>
            <a:r>
              <a:rPr lang="en-US" sz="2800" dirty="0" smtClean="0">
                <a:solidFill>
                  <a:srgbClr val="0033CC"/>
                </a:solidFill>
              </a:rPr>
              <a:t>This </a:t>
            </a:r>
            <a:r>
              <a:rPr lang="en-US" sz="2800" dirty="0">
                <a:solidFill>
                  <a:srgbClr val="0033CC"/>
                </a:solidFill>
              </a:rPr>
              <a:t>is because loop bodies can be any length. We therefore </a:t>
            </a:r>
            <a:r>
              <a:rPr lang="en-US" sz="2800" dirty="0" smtClean="0">
                <a:solidFill>
                  <a:srgbClr val="FF0000"/>
                </a:solidFill>
              </a:rPr>
              <a:t>enter </a:t>
            </a:r>
            <a:r>
              <a:rPr lang="en-US" sz="2800" dirty="0">
                <a:solidFill>
                  <a:srgbClr val="FF0000"/>
                </a:solidFill>
              </a:rPr>
              <a:t>an empty line</a:t>
            </a:r>
            <a:r>
              <a:rPr lang="en-US" sz="2800" dirty="0">
                <a:solidFill>
                  <a:srgbClr val="0033CC"/>
                </a:solidFill>
              </a:rPr>
              <a:t>, </a:t>
            </a:r>
            <a:r>
              <a:rPr lang="en-US" sz="2800" dirty="0" smtClean="0">
                <a:solidFill>
                  <a:srgbClr val="0033CC"/>
                </a:solidFill>
              </a:rPr>
              <a:t>to </a:t>
            </a:r>
            <a:r>
              <a:rPr lang="en-US" sz="2800" dirty="0">
                <a:solidFill>
                  <a:srgbClr val="0033CC"/>
                </a:solidFill>
              </a:rPr>
              <a:t>let Python know that the loop is finished.</a:t>
            </a:r>
          </a:p>
        </p:txBody>
      </p:sp>
    </p:spTree>
    <p:extLst>
      <p:ext uri="{BB962C8B-B14F-4D97-AF65-F5344CB8AC3E}">
        <p14:creationId xmlns:p14="http://schemas.microsoft.com/office/powerpoint/2010/main" val="249230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1" y="1588169"/>
            <a:ext cx="9729437"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1"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bg1">
                    <a:lumMod val="95000"/>
                  </a:schemeClr>
                </a:solidFill>
                <a:latin typeface="Lucida Console" panose="020B0609040504020204" pitchFamily="49" charset="0"/>
                <a:cs typeface="Consolas" panose="020B0609020204030204" pitchFamily="49" charset="0"/>
              </a:rPr>
              <a:t>5 6</a:t>
            </a:r>
          </a:p>
          <a:p>
            <a:r>
              <a:rPr lang="en-US" sz="2200" dirty="0">
                <a:solidFill>
                  <a:schemeClr val="bg1">
                    <a:lumMod val="95000"/>
                  </a:schemeClr>
                </a:solidFill>
                <a:latin typeface="Lucida Console" panose="020B0609040504020204" pitchFamily="49" charset="0"/>
                <a:cs typeface="Consolas" panose="020B0609020204030204" pitchFamily="49" charset="0"/>
              </a:rPr>
              <a:t>&gt;&gt;&gt; for x in range(3):</a:t>
            </a:r>
          </a:p>
          <a:p>
            <a:r>
              <a:rPr lang="en-US" sz="2200" dirty="0">
                <a:solidFill>
                  <a:schemeClr val="bg1">
                    <a:lumMod val="95000"/>
                  </a:schemeClr>
                </a:solidFill>
                <a:latin typeface="Lucida Console" panose="020B0609040504020204" pitchFamily="49" charset="0"/>
                <a:cs typeface="Consolas" panose="020B0609020204030204" pitchFamily="49" charset="0"/>
              </a:rPr>
              <a:t>...    print (x)</a:t>
            </a:r>
          </a:p>
          <a:p>
            <a:r>
              <a:rPr lang="en-US" sz="2200" dirty="0">
                <a:solidFill>
                  <a:schemeClr val="bg1">
                    <a:lumMod val="95000"/>
                  </a:schemeClr>
                </a:solidFill>
                <a:latin typeface="Lucida Console" panose="020B0609040504020204" pitchFamily="49" charset="0"/>
                <a:cs typeface="Consolas" panose="020B0609020204030204" pitchFamily="49" charset="0"/>
              </a:rPr>
              <a:t>...</a:t>
            </a:r>
          </a:p>
          <a:p>
            <a:r>
              <a:rPr lang="en-US" sz="2200" dirty="0">
                <a:solidFill>
                  <a:schemeClr val="bg1">
                    <a:lumMod val="95000"/>
                  </a:schemeClr>
                </a:solidFill>
                <a:latin typeface="Lucida Console" panose="020B0609040504020204" pitchFamily="49" charset="0"/>
                <a:cs typeface="Consolas" panose="020B0609020204030204" pitchFamily="49" charset="0"/>
              </a:rPr>
              <a:t>0</a:t>
            </a:r>
          </a:p>
          <a:p>
            <a:r>
              <a:rPr lang="en-US" sz="2200" dirty="0">
                <a:solidFill>
                  <a:schemeClr val="bg1">
                    <a:lumMod val="95000"/>
                  </a:schemeClr>
                </a:solidFill>
                <a:latin typeface="Lucida Console" panose="020B0609040504020204" pitchFamily="49" charset="0"/>
                <a:cs typeface="Consolas" panose="020B0609020204030204" pitchFamily="49" charset="0"/>
              </a:rPr>
              <a:t>1</a:t>
            </a:r>
          </a:p>
          <a:p>
            <a:r>
              <a:rPr lang="en-US" sz="2200" dirty="0">
                <a:solidFill>
                  <a:schemeClr val="bg1">
                    <a:lumMod val="95000"/>
                  </a:schemeClr>
                </a:solidFill>
                <a:latin typeface="Lucida Console" panose="020B0609040504020204" pitchFamily="49" charset="0"/>
                <a:cs typeface="Consolas" panose="020B0609020204030204" pitchFamily="49" charset="0"/>
              </a:rPr>
              <a:t>2</a:t>
            </a:r>
          </a:p>
          <a:p>
            <a:r>
              <a:rPr lang="en-US" sz="2200" dirty="0">
                <a:solidFill>
                  <a:schemeClr val="bg1">
                    <a:lumMod val="95000"/>
                  </a:schemeClr>
                </a:solidFill>
                <a:latin typeface="Lucida Console" panose="020B0609040504020204" pitchFamily="49" charset="0"/>
                <a:cs typeface="Consolas" panose="020B0609020204030204" pitchFamily="49" charset="0"/>
              </a:rPr>
              <a:t>&gt;&gt;&gt;</a:t>
            </a:r>
          </a:p>
        </p:txBody>
      </p:sp>
      <p:cxnSp>
        <p:nvCxnSpPr>
          <p:cNvPr id="3" name="Straight Connector 2"/>
          <p:cNvCxnSpPr/>
          <p:nvPr/>
        </p:nvCxnSpPr>
        <p:spPr>
          <a:xfrm>
            <a:off x="1034867" y="6269868"/>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3330291" y="4838700"/>
            <a:ext cx="4850130" cy="855296"/>
          </a:xfrm>
          <a:prstGeom prst="wedgeRoundRectCallout">
            <a:avLst>
              <a:gd name="adj1" fmla="val -103316"/>
              <a:gd name="adj2" fmla="val 44071"/>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800" dirty="0">
                <a:solidFill>
                  <a:srgbClr val="0033CC"/>
                </a:solidFill>
              </a:rPr>
              <a:t>Now Python </a:t>
            </a:r>
            <a:r>
              <a:rPr lang="en-US" sz="2800" dirty="0" smtClean="0">
                <a:solidFill>
                  <a:srgbClr val="0033CC"/>
                </a:solidFill>
              </a:rPr>
              <a:t>could </a:t>
            </a:r>
            <a:r>
              <a:rPr lang="en-US" sz="2800" dirty="0">
                <a:solidFill>
                  <a:srgbClr val="0033CC"/>
                </a:solidFill>
              </a:rPr>
              <a:t>run the loop.</a:t>
            </a:r>
          </a:p>
        </p:txBody>
      </p:sp>
    </p:spTree>
    <p:extLst>
      <p:ext uri="{BB962C8B-B14F-4D97-AF65-F5344CB8AC3E}">
        <p14:creationId xmlns:p14="http://schemas.microsoft.com/office/powerpoint/2010/main" val="3139139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2" y="1588169"/>
            <a:ext cx="9729436"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2"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bg1">
                    <a:lumMod val="95000"/>
                  </a:schemeClr>
                </a:solidFill>
                <a:latin typeface="Lucida Console" panose="020B0609040504020204" pitchFamily="49" charset="0"/>
                <a:cs typeface="Consolas" panose="020B0609020204030204" pitchFamily="49" charset="0"/>
              </a:rPr>
              <a:t>5 6</a:t>
            </a:r>
          </a:p>
          <a:p>
            <a:r>
              <a:rPr lang="en-US" sz="2200" dirty="0">
                <a:solidFill>
                  <a:schemeClr val="bg1">
                    <a:lumMod val="95000"/>
                  </a:schemeClr>
                </a:solidFill>
                <a:latin typeface="Lucida Console" panose="020B0609040504020204" pitchFamily="49" charset="0"/>
                <a:cs typeface="Consolas" panose="020B0609020204030204" pitchFamily="49" charset="0"/>
              </a:rPr>
              <a:t>&gt;&gt;&gt; for x in range(3):</a:t>
            </a:r>
          </a:p>
          <a:p>
            <a:r>
              <a:rPr lang="en-US" sz="2200" dirty="0">
                <a:solidFill>
                  <a:schemeClr val="bg1">
                    <a:lumMod val="95000"/>
                  </a:schemeClr>
                </a:solidFill>
                <a:latin typeface="Lucida Console" panose="020B0609040504020204" pitchFamily="49" charset="0"/>
                <a:cs typeface="Consolas" panose="020B0609020204030204" pitchFamily="49" charset="0"/>
              </a:rPr>
              <a:t>...    print (x)</a:t>
            </a:r>
          </a:p>
          <a:p>
            <a:r>
              <a:rPr lang="en-US" sz="2200" dirty="0">
                <a:solidFill>
                  <a:schemeClr val="bg1">
                    <a:lumMod val="95000"/>
                  </a:schemeClr>
                </a:solidFill>
                <a:latin typeface="Lucida Console" panose="020B0609040504020204" pitchFamily="49" charset="0"/>
                <a:cs typeface="Consolas" panose="020B0609020204030204" pitchFamily="49" charset="0"/>
              </a:rPr>
              <a:t>...</a:t>
            </a:r>
          </a:p>
          <a:p>
            <a:r>
              <a:rPr lang="en-US" sz="2200" dirty="0">
                <a:solidFill>
                  <a:schemeClr val="bg1">
                    <a:lumMod val="95000"/>
                  </a:schemeClr>
                </a:solidFill>
                <a:latin typeface="Lucida Console" panose="020B0609040504020204" pitchFamily="49" charset="0"/>
                <a:cs typeface="Consolas" panose="020B0609020204030204" pitchFamily="49" charset="0"/>
              </a:rPr>
              <a:t>0</a:t>
            </a:r>
          </a:p>
          <a:p>
            <a:r>
              <a:rPr lang="en-US" sz="2200" dirty="0">
                <a:solidFill>
                  <a:schemeClr val="bg1">
                    <a:lumMod val="95000"/>
                  </a:schemeClr>
                </a:solidFill>
                <a:latin typeface="Lucida Console" panose="020B0609040504020204" pitchFamily="49" charset="0"/>
                <a:cs typeface="Consolas" panose="020B0609020204030204" pitchFamily="49" charset="0"/>
              </a:rPr>
              <a:t>1</a:t>
            </a:r>
          </a:p>
          <a:p>
            <a:r>
              <a:rPr lang="en-US" sz="2200" dirty="0">
                <a:solidFill>
                  <a:schemeClr val="bg1">
                    <a:lumMod val="95000"/>
                  </a:schemeClr>
                </a:solidFill>
                <a:latin typeface="Lucida Console" panose="020B0609040504020204" pitchFamily="49" charset="0"/>
                <a:cs typeface="Consolas" panose="020B0609020204030204" pitchFamily="49" charset="0"/>
              </a:rPr>
              <a:t>2</a:t>
            </a:r>
          </a:p>
          <a:p>
            <a:r>
              <a:rPr lang="en-US" sz="2200" dirty="0">
                <a:solidFill>
                  <a:schemeClr val="bg1">
                    <a:lumMod val="95000"/>
                  </a:schemeClr>
                </a:solidFill>
                <a:latin typeface="Lucida Console" panose="020B0609040504020204" pitchFamily="49" charset="0"/>
                <a:cs typeface="Consolas" panose="020B0609020204030204" pitchFamily="49" charset="0"/>
              </a:rPr>
              <a:t>&gt;&gt;&gt;</a:t>
            </a:r>
          </a:p>
        </p:txBody>
      </p:sp>
      <p:cxnSp>
        <p:nvCxnSpPr>
          <p:cNvPr id="3" name="Straight Connector 2"/>
          <p:cNvCxnSpPr/>
          <p:nvPr/>
        </p:nvCxnSpPr>
        <p:spPr>
          <a:xfrm>
            <a:off x="1034868" y="6269868"/>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4092292" y="5560646"/>
            <a:ext cx="5497830" cy="855296"/>
          </a:xfrm>
          <a:prstGeom prst="wedgeRoundRectCallout">
            <a:avLst>
              <a:gd name="adj1" fmla="val -103316"/>
              <a:gd name="adj2" fmla="val 44071"/>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800" dirty="0">
                <a:solidFill>
                  <a:srgbClr val="0033CC"/>
                </a:solidFill>
              </a:rPr>
              <a:t>Now that we are done, how to end the interactive session? Hit Ctrl-D.</a:t>
            </a:r>
          </a:p>
        </p:txBody>
      </p:sp>
      <p:sp>
        <p:nvSpPr>
          <p:cNvPr id="9" name="Rounded Rectangular Callout 8"/>
          <p:cNvSpPr/>
          <p:nvPr/>
        </p:nvSpPr>
        <p:spPr>
          <a:xfrm>
            <a:off x="3330292" y="4838700"/>
            <a:ext cx="4850130" cy="855296"/>
          </a:xfrm>
          <a:prstGeom prst="wedgeRoundRectCallout">
            <a:avLst>
              <a:gd name="adj1" fmla="val -103316"/>
              <a:gd name="adj2" fmla="val 44071"/>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800" dirty="0">
                <a:solidFill>
                  <a:srgbClr val="0033CC"/>
                </a:solidFill>
              </a:rPr>
              <a:t>Now Python </a:t>
            </a:r>
            <a:r>
              <a:rPr lang="en-US" sz="2800" dirty="0" smtClean="0">
                <a:solidFill>
                  <a:srgbClr val="0033CC"/>
                </a:solidFill>
              </a:rPr>
              <a:t>could </a:t>
            </a:r>
            <a:r>
              <a:rPr lang="en-US" sz="2800" dirty="0">
                <a:solidFill>
                  <a:srgbClr val="0033CC"/>
                </a:solidFill>
              </a:rPr>
              <a:t>run the loop.</a:t>
            </a:r>
          </a:p>
        </p:txBody>
      </p:sp>
    </p:spTree>
    <p:extLst>
      <p:ext uri="{BB962C8B-B14F-4D97-AF65-F5344CB8AC3E}">
        <p14:creationId xmlns:p14="http://schemas.microsoft.com/office/powerpoint/2010/main" val="67203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14" presetClass="exit" presetSubtype="10" fill="hold" grpId="1" nodeType="withEffect">
                                  <p:stCondLst>
                                    <p:cond delay="0"/>
                                  </p:stCondLst>
                                  <p:childTnLst>
                                    <p:animEffect transition="out" filter="randombar(horizontal)">
                                      <p:cBhvr>
                                        <p:cTn id="8" dur="500"/>
                                        <p:tgtEl>
                                          <p:spTgt spid="9"/>
                                        </p:tgtEl>
                                      </p:cBhvr>
                                    </p:animEffect>
                                    <p:set>
                                      <p:cBhvr>
                                        <p:cTn id="9" dur="1" fill="hold">
                                          <p:stCondLst>
                                            <p:cond delay="499"/>
                                          </p:stCondLst>
                                        </p:cTn>
                                        <p:tgtEl>
                                          <p:spTgt spid="9"/>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randombar(horizontal)">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xit" presetSubtype="10" fill="hold" grpId="1" nodeType="clickEffect">
                                  <p:stCondLst>
                                    <p:cond delay="0"/>
                                  </p:stCondLst>
                                  <p:childTnLst>
                                    <p:animEffect transition="out" filter="randombar(horizontal)">
                                      <p:cBhvr>
                                        <p:cTn id="18" dur="500"/>
                                        <p:tgtEl>
                                          <p:spTgt spid="8"/>
                                        </p:tgtEl>
                                      </p:cBhvr>
                                    </p:animEffect>
                                    <p:set>
                                      <p:cBhvr>
                                        <p:cTn id="19"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44" y="1588169"/>
            <a:ext cx="972944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2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x=5</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bg1">
                    <a:lumMod val="95000"/>
                  </a:schemeClr>
                </a:solidFill>
                <a:latin typeface="Lucida Console" panose="020B0609040504020204" pitchFamily="49" charset="0"/>
                <a:cs typeface="Consolas" panose="020B0609020204030204" pitchFamily="49" charset="0"/>
              </a:rPr>
              <a:t>5 6</a:t>
            </a:r>
          </a:p>
          <a:p>
            <a:r>
              <a:rPr lang="en-US" sz="2200" dirty="0">
                <a:solidFill>
                  <a:schemeClr val="bg1">
                    <a:lumMod val="95000"/>
                  </a:schemeClr>
                </a:solidFill>
                <a:latin typeface="Lucida Console" panose="020B0609040504020204" pitchFamily="49" charset="0"/>
                <a:cs typeface="Consolas" panose="020B0609020204030204" pitchFamily="49" charset="0"/>
              </a:rPr>
              <a:t>&gt;&gt;&gt; for x in range(3):</a:t>
            </a:r>
          </a:p>
          <a:p>
            <a:r>
              <a:rPr lang="en-US" sz="2200" dirty="0">
                <a:solidFill>
                  <a:schemeClr val="bg1">
                    <a:lumMod val="95000"/>
                  </a:schemeClr>
                </a:solidFill>
                <a:latin typeface="Lucida Console" panose="020B0609040504020204" pitchFamily="49" charset="0"/>
                <a:cs typeface="Consolas" panose="020B0609020204030204" pitchFamily="49" charset="0"/>
              </a:rPr>
              <a:t>...    print (x)</a:t>
            </a:r>
          </a:p>
          <a:p>
            <a:r>
              <a:rPr lang="en-US" sz="2200" dirty="0">
                <a:solidFill>
                  <a:schemeClr val="bg1">
                    <a:lumMod val="95000"/>
                  </a:schemeClr>
                </a:solidFill>
                <a:latin typeface="Lucida Console" panose="020B0609040504020204" pitchFamily="49" charset="0"/>
                <a:cs typeface="Consolas" panose="020B0609020204030204" pitchFamily="49" charset="0"/>
              </a:rPr>
              <a:t>...</a:t>
            </a:r>
          </a:p>
          <a:p>
            <a:r>
              <a:rPr lang="en-US" sz="2200" dirty="0">
                <a:solidFill>
                  <a:schemeClr val="bg1">
                    <a:lumMod val="95000"/>
                  </a:schemeClr>
                </a:solidFill>
                <a:latin typeface="Lucida Console" panose="020B0609040504020204" pitchFamily="49" charset="0"/>
                <a:cs typeface="Consolas" panose="020B0609020204030204" pitchFamily="49" charset="0"/>
              </a:rPr>
              <a:t>0</a:t>
            </a:r>
          </a:p>
          <a:p>
            <a:r>
              <a:rPr lang="en-US" sz="2200" dirty="0">
                <a:solidFill>
                  <a:schemeClr val="bg1">
                    <a:lumMod val="95000"/>
                  </a:schemeClr>
                </a:solidFill>
                <a:latin typeface="Lucida Console" panose="020B0609040504020204" pitchFamily="49" charset="0"/>
                <a:cs typeface="Consolas" panose="020B0609020204030204" pitchFamily="49" charset="0"/>
              </a:rPr>
              <a:t>1</a:t>
            </a:r>
          </a:p>
          <a:p>
            <a:r>
              <a:rPr lang="en-US" sz="2200" dirty="0">
                <a:solidFill>
                  <a:schemeClr val="bg1">
                    <a:lumMod val="95000"/>
                  </a:schemeClr>
                </a:solidFill>
                <a:latin typeface="Lucida Console" panose="020B0609040504020204" pitchFamily="49" charset="0"/>
                <a:cs typeface="Consolas" panose="020B0609020204030204" pitchFamily="49" charset="0"/>
              </a:rPr>
              <a:t>2</a:t>
            </a:r>
          </a:p>
          <a:p>
            <a:r>
              <a:rPr lang="en-US" sz="2200" dirty="0">
                <a:solidFill>
                  <a:schemeClr val="bg1">
                    <a:lumMod val="95000"/>
                  </a:schemeClr>
                </a:solidFill>
                <a:latin typeface="Lucida Console" panose="020B0609040504020204" pitchFamily="49" charset="0"/>
                <a:cs typeface="Consolas" panose="020B0609020204030204" pitchFamily="49" charset="0"/>
              </a:rPr>
              <a:t>&gt;&gt;&gt;</a:t>
            </a:r>
          </a:p>
          <a:p>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a:t>
            </a:r>
          </a:p>
        </p:txBody>
      </p:sp>
      <p:cxnSp>
        <p:nvCxnSpPr>
          <p:cNvPr id="3" name="Straight Connector 2"/>
          <p:cNvCxnSpPr/>
          <p:nvPr/>
        </p:nvCxnSpPr>
        <p:spPr>
          <a:xfrm>
            <a:off x="683976" y="6269868"/>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2815453" y="5560646"/>
            <a:ext cx="4171760" cy="855296"/>
          </a:xfrm>
          <a:prstGeom prst="wedgeRoundRectCallout">
            <a:avLst>
              <a:gd name="adj1" fmla="val -99028"/>
              <a:gd name="adj2" fmla="val 4523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800" dirty="0">
                <a:solidFill>
                  <a:srgbClr val="0033CC"/>
                </a:solidFill>
              </a:rPr>
              <a:t>Python is done. We’re back to the UNIX prompt.</a:t>
            </a:r>
          </a:p>
        </p:txBody>
      </p:sp>
    </p:spTree>
    <p:extLst>
      <p:ext uri="{BB962C8B-B14F-4D97-AF65-F5344CB8AC3E}">
        <p14:creationId xmlns:p14="http://schemas.microsoft.com/office/powerpoint/2010/main" val="196087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par>
                          <p:cTn id="7" fill="hold">
                            <p:stCondLst>
                              <p:cond delay="1000"/>
                            </p:stCondLst>
                            <p:childTnLst>
                              <p:par>
                                <p:cTn id="8" presetID="14" presetClass="entr" presetSubtype="1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randombar(horizont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tx1"/>
                </a:solidFill>
                <a:latin typeface="Lucida Console" panose="020B0609040504020204" pitchFamily="49" charset="0"/>
                <a:cs typeface="Consolas" panose="020B0609020204030204" pitchFamily="49" charset="0"/>
              </a:rPr>
              <a:t>&gt;&gt;&gt; a</a:t>
            </a:r>
          </a:p>
          <a:p>
            <a:r>
              <a:rPr lang="en-US" sz="2200" dirty="0" smtClean="0">
                <a:solidFill>
                  <a:schemeClr val="tx1"/>
                </a:solidFill>
                <a:latin typeface="Lucida Console" panose="020B0609040504020204" pitchFamily="49" charset="0"/>
                <a:cs typeface="Consolas" panose="020B0609020204030204" pitchFamily="49" charset="0"/>
              </a:rPr>
              <a:t>2</a:t>
            </a:r>
            <a:endParaRPr lang="en-US" sz="2200" dirty="0">
              <a:solidFill>
                <a:schemeClr val="tx1"/>
              </a:solidFill>
              <a:latin typeface="Lucida Console" panose="020B0609040504020204" pitchFamily="49" charset="0"/>
              <a:cs typeface="Consolas" panose="020B0609020204030204" pitchFamily="49" charset="0"/>
            </a:endParaRPr>
          </a:p>
          <a:p>
            <a:r>
              <a:rPr lang="en-US" sz="2200" dirty="0" smtClean="0">
                <a:solidFill>
                  <a:schemeClr val="tx1"/>
                </a:solidFill>
                <a:latin typeface="Lucida Console" panose="020B0609040504020204" pitchFamily="49" charset="0"/>
                <a:cs typeface="Consolas" panose="020B0609020204030204" pitchFamily="49" charset="0"/>
              </a:rPr>
              <a:t>&gt;&gt;&gt; </a:t>
            </a:r>
            <a:r>
              <a:rPr lang="en-US" sz="2200" dirty="0">
                <a:solidFill>
                  <a:schemeClr val="tx1"/>
                </a:solidFill>
                <a:latin typeface="Lucida Console" panose="020B0609040504020204" pitchFamily="49" charset="0"/>
                <a:cs typeface="Consolas" panose="020B0609020204030204" pitchFamily="49" charset="0"/>
              </a:rPr>
              <a:t>(-b+(b*b-4*a*c)**0.5)/(2*a)</a:t>
            </a:r>
          </a:p>
          <a:p>
            <a:r>
              <a:rPr lang="en-US" sz="2200" dirty="0">
                <a:solidFill>
                  <a:schemeClr val="tx1"/>
                </a:solidFill>
                <a:latin typeface="Lucida Console" panose="020B0609040504020204" pitchFamily="49" charset="0"/>
                <a:cs typeface="Consolas" panose="020B0609020204030204" pitchFamily="49" charset="0"/>
              </a:rPr>
              <a:t>3.0</a:t>
            </a:r>
          </a:p>
          <a:p>
            <a:r>
              <a:rPr lang="en-US" sz="2200" dirty="0">
                <a:solidFill>
                  <a:schemeClr val="tx1"/>
                </a:solidFill>
                <a:latin typeface="Lucida Console" panose="020B0609040504020204" pitchFamily="49" charset="0"/>
                <a:cs typeface="Consolas" panose="020B0609020204030204" pitchFamily="49" charset="0"/>
              </a:rPr>
              <a:t>&gt;&gt;&gt; _</a:t>
            </a:r>
          </a:p>
          <a:p>
            <a:r>
              <a:rPr lang="en-US" sz="2200" dirty="0">
                <a:solidFill>
                  <a:schemeClr val="tx1"/>
                </a:solidFill>
                <a:latin typeface="Lucida Console" panose="020B0609040504020204" pitchFamily="49" charset="0"/>
                <a:cs typeface="Consolas" panose="020B0609020204030204" pitchFamily="49" charset="0"/>
              </a:rPr>
              <a:t>3.0</a:t>
            </a:r>
          </a:p>
          <a:p>
            <a:r>
              <a:rPr lang="en-US" sz="2200" dirty="0">
                <a:solidFill>
                  <a:schemeClr val="tx1"/>
                </a:solidFill>
                <a:latin typeface="Lucida Console" panose="020B0609040504020204" pitchFamily="49" charset="0"/>
                <a:cs typeface="Consolas" panose="020B0609020204030204" pitchFamily="49" charset="0"/>
              </a:rPr>
              <a:t>&gt;&gt;&gt; x=2*_</a:t>
            </a:r>
          </a:p>
          <a:p>
            <a:r>
              <a:rPr lang="en-US" sz="2200" dirty="0">
                <a:solidFill>
                  <a:schemeClr val="tx1"/>
                </a:solidFill>
                <a:latin typeface="Lucida Console" panose="020B0609040504020204" pitchFamily="49" charset="0"/>
                <a:cs typeface="Consolas" panose="020B0609020204030204" pitchFamily="49" charset="0"/>
              </a:rPr>
              <a:t>&gt;&gt;&gt; _+x</a:t>
            </a:r>
          </a:p>
          <a:p>
            <a:r>
              <a:rPr lang="en-US" sz="2200" dirty="0" smtClean="0">
                <a:solidFill>
                  <a:schemeClr val="tx1"/>
                </a:solidFill>
                <a:latin typeface="Lucida Console" panose="020B0609040504020204" pitchFamily="49" charset="0"/>
                <a:cs typeface="Consolas" panose="020B0609020204030204" pitchFamily="49" charset="0"/>
              </a:rPr>
              <a:t>9.0</a:t>
            </a:r>
            <a:endParaRPr lang="en-US" sz="2200" dirty="0">
              <a:solidFill>
                <a:schemeClr val="tx1"/>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3356766" y="3255693"/>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4580163" y="3165886"/>
            <a:ext cx="3990251" cy="904459"/>
          </a:xfrm>
          <a:prstGeom prst="wedgeRoundRectCallout">
            <a:avLst>
              <a:gd name="adj1" fmla="val -77021"/>
              <a:gd name="adj2" fmla="val -2247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2800" dirty="0" smtClean="0">
                <a:solidFill>
                  <a:srgbClr val="0033CC"/>
                </a:solidFill>
              </a:rPr>
              <a:t>Here we define three variables on one line.</a:t>
            </a:r>
            <a:endParaRPr lang="en-US" sz="2800" dirty="0">
              <a:solidFill>
                <a:srgbClr val="0033CC"/>
              </a:solidFill>
            </a:endParaRPr>
          </a:p>
        </p:txBody>
      </p:sp>
    </p:spTree>
    <p:extLst>
      <p:ext uri="{BB962C8B-B14F-4D97-AF65-F5344CB8AC3E}">
        <p14:creationId xmlns:p14="http://schemas.microsoft.com/office/powerpoint/2010/main" val="587773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tx1"/>
                </a:solidFill>
                <a:latin typeface="Lucida Console" panose="020B0609040504020204" pitchFamily="49" charset="0"/>
                <a:cs typeface="Consolas" panose="020B0609020204030204" pitchFamily="49" charset="0"/>
              </a:rPr>
              <a:t>2</a:t>
            </a:r>
            <a:endParaRPr lang="en-US" sz="2200" dirty="0">
              <a:solidFill>
                <a:schemeClr val="tx1"/>
              </a:solidFill>
              <a:latin typeface="Lucida Console" panose="020B0609040504020204" pitchFamily="49" charset="0"/>
              <a:cs typeface="Consolas" panose="020B0609020204030204" pitchFamily="49" charset="0"/>
            </a:endParaRPr>
          </a:p>
          <a:p>
            <a:r>
              <a:rPr lang="en-US" sz="2200" dirty="0" smtClean="0">
                <a:solidFill>
                  <a:schemeClr val="tx1"/>
                </a:solidFill>
                <a:latin typeface="Lucida Console" panose="020B0609040504020204" pitchFamily="49" charset="0"/>
                <a:cs typeface="Consolas" panose="020B0609020204030204" pitchFamily="49" charset="0"/>
              </a:rPr>
              <a:t>&gt;&gt;&gt; </a:t>
            </a:r>
            <a:r>
              <a:rPr lang="en-US" sz="2200" dirty="0">
                <a:solidFill>
                  <a:schemeClr val="tx1"/>
                </a:solidFill>
                <a:latin typeface="Lucida Console" panose="020B0609040504020204" pitchFamily="49" charset="0"/>
                <a:cs typeface="Consolas" panose="020B0609020204030204" pitchFamily="49" charset="0"/>
              </a:rPr>
              <a:t>(-b+(b*b-4*a*c)**0.5)/(2*a)</a:t>
            </a:r>
          </a:p>
          <a:p>
            <a:r>
              <a:rPr lang="en-US" sz="2200" dirty="0">
                <a:solidFill>
                  <a:schemeClr val="tx1"/>
                </a:solidFill>
                <a:latin typeface="Lucida Console" panose="020B0609040504020204" pitchFamily="49" charset="0"/>
                <a:cs typeface="Consolas" panose="020B0609020204030204" pitchFamily="49" charset="0"/>
              </a:rPr>
              <a:t>3.0</a:t>
            </a:r>
          </a:p>
          <a:p>
            <a:r>
              <a:rPr lang="en-US" sz="2200" dirty="0">
                <a:solidFill>
                  <a:schemeClr val="tx1"/>
                </a:solidFill>
                <a:latin typeface="Lucida Console" panose="020B0609040504020204" pitchFamily="49" charset="0"/>
                <a:cs typeface="Consolas" panose="020B0609020204030204" pitchFamily="49" charset="0"/>
              </a:rPr>
              <a:t>&gt;&gt;&gt; _</a:t>
            </a:r>
          </a:p>
          <a:p>
            <a:r>
              <a:rPr lang="en-US" sz="2200" dirty="0">
                <a:solidFill>
                  <a:schemeClr val="tx1"/>
                </a:solidFill>
                <a:latin typeface="Lucida Console" panose="020B0609040504020204" pitchFamily="49" charset="0"/>
                <a:cs typeface="Consolas" panose="020B0609020204030204" pitchFamily="49" charset="0"/>
              </a:rPr>
              <a:t>3.0</a:t>
            </a:r>
          </a:p>
          <a:p>
            <a:r>
              <a:rPr lang="en-US" sz="2200" dirty="0">
                <a:solidFill>
                  <a:schemeClr val="tx1"/>
                </a:solidFill>
                <a:latin typeface="Lucida Console" panose="020B0609040504020204" pitchFamily="49" charset="0"/>
                <a:cs typeface="Consolas" panose="020B0609020204030204" pitchFamily="49" charset="0"/>
              </a:rPr>
              <a:t>&gt;&gt;&gt; x=2*_</a:t>
            </a:r>
          </a:p>
          <a:p>
            <a:r>
              <a:rPr lang="en-US" sz="2200" dirty="0">
                <a:solidFill>
                  <a:schemeClr val="tx1"/>
                </a:solidFill>
                <a:latin typeface="Lucida Console" panose="020B0609040504020204" pitchFamily="49" charset="0"/>
                <a:cs typeface="Consolas" panose="020B0609020204030204" pitchFamily="49" charset="0"/>
              </a:rPr>
              <a:t>&gt;&gt;&gt; _+x</a:t>
            </a:r>
          </a:p>
          <a:p>
            <a:r>
              <a:rPr lang="en-US" sz="2200" dirty="0" smtClean="0">
                <a:solidFill>
                  <a:schemeClr val="tx1"/>
                </a:solidFill>
                <a:latin typeface="Lucida Console" panose="020B0609040504020204" pitchFamily="49" charset="0"/>
                <a:cs typeface="Consolas" panose="020B0609020204030204" pitchFamily="49" charset="0"/>
              </a:rPr>
              <a:t>9.0</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8" name="Rounded Rectangular Callout 7"/>
          <p:cNvSpPr/>
          <p:nvPr/>
        </p:nvSpPr>
        <p:spPr>
          <a:xfrm>
            <a:off x="4580163" y="3165886"/>
            <a:ext cx="3990251" cy="1659207"/>
          </a:xfrm>
          <a:prstGeom prst="wedgeRoundRectCallout">
            <a:avLst>
              <a:gd name="adj1" fmla="val -127968"/>
              <a:gd name="adj2" fmla="val -1638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2800" dirty="0" smtClean="0">
                <a:solidFill>
                  <a:srgbClr val="0033CC"/>
                </a:solidFill>
              </a:rPr>
              <a:t>What is this? It’s not a normal command such as you would expect to see in a program.</a:t>
            </a:r>
            <a:endParaRPr lang="en-US" sz="2800" dirty="0">
              <a:solidFill>
                <a:srgbClr val="0033CC"/>
              </a:solidFill>
            </a:endParaRPr>
          </a:p>
        </p:txBody>
      </p:sp>
      <p:cxnSp>
        <p:nvCxnSpPr>
          <p:cNvPr id="9" name="Straight Connector 8"/>
          <p:cNvCxnSpPr/>
          <p:nvPr/>
        </p:nvCxnSpPr>
        <p:spPr>
          <a:xfrm>
            <a:off x="1370123" y="3587707"/>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7048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tx1"/>
                </a:solidFill>
                <a:latin typeface="Lucida Console" panose="020B0609040504020204" pitchFamily="49" charset="0"/>
                <a:cs typeface="Consolas" panose="020B0609020204030204" pitchFamily="49" charset="0"/>
              </a:rPr>
              <a:t>(-b+(b*b-4*a*c)**0.5)/(2*a)</a:t>
            </a:r>
          </a:p>
          <a:p>
            <a:r>
              <a:rPr lang="en-US" sz="2200" dirty="0">
                <a:solidFill>
                  <a:schemeClr val="tx1"/>
                </a:solidFill>
                <a:latin typeface="Lucida Console" panose="020B0609040504020204" pitchFamily="49" charset="0"/>
                <a:cs typeface="Consolas" panose="020B0609020204030204" pitchFamily="49" charset="0"/>
              </a:rPr>
              <a:t>3.0</a:t>
            </a:r>
          </a:p>
          <a:p>
            <a:r>
              <a:rPr lang="en-US" sz="2200" dirty="0">
                <a:solidFill>
                  <a:schemeClr val="tx1"/>
                </a:solidFill>
                <a:latin typeface="Lucida Console" panose="020B0609040504020204" pitchFamily="49" charset="0"/>
                <a:cs typeface="Consolas" panose="020B0609020204030204" pitchFamily="49" charset="0"/>
              </a:rPr>
              <a:t>&gt;&gt;&gt; _</a:t>
            </a:r>
          </a:p>
          <a:p>
            <a:r>
              <a:rPr lang="en-US" sz="2200" dirty="0">
                <a:solidFill>
                  <a:schemeClr val="tx1"/>
                </a:solidFill>
                <a:latin typeface="Lucida Console" panose="020B0609040504020204" pitchFamily="49" charset="0"/>
                <a:cs typeface="Consolas" panose="020B0609020204030204" pitchFamily="49" charset="0"/>
              </a:rPr>
              <a:t>3.0</a:t>
            </a:r>
          </a:p>
          <a:p>
            <a:r>
              <a:rPr lang="en-US" sz="2200" dirty="0">
                <a:solidFill>
                  <a:schemeClr val="tx1"/>
                </a:solidFill>
                <a:latin typeface="Lucida Console" panose="020B0609040504020204" pitchFamily="49" charset="0"/>
                <a:cs typeface="Consolas" panose="020B0609020204030204" pitchFamily="49" charset="0"/>
              </a:rPr>
              <a:t>&gt;&gt;&gt; x=2*_</a:t>
            </a:r>
          </a:p>
          <a:p>
            <a:r>
              <a:rPr lang="en-US" sz="2200" dirty="0">
                <a:solidFill>
                  <a:schemeClr val="tx1"/>
                </a:solidFill>
                <a:latin typeface="Lucida Console" panose="020B0609040504020204" pitchFamily="49" charset="0"/>
                <a:cs typeface="Consolas" panose="020B0609020204030204" pitchFamily="49" charset="0"/>
              </a:rPr>
              <a:t>&gt;&gt;&gt; _+x</a:t>
            </a:r>
          </a:p>
          <a:p>
            <a:r>
              <a:rPr lang="en-US" sz="2200" dirty="0" smtClean="0">
                <a:solidFill>
                  <a:schemeClr val="tx1"/>
                </a:solidFill>
                <a:latin typeface="Lucida Console" panose="020B0609040504020204" pitchFamily="49" charset="0"/>
                <a:cs typeface="Consolas" panose="020B0609020204030204" pitchFamily="49" charset="0"/>
              </a:rPr>
              <a:t>9.0</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8" name="Rounded Rectangular Callout 7"/>
          <p:cNvSpPr/>
          <p:nvPr/>
        </p:nvSpPr>
        <p:spPr>
          <a:xfrm>
            <a:off x="4580163" y="3165886"/>
            <a:ext cx="3990251" cy="2336843"/>
          </a:xfrm>
          <a:prstGeom prst="wedgeRoundRectCallout">
            <a:avLst>
              <a:gd name="adj1" fmla="val -145155"/>
              <a:gd name="adj2" fmla="val -1218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2800" dirty="0" smtClean="0">
                <a:solidFill>
                  <a:srgbClr val="0033CC"/>
                </a:solidFill>
              </a:rPr>
              <a:t>Oh. It seems to be a kind </a:t>
            </a:r>
            <a:br>
              <a:rPr lang="en-US" sz="2800" dirty="0" smtClean="0">
                <a:solidFill>
                  <a:srgbClr val="0033CC"/>
                </a:solidFill>
              </a:rPr>
            </a:br>
            <a:r>
              <a:rPr lang="en-US" sz="2800" dirty="0" smtClean="0">
                <a:solidFill>
                  <a:srgbClr val="0033CC"/>
                </a:solidFill>
              </a:rPr>
              <a:t>of display statement, similar to print().</a:t>
            </a:r>
          </a:p>
          <a:p>
            <a:pPr algn="ctr">
              <a:lnSpc>
                <a:spcPct val="85000"/>
              </a:lnSpc>
            </a:pPr>
            <a:r>
              <a:rPr lang="en-US" sz="2800" dirty="0" smtClean="0">
                <a:solidFill>
                  <a:srgbClr val="0033CC"/>
                </a:solidFill>
              </a:rPr>
              <a:t>It is clearly a feature that exists because of the interactive mode.</a:t>
            </a:r>
            <a:endParaRPr lang="en-US" sz="2800" dirty="0">
              <a:solidFill>
                <a:srgbClr val="0033CC"/>
              </a:solidFill>
            </a:endParaRPr>
          </a:p>
        </p:txBody>
      </p:sp>
      <p:cxnSp>
        <p:nvCxnSpPr>
          <p:cNvPr id="10" name="Straight Connector 9"/>
          <p:cNvCxnSpPr/>
          <p:nvPr/>
        </p:nvCxnSpPr>
        <p:spPr>
          <a:xfrm>
            <a:off x="1097981" y="4254457"/>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5288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0"/>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randombar(horizontal)">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tx1"/>
                </a:solidFill>
                <a:latin typeface="Lucida Console" panose="020B0609040504020204" pitchFamily="49" charset="0"/>
                <a:cs typeface="Consolas" panose="020B0609020204030204" pitchFamily="49" charset="0"/>
              </a:rPr>
              <a:t>3.0</a:t>
            </a:r>
          </a:p>
          <a:p>
            <a:r>
              <a:rPr lang="en-US" sz="2200" dirty="0">
                <a:solidFill>
                  <a:schemeClr val="tx1"/>
                </a:solidFill>
                <a:latin typeface="Lucida Console" panose="020B0609040504020204" pitchFamily="49" charset="0"/>
                <a:cs typeface="Consolas" panose="020B0609020204030204" pitchFamily="49" charset="0"/>
              </a:rPr>
              <a:t>&gt;&gt;&gt; _</a:t>
            </a:r>
          </a:p>
          <a:p>
            <a:r>
              <a:rPr lang="en-US" sz="2200" dirty="0">
                <a:solidFill>
                  <a:schemeClr val="tx1"/>
                </a:solidFill>
                <a:latin typeface="Lucida Console" panose="020B0609040504020204" pitchFamily="49" charset="0"/>
                <a:cs typeface="Consolas" panose="020B0609020204030204" pitchFamily="49" charset="0"/>
              </a:rPr>
              <a:t>3.0</a:t>
            </a:r>
          </a:p>
          <a:p>
            <a:r>
              <a:rPr lang="en-US" sz="2200" dirty="0">
                <a:solidFill>
                  <a:schemeClr val="tx1"/>
                </a:solidFill>
                <a:latin typeface="Lucida Console" panose="020B0609040504020204" pitchFamily="49" charset="0"/>
                <a:cs typeface="Consolas" panose="020B0609020204030204" pitchFamily="49" charset="0"/>
              </a:rPr>
              <a:t>&gt;&gt;&gt; x=2*_</a:t>
            </a:r>
          </a:p>
          <a:p>
            <a:r>
              <a:rPr lang="en-US" sz="2200" dirty="0">
                <a:solidFill>
                  <a:schemeClr val="tx1"/>
                </a:solidFill>
                <a:latin typeface="Lucida Console" panose="020B0609040504020204" pitchFamily="49" charset="0"/>
                <a:cs typeface="Consolas" panose="020B0609020204030204" pitchFamily="49" charset="0"/>
              </a:rPr>
              <a:t>&gt;&gt;&gt; _+x</a:t>
            </a:r>
          </a:p>
          <a:p>
            <a:r>
              <a:rPr lang="en-US" sz="2200" dirty="0" smtClean="0">
                <a:solidFill>
                  <a:schemeClr val="tx1"/>
                </a:solidFill>
                <a:latin typeface="Lucida Console" panose="020B0609040504020204" pitchFamily="49" charset="0"/>
                <a:cs typeface="Consolas" panose="020B0609020204030204" pitchFamily="49" charset="0"/>
              </a:rPr>
              <a:t>9.0</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8" name="Rounded Rectangular Callout 7"/>
          <p:cNvSpPr/>
          <p:nvPr/>
        </p:nvSpPr>
        <p:spPr>
          <a:xfrm>
            <a:off x="4580163" y="3035257"/>
            <a:ext cx="4399531" cy="1094014"/>
          </a:xfrm>
          <a:prstGeom prst="wedgeRoundRectCallout">
            <a:avLst>
              <a:gd name="adj1" fmla="val -74362"/>
              <a:gd name="adj2" fmla="val 5904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2800" spc="-50" dirty="0" smtClean="0">
                <a:solidFill>
                  <a:srgbClr val="0033CC"/>
                </a:solidFill>
              </a:rPr>
              <a:t>This displays a complicated </a:t>
            </a:r>
            <a:r>
              <a:rPr lang="en-US" sz="2800" dirty="0" smtClean="0">
                <a:solidFill>
                  <a:srgbClr val="0033CC"/>
                </a:solidFill>
              </a:rPr>
              <a:t>expression (in this case, the quadratic formula).</a:t>
            </a:r>
            <a:endParaRPr lang="en-US" sz="2800" dirty="0">
              <a:solidFill>
                <a:srgbClr val="0033CC"/>
              </a:solidFill>
            </a:endParaRPr>
          </a:p>
        </p:txBody>
      </p:sp>
      <p:cxnSp>
        <p:nvCxnSpPr>
          <p:cNvPr id="12" name="Straight Connector 11"/>
          <p:cNvCxnSpPr/>
          <p:nvPr/>
        </p:nvCxnSpPr>
        <p:spPr>
          <a:xfrm>
            <a:off x="5708081" y="4259900"/>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436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p>
          <a:p>
            <a:r>
              <a:rPr lang="en-US" sz="2200" dirty="0">
                <a:solidFill>
                  <a:schemeClr val="tx1"/>
                </a:solidFill>
                <a:latin typeface="Lucida Console" panose="020B0609040504020204" pitchFamily="49" charset="0"/>
                <a:cs typeface="Consolas" panose="020B0609020204030204" pitchFamily="49" charset="0"/>
              </a:rPr>
              <a:t>3.0</a:t>
            </a:r>
          </a:p>
          <a:p>
            <a:r>
              <a:rPr lang="en-US" sz="2200" dirty="0">
                <a:solidFill>
                  <a:schemeClr val="tx1"/>
                </a:solidFill>
                <a:latin typeface="Lucida Console" panose="020B0609040504020204" pitchFamily="49" charset="0"/>
                <a:cs typeface="Consolas" panose="020B0609020204030204" pitchFamily="49" charset="0"/>
              </a:rPr>
              <a:t>&gt;&gt;&gt; x=2*_</a:t>
            </a:r>
          </a:p>
          <a:p>
            <a:r>
              <a:rPr lang="en-US" sz="2200" dirty="0">
                <a:solidFill>
                  <a:schemeClr val="tx1"/>
                </a:solidFill>
                <a:latin typeface="Lucida Console" panose="020B0609040504020204" pitchFamily="49" charset="0"/>
                <a:cs typeface="Consolas" panose="020B0609020204030204" pitchFamily="49" charset="0"/>
              </a:rPr>
              <a:t>&gt;&gt;&gt; _+x</a:t>
            </a:r>
          </a:p>
          <a:p>
            <a:r>
              <a:rPr lang="en-US" sz="2200" dirty="0" smtClean="0">
                <a:solidFill>
                  <a:schemeClr val="tx1"/>
                </a:solidFill>
                <a:latin typeface="Lucida Console" panose="020B0609040504020204" pitchFamily="49" charset="0"/>
                <a:cs typeface="Consolas" panose="020B0609020204030204" pitchFamily="49" charset="0"/>
              </a:rPr>
              <a:t>9.0</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8" name="Rounded Rectangular Callout 7"/>
          <p:cNvSpPr/>
          <p:nvPr/>
        </p:nvSpPr>
        <p:spPr>
          <a:xfrm>
            <a:off x="4580163" y="3165886"/>
            <a:ext cx="3990251" cy="904459"/>
          </a:xfrm>
          <a:prstGeom prst="wedgeRoundRectCallout">
            <a:avLst>
              <a:gd name="adj1" fmla="val -138812"/>
              <a:gd name="adj2" fmla="val 12285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2800" dirty="0" smtClean="0">
                <a:solidFill>
                  <a:srgbClr val="0033CC"/>
                </a:solidFill>
              </a:rPr>
              <a:t>It works.</a:t>
            </a:r>
            <a:endParaRPr lang="en-US" sz="2800" dirty="0">
              <a:solidFill>
                <a:srgbClr val="0033CC"/>
              </a:solidFill>
            </a:endParaRPr>
          </a:p>
        </p:txBody>
      </p:sp>
      <p:cxnSp>
        <p:nvCxnSpPr>
          <p:cNvPr id="11" name="Straight Connector 10"/>
          <p:cNvCxnSpPr/>
          <p:nvPr/>
        </p:nvCxnSpPr>
        <p:spPr>
          <a:xfrm>
            <a:off x="1054438" y="4929371"/>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9750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1"/>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randombar(horizontal)">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tx1"/>
                </a:solidFill>
                <a:latin typeface="Lucida Console" panose="020B0609040504020204" pitchFamily="49" charset="0"/>
                <a:cs typeface="Consolas" panose="020B0609020204030204" pitchFamily="49" charset="0"/>
              </a:rPr>
              <a:t>3.0</a:t>
            </a:r>
          </a:p>
          <a:p>
            <a:r>
              <a:rPr lang="en-US" sz="2200" dirty="0">
                <a:solidFill>
                  <a:schemeClr val="tx1"/>
                </a:solidFill>
                <a:latin typeface="Lucida Console" panose="020B0609040504020204" pitchFamily="49" charset="0"/>
                <a:cs typeface="Consolas" panose="020B0609020204030204" pitchFamily="49" charset="0"/>
              </a:rPr>
              <a:t>&gt;&gt;&gt; x=2*_</a:t>
            </a:r>
          </a:p>
          <a:p>
            <a:r>
              <a:rPr lang="en-US" sz="2200" dirty="0">
                <a:solidFill>
                  <a:schemeClr val="tx1"/>
                </a:solidFill>
                <a:latin typeface="Lucida Console" panose="020B0609040504020204" pitchFamily="49" charset="0"/>
                <a:cs typeface="Consolas" panose="020B0609020204030204" pitchFamily="49" charset="0"/>
              </a:rPr>
              <a:t>&gt;&gt;&gt; _+x</a:t>
            </a:r>
          </a:p>
          <a:p>
            <a:r>
              <a:rPr lang="en-US" sz="2200" dirty="0" smtClean="0">
                <a:solidFill>
                  <a:schemeClr val="tx1"/>
                </a:solidFill>
                <a:latin typeface="Lucida Console" panose="020B0609040504020204" pitchFamily="49" charset="0"/>
                <a:cs typeface="Consolas" panose="020B0609020204030204" pitchFamily="49" charset="0"/>
              </a:rPr>
              <a:t>9.0</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8" name="Rounded Rectangular Callout 7"/>
          <p:cNvSpPr/>
          <p:nvPr/>
        </p:nvSpPr>
        <p:spPr>
          <a:xfrm>
            <a:off x="4555670" y="3329172"/>
            <a:ext cx="3990251" cy="2304185"/>
          </a:xfrm>
          <a:prstGeom prst="wedgeRoundRectCallout">
            <a:avLst>
              <a:gd name="adj1" fmla="val -130014"/>
              <a:gd name="adj2" fmla="val 3028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2800" dirty="0" smtClean="0">
                <a:solidFill>
                  <a:srgbClr val="0033CC"/>
                </a:solidFill>
              </a:rPr>
              <a:t>What is this? It is a special variable that holds the previous value or message displayed. </a:t>
            </a:r>
            <a:r>
              <a:rPr lang="en-US" sz="2800" spc="-40" dirty="0" smtClean="0">
                <a:solidFill>
                  <a:srgbClr val="0033CC"/>
                </a:solidFill>
              </a:rPr>
              <a:t>(But this does </a:t>
            </a:r>
            <a:r>
              <a:rPr lang="en-US" sz="2800" b="1" spc="-40" dirty="0" smtClean="0">
                <a:solidFill>
                  <a:srgbClr val="0033CC"/>
                </a:solidFill>
              </a:rPr>
              <a:t>not</a:t>
            </a:r>
            <a:r>
              <a:rPr lang="en-US" sz="2800" spc="-40" dirty="0" smtClean="0">
                <a:solidFill>
                  <a:srgbClr val="0033CC"/>
                </a:solidFill>
              </a:rPr>
              <a:t> include </a:t>
            </a:r>
            <a:r>
              <a:rPr lang="en-US" sz="2800" spc="-50" dirty="0" smtClean="0">
                <a:solidFill>
                  <a:srgbClr val="0033CC"/>
                </a:solidFill>
              </a:rPr>
              <a:t>things that were </a:t>
            </a:r>
            <a:r>
              <a:rPr lang="en-US" sz="2800" b="1" u="sng" spc="-50" dirty="0" smtClean="0">
                <a:solidFill>
                  <a:srgbClr val="0033CC"/>
                </a:solidFill>
              </a:rPr>
              <a:t>print</a:t>
            </a:r>
            <a:r>
              <a:rPr lang="en-US" sz="2800" spc="-50" dirty="0" smtClean="0">
                <a:solidFill>
                  <a:srgbClr val="0033CC"/>
                </a:solidFill>
              </a:rPr>
              <a:t>ed.)</a:t>
            </a:r>
            <a:endParaRPr lang="en-US" sz="2800" spc="-50" dirty="0">
              <a:solidFill>
                <a:srgbClr val="0033CC"/>
              </a:solidFill>
            </a:endParaRPr>
          </a:p>
        </p:txBody>
      </p:sp>
      <p:cxnSp>
        <p:nvCxnSpPr>
          <p:cNvPr id="13" name="Straight Connector 12"/>
          <p:cNvCxnSpPr/>
          <p:nvPr/>
        </p:nvCxnSpPr>
        <p:spPr>
          <a:xfrm>
            <a:off x="1329303" y="4934814"/>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81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tx1"/>
                </a:solidFill>
                <a:latin typeface="Lucida Console" panose="020B0609040504020204" pitchFamily="49" charset="0"/>
                <a:cs typeface="Consolas" panose="020B0609020204030204" pitchFamily="49" charset="0"/>
              </a:rPr>
              <a:t>x=2*_</a:t>
            </a:r>
          </a:p>
          <a:p>
            <a:r>
              <a:rPr lang="en-US" sz="2200" dirty="0">
                <a:solidFill>
                  <a:schemeClr val="tx1"/>
                </a:solidFill>
                <a:latin typeface="Lucida Console" panose="020B0609040504020204" pitchFamily="49" charset="0"/>
                <a:cs typeface="Consolas" panose="020B0609020204030204" pitchFamily="49" charset="0"/>
              </a:rPr>
              <a:t>&gt;&gt;&gt; _+x</a:t>
            </a:r>
          </a:p>
          <a:p>
            <a:r>
              <a:rPr lang="en-US" sz="2200" dirty="0" smtClean="0">
                <a:solidFill>
                  <a:schemeClr val="tx1"/>
                </a:solidFill>
                <a:latin typeface="Lucida Console" panose="020B0609040504020204" pitchFamily="49" charset="0"/>
                <a:cs typeface="Consolas" panose="020B0609020204030204" pitchFamily="49" charset="0"/>
              </a:rPr>
              <a:t>9.0</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8" name="Rounded Rectangular Callout 7"/>
          <p:cNvSpPr/>
          <p:nvPr/>
        </p:nvSpPr>
        <p:spPr>
          <a:xfrm>
            <a:off x="4580163" y="4661807"/>
            <a:ext cx="3990251" cy="893493"/>
          </a:xfrm>
          <a:prstGeom prst="wedgeRoundRectCallout">
            <a:avLst>
              <a:gd name="adj1" fmla="val -137584"/>
              <a:gd name="adj2" fmla="val 31437"/>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2800" dirty="0" smtClean="0">
                <a:solidFill>
                  <a:srgbClr val="0033CC"/>
                </a:solidFill>
              </a:rPr>
              <a:t>Yes, the previous displayed value was 3.0</a:t>
            </a:r>
            <a:endParaRPr lang="en-US" sz="2800" dirty="0">
              <a:solidFill>
                <a:srgbClr val="0033CC"/>
              </a:solidFill>
            </a:endParaRPr>
          </a:p>
        </p:txBody>
      </p:sp>
      <p:cxnSp>
        <p:nvCxnSpPr>
          <p:cNvPr id="14" name="Straight Connector 13"/>
          <p:cNvCxnSpPr/>
          <p:nvPr/>
        </p:nvCxnSpPr>
        <p:spPr>
          <a:xfrm>
            <a:off x="1051717" y="5555300"/>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6536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4"/>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randombar(horizontal)">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smtClean="0">
                <a:solidFill>
                  <a:schemeClr val="bg1">
                    <a:lumMod val="95000"/>
                  </a:schemeClr>
                </a:solidFill>
                <a:latin typeface="Lucida Console" panose="020B0609040504020204" pitchFamily="49" charset="0"/>
                <a:cs typeface="Consolas" panose="020B0609020204030204" pitchFamily="49" charset="0"/>
              </a:rPr>
              <a:t>x=a*_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tx1"/>
                </a:solidFill>
                <a:latin typeface="Lucida Console" panose="020B0609040504020204" pitchFamily="49" charset="0"/>
                <a:cs typeface="Consolas" panose="020B0609020204030204" pitchFamily="49" charset="0"/>
              </a:rPr>
              <a:t>&gt;&gt;&gt; _+x</a:t>
            </a:r>
          </a:p>
          <a:p>
            <a:r>
              <a:rPr lang="en-US" sz="2200" dirty="0" smtClean="0">
                <a:solidFill>
                  <a:schemeClr val="tx1"/>
                </a:solidFill>
                <a:latin typeface="Lucida Console" panose="020B0609040504020204" pitchFamily="49" charset="0"/>
                <a:cs typeface="Consolas" panose="020B0609020204030204" pitchFamily="49" charset="0"/>
              </a:rPr>
              <a:t>9.0</a:t>
            </a:r>
            <a:endParaRPr lang="en-US" sz="2200" dirty="0">
              <a:solidFill>
                <a:schemeClr val="tx1"/>
              </a:solidFill>
              <a:latin typeface="Lucida Console" panose="020B0609040504020204" pitchFamily="49" charset="0"/>
              <a:cs typeface="Consolas" panose="020B0609020204030204" pitchFamily="49" charset="0"/>
            </a:endParaRPr>
          </a:p>
        </p:txBody>
      </p:sp>
      <p:cxnSp>
        <p:nvCxnSpPr>
          <p:cNvPr id="15" name="Straight Connector 14"/>
          <p:cNvCxnSpPr/>
          <p:nvPr/>
        </p:nvCxnSpPr>
        <p:spPr>
          <a:xfrm>
            <a:off x="2004217" y="5560743"/>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ounded Rectangular Callout 9"/>
          <p:cNvSpPr/>
          <p:nvPr/>
        </p:nvSpPr>
        <p:spPr>
          <a:xfrm>
            <a:off x="4580163" y="4661807"/>
            <a:ext cx="3990251" cy="1485900"/>
          </a:xfrm>
          <a:prstGeom prst="wedgeRoundRectCallout">
            <a:avLst>
              <a:gd name="adj1" fmla="val -113849"/>
              <a:gd name="adj2" fmla="val 2348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2800" dirty="0" smtClean="0">
                <a:solidFill>
                  <a:srgbClr val="0033CC"/>
                </a:solidFill>
              </a:rPr>
              <a:t>You can use “_” in an expression, just like you would use any other variable.</a:t>
            </a:r>
            <a:endParaRPr lang="en-US" sz="2800" dirty="0">
              <a:solidFill>
                <a:srgbClr val="0033CC"/>
              </a:solidFill>
            </a:endParaRPr>
          </a:p>
        </p:txBody>
      </p:sp>
    </p:spTree>
    <p:extLst>
      <p:ext uri="{BB962C8B-B14F-4D97-AF65-F5344CB8AC3E}">
        <p14:creationId xmlns:p14="http://schemas.microsoft.com/office/powerpoint/2010/main" val="165682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5"/>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randombar(horizontal)">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10"/>
                                        </p:tgtEl>
                                      </p:cBhvr>
                                    </p:animEffect>
                                    <p:set>
                                      <p:cBhvr>
                                        <p:cTn id="14"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smtClean="0">
                <a:solidFill>
                  <a:schemeClr val="bg1">
                    <a:lumMod val="95000"/>
                  </a:schemeClr>
                </a:solidFill>
                <a:latin typeface="Lucida Console" panose="020B0609040504020204" pitchFamily="49" charset="0"/>
                <a:cs typeface="Consolas" panose="020B0609020204030204" pitchFamily="49" charset="0"/>
              </a:rPr>
              <a:t>x=a*_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a:t>
            </a:r>
            <a:r>
              <a:rPr lang="en-US" sz="2200" dirty="0">
                <a:solidFill>
                  <a:schemeClr val="tx1"/>
                </a:solidFill>
                <a:latin typeface="Lucida Console" panose="020B0609040504020204" pitchFamily="49" charset="0"/>
                <a:cs typeface="Consolas" panose="020B0609020204030204" pitchFamily="49" charset="0"/>
              </a:rPr>
              <a:t> _+x</a:t>
            </a:r>
          </a:p>
          <a:p>
            <a:r>
              <a:rPr lang="en-US" sz="2200" dirty="0" smtClean="0">
                <a:solidFill>
                  <a:schemeClr val="tx1"/>
                </a:solidFill>
                <a:latin typeface="Lucida Console" panose="020B0609040504020204" pitchFamily="49" charset="0"/>
                <a:cs typeface="Consolas" panose="020B0609020204030204" pitchFamily="49" charset="0"/>
              </a:rPr>
              <a:t>9.0</a:t>
            </a:r>
            <a:endParaRPr lang="en-US" sz="2200" dirty="0">
              <a:solidFill>
                <a:schemeClr val="tx1"/>
              </a:solidFill>
              <a:latin typeface="Lucida Console" panose="020B0609040504020204" pitchFamily="49" charset="0"/>
              <a:cs typeface="Consolas" panose="020B0609020204030204" pitchFamily="49" charset="0"/>
            </a:endParaRPr>
          </a:p>
        </p:txBody>
      </p:sp>
      <p:cxnSp>
        <p:nvCxnSpPr>
          <p:cNvPr id="16" name="Straight Connector 15"/>
          <p:cNvCxnSpPr/>
          <p:nvPr/>
        </p:nvCxnSpPr>
        <p:spPr>
          <a:xfrm>
            <a:off x="1050332" y="5929968"/>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ounded Rectangular Callout 8"/>
          <p:cNvSpPr/>
          <p:nvPr/>
        </p:nvSpPr>
        <p:spPr>
          <a:xfrm>
            <a:off x="4613163" y="4661806"/>
            <a:ext cx="3957251" cy="1944333"/>
          </a:xfrm>
          <a:prstGeom prst="wedgeRoundRectCallout">
            <a:avLst>
              <a:gd name="adj1" fmla="val -143997"/>
              <a:gd name="adj2" fmla="val 1573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r>
              <a:rPr lang="en-US" sz="2800" dirty="0" smtClean="0">
                <a:solidFill>
                  <a:srgbClr val="0033CC"/>
                </a:solidFill>
              </a:rPr>
              <a:t>But why didn’t it display the answer (6.0)?</a:t>
            </a:r>
            <a:br>
              <a:rPr lang="en-US" sz="2800" dirty="0" smtClean="0">
                <a:solidFill>
                  <a:srgbClr val="0033CC"/>
                </a:solidFill>
              </a:rPr>
            </a:br>
            <a:r>
              <a:rPr lang="en-US" sz="2800" dirty="0" smtClean="0">
                <a:solidFill>
                  <a:srgbClr val="0033CC"/>
                </a:solidFill>
              </a:rPr>
              <a:t>It is because this was an assignment statement, not a display command.</a:t>
            </a:r>
            <a:endParaRPr lang="en-US" sz="2800" dirty="0">
              <a:solidFill>
                <a:srgbClr val="0033CC"/>
              </a:solidFill>
            </a:endParaRPr>
          </a:p>
        </p:txBody>
      </p:sp>
      <p:sp>
        <p:nvSpPr>
          <p:cNvPr id="11" name="Rounded Rectangular Callout 10"/>
          <p:cNvSpPr/>
          <p:nvPr/>
        </p:nvSpPr>
        <p:spPr>
          <a:xfrm>
            <a:off x="4612820" y="3788229"/>
            <a:ext cx="4212773" cy="2612571"/>
          </a:xfrm>
          <a:prstGeom prst="wedgeRoundRectCallout">
            <a:avLst>
              <a:gd name="adj1" fmla="val -116368"/>
              <a:gd name="adj2" fmla="val 2413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5000"/>
              </a:lnSpc>
            </a:pPr>
            <a:r>
              <a:rPr lang="en-US" sz="2800" dirty="0" smtClean="0">
                <a:solidFill>
                  <a:srgbClr val="0033CC"/>
                </a:solidFill>
              </a:rPr>
              <a:t>Although nothing had displayed, something did </a:t>
            </a:r>
            <a:r>
              <a:rPr lang="en-US" sz="2800" spc="-20" dirty="0" smtClean="0">
                <a:solidFill>
                  <a:srgbClr val="0033CC"/>
                </a:solidFill>
              </a:rPr>
              <a:t>happen: x got assigned 6.0.</a:t>
            </a:r>
            <a:r>
              <a:rPr lang="en-US" sz="2800" dirty="0" smtClean="0">
                <a:solidFill>
                  <a:srgbClr val="0033CC"/>
                </a:solidFill>
              </a:rPr>
              <a:t/>
            </a:r>
            <a:br>
              <a:rPr lang="en-US" sz="2800" dirty="0" smtClean="0">
                <a:solidFill>
                  <a:srgbClr val="0033CC"/>
                </a:solidFill>
              </a:rPr>
            </a:br>
            <a:r>
              <a:rPr lang="en-US" sz="2800" dirty="0" smtClean="0">
                <a:solidFill>
                  <a:srgbClr val="0033CC"/>
                </a:solidFill>
              </a:rPr>
              <a:t>And, since this command didn’t display anything, the previously displayed value is still 3.0. </a:t>
            </a:r>
            <a:endParaRPr lang="en-US" sz="2800" dirty="0">
              <a:solidFill>
                <a:srgbClr val="0033CC"/>
              </a:solidFill>
            </a:endParaRPr>
          </a:p>
        </p:txBody>
      </p:sp>
    </p:spTree>
    <p:extLst>
      <p:ext uri="{BB962C8B-B14F-4D97-AF65-F5344CB8AC3E}">
        <p14:creationId xmlns:p14="http://schemas.microsoft.com/office/powerpoint/2010/main" val="904825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randombar(horizont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9"/>
                                        </p:tgtEl>
                                      </p:cBhvr>
                                    </p:animEffect>
                                    <p:set>
                                      <p:cBhvr>
                                        <p:cTn id="16" dur="1" fill="hold">
                                          <p:stCondLst>
                                            <p:cond delay="499"/>
                                          </p:stCondLst>
                                        </p:cTn>
                                        <p:tgtEl>
                                          <p:spTgt spid="9"/>
                                        </p:tgtEl>
                                        <p:attrNameLst>
                                          <p:attrName>style.visibility</p:attrName>
                                        </p:attrNameLst>
                                      </p:cBhvr>
                                      <p:to>
                                        <p:strVal val="hidden"/>
                                      </p:to>
                                    </p:set>
                                  </p:childTnLst>
                                </p:cTn>
                              </p:par>
                              <p:par>
                                <p:cTn id="17" presetID="14" presetClass="entr" presetSubtype="1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randombar(horizontal)">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1"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smtClean="0">
                <a:solidFill>
                  <a:schemeClr val="bg1">
                    <a:lumMod val="95000"/>
                  </a:schemeClr>
                </a:solidFill>
                <a:latin typeface="Lucida Console" panose="020B0609040504020204" pitchFamily="49" charset="0"/>
                <a:cs typeface="Consolas" panose="020B0609020204030204" pitchFamily="49" charset="0"/>
              </a:rPr>
              <a:t>x=a*_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smtClean="0">
                <a:solidFill>
                  <a:schemeClr val="tx1"/>
                </a:solidFill>
                <a:latin typeface="Lucida Console" panose="020B0609040504020204" pitchFamily="49" charset="0"/>
                <a:cs typeface="Consolas" panose="020B0609020204030204" pitchFamily="49" charset="0"/>
              </a:rPr>
              <a:t>9.0</a:t>
            </a:r>
            <a:endParaRPr lang="en-US" sz="2200" dirty="0">
              <a:solidFill>
                <a:schemeClr val="tx1"/>
              </a:solidFill>
              <a:latin typeface="Lucida Console" panose="020B0609040504020204" pitchFamily="49" charset="0"/>
              <a:cs typeface="Consolas" panose="020B0609020204030204" pitchFamily="49" charset="0"/>
            </a:endParaRPr>
          </a:p>
        </p:txBody>
      </p:sp>
      <p:cxnSp>
        <p:nvCxnSpPr>
          <p:cNvPr id="17" name="Straight Connector 16"/>
          <p:cNvCxnSpPr/>
          <p:nvPr/>
        </p:nvCxnSpPr>
        <p:spPr>
          <a:xfrm>
            <a:off x="1676262" y="5935411"/>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4613564" y="5372100"/>
            <a:ext cx="4212597" cy="1420586"/>
          </a:xfrm>
          <a:prstGeom prst="wedgeRoundRectCallout">
            <a:avLst>
              <a:gd name="adj1" fmla="val -116904"/>
              <a:gd name="adj2" fmla="val 240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5000"/>
              </a:lnSpc>
            </a:pPr>
            <a:endParaRPr lang="en-US" sz="2800" dirty="0" smtClean="0">
              <a:solidFill>
                <a:srgbClr val="0033CC"/>
              </a:solidFill>
            </a:endParaRPr>
          </a:p>
          <a:p>
            <a:pPr algn="ctr">
              <a:lnSpc>
                <a:spcPct val="85000"/>
              </a:lnSpc>
            </a:pPr>
            <a:endParaRPr lang="en-US" sz="2800" dirty="0">
              <a:solidFill>
                <a:srgbClr val="0033CC"/>
              </a:solidFill>
            </a:endParaRPr>
          </a:p>
          <a:p>
            <a:pPr algn="ctr">
              <a:lnSpc>
                <a:spcPct val="85000"/>
              </a:lnSpc>
            </a:pPr>
            <a:r>
              <a:rPr lang="en-US" sz="2800" dirty="0" smtClean="0">
                <a:solidFill>
                  <a:srgbClr val="0033CC"/>
                </a:solidFill>
              </a:rPr>
              <a:t/>
            </a:r>
            <a:br>
              <a:rPr lang="en-US" sz="2800" dirty="0" smtClean="0">
                <a:solidFill>
                  <a:srgbClr val="0033CC"/>
                </a:solidFill>
              </a:rPr>
            </a:br>
            <a:r>
              <a:rPr lang="en-US" sz="2800" dirty="0" smtClean="0">
                <a:solidFill>
                  <a:srgbClr val="0033CC"/>
                </a:solidFill>
              </a:rPr>
              <a:t>So what will this line do?</a:t>
            </a:r>
            <a:endParaRPr lang="en-US" sz="2800" dirty="0">
              <a:solidFill>
                <a:srgbClr val="0033CC"/>
              </a:solidFill>
            </a:endParaRPr>
          </a:p>
        </p:txBody>
      </p:sp>
      <p:sp>
        <p:nvSpPr>
          <p:cNvPr id="10" name="Rounded Rectangular Callout 9"/>
          <p:cNvSpPr/>
          <p:nvPr/>
        </p:nvSpPr>
        <p:spPr>
          <a:xfrm>
            <a:off x="4612820" y="3788229"/>
            <a:ext cx="4212773" cy="2612571"/>
          </a:xfrm>
          <a:prstGeom prst="wedgeRoundRectCallout">
            <a:avLst>
              <a:gd name="adj1" fmla="val -116368"/>
              <a:gd name="adj2" fmla="val 2413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5000"/>
              </a:lnSpc>
            </a:pPr>
            <a:r>
              <a:rPr lang="en-US" sz="2800" dirty="0" smtClean="0">
                <a:solidFill>
                  <a:srgbClr val="0033CC"/>
                </a:solidFill>
              </a:rPr>
              <a:t>Although nothing had displayed, something did </a:t>
            </a:r>
            <a:r>
              <a:rPr lang="en-US" sz="2800" spc="-20" dirty="0" smtClean="0">
                <a:solidFill>
                  <a:srgbClr val="0033CC"/>
                </a:solidFill>
              </a:rPr>
              <a:t>happen: x got assigned 6.0.</a:t>
            </a:r>
            <a:r>
              <a:rPr lang="en-US" sz="2800" dirty="0" smtClean="0">
                <a:solidFill>
                  <a:srgbClr val="0033CC"/>
                </a:solidFill>
              </a:rPr>
              <a:t/>
            </a:r>
            <a:br>
              <a:rPr lang="en-US" sz="2800" dirty="0" smtClean="0">
                <a:solidFill>
                  <a:srgbClr val="0033CC"/>
                </a:solidFill>
              </a:rPr>
            </a:br>
            <a:r>
              <a:rPr lang="en-US" sz="2800" dirty="0" smtClean="0">
                <a:solidFill>
                  <a:srgbClr val="0033CC"/>
                </a:solidFill>
              </a:rPr>
              <a:t>And, since this command didn’t display anything, the previously displayed value is still 3.0. </a:t>
            </a:r>
            <a:endParaRPr lang="en-US" sz="2800" dirty="0">
              <a:solidFill>
                <a:srgbClr val="0033CC"/>
              </a:solidFill>
            </a:endParaRPr>
          </a:p>
        </p:txBody>
      </p:sp>
    </p:spTree>
    <p:extLst>
      <p:ext uri="{BB962C8B-B14F-4D97-AF65-F5344CB8AC3E}">
        <p14:creationId xmlns:p14="http://schemas.microsoft.com/office/powerpoint/2010/main" val="2439946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7"/>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python</a:t>
            </a:r>
            <a:r>
              <a:rPr lang="en-US" altLang="zh-TW" sz="2200" dirty="0">
                <a:solidFill>
                  <a:schemeClr val="bg1">
                    <a:lumMod val="95000"/>
                  </a:schemeClr>
                </a:solidFill>
                <a:latin typeface="Lucida Console" panose="020B0609040504020204" pitchFamily="49" charset="0"/>
                <a:cs typeface="Consolas" panose="020B0609020204030204" pitchFamily="49" charset="0"/>
              </a:rPr>
              <a:t>3</a:t>
            </a:r>
          </a:p>
          <a:p>
            <a:r>
              <a:rPr lang="en-US" altLang="zh-TW" sz="2200" dirty="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smtClean="0">
                <a:solidFill>
                  <a:schemeClr val="bg1">
                    <a:lumMod val="95000"/>
                  </a:schemeClr>
                </a:solidFill>
                <a:latin typeface="Lucida Console" panose="020B0609040504020204" pitchFamily="49" charset="0"/>
                <a:cs typeface="Consolas" panose="020B0609020204030204" pitchFamily="49" charset="0"/>
              </a:rPr>
              <a:t>x=a*_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smtClean="0">
                <a:solidFill>
                  <a:schemeClr val="bg1">
                    <a:lumMod val="95000"/>
                  </a:schemeClr>
                </a:solidFill>
                <a:latin typeface="Lucida Console" panose="020B0609040504020204" pitchFamily="49" charset="0"/>
                <a:cs typeface="Consolas" panose="020B0609020204030204" pitchFamily="49" charset="0"/>
              </a:rPr>
              <a:t>9.0</a:t>
            </a:r>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sp>
        <p:nvSpPr>
          <p:cNvPr id="8" name="Rounded Rectangular Callout 7"/>
          <p:cNvSpPr/>
          <p:nvPr/>
        </p:nvSpPr>
        <p:spPr>
          <a:xfrm>
            <a:off x="4613564" y="5372100"/>
            <a:ext cx="4212597" cy="1420586"/>
          </a:xfrm>
          <a:prstGeom prst="wedgeRoundRectCallout">
            <a:avLst>
              <a:gd name="adj1" fmla="val -116904"/>
              <a:gd name="adj2" fmla="val 240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5000"/>
              </a:lnSpc>
            </a:pPr>
            <a:endParaRPr lang="en-US" sz="2800" dirty="0" smtClean="0">
              <a:solidFill>
                <a:srgbClr val="0033CC"/>
              </a:solidFill>
            </a:endParaRPr>
          </a:p>
          <a:p>
            <a:pPr algn="ctr">
              <a:lnSpc>
                <a:spcPct val="85000"/>
              </a:lnSpc>
            </a:pPr>
            <a:endParaRPr lang="en-US" sz="2800" dirty="0">
              <a:solidFill>
                <a:srgbClr val="0033CC"/>
              </a:solidFill>
            </a:endParaRPr>
          </a:p>
          <a:p>
            <a:pPr algn="ctr">
              <a:lnSpc>
                <a:spcPct val="85000"/>
              </a:lnSpc>
            </a:pPr>
            <a:r>
              <a:rPr lang="en-US" sz="2800" dirty="0" smtClean="0">
                <a:solidFill>
                  <a:srgbClr val="0033CC"/>
                </a:solidFill>
              </a:rPr>
              <a:t/>
            </a:r>
            <a:br>
              <a:rPr lang="en-US" sz="2800" dirty="0" smtClean="0">
                <a:solidFill>
                  <a:srgbClr val="0033CC"/>
                </a:solidFill>
              </a:rPr>
            </a:br>
            <a:r>
              <a:rPr lang="en-US" sz="2800" dirty="0" smtClean="0">
                <a:solidFill>
                  <a:srgbClr val="0033CC"/>
                </a:solidFill>
              </a:rPr>
              <a:t>So what will this line do?</a:t>
            </a:r>
            <a:endParaRPr lang="en-US" sz="2800" dirty="0">
              <a:solidFill>
                <a:srgbClr val="0033CC"/>
              </a:solidFill>
            </a:endParaRPr>
          </a:p>
        </p:txBody>
      </p:sp>
      <p:sp>
        <p:nvSpPr>
          <p:cNvPr id="9" name="Rounded Rectangular Callout 8"/>
          <p:cNvSpPr/>
          <p:nvPr/>
        </p:nvSpPr>
        <p:spPr>
          <a:xfrm>
            <a:off x="4612820" y="3788229"/>
            <a:ext cx="4212773" cy="2612571"/>
          </a:xfrm>
          <a:prstGeom prst="wedgeRoundRectCallout">
            <a:avLst>
              <a:gd name="adj1" fmla="val -116368"/>
              <a:gd name="adj2" fmla="val 2413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5000"/>
              </a:lnSpc>
            </a:pPr>
            <a:r>
              <a:rPr lang="en-US" sz="2800" dirty="0" smtClean="0">
                <a:solidFill>
                  <a:srgbClr val="0033CC"/>
                </a:solidFill>
              </a:rPr>
              <a:t>Although nothing had displayed, something did </a:t>
            </a:r>
            <a:r>
              <a:rPr lang="en-US" sz="2800" spc="-20" dirty="0" smtClean="0">
                <a:solidFill>
                  <a:srgbClr val="0033CC"/>
                </a:solidFill>
              </a:rPr>
              <a:t>happen: x got assigned 6.0.</a:t>
            </a:r>
            <a:r>
              <a:rPr lang="en-US" sz="2800" dirty="0" smtClean="0">
                <a:solidFill>
                  <a:srgbClr val="0033CC"/>
                </a:solidFill>
              </a:rPr>
              <a:t/>
            </a:r>
            <a:br>
              <a:rPr lang="en-US" sz="2800" dirty="0" smtClean="0">
                <a:solidFill>
                  <a:srgbClr val="0033CC"/>
                </a:solidFill>
              </a:rPr>
            </a:br>
            <a:r>
              <a:rPr lang="en-US" sz="2800" dirty="0" smtClean="0">
                <a:solidFill>
                  <a:srgbClr val="0033CC"/>
                </a:solidFill>
              </a:rPr>
              <a:t>And, since this command didn’t display anything, the previously displayed value is still 3.0. </a:t>
            </a:r>
            <a:endParaRPr lang="en-US" sz="2800" dirty="0">
              <a:solidFill>
                <a:srgbClr val="0033CC"/>
              </a:solidFill>
            </a:endParaRPr>
          </a:p>
        </p:txBody>
      </p:sp>
    </p:spTree>
    <p:extLst>
      <p:ext uri="{BB962C8B-B14F-4D97-AF65-F5344CB8AC3E}">
        <p14:creationId xmlns:p14="http://schemas.microsoft.com/office/powerpoint/2010/main" val="860676020"/>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xit" presetSubtype="10" fill="hold" grpId="0" nodeType="withEffect">
                                  <p:stCondLst>
                                    <p:cond delay="0"/>
                                  </p:stCondLst>
                                  <p:childTnLst>
                                    <p:animEffect transition="out" filter="randombar(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smtClean="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x=a*_</a:t>
            </a: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a:solidFill>
                  <a:schemeClr val="bg1">
                    <a:lumMod val="95000"/>
                  </a:schemeClr>
                </a:solidFill>
                <a:latin typeface="Lucida Console" panose="020B0609040504020204" pitchFamily="49" charset="0"/>
                <a:cs typeface="Consolas" panose="020B0609020204030204" pitchFamily="49" charset="0"/>
              </a:rPr>
              <a:t>9.0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1021781" y="6260152"/>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4385688" y="5437413"/>
            <a:ext cx="2891805" cy="564401"/>
          </a:xfrm>
          <a:prstGeom prst="wedgeRoundRectCallout">
            <a:avLst>
              <a:gd name="adj1" fmla="val -162173"/>
              <a:gd name="adj2" fmla="val 58708"/>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rgbClr val="0033CC"/>
                </a:solidFill>
              </a:rPr>
              <a:t>3+6.</a:t>
            </a:r>
            <a:endParaRPr lang="en-US" sz="2800" dirty="0">
              <a:solidFill>
                <a:srgbClr val="0033CC"/>
              </a:solidFill>
            </a:endParaRPr>
          </a:p>
        </p:txBody>
      </p:sp>
    </p:spTree>
    <p:extLst>
      <p:ext uri="{BB962C8B-B14F-4D97-AF65-F5344CB8AC3E}">
        <p14:creationId xmlns:p14="http://schemas.microsoft.com/office/powerpoint/2010/main" val="3933535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randombar(horizontal)">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smtClean="0">
                <a:solidFill>
                  <a:schemeClr val="bg1">
                    <a:lumMod val="95000"/>
                  </a:schemeClr>
                </a:solidFill>
                <a:latin typeface="Lucida Console" panose="020B0609040504020204" pitchFamily="49" charset="0"/>
                <a:cs typeface="Consolas" panose="020B0609020204030204" pitchFamily="49" charset="0"/>
              </a:rPr>
              <a:t>Python </a:t>
            </a:r>
            <a:r>
              <a:rPr lang="pt-BR" altLang="zh-TW" sz="2200" dirty="0">
                <a:solidFill>
                  <a:schemeClr val="bg1">
                    <a:lumMod val="95000"/>
                  </a:schemeClr>
                </a:solidFill>
                <a:latin typeface="Lucida Console" panose="020B0609040504020204" pitchFamily="49" charset="0"/>
                <a:cs typeface="Consolas" panose="020B0609020204030204" pitchFamily="49" charset="0"/>
              </a:rPr>
              <a:t>3.6.1 (default, Mar 21 2017, 21:49:16)</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x=a</a:t>
            </a:r>
            <a:r>
              <a:rPr lang="en-US" sz="2200" dirty="0" smtClean="0">
                <a:solidFill>
                  <a:schemeClr val="bg1">
                    <a:lumMod val="95000"/>
                  </a:schemeClr>
                </a:solidFill>
                <a:latin typeface="Lucida Console" panose="020B0609040504020204" pitchFamily="49" charset="0"/>
                <a:cs typeface="Consolas" panose="020B0609020204030204" pitchFamily="49" charset="0"/>
              </a:rPr>
              <a:t>*_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a:solidFill>
                  <a:schemeClr val="bg1">
                    <a:lumMod val="95000"/>
                  </a:schemeClr>
                </a:solidFill>
                <a:latin typeface="Lucida Console" panose="020B0609040504020204" pitchFamily="49" charset="0"/>
                <a:cs typeface="Consolas" panose="020B0609020204030204" pitchFamily="49" charset="0"/>
              </a:rPr>
              <a:t>9.0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_+_ </a:t>
            </a:r>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1658593" y="6260152"/>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4385687" y="5437413"/>
            <a:ext cx="3076469" cy="564401"/>
          </a:xfrm>
          <a:prstGeom prst="wedgeRoundRectCallout">
            <a:avLst>
              <a:gd name="adj1" fmla="val -137758"/>
              <a:gd name="adj2" fmla="val 12090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rgbClr val="0033CC"/>
                </a:solidFill>
              </a:rPr>
              <a:t>What will this give?</a:t>
            </a:r>
            <a:endParaRPr lang="en-US" sz="2800" dirty="0">
              <a:solidFill>
                <a:srgbClr val="0033CC"/>
              </a:solidFill>
            </a:endParaRPr>
          </a:p>
        </p:txBody>
      </p:sp>
    </p:spTree>
    <p:extLst>
      <p:ext uri="{BB962C8B-B14F-4D97-AF65-F5344CB8AC3E}">
        <p14:creationId xmlns:p14="http://schemas.microsoft.com/office/powerpoint/2010/main" val="335168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randombar(horizontal)">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smtClean="0">
                <a:solidFill>
                  <a:schemeClr val="bg1">
                    <a:lumMod val="95000"/>
                  </a:schemeClr>
                </a:solidFill>
                <a:latin typeface="Lucida Console" panose="020B0609040504020204" pitchFamily="49" charset="0"/>
                <a:cs typeface="Consolas" panose="020B0609020204030204" pitchFamily="49" charset="0"/>
              </a:rPr>
              <a:t>[</a:t>
            </a:r>
            <a:r>
              <a:rPr lang="en-US" altLang="zh-TW" sz="2200" dirty="0">
                <a:solidFill>
                  <a:schemeClr val="bg1">
                    <a:lumMod val="95000"/>
                  </a:schemeClr>
                </a:solidFill>
                <a:latin typeface="Lucida Console" panose="020B0609040504020204" pitchFamily="49" charset="0"/>
                <a:cs typeface="Consolas" panose="020B0609020204030204" pitchFamily="49" charset="0"/>
              </a:rPr>
              <a:t>GCC 5.4.0] on </a:t>
            </a:r>
            <a:r>
              <a:rPr lang="en-US" altLang="zh-TW" sz="2200" dirty="0" err="1">
                <a:solidFill>
                  <a:schemeClr val="bg1">
                    <a:lumMod val="95000"/>
                  </a:schemeClr>
                </a:solidFill>
                <a:latin typeface="Lucida Console" panose="020B0609040504020204" pitchFamily="49" charset="0"/>
                <a:cs typeface="Consolas" panose="020B0609020204030204" pitchFamily="49" charset="0"/>
              </a:rPr>
              <a:t>cygwin</a:t>
            </a:r>
            <a:endParaRPr lang="en-US" altLang="zh-TW"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a:t>
            </a:r>
            <a:r>
              <a:rPr lang="en-US" sz="2200" dirty="0" smtClean="0">
                <a:solidFill>
                  <a:schemeClr val="bg1">
                    <a:lumMod val="95000"/>
                  </a:schemeClr>
                </a:solidFill>
                <a:latin typeface="Lucida Console" panose="020B0609040504020204" pitchFamily="49" charset="0"/>
                <a:cs typeface="Consolas" panose="020B0609020204030204" pitchFamily="49" charset="0"/>
              </a:rPr>
              <a:t>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smtClean="0">
                <a:solidFill>
                  <a:schemeClr val="bg1">
                    <a:lumMod val="95000"/>
                  </a:schemeClr>
                </a:solidFill>
                <a:latin typeface="Lucida Console" panose="020B0609040504020204" pitchFamily="49" charset="0"/>
                <a:cs typeface="Consolas" panose="020B0609020204030204" pitchFamily="49" charset="0"/>
              </a:rPr>
              <a:t>x=a*_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smtClean="0">
                <a:solidFill>
                  <a:schemeClr val="bg1">
                    <a:lumMod val="95000"/>
                  </a:schemeClr>
                </a:solidFill>
                <a:latin typeface="Lucida Console" panose="020B0609040504020204" pitchFamily="49" charset="0"/>
                <a:cs typeface="Consolas" panose="020B0609020204030204" pitchFamily="49" charset="0"/>
              </a:rPr>
              <a:t>9.0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_+_</a:t>
            </a:r>
          </a:p>
          <a:p>
            <a:r>
              <a:rPr lang="en-US" sz="2200" dirty="0" smtClean="0">
                <a:solidFill>
                  <a:schemeClr val="bg1">
                    <a:lumMod val="95000"/>
                  </a:schemeClr>
                </a:solidFill>
                <a:latin typeface="Lucida Console" panose="020B0609040504020204" pitchFamily="49" charset="0"/>
                <a:cs typeface="Consolas" panose="020B0609020204030204" pitchFamily="49" charset="0"/>
              </a:rPr>
              <a:t>18.0</a:t>
            </a:r>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spTree>
    <p:extLst>
      <p:ext uri="{BB962C8B-B14F-4D97-AF65-F5344CB8AC3E}">
        <p14:creationId xmlns:p14="http://schemas.microsoft.com/office/powerpoint/2010/main" val="3953524391"/>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smtClean="0">
                <a:solidFill>
                  <a:schemeClr val="bg1">
                    <a:lumMod val="95000"/>
                  </a:schemeClr>
                </a:solidFill>
                <a:latin typeface="Lucida Console" panose="020B0609040504020204" pitchFamily="49" charset="0"/>
                <a:cs typeface="Consolas" panose="020B0609020204030204" pitchFamily="49" charset="0"/>
              </a:rPr>
              <a:t>Type </a:t>
            </a:r>
            <a:r>
              <a:rPr lang="en-US" sz="2200" dirty="0">
                <a:solidFill>
                  <a:schemeClr val="bg1">
                    <a:lumMod val="95000"/>
                  </a:schemeClr>
                </a:solidFill>
                <a:latin typeface="Lucida Console" panose="020B0609040504020204" pitchFamily="49" charset="0"/>
                <a:cs typeface="Consolas" panose="020B0609020204030204" pitchFamily="49" charset="0"/>
              </a:rPr>
              <a:t>"help",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x=a</a:t>
            </a:r>
            <a:r>
              <a:rPr lang="en-US" sz="2200" dirty="0" smtClean="0">
                <a:solidFill>
                  <a:schemeClr val="bg1">
                    <a:lumMod val="95000"/>
                  </a:schemeClr>
                </a:solidFill>
                <a:latin typeface="Lucida Console" panose="020B0609040504020204" pitchFamily="49" charset="0"/>
                <a:cs typeface="Consolas" panose="020B0609020204030204" pitchFamily="49" charset="0"/>
              </a:rPr>
              <a:t>*_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a:solidFill>
                  <a:schemeClr val="bg1">
                    <a:lumMod val="95000"/>
                  </a:schemeClr>
                </a:solidFill>
                <a:latin typeface="Lucida Console" panose="020B0609040504020204" pitchFamily="49" charset="0"/>
                <a:cs typeface="Consolas" panose="020B0609020204030204" pitchFamily="49" charset="0"/>
              </a:rPr>
              <a:t>9.0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_+_ </a:t>
            </a:r>
          </a:p>
          <a:p>
            <a:r>
              <a:rPr lang="en-US" sz="2200" dirty="0" smtClean="0">
                <a:solidFill>
                  <a:schemeClr val="bg1">
                    <a:lumMod val="95000"/>
                  </a:schemeClr>
                </a:solidFill>
                <a:latin typeface="Lucida Console" panose="020B0609040504020204" pitchFamily="49" charset="0"/>
                <a:cs typeface="Consolas" panose="020B0609020204030204" pitchFamily="49" charset="0"/>
              </a:rPr>
              <a:t>18.0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a:t>
            </a:r>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cxnSp>
        <p:nvCxnSpPr>
          <p:cNvPr id="9" name="Straight Connector 8"/>
          <p:cNvCxnSpPr/>
          <p:nvPr/>
        </p:nvCxnSpPr>
        <p:spPr>
          <a:xfrm>
            <a:off x="1021781" y="6260152"/>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744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smtClean="0">
                <a:solidFill>
                  <a:schemeClr val="bg1">
                    <a:lumMod val="95000"/>
                  </a:schemeClr>
                </a:solidFill>
                <a:latin typeface="Lucida Console" panose="020B0609040504020204" pitchFamily="49" charset="0"/>
                <a:cs typeface="Consolas" panose="020B0609020204030204" pitchFamily="49" charset="0"/>
              </a:rPr>
              <a:t>Type </a:t>
            </a:r>
            <a:r>
              <a:rPr lang="en-US" sz="2200" dirty="0">
                <a:solidFill>
                  <a:schemeClr val="bg1">
                    <a:lumMod val="95000"/>
                  </a:schemeClr>
                </a:solidFill>
                <a:latin typeface="Lucida Console" panose="020B0609040504020204" pitchFamily="49" charset="0"/>
                <a:cs typeface="Consolas" panose="020B0609020204030204" pitchFamily="49" charset="0"/>
              </a:rPr>
              <a:t>"help", "copyright", or "license" for </a:t>
            </a:r>
            <a:r>
              <a:rPr lang="en-US" sz="2200" dirty="0" smtClean="0">
                <a:solidFill>
                  <a:schemeClr val="bg1">
                    <a:lumMod val="95000"/>
                  </a:schemeClr>
                </a:solidFill>
                <a:latin typeface="Lucida Console" panose="020B0609040504020204" pitchFamily="49" charset="0"/>
                <a:cs typeface="Consolas" panose="020B0609020204030204" pitchFamily="49" charset="0"/>
              </a:rPr>
              <a:t>more.</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smtClean="0">
                <a:solidFill>
                  <a:schemeClr val="bg1">
                    <a:lumMod val="95000"/>
                  </a:schemeClr>
                </a:solidFill>
                <a:latin typeface="Lucida Console" panose="020B0609040504020204" pitchFamily="49" charset="0"/>
                <a:cs typeface="Consolas" panose="020B0609020204030204" pitchFamily="49" charset="0"/>
              </a:rPr>
              <a:t>x=a*_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a:solidFill>
                  <a:schemeClr val="bg1">
                    <a:lumMod val="95000"/>
                  </a:schemeClr>
                </a:solidFill>
                <a:latin typeface="Lucida Console" panose="020B0609040504020204" pitchFamily="49" charset="0"/>
                <a:cs typeface="Consolas" panose="020B0609020204030204" pitchFamily="49" charset="0"/>
              </a:rPr>
              <a:t>9.0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_+_ </a:t>
            </a:r>
          </a:p>
          <a:p>
            <a:r>
              <a:rPr lang="en-US" sz="2200" dirty="0" smtClean="0">
                <a:solidFill>
                  <a:schemeClr val="bg1">
                    <a:lumMod val="95000"/>
                  </a:schemeClr>
                </a:solidFill>
                <a:latin typeface="Lucida Console" panose="020B0609040504020204" pitchFamily="49" charset="0"/>
                <a:cs typeface="Consolas" panose="020B0609020204030204" pitchFamily="49" charset="0"/>
              </a:rPr>
              <a:t>18.0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print(_+_)</a:t>
            </a:r>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2807494" y="6260152"/>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12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a=2;b=-5;c=-3</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x</a:t>
            </a:r>
            <a:r>
              <a:rPr lang="en-US" sz="2200" dirty="0" smtClean="0">
                <a:solidFill>
                  <a:schemeClr val="bg1">
                    <a:lumMod val="95000"/>
                  </a:schemeClr>
                </a:solidFill>
                <a:latin typeface="Lucida Console" panose="020B0609040504020204" pitchFamily="49" charset="0"/>
                <a:cs typeface="Consolas" panose="020B0609020204030204" pitchFamily="49" charset="0"/>
              </a:rPr>
              <a:t>=a*_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a:solidFill>
                  <a:schemeClr val="bg1">
                    <a:lumMod val="95000"/>
                  </a:schemeClr>
                </a:solidFill>
                <a:latin typeface="Lucida Console" panose="020B0609040504020204" pitchFamily="49" charset="0"/>
                <a:cs typeface="Consolas" panose="020B0609020204030204" pitchFamily="49" charset="0"/>
              </a:rPr>
              <a:t>9.0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_+_ </a:t>
            </a:r>
          </a:p>
          <a:p>
            <a:r>
              <a:rPr lang="en-US" sz="2200" dirty="0" smtClean="0">
                <a:solidFill>
                  <a:schemeClr val="bg1">
                    <a:lumMod val="95000"/>
                  </a:schemeClr>
                </a:solidFill>
                <a:latin typeface="Lucida Console" panose="020B0609040504020204" pitchFamily="49" charset="0"/>
                <a:cs typeface="Consolas" panose="020B0609020204030204" pitchFamily="49" charset="0"/>
              </a:rPr>
              <a:t>18.0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print(_+_)</a:t>
            </a:r>
          </a:p>
          <a:p>
            <a:r>
              <a:rPr lang="en-US" sz="2200" dirty="0" smtClean="0">
                <a:solidFill>
                  <a:schemeClr val="bg1">
                    <a:lumMod val="95000"/>
                  </a:schemeClr>
                </a:solidFill>
                <a:latin typeface="Lucida Console" panose="020B0609040504020204" pitchFamily="49" charset="0"/>
                <a:cs typeface="Consolas" panose="020B0609020204030204" pitchFamily="49" charset="0"/>
              </a:rPr>
              <a:t>36.0</a:t>
            </a:r>
          </a:p>
        </p:txBody>
      </p:sp>
    </p:spTree>
    <p:extLst>
      <p:ext uri="{BB962C8B-B14F-4D97-AF65-F5344CB8AC3E}">
        <p14:creationId xmlns:p14="http://schemas.microsoft.com/office/powerpoint/2010/main" val="3931084289"/>
      </p:ext>
    </p:extLst>
  </p:cSld>
  <p:clrMapOvr>
    <a:masterClrMapping/>
  </p:clrMapOvr>
  <mc:AlternateContent xmlns:mc="http://schemas.openxmlformats.org/markup-compatibility/2006" xmlns:p14="http://schemas.microsoft.com/office/powerpoint/2010/main">
    <mc:Choice Requires="p14">
      <p:transition spd="slow" p14:dur="2000" advClick="0" advTm="200"/>
    </mc:Choice>
    <mc:Fallback xmlns="">
      <p:transition spd="slow" advClick="0" advTm="200"/>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smtClean="0">
                <a:solidFill>
                  <a:schemeClr val="bg1">
                    <a:lumMod val="95000"/>
                  </a:schemeClr>
                </a:solidFill>
                <a:latin typeface="Lucida Console" panose="020B0609040504020204" pitchFamily="49" charset="0"/>
                <a:cs typeface="Consolas" panose="020B0609020204030204" pitchFamily="49" charset="0"/>
              </a:rPr>
              <a:t>&gt;&gt;&gt; a</a:t>
            </a:r>
          </a:p>
          <a:p>
            <a:r>
              <a:rPr lang="en-US" sz="2200" dirty="0" smtClean="0">
                <a:solidFill>
                  <a:schemeClr val="bg1">
                    <a:lumMod val="95000"/>
                  </a:schemeClr>
                </a:solidFill>
                <a:latin typeface="Lucida Console" panose="020B0609040504020204" pitchFamily="49" charset="0"/>
                <a:cs typeface="Consolas" panose="020B0609020204030204" pitchFamily="49" charset="0"/>
              </a:rPr>
              <a:t>2</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smtClean="0">
                <a:solidFill>
                  <a:schemeClr val="bg1">
                    <a:lumMod val="95000"/>
                  </a:schemeClr>
                </a:solidFill>
                <a:latin typeface="Lucida Console" panose="020B0609040504020204" pitchFamily="49" charset="0"/>
                <a:cs typeface="Consolas" panose="020B0609020204030204" pitchFamily="49" charset="0"/>
              </a:rPr>
              <a:t>x=a*_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a:solidFill>
                  <a:schemeClr val="bg1">
                    <a:lumMod val="95000"/>
                  </a:schemeClr>
                </a:solidFill>
                <a:latin typeface="Lucida Console" panose="020B0609040504020204" pitchFamily="49" charset="0"/>
                <a:cs typeface="Consolas" panose="020B0609020204030204" pitchFamily="49" charset="0"/>
              </a:rPr>
              <a:t>9.0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_+_ </a:t>
            </a:r>
          </a:p>
          <a:p>
            <a:r>
              <a:rPr lang="en-US" sz="2200" dirty="0" smtClean="0">
                <a:solidFill>
                  <a:schemeClr val="bg1">
                    <a:lumMod val="95000"/>
                  </a:schemeClr>
                </a:solidFill>
                <a:latin typeface="Lucida Console" panose="020B0609040504020204" pitchFamily="49" charset="0"/>
                <a:cs typeface="Consolas" panose="020B0609020204030204" pitchFamily="49" charset="0"/>
              </a:rPr>
              <a:t>18.0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print(_+_)</a:t>
            </a:r>
          </a:p>
          <a:p>
            <a:r>
              <a:rPr lang="en-US" sz="2200" dirty="0" smtClean="0">
                <a:solidFill>
                  <a:schemeClr val="bg1">
                    <a:lumMod val="95000"/>
                  </a:schemeClr>
                </a:solidFill>
                <a:latin typeface="Lucida Console" panose="020B0609040504020204" pitchFamily="49" charset="0"/>
                <a:cs typeface="Consolas" panose="020B0609020204030204" pitchFamily="49" charset="0"/>
              </a:rPr>
              <a:t>36.0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a:t>
            </a:r>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1321594" y="6260152"/>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1074515" y="6231061"/>
            <a:ext cx="228600" cy="3983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latin typeface="Lucida Console" panose="020B0609040504020204" pitchFamily="49" charset="0"/>
              </a:rPr>
              <a:t>_</a:t>
            </a:r>
            <a:endParaRPr lang="en-US" sz="2200" dirty="0">
              <a:latin typeface="Lucida Console" panose="020B0609040504020204" pitchFamily="49" charset="0"/>
            </a:endParaRPr>
          </a:p>
        </p:txBody>
      </p:sp>
      <p:cxnSp>
        <p:nvCxnSpPr>
          <p:cNvPr id="8" name="Straight Connector 7"/>
          <p:cNvCxnSpPr/>
          <p:nvPr/>
        </p:nvCxnSpPr>
        <p:spPr>
          <a:xfrm>
            <a:off x="1070765" y="6260152"/>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507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35" presetClass="emph" presetSubtype="0" repeatCount="indefinite" fill="hold" nodeType="withEffect">
                                  <p:stCondLst>
                                    <p:cond delay="0"/>
                                  </p:stCondLst>
                                  <p:childTnLst>
                                    <p:anim calcmode="discrete" valueType="str">
                                      <p:cBhvr>
                                        <p:cTn id="18"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smtClean="0">
                <a:solidFill>
                  <a:schemeClr val="bg1">
                    <a:lumMod val="95000"/>
                  </a:schemeClr>
                </a:solidFill>
                <a:latin typeface="Lucida Console" panose="020B0609040504020204" pitchFamily="49" charset="0"/>
                <a:cs typeface="Consolas" panose="020B0609020204030204" pitchFamily="49" charset="0"/>
              </a:rPr>
              <a:t>2</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smtClean="0">
                <a:solidFill>
                  <a:schemeClr val="bg1">
                    <a:lumMod val="95000"/>
                  </a:schemeClr>
                </a:solidFill>
                <a:latin typeface="Lucida Console" panose="020B0609040504020204" pitchFamily="49" charset="0"/>
                <a:cs typeface="Consolas" panose="020B0609020204030204" pitchFamily="49" charset="0"/>
              </a:rPr>
              <a:t>x=a*_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a:solidFill>
                  <a:schemeClr val="bg1">
                    <a:lumMod val="95000"/>
                  </a:schemeClr>
                </a:solidFill>
                <a:latin typeface="Lucida Console" panose="020B0609040504020204" pitchFamily="49" charset="0"/>
                <a:cs typeface="Consolas" panose="020B0609020204030204" pitchFamily="49" charset="0"/>
              </a:rPr>
              <a:t>9.0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_+_ </a:t>
            </a:r>
          </a:p>
          <a:p>
            <a:r>
              <a:rPr lang="en-US" sz="2200" dirty="0" smtClean="0">
                <a:solidFill>
                  <a:schemeClr val="bg1">
                    <a:lumMod val="95000"/>
                  </a:schemeClr>
                </a:solidFill>
                <a:latin typeface="Lucida Console" panose="020B0609040504020204" pitchFamily="49" charset="0"/>
                <a:cs typeface="Consolas" panose="020B0609020204030204" pitchFamily="49" charset="0"/>
              </a:rPr>
              <a:t>18.0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print(_+_)</a:t>
            </a:r>
          </a:p>
          <a:p>
            <a:r>
              <a:rPr lang="en-US" sz="2200" dirty="0" smtClean="0">
                <a:solidFill>
                  <a:schemeClr val="bg1">
                    <a:lumMod val="95000"/>
                  </a:schemeClr>
                </a:solidFill>
                <a:latin typeface="Lucida Console" panose="020B0609040504020204" pitchFamily="49" charset="0"/>
                <a:cs typeface="Consolas" panose="020B0609020204030204" pitchFamily="49" charset="0"/>
              </a:rPr>
              <a:t>36.0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_</a:t>
            </a:r>
          </a:p>
          <a:p>
            <a:r>
              <a:rPr lang="en-US" sz="2200" dirty="0" smtClean="0">
                <a:solidFill>
                  <a:schemeClr val="bg1">
                    <a:lumMod val="95000"/>
                  </a:schemeClr>
                </a:solidFill>
                <a:latin typeface="Lucida Console" panose="020B0609040504020204" pitchFamily="49" charset="0"/>
                <a:cs typeface="Consolas" panose="020B0609020204030204" pitchFamily="49" charset="0"/>
              </a:rPr>
              <a:t>18.0</a:t>
            </a:r>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spTree>
    <p:extLst>
      <p:ext uri="{BB962C8B-B14F-4D97-AF65-F5344CB8AC3E}">
        <p14:creationId xmlns:p14="http://schemas.microsoft.com/office/powerpoint/2010/main" val="889660572"/>
      </p:ext>
    </p:extLst>
  </p:cSld>
  <p:clrMapOvr>
    <a:masterClrMapping/>
  </p:clrMapOvr>
  <mc:AlternateContent xmlns:mc="http://schemas.openxmlformats.org/markup-compatibility/2006" xmlns:p14="http://schemas.microsoft.com/office/powerpoint/2010/main">
    <mc:Choice Requires="p14">
      <p:transition spd="slow" p14:dur="2000" advTm="200"/>
    </mc:Choice>
    <mc:Fallback xmlns="">
      <p:transition spd="slow" advTm="200"/>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smtClean="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bg1">
                    <a:lumMod val="95000"/>
                  </a:schemeClr>
                </a:solidFill>
                <a:latin typeface="Lucida Console" panose="020B0609040504020204" pitchFamily="49" charset="0"/>
                <a:cs typeface="Consolas" panose="020B0609020204030204" pitchFamily="49" charset="0"/>
              </a:rPr>
              <a:t>(-b+(b*b-4*a*c)**0.5)/(2*a)</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_</a:t>
            </a:r>
          </a:p>
          <a:p>
            <a:r>
              <a:rPr lang="en-US" sz="2200" dirty="0">
                <a:solidFill>
                  <a:schemeClr val="bg1">
                    <a:lumMod val="95000"/>
                  </a:schemeClr>
                </a:solidFill>
                <a:latin typeface="Lucida Console" panose="020B0609040504020204" pitchFamily="49" charset="0"/>
                <a:cs typeface="Consolas" panose="020B0609020204030204" pitchFamily="49" charset="0"/>
              </a:rPr>
              <a:t>3.0</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smtClean="0">
                <a:solidFill>
                  <a:schemeClr val="bg1">
                    <a:lumMod val="95000"/>
                  </a:schemeClr>
                </a:solidFill>
                <a:latin typeface="Lucida Console" panose="020B0609040504020204" pitchFamily="49" charset="0"/>
                <a:cs typeface="Consolas" panose="020B0609020204030204" pitchFamily="49" charset="0"/>
              </a:rPr>
              <a:t>x=a*_</a:t>
            </a:r>
            <a:endParaRPr lang="en-US" sz="2200" dirty="0">
              <a:solidFill>
                <a:schemeClr val="bg1">
                  <a:lumMod val="95000"/>
                </a:schemeClr>
              </a:solidFill>
              <a:latin typeface="Lucida Console" panose="020B0609040504020204" pitchFamily="49" charset="0"/>
              <a:cs typeface="Consolas" panose="020B0609020204030204" pitchFamily="49" charset="0"/>
            </a:endParaRPr>
          </a:p>
          <a:p>
            <a:r>
              <a:rPr lang="en-US" sz="2200" dirty="0">
                <a:solidFill>
                  <a:schemeClr val="bg1">
                    <a:lumMod val="95000"/>
                  </a:schemeClr>
                </a:solidFill>
                <a:latin typeface="Lucida Console" panose="020B0609040504020204" pitchFamily="49" charset="0"/>
                <a:cs typeface="Consolas" panose="020B0609020204030204" pitchFamily="49" charset="0"/>
              </a:rPr>
              <a:t>&gt;&gt;&gt; _+x</a:t>
            </a:r>
          </a:p>
          <a:p>
            <a:r>
              <a:rPr lang="en-US" sz="2200" dirty="0">
                <a:solidFill>
                  <a:schemeClr val="bg1">
                    <a:lumMod val="95000"/>
                  </a:schemeClr>
                </a:solidFill>
                <a:latin typeface="Lucida Console" panose="020B0609040504020204" pitchFamily="49" charset="0"/>
                <a:cs typeface="Consolas" panose="020B0609020204030204" pitchFamily="49" charset="0"/>
              </a:rPr>
              <a:t>9.0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_+_ </a:t>
            </a:r>
          </a:p>
          <a:p>
            <a:r>
              <a:rPr lang="en-US" sz="2200" dirty="0" smtClean="0">
                <a:solidFill>
                  <a:schemeClr val="bg1">
                    <a:lumMod val="95000"/>
                  </a:schemeClr>
                </a:solidFill>
                <a:latin typeface="Lucida Console" panose="020B0609040504020204" pitchFamily="49" charset="0"/>
                <a:cs typeface="Consolas" panose="020B0609020204030204" pitchFamily="49" charset="0"/>
              </a:rPr>
              <a:t>18.0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print(_+_)</a:t>
            </a:r>
          </a:p>
          <a:p>
            <a:r>
              <a:rPr lang="en-US" sz="2200" dirty="0" smtClean="0">
                <a:solidFill>
                  <a:schemeClr val="bg1">
                    <a:lumMod val="95000"/>
                  </a:schemeClr>
                </a:solidFill>
                <a:latin typeface="Lucida Console" panose="020B0609040504020204" pitchFamily="49" charset="0"/>
                <a:cs typeface="Consolas" panose="020B0609020204030204" pitchFamily="49" charset="0"/>
              </a:rPr>
              <a:t>36.0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 _</a:t>
            </a:r>
          </a:p>
          <a:p>
            <a:r>
              <a:rPr lang="en-US" sz="2200" dirty="0" smtClean="0">
                <a:solidFill>
                  <a:schemeClr val="bg1">
                    <a:lumMod val="95000"/>
                  </a:schemeClr>
                </a:solidFill>
                <a:latin typeface="Lucida Console" panose="020B0609040504020204" pitchFamily="49" charset="0"/>
                <a:cs typeface="Consolas" panose="020B0609020204030204" pitchFamily="49" charset="0"/>
              </a:rPr>
              <a:t>18.0</a:t>
            </a:r>
          </a:p>
          <a:p>
            <a:r>
              <a:rPr lang="en-US" sz="2200" dirty="0" smtClean="0">
                <a:solidFill>
                  <a:schemeClr val="bg1">
                    <a:lumMod val="95000"/>
                  </a:schemeClr>
                </a:solidFill>
                <a:latin typeface="Lucida Console" panose="020B0609040504020204" pitchFamily="49" charset="0"/>
                <a:cs typeface="Consolas" panose="020B0609020204030204" pitchFamily="49" charset="0"/>
              </a:rPr>
              <a:t>&gt;&gt;&gt;</a:t>
            </a:r>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cxnSp>
        <p:nvCxnSpPr>
          <p:cNvPr id="8" name="Straight Connector 7"/>
          <p:cNvCxnSpPr/>
          <p:nvPr/>
        </p:nvCxnSpPr>
        <p:spPr>
          <a:xfrm>
            <a:off x="1070765" y="6260152"/>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470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interactive mode</a:t>
            </a:r>
          </a:p>
        </p:txBody>
      </p:sp>
      <p:sp>
        <p:nvSpPr>
          <p:cNvPr id="4" name="Rounded Rectangle 3"/>
          <p:cNvSpPr/>
          <p:nvPr/>
        </p:nvSpPr>
        <p:spPr>
          <a:xfrm>
            <a:off x="351" y="1588169"/>
            <a:ext cx="9729437"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1"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cat script.py</a:t>
            </a:r>
          </a:p>
          <a:p>
            <a:r>
              <a:rPr lang="en-US" sz="2200" dirty="0">
                <a:solidFill>
                  <a:schemeClr val="tx1"/>
                </a:solidFill>
                <a:latin typeface="Lucida Console" panose="020B0609040504020204" pitchFamily="49" charset="0"/>
                <a:cs typeface="Consolas" panose="020B0609020204030204" pitchFamily="49" charset="0"/>
              </a:rPr>
              <a:t>x=5</a:t>
            </a:r>
          </a:p>
          <a:p>
            <a:r>
              <a:rPr lang="en-US" sz="2200" dirty="0">
                <a:solidFill>
                  <a:schemeClr val="tx1"/>
                </a:solidFill>
                <a:latin typeface="Lucida Console" panose="020B0609040504020204" pitchFamily="49" charset="0"/>
                <a:cs typeface="Consolas" panose="020B0609020204030204" pitchFamily="49" charset="0"/>
              </a:rPr>
              <a:t>print x, x+1</a:t>
            </a:r>
          </a:p>
          <a:p>
            <a:r>
              <a:rPr lang="en-US" sz="2200" dirty="0">
                <a:solidFill>
                  <a:schemeClr val="tx1"/>
                </a:solidFill>
                <a:latin typeface="Lucida Console" panose="020B0609040504020204" pitchFamily="49" charset="0"/>
                <a:cs typeface="Consolas" panose="020B0609020204030204" pitchFamily="49" charset="0"/>
              </a:rPr>
              <a:t>for x in range(3):</a:t>
            </a:r>
          </a:p>
          <a:p>
            <a:r>
              <a:rPr lang="en-US" sz="2200" dirty="0">
                <a:solidFill>
                  <a:schemeClr val="tx1"/>
                </a:solidFill>
                <a:latin typeface="Lucida Console" panose="020B0609040504020204" pitchFamily="49" charset="0"/>
                <a:cs typeface="Consolas" panose="020B0609020204030204" pitchFamily="49" charset="0"/>
              </a:rPr>
              <a:t>   print x</a:t>
            </a:r>
          </a:p>
          <a:p>
            <a:r>
              <a:rPr lang="en-US" sz="2200" dirty="0">
                <a:solidFill>
                  <a:schemeClr val="tx1"/>
                </a:solidFill>
                <a:latin typeface="Lucida Console" panose="020B0609040504020204" pitchFamily="49" charset="0"/>
                <a:cs typeface="Consolas" panose="020B0609020204030204" pitchFamily="49" charset="0"/>
              </a:rPr>
              <a:t>% python script.py</a:t>
            </a:r>
          </a:p>
          <a:p>
            <a:r>
              <a:rPr lang="en-US" sz="2200" dirty="0">
                <a:solidFill>
                  <a:schemeClr val="tx1"/>
                </a:solidFill>
                <a:latin typeface="Lucida Console" panose="020B0609040504020204" pitchFamily="49" charset="0"/>
                <a:cs typeface="Consolas" panose="020B0609020204030204" pitchFamily="49" charset="0"/>
              </a:rPr>
              <a:t>5 6</a:t>
            </a:r>
          </a:p>
          <a:p>
            <a:r>
              <a:rPr lang="en-US" sz="2200" dirty="0">
                <a:solidFill>
                  <a:schemeClr val="tx1"/>
                </a:solidFill>
                <a:latin typeface="Lucida Console" panose="020B0609040504020204" pitchFamily="49" charset="0"/>
                <a:cs typeface="Consolas" panose="020B0609020204030204" pitchFamily="49" charset="0"/>
              </a:rPr>
              <a:t>0</a:t>
            </a:r>
          </a:p>
          <a:p>
            <a:r>
              <a:rPr lang="en-US" sz="2200" dirty="0">
                <a:solidFill>
                  <a:schemeClr val="tx1"/>
                </a:solidFill>
                <a:latin typeface="Lucida Console" panose="020B0609040504020204" pitchFamily="49" charset="0"/>
                <a:cs typeface="Consolas" panose="020B0609020204030204" pitchFamily="49" charset="0"/>
              </a:rPr>
              <a:t>1</a:t>
            </a:r>
          </a:p>
          <a:p>
            <a:r>
              <a:rPr lang="en-US" sz="2200" dirty="0">
                <a:solidFill>
                  <a:schemeClr val="tx1"/>
                </a:solidFill>
                <a:latin typeface="Lucida Console" panose="020B0609040504020204" pitchFamily="49" charset="0"/>
                <a:cs typeface="Consolas" panose="020B0609020204030204" pitchFamily="49" charset="0"/>
              </a:rPr>
              <a:t>2</a:t>
            </a:r>
          </a:p>
          <a:p>
            <a:r>
              <a:rPr lang="en-US" sz="2200" dirty="0">
                <a:solidFill>
                  <a:schemeClr val="tx1"/>
                </a:solidFill>
                <a:latin typeface="Lucida Console" panose="020B0609040504020204" pitchFamily="49" charset="0"/>
                <a:cs typeface="Consolas" panose="020B0609020204030204" pitchFamily="49" charset="0"/>
              </a:rPr>
              <a:t>% </a:t>
            </a:r>
          </a:p>
          <a:p>
            <a:endParaRPr lang="en-US" sz="1600" dirty="0">
              <a:solidFill>
                <a:schemeClr val="bg1">
                  <a:lumMod val="95000"/>
                </a:schemeClr>
              </a:solidFill>
              <a:latin typeface="Lucida Console" panose="020B0609040504020204" pitchFamily="49" charset="0"/>
              <a:cs typeface="Consolas" panose="020B0609020204030204" pitchFamily="49" charset="0"/>
            </a:endParaRPr>
          </a:p>
          <a:p>
            <a:endParaRPr lang="en-US" sz="2200" dirty="0">
              <a:solidFill>
                <a:schemeClr val="bg1">
                  <a:lumMod val="95000"/>
                </a:schemeClr>
              </a:solidFill>
              <a:latin typeface="Lucida Console" panose="020B0609040504020204" pitchFamily="49" charset="0"/>
              <a:cs typeface="Consolas" panose="020B0609020204030204" pitchFamily="49" charset="0"/>
            </a:endParaRPr>
          </a:p>
          <a:p>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3054167" y="1946993"/>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4436853" y="1943100"/>
            <a:ext cx="2714041" cy="1143000"/>
          </a:xfrm>
          <a:prstGeom prst="wedgeRoundRectCallout">
            <a:avLst>
              <a:gd name="adj1" fmla="val -106042"/>
              <a:gd name="adj2" fmla="val -3241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800" dirty="0" smtClean="0">
                <a:solidFill>
                  <a:srgbClr val="0033CC"/>
                </a:solidFill>
              </a:rPr>
              <a:t>This </a:t>
            </a:r>
            <a:r>
              <a:rPr lang="en-US" sz="2800" dirty="0">
                <a:solidFill>
                  <a:srgbClr val="0033CC"/>
                </a:solidFill>
              </a:rPr>
              <a:t>file has a “.</a:t>
            </a:r>
            <a:r>
              <a:rPr lang="en-US" sz="2800" dirty="0" err="1">
                <a:solidFill>
                  <a:srgbClr val="0033CC"/>
                </a:solidFill>
              </a:rPr>
              <a:t>py</a:t>
            </a:r>
            <a:r>
              <a:rPr lang="en-US" sz="2800" dirty="0">
                <a:solidFill>
                  <a:srgbClr val="0033CC"/>
                </a:solidFill>
              </a:rPr>
              <a:t>” extension.</a:t>
            </a:r>
          </a:p>
        </p:txBody>
      </p:sp>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scripted mode</a:t>
            </a:r>
          </a:p>
        </p:txBody>
      </p:sp>
      <p:sp>
        <p:nvSpPr>
          <p:cNvPr id="10" name="Rounded Rectangular Callout 9"/>
          <p:cNvSpPr/>
          <p:nvPr/>
        </p:nvSpPr>
        <p:spPr>
          <a:xfrm>
            <a:off x="1092994" y="3086100"/>
            <a:ext cx="3314700" cy="1114310"/>
          </a:xfrm>
          <a:prstGeom prst="wedgeRoundRectCallout">
            <a:avLst>
              <a:gd name="adj1" fmla="val -47728"/>
              <a:gd name="adj2" fmla="val -12889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90000"/>
              </a:lnSpc>
            </a:pPr>
            <a:r>
              <a:rPr lang="en-US" sz="2800" dirty="0">
                <a:solidFill>
                  <a:srgbClr val="0033CC"/>
                </a:solidFill>
              </a:rPr>
              <a:t>“cat” is a UNIX </a:t>
            </a:r>
            <a:r>
              <a:rPr lang="en-US" sz="2800" dirty="0" smtClean="0">
                <a:solidFill>
                  <a:srgbClr val="0033CC"/>
                </a:solidFill>
              </a:rPr>
              <a:t>com-</a:t>
            </a:r>
            <a:br>
              <a:rPr lang="en-US" sz="2800" dirty="0" smtClean="0">
                <a:solidFill>
                  <a:srgbClr val="0033CC"/>
                </a:solidFill>
              </a:rPr>
            </a:br>
            <a:r>
              <a:rPr lang="en-US" sz="2800" dirty="0" err="1" smtClean="0">
                <a:solidFill>
                  <a:srgbClr val="0033CC"/>
                </a:solidFill>
              </a:rPr>
              <a:t>mand</a:t>
            </a:r>
            <a:r>
              <a:rPr lang="en-US" sz="2800" dirty="0" smtClean="0">
                <a:solidFill>
                  <a:srgbClr val="0033CC"/>
                </a:solidFill>
              </a:rPr>
              <a:t> to </a:t>
            </a:r>
            <a:r>
              <a:rPr lang="en-US" sz="2800" dirty="0">
                <a:solidFill>
                  <a:srgbClr val="0033CC"/>
                </a:solidFill>
              </a:rPr>
              <a:t>display a file</a:t>
            </a:r>
            <a:r>
              <a:rPr lang="en-US" sz="2800" dirty="0" smtClean="0">
                <a:solidFill>
                  <a:srgbClr val="0033CC"/>
                </a:solidFill>
              </a:rPr>
              <a:t>.</a:t>
            </a:r>
            <a:endParaRPr lang="en-US" sz="2800" dirty="0">
              <a:solidFill>
                <a:srgbClr val="0033CC"/>
              </a:solidFill>
            </a:endParaRPr>
          </a:p>
        </p:txBody>
      </p:sp>
    </p:spTree>
    <p:extLst>
      <p:ext uri="{BB962C8B-B14F-4D97-AF65-F5344CB8AC3E}">
        <p14:creationId xmlns:p14="http://schemas.microsoft.com/office/powerpoint/2010/main" val="3397499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par>
                                <p:cTn id="10" presetID="35" presetClass="emph" presetSubtype="0" repeatCount="indefinite" fill="hold" nodeType="withEffect">
                                  <p:stCondLst>
                                    <p:cond delay="0"/>
                                  </p:stCondLst>
                                  <p:childTnLst>
                                    <p:anim calcmode="discrete" valueType="str">
                                      <p:cBhvr>
                                        <p:cTn id="11"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randombar(horizontal)">
                                      <p:cBhvr>
                                        <p:cTn id="16" dur="500"/>
                                        <p:tgtEl>
                                          <p:spTgt spid="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randombar(horizont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xit" presetSubtype="10" fill="hold" grpId="1" nodeType="clickEffect">
                                  <p:stCondLst>
                                    <p:cond delay="0"/>
                                  </p:stCondLst>
                                  <p:childTnLst>
                                    <p:animEffect transition="out" filter="randombar(horizontal)">
                                      <p:cBhvr>
                                        <p:cTn id="23" dur="500"/>
                                        <p:tgtEl>
                                          <p:spTgt spid="8"/>
                                        </p:tgtEl>
                                      </p:cBhvr>
                                    </p:animEffect>
                                    <p:set>
                                      <p:cBhvr>
                                        <p:cTn id="24" dur="1" fill="hold">
                                          <p:stCondLst>
                                            <p:cond delay="499"/>
                                          </p:stCondLst>
                                        </p:cTn>
                                        <p:tgtEl>
                                          <p:spTgt spid="8"/>
                                        </p:tgtEl>
                                        <p:attrNameLst>
                                          <p:attrName>style.visibility</p:attrName>
                                        </p:attrNameLst>
                                      </p:cBhvr>
                                      <p:to>
                                        <p:strVal val="hidden"/>
                                      </p:to>
                                    </p:set>
                                  </p:childTnLst>
                                </p:cTn>
                              </p:par>
                              <p:par>
                                <p:cTn id="25" presetID="14" presetClass="exit" presetSubtype="10" fill="hold" grpId="1" nodeType="withEffect">
                                  <p:stCondLst>
                                    <p:cond delay="0"/>
                                  </p:stCondLst>
                                  <p:childTnLst>
                                    <p:animEffect transition="out" filter="randombar(horizontal)">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6" grpId="0" animBg="1"/>
      <p:bldP spid="10" grpId="0" animBg="1"/>
      <p:bldP spid="10" grpId="1"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scripted mode</a:t>
            </a:r>
          </a:p>
        </p:txBody>
      </p:sp>
      <p:sp>
        <p:nvSpPr>
          <p:cNvPr id="4" name="Rounded Rectangle 3"/>
          <p:cNvSpPr/>
          <p:nvPr/>
        </p:nvSpPr>
        <p:spPr>
          <a:xfrm>
            <a:off x="356" y="1588169"/>
            <a:ext cx="9729432"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6"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cat script.py</a:t>
            </a:r>
          </a:p>
          <a:p>
            <a:r>
              <a:rPr lang="en-US" sz="2200" dirty="0">
                <a:solidFill>
                  <a:schemeClr val="bg1">
                    <a:lumMod val="95000"/>
                  </a:schemeClr>
                </a:solidFill>
                <a:latin typeface="Lucida Console" panose="020B0609040504020204" pitchFamily="49" charset="0"/>
                <a:cs typeface="Consolas" panose="020B0609020204030204" pitchFamily="49" charset="0"/>
              </a:rPr>
              <a:t>x=5</a:t>
            </a:r>
          </a:p>
          <a:p>
            <a:r>
              <a:rPr lang="en-US" sz="2200" dirty="0">
                <a:solidFill>
                  <a:schemeClr val="bg1">
                    <a:lumMod val="95000"/>
                  </a:schemeClr>
                </a:solidFill>
                <a:latin typeface="Lucida Console" panose="020B0609040504020204" pitchFamily="49" charset="0"/>
                <a:cs typeface="Consolas" panose="020B0609020204030204" pitchFamily="49" charset="0"/>
              </a:rPr>
              <a:t>print (x, x+1)</a:t>
            </a:r>
          </a:p>
          <a:p>
            <a:r>
              <a:rPr lang="en-US" sz="2200" dirty="0">
                <a:solidFill>
                  <a:schemeClr val="bg1">
                    <a:lumMod val="95000"/>
                  </a:schemeClr>
                </a:solidFill>
                <a:latin typeface="Lucida Console" panose="020B0609040504020204" pitchFamily="49" charset="0"/>
                <a:cs typeface="Consolas" panose="020B0609020204030204" pitchFamily="49" charset="0"/>
              </a:rPr>
              <a:t>for x in range(3):</a:t>
            </a:r>
          </a:p>
          <a:p>
            <a:r>
              <a:rPr lang="en-US" sz="2200" dirty="0">
                <a:solidFill>
                  <a:schemeClr val="bg1">
                    <a:lumMod val="95000"/>
                  </a:schemeClr>
                </a:solidFill>
                <a:latin typeface="Lucida Console" panose="020B0609040504020204" pitchFamily="49" charset="0"/>
                <a:cs typeface="Consolas" panose="020B0609020204030204" pitchFamily="49" charset="0"/>
              </a:rPr>
              <a:t>   print (x)</a:t>
            </a:r>
          </a:p>
          <a:p>
            <a:r>
              <a:rPr lang="en-US" sz="22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python script.py</a:t>
            </a:r>
          </a:p>
          <a:p>
            <a:r>
              <a:rPr lang="en-US" sz="2200" dirty="0">
                <a:solidFill>
                  <a:schemeClr val="tx1"/>
                </a:solidFill>
                <a:latin typeface="Lucida Console" panose="020B0609040504020204" pitchFamily="49" charset="0"/>
                <a:cs typeface="Consolas" panose="020B0609020204030204" pitchFamily="49" charset="0"/>
              </a:rPr>
              <a:t>5 6</a:t>
            </a:r>
          </a:p>
          <a:p>
            <a:r>
              <a:rPr lang="en-US" sz="2200" dirty="0">
                <a:solidFill>
                  <a:schemeClr val="tx1"/>
                </a:solidFill>
                <a:latin typeface="Lucida Console" panose="020B0609040504020204" pitchFamily="49" charset="0"/>
                <a:cs typeface="Consolas" panose="020B0609020204030204" pitchFamily="49" charset="0"/>
              </a:rPr>
              <a:t>0</a:t>
            </a:r>
          </a:p>
          <a:p>
            <a:r>
              <a:rPr lang="en-US" sz="2200" dirty="0">
                <a:solidFill>
                  <a:schemeClr val="tx1"/>
                </a:solidFill>
                <a:latin typeface="Lucida Console" panose="020B0609040504020204" pitchFamily="49" charset="0"/>
                <a:cs typeface="Consolas" panose="020B0609020204030204" pitchFamily="49" charset="0"/>
              </a:rPr>
              <a:t>1</a:t>
            </a:r>
          </a:p>
          <a:p>
            <a:r>
              <a:rPr lang="en-US" sz="2200" dirty="0">
                <a:solidFill>
                  <a:schemeClr val="tx1"/>
                </a:solidFill>
                <a:latin typeface="Lucida Console" panose="020B0609040504020204" pitchFamily="49" charset="0"/>
                <a:cs typeface="Consolas" panose="020B0609020204030204" pitchFamily="49" charset="0"/>
              </a:rPr>
              <a:t>2</a:t>
            </a:r>
          </a:p>
          <a:p>
            <a:r>
              <a:rPr lang="en-US" sz="2200" dirty="0">
                <a:solidFill>
                  <a:schemeClr val="tx1"/>
                </a:solidFill>
                <a:latin typeface="Lucida Console" panose="020B0609040504020204" pitchFamily="49" charset="0"/>
                <a:cs typeface="Consolas" panose="020B0609020204030204" pitchFamily="49" charset="0"/>
              </a:rPr>
              <a:t>% </a:t>
            </a:r>
          </a:p>
          <a:p>
            <a:endParaRPr lang="en-US" sz="1600" dirty="0">
              <a:solidFill>
                <a:schemeClr val="bg1">
                  <a:lumMod val="95000"/>
                </a:schemeClr>
              </a:solidFill>
              <a:latin typeface="Lucida Console" panose="020B0609040504020204" pitchFamily="49" charset="0"/>
              <a:cs typeface="Consolas" panose="020B0609020204030204" pitchFamily="49" charset="0"/>
            </a:endParaRPr>
          </a:p>
          <a:p>
            <a:endParaRPr lang="en-US" sz="2200" dirty="0">
              <a:solidFill>
                <a:schemeClr val="bg1">
                  <a:lumMod val="95000"/>
                </a:schemeClr>
              </a:solidFill>
              <a:latin typeface="Lucida Console" panose="020B0609040504020204" pitchFamily="49" charset="0"/>
              <a:cs typeface="Consolas" panose="020B0609020204030204" pitchFamily="49" charset="0"/>
            </a:endParaRPr>
          </a:p>
          <a:p>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730072" y="3604343"/>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ounded Rectangular Callout 8"/>
          <p:cNvSpPr/>
          <p:nvPr/>
        </p:nvSpPr>
        <p:spPr>
          <a:xfrm>
            <a:off x="2492949" y="3886966"/>
            <a:ext cx="6056195" cy="1370835"/>
          </a:xfrm>
          <a:prstGeom prst="wedgeRoundRectCallout">
            <a:avLst>
              <a:gd name="adj1" fmla="val -79089"/>
              <a:gd name="adj2" fmla="val -7620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800" dirty="0">
                <a:solidFill>
                  <a:srgbClr val="0033CC"/>
                </a:solidFill>
              </a:rPr>
              <a:t>When used in a script, a loop body doesn’t need to end with a blank line (in contrast to </a:t>
            </a:r>
            <a:r>
              <a:rPr lang="en-US" sz="2800" dirty="0" smtClean="0">
                <a:solidFill>
                  <a:srgbClr val="0033CC"/>
                </a:solidFill>
              </a:rPr>
              <a:t>interactive mode).</a:t>
            </a:r>
            <a:endParaRPr lang="en-US" sz="2800" dirty="0">
              <a:solidFill>
                <a:srgbClr val="0033CC"/>
              </a:solidFill>
            </a:endParaRPr>
          </a:p>
        </p:txBody>
      </p:sp>
      <p:sp>
        <p:nvSpPr>
          <p:cNvPr id="8" name="Rounded Rectangular Callout 7"/>
          <p:cNvSpPr/>
          <p:nvPr/>
        </p:nvSpPr>
        <p:spPr>
          <a:xfrm>
            <a:off x="2888771" y="3635105"/>
            <a:ext cx="4247526" cy="1385100"/>
          </a:xfrm>
          <a:prstGeom prst="wedgeRoundRectCallout">
            <a:avLst>
              <a:gd name="adj1" fmla="val -77390"/>
              <a:gd name="adj2" fmla="val -7729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800" dirty="0" smtClean="0">
                <a:solidFill>
                  <a:srgbClr val="0033CC"/>
                </a:solidFill>
              </a:rPr>
              <a:t>So this </a:t>
            </a:r>
            <a:r>
              <a:rPr lang="en-US" sz="2800" dirty="0">
                <a:solidFill>
                  <a:srgbClr val="0033CC"/>
                </a:solidFill>
              </a:rPr>
              <a:t>file is the same as what we </a:t>
            </a:r>
            <a:r>
              <a:rPr lang="en-US" sz="2800" dirty="0" smtClean="0">
                <a:solidFill>
                  <a:srgbClr val="0033CC"/>
                </a:solidFill>
              </a:rPr>
              <a:t>had interactively</a:t>
            </a:r>
            <a:br>
              <a:rPr lang="en-US" sz="2800" dirty="0" smtClean="0">
                <a:solidFill>
                  <a:srgbClr val="0033CC"/>
                </a:solidFill>
              </a:rPr>
            </a:br>
            <a:r>
              <a:rPr lang="en-US" sz="2800" spc="-30" dirty="0">
                <a:solidFill>
                  <a:srgbClr val="0033CC"/>
                </a:solidFill>
              </a:rPr>
              <a:t>typed in </a:t>
            </a:r>
            <a:r>
              <a:rPr lang="en-US" sz="2800" spc="-30" dirty="0" smtClean="0">
                <a:solidFill>
                  <a:srgbClr val="0033CC"/>
                </a:solidFill>
              </a:rPr>
              <a:t>some earlier slides</a:t>
            </a:r>
            <a:r>
              <a:rPr lang="en-US" sz="2800" spc="-30" dirty="0">
                <a:solidFill>
                  <a:srgbClr val="0033CC"/>
                </a:solidFill>
              </a:rPr>
              <a:t>.</a:t>
            </a:r>
          </a:p>
        </p:txBody>
      </p:sp>
    </p:spTree>
    <p:extLst>
      <p:ext uri="{BB962C8B-B14F-4D97-AF65-F5344CB8AC3E}">
        <p14:creationId xmlns:p14="http://schemas.microsoft.com/office/powerpoint/2010/main" val="1376143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horizontal)">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xit" presetSubtype="10" fill="hold" grpId="1" nodeType="clickEffect">
                                  <p:stCondLst>
                                    <p:cond delay="0"/>
                                  </p:stCondLst>
                                  <p:childTnLst>
                                    <p:animEffect transition="out" filter="randombar(horizontal)">
                                      <p:cBhvr>
                                        <p:cTn id="25" dur="500"/>
                                        <p:tgtEl>
                                          <p:spTgt spid="9"/>
                                        </p:tgtEl>
                                      </p:cBhvr>
                                    </p:animEffect>
                                    <p:set>
                                      <p:cBhvr>
                                        <p:cTn id="26"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8" grpId="0" animBg="1"/>
      <p:bldP spid="8" grpId="1"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scripted mode</a:t>
            </a:r>
          </a:p>
        </p:txBody>
      </p:sp>
      <p:sp>
        <p:nvSpPr>
          <p:cNvPr id="4" name="Rounded Rectangle 3"/>
          <p:cNvSpPr/>
          <p:nvPr/>
        </p:nvSpPr>
        <p:spPr>
          <a:xfrm>
            <a:off x="350" y="1588169"/>
            <a:ext cx="9729438"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29"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cat script.py</a:t>
            </a:r>
          </a:p>
          <a:p>
            <a:r>
              <a:rPr lang="en-US" sz="2200" dirty="0">
                <a:solidFill>
                  <a:schemeClr val="bg1">
                    <a:lumMod val="95000"/>
                  </a:schemeClr>
                </a:solidFill>
                <a:latin typeface="Lucida Console" panose="020B0609040504020204" pitchFamily="49" charset="0"/>
                <a:cs typeface="Consolas" panose="020B0609020204030204" pitchFamily="49" charset="0"/>
              </a:rPr>
              <a:t>x=5</a:t>
            </a:r>
          </a:p>
          <a:p>
            <a:r>
              <a:rPr lang="en-US" sz="2200" dirty="0">
                <a:solidFill>
                  <a:schemeClr val="bg1">
                    <a:lumMod val="95000"/>
                  </a:schemeClr>
                </a:solidFill>
                <a:latin typeface="Lucida Console" panose="020B0609040504020204" pitchFamily="49" charset="0"/>
                <a:cs typeface="Consolas" panose="020B0609020204030204" pitchFamily="49" charset="0"/>
              </a:rPr>
              <a:t>print (x, x+1)</a:t>
            </a:r>
          </a:p>
          <a:p>
            <a:r>
              <a:rPr lang="en-US" sz="2200" dirty="0">
                <a:solidFill>
                  <a:schemeClr val="bg1">
                    <a:lumMod val="95000"/>
                  </a:schemeClr>
                </a:solidFill>
                <a:latin typeface="Lucida Console" panose="020B0609040504020204" pitchFamily="49" charset="0"/>
                <a:cs typeface="Consolas" panose="020B0609020204030204" pitchFamily="49" charset="0"/>
              </a:rPr>
              <a:t>for x in range(3):</a:t>
            </a:r>
          </a:p>
          <a:p>
            <a:r>
              <a:rPr lang="en-US" sz="2200" dirty="0">
                <a:solidFill>
                  <a:schemeClr val="bg1">
                    <a:lumMod val="95000"/>
                  </a:schemeClr>
                </a:solidFill>
                <a:latin typeface="Lucida Console" panose="020B0609040504020204" pitchFamily="49" charset="0"/>
                <a:cs typeface="Consolas" panose="020B0609020204030204" pitchFamily="49" charset="0"/>
              </a:rPr>
              <a:t>   print (x)</a:t>
            </a:r>
          </a:p>
          <a:p>
            <a:r>
              <a:rPr lang="en-US" sz="2200" dirty="0">
                <a:solidFill>
                  <a:schemeClr val="bg1">
                    <a:lumMod val="95000"/>
                  </a:schemeClr>
                </a:solidFill>
                <a:latin typeface="Lucida Console" panose="020B0609040504020204" pitchFamily="49" charset="0"/>
                <a:cs typeface="Consolas" panose="020B0609020204030204" pitchFamily="49" charset="0"/>
              </a:rPr>
              <a:t>% python3 script.py</a:t>
            </a:r>
          </a:p>
          <a:p>
            <a:r>
              <a:rPr lang="en-US" sz="2200" dirty="0">
                <a:solidFill>
                  <a:schemeClr val="tx1"/>
                </a:solidFill>
                <a:latin typeface="Lucida Console" panose="020B0609040504020204" pitchFamily="49" charset="0"/>
                <a:cs typeface="Consolas" panose="020B0609020204030204" pitchFamily="49" charset="0"/>
              </a:rPr>
              <a:t>5 6</a:t>
            </a:r>
          </a:p>
          <a:p>
            <a:r>
              <a:rPr lang="en-US" sz="2200" dirty="0">
                <a:solidFill>
                  <a:schemeClr val="tx1"/>
                </a:solidFill>
                <a:latin typeface="Lucida Console" panose="020B0609040504020204" pitchFamily="49" charset="0"/>
                <a:cs typeface="Consolas" panose="020B0609020204030204" pitchFamily="49" charset="0"/>
              </a:rPr>
              <a:t>0</a:t>
            </a:r>
          </a:p>
          <a:p>
            <a:r>
              <a:rPr lang="en-US" sz="2200" dirty="0">
                <a:solidFill>
                  <a:schemeClr val="tx1"/>
                </a:solidFill>
                <a:latin typeface="Lucida Console" panose="020B0609040504020204" pitchFamily="49" charset="0"/>
                <a:cs typeface="Consolas" panose="020B0609020204030204" pitchFamily="49" charset="0"/>
              </a:rPr>
              <a:t>1</a:t>
            </a:r>
          </a:p>
          <a:p>
            <a:r>
              <a:rPr lang="en-US" sz="2200" dirty="0">
                <a:solidFill>
                  <a:schemeClr val="tx1"/>
                </a:solidFill>
                <a:latin typeface="Lucida Console" panose="020B0609040504020204" pitchFamily="49" charset="0"/>
                <a:cs typeface="Consolas" panose="020B0609020204030204" pitchFamily="49" charset="0"/>
              </a:rPr>
              <a:t>2</a:t>
            </a:r>
          </a:p>
          <a:p>
            <a:r>
              <a:rPr lang="en-US" sz="2200" dirty="0">
                <a:solidFill>
                  <a:schemeClr val="tx1"/>
                </a:solidFill>
                <a:latin typeface="Lucida Console" panose="020B0609040504020204" pitchFamily="49" charset="0"/>
                <a:cs typeface="Consolas" panose="020B0609020204030204" pitchFamily="49" charset="0"/>
              </a:rPr>
              <a:t>% </a:t>
            </a:r>
          </a:p>
          <a:p>
            <a:endParaRPr lang="en-US" sz="1600" dirty="0">
              <a:solidFill>
                <a:schemeClr val="bg1">
                  <a:lumMod val="95000"/>
                </a:schemeClr>
              </a:solidFill>
              <a:latin typeface="Lucida Console" panose="020B0609040504020204" pitchFamily="49" charset="0"/>
              <a:cs typeface="Consolas" panose="020B0609020204030204" pitchFamily="49" charset="0"/>
            </a:endParaRPr>
          </a:p>
          <a:p>
            <a:endParaRPr lang="en-US" sz="2200" dirty="0">
              <a:solidFill>
                <a:schemeClr val="bg1">
                  <a:lumMod val="95000"/>
                </a:schemeClr>
              </a:solidFill>
              <a:latin typeface="Lucida Console" panose="020B0609040504020204" pitchFamily="49" charset="0"/>
              <a:cs typeface="Consolas" panose="020B0609020204030204" pitchFamily="49" charset="0"/>
            </a:endParaRPr>
          </a:p>
          <a:p>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3719594" y="3660327"/>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4372948" y="3984959"/>
            <a:ext cx="4641844" cy="1243023"/>
          </a:xfrm>
          <a:prstGeom prst="wedgeRoundRectCallout">
            <a:avLst>
              <a:gd name="adj1" fmla="val -63168"/>
              <a:gd name="adj2" fmla="val -6237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800" dirty="0">
                <a:solidFill>
                  <a:srgbClr val="0033CC"/>
                </a:solidFill>
              </a:rPr>
              <a:t>Now we run </a:t>
            </a:r>
            <a:r>
              <a:rPr lang="en-US" sz="2800" dirty="0" smtClean="0">
                <a:solidFill>
                  <a:srgbClr val="0033CC"/>
                </a:solidFill>
              </a:rPr>
              <a:t>Python, </a:t>
            </a:r>
            <a:r>
              <a:rPr lang="en-US" sz="2800" dirty="0">
                <a:solidFill>
                  <a:srgbClr val="0033CC"/>
                </a:solidFill>
              </a:rPr>
              <a:t>but this time providing a </a:t>
            </a:r>
            <a:r>
              <a:rPr lang="en-US" sz="2800">
                <a:solidFill>
                  <a:srgbClr val="0033CC"/>
                </a:solidFill>
              </a:rPr>
              <a:t>script </a:t>
            </a:r>
            <a:r>
              <a:rPr lang="en-US" sz="2800" smtClean="0">
                <a:solidFill>
                  <a:srgbClr val="0033CC"/>
                </a:solidFill>
              </a:rPr>
              <a:t>name on </a:t>
            </a:r>
            <a:r>
              <a:rPr lang="en-US" sz="2800" dirty="0">
                <a:solidFill>
                  <a:srgbClr val="0033CC"/>
                </a:solidFill>
              </a:rPr>
              <a:t>the command line.</a:t>
            </a:r>
          </a:p>
        </p:txBody>
      </p:sp>
    </p:spTree>
    <p:extLst>
      <p:ext uri="{BB962C8B-B14F-4D97-AF65-F5344CB8AC3E}">
        <p14:creationId xmlns:p14="http://schemas.microsoft.com/office/powerpoint/2010/main" val="266465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92906" y="64740"/>
            <a:ext cx="10515600" cy="105540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accent1">
                    <a:lumMod val="75000"/>
                  </a:schemeClr>
                </a:solidFill>
                <a:latin typeface="Times New Roman" panose="02020603050405020304" pitchFamily="18" charset="0"/>
                <a:cs typeface="Times New Roman" panose="02020603050405020304" pitchFamily="18" charset="0"/>
              </a:rPr>
              <a:t>Python in scripted mode</a:t>
            </a:r>
          </a:p>
        </p:txBody>
      </p:sp>
      <p:sp>
        <p:nvSpPr>
          <p:cNvPr id="4" name="Rounded Rectangle 3"/>
          <p:cNvSpPr/>
          <p:nvPr/>
        </p:nvSpPr>
        <p:spPr>
          <a:xfrm>
            <a:off x="354" y="1588169"/>
            <a:ext cx="972943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3563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cs typeface="Consolas" panose="020B0609020204030204" pitchFamily="49" charset="0"/>
              </a:rPr>
              <a:t>% cat script.py</a:t>
            </a:r>
          </a:p>
          <a:p>
            <a:r>
              <a:rPr lang="en-US" sz="2200" dirty="0">
                <a:solidFill>
                  <a:schemeClr val="bg1">
                    <a:lumMod val="95000"/>
                  </a:schemeClr>
                </a:solidFill>
                <a:latin typeface="Lucida Console" panose="020B0609040504020204" pitchFamily="49" charset="0"/>
                <a:cs typeface="Consolas" panose="020B0609020204030204" pitchFamily="49" charset="0"/>
              </a:rPr>
              <a:t>x=5</a:t>
            </a:r>
          </a:p>
          <a:p>
            <a:r>
              <a:rPr lang="en-US" sz="2200" dirty="0">
                <a:solidFill>
                  <a:schemeClr val="bg1">
                    <a:lumMod val="95000"/>
                  </a:schemeClr>
                </a:solidFill>
                <a:latin typeface="Lucida Console" panose="020B0609040504020204" pitchFamily="49" charset="0"/>
                <a:cs typeface="Consolas" panose="020B0609020204030204" pitchFamily="49" charset="0"/>
              </a:rPr>
              <a:t>print (x, x+1)</a:t>
            </a:r>
          </a:p>
          <a:p>
            <a:r>
              <a:rPr lang="en-US" sz="2200" dirty="0">
                <a:solidFill>
                  <a:schemeClr val="bg1">
                    <a:lumMod val="95000"/>
                  </a:schemeClr>
                </a:solidFill>
                <a:latin typeface="Lucida Console" panose="020B0609040504020204" pitchFamily="49" charset="0"/>
                <a:cs typeface="Consolas" panose="020B0609020204030204" pitchFamily="49" charset="0"/>
              </a:rPr>
              <a:t>for x in range(3):</a:t>
            </a:r>
          </a:p>
          <a:p>
            <a:r>
              <a:rPr lang="en-US" sz="2200" dirty="0">
                <a:solidFill>
                  <a:schemeClr val="bg1">
                    <a:lumMod val="95000"/>
                  </a:schemeClr>
                </a:solidFill>
                <a:latin typeface="Lucida Console" panose="020B0609040504020204" pitchFamily="49" charset="0"/>
                <a:cs typeface="Consolas" panose="020B0609020204030204" pitchFamily="49" charset="0"/>
              </a:rPr>
              <a:t>   print (x)</a:t>
            </a:r>
          </a:p>
          <a:p>
            <a:r>
              <a:rPr lang="en-US" sz="2200" dirty="0">
                <a:solidFill>
                  <a:schemeClr val="bg1">
                    <a:lumMod val="95000"/>
                  </a:schemeClr>
                </a:solidFill>
                <a:latin typeface="Lucida Console" panose="020B0609040504020204" pitchFamily="49" charset="0"/>
                <a:cs typeface="Consolas" panose="020B0609020204030204" pitchFamily="49" charset="0"/>
              </a:rPr>
              <a:t>% python3 script.py</a:t>
            </a:r>
          </a:p>
          <a:p>
            <a:r>
              <a:rPr lang="en-US" sz="2200" dirty="0">
                <a:solidFill>
                  <a:schemeClr val="bg1">
                    <a:lumMod val="95000"/>
                  </a:schemeClr>
                </a:solidFill>
                <a:latin typeface="Lucida Console" panose="020B0609040504020204" pitchFamily="49" charset="0"/>
                <a:cs typeface="Consolas" panose="020B0609020204030204" pitchFamily="49" charset="0"/>
              </a:rPr>
              <a:t>5 6</a:t>
            </a:r>
          </a:p>
          <a:p>
            <a:r>
              <a:rPr lang="en-US" sz="2200" dirty="0">
                <a:solidFill>
                  <a:schemeClr val="bg1">
                    <a:lumMod val="95000"/>
                  </a:schemeClr>
                </a:solidFill>
                <a:latin typeface="Lucida Console" panose="020B0609040504020204" pitchFamily="49" charset="0"/>
                <a:cs typeface="Consolas" panose="020B0609020204030204" pitchFamily="49" charset="0"/>
              </a:rPr>
              <a:t>0</a:t>
            </a:r>
          </a:p>
          <a:p>
            <a:r>
              <a:rPr lang="en-US" sz="2200" dirty="0">
                <a:solidFill>
                  <a:schemeClr val="bg1">
                    <a:lumMod val="95000"/>
                  </a:schemeClr>
                </a:solidFill>
                <a:latin typeface="Lucida Console" panose="020B0609040504020204" pitchFamily="49" charset="0"/>
                <a:cs typeface="Consolas" panose="020B0609020204030204" pitchFamily="49" charset="0"/>
              </a:rPr>
              <a:t>1</a:t>
            </a:r>
          </a:p>
          <a:p>
            <a:r>
              <a:rPr lang="en-US" sz="2200" dirty="0">
                <a:solidFill>
                  <a:schemeClr val="bg1">
                    <a:lumMod val="95000"/>
                  </a:schemeClr>
                </a:solidFill>
                <a:latin typeface="Lucida Console" panose="020B0609040504020204" pitchFamily="49" charset="0"/>
                <a:cs typeface="Consolas" panose="020B0609020204030204" pitchFamily="49" charset="0"/>
              </a:rPr>
              <a:t>2</a:t>
            </a:r>
          </a:p>
          <a:p>
            <a:r>
              <a:rPr lang="en-US" sz="2200" dirty="0">
                <a:solidFill>
                  <a:schemeClr val="bg1">
                    <a:lumMod val="95000"/>
                  </a:schemeClr>
                </a:solidFill>
                <a:latin typeface="Lucida Console" panose="020B0609040504020204" pitchFamily="49" charset="0"/>
                <a:cs typeface="Consolas" panose="020B0609020204030204" pitchFamily="49" charset="0"/>
              </a:rPr>
              <a:t>% </a:t>
            </a:r>
          </a:p>
          <a:p>
            <a:endParaRPr lang="en-US" sz="1600" dirty="0">
              <a:solidFill>
                <a:schemeClr val="bg1">
                  <a:lumMod val="95000"/>
                </a:schemeClr>
              </a:solidFill>
              <a:latin typeface="Lucida Console" panose="020B0609040504020204" pitchFamily="49" charset="0"/>
              <a:cs typeface="Consolas" panose="020B0609020204030204" pitchFamily="49" charset="0"/>
            </a:endParaRPr>
          </a:p>
          <a:p>
            <a:endParaRPr lang="en-US" sz="2200" dirty="0">
              <a:solidFill>
                <a:schemeClr val="bg1">
                  <a:lumMod val="95000"/>
                </a:schemeClr>
              </a:solidFill>
              <a:latin typeface="Lucida Console" panose="020B0609040504020204" pitchFamily="49" charset="0"/>
              <a:cs typeface="Consolas" panose="020B0609020204030204" pitchFamily="49" charset="0"/>
            </a:endParaRPr>
          </a:p>
          <a:p>
            <a:endParaRPr lang="en-US" sz="2200" dirty="0">
              <a:solidFill>
                <a:schemeClr val="bg1">
                  <a:lumMod val="95000"/>
                </a:schemeClr>
              </a:solidFill>
              <a:latin typeface="Lucida Console" panose="020B0609040504020204" pitchFamily="49" charset="0"/>
              <a:cs typeface="Consolas" panose="020B0609020204030204" pitchFamily="49" charset="0"/>
            </a:endParaRPr>
          </a:p>
        </p:txBody>
      </p:sp>
      <p:cxnSp>
        <p:nvCxnSpPr>
          <p:cNvPr id="3" name="Straight Connector 2"/>
          <p:cNvCxnSpPr/>
          <p:nvPr/>
        </p:nvCxnSpPr>
        <p:spPr>
          <a:xfrm>
            <a:off x="730070" y="5299793"/>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1580985" y="4584557"/>
            <a:ext cx="3478839" cy="863265"/>
          </a:xfrm>
          <a:prstGeom prst="wedgeRoundRectCallout">
            <a:avLst>
              <a:gd name="adj1" fmla="val -73963"/>
              <a:gd name="adj2" fmla="val -5155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800" dirty="0">
                <a:solidFill>
                  <a:srgbClr val="0033CC"/>
                </a:solidFill>
              </a:rPr>
              <a:t>It produces the same output as before.</a:t>
            </a:r>
          </a:p>
        </p:txBody>
      </p:sp>
      <p:sp>
        <p:nvSpPr>
          <p:cNvPr id="9" name="Rounded Rectangular Callout 8"/>
          <p:cNvSpPr/>
          <p:nvPr/>
        </p:nvSpPr>
        <p:spPr>
          <a:xfrm>
            <a:off x="1558644" y="5570786"/>
            <a:ext cx="8164830" cy="1287214"/>
          </a:xfrm>
          <a:prstGeom prst="wedgeRoundRectCallout">
            <a:avLst>
              <a:gd name="adj1" fmla="val -58285"/>
              <a:gd name="adj2" fmla="val -51717"/>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2800" dirty="0">
                <a:solidFill>
                  <a:srgbClr val="0033CC"/>
                </a:solidFill>
              </a:rPr>
              <a:t>We have the “%” prompt. This </a:t>
            </a:r>
            <a:r>
              <a:rPr lang="en-US" sz="2800" dirty="0" smtClean="0">
                <a:solidFill>
                  <a:srgbClr val="0033CC"/>
                </a:solidFill>
              </a:rPr>
              <a:t>means </a:t>
            </a:r>
            <a:r>
              <a:rPr lang="en-US" sz="2800" dirty="0">
                <a:solidFill>
                  <a:srgbClr val="0033CC"/>
                </a:solidFill>
              </a:rPr>
              <a:t>Python is </a:t>
            </a:r>
            <a:r>
              <a:rPr lang="en-US" sz="2800" dirty="0" smtClean="0">
                <a:solidFill>
                  <a:srgbClr val="0033CC"/>
                </a:solidFill>
              </a:rPr>
              <a:t>done </a:t>
            </a:r>
            <a:r>
              <a:rPr lang="en-US" sz="2800" dirty="0">
                <a:solidFill>
                  <a:srgbClr val="0033CC"/>
                </a:solidFill>
              </a:rPr>
              <a:t>and UNIX is running again. No need to hit Ctrl-D, because Python knows the script has finished.</a:t>
            </a:r>
          </a:p>
        </p:txBody>
      </p:sp>
    </p:spTree>
    <p:extLst>
      <p:ext uri="{BB962C8B-B14F-4D97-AF65-F5344CB8AC3E}">
        <p14:creationId xmlns:p14="http://schemas.microsoft.com/office/powerpoint/2010/main" val="205820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par>
                          <p:cTn id="17" fill="hold">
                            <p:stCondLst>
                              <p:cond delay="500"/>
                            </p:stCondLst>
                            <p:childTnLst>
                              <p:par>
                                <p:cTn id="18" presetID="14"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randombar(horizontal)">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906" y="-3841"/>
            <a:ext cx="10515600" cy="1223041"/>
          </a:xfrm>
        </p:spPr>
        <p:txBody>
          <a:bodyPr>
            <a:normAutofit/>
          </a:bodyPr>
          <a:lstStyle/>
          <a:p>
            <a:pPr algn="ctr"/>
            <a:r>
              <a:rPr lang="en-US" sz="5400" b="1" dirty="0">
                <a:solidFill>
                  <a:schemeClr val="accent1">
                    <a:lumMod val="75000"/>
                  </a:schemeClr>
                </a:solidFill>
                <a:latin typeface="Times New Roman" panose="02020603050405020304" pitchFamily="18" charset="0"/>
                <a:cs typeface="Times New Roman" panose="02020603050405020304" pitchFamily="18" charset="0"/>
              </a:rPr>
              <a:t>What is Python?</a:t>
            </a:r>
          </a:p>
        </p:txBody>
      </p:sp>
      <p:sp>
        <p:nvSpPr>
          <p:cNvPr id="3" name="Content Placeholder 2"/>
          <p:cNvSpPr>
            <a:spLocks noGrp="1"/>
          </p:cNvSpPr>
          <p:nvPr>
            <p:ph idx="1"/>
          </p:nvPr>
        </p:nvSpPr>
        <p:spPr>
          <a:xfrm>
            <a:off x="-1" y="1138990"/>
            <a:ext cx="10833075" cy="5678905"/>
          </a:xfrm>
        </p:spPr>
        <p:txBody>
          <a:bodyPr>
            <a:normAutofit/>
          </a:bodyPr>
          <a:lstStyle/>
          <a:p>
            <a:pPr marL="288925" indent="-288925">
              <a:lnSpc>
                <a:spcPct val="96000"/>
              </a:lnSpc>
            </a:pPr>
            <a:r>
              <a:rPr lang="en-US" sz="4400" dirty="0">
                <a:latin typeface="Arial Narrow" panose="020B0606020202030204" pitchFamily="34" charset="0"/>
              </a:rPr>
              <a:t>It is </a:t>
            </a:r>
            <a:r>
              <a:rPr lang="en-US" sz="4400" dirty="0" smtClean="0">
                <a:latin typeface="Arial Narrow" panose="020B0606020202030204" pitchFamily="34" charset="0"/>
              </a:rPr>
              <a:t>a </a:t>
            </a:r>
            <a:r>
              <a:rPr lang="en-US" sz="4400" b="1" i="1" dirty="0">
                <a:solidFill>
                  <a:srgbClr val="C00000"/>
                </a:solidFill>
                <a:latin typeface="Arial Narrow" panose="020B0606020202030204" pitchFamily="34" charset="0"/>
              </a:rPr>
              <a:t>High Level Language</a:t>
            </a:r>
            <a:r>
              <a:rPr lang="en-US" sz="4400" dirty="0">
                <a:latin typeface="Arial Narrow" panose="020B0606020202030204" pitchFamily="34" charset="0"/>
              </a:rPr>
              <a:t>.</a:t>
            </a:r>
            <a:endParaRPr lang="en-US" sz="4000" dirty="0">
              <a:latin typeface="Arial Narrow" panose="020B0606020202030204" pitchFamily="34" charset="0"/>
            </a:endParaRPr>
          </a:p>
          <a:p>
            <a:pPr marL="517525" lvl="1">
              <a:lnSpc>
                <a:spcPct val="96000"/>
              </a:lnSpc>
            </a:pPr>
            <a:r>
              <a:rPr lang="en-US" sz="4000" spc="-40" dirty="0">
                <a:latin typeface="Arial Narrow" panose="020B0606020202030204" pitchFamily="34" charset="0"/>
              </a:rPr>
              <a:t>That means </a:t>
            </a:r>
            <a:r>
              <a:rPr lang="en-US" sz="4000" spc="-40" dirty="0" smtClean="0">
                <a:latin typeface="Arial Narrow" panose="020B0606020202030204" pitchFamily="34" charset="0"/>
              </a:rPr>
              <a:t>it’s </a:t>
            </a:r>
            <a:r>
              <a:rPr lang="en-US" sz="4000" spc="-40" dirty="0">
                <a:latin typeface="Arial Narrow" panose="020B0606020202030204" pitchFamily="34" charset="0"/>
              </a:rPr>
              <a:t>highe</a:t>
            </a:r>
            <a:r>
              <a:rPr lang="en-US" sz="4000" spc="-80" dirty="0">
                <a:latin typeface="Arial Narrow" panose="020B0606020202030204" pitchFamily="34" charset="0"/>
              </a:rPr>
              <a:t>r</a:t>
            </a:r>
            <a:r>
              <a:rPr lang="en-US" sz="4000" spc="-40" dirty="0">
                <a:latin typeface="Arial Narrow" panose="020B0606020202030204" pitchFamily="34" charset="0"/>
              </a:rPr>
              <a:t>-</a:t>
            </a:r>
            <a:r>
              <a:rPr lang="en-US" sz="4000" spc="-90" dirty="0">
                <a:latin typeface="Arial Narrow" panose="020B0606020202030204" pitchFamily="34" charset="0"/>
              </a:rPr>
              <a:t>leve</a:t>
            </a:r>
            <a:r>
              <a:rPr lang="en-US" sz="4000" spc="-40" dirty="0">
                <a:latin typeface="Arial Narrow" panose="020B0606020202030204" pitchFamily="34" charset="0"/>
              </a:rPr>
              <a:t>l than</a:t>
            </a:r>
            <a:r>
              <a:rPr lang="en-US" sz="3600" spc="-40" dirty="0">
                <a:latin typeface="Arial Narrow" panose="020B0606020202030204" pitchFamily="34" charset="0"/>
              </a:rPr>
              <a:t> </a:t>
            </a:r>
            <a:r>
              <a:rPr lang="en-US" sz="4000" spc="-150" dirty="0">
                <a:latin typeface="Arial Narrow" panose="020B0606020202030204" pitchFamily="34" charset="0"/>
              </a:rPr>
              <a:t>C</a:t>
            </a:r>
            <a:r>
              <a:rPr lang="en-US" sz="4000" spc="-40" dirty="0">
                <a:latin typeface="Arial Narrow" panose="020B0606020202030204" pitchFamily="34" charset="0"/>
              </a:rPr>
              <a:t>,</a:t>
            </a:r>
            <a:r>
              <a:rPr lang="en-US" sz="3200" spc="-40" dirty="0">
                <a:latin typeface="Arial Narrow" panose="020B0606020202030204" pitchFamily="34" charset="0"/>
              </a:rPr>
              <a:t> </a:t>
            </a:r>
            <a:r>
              <a:rPr lang="en-US" sz="4000" spc="-40" dirty="0">
                <a:latin typeface="Arial Narrow" panose="020B0606020202030204" pitchFamily="34" charset="0"/>
              </a:rPr>
              <a:t>C+</a:t>
            </a:r>
            <a:r>
              <a:rPr lang="en-US" sz="4000" spc="-240" dirty="0">
                <a:latin typeface="Arial Narrow" panose="020B0606020202030204" pitchFamily="34" charset="0"/>
              </a:rPr>
              <a:t>+</a:t>
            </a:r>
            <a:r>
              <a:rPr lang="en-US" sz="4000" spc="-40" dirty="0">
                <a:latin typeface="Arial Narrow" panose="020B0606020202030204" pitchFamily="34" charset="0"/>
              </a:rPr>
              <a:t>,</a:t>
            </a:r>
            <a:r>
              <a:rPr lang="en-US" sz="3200" spc="-40" dirty="0">
                <a:latin typeface="Arial Narrow" panose="020B0606020202030204" pitchFamily="34" charset="0"/>
              </a:rPr>
              <a:t> </a:t>
            </a:r>
            <a:r>
              <a:rPr lang="en-US" sz="4000" spc="-70" dirty="0">
                <a:latin typeface="Arial Narrow" panose="020B0606020202030204" pitchFamily="34" charset="0"/>
              </a:rPr>
              <a:t>Jav</a:t>
            </a:r>
            <a:r>
              <a:rPr lang="en-US" sz="4000" spc="-40" dirty="0">
                <a:latin typeface="Arial Narrow" panose="020B0606020202030204" pitchFamily="34" charset="0"/>
              </a:rPr>
              <a:t>a,</a:t>
            </a:r>
            <a:r>
              <a:rPr lang="en-US" sz="3200" spc="-40" dirty="0">
                <a:latin typeface="Arial Narrow" panose="020B0606020202030204" pitchFamily="34" charset="0"/>
              </a:rPr>
              <a:t> </a:t>
            </a:r>
            <a:r>
              <a:rPr lang="en-US" sz="4000" spc="-40" dirty="0">
                <a:latin typeface="Arial Narrow" panose="020B0606020202030204" pitchFamily="34" charset="0"/>
              </a:rPr>
              <a:t>et</a:t>
            </a:r>
            <a:r>
              <a:rPr lang="en-US" sz="4000" spc="-100" dirty="0">
                <a:latin typeface="Arial Narrow" panose="020B0606020202030204" pitchFamily="34" charset="0"/>
              </a:rPr>
              <a:t>c</a:t>
            </a:r>
            <a:r>
              <a:rPr lang="en-US" sz="4000" spc="-40" dirty="0">
                <a:latin typeface="Arial Narrow" panose="020B0606020202030204" pitchFamily="34" charset="0"/>
              </a:rPr>
              <a:t>.</a:t>
            </a:r>
          </a:p>
          <a:p>
            <a:pPr marL="746125" lvl="2">
              <a:lnSpc>
                <a:spcPct val="96000"/>
              </a:lnSpc>
            </a:pPr>
            <a:r>
              <a:rPr lang="en-US" sz="3800" dirty="0">
                <a:latin typeface="Arial Narrow" panose="020B0606020202030204" pitchFamily="34" charset="0"/>
              </a:rPr>
              <a:t>And </a:t>
            </a:r>
            <a:r>
              <a:rPr lang="en-US" sz="3800" i="1" dirty="0">
                <a:latin typeface="Arial Narrow" panose="020B0606020202030204" pitchFamily="34" charset="0"/>
              </a:rPr>
              <a:t>that</a:t>
            </a:r>
            <a:r>
              <a:rPr lang="en-US" sz="3800" dirty="0">
                <a:latin typeface="Arial Narrow" panose="020B0606020202030204" pitchFamily="34" charset="0"/>
              </a:rPr>
              <a:t> means:</a:t>
            </a:r>
          </a:p>
          <a:p>
            <a:pPr marL="1203325" lvl="3" indent="-457200">
              <a:lnSpc>
                <a:spcPct val="96000"/>
              </a:lnSpc>
              <a:buNone/>
            </a:pPr>
            <a:r>
              <a:rPr lang="en-US" sz="2800" b="1" baseline="20000" dirty="0">
                <a:solidFill>
                  <a:srgbClr val="00B050"/>
                </a:solidFill>
                <a:latin typeface="Arial Narrow" panose="020B0606020202030204" pitchFamily="34" charset="0"/>
                <a:sym typeface="Wingdings" panose="05000000000000000000" pitchFamily="2" charset="2"/>
              </a:rPr>
              <a:t></a:t>
            </a:r>
            <a:r>
              <a:rPr lang="en-US" sz="3600" baseline="20000" dirty="0">
                <a:latin typeface="Arial Narrow" panose="020B0606020202030204" pitchFamily="34" charset="0"/>
                <a:sym typeface="Wingdings" panose="05000000000000000000" pitchFamily="2" charset="2"/>
              </a:rPr>
              <a:t> </a:t>
            </a:r>
            <a:r>
              <a:rPr lang="en-US" sz="3600" dirty="0">
                <a:solidFill>
                  <a:srgbClr val="00B050"/>
                </a:solidFill>
                <a:latin typeface="Arial Narrow" panose="020B0606020202030204" pitchFamily="34" charset="0"/>
              </a:rPr>
              <a:t>It requires less coding to implement an algorithm.</a:t>
            </a:r>
          </a:p>
          <a:p>
            <a:pPr marL="1203325" lvl="3" indent="-457200">
              <a:lnSpc>
                <a:spcPct val="96000"/>
              </a:lnSpc>
              <a:buNone/>
            </a:pPr>
            <a:r>
              <a:rPr lang="en-US" sz="2800" b="1" baseline="20000" dirty="0">
                <a:solidFill>
                  <a:srgbClr val="FF0000"/>
                </a:solidFill>
                <a:latin typeface="Arial Narrow" panose="020B0606020202030204" pitchFamily="34" charset="0"/>
                <a:sym typeface="Wingdings" panose="05000000000000000000" pitchFamily="2" charset="2"/>
              </a:rPr>
              <a:t></a:t>
            </a:r>
            <a:r>
              <a:rPr lang="en-US" sz="3600" baseline="20000" dirty="0">
                <a:latin typeface="Arial Narrow" panose="020B0606020202030204" pitchFamily="34" charset="0"/>
                <a:sym typeface="Wingdings" panose="05000000000000000000" pitchFamily="2" charset="2"/>
              </a:rPr>
              <a:t> </a:t>
            </a:r>
            <a:r>
              <a:rPr lang="en-US" sz="3600" spc="-20" dirty="0">
                <a:solidFill>
                  <a:srgbClr val="FF0000"/>
                </a:solidFill>
                <a:latin typeface="Arial Narrow" panose="020B0606020202030204" pitchFamily="34" charset="0"/>
              </a:rPr>
              <a:t>The</a:t>
            </a:r>
            <a:r>
              <a:rPr lang="en-US" sz="3200" spc="-20" dirty="0">
                <a:solidFill>
                  <a:srgbClr val="FF0000"/>
                </a:solidFill>
                <a:latin typeface="Arial Narrow" panose="020B0606020202030204" pitchFamily="34" charset="0"/>
              </a:rPr>
              <a:t> </a:t>
            </a:r>
            <a:r>
              <a:rPr lang="en-US" sz="3600" spc="-20" dirty="0">
                <a:solidFill>
                  <a:srgbClr val="FF0000"/>
                </a:solidFill>
                <a:latin typeface="Arial Narrow" panose="020B0606020202030204" pitchFamily="34" charset="0"/>
              </a:rPr>
              <a:t>compiler</a:t>
            </a:r>
            <a:r>
              <a:rPr lang="en-US" sz="3200" spc="-20" dirty="0">
                <a:solidFill>
                  <a:srgbClr val="FF0000"/>
                </a:solidFill>
                <a:latin typeface="Arial Narrow" panose="020B0606020202030204" pitchFamily="34" charset="0"/>
              </a:rPr>
              <a:t> </a:t>
            </a:r>
            <a:r>
              <a:rPr lang="en-US" sz="3600" spc="-20" dirty="0">
                <a:solidFill>
                  <a:srgbClr val="FF0000"/>
                </a:solidFill>
                <a:latin typeface="Arial Narrow" panose="020B0606020202030204" pitchFamily="34" charset="0"/>
              </a:rPr>
              <a:t>has</a:t>
            </a:r>
            <a:r>
              <a:rPr lang="en-US" sz="3200" spc="-20" dirty="0">
                <a:solidFill>
                  <a:srgbClr val="FF0000"/>
                </a:solidFill>
                <a:latin typeface="Arial Narrow" panose="020B0606020202030204" pitchFamily="34" charset="0"/>
              </a:rPr>
              <a:t> </a:t>
            </a:r>
            <a:r>
              <a:rPr lang="en-US" sz="3600" spc="-20" dirty="0" smtClean="0">
                <a:solidFill>
                  <a:srgbClr val="FF0000"/>
                </a:solidFill>
                <a:latin typeface="Arial Narrow" panose="020B0606020202030204" pitchFamily="34" charset="0"/>
              </a:rPr>
              <a:t>to</a:t>
            </a:r>
            <a:r>
              <a:rPr lang="en-US" sz="3200" spc="-20" dirty="0" smtClean="0">
                <a:solidFill>
                  <a:srgbClr val="FF0000"/>
                </a:solidFill>
                <a:latin typeface="Arial Narrow" panose="020B0606020202030204" pitchFamily="34" charset="0"/>
              </a:rPr>
              <a:t> </a:t>
            </a:r>
            <a:r>
              <a:rPr lang="en-US" sz="3600" spc="-20" dirty="0" smtClean="0">
                <a:solidFill>
                  <a:srgbClr val="FF0000"/>
                </a:solidFill>
                <a:latin typeface="Arial Narrow" panose="020B0606020202030204" pitchFamily="34" charset="0"/>
              </a:rPr>
              <a:t>work more</a:t>
            </a:r>
            <a:r>
              <a:rPr lang="en-US" sz="3200" spc="-20" dirty="0" smtClean="0">
                <a:solidFill>
                  <a:srgbClr val="FF0000"/>
                </a:solidFill>
                <a:latin typeface="Arial Narrow" panose="020B0606020202030204" pitchFamily="34" charset="0"/>
              </a:rPr>
              <a:t> </a:t>
            </a:r>
            <a:r>
              <a:rPr lang="en-US" sz="3600" spc="-20" dirty="0" smtClean="0">
                <a:solidFill>
                  <a:srgbClr val="FF0000"/>
                </a:solidFill>
                <a:latin typeface="Arial Narrow" panose="020B0606020202030204" pitchFamily="34" charset="0"/>
              </a:rPr>
              <a:t>to</a:t>
            </a:r>
            <a:r>
              <a:rPr lang="en-US" sz="3200" spc="-20" dirty="0" smtClean="0">
                <a:solidFill>
                  <a:srgbClr val="FF0000"/>
                </a:solidFill>
                <a:latin typeface="Arial Narrow" panose="020B0606020202030204" pitchFamily="34" charset="0"/>
              </a:rPr>
              <a:t> </a:t>
            </a:r>
            <a:r>
              <a:rPr lang="en-US" sz="3600" spc="-20" dirty="0">
                <a:solidFill>
                  <a:srgbClr val="FF0000"/>
                </a:solidFill>
                <a:latin typeface="Arial Narrow" panose="020B0606020202030204" pitchFamily="34" charset="0"/>
              </a:rPr>
              <a:t>get</a:t>
            </a:r>
            <a:r>
              <a:rPr lang="en-US" sz="3200" spc="-20" dirty="0">
                <a:solidFill>
                  <a:srgbClr val="FF0000"/>
                </a:solidFill>
                <a:latin typeface="Arial Narrow" panose="020B0606020202030204" pitchFamily="34" charset="0"/>
              </a:rPr>
              <a:t> </a:t>
            </a:r>
            <a:r>
              <a:rPr lang="en-US" sz="3600" spc="-20" dirty="0">
                <a:solidFill>
                  <a:srgbClr val="FF0000"/>
                </a:solidFill>
                <a:latin typeface="Arial Narrow" panose="020B0606020202030204" pitchFamily="34" charset="0"/>
              </a:rPr>
              <a:t>an</a:t>
            </a:r>
            <a:r>
              <a:rPr lang="en-US" sz="3200" spc="-20" dirty="0">
                <a:solidFill>
                  <a:srgbClr val="FF0000"/>
                </a:solidFill>
                <a:latin typeface="Arial Narrow" panose="020B0606020202030204" pitchFamily="34" charset="0"/>
              </a:rPr>
              <a:t> </a:t>
            </a:r>
            <a:r>
              <a:rPr lang="en-US" sz="3600" spc="-20" dirty="0">
                <a:solidFill>
                  <a:srgbClr val="FF0000"/>
                </a:solidFill>
                <a:latin typeface="Arial Narrow" panose="020B0606020202030204" pitchFamily="34" charset="0"/>
              </a:rPr>
              <a:t>executable</a:t>
            </a:r>
            <a:r>
              <a:rPr lang="en-US" sz="3600" spc="-20" dirty="0" smtClean="0">
                <a:solidFill>
                  <a:srgbClr val="FF0000"/>
                </a:solidFill>
                <a:latin typeface="Arial Narrow" panose="020B0606020202030204" pitchFamily="34" charset="0"/>
              </a:rPr>
              <a:t>.</a:t>
            </a:r>
            <a:endParaRPr lang="en-US" sz="3600" spc="-20"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997656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906" y="-3841"/>
            <a:ext cx="10515600" cy="1223041"/>
          </a:xfrm>
        </p:spPr>
        <p:txBody>
          <a:bodyPr>
            <a:normAutofit/>
          </a:bodyPr>
          <a:lstStyle/>
          <a:p>
            <a:pPr algn="ctr"/>
            <a:r>
              <a:rPr lang="en-US" sz="5400" b="1" dirty="0">
                <a:solidFill>
                  <a:schemeClr val="accent1">
                    <a:lumMod val="75000"/>
                  </a:schemeClr>
                </a:solidFill>
                <a:latin typeface="Times New Roman" panose="02020603050405020304" pitchFamily="18" charset="0"/>
                <a:cs typeface="Times New Roman" panose="02020603050405020304" pitchFamily="18" charset="0"/>
              </a:rPr>
              <a:t>What is Python?</a:t>
            </a:r>
          </a:p>
        </p:txBody>
      </p:sp>
      <p:sp>
        <p:nvSpPr>
          <p:cNvPr id="3" name="Content Placeholder 2"/>
          <p:cNvSpPr>
            <a:spLocks noGrp="1"/>
          </p:cNvSpPr>
          <p:nvPr>
            <p:ph idx="1"/>
          </p:nvPr>
        </p:nvSpPr>
        <p:spPr>
          <a:xfrm>
            <a:off x="-1" y="1138990"/>
            <a:ext cx="10833075" cy="5678905"/>
          </a:xfrm>
        </p:spPr>
        <p:txBody>
          <a:bodyPr>
            <a:normAutofit/>
          </a:bodyPr>
          <a:lstStyle/>
          <a:p>
            <a:pPr marL="288925" indent="-288925">
              <a:lnSpc>
                <a:spcPct val="96000"/>
              </a:lnSpc>
            </a:pPr>
            <a:r>
              <a:rPr lang="en-US" sz="4400" dirty="0">
                <a:latin typeface="Arial Narrow" panose="020B0606020202030204" pitchFamily="34" charset="0"/>
              </a:rPr>
              <a:t>It is </a:t>
            </a:r>
            <a:r>
              <a:rPr lang="en-US" sz="4400" dirty="0" smtClean="0">
                <a:latin typeface="Arial Narrow" panose="020B0606020202030204" pitchFamily="34" charset="0"/>
              </a:rPr>
              <a:t>a </a:t>
            </a:r>
            <a:r>
              <a:rPr lang="en-US" sz="4400" b="1" i="1" dirty="0">
                <a:solidFill>
                  <a:srgbClr val="C00000"/>
                </a:solidFill>
                <a:latin typeface="Arial Narrow" panose="020B0606020202030204" pitchFamily="34" charset="0"/>
              </a:rPr>
              <a:t>High Level Language</a:t>
            </a:r>
            <a:r>
              <a:rPr lang="en-US" sz="4400" dirty="0">
                <a:latin typeface="Arial Narrow" panose="020B0606020202030204" pitchFamily="34" charset="0"/>
              </a:rPr>
              <a:t>.</a:t>
            </a:r>
            <a:endParaRPr lang="en-US" sz="4000" dirty="0">
              <a:latin typeface="Arial Narrow" panose="020B0606020202030204" pitchFamily="34" charset="0"/>
            </a:endParaRPr>
          </a:p>
          <a:p>
            <a:pPr marL="517525" lvl="1">
              <a:lnSpc>
                <a:spcPct val="96000"/>
              </a:lnSpc>
            </a:pPr>
            <a:r>
              <a:rPr lang="en-US" sz="4000" spc="-40" dirty="0">
                <a:solidFill>
                  <a:schemeClr val="bg1">
                    <a:lumMod val="85000"/>
                  </a:schemeClr>
                </a:solidFill>
                <a:latin typeface="Arial Narrow" panose="020B0606020202030204" pitchFamily="34" charset="0"/>
              </a:rPr>
              <a:t>That means </a:t>
            </a:r>
            <a:r>
              <a:rPr lang="en-US" sz="4000" spc="-40" dirty="0" smtClean="0">
                <a:solidFill>
                  <a:schemeClr val="bg1">
                    <a:lumMod val="85000"/>
                  </a:schemeClr>
                </a:solidFill>
                <a:latin typeface="Arial Narrow" panose="020B0606020202030204" pitchFamily="34" charset="0"/>
              </a:rPr>
              <a:t>it’s </a:t>
            </a:r>
            <a:r>
              <a:rPr lang="en-US" sz="4000" spc="-40" dirty="0">
                <a:solidFill>
                  <a:schemeClr val="bg1">
                    <a:lumMod val="85000"/>
                  </a:schemeClr>
                </a:solidFill>
                <a:latin typeface="Arial Narrow" panose="020B0606020202030204" pitchFamily="34" charset="0"/>
              </a:rPr>
              <a:t>highe</a:t>
            </a:r>
            <a:r>
              <a:rPr lang="en-US" sz="4000" spc="-80" dirty="0">
                <a:solidFill>
                  <a:schemeClr val="bg1">
                    <a:lumMod val="85000"/>
                  </a:schemeClr>
                </a:solidFill>
                <a:latin typeface="Arial Narrow" panose="020B0606020202030204" pitchFamily="34" charset="0"/>
              </a:rPr>
              <a:t>r</a:t>
            </a:r>
            <a:r>
              <a:rPr lang="en-US" sz="4000" spc="-40" dirty="0">
                <a:solidFill>
                  <a:schemeClr val="bg1">
                    <a:lumMod val="85000"/>
                  </a:schemeClr>
                </a:solidFill>
                <a:latin typeface="Arial Narrow" panose="020B0606020202030204" pitchFamily="34" charset="0"/>
              </a:rPr>
              <a:t>-</a:t>
            </a:r>
            <a:r>
              <a:rPr lang="en-US" sz="4000" spc="-90" dirty="0">
                <a:solidFill>
                  <a:schemeClr val="bg1">
                    <a:lumMod val="85000"/>
                  </a:schemeClr>
                </a:solidFill>
                <a:latin typeface="Arial Narrow" panose="020B0606020202030204" pitchFamily="34" charset="0"/>
              </a:rPr>
              <a:t>leve</a:t>
            </a:r>
            <a:r>
              <a:rPr lang="en-US" sz="4000" spc="-40" dirty="0">
                <a:solidFill>
                  <a:schemeClr val="bg1">
                    <a:lumMod val="85000"/>
                  </a:schemeClr>
                </a:solidFill>
                <a:latin typeface="Arial Narrow" panose="020B0606020202030204" pitchFamily="34" charset="0"/>
              </a:rPr>
              <a:t>l than</a:t>
            </a:r>
            <a:r>
              <a:rPr lang="en-US" sz="3600" spc="-40" dirty="0">
                <a:solidFill>
                  <a:schemeClr val="bg1">
                    <a:lumMod val="85000"/>
                  </a:schemeClr>
                </a:solidFill>
                <a:latin typeface="Arial Narrow" panose="020B0606020202030204" pitchFamily="34" charset="0"/>
              </a:rPr>
              <a:t> </a:t>
            </a:r>
            <a:r>
              <a:rPr lang="en-US" sz="4000" spc="-150" dirty="0">
                <a:solidFill>
                  <a:schemeClr val="bg1">
                    <a:lumMod val="85000"/>
                  </a:schemeClr>
                </a:solidFill>
                <a:latin typeface="Arial Narrow" panose="020B0606020202030204" pitchFamily="34" charset="0"/>
              </a:rPr>
              <a:t>C</a:t>
            </a:r>
            <a:r>
              <a:rPr lang="en-US" sz="4000" spc="-40" dirty="0">
                <a:solidFill>
                  <a:schemeClr val="bg1">
                    <a:lumMod val="85000"/>
                  </a:schemeClr>
                </a:solidFill>
                <a:latin typeface="Arial Narrow" panose="020B0606020202030204" pitchFamily="34" charset="0"/>
              </a:rPr>
              <a:t>,</a:t>
            </a:r>
            <a:r>
              <a:rPr lang="en-US" sz="3200" spc="-40" dirty="0">
                <a:solidFill>
                  <a:schemeClr val="bg1">
                    <a:lumMod val="85000"/>
                  </a:schemeClr>
                </a:solidFill>
                <a:latin typeface="Arial Narrow" panose="020B0606020202030204" pitchFamily="34" charset="0"/>
              </a:rPr>
              <a:t> </a:t>
            </a:r>
            <a:r>
              <a:rPr lang="en-US" sz="4000" spc="-40" dirty="0">
                <a:solidFill>
                  <a:schemeClr val="bg1">
                    <a:lumMod val="85000"/>
                  </a:schemeClr>
                </a:solidFill>
                <a:latin typeface="Arial Narrow" panose="020B0606020202030204" pitchFamily="34" charset="0"/>
              </a:rPr>
              <a:t>C+</a:t>
            </a:r>
            <a:r>
              <a:rPr lang="en-US" sz="4000" spc="-240" dirty="0">
                <a:solidFill>
                  <a:schemeClr val="bg1">
                    <a:lumMod val="85000"/>
                  </a:schemeClr>
                </a:solidFill>
                <a:latin typeface="Arial Narrow" panose="020B0606020202030204" pitchFamily="34" charset="0"/>
              </a:rPr>
              <a:t>+</a:t>
            </a:r>
            <a:r>
              <a:rPr lang="en-US" sz="4000" spc="-40" dirty="0">
                <a:solidFill>
                  <a:schemeClr val="bg1">
                    <a:lumMod val="85000"/>
                  </a:schemeClr>
                </a:solidFill>
                <a:latin typeface="Arial Narrow" panose="020B0606020202030204" pitchFamily="34" charset="0"/>
              </a:rPr>
              <a:t>,</a:t>
            </a:r>
            <a:r>
              <a:rPr lang="en-US" sz="3200" spc="-40" dirty="0">
                <a:solidFill>
                  <a:schemeClr val="bg1">
                    <a:lumMod val="85000"/>
                  </a:schemeClr>
                </a:solidFill>
                <a:latin typeface="Arial Narrow" panose="020B0606020202030204" pitchFamily="34" charset="0"/>
              </a:rPr>
              <a:t> </a:t>
            </a:r>
            <a:r>
              <a:rPr lang="en-US" sz="4000" spc="-70" dirty="0">
                <a:solidFill>
                  <a:schemeClr val="bg1">
                    <a:lumMod val="85000"/>
                  </a:schemeClr>
                </a:solidFill>
                <a:latin typeface="Arial Narrow" panose="020B0606020202030204" pitchFamily="34" charset="0"/>
              </a:rPr>
              <a:t>Jav</a:t>
            </a:r>
            <a:r>
              <a:rPr lang="en-US" sz="4000" spc="-40" dirty="0">
                <a:solidFill>
                  <a:schemeClr val="bg1">
                    <a:lumMod val="85000"/>
                  </a:schemeClr>
                </a:solidFill>
                <a:latin typeface="Arial Narrow" panose="020B0606020202030204" pitchFamily="34" charset="0"/>
              </a:rPr>
              <a:t>a,</a:t>
            </a:r>
            <a:r>
              <a:rPr lang="en-US" sz="3200" spc="-40" dirty="0">
                <a:solidFill>
                  <a:schemeClr val="bg1">
                    <a:lumMod val="85000"/>
                  </a:schemeClr>
                </a:solidFill>
                <a:latin typeface="Arial Narrow" panose="020B0606020202030204" pitchFamily="34" charset="0"/>
              </a:rPr>
              <a:t> </a:t>
            </a:r>
            <a:r>
              <a:rPr lang="en-US" sz="4000" spc="-40" dirty="0">
                <a:solidFill>
                  <a:schemeClr val="bg1">
                    <a:lumMod val="85000"/>
                  </a:schemeClr>
                </a:solidFill>
                <a:latin typeface="Arial Narrow" panose="020B0606020202030204" pitchFamily="34" charset="0"/>
              </a:rPr>
              <a:t>et</a:t>
            </a:r>
            <a:r>
              <a:rPr lang="en-US" sz="4000" spc="-100" dirty="0">
                <a:solidFill>
                  <a:schemeClr val="bg1">
                    <a:lumMod val="85000"/>
                  </a:schemeClr>
                </a:solidFill>
                <a:latin typeface="Arial Narrow" panose="020B0606020202030204" pitchFamily="34" charset="0"/>
              </a:rPr>
              <a:t>c</a:t>
            </a:r>
            <a:r>
              <a:rPr lang="en-US" sz="4000" spc="-40" dirty="0">
                <a:solidFill>
                  <a:schemeClr val="bg1">
                    <a:lumMod val="85000"/>
                  </a:schemeClr>
                </a:solidFill>
                <a:latin typeface="Arial Narrow" panose="020B0606020202030204" pitchFamily="34" charset="0"/>
              </a:rPr>
              <a:t>.</a:t>
            </a:r>
          </a:p>
          <a:p>
            <a:pPr marL="746125" lvl="2">
              <a:lnSpc>
                <a:spcPct val="96000"/>
              </a:lnSpc>
            </a:pPr>
            <a:r>
              <a:rPr lang="en-US" sz="3800" dirty="0">
                <a:solidFill>
                  <a:schemeClr val="bg1">
                    <a:lumMod val="85000"/>
                  </a:schemeClr>
                </a:solidFill>
                <a:latin typeface="Arial Narrow" panose="020B0606020202030204" pitchFamily="34" charset="0"/>
              </a:rPr>
              <a:t>And </a:t>
            </a:r>
            <a:r>
              <a:rPr lang="en-US" sz="3800" i="1" dirty="0">
                <a:solidFill>
                  <a:schemeClr val="bg1">
                    <a:lumMod val="85000"/>
                  </a:schemeClr>
                </a:solidFill>
                <a:latin typeface="Arial Narrow" panose="020B0606020202030204" pitchFamily="34" charset="0"/>
              </a:rPr>
              <a:t>that</a:t>
            </a:r>
            <a:r>
              <a:rPr lang="en-US" sz="3800" dirty="0">
                <a:solidFill>
                  <a:schemeClr val="bg1">
                    <a:lumMod val="85000"/>
                  </a:schemeClr>
                </a:solidFill>
                <a:latin typeface="Arial Narrow" panose="020B0606020202030204" pitchFamily="34" charset="0"/>
              </a:rPr>
              <a:t> means:</a:t>
            </a:r>
          </a:p>
          <a:p>
            <a:pPr marL="1203325" lvl="3" indent="-457200">
              <a:lnSpc>
                <a:spcPct val="96000"/>
              </a:lnSpc>
              <a:buNone/>
            </a:pPr>
            <a:r>
              <a:rPr lang="en-US" sz="2800" b="1" baseline="20000" dirty="0">
                <a:solidFill>
                  <a:schemeClr val="bg1">
                    <a:lumMod val="85000"/>
                  </a:schemeClr>
                </a:solidFill>
                <a:latin typeface="Arial Narrow" panose="020B0606020202030204" pitchFamily="34" charset="0"/>
                <a:sym typeface="Wingdings" panose="05000000000000000000" pitchFamily="2" charset="2"/>
              </a:rPr>
              <a:t></a:t>
            </a:r>
            <a:r>
              <a:rPr lang="en-US" sz="3600" baseline="20000" dirty="0">
                <a:solidFill>
                  <a:schemeClr val="bg1">
                    <a:lumMod val="85000"/>
                  </a:schemeClr>
                </a:solidFill>
                <a:latin typeface="Arial Narrow" panose="020B0606020202030204" pitchFamily="34" charset="0"/>
                <a:sym typeface="Wingdings" panose="05000000000000000000" pitchFamily="2" charset="2"/>
              </a:rPr>
              <a:t> </a:t>
            </a:r>
            <a:r>
              <a:rPr lang="en-US" sz="3600" dirty="0">
                <a:solidFill>
                  <a:schemeClr val="bg1">
                    <a:lumMod val="85000"/>
                  </a:schemeClr>
                </a:solidFill>
                <a:latin typeface="Arial Narrow" panose="020B0606020202030204" pitchFamily="34" charset="0"/>
              </a:rPr>
              <a:t>It requires less coding to implement an algorithm.</a:t>
            </a:r>
          </a:p>
          <a:p>
            <a:pPr marL="1203325" lvl="3" indent="-457200">
              <a:lnSpc>
                <a:spcPct val="96000"/>
              </a:lnSpc>
              <a:buNone/>
            </a:pPr>
            <a:r>
              <a:rPr lang="en-US" sz="2800" b="1" baseline="20000" dirty="0">
                <a:solidFill>
                  <a:srgbClr val="FF0000"/>
                </a:solidFill>
                <a:latin typeface="Arial Narrow" panose="020B0606020202030204" pitchFamily="34" charset="0"/>
                <a:sym typeface="Wingdings" panose="05000000000000000000" pitchFamily="2" charset="2"/>
              </a:rPr>
              <a:t></a:t>
            </a:r>
            <a:r>
              <a:rPr lang="en-US" sz="3600" baseline="20000" dirty="0">
                <a:latin typeface="Arial Narrow" panose="020B0606020202030204" pitchFamily="34" charset="0"/>
                <a:sym typeface="Wingdings" panose="05000000000000000000" pitchFamily="2" charset="2"/>
              </a:rPr>
              <a:t> </a:t>
            </a:r>
            <a:r>
              <a:rPr lang="en-US" sz="3600" spc="-20" dirty="0">
                <a:solidFill>
                  <a:srgbClr val="FF0000"/>
                </a:solidFill>
                <a:latin typeface="Arial Narrow" panose="020B0606020202030204" pitchFamily="34" charset="0"/>
              </a:rPr>
              <a:t>The</a:t>
            </a:r>
            <a:r>
              <a:rPr lang="en-US" sz="3200" spc="-20" dirty="0">
                <a:solidFill>
                  <a:srgbClr val="FF0000"/>
                </a:solidFill>
                <a:latin typeface="Arial Narrow" panose="020B0606020202030204" pitchFamily="34" charset="0"/>
              </a:rPr>
              <a:t> </a:t>
            </a:r>
            <a:r>
              <a:rPr lang="en-US" sz="3600" spc="-20" dirty="0">
                <a:solidFill>
                  <a:srgbClr val="FF0000"/>
                </a:solidFill>
                <a:latin typeface="Arial Narrow" panose="020B0606020202030204" pitchFamily="34" charset="0"/>
              </a:rPr>
              <a:t>compiler</a:t>
            </a:r>
            <a:r>
              <a:rPr lang="en-US" sz="3200" spc="-20" dirty="0">
                <a:solidFill>
                  <a:srgbClr val="FF0000"/>
                </a:solidFill>
                <a:latin typeface="Arial Narrow" panose="020B0606020202030204" pitchFamily="34" charset="0"/>
              </a:rPr>
              <a:t> </a:t>
            </a:r>
            <a:r>
              <a:rPr lang="en-US" sz="3600" spc="-20" dirty="0">
                <a:solidFill>
                  <a:srgbClr val="FF0000"/>
                </a:solidFill>
                <a:latin typeface="Arial Narrow" panose="020B0606020202030204" pitchFamily="34" charset="0"/>
              </a:rPr>
              <a:t>has</a:t>
            </a:r>
            <a:r>
              <a:rPr lang="en-US" sz="3200" spc="-20" dirty="0">
                <a:solidFill>
                  <a:srgbClr val="FF0000"/>
                </a:solidFill>
                <a:latin typeface="Arial Narrow" panose="020B0606020202030204" pitchFamily="34" charset="0"/>
              </a:rPr>
              <a:t> </a:t>
            </a:r>
            <a:r>
              <a:rPr lang="en-US" sz="3600" spc="-20" dirty="0" smtClean="0">
                <a:solidFill>
                  <a:srgbClr val="FF0000"/>
                </a:solidFill>
                <a:latin typeface="Arial Narrow" panose="020B0606020202030204" pitchFamily="34" charset="0"/>
              </a:rPr>
              <a:t>to</a:t>
            </a:r>
            <a:r>
              <a:rPr lang="en-US" sz="3200" spc="-20" dirty="0" smtClean="0">
                <a:solidFill>
                  <a:srgbClr val="FF0000"/>
                </a:solidFill>
                <a:latin typeface="Arial Narrow" panose="020B0606020202030204" pitchFamily="34" charset="0"/>
              </a:rPr>
              <a:t> </a:t>
            </a:r>
            <a:r>
              <a:rPr lang="en-US" sz="3600" spc="-20" dirty="0" smtClean="0">
                <a:solidFill>
                  <a:srgbClr val="FF0000"/>
                </a:solidFill>
                <a:latin typeface="Arial Narrow" panose="020B0606020202030204" pitchFamily="34" charset="0"/>
              </a:rPr>
              <a:t>work more</a:t>
            </a:r>
            <a:r>
              <a:rPr lang="en-US" sz="3200" spc="-20" dirty="0" smtClean="0">
                <a:solidFill>
                  <a:srgbClr val="FF0000"/>
                </a:solidFill>
                <a:latin typeface="Arial Narrow" panose="020B0606020202030204" pitchFamily="34" charset="0"/>
              </a:rPr>
              <a:t> </a:t>
            </a:r>
            <a:r>
              <a:rPr lang="en-US" sz="3600" spc="-20" dirty="0" smtClean="0">
                <a:solidFill>
                  <a:srgbClr val="FF0000"/>
                </a:solidFill>
                <a:latin typeface="Arial Narrow" panose="020B0606020202030204" pitchFamily="34" charset="0"/>
              </a:rPr>
              <a:t>to</a:t>
            </a:r>
            <a:r>
              <a:rPr lang="en-US" sz="3200" spc="-20" dirty="0" smtClean="0">
                <a:solidFill>
                  <a:srgbClr val="FF0000"/>
                </a:solidFill>
                <a:latin typeface="Arial Narrow" panose="020B0606020202030204" pitchFamily="34" charset="0"/>
              </a:rPr>
              <a:t> </a:t>
            </a:r>
            <a:r>
              <a:rPr lang="en-US" sz="3600" spc="-20" dirty="0">
                <a:solidFill>
                  <a:srgbClr val="FF0000"/>
                </a:solidFill>
                <a:latin typeface="Arial Narrow" panose="020B0606020202030204" pitchFamily="34" charset="0"/>
              </a:rPr>
              <a:t>get</a:t>
            </a:r>
            <a:r>
              <a:rPr lang="en-US" sz="3200" spc="-20" dirty="0">
                <a:solidFill>
                  <a:srgbClr val="FF0000"/>
                </a:solidFill>
                <a:latin typeface="Arial Narrow" panose="020B0606020202030204" pitchFamily="34" charset="0"/>
              </a:rPr>
              <a:t> </a:t>
            </a:r>
            <a:r>
              <a:rPr lang="en-US" sz="3600" spc="-20" dirty="0">
                <a:solidFill>
                  <a:srgbClr val="FF0000"/>
                </a:solidFill>
                <a:latin typeface="Arial Narrow" panose="020B0606020202030204" pitchFamily="34" charset="0"/>
              </a:rPr>
              <a:t>an</a:t>
            </a:r>
            <a:r>
              <a:rPr lang="en-US" sz="3200" spc="-20" dirty="0">
                <a:solidFill>
                  <a:srgbClr val="FF0000"/>
                </a:solidFill>
                <a:latin typeface="Arial Narrow" panose="020B0606020202030204" pitchFamily="34" charset="0"/>
              </a:rPr>
              <a:t> </a:t>
            </a:r>
            <a:r>
              <a:rPr lang="en-US" sz="3600" spc="-20" dirty="0">
                <a:solidFill>
                  <a:srgbClr val="FF0000"/>
                </a:solidFill>
                <a:latin typeface="Arial Narrow" panose="020B0606020202030204" pitchFamily="34" charset="0"/>
              </a:rPr>
              <a:t>executable.</a:t>
            </a:r>
          </a:p>
          <a:p>
            <a:pPr marL="1262063" lvl="4">
              <a:lnSpc>
                <a:spcPct val="96000"/>
              </a:lnSpc>
            </a:pPr>
            <a:r>
              <a:rPr lang="en-US" sz="3600" spc="-20" dirty="0">
                <a:latin typeface="Arial Narrow" panose="020B0606020202030204" pitchFamily="34" charset="0"/>
              </a:rPr>
              <a:t>A</a:t>
            </a:r>
            <a:r>
              <a:rPr lang="en-US" sz="3600" spc="-50" dirty="0">
                <a:latin typeface="Arial Narrow" panose="020B0606020202030204" pitchFamily="34" charset="0"/>
              </a:rPr>
              <a:t>n</a:t>
            </a:r>
            <a:r>
              <a:rPr lang="en-US" sz="3600" spc="-20" dirty="0">
                <a:latin typeface="Arial Narrow" panose="020B0606020202030204" pitchFamily="34" charset="0"/>
              </a:rPr>
              <a:t>d if t</a:t>
            </a:r>
            <a:r>
              <a:rPr lang="en-US" sz="3600" spc="-50" dirty="0">
                <a:latin typeface="Arial Narrow" panose="020B0606020202030204" pitchFamily="34" charset="0"/>
              </a:rPr>
              <a:t>h</a:t>
            </a:r>
            <a:r>
              <a:rPr lang="en-US" sz="3600" spc="-20" dirty="0">
                <a:latin typeface="Arial Narrow" panose="020B0606020202030204" pitchFamily="34" charset="0"/>
              </a:rPr>
              <a:t>e</a:t>
            </a:r>
            <a:r>
              <a:rPr lang="en-US" sz="3200" spc="-20" dirty="0">
                <a:latin typeface="Arial Narrow" panose="020B0606020202030204" pitchFamily="34" charset="0"/>
              </a:rPr>
              <a:t> </a:t>
            </a:r>
            <a:r>
              <a:rPr lang="en-US" sz="3600" spc="-20" dirty="0">
                <a:latin typeface="Arial Narrow" panose="020B0606020202030204" pitchFamily="34" charset="0"/>
              </a:rPr>
              <a:t>c</a:t>
            </a:r>
            <a:r>
              <a:rPr lang="en-US" sz="3600" spc="-50" dirty="0">
                <a:latin typeface="Arial Narrow" panose="020B0606020202030204" pitchFamily="34" charset="0"/>
              </a:rPr>
              <a:t>om</a:t>
            </a:r>
            <a:r>
              <a:rPr lang="en-US" sz="3600" spc="-20" dirty="0">
                <a:latin typeface="Arial Narrow" panose="020B0606020202030204" pitchFamily="34" charset="0"/>
              </a:rPr>
              <a:t>piler</a:t>
            </a:r>
            <a:r>
              <a:rPr lang="en-US" sz="3200" spc="-20" dirty="0">
                <a:latin typeface="Arial Narrow" panose="020B0606020202030204" pitchFamily="34" charset="0"/>
              </a:rPr>
              <a:t> </a:t>
            </a:r>
            <a:r>
              <a:rPr lang="en-US" sz="3600" spc="-70" dirty="0">
                <a:latin typeface="Arial Narrow" panose="020B0606020202030204" pitchFamily="34" charset="0"/>
              </a:rPr>
              <a:t>d</a:t>
            </a:r>
            <a:r>
              <a:rPr lang="en-US" sz="3600" spc="-20" dirty="0">
                <a:latin typeface="Arial Narrow" panose="020B0606020202030204" pitchFamily="34" charset="0"/>
              </a:rPr>
              <a:t>oes the </a:t>
            </a:r>
            <a:r>
              <a:rPr lang="en-US" sz="3600" spc="-60" dirty="0">
                <a:latin typeface="Arial Narrow" panose="020B0606020202030204" pitchFamily="34" charset="0"/>
              </a:rPr>
              <a:t>wo</a:t>
            </a:r>
            <a:r>
              <a:rPr lang="en-US" sz="3600" spc="-20" dirty="0">
                <a:latin typeface="Arial Narrow" panose="020B0606020202030204" pitchFamily="34" charset="0"/>
              </a:rPr>
              <a:t>r</a:t>
            </a:r>
            <a:r>
              <a:rPr lang="en-US" sz="3600" spc="-220" dirty="0">
                <a:latin typeface="Arial Narrow" panose="020B0606020202030204" pitchFamily="34" charset="0"/>
              </a:rPr>
              <a:t>k</a:t>
            </a:r>
            <a:r>
              <a:rPr lang="en-US" sz="3600" spc="-20" dirty="0">
                <a:latin typeface="Arial Narrow" panose="020B0606020202030204" pitchFamily="34" charset="0"/>
              </a:rPr>
              <a:t>,</a:t>
            </a:r>
            <a:r>
              <a:rPr lang="en-US" sz="2400" spc="-20" dirty="0">
                <a:latin typeface="Arial Narrow" panose="020B0606020202030204" pitchFamily="34" charset="0"/>
              </a:rPr>
              <a:t> </a:t>
            </a:r>
            <a:r>
              <a:rPr lang="en-US" sz="3600" dirty="0">
                <a:latin typeface="Arial Narrow" panose="020B0606020202030204" pitchFamily="34" charset="0"/>
              </a:rPr>
              <a:t>t</a:t>
            </a:r>
            <a:r>
              <a:rPr lang="en-US" sz="3600" spc="-20" dirty="0">
                <a:latin typeface="Arial Narrow" panose="020B0606020202030204" pitchFamily="34" charset="0"/>
              </a:rPr>
              <a:t>hen</a:t>
            </a:r>
            <a:r>
              <a:rPr lang="en-US" sz="3200" spc="-20" dirty="0">
                <a:latin typeface="Arial Narrow" panose="020B0606020202030204" pitchFamily="34" charset="0"/>
              </a:rPr>
              <a:t> </a:t>
            </a:r>
            <a:r>
              <a:rPr lang="en-US" sz="3600" i="1" spc="-20" dirty="0">
                <a:latin typeface="Arial Narrow" panose="020B0606020202030204" pitchFamily="34" charset="0"/>
              </a:rPr>
              <a:t>that</a:t>
            </a:r>
            <a:r>
              <a:rPr lang="en-US" sz="3600" spc="-20" dirty="0">
                <a:latin typeface="Arial Narrow" panose="020B0606020202030204" pitchFamily="34" charset="0"/>
              </a:rPr>
              <a:t> </a:t>
            </a:r>
            <a:r>
              <a:rPr lang="en-US" sz="3600" spc="-50" dirty="0">
                <a:latin typeface="Arial Narrow" panose="020B0606020202030204" pitchFamily="34" charset="0"/>
              </a:rPr>
              <a:t>m</a:t>
            </a:r>
            <a:r>
              <a:rPr lang="en-US" sz="3600" spc="-20" dirty="0">
                <a:latin typeface="Arial Narrow" panose="020B0606020202030204" pitchFamily="34" charset="0"/>
              </a:rPr>
              <a:t>e</a:t>
            </a:r>
            <a:r>
              <a:rPr lang="en-US" sz="3600" spc="-50" dirty="0">
                <a:latin typeface="Arial Narrow" panose="020B0606020202030204" pitchFamily="34" charset="0"/>
              </a:rPr>
              <a:t>an</a:t>
            </a:r>
            <a:r>
              <a:rPr lang="en-US" sz="3600" spc="-100" dirty="0">
                <a:latin typeface="Arial Narrow" panose="020B0606020202030204" pitchFamily="34" charset="0"/>
              </a:rPr>
              <a:t>s</a:t>
            </a:r>
            <a:r>
              <a:rPr lang="en-US" sz="3600" spc="-20" dirty="0">
                <a:latin typeface="Arial Narrow" panose="020B0606020202030204" pitchFamily="34" charset="0"/>
              </a:rPr>
              <a:t>:</a:t>
            </a:r>
          </a:p>
          <a:p>
            <a:pPr marL="1600200" lvl="5" indent="-288925">
              <a:lnSpc>
                <a:spcPct val="96000"/>
              </a:lnSpc>
              <a:buNone/>
            </a:pPr>
            <a:r>
              <a:rPr lang="en-US" sz="2800" b="1" spc="-20" baseline="20000" dirty="0">
                <a:solidFill>
                  <a:srgbClr val="00B050"/>
                </a:solidFill>
                <a:latin typeface="Arial Narrow" panose="020B0606020202030204" pitchFamily="34" charset="0"/>
                <a:sym typeface="Wingdings" panose="05000000000000000000" pitchFamily="2" charset="2"/>
              </a:rPr>
              <a:t></a:t>
            </a:r>
            <a:r>
              <a:rPr lang="en-US" sz="3600" spc="-20" dirty="0">
                <a:solidFill>
                  <a:srgbClr val="00B050"/>
                </a:solidFill>
                <a:latin typeface="Arial Narrow" panose="020B0606020202030204" pitchFamily="34" charset="0"/>
                <a:sym typeface="Wingdings" panose="05000000000000000000" pitchFamily="2" charset="2"/>
              </a:rPr>
              <a:t> </a:t>
            </a:r>
            <a:r>
              <a:rPr lang="en-US" sz="3600" spc="-10" dirty="0">
                <a:solidFill>
                  <a:srgbClr val="00B050"/>
                </a:solidFill>
                <a:latin typeface="Arial Narrow" panose="020B0606020202030204" pitchFamily="34" charset="0"/>
              </a:rPr>
              <a:t>I</a:t>
            </a:r>
            <a:r>
              <a:rPr lang="en-US" sz="3600" spc="-50" dirty="0">
                <a:solidFill>
                  <a:srgbClr val="00B050"/>
                </a:solidFill>
                <a:latin typeface="Arial Narrow" panose="020B0606020202030204" pitchFamily="34" charset="0"/>
              </a:rPr>
              <a:t>t won’t have </a:t>
            </a:r>
            <a:r>
              <a:rPr lang="en-US" sz="3600" spc="-30" dirty="0">
                <a:solidFill>
                  <a:srgbClr val="00B050"/>
                </a:solidFill>
                <a:latin typeface="Arial Narrow" panose="020B0606020202030204" pitchFamily="34" charset="0"/>
              </a:rPr>
              <a:t>bugs in </a:t>
            </a:r>
            <a:r>
              <a:rPr lang="en-US" sz="3600" dirty="0">
                <a:solidFill>
                  <a:srgbClr val="00B050"/>
                </a:solidFill>
                <a:latin typeface="Arial Narrow" panose="020B0606020202030204" pitchFamily="34" charset="0"/>
              </a:rPr>
              <a:t>t</a:t>
            </a:r>
            <a:r>
              <a:rPr lang="en-US" sz="3600" spc="-50" dirty="0">
                <a:solidFill>
                  <a:srgbClr val="00B050"/>
                </a:solidFill>
                <a:latin typeface="Arial Narrow" panose="020B0606020202030204" pitchFamily="34" charset="0"/>
              </a:rPr>
              <a:t>hose pla</a:t>
            </a:r>
            <a:r>
              <a:rPr lang="en-US" sz="3600" spc="-10" dirty="0">
                <a:solidFill>
                  <a:srgbClr val="00B050"/>
                </a:solidFill>
                <a:latin typeface="Arial Narrow" panose="020B0606020202030204" pitchFamily="34" charset="0"/>
              </a:rPr>
              <a:t>c</a:t>
            </a:r>
            <a:r>
              <a:rPr lang="en-US" sz="3600" spc="-50" dirty="0">
                <a:solidFill>
                  <a:srgbClr val="00B050"/>
                </a:solidFill>
                <a:latin typeface="Arial Narrow" panose="020B0606020202030204" pitchFamily="34" charset="0"/>
              </a:rPr>
              <a:t>es (I mean, in </a:t>
            </a:r>
            <a:r>
              <a:rPr lang="en-US" sz="3600" dirty="0" smtClean="0">
                <a:solidFill>
                  <a:srgbClr val="00B050"/>
                </a:solidFill>
                <a:latin typeface="Arial Narrow" panose="020B0606020202030204" pitchFamily="34" charset="0"/>
              </a:rPr>
              <a:t>t</a:t>
            </a:r>
            <a:r>
              <a:rPr lang="en-US" sz="3600" spc="-50" dirty="0" smtClean="0">
                <a:solidFill>
                  <a:srgbClr val="00B050"/>
                </a:solidFill>
                <a:latin typeface="Arial Narrow" panose="020B0606020202030204" pitchFamily="34" charset="0"/>
              </a:rPr>
              <a:t>he</a:t>
            </a:r>
            <a:br>
              <a:rPr lang="en-US" sz="3600" spc="-50" dirty="0" smtClean="0">
                <a:solidFill>
                  <a:srgbClr val="00B050"/>
                </a:solidFill>
                <a:latin typeface="Arial Narrow" panose="020B0606020202030204" pitchFamily="34" charset="0"/>
              </a:rPr>
            </a:br>
            <a:r>
              <a:rPr lang="en-US" sz="3600" spc="-20" dirty="0" smtClean="0">
                <a:solidFill>
                  <a:srgbClr val="00B050"/>
                </a:solidFill>
                <a:latin typeface="Arial Narrow" panose="020B0606020202030204" pitchFamily="34" charset="0"/>
              </a:rPr>
              <a:t>places </a:t>
            </a:r>
            <a:r>
              <a:rPr lang="en-US" sz="3600" spc="-20" dirty="0">
                <a:solidFill>
                  <a:srgbClr val="00B050"/>
                </a:solidFill>
                <a:latin typeface="Arial Narrow" panose="020B0606020202030204" pitchFamily="34" charset="0"/>
              </a:rPr>
              <a:t>with com</a:t>
            </a:r>
            <a:r>
              <a:rPr lang="en-US" sz="3600" spc="-10" dirty="0">
                <a:solidFill>
                  <a:srgbClr val="00B050"/>
                </a:solidFill>
                <a:latin typeface="Arial Narrow" panose="020B0606020202030204" pitchFamily="34" charset="0"/>
              </a:rPr>
              <a:t>pile</a:t>
            </a:r>
            <a:r>
              <a:rPr lang="en-US" sz="3600" spc="-20" dirty="0">
                <a:solidFill>
                  <a:srgbClr val="00B050"/>
                </a:solidFill>
                <a:latin typeface="Arial Narrow" panose="020B0606020202030204" pitchFamily="34" charset="0"/>
              </a:rPr>
              <a:t>r-generated low-level </a:t>
            </a:r>
            <a:r>
              <a:rPr lang="en-US" sz="3600" dirty="0">
                <a:solidFill>
                  <a:srgbClr val="00B050"/>
                </a:solidFill>
                <a:latin typeface="Arial Narrow" panose="020B0606020202030204" pitchFamily="34" charset="0"/>
              </a:rPr>
              <a:t>stu</a:t>
            </a:r>
            <a:r>
              <a:rPr lang="en-US" sz="3600" spc="100" dirty="0">
                <a:solidFill>
                  <a:srgbClr val="00B050"/>
                </a:solidFill>
                <a:latin typeface="Arial Narrow" panose="020B0606020202030204" pitchFamily="34" charset="0"/>
              </a:rPr>
              <a:t>ff</a:t>
            </a:r>
            <a:r>
              <a:rPr lang="en-US" sz="3600" spc="-20" dirty="0">
                <a:solidFill>
                  <a:srgbClr val="00B050"/>
                </a:solidFill>
                <a:latin typeface="Arial Narrow" panose="020B0606020202030204" pitchFamily="34" charset="0"/>
              </a:rPr>
              <a:t>). </a:t>
            </a:r>
          </a:p>
          <a:p>
            <a:pPr marL="1600200" lvl="5" indent="-288925">
              <a:lnSpc>
                <a:spcPct val="96000"/>
              </a:lnSpc>
              <a:buNone/>
            </a:pPr>
            <a:r>
              <a:rPr lang="en-US" sz="2800" b="1" spc="-20" baseline="20000" dirty="0">
                <a:solidFill>
                  <a:srgbClr val="FF0000"/>
                </a:solidFill>
                <a:latin typeface="Arial Narrow" panose="020B0606020202030204" pitchFamily="34" charset="0"/>
                <a:sym typeface="Wingdings" panose="05000000000000000000" pitchFamily="2" charset="2"/>
              </a:rPr>
              <a:t></a:t>
            </a:r>
            <a:r>
              <a:rPr lang="en-US" sz="2800" spc="-20" dirty="0">
                <a:solidFill>
                  <a:srgbClr val="FF0000"/>
                </a:solidFill>
                <a:latin typeface="Arial Narrow" panose="020B0606020202030204" pitchFamily="34" charset="0"/>
                <a:sym typeface="Wingdings" panose="05000000000000000000" pitchFamily="2" charset="2"/>
              </a:rPr>
              <a:t> </a:t>
            </a:r>
            <a:r>
              <a:rPr lang="en-US" sz="3600" spc="-10" dirty="0">
                <a:solidFill>
                  <a:srgbClr val="FF0000"/>
                </a:solidFill>
                <a:latin typeface="Arial Narrow" panose="020B0606020202030204" pitchFamily="34" charset="0"/>
              </a:rPr>
              <a:t>But the executable might be less efficient. </a:t>
            </a:r>
          </a:p>
        </p:txBody>
      </p:sp>
    </p:spTree>
    <p:extLst>
      <p:ext uri="{BB962C8B-B14F-4D97-AF65-F5344CB8AC3E}">
        <p14:creationId xmlns:p14="http://schemas.microsoft.com/office/powerpoint/2010/main" val="3418896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906" y="-3841"/>
            <a:ext cx="10515600" cy="1223041"/>
          </a:xfrm>
        </p:spPr>
        <p:txBody>
          <a:bodyPr>
            <a:normAutofit/>
          </a:bodyPr>
          <a:lstStyle/>
          <a:p>
            <a:pPr algn="ctr"/>
            <a:r>
              <a:rPr lang="en-US" sz="4800" b="1" dirty="0">
                <a:solidFill>
                  <a:schemeClr val="accent1">
                    <a:lumMod val="75000"/>
                  </a:schemeClr>
                </a:solidFill>
                <a:latin typeface="Times New Roman" panose="02020603050405020304" pitchFamily="18" charset="0"/>
                <a:cs typeface="Times New Roman" panose="02020603050405020304" pitchFamily="18" charset="0"/>
              </a:rPr>
              <a:t>What Is A High Level Language?</a:t>
            </a:r>
          </a:p>
        </p:txBody>
      </p:sp>
      <p:sp>
        <p:nvSpPr>
          <p:cNvPr id="3" name="Content Placeholder 2"/>
          <p:cNvSpPr>
            <a:spLocks noGrp="1"/>
          </p:cNvSpPr>
          <p:nvPr>
            <p:ph idx="1"/>
          </p:nvPr>
        </p:nvSpPr>
        <p:spPr>
          <a:xfrm>
            <a:off x="-1" y="1138990"/>
            <a:ext cx="9729789" cy="5678905"/>
          </a:xfrm>
        </p:spPr>
        <p:txBody>
          <a:bodyPr>
            <a:normAutofit fontScale="92500" lnSpcReduction="20000"/>
          </a:bodyPr>
          <a:lstStyle/>
          <a:p>
            <a:pPr marL="0" indent="0">
              <a:lnSpc>
                <a:spcPct val="96000"/>
              </a:lnSpc>
              <a:buNone/>
            </a:pPr>
            <a:r>
              <a:rPr lang="en-US" sz="3900" dirty="0" smtClean="0">
                <a:solidFill>
                  <a:srgbClr val="FF0000"/>
                </a:solidFill>
                <a:latin typeface="Arial Narrow" panose="020B0606020202030204" pitchFamily="34" charset="0"/>
              </a:rPr>
              <a:t>1940’s</a:t>
            </a:r>
            <a:r>
              <a:rPr lang="en-US" sz="4400" dirty="0">
                <a:solidFill>
                  <a:srgbClr val="FF0000"/>
                </a:solidFill>
                <a:latin typeface="Arial Narrow" panose="020B0606020202030204" pitchFamily="34" charset="0"/>
              </a:rPr>
              <a:t> </a:t>
            </a:r>
            <a:r>
              <a:rPr lang="en-US" sz="4400" dirty="0" smtClean="0">
                <a:solidFill>
                  <a:srgbClr val="FF0000"/>
                </a:solidFill>
                <a:latin typeface="Arial Narrow" panose="020B0606020202030204" pitchFamily="34" charset="0"/>
              </a:rPr>
              <a:t> First </a:t>
            </a:r>
            <a:r>
              <a:rPr lang="en-US" sz="4400" dirty="0">
                <a:solidFill>
                  <a:srgbClr val="FF0000"/>
                </a:solidFill>
                <a:latin typeface="Arial Narrow" panose="020B0606020202030204" pitchFamily="34" charset="0"/>
              </a:rPr>
              <a:t>low-level languages (Assembly)</a:t>
            </a:r>
          </a:p>
          <a:p>
            <a:pPr marL="0" indent="0">
              <a:lnSpc>
                <a:spcPct val="96000"/>
              </a:lnSpc>
              <a:buNone/>
            </a:pPr>
            <a:r>
              <a:rPr lang="en-US" sz="3900" dirty="0" smtClean="0">
                <a:solidFill>
                  <a:srgbClr val="FF0000"/>
                </a:solidFill>
                <a:latin typeface="Arial Narrow" panose="020B0606020202030204" pitchFamily="34" charset="0"/>
              </a:rPr>
              <a:t>1950’s</a:t>
            </a:r>
            <a:r>
              <a:rPr lang="en-US" sz="4400" dirty="0" smtClean="0">
                <a:solidFill>
                  <a:srgbClr val="FF0000"/>
                </a:solidFill>
                <a:latin typeface="Arial Narrow" panose="020B0606020202030204" pitchFamily="34" charset="0"/>
              </a:rPr>
              <a:t>  First </a:t>
            </a:r>
            <a:r>
              <a:rPr lang="en-US" sz="4400" dirty="0">
                <a:solidFill>
                  <a:srgbClr val="FF0000"/>
                </a:solidFill>
                <a:latin typeface="Arial Narrow" panose="020B0606020202030204" pitchFamily="34" charset="0"/>
              </a:rPr>
              <a:t>medium-level languages (FORTRAN)</a:t>
            </a:r>
          </a:p>
          <a:p>
            <a:pPr marL="0" indent="0">
              <a:lnSpc>
                <a:spcPct val="96000"/>
              </a:lnSpc>
              <a:spcBef>
                <a:spcPts val="0"/>
              </a:spcBef>
              <a:buNone/>
            </a:pP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smtClean="0">
                <a:solidFill>
                  <a:srgbClr val="FF0000"/>
                </a:solidFill>
                <a:latin typeface="Arial Narrow" panose="020B0606020202030204" pitchFamily="34" charset="0"/>
              </a:rPr>
              <a:t>First </a:t>
            </a:r>
            <a:r>
              <a:rPr lang="en-US" sz="4400" dirty="0">
                <a:solidFill>
                  <a:srgbClr val="FF0000"/>
                </a:solidFill>
                <a:latin typeface="Arial Narrow" panose="020B0606020202030204" pitchFamily="34" charset="0"/>
              </a:rPr>
              <a:t>objects (Lisp)</a:t>
            </a:r>
          </a:p>
          <a:p>
            <a:pPr marL="0" indent="0">
              <a:lnSpc>
                <a:spcPct val="96000"/>
              </a:lnSpc>
              <a:buNone/>
            </a:pPr>
            <a:r>
              <a:rPr lang="en-US" sz="3900" dirty="0" smtClean="0">
                <a:solidFill>
                  <a:srgbClr val="FF0000"/>
                </a:solidFill>
                <a:latin typeface="Arial Narrow" panose="020B0606020202030204" pitchFamily="34" charset="0"/>
              </a:rPr>
              <a:t>1960’s</a:t>
            </a:r>
            <a:r>
              <a:rPr lang="en-US" sz="4400" dirty="0" smtClean="0">
                <a:solidFill>
                  <a:srgbClr val="FF0000"/>
                </a:solidFill>
                <a:latin typeface="Arial Narrow" panose="020B0606020202030204" pitchFamily="34" charset="0"/>
              </a:rPr>
              <a:t>  First </a:t>
            </a:r>
            <a:r>
              <a:rPr lang="en-US" sz="4400" dirty="0">
                <a:solidFill>
                  <a:srgbClr val="FF0000"/>
                </a:solidFill>
                <a:latin typeface="Arial Narrow" panose="020B0606020202030204" pitchFamily="34" charset="0"/>
              </a:rPr>
              <a:t>object-oriented languages (</a:t>
            </a:r>
            <a:r>
              <a:rPr lang="en-US" sz="4400" dirty="0" err="1">
                <a:solidFill>
                  <a:srgbClr val="FF0000"/>
                </a:solidFill>
                <a:latin typeface="Arial Narrow" panose="020B0606020202030204" pitchFamily="34" charset="0"/>
              </a:rPr>
              <a:t>Simula</a:t>
            </a:r>
            <a:r>
              <a:rPr lang="en-US" sz="4400" dirty="0">
                <a:solidFill>
                  <a:srgbClr val="FF0000"/>
                </a:solidFill>
                <a:latin typeface="Arial Narrow" panose="020B0606020202030204" pitchFamily="34" charset="0"/>
              </a:rPr>
              <a:t> 67)</a:t>
            </a:r>
          </a:p>
          <a:p>
            <a:pPr marL="0" indent="0">
              <a:lnSpc>
                <a:spcPct val="96000"/>
              </a:lnSpc>
              <a:spcBef>
                <a:spcPts val="0"/>
              </a:spcBef>
              <a:buNone/>
            </a:pP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smtClean="0">
                <a:solidFill>
                  <a:srgbClr val="FF0000"/>
                </a:solidFill>
                <a:latin typeface="Arial Narrow" panose="020B0606020202030204" pitchFamily="34" charset="0"/>
              </a:rPr>
              <a:t>First </a:t>
            </a:r>
            <a:r>
              <a:rPr lang="en-US" sz="4400" dirty="0">
                <a:solidFill>
                  <a:srgbClr val="FF0000"/>
                </a:solidFill>
                <a:latin typeface="Arial Narrow" panose="020B0606020202030204" pitchFamily="34" charset="0"/>
              </a:rPr>
              <a:t>garbage collection (Lisp)</a:t>
            </a:r>
          </a:p>
          <a:p>
            <a:pPr marL="0" indent="0">
              <a:lnSpc>
                <a:spcPct val="96000"/>
              </a:lnSpc>
              <a:buNone/>
            </a:pPr>
            <a:r>
              <a:rPr lang="en-US" sz="3900" dirty="0" smtClean="0">
                <a:solidFill>
                  <a:srgbClr val="FF0000"/>
                </a:solidFill>
                <a:latin typeface="Arial Narrow" panose="020B0606020202030204" pitchFamily="34" charset="0"/>
              </a:rPr>
              <a:t>1970’s</a:t>
            </a:r>
            <a:r>
              <a:rPr lang="en-US" sz="4400" dirty="0" smtClean="0">
                <a:solidFill>
                  <a:srgbClr val="FF0000"/>
                </a:solidFill>
                <a:latin typeface="Arial Narrow" panose="020B0606020202030204" pitchFamily="34" charset="0"/>
              </a:rPr>
              <a:t>  First </a:t>
            </a:r>
            <a:r>
              <a:rPr lang="en-US" sz="4400" dirty="0">
                <a:solidFill>
                  <a:srgbClr val="FF0000"/>
                </a:solidFill>
                <a:latin typeface="Arial Narrow" panose="020B0606020202030204" pitchFamily="34" charset="0"/>
              </a:rPr>
              <a:t>scripting languages (UNIX)</a:t>
            </a:r>
          </a:p>
          <a:p>
            <a:pPr marL="0" indent="0">
              <a:lnSpc>
                <a:spcPct val="96000"/>
              </a:lnSpc>
              <a:buNone/>
            </a:pP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smtClean="0">
                <a:solidFill>
                  <a:srgbClr val="FF0000"/>
                </a:solidFill>
                <a:latin typeface="Arial Narrow" panose="020B0606020202030204" pitchFamily="34" charset="0"/>
              </a:rPr>
              <a:t>First </a:t>
            </a:r>
            <a:r>
              <a:rPr lang="en-US" sz="4400" dirty="0">
                <a:solidFill>
                  <a:srgbClr val="FF0000"/>
                </a:solidFill>
                <a:latin typeface="Arial Narrow" panose="020B0606020202030204" pitchFamily="34" charset="0"/>
              </a:rPr>
              <a:t>strong typing</a:t>
            </a:r>
          </a:p>
          <a:p>
            <a:pPr marL="0" indent="0">
              <a:lnSpc>
                <a:spcPct val="96000"/>
              </a:lnSpc>
              <a:buNone/>
            </a:pPr>
            <a:r>
              <a:rPr lang="en-US" sz="3900" dirty="0" smtClean="0">
                <a:solidFill>
                  <a:srgbClr val="FF0000"/>
                </a:solidFill>
                <a:latin typeface="Arial Narrow" panose="020B0606020202030204" pitchFamily="34" charset="0"/>
              </a:rPr>
              <a:t>1980’s</a:t>
            </a:r>
            <a:r>
              <a:rPr lang="en-US" sz="4400" dirty="0" smtClean="0">
                <a:solidFill>
                  <a:srgbClr val="FF0000"/>
                </a:solidFill>
                <a:latin typeface="Arial Narrow" panose="020B0606020202030204" pitchFamily="34" charset="0"/>
              </a:rPr>
              <a:t>  First </a:t>
            </a:r>
            <a:r>
              <a:rPr lang="en-US" sz="4400" b="1" dirty="0">
                <a:solidFill>
                  <a:srgbClr val="FF0000"/>
                </a:solidFill>
                <a:latin typeface="Arial Narrow" panose="020B0606020202030204" pitchFamily="34" charset="0"/>
              </a:rPr>
              <a:t>high level languages </a:t>
            </a:r>
            <a:r>
              <a:rPr lang="en-US" sz="4400" dirty="0">
                <a:solidFill>
                  <a:srgbClr val="FF0000"/>
                </a:solidFill>
                <a:latin typeface="Arial Narrow" panose="020B0606020202030204" pitchFamily="34" charset="0"/>
              </a:rPr>
              <a:t>(Perl)</a:t>
            </a:r>
          </a:p>
          <a:p>
            <a:pPr marL="0" indent="0">
              <a:lnSpc>
                <a:spcPct val="96000"/>
              </a:lnSpc>
              <a:buNone/>
            </a:pPr>
            <a:r>
              <a:rPr lang="en-US" sz="3900" dirty="0" smtClean="0">
                <a:solidFill>
                  <a:srgbClr val="FF0000"/>
                </a:solidFill>
                <a:latin typeface="Arial Narrow" panose="020B0606020202030204" pitchFamily="34" charset="0"/>
              </a:rPr>
              <a:t>1990’s</a:t>
            </a:r>
            <a:r>
              <a:rPr lang="en-US" sz="4400" dirty="0" smtClean="0">
                <a:solidFill>
                  <a:srgbClr val="FF0000"/>
                </a:solidFill>
                <a:latin typeface="Arial Narrow" panose="020B0606020202030204" pitchFamily="34" charset="0"/>
              </a:rPr>
              <a:t>  More </a:t>
            </a:r>
            <a:r>
              <a:rPr lang="en-US" sz="4400" dirty="0">
                <a:solidFill>
                  <a:srgbClr val="FF0000"/>
                </a:solidFill>
                <a:latin typeface="Arial Narrow" panose="020B0606020202030204" pitchFamily="34" charset="0"/>
              </a:rPr>
              <a:t>high level languages (</a:t>
            </a:r>
            <a:r>
              <a:rPr lang="en-US" sz="4400" b="1" dirty="0">
                <a:solidFill>
                  <a:srgbClr val="FF0000"/>
                </a:solidFill>
                <a:latin typeface="Arial Narrow" panose="020B0606020202030204" pitchFamily="34" charset="0"/>
              </a:rPr>
              <a:t>Python</a:t>
            </a:r>
            <a:r>
              <a:rPr lang="en-US" sz="4400" dirty="0">
                <a:solidFill>
                  <a:srgbClr val="FF0000"/>
                </a:solidFill>
                <a:latin typeface="Arial Narrow" panose="020B0606020202030204" pitchFamily="34" charset="0"/>
              </a:rPr>
              <a:t>, PHP, </a:t>
            </a:r>
            <a:br>
              <a:rPr lang="en-US" sz="4400" dirty="0">
                <a:solidFill>
                  <a:srgbClr val="FF0000"/>
                </a:solidFill>
                <a:latin typeface="Arial Narrow" panose="020B0606020202030204" pitchFamily="34" charset="0"/>
              </a:rPr>
            </a:b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smtClean="0">
                <a:solidFill>
                  <a:srgbClr val="FF0000"/>
                </a:solidFill>
                <a:latin typeface="Arial Narrow" panose="020B0606020202030204" pitchFamily="34" charset="0"/>
              </a:rPr>
              <a:t>Ruby</a:t>
            </a:r>
            <a:r>
              <a:rPr lang="en-US" sz="4400" dirty="0">
                <a:solidFill>
                  <a:srgbClr val="FF0000"/>
                </a:solidFill>
                <a:latin typeface="Arial Narrow" panose="020B0606020202030204" pitchFamily="34" charset="0"/>
              </a:rPr>
              <a:t>, Visual Basic, etc.)</a:t>
            </a:r>
          </a:p>
        </p:txBody>
      </p:sp>
      <p:sp>
        <p:nvSpPr>
          <p:cNvPr id="17" name="Content Placeholder 2"/>
          <p:cNvSpPr txBox="1">
            <a:spLocks/>
          </p:cNvSpPr>
          <p:nvPr/>
        </p:nvSpPr>
        <p:spPr>
          <a:xfrm>
            <a:off x="-1" y="1138990"/>
            <a:ext cx="9729789" cy="5678905"/>
          </a:xfrm>
          <a:prstGeom prst="rect">
            <a:avLst/>
          </a:prstGeom>
          <a:solidFill>
            <a:schemeClr val="bg1"/>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6000"/>
              </a:lnSpc>
              <a:buFont typeface="Arial" panose="020B0604020202020204" pitchFamily="34" charset="0"/>
              <a:buNone/>
            </a:pPr>
            <a:r>
              <a:rPr lang="en-US" sz="3900" dirty="0" smtClean="0">
                <a:solidFill>
                  <a:schemeClr val="bg1">
                    <a:lumMod val="95000"/>
                  </a:schemeClr>
                </a:solidFill>
                <a:latin typeface="Arial Narrow" panose="020B0606020202030204" pitchFamily="34" charset="0"/>
              </a:rPr>
              <a:t>1940’s</a:t>
            </a:r>
            <a:r>
              <a:rPr lang="en-US" sz="4400" dirty="0" smtClean="0">
                <a:solidFill>
                  <a:schemeClr val="bg1">
                    <a:lumMod val="95000"/>
                  </a:schemeClr>
                </a:solidFill>
                <a:latin typeface="Arial Narrow" panose="020B0606020202030204" pitchFamily="34" charset="0"/>
              </a:rPr>
              <a:t>  First low-level languages (Assembly)</a:t>
            </a:r>
          </a:p>
          <a:p>
            <a:pPr marL="0" indent="0">
              <a:lnSpc>
                <a:spcPct val="96000"/>
              </a:lnSpc>
              <a:buFont typeface="Arial" panose="020B0604020202020204" pitchFamily="34" charset="0"/>
              <a:buNone/>
            </a:pPr>
            <a:r>
              <a:rPr lang="en-US" sz="3900" dirty="0" smtClean="0">
                <a:solidFill>
                  <a:schemeClr val="bg1">
                    <a:lumMod val="95000"/>
                  </a:schemeClr>
                </a:solidFill>
                <a:latin typeface="Arial Narrow" panose="020B0606020202030204" pitchFamily="34" charset="0"/>
              </a:rPr>
              <a:t>1950’s</a:t>
            </a:r>
            <a:r>
              <a:rPr lang="en-US" sz="4400" dirty="0" smtClean="0">
                <a:solidFill>
                  <a:schemeClr val="bg1">
                    <a:lumMod val="95000"/>
                  </a:schemeClr>
                </a:solidFill>
                <a:latin typeface="Arial Narrow" panose="020B0606020202030204" pitchFamily="34" charset="0"/>
              </a:rPr>
              <a:t>  First medium-level languages (FORTRAN)</a:t>
            </a:r>
          </a:p>
          <a:p>
            <a:pPr marL="0" indent="0">
              <a:lnSpc>
                <a:spcPct val="96000"/>
              </a:lnSpc>
              <a:spcBef>
                <a:spcPts val="0"/>
              </a:spcBef>
              <a:buNone/>
            </a:pP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a:solidFill>
                  <a:prstClr val="white">
                    <a:lumMod val="95000"/>
                  </a:prstClr>
                </a:solidFill>
                <a:latin typeface="Arial Narrow" panose="020B0606020202030204" pitchFamily="34" charset="0"/>
              </a:rPr>
              <a:t>First </a:t>
            </a:r>
            <a:r>
              <a:rPr lang="en-US" sz="4400" dirty="0" smtClean="0">
                <a:solidFill>
                  <a:srgbClr val="008000"/>
                </a:solidFill>
                <a:latin typeface="Arial Narrow" panose="020B0606020202030204" pitchFamily="34" charset="0"/>
              </a:rPr>
              <a:t>objects</a:t>
            </a:r>
            <a:r>
              <a:rPr lang="en-US" sz="4400" dirty="0" smtClean="0">
                <a:solidFill>
                  <a:schemeClr val="bg1">
                    <a:lumMod val="95000"/>
                  </a:schemeClr>
                </a:solidFill>
                <a:latin typeface="Arial Narrow" panose="020B0606020202030204" pitchFamily="34" charset="0"/>
              </a:rPr>
              <a:t> (Lisp)</a:t>
            </a:r>
          </a:p>
          <a:p>
            <a:pPr marL="0" indent="0">
              <a:lnSpc>
                <a:spcPct val="96000"/>
              </a:lnSpc>
              <a:buFont typeface="Arial" panose="020B0604020202020204" pitchFamily="34" charset="0"/>
              <a:buNone/>
            </a:pPr>
            <a:r>
              <a:rPr lang="en-US" sz="3900" dirty="0" smtClean="0">
                <a:solidFill>
                  <a:schemeClr val="bg1">
                    <a:lumMod val="95000"/>
                  </a:schemeClr>
                </a:solidFill>
                <a:latin typeface="Arial Narrow" panose="020B0606020202030204" pitchFamily="34" charset="0"/>
              </a:rPr>
              <a:t>1960’s</a:t>
            </a:r>
            <a:r>
              <a:rPr lang="en-US" sz="4400" dirty="0" smtClean="0">
                <a:solidFill>
                  <a:schemeClr val="bg1">
                    <a:lumMod val="95000"/>
                  </a:schemeClr>
                </a:solidFill>
                <a:latin typeface="Arial Narrow" panose="020B0606020202030204" pitchFamily="34" charset="0"/>
              </a:rPr>
              <a:t>  First </a:t>
            </a:r>
            <a:r>
              <a:rPr lang="en-US" sz="4400" dirty="0" smtClean="0">
                <a:solidFill>
                  <a:srgbClr val="008000"/>
                </a:solidFill>
                <a:latin typeface="Arial Narrow" panose="020B0606020202030204" pitchFamily="34" charset="0"/>
              </a:rPr>
              <a:t>object-oriented</a:t>
            </a:r>
            <a:r>
              <a:rPr lang="en-US" sz="4400" dirty="0" smtClean="0">
                <a:solidFill>
                  <a:schemeClr val="bg1">
                    <a:lumMod val="75000"/>
                  </a:schemeClr>
                </a:solidFill>
                <a:latin typeface="Arial Narrow" panose="020B0606020202030204" pitchFamily="34" charset="0"/>
              </a:rPr>
              <a:t> </a:t>
            </a:r>
            <a:r>
              <a:rPr lang="en-US" sz="4400" dirty="0" smtClean="0">
                <a:solidFill>
                  <a:schemeClr val="bg1">
                    <a:lumMod val="95000"/>
                  </a:schemeClr>
                </a:solidFill>
                <a:latin typeface="Arial Narrow" panose="020B0606020202030204" pitchFamily="34" charset="0"/>
              </a:rPr>
              <a:t>languages (</a:t>
            </a:r>
            <a:r>
              <a:rPr lang="en-US" sz="4400" dirty="0" err="1" smtClean="0">
                <a:solidFill>
                  <a:schemeClr val="bg1">
                    <a:lumMod val="95000"/>
                  </a:schemeClr>
                </a:solidFill>
                <a:latin typeface="Arial Narrow" panose="020B0606020202030204" pitchFamily="34" charset="0"/>
              </a:rPr>
              <a:t>Simula</a:t>
            </a:r>
            <a:r>
              <a:rPr lang="en-US" sz="4400" dirty="0" smtClean="0">
                <a:solidFill>
                  <a:schemeClr val="bg1">
                    <a:lumMod val="95000"/>
                  </a:schemeClr>
                </a:solidFill>
                <a:latin typeface="Arial Narrow" panose="020B0606020202030204" pitchFamily="34" charset="0"/>
              </a:rPr>
              <a:t> 67)</a:t>
            </a:r>
          </a:p>
          <a:p>
            <a:pPr marL="0" indent="0">
              <a:lnSpc>
                <a:spcPct val="96000"/>
              </a:lnSpc>
              <a:spcBef>
                <a:spcPts val="0"/>
              </a:spcBef>
              <a:buNone/>
            </a:pP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a:solidFill>
                  <a:prstClr val="white">
                    <a:lumMod val="95000"/>
                  </a:prstClr>
                </a:solidFill>
                <a:latin typeface="Arial Narrow" panose="020B0606020202030204" pitchFamily="34" charset="0"/>
              </a:rPr>
              <a:t>First </a:t>
            </a:r>
            <a:r>
              <a:rPr lang="en-US" sz="4400" dirty="0" smtClean="0">
                <a:solidFill>
                  <a:srgbClr val="008000"/>
                </a:solidFill>
                <a:latin typeface="Arial Narrow" panose="020B0606020202030204" pitchFamily="34" charset="0"/>
              </a:rPr>
              <a:t>garbage collection</a:t>
            </a:r>
            <a:r>
              <a:rPr lang="en-US" sz="4400" dirty="0" smtClean="0">
                <a:solidFill>
                  <a:schemeClr val="bg1">
                    <a:lumMod val="75000"/>
                  </a:schemeClr>
                </a:solidFill>
                <a:latin typeface="Arial Narrow" panose="020B0606020202030204" pitchFamily="34" charset="0"/>
              </a:rPr>
              <a:t> </a:t>
            </a:r>
            <a:r>
              <a:rPr lang="en-US" sz="4400" dirty="0" smtClean="0">
                <a:solidFill>
                  <a:schemeClr val="bg1">
                    <a:lumMod val="95000"/>
                  </a:schemeClr>
                </a:solidFill>
                <a:latin typeface="Arial Narrow" panose="020B0606020202030204" pitchFamily="34" charset="0"/>
              </a:rPr>
              <a:t>(Lisp)</a:t>
            </a:r>
          </a:p>
          <a:p>
            <a:pPr marL="0" indent="0">
              <a:lnSpc>
                <a:spcPct val="96000"/>
              </a:lnSpc>
              <a:buFont typeface="Arial" panose="020B0604020202020204" pitchFamily="34" charset="0"/>
              <a:buNone/>
            </a:pPr>
            <a:r>
              <a:rPr lang="en-US" sz="3900" dirty="0" smtClean="0">
                <a:solidFill>
                  <a:schemeClr val="bg1">
                    <a:lumMod val="95000"/>
                  </a:schemeClr>
                </a:solidFill>
                <a:latin typeface="Arial Narrow" panose="020B0606020202030204" pitchFamily="34" charset="0"/>
              </a:rPr>
              <a:t>1970’s</a:t>
            </a:r>
            <a:r>
              <a:rPr lang="en-US" sz="4400" dirty="0" smtClean="0">
                <a:solidFill>
                  <a:schemeClr val="bg1">
                    <a:lumMod val="95000"/>
                  </a:schemeClr>
                </a:solidFill>
                <a:latin typeface="Arial Narrow" panose="020B0606020202030204" pitchFamily="34" charset="0"/>
              </a:rPr>
              <a:t>  First </a:t>
            </a:r>
            <a:r>
              <a:rPr lang="en-US" sz="4400" dirty="0" smtClean="0">
                <a:solidFill>
                  <a:srgbClr val="008000"/>
                </a:solidFill>
                <a:latin typeface="Arial Narrow" panose="020B0606020202030204" pitchFamily="34" charset="0"/>
              </a:rPr>
              <a:t>scripting</a:t>
            </a:r>
            <a:r>
              <a:rPr lang="en-US" sz="4400" dirty="0" smtClean="0">
                <a:solidFill>
                  <a:schemeClr val="bg1">
                    <a:lumMod val="75000"/>
                  </a:schemeClr>
                </a:solidFill>
                <a:latin typeface="Arial Narrow" panose="020B0606020202030204" pitchFamily="34" charset="0"/>
              </a:rPr>
              <a:t> </a:t>
            </a:r>
            <a:r>
              <a:rPr lang="en-US" sz="4400" dirty="0" smtClean="0">
                <a:solidFill>
                  <a:schemeClr val="bg1">
                    <a:lumMod val="95000"/>
                  </a:schemeClr>
                </a:solidFill>
                <a:latin typeface="Arial Narrow" panose="020B0606020202030204" pitchFamily="34" charset="0"/>
              </a:rPr>
              <a:t>languages (UNIX)</a:t>
            </a:r>
          </a:p>
          <a:p>
            <a:pPr marL="0" indent="0">
              <a:lnSpc>
                <a:spcPct val="96000"/>
              </a:lnSpc>
              <a:buNone/>
            </a:pP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a:solidFill>
                  <a:prstClr val="white">
                    <a:lumMod val="95000"/>
                  </a:prstClr>
                </a:solidFill>
                <a:latin typeface="Arial Narrow" panose="020B0606020202030204" pitchFamily="34" charset="0"/>
              </a:rPr>
              <a:t>First </a:t>
            </a:r>
            <a:r>
              <a:rPr lang="en-US" sz="4400" dirty="0" smtClean="0">
                <a:solidFill>
                  <a:srgbClr val="008000"/>
                </a:solidFill>
                <a:latin typeface="Arial Narrow" panose="020B0606020202030204" pitchFamily="34" charset="0"/>
              </a:rPr>
              <a:t>strong typing</a:t>
            </a:r>
          </a:p>
          <a:p>
            <a:pPr marL="0" indent="0">
              <a:lnSpc>
                <a:spcPct val="96000"/>
              </a:lnSpc>
              <a:buFont typeface="Arial" panose="020B0604020202020204" pitchFamily="34" charset="0"/>
              <a:buNone/>
            </a:pPr>
            <a:r>
              <a:rPr lang="en-US" sz="3900" dirty="0" smtClean="0">
                <a:solidFill>
                  <a:schemeClr val="bg1">
                    <a:lumMod val="95000"/>
                  </a:schemeClr>
                </a:solidFill>
                <a:latin typeface="Arial Narrow" panose="020B0606020202030204" pitchFamily="34" charset="0"/>
              </a:rPr>
              <a:t>1980’s</a:t>
            </a:r>
            <a:r>
              <a:rPr lang="en-US" sz="4400" dirty="0" smtClean="0">
                <a:solidFill>
                  <a:schemeClr val="bg1">
                    <a:lumMod val="95000"/>
                  </a:schemeClr>
                </a:solidFill>
                <a:latin typeface="Arial Narrow" panose="020B0606020202030204" pitchFamily="34" charset="0"/>
              </a:rPr>
              <a:t>  First </a:t>
            </a:r>
            <a:r>
              <a:rPr lang="en-US" sz="4400" b="1" dirty="0" smtClean="0">
                <a:solidFill>
                  <a:srgbClr val="008000"/>
                </a:solidFill>
                <a:latin typeface="Arial Narrow" panose="020B0606020202030204" pitchFamily="34" charset="0"/>
              </a:rPr>
              <a:t>high level </a:t>
            </a:r>
            <a:r>
              <a:rPr lang="en-US" sz="4400" b="1" dirty="0" smtClean="0">
                <a:solidFill>
                  <a:schemeClr val="bg1">
                    <a:lumMod val="95000"/>
                  </a:schemeClr>
                </a:solidFill>
                <a:latin typeface="Arial Narrow" panose="020B0606020202030204" pitchFamily="34" charset="0"/>
              </a:rPr>
              <a:t>languages </a:t>
            </a:r>
            <a:r>
              <a:rPr lang="en-US" sz="4400" dirty="0" smtClean="0">
                <a:solidFill>
                  <a:schemeClr val="bg1">
                    <a:lumMod val="95000"/>
                  </a:schemeClr>
                </a:solidFill>
                <a:latin typeface="Arial Narrow" panose="020B0606020202030204" pitchFamily="34" charset="0"/>
              </a:rPr>
              <a:t>(Perl)</a:t>
            </a:r>
          </a:p>
          <a:p>
            <a:pPr marL="0" indent="0">
              <a:lnSpc>
                <a:spcPct val="96000"/>
              </a:lnSpc>
              <a:buNone/>
            </a:pPr>
            <a:r>
              <a:rPr lang="en-US" sz="3900" dirty="0" smtClean="0">
                <a:solidFill>
                  <a:schemeClr val="bg1">
                    <a:lumMod val="95000"/>
                  </a:schemeClr>
                </a:solidFill>
                <a:latin typeface="Arial Narrow" panose="020B0606020202030204" pitchFamily="34" charset="0"/>
              </a:rPr>
              <a:t>1990’s</a:t>
            </a:r>
            <a:r>
              <a:rPr lang="en-US" sz="4400" dirty="0" smtClean="0">
                <a:solidFill>
                  <a:schemeClr val="bg1">
                    <a:lumMod val="95000"/>
                  </a:schemeClr>
                </a:solidFill>
                <a:latin typeface="Arial Narrow" panose="020B0606020202030204" pitchFamily="34" charset="0"/>
              </a:rPr>
              <a:t>  More high level languages (</a:t>
            </a:r>
            <a:r>
              <a:rPr lang="en-US" sz="4400" b="1" dirty="0" smtClean="0">
                <a:solidFill>
                  <a:srgbClr val="008000"/>
                </a:solidFill>
                <a:latin typeface="Arial Narrow" panose="020B0606020202030204" pitchFamily="34" charset="0"/>
              </a:rPr>
              <a:t>Python</a:t>
            </a:r>
            <a:r>
              <a:rPr lang="en-US" sz="4400" dirty="0" smtClean="0">
                <a:solidFill>
                  <a:schemeClr val="bg1">
                    <a:lumMod val="95000"/>
                  </a:schemeClr>
                </a:solidFill>
                <a:latin typeface="Arial Narrow" panose="020B0606020202030204" pitchFamily="34" charset="0"/>
              </a:rPr>
              <a:t>, PHP, </a:t>
            </a:r>
            <a:br>
              <a:rPr lang="en-US" sz="4400" dirty="0" smtClean="0">
                <a:solidFill>
                  <a:schemeClr val="bg1">
                    <a:lumMod val="95000"/>
                  </a:schemeClr>
                </a:solidFill>
                <a:latin typeface="Arial Narrow" panose="020B0606020202030204" pitchFamily="34" charset="0"/>
              </a:rPr>
            </a:b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smtClean="0">
                <a:solidFill>
                  <a:schemeClr val="bg1">
                    <a:lumMod val="95000"/>
                  </a:schemeClr>
                </a:solidFill>
                <a:latin typeface="Arial Narrow" panose="020B0606020202030204" pitchFamily="34" charset="0"/>
              </a:rPr>
              <a:t>Ruby, Visual Basic, etc.)</a:t>
            </a:r>
            <a:endParaRPr lang="en-US" sz="4400" dirty="0">
              <a:solidFill>
                <a:schemeClr val="bg1">
                  <a:lumMod val="95000"/>
                </a:schemeClr>
              </a:solidFill>
              <a:latin typeface="Arial Narrow" panose="020B0606020202030204" pitchFamily="34" charset="0"/>
            </a:endParaRPr>
          </a:p>
        </p:txBody>
      </p:sp>
      <p:grpSp>
        <p:nvGrpSpPr>
          <p:cNvPr id="18" name="Group 17"/>
          <p:cNvGrpSpPr/>
          <p:nvPr/>
        </p:nvGrpSpPr>
        <p:grpSpPr>
          <a:xfrm>
            <a:off x="-934966" y="3036815"/>
            <a:ext cx="8784030" cy="7631168"/>
            <a:chOff x="-934966" y="3036815"/>
            <a:chExt cx="8784030" cy="7631168"/>
          </a:xfrm>
        </p:grpSpPr>
        <p:cxnSp>
          <p:nvCxnSpPr>
            <p:cNvPr id="19" name="Straight Arrow Connector 18"/>
            <p:cNvCxnSpPr/>
            <p:nvPr/>
          </p:nvCxnSpPr>
          <p:spPr>
            <a:xfrm>
              <a:off x="4378862" y="5326380"/>
              <a:ext cx="2288638" cy="579120"/>
            </a:xfrm>
            <a:prstGeom prst="straightConnector1">
              <a:avLst/>
            </a:prstGeom>
            <a:ln w="76200">
              <a:solidFill>
                <a:srgbClr val="008000"/>
              </a:solidFill>
              <a:tailEnd type="arrow" w="lg" len="lg"/>
            </a:ln>
          </p:spPr>
          <p:style>
            <a:lnRef idx="1">
              <a:schemeClr val="accent1"/>
            </a:lnRef>
            <a:fillRef idx="0">
              <a:schemeClr val="accent1"/>
            </a:fillRef>
            <a:effectRef idx="0">
              <a:schemeClr val="accent1"/>
            </a:effectRef>
            <a:fontRef idx="minor">
              <a:schemeClr val="tx1"/>
            </a:fontRef>
          </p:style>
        </p:cxnSp>
        <p:sp>
          <p:nvSpPr>
            <p:cNvPr id="20" name="Arc 19"/>
            <p:cNvSpPr/>
            <p:nvPr/>
          </p:nvSpPr>
          <p:spPr>
            <a:xfrm rot="20068797">
              <a:off x="3365258" y="3178035"/>
              <a:ext cx="4483806" cy="4427171"/>
            </a:xfrm>
            <a:prstGeom prst="arc">
              <a:avLst>
                <a:gd name="adj1" fmla="val 18572071"/>
                <a:gd name="adj2" fmla="val 2016065"/>
              </a:avLst>
            </a:prstGeom>
            <a:ln w="76200">
              <a:solidFill>
                <a:srgbClr val="008000"/>
              </a:solidFill>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p:cNvSpPr/>
            <p:nvPr/>
          </p:nvSpPr>
          <p:spPr>
            <a:xfrm rot="20369696">
              <a:off x="-934966" y="4980984"/>
              <a:ext cx="8383074" cy="5686999"/>
            </a:xfrm>
            <a:prstGeom prst="arc">
              <a:avLst>
                <a:gd name="adj1" fmla="val 19111575"/>
                <a:gd name="adj2" fmla="val 20980198"/>
              </a:avLst>
            </a:prstGeom>
            <a:ln w="76200">
              <a:solidFill>
                <a:srgbClr val="008000"/>
              </a:solidFill>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p:cNvSpPr/>
            <p:nvPr/>
          </p:nvSpPr>
          <p:spPr>
            <a:xfrm rot="20369696">
              <a:off x="488568" y="4299692"/>
              <a:ext cx="6771174" cy="5031256"/>
            </a:xfrm>
            <a:prstGeom prst="arc">
              <a:avLst>
                <a:gd name="adj1" fmla="val 18448076"/>
                <a:gd name="adj2" fmla="val 81396"/>
              </a:avLst>
            </a:prstGeom>
            <a:ln w="76200">
              <a:solidFill>
                <a:srgbClr val="008000"/>
              </a:solidFill>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3" name="Straight Connector 22"/>
            <p:cNvCxnSpPr/>
            <p:nvPr/>
          </p:nvCxnSpPr>
          <p:spPr>
            <a:xfrm flipH="1" flipV="1">
              <a:off x="5213757" y="3036815"/>
              <a:ext cx="952152" cy="201336"/>
            </a:xfrm>
            <a:prstGeom prst="line">
              <a:avLst/>
            </a:prstGeom>
            <a:ln w="76200">
              <a:solidFill>
                <a:srgbClr val="008000"/>
              </a:solidFill>
            </a:ln>
          </p:spPr>
          <p:style>
            <a:lnRef idx="1">
              <a:schemeClr val="accent1"/>
            </a:lnRef>
            <a:fillRef idx="0">
              <a:schemeClr val="accent1"/>
            </a:fillRef>
            <a:effectRef idx="0">
              <a:schemeClr val="accent1"/>
            </a:effectRef>
            <a:fontRef idx="minor">
              <a:schemeClr val="tx1"/>
            </a:fontRef>
          </p:style>
        </p:cxnSp>
        <p:sp>
          <p:nvSpPr>
            <p:cNvPr id="24" name="Arc 23"/>
            <p:cNvSpPr/>
            <p:nvPr/>
          </p:nvSpPr>
          <p:spPr>
            <a:xfrm rot="20068797">
              <a:off x="2939725" y="3499458"/>
              <a:ext cx="4483806" cy="4226567"/>
            </a:xfrm>
            <a:prstGeom prst="arc">
              <a:avLst>
                <a:gd name="adj1" fmla="val 18847983"/>
                <a:gd name="adj2" fmla="val 1661371"/>
              </a:avLst>
            </a:prstGeom>
            <a:ln w="76200">
              <a:solidFill>
                <a:srgbClr val="008000"/>
              </a:solidFill>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5" name="Straight Connector 24"/>
            <p:cNvCxnSpPr/>
            <p:nvPr/>
          </p:nvCxnSpPr>
          <p:spPr>
            <a:xfrm flipH="1" flipV="1">
              <a:off x="3986392" y="4137893"/>
              <a:ext cx="703990" cy="43842"/>
            </a:xfrm>
            <a:prstGeom prst="line">
              <a:avLst/>
            </a:prstGeom>
            <a:ln w="76200">
              <a:solidFill>
                <a:srgbClr val="008000"/>
              </a:solidFill>
            </a:ln>
          </p:spPr>
          <p:style>
            <a:lnRef idx="1">
              <a:schemeClr val="accent1"/>
            </a:lnRef>
            <a:fillRef idx="0">
              <a:schemeClr val="accent1"/>
            </a:fillRef>
            <a:effectRef idx="0">
              <a:schemeClr val="accent1"/>
            </a:effectRef>
            <a:fontRef idx="minor">
              <a:schemeClr val="tx1"/>
            </a:fontRef>
          </p:style>
        </p:cxnSp>
      </p:grpSp>
      <p:sp>
        <p:nvSpPr>
          <p:cNvPr id="28" name="Content Placeholder 2"/>
          <p:cNvSpPr txBox="1">
            <a:spLocks/>
          </p:cNvSpPr>
          <p:nvPr/>
        </p:nvSpPr>
        <p:spPr>
          <a:xfrm>
            <a:off x="-1" y="1138990"/>
            <a:ext cx="9729789" cy="5678905"/>
          </a:xfrm>
          <a:prstGeom prst="rect">
            <a:avLst/>
          </a:prstGeom>
          <a:solidFill>
            <a:schemeClr val="bg1"/>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6000"/>
              </a:lnSpc>
              <a:buFont typeface="Arial" panose="020B0604020202020204" pitchFamily="34" charset="0"/>
              <a:buNone/>
            </a:pPr>
            <a:r>
              <a:rPr lang="en-US" sz="3900" dirty="0" smtClean="0">
                <a:solidFill>
                  <a:schemeClr val="bg1">
                    <a:lumMod val="95000"/>
                  </a:schemeClr>
                </a:solidFill>
                <a:latin typeface="Arial Narrow" panose="020B0606020202030204" pitchFamily="34" charset="0"/>
              </a:rPr>
              <a:t>1940’s</a:t>
            </a:r>
            <a:r>
              <a:rPr lang="en-US" sz="4400" dirty="0" smtClean="0">
                <a:solidFill>
                  <a:schemeClr val="bg1">
                    <a:lumMod val="95000"/>
                  </a:schemeClr>
                </a:solidFill>
                <a:latin typeface="Arial Narrow" panose="020B0606020202030204" pitchFamily="34" charset="0"/>
              </a:rPr>
              <a:t>  First low-level languages (Assembly)</a:t>
            </a:r>
          </a:p>
          <a:p>
            <a:pPr marL="0" indent="0">
              <a:lnSpc>
                <a:spcPct val="96000"/>
              </a:lnSpc>
              <a:buFont typeface="Arial" panose="020B0604020202020204" pitchFamily="34" charset="0"/>
              <a:buNone/>
            </a:pPr>
            <a:r>
              <a:rPr lang="en-US" sz="3900" dirty="0" smtClean="0">
                <a:solidFill>
                  <a:schemeClr val="bg1">
                    <a:lumMod val="95000"/>
                  </a:schemeClr>
                </a:solidFill>
                <a:latin typeface="Arial Narrow" panose="020B0606020202030204" pitchFamily="34" charset="0"/>
              </a:rPr>
              <a:t>1950’s</a:t>
            </a:r>
            <a:r>
              <a:rPr lang="en-US" sz="4400" dirty="0" smtClean="0">
                <a:solidFill>
                  <a:schemeClr val="bg1">
                    <a:lumMod val="95000"/>
                  </a:schemeClr>
                </a:solidFill>
                <a:latin typeface="Arial Narrow" panose="020B0606020202030204" pitchFamily="34" charset="0"/>
              </a:rPr>
              <a:t>  First medium-level languages (FORTRAN)</a:t>
            </a:r>
          </a:p>
          <a:p>
            <a:pPr marL="0" indent="0">
              <a:lnSpc>
                <a:spcPct val="96000"/>
              </a:lnSpc>
              <a:spcBef>
                <a:spcPts val="0"/>
              </a:spcBef>
              <a:buFont typeface="Arial" panose="020B0604020202020204" pitchFamily="34" charset="0"/>
              <a:buNone/>
            </a:pPr>
            <a:r>
              <a:rPr lang="en-US" sz="4100" dirty="0" smtClean="0">
                <a:solidFill>
                  <a:schemeClr val="bg1">
                    <a:lumMod val="95000"/>
                  </a:schemeClr>
                </a:solidFill>
                <a:latin typeface="Arial Narrow" panose="020B0606020202030204" pitchFamily="34" charset="0"/>
              </a:rPr>
              <a:t>         </a:t>
            </a:r>
            <a:r>
              <a:rPr lang="en-US" sz="4300" dirty="0" smtClean="0">
                <a:solidFill>
                  <a:schemeClr val="bg1">
                    <a:lumMod val="95000"/>
                  </a:schemeClr>
                </a:solidFill>
                <a:latin typeface="Arial Narrow" panose="020B0606020202030204" pitchFamily="34" charset="0"/>
              </a:rPr>
              <a:t> </a:t>
            </a:r>
            <a:r>
              <a:rPr lang="en-US" sz="4100" dirty="0" smtClean="0">
                <a:solidFill>
                  <a:schemeClr val="bg1">
                    <a:lumMod val="95000"/>
                  </a:schemeClr>
                </a:solidFill>
                <a:latin typeface="Arial Narrow" panose="020B0606020202030204" pitchFamily="34" charset="0"/>
              </a:rPr>
              <a:t>  </a:t>
            </a:r>
            <a:r>
              <a:rPr lang="en-US" sz="4400" dirty="0" smtClean="0">
                <a:solidFill>
                  <a:schemeClr val="bg1">
                    <a:lumMod val="95000"/>
                  </a:schemeClr>
                </a:solidFill>
                <a:latin typeface="Arial Narrow" panose="020B0606020202030204" pitchFamily="34" charset="0"/>
              </a:rPr>
              <a:t>First </a:t>
            </a:r>
            <a:r>
              <a:rPr lang="en-US" sz="4400" dirty="0" smtClean="0">
                <a:solidFill>
                  <a:srgbClr val="008000"/>
                </a:solidFill>
                <a:latin typeface="Arial Narrow" panose="020B0606020202030204" pitchFamily="34" charset="0"/>
              </a:rPr>
              <a:t>objects</a:t>
            </a:r>
            <a:r>
              <a:rPr lang="en-US" sz="4400" dirty="0" smtClean="0">
                <a:solidFill>
                  <a:schemeClr val="bg1">
                    <a:lumMod val="75000"/>
                  </a:schemeClr>
                </a:solidFill>
                <a:latin typeface="Arial Narrow" panose="020B0606020202030204" pitchFamily="34" charset="0"/>
              </a:rPr>
              <a:t> </a:t>
            </a:r>
            <a:r>
              <a:rPr lang="en-US" sz="4400" dirty="0" smtClean="0">
                <a:solidFill>
                  <a:schemeClr val="bg1">
                    <a:lumMod val="95000"/>
                  </a:schemeClr>
                </a:solidFill>
                <a:latin typeface="Arial Narrow" panose="020B0606020202030204" pitchFamily="34" charset="0"/>
              </a:rPr>
              <a:t>(Lisp)</a:t>
            </a:r>
          </a:p>
          <a:p>
            <a:pPr marL="0" indent="0">
              <a:lnSpc>
                <a:spcPct val="96000"/>
              </a:lnSpc>
              <a:buFont typeface="Arial" panose="020B0604020202020204" pitchFamily="34" charset="0"/>
              <a:buNone/>
            </a:pPr>
            <a:r>
              <a:rPr lang="en-US" sz="3900" dirty="0" smtClean="0">
                <a:solidFill>
                  <a:schemeClr val="bg1">
                    <a:lumMod val="95000"/>
                  </a:schemeClr>
                </a:solidFill>
                <a:latin typeface="Arial Narrow" panose="020B0606020202030204" pitchFamily="34" charset="0"/>
              </a:rPr>
              <a:t>1960’s</a:t>
            </a:r>
            <a:r>
              <a:rPr lang="en-US" sz="4400" dirty="0" smtClean="0">
                <a:solidFill>
                  <a:schemeClr val="bg1">
                    <a:lumMod val="95000"/>
                  </a:schemeClr>
                </a:solidFill>
                <a:latin typeface="Arial Narrow" panose="020B0606020202030204" pitchFamily="34" charset="0"/>
              </a:rPr>
              <a:t>  First object-oriented languages (</a:t>
            </a:r>
            <a:r>
              <a:rPr lang="en-US" sz="4400" dirty="0" err="1" smtClean="0">
                <a:solidFill>
                  <a:schemeClr val="bg1">
                    <a:lumMod val="95000"/>
                  </a:schemeClr>
                </a:solidFill>
                <a:latin typeface="Arial Narrow" panose="020B0606020202030204" pitchFamily="34" charset="0"/>
              </a:rPr>
              <a:t>Simula</a:t>
            </a:r>
            <a:r>
              <a:rPr lang="en-US" sz="4400" dirty="0" smtClean="0">
                <a:solidFill>
                  <a:schemeClr val="bg1">
                    <a:lumMod val="95000"/>
                  </a:schemeClr>
                </a:solidFill>
                <a:latin typeface="Arial Narrow" panose="020B0606020202030204" pitchFamily="34" charset="0"/>
              </a:rPr>
              <a:t> 67)</a:t>
            </a:r>
          </a:p>
          <a:p>
            <a:pPr marL="0" indent="0">
              <a:lnSpc>
                <a:spcPct val="96000"/>
              </a:lnSpc>
              <a:spcBef>
                <a:spcPts val="0"/>
              </a:spcBef>
              <a:buNone/>
            </a:pP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a:solidFill>
                  <a:prstClr val="white">
                    <a:lumMod val="95000"/>
                  </a:prstClr>
                </a:solidFill>
                <a:latin typeface="Arial Narrow" panose="020B0606020202030204" pitchFamily="34" charset="0"/>
              </a:rPr>
              <a:t>First </a:t>
            </a:r>
            <a:r>
              <a:rPr lang="en-US" sz="4400" dirty="0" smtClean="0">
                <a:solidFill>
                  <a:schemeClr val="bg1">
                    <a:lumMod val="95000"/>
                  </a:schemeClr>
                </a:solidFill>
                <a:latin typeface="Arial Narrow" panose="020B0606020202030204" pitchFamily="34" charset="0"/>
              </a:rPr>
              <a:t>garbage collection (Lisp)</a:t>
            </a:r>
          </a:p>
          <a:p>
            <a:pPr marL="0" indent="0">
              <a:lnSpc>
                <a:spcPct val="96000"/>
              </a:lnSpc>
              <a:buFont typeface="Arial" panose="020B0604020202020204" pitchFamily="34" charset="0"/>
              <a:buNone/>
            </a:pPr>
            <a:r>
              <a:rPr lang="en-US" sz="3900" dirty="0" smtClean="0">
                <a:solidFill>
                  <a:schemeClr val="bg1">
                    <a:lumMod val="95000"/>
                  </a:schemeClr>
                </a:solidFill>
                <a:latin typeface="Arial Narrow" panose="020B0606020202030204" pitchFamily="34" charset="0"/>
              </a:rPr>
              <a:t>1970’s</a:t>
            </a:r>
            <a:r>
              <a:rPr lang="en-US" sz="4400" dirty="0" smtClean="0">
                <a:solidFill>
                  <a:schemeClr val="bg1">
                    <a:lumMod val="95000"/>
                  </a:schemeClr>
                </a:solidFill>
                <a:latin typeface="Arial Narrow" panose="020B0606020202030204" pitchFamily="34" charset="0"/>
              </a:rPr>
              <a:t>  First scripting languages (UNIX)</a:t>
            </a:r>
          </a:p>
          <a:p>
            <a:pPr marL="0" indent="0">
              <a:lnSpc>
                <a:spcPct val="96000"/>
              </a:lnSpc>
              <a:buNone/>
            </a:pP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a:solidFill>
                  <a:prstClr val="white">
                    <a:lumMod val="95000"/>
                  </a:prstClr>
                </a:solidFill>
                <a:latin typeface="Arial Narrow" panose="020B0606020202030204" pitchFamily="34" charset="0"/>
              </a:rPr>
              <a:t>First </a:t>
            </a:r>
            <a:r>
              <a:rPr lang="en-US" sz="4400" dirty="0" smtClean="0">
                <a:solidFill>
                  <a:schemeClr val="bg1">
                    <a:lumMod val="95000"/>
                  </a:schemeClr>
                </a:solidFill>
                <a:latin typeface="Arial Narrow" panose="020B0606020202030204" pitchFamily="34" charset="0"/>
              </a:rPr>
              <a:t>strong typing</a:t>
            </a:r>
          </a:p>
          <a:p>
            <a:pPr marL="0" indent="0">
              <a:lnSpc>
                <a:spcPct val="96000"/>
              </a:lnSpc>
              <a:buFont typeface="Arial" panose="020B0604020202020204" pitchFamily="34" charset="0"/>
              <a:buNone/>
            </a:pPr>
            <a:r>
              <a:rPr lang="en-US" sz="3900" dirty="0" smtClean="0">
                <a:solidFill>
                  <a:schemeClr val="bg1">
                    <a:lumMod val="95000"/>
                  </a:schemeClr>
                </a:solidFill>
                <a:latin typeface="Arial Narrow" panose="020B0606020202030204" pitchFamily="34" charset="0"/>
              </a:rPr>
              <a:t>1980’s</a:t>
            </a:r>
            <a:r>
              <a:rPr lang="en-US" sz="4400" dirty="0" smtClean="0">
                <a:solidFill>
                  <a:schemeClr val="bg1">
                    <a:lumMod val="95000"/>
                  </a:schemeClr>
                </a:solidFill>
                <a:latin typeface="Arial Narrow" panose="020B0606020202030204" pitchFamily="34" charset="0"/>
              </a:rPr>
              <a:t>  First </a:t>
            </a:r>
            <a:r>
              <a:rPr lang="en-US" sz="4400" b="1" dirty="0" smtClean="0">
                <a:solidFill>
                  <a:schemeClr val="bg1">
                    <a:lumMod val="95000"/>
                  </a:schemeClr>
                </a:solidFill>
                <a:latin typeface="Arial Narrow" panose="020B0606020202030204" pitchFamily="34" charset="0"/>
              </a:rPr>
              <a:t>high level languages </a:t>
            </a:r>
            <a:r>
              <a:rPr lang="en-US" sz="4400" dirty="0" smtClean="0">
                <a:solidFill>
                  <a:schemeClr val="bg1">
                    <a:lumMod val="95000"/>
                  </a:schemeClr>
                </a:solidFill>
                <a:latin typeface="Arial Narrow" panose="020B0606020202030204" pitchFamily="34" charset="0"/>
              </a:rPr>
              <a:t>(Perl)</a:t>
            </a:r>
          </a:p>
          <a:p>
            <a:pPr marL="0" indent="0">
              <a:lnSpc>
                <a:spcPct val="96000"/>
              </a:lnSpc>
              <a:buNone/>
            </a:pPr>
            <a:r>
              <a:rPr lang="en-US" sz="3900" dirty="0" smtClean="0">
                <a:solidFill>
                  <a:schemeClr val="bg1">
                    <a:lumMod val="95000"/>
                  </a:schemeClr>
                </a:solidFill>
                <a:latin typeface="Arial Narrow" panose="020B0606020202030204" pitchFamily="34" charset="0"/>
              </a:rPr>
              <a:t>1990’s</a:t>
            </a:r>
            <a:r>
              <a:rPr lang="en-US" sz="4400" dirty="0" smtClean="0">
                <a:solidFill>
                  <a:schemeClr val="bg1">
                    <a:lumMod val="95000"/>
                  </a:schemeClr>
                </a:solidFill>
                <a:latin typeface="Arial Narrow" panose="020B0606020202030204" pitchFamily="34" charset="0"/>
              </a:rPr>
              <a:t>  More high level languages (</a:t>
            </a:r>
            <a:r>
              <a:rPr lang="en-US" sz="4400" b="1" dirty="0" smtClean="0">
                <a:solidFill>
                  <a:srgbClr val="008000"/>
                </a:solidFill>
                <a:latin typeface="Arial Narrow" panose="020B0606020202030204" pitchFamily="34" charset="0"/>
              </a:rPr>
              <a:t>Python</a:t>
            </a:r>
            <a:r>
              <a:rPr lang="en-US" sz="4400" dirty="0" smtClean="0">
                <a:solidFill>
                  <a:schemeClr val="bg1">
                    <a:lumMod val="95000"/>
                  </a:schemeClr>
                </a:solidFill>
                <a:latin typeface="Arial Narrow" panose="020B0606020202030204" pitchFamily="34" charset="0"/>
              </a:rPr>
              <a:t>, PHP, </a:t>
            </a:r>
            <a:br>
              <a:rPr lang="en-US" sz="4400" dirty="0" smtClean="0">
                <a:solidFill>
                  <a:schemeClr val="bg1">
                    <a:lumMod val="95000"/>
                  </a:schemeClr>
                </a:solidFill>
                <a:latin typeface="Arial Narrow" panose="020B0606020202030204" pitchFamily="34" charset="0"/>
              </a:rPr>
            </a:br>
            <a:r>
              <a:rPr lang="en-US" sz="4100" dirty="0" smtClean="0">
                <a:solidFill>
                  <a:prstClr val="white">
                    <a:lumMod val="95000"/>
                  </a:prstClr>
                </a:solidFill>
                <a:latin typeface="Arial Narrow" panose="020B0606020202030204" pitchFamily="34" charset="0"/>
              </a:rPr>
              <a:t>         </a:t>
            </a:r>
            <a:r>
              <a:rPr lang="en-US" sz="4300" dirty="0" smtClean="0">
                <a:solidFill>
                  <a:prstClr val="white">
                    <a:lumMod val="95000"/>
                  </a:prstClr>
                </a:solidFill>
                <a:latin typeface="Arial Narrow" panose="020B0606020202030204" pitchFamily="34" charset="0"/>
              </a:rPr>
              <a:t> </a:t>
            </a:r>
            <a:r>
              <a:rPr lang="en-US" sz="4100" dirty="0" smtClean="0">
                <a:solidFill>
                  <a:prstClr val="white">
                    <a:lumMod val="95000"/>
                  </a:prstClr>
                </a:solidFill>
                <a:latin typeface="Arial Narrow" panose="020B0606020202030204" pitchFamily="34" charset="0"/>
              </a:rPr>
              <a:t>  </a:t>
            </a:r>
            <a:r>
              <a:rPr lang="en-US" sz="4400" dirty="0" smtClean="0">
                <a:solidFill>
                  <a:schemeClr val="bg1">
                    <a:lumMod val="95000"/>
                  </a:schemeClr>
                </a:solidFill>
                <a:latin typeface="Arial Narrow" panose="020B0606020202030204" pitchFamily="34" charset="0"/>
              </a:rPr>
              <a:t>Ruby, Visual Basic, etc.)</a:t>
            </a:r>
            <a:endParaRPr lang="en-US" sz="4400" dirty="0">
              <a:solidFill>
                <a:schemeClr val="bg1">
                  <a:lumMod val="95000"/>
                </a:schemeClr>
              </a:solidFill>
              <a:latin typeface="Arial Narrow" panose="020B0606020202030204" pitchFamily="34" charset="0"/>
            </a:endParaRPr>
          </a:p>
        </p:txBody>
      </p:sp>
      <p:grpSp>
        <p:nvGrpSpPr>
          <p:cNvPr id="30" name="Group 29"/>
          <p:cNvGrpSpPr/>
          <p:nvPr/>
        </p:nvGrpSpPr>
        <p:grpSpPr>
          <a:xfrm>
            <a:off x="3750389" y="2469519"/>
            <a:ext cx="4472525" cy="4133775"/>
            <a:chOff x="3750389" y="2469519"/>
            <a:chExt cx="4472525" cy="4133775"/>
          </a:xfrm>
        </p:grpSpPr>
        <p:sp>
          <p:nvSpPr>
            <p:cNvPr id="31" name="Arc 30"/>
            <p:cNvSpPr/>
            <p:nvPr/>
          </p:nvSpPr>
          <p:spPr>
            <a:xfrm rot="19901524">
              <a:off x="5075706" y="2870653"/>
              <a:ext cx="3147208" cy="3732641"/>
            </a:xfrm>
            <a:prstGeom prst="arc">
              <a:avLst>
                <a:gd name="adj1" fmla="val 18058283"/>
                <a:gd name="adj2" fmla="val 3861157"/>
              </a:avLst>
            </a:prstGeom>
            <a:ln w="76200">
              <a:solidFill>
                <a:srgbClr val="008000"/>
              </a:solidFill>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2" name="Straight Connector 31"/>
            <p:cNvCxnSpPr/>
            <p:nvPr/>
          </p:nvCxnSpPr>
          <p:spPr>
            <a:xfrm flipH="1" flipV="1">
              <a:off x="3750389" y="2469519"/>
              <a:ext cx="3008630" cy="499924"/>
            </a:xfrm>
            <a:prstGeom prst="line">
              <a:avLst/>
            </a:prstGeom>
            <a:ln w="76200">
              <a:solidFill>
                <a:srgbClr val="008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4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par>
                                <p:cTn id="13" presetID="14"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5"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chemeClr val="tx1"/>
                                      </p:to>
                                    </p:animClr>
                                  </p:sub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0"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chemeClr val="tx1"/>
                                      </p:to>
                                    </p:animClr>
                                  </p:subTnLst>
                                </p:cTn>
                              </p:par>
                              <p:par>
                                <p:cTn id="21" presetID="14" presetClass="entr" presetSubtype="1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3"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chemeClr val="tx1"/>
                                      </p:to>
                                    </p:animClr>
                                  </p:sub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8"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chemeClr val="tx1"/>
                                      </p:to>
                                    </p:animClr>
                                  </p:subTnLst>
                                </p:cTn>
                              </p:par>
                              <p:par>
                                <p:cTn id="29" presetID="14" presetClass="entr" presetSubtype="1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1"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chemeClr val="tx1"/>
                                      </p:to>
                                    </p:animClr>
                                  </p:sub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6"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chemeClr val="tx1"/>
                                      </p:to>
                                    </p:animClr>
                                  </p:sub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randombar(horizontal)">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8"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45454" y="1743468"/>
            <a:ext cx="9684334" cy="3605772"/>
          </a:xfrm>
          <a:prstGeom prst="rect">
            <a:avLst/>
          </a:prstGeom>
          <a:solidFill>
            <a:schemeClr val="bg1"/>
          </a:solid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39725" indent="-339725">
              <a:buFont typeface="Arial" panose="020B0604020202020204" pitchFamily="34" charset="0"/>
              <a:buChar char="•"/>
            </a:pPr>
            <a:r>
              <a:rPr lang="en-US" sz="4800" dirty="0">
                <a:latin typeface="Times New Roman" panose="02020603050405020304" pitchFamily="18" charset="0"/>
                <a:cs typeface="Times New Roman" panose="02020603050405020304" pitchFamily="18" charset="0"/>
              </a:rPr>
              <a:t>Not just data, but also </a:t>
            </a:r>
            <a:r>
              <a:rPr lang="en-US" sz="4800" dirty="0" smtClean="0">
                <a:latin typeface="Times New Roman" panose="02020603050405020304" pitchFamily="18" charset="0"/>
                <a:cs typeface="Times New Roman" panose="02020603050405020304" pitchFamily="18" charset="0"/>
              </a:rPr>
              <a:t>functions.</a:t>
            </a:r>
            <a:endParaRPr lang="en-US" sz="4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339725" indent="-339725">
              <a:buFont typeface="Arial" panose="020B0604020202020204" pitchFamily="34" charset="0"/>
              <a:buChar char="•"/>
            </a:pPr>
            <a:r>
              <a:rPr lang="en-US" sz="4800" dirty="0" smtClean="0">
                <a:latin typeface="Times New Roman" panose="02020603050405020304" pitchFamily="18" charset="0"/>
                <a:cs typeface="Times New Roman" panose="02020603050405020304" pitchFamily="18" charset="0"/>
              </a:rPr>
              <a:t>You get </a:t>
            </a:r>
            <a:r>
              <a:rPr lang="en-US" sz="4800" b="1" i="1" dirty="0" smtClean="0">
                <a:solidFill>
                  <a:srgbClr val="008000"/>
                </a:solidFill>
                <a:latin typeface="Times New Roman" panose="02020603050405020304" pitchFamily="18" charset="0"/>
                <a:cs typeface="Times New Roman" panose="02020603050405020304" pitchFamily="18" charset="0"/>
              </a:rPr>
              <a:t>dynamic</a:t>
            </a:r>
            <a:r>
              <a:rPr lang="en-US" sz="4800" b="1" i="1" spc="-200" dirty="0" smtClean="0">
                <a:solidFill>
                  <a:srgbClr val="008000"/>
                </a:solidFill>
                <a:latin typeface="Times New Roman" panose="02020603050405020304" pitchFamily="18" charset="0"/>
                <a:cs typeface="Times New Roman" panose="02020603050405020304" pitchFamily="18" charset="0"/>
              </a:rPr>
              <a:t> </a:t>
            </a:r>
            <a:r>
              <a:rPr lang="en-US" sz="4800" b="1" i="1" spc="-300" dirty="0" smtClean="0">
                <a:solidFill>
                  <a:srgbClr val="008000"/>
                </a:solidFill>
                <a:latin typeface="Times New Roman" panose="02020603050405020304" pitchFamily="18" charset="0"/>
                <a:cs typeface="Times New Roman" panose="02020603050405020304" pitchFamily="18" charset="0"/>
              </a:rPr>
              <a:t>(</a:t>
            </a:r>
            <a:r>
              <a:rPr lang="zh-TW" altLang="en-US" sz="4300" b="1" i="1" spc="100" dirty="0">
                <a:solidFill>
                  <a:srgbClr val="008000"/>
                </a:solidFill>
                <a:latin typeface="Times New Roman" panose="02020603050405020304" pitchFamily="18" charset="0"/>
                <a:cs typeface="Times New Roman" panose="02020603050405020304" pitchFamily="18" charset="0"/>
              </a:rPr>
              <a:t>動態</a:t>
            </a:r>
            <a:r>
              <a:rPr lang="zh-TW" altLang="en-US" sz="4300" b="1" i="1" spc="400" dirty="0">
                <a:solidFill>
                  <a:srgbClr val="008000"/>
                </a:solidFill>
                <a:latin typeface="Times New Roman" panose="02020603050405020304" pitchFamily="18" charset="0"/>
                <a:cs typeface="Times New Roman" panose="02020603050405020304" pitchFamily="18" charset="0"/>
              </a:rPr>
              <a:t>的</a:t>
            </a:r>
            <a:r>
              <a:rPr lang="en-US" sz="4800" b="1" i="1" dirty="0" smtClean="0">
                <a:solidFill>
                  <a:srgbClr val="008000"/>
                </a:solidFill>
                <a:latin typeface="Times New Roman" panose="02020603050405020304" pitchFamily="18" charset="0"/>
                <a:cs typeface="Times New Roman" panose="02020603050405020304" pitchFamily="18" charset="0"/>
              </a:rPr>
              <a:t>) </a:t>
            </a:r>
            <a:r>
              <a:rPr lang="en-US" sz="4800" b="1" i="1" dirty="0">
                <a:solidFill>
                  <a:srgbClr val="008000"/>
                </a:solidFill>
                <a:latin typeface="Times New Roman" panose="02020603050405020304" pitchFamily="18" charset="0"/>
                <a:cs typeface="Times New Roman" panose="02020603050405020304" pitchFamily="18" charset="0"/>
              </a:rPr>
              <a:t>type binding</a:t>
            </a:r>
            <a:r>
              <a:rPr lang="en-US" sz="4800" b="1" dirty="0">
                <a:solidFill>
                  <a:srgbClr val="008000"/>
                </a:solidFill>
                <a:latin typeface="Times New Roman" panose="02020603050405020304" pitchFamily="18" charset="0"/>
                <a:cs typeface="Times New Roman" panose="02020603050405020304" pitchFamily="18" charset="0"/>
              </a:rPr>
              <a:t> </a:t>
            </a:r>
            <a:r>
              <a:rPr lang="en-US" sz="4800" dirty="0">
                <a:latin typeface="Times New Roman" panose="02020603050405020304" pitchFamily="18" charset="0"/>
                <a:cs typeface="Times New Roman" panose="02020603050405020304" pitchFamily="18" charset="0"/>
              </a:rPr>
              <a:t>while still guaranteeing </a:t>
            </a:r>
            <a:r>
              <a:rPr lang="en-US" sz="4800" b="1" i="1" dirty="0" smtClean="0">
                <a:solidFill>
                  <a:schemeClr val="accent4">
                    <a:lumMod val="75000"/>
                  </a:schemeClr>
                </a:solidFill>
                <a:latin typeface="Times New Roman" panose="02020603050405020304" pitchFamily="18" charset="0"/>
                <a:cs typeface="Times New Roman" panose="02020603050405020304" pitchFamily="18" charset="0"/>
              </a:rPr>
              <a:t>strong typing</a:t>
            </a:r>
            <a:r>
              <a:rPr lang="en-US" sz="4800" dirty="0" smtClean="0">
                <a:latin typeface="Times New Roman" panose="02020603050405020304" pitchFamily="18" charset="0"/>
                <a:cs typeface="Times New Roman" panose="02020603050405020304" pitchFamily="18" charset="0"/>
              </a:rPr>
              <a:t>.</a:t>
            </a:r>
            <a:endParaRPr lang="en-US" sz="4800" b="1" i="1" dirty="0">
              <a:solidFill>
                <a:schemeClr val="accent4">
                  <a:lumMod val="75000"/>
                </a:schemeClr>
              </a:solidFill>
              <a:latin typeface="Times New Roman" panose="02020603050405020304" pitchFamily="18" charset="0"/>
              <a:cs typeface="Times New Roman" panose="02020603050405020304" pitchFamily="18" charset="0"/>
            </a:endParaRPr>
          </a:p>
          <a:p>
            <a:pPr marL="852488" lvl="1" indent="-390525">
              <a:buFont typeface="Arial" panose="020B0604020202020204" pitchFamily="34" charset="0"/>
              <a:buChar char="•"/>
            </a:pPr>
            <a:r>
              <a:rPr lang="en-US" sz="4400" dirty="0">
                <a:solidFill>
                  <a:srgbClr val="FF0000"/>
                </a:solidFill>
                <a:latin typeface="Times New Roman" panose="02020603050405020304" pitchFamily="18" charset="0"/>
                <a:cs typeface="Times New Roman" panose="02020603050405020304" pitchFamily="18" charset="0"/>
              </a:rPr>
              <a:t>But what does that mean? </a:t>
            </a:r>
            <a:endParaRPr lang="en-US" sz="4400" dirty="0" smtClean="0">
              <a:solidFill>
                <a:srgbClr val="FF0000"/>
              </a:solidFill>
              <a:latin typeface="Times New Roman" panose="02020603050405020304" pitchFamily="18" charset="0"/>
              <a:cs typeface="Times New Roman" panose="02020603050405020304" pitchFamily="18" charset="0"/>
            </a:endParaRPr>
          </a:p>
          <a:p>
            <a:pPr marL="852488" lvl="1" indent="-390525">
              <a:buFont typeface="Arial" panose="020B0604020202020204" pitchFamily="34" charset="0"/>
              <a:buChar char="•"/>
            </a:pPr>
            <a:r>
              <a:rPr lang="en-US" sz="4400" dirty="0" smtClean="0">
                <a:solidFill>
                  <a:srgbClr val="FF0000"/>
                </a:solidFill>
                <a:latin typeface="Times New Roman" panose="02020603050405020304" pitchFamily="18" charset="0"/>
                <a:cs typeface="Times New Roman" panose="02020603050405020304" pitchFamily="18" charset="0"/>
              </a:rPr>
              <a:t>Well</a:t>
            </a:r>
            <a:r>
              <a:rPr lang="en-US" sz="4400" dirty="0">
                <a:solidFill>
                  <a:srgbClr val="FF0000"/>
                </a:solidFill>
                <a:latin typeface="Times New Roman" panose="02020603050405020304" pitchFamily="18" charset="0"/>
                <a:cs typeface="Times New Roman" panose="02020603050405020304" pitchFamily="18" charset="0"/>
              </a:rPr>
              <a:t>, an example can illustrate it...</a:t>
            </a:r>
          </a:p>
        </p:txBody>
      </p:sp>
      <p:sp>
        <p:nvSpPr>
          <p:cNvPr id="42" name="Title 1"/>
          <p:cNvSpPr>
            <a:spLocks noGrp="1"/>
          </p:cNvSpPr>
          <p:nvPr>
            <p:ph type="title"/>
          </p:nvPr>
        </p:nvSpPr>
        <p:spPr>
          <a:xfrm>
            <a:off x="0" y="-3841"/>
            <a:ext cx="9729788" cy="1747310"/>
          </a:xfrm>
          <a:solidFill>
            <a:schemeClr val="bg1"/>
          </a:solidFill>
        </p:spPr>
        <p:txBody>
          <a:bodyPr>
            <a:normAutofit/>
          </a:bodyPr>
          <a:lstStyle/>
          <a:p>
            <a:pPr algn="ct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Python takes the idea of objects </a:t>
            </a:r>
            <a:r>
              <a:rPr lang="en-US" sz="5400" b="1" spc="-100" dirty="0" smtClean="0">
                <a:solidFill>
                  <a:schemeClr val="accent1">
                    <a:lumMod val="75000"/>
                  </a:schemeClr>
                </a:solidFill>
                <a:latin typeface="Times New Roman" panose="02020603050405020304" pitchFamily="18" charset="0"/>
                <a:cs typeface="Times New Roman" panose="02020603050405020304" pitchFamily="18" charset="0"/>
              </a:rPr>
              <a:t> to </a:t>
            </a: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its limit: </a:t>
            </a:r>
            <a:r>
              <a:rPr lang="en-US" sz="5400" b="1" i="1" spc="-100" dirty="0">
                <a:solidFill>
                  <a:schemeClr val="accent1">
                    <a:lumMod val="75000"/>
                  </a:schemeClr>
                </a:solidFill>
                <a:latin typeface="Times New Roman" panose="02020603050405020304" pitchFamily="18" charset="0"/>
                <a:cs typeface="Times New Roman" panose="02020603050405020304" pitchFamily="18" charset="0"/>
              </a:rPr>
              <a:t>everything</a:t>
            </a: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 is an object</a:t>
            </a:r>
          </a:p>
        </p:txBody>
      </p:sp>
    </p:spTree>
    <p:extLst>
      <p:ext uri="{BB962C8B-B14F-4D97-AF65-F5344CB8AC3E}">
        <p14:creationId xmlns:p14="http://schemas.microsoft.com/office/powerpoint/2010/main" val="401370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randombar(horizont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randombar(horizontal)">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5">
                                            <p:txEl>
                                              <p:pRg st="3" end="3"/>
                                            </p:txEl>
                                          </p:spTgt>
                                        </p:tgtEl>
                                        <p:attrNameLst>
                                          <p:attrName>style.visibility</p:attrName>
                                        </p:attrNameLst>
                                      </p:cBhvr>
                                      <p:to>
                                        <p:strVal val="visible"/>
                                      </p:to>
                                    </p:set>
                                    <p:animEffect transition="in" filter="randombar(horizontal)">
                                      <p:cBhvr>
                                        <p:cTn id="17" dur="500"/>
                                        <p:tgtEl>
                                          <p:spTgt spid="15">
                                            <p:txEl>
                                              <p:pRg st="3" end="3"/>
                                            </p:txEl>
                                          </p:spTgt>
                                        </p:tgtEl>
                                      </p:cBhvr>
                                    </p:animEffect>
                                  </p:childTnLst>
                                  <p:subTnLst>
                                    <p:animClr clrSpc="rgb" dir="cw">
                                      <p:cBhvr override="childStyle">
                                        <p:cTn dur="1" fill="hold" display="0" masterRel="nextClick" afterEffect="1"/>
                                        <p:tgtEl>
                                          <p:spTgt spid="15">
                                            <p:txEl>
                                              <p:pRg st="3" end="3"/>
                                            </p:txEl>
                                          </p:spTgt>
                                        </p:tgtEl>
                                        <p:attrNameLst>
                                          <p:attrName>ppt_c</p:attrName>
                                        </p:attrNameLst>
                                      </p:cBhvr>
                                      <p:to>
                                        <a:schemeClr val="tx1"/>
                                      </p:to>
                                    </p:animClr>
                                  </p:sub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5">
                                            <p:txEl>
                                              <p:pRg st="4" end="4"/>
                                            </p:txEl>
                                          </p:spTgt>
                                        </p:tgtEl>
                                        <p:attrNameLst>
                                          <p:attrName>style.visibility</p:attrName>
                                        </p:attrNameLst>
                                      </p:cBhvr>
                                      <p:to>
                                        <p:strVal val="visible"/>
                                      </p:to>
                                    </p:set>
                                    <p:animEffect transition="in" filter="randombar(horizontal)">
                                      <p:cBhvr>
                                        <p:cTn id="22"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2594" y="1588169"/>
            <a:ext cx="9727194"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p:cNvSpPr>
            <a:spLocks noGrp="1"/>
          </p:cNvSpPr>
          <p:nvPr>
            <p:ph type="title"/>
          </p:nvPr>
        </p:nvSpPr>
        <p:spPr>
          <a:xfrm>
            <a:off x="-392906" y="-3841"/>
            <a:ext cx="10515600" cy="1592010"/>
          </a:xfrm>
          <a:solidFill>
            <a:schemeClr val="bg1"/>
          </a:solidFill>
        </p:spPr>
        <p:txBody>
          <a:bodyPr>
            <a:normAutofit/>
          </a:bodyPr>
          <a:lstStyle/>
          <a:p>
            <a:pPr algn="ctr"/>
            <a:r>
              <a:rPr lang="en-US" sz="5400" b="1" dirty="0">
                <a:solidFill>
                  <a:schemeClr val="accent1">
                    <a:lumMod val="75000"/>
                  </a:schemeClr>
                </a:solidFill>
                <a:latin typeface="Times New Roman" panose="02020603050405020304" pitchFamily="18" charset="0"/>
                <a:cs typeface="Times New Roman" panose="02020603050405020304" pitchFamily="18" charset="0"/>
              </a:rPr>
              <a:t>Dynamic Type Binding </a:t>
            </a:r>
            <a:br>
              <a:rPr lang="en-US" sz="5400" b="1" dirty="0">
                <a:solidFill>
                  <a:schemeClr val="accent1">
                    <a:lumMod val="75000"/>
                  </a:schemeClr>
                </a:solidFill>
                <a:latin typeface="Times New Roman" panose="02020603050405020304" pitchFamily="18" charset="0"/>
                <a:cs typeface="Times New Roman" panose="02020603050405020304" pitchFamily="18" charset="0"/>
              </a:rPr>
            </a:br>
            <a:r>
              <a:rPr lang="en-US" sz="5400" b="1" dirty="0">
                <a:solidFill>
                  <a:schemeClr val="accent1">
                    <a:lumMod val="75000"/>
                  </a:schemeClr>
                </a:solidFill>
                <a:latin typeface="Times New Roman" panose="02020603050405020304" pitchFamily="18" charset="0"/>
                <a:cs typeface="Times New Roman" panose="02020603050405020304" pitchFamily="18" charset="0"/>
              </a:rPr>
              <a:t>with Strong Typing?</a:t>
            </a:r>
          </a:p>
        </p:txBody>
      </p:sp>
      <p:sp>
        <p:nvSpPr>
          <p:cNvPr id="4" name="Rectangle 3"/>
          <p:cNvSpPr/>
          <p:nvPr/>
        </p:nvSpPr>
        <p:spPr>
          <a:xfrm>
            <a:off x="337874"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solidFill>
                <a:latin typeface="Lucida Console" panose="020B0609040504020204" pitchFamily="49" charset="0"/>
                <a:cs typeface="Consolas" panose="020B0609020204030204" pitchFamily="49" charset="0"/>
              </a:rPr>
              <a:t>% python3</a:t>
            </a:r>
          </a:p>
          <a:p>
            <a:r>
              <a:rPr lang="en-US" sz="2200" dirty="0">
                <a:solidFill>
                  <a:schemeClr val="bg1"/>
                </a:solidFill>
                <a:latin typeface="Lucida Console" panose="020B0609040504020204" pitchFamily="49" charset="0"/>
                <a:cs typeface="Consolas" panose="020B0609020204030204" pitchFamily="49" charset="0"/>
              </a:rPr>
              <a:t>Python 3.6.1 (default, Mar 21 2017, 21:49:16)</a:t>
            </a:r>
          </a:p>
          <a:p>
            <a:r>
              <a:rPr lang="en-US" sz="2200" dirty="0">
                <a:solidFill>
                  <a:schemeClr val="bg1"/>
                </a:solidFill>
                <a:latin typeface="Lucida Console" panose="020B0609040504020204" pitchFamily="49" charset="0"/>
                <a:cs typeface="Consolas" panose="020B0609020204030204" pitchFamily="49" charset="0"/>
              </a:rPr>
              <a:t>[GCC 5.4.0] on </a:t>
            </a:r>
            <a:r>
              <a:rPr lang="en-US" sz="2200" dirty="0" err="1">
                <a:solidFill>
                  <a:schemeClr val="bg1"/>
                </a:solidFill>
                <a:latin typeface="Lucida Console" panose="020B0609040504020204" pitchFamily="49" charset="0"/>
                <a:cs typeface="Consolas" panose="020B0609020204030204" pitchFamily="49" charset="0"/>
              </a:rPr>
              <a:t>cygwin</a:t>
            </a:r>
            <a:endParaRPr lang="en-US"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solidFill>
                <a:latin typeface="Lucida Console" panose="020B0609040504020204" pitchFamily="49" charset="0"/>
                <a:cs typeface="Consolas" panose="020B0609020204030204" pitchFamily="49" charset="0"/>
              </a:rPr>
              <a:t>more.</a:t>
            </a:r>
            <a:endParaRPr lang="en-US"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&gt;&gt;&gt; x=5</a:t>
            </a:r>
          </a:p>
          <a:p>
            <a:r>
              <a:rPr lang="en-US" sz="2200" dirty="0">
                <a:solidFill>
                  <a:schemeClr val="bg1"/>
                </a:solidFill>
                <a:latin typeface="Lucida Console" panose="020B0609040504020204" pitchFamily="49" charset="0"/>
                <a:cs typeface="Consolas" panose="020B0609020204030204" pitchFamily="49" charset="0"/>
              </a:rPr>
              <a:t>&gt;&gt;&gt; print (x, x+1)</a:t>
            </a:r>
          </a:p>
          <a:p>
            <a:r>
              <a:rPr lang="en-US" sz="2200" dirty="0">
                <a:solidFill>
                  <a:schemeClr val="bg1"/>
                </a:solidFill>
                <a:latin typeface="Lucida Console" panose="020B0609040504020204" pitchFamily="49" charset="0"/>
                <a:cs typeface="Consolas" panose="020B0609020204030204" pitchFamily="49" charset="0"/>
              </a:rPr>
              <a:t>5 6</a:t>
            </a:r>
          </a:p>
          <a:p>
            <a:r>
              <a:rPr lang="en-US" sz="2200" dirty="0">
                <a:solidFill>
                  <a:schemeClr val="bg1"/>
                </a:solidFill>
                <a:latin typeface="Lucida Console" panose="020B0609040504020204" pitchFamily="49" charset="0"/>
                <a:cs typeface="Consolas" panose="020B0609020204030204" pitchFamily="49" charset="0"/>
              </a:rPr>
              <a:t>&gt;&gt;&gt; </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"&lt;&gt;", </a:t>
            </a:r>
            <a:r>
              <a:rPr lang="en-US" sz="2200" dirty="0">
                <a:solidFill>
                  <a:schemeClr val="tx1"/>
                </a:solidFill>
                <a:latin typeface="Lucida Console" panose="020B0609040504020204" pitchFamily="49" charset="0"/>
                <a:cs typeface="Consolas" panose="020B0609020204030204" pitchFamily="49" charset="0"/>
              </a:rPr>
              <a:t>line 1, in &lt;module</a:t>
            </a:r>
            <a:r>
              <a:rPr lang="en-US" sz="2200" dirty="0" smtClean="0">
                <a:solidFill>
                  <a:schemeClr val="tx1"/>
                </a:solidFill>
                <a:latin typeface="Lucida Console" panose="020B0609040504020204" pitchFamily="49" charset="0"/>
                <a:cs typeface="Consolas" panose="020B0609020204030204" pitchFamily="49" charset="0"/>
              </a:rPr>
              <a:t>&gt;</a:t>
            </a:r>
          </a:p>
          <a:p>
            <a:endParaRPr lang="en-US" sz="2200" dirty="0">
              <a:solidFill>
                <a:schemeClr val="tx1"/>
              </a:solidFill>
              <a:latin typeface="Lucida Console" panose="020B0609040504020204" pitchFamily="49" charset="0"/>
              <a:cs typeface="Consolas" panose="020B0609020204030204" pitchFamily="49" charset="0"/>
            </a:endParaRP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and </a:t>
            </a:r>
            <a:r>
              <a:rPr lang="en-US" sz="2200" dirty="0" smtClean="0">
                <a:solidFill>
                  <a:schemeClr val="tx1"/>
                </a:solidFill>
                <a:latin typeface="Lucida Console" panose="020B0609040504020204" pitchFamily="49" charset="0"/>
                <a:cs typeface="Consolas" panose="020B0609020204030204" pitchFamily="49" charset="0"/>
              </a:rPr>
              <a:t>'&gt;&gt;&gt;</a:t>
            </a:r>
            <a:endParaRPr lang="en-US" sz="2200" dirty="0">
              <a:solidFill>
                <a:schemeClr val="tx1"/>
              </a:solidFill>
              <a:latin typeface="Lucida Console" panose="020B0609040504020204" pitchFamily="49" charset="0"/>
              <a:cs typeface="Consolas" panose="020B0609020204030204" pitchFamily="49" charset="0"/>
            </a:endParaRPr>
          </a:p>
        </p:txBody>
      </p:sp>
      <p:cxnSp>
        <p:nvCxnSpPr>
          <p:cNvPr id="5" name="Straight Connector 4"/>
          <p:cNvCxnSpPr/>
          <p:nvPr/>
        </p:nvCxnSpPr>
        <p:spPr>
          <a:xfrm>
            <a:off x="1042112" y="4238466"/>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811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2598" y="1588169"/>
            <a:ext cx="9727190"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p:cNvSpPr>
            <a:spLocks noGrp="1"/>
          </p:cNvSpPr>
          <p:nvPr>
            <p:ph type="title"/>
          </p:nvPr>
        </p:nvSpPr>
        <p:spPr>
          <a:xfrm>
            <a:off x="-392906" y="-3841"/>
            <a:ext cx="10515600" cy="1592010"/>
          </a:xfrm>
          <a:solidFill>
            <a:schemeClr val="bg1"/>
          </a:solidFill>
        </p:spPr>
        <p:txBody>
          <a:bodyPr>
            <a:normAutofit/>
          </a:bodyPr>
          <a:lstStyle/>
          <a:p>
            <a:pPr algn="ctr"/>
            <a:r>
              <a:rPr lang="en-US" sz="5400" b="1" dirty="0">
                <a:solidFill>
                  <a:schemeClr val="accent1">
                    <a:lumMod val="75000"/>
                  </a:schemeClr>
                </a:solidFill>
                <a:latin typeface="Times New Roman" panose="02020603050405020304" pitchFamily="18" charset="0"/>
                <a:cs typeface="Times New Roman" panose="02020603050405020304" pitchFamily="18" charset="0"/>
              </a:rPr>
              <a:t>Dynamic Type Binding </a:t>
            </a:r>
            <a:br>
              <a:rPr lang="en-US" sz="5400" b="1" dirty="0">
                <a:solidFill>
                  <a:schemeClr val="accent1">
                    <a:lumMod val="75000"/>
                  </a:schemeClr>
                </a:solidFill>
                <a:latin typeface="Times New Roman" panose="02020603050405020304" pitchFamily="18" charset="0"/>
                <a:cs typeface="Times New Roman" panose="02020603050405020304" pitchFamily="18" charset="0"/>
              </a:rPr>
            </a:br>
            <a:r>
              <a:rPr lang="en-US" sz="5400" b="1" dirty="0">
                <a:solidFill>
                  <a:schemeClr val="accent1">
                    <a:lumMod val="75000"/>
                  </a:schemeClr>
                </a:solidFill>
                <a:latin typeface="Times New Roman" panose="02020603050405020304" pitchFamily="18" charset="0"/>
                <a:cs typeface="Times New Roman" panose="02020603050405020304" pitchFamily="18" charset="0"/>
              </a:rPr>
              <a:t>with Strong Typing?</a:t>
            </a:r>
          </a:p>
        </p:txBody>
      </p:sp>
      <p:sp>
        <p:nvSpPr>
          <p:cNvPr id="4" name="Rectangle 3"/>
          <p:cNvSpPr/>
          <p:nvPr/>
        </p:nvSpPr>
        <p:spPr>
          <a:xfrm>
            <a:off x="337878"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a:solidFill>
                  <a:schemeClr val="bg1"/>
                </a:solidFill>
                <a:latin typeface="Lucida Console" panose="020B0609040504020204" pitchFamily="49" charset="0"/>
                <a:cs typeface="Consolas" panose="020B0609020204030204" pitchFamily="49" charset="0"/>
              </a:rPr>
              <a:t>% python3</a:t>
            </a:r>
          </a:p>
          <a:p>
            <a:r>
              <a:rPr lang="en-US" altLang="zh-TW" sz="2200" dirty="0">
                <a:solidFill>
                  <a:schemeClr val="bg1"/>
                </a:solidFill>
                <a:latin typeface="Lucida Console" panose="020B0609040504020204" pitchFamily="49" charset="0"/>
                <a:cs typeface="Consolas" panose="020B0609020204030204" pitchFamily="49" charset="0"/>
              </a:rPr>
              <a:t>Python 3.6.1 (default, Mar 21 2017, 21:49:16)</a:t>
            </a:r>
          </a:p>
          <a:p>
            <a:r>
              <a:rPr lang="en-US" altLang="zh-TW" sz="2200" dirty="0">
                <a:solidFill>
                  <a:schemeClr val="bg1"/>
                </a:solidFill>
                <a:latin typeface="Lucida Console" panose="020B0609040504020204" pitchFamily="49" charset="0"/>
                <a:cs typeface="Consolas" panose="020B0609020204030204" pitchFamily="49" charset="0"/>
              </a:rPr>
              <a:t>[GCC 5.4.0] on </a:t>
            </a:r>
            <a:r>
              <a:rPr lang="en-US" altLang="zh-TW" sz="2200" dirty="0" err="1">
                <a:solidFill>
                  <a:schemeClr val="bg1"/>
                </a:solidFill>
                <a:latin typeface="Lucida Console" panose="020B0609040504020204" pitchFamily="49" charset="0"/>
                <a:cs typeface="Consolas" panose="020B0609020204030204" pitchFamily="49" charset="0"/>
              </a:rPr>
              <a:t>cygwin</a:t>
            </a:r>
            <a:endParaRPr lang="en-US" altLang="zh-TW"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solidFill>
                <a:latin typeface="Lucida Console" panose="020B0609040504020204" pitchFamily="49" charset="0"/>
                <a:cs typeface="Consolas" panose="020B0609020204030204" pitchFamily="49" charset="0"/>
              </a:rPr>
              <a:t>more.</a:t>
            </a:r>
            <a:endParaRPr lang="en-US"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&gt;&gt;&gt; x=5</a:t>
            </a:r>
          </a:p>
          <a:p>
            <a:r>
              <a:rPr lang="en-US" sz="2200" dirty="0">
                <a:solidFill>
                  <a:schemeClr val="bg1"/>
                </a:solidFill>
                <a:latin typeface="Lucida Console" panose="020B0609040504020204" pitchFamily="49" charset="0"/>
                <a:cs typeface="Consolas" panose="020B0609020204030204" pitchFamily="49" charset="0"/>
              </a:rPr>
              <a:t>&gt;&gt;&gt; print (x, x+1)</a:t>
            </a:r>
          </a:p>
          <a:p>
            <a:r>
              <a:rPr lang="en-US" sz="2200" dirty="0">
                <a:solidFill>
                  <a:schemeClr val="bg1"/>
                </a:solidFill>
                <a:latin typeface="Lucida Console" panose="020B0609040504020204" pitchFamily="49" charset="0"/>
                <a:cs typeface="Consolas" panose="020B0609020204030204" pitchFamily="49" charset="0"/>
              </a:rPr>
              <a:t>5 6</a:t>
            </a:r>
          </a:p>
          <a:p>
            <a:r>
              <a:rPr lang="en-US" sz="2200" dirty="0">
                <a:solidFill>
                  <a:schemeClr val="bg1"/>
                </a:solidFill>
                <a:latin typeface="Lucida Console" panose="020B0609040504020204" pitchFamily="49" charset="0"/>
                <a:cs typeface="Consolas" panose="020B0609020204030204" pitchFamily="49" charset="0"/>
              </a:rPr>
              <a:t>&gt;&gt;&gt; x="pineapple"</a:t>
            </a:r>
          </a:p>
          <a:p>
            <a:r>
              <a:rPr lang="en-US" sz="2200" dirty="0">
                <a:solidFill>
                  <a:schemeClr val="tx1"/>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"&lt;&gt;", </a:t>
            </a:r>
            <a:r>
              <a:rPr lang="en-US" sz="2200" dirty="0">
                <a:solidFill>
                  <a:schemeClr val="tx1"/>
                </a:solidFill>
                <a:latin typeface="Lucida Console" panose="020B0609040504020204" pitchFamily="49" charset="0"/>
                <a:cs typeface="Consolas" panose="020B0609020204030204" pitchFamily="49" charset="0"/>
              </a:rPr>
              <a:t>line 1, in &lt;module&gt;</a:t>
            </a: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and </a:t>
            </a:r>
            <a:r>
              <a:rPr lang="en-US" sz="2200" dirty="0" smtClean="0">
                <a:solidFill>
                  <a:schemeClr val="tx1"/>
                </a:solidFill>
                <a:latin typeface="Lucida Console" panose="020B0609040504020204" pitchFamily="49" charset="0"/>
                <a:cs typeface="Consolas" panose="020B0609020204030204" pitchFamily="49" charset="0"/>
              </a:rPr>
              <a:t>'</a:t>
            </a:r>
            <a:endParaRPr lang="en-US" sz="2200" dirty="0">
              <a:solidFill>
                <a:schemeClr val="tx1"/>
              </a:solidFill>
              <a:latin typeface="Lucida Console" panose="020B0609040504020204" pitchFamily="49" charset="0"/>
              <a:cs typeface="Consolas" panose="020B0609020204030204" pitchFamily="49" charset="0"/>
            </a:endParaRPr>
          </a:p>
          <a:p>
            <a:r>
              <a:rPr lang="en-US" sz="2200" dirty="0">
                <a:solidFill>
                  <a:schemeClr val="tx1"/>
                </a:solidFill>
                <a:latin typeface="Lucida Console" panose="020B0609040504020204" pitchFamily="49" charset="0"/>
                <a:cs typeface="Consolas" panose="020B0609020204030204" pitchFamily="49" charset="0"/>
              </a:rPr>
              <a:t>&gt;&gt;&gt;</a:t>
            </a:r>
          </a:p>
        </p:txBody>
      </p:sp>
      <p:cxnSp>
        <p:nvCxnSpPr>
          <p:cNvPr id="5" name="Straight Connector 4"/>
          <p:cNvCxnSpPr/>
          <p:nvPr/>
        </p:nvCxnSpPr>
        <p:spPr>
          <a:xfrm>
            <a:off x="3377275" y="4238466"/>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ounded Rectangular Callout 5"/>
          <p:cNvSpPr/>
          <p:nvPr/>
        </p:nvSpPr>
        <p:spPr>
          <a:xfrm>
            <a:off x="4218756" y="4702543"/>
            <a:ext cx="5341357" cy="1587644"/>
          </a:xfrm>
          <a:prstGeom prst="wedgeRoundRectCallout">
            <a:avLst>
              <a:gd name="adj1" fmla="val -64132"/>
              <a:gd name="adj2" fmla="val -62931"/>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800" dirty="0">
                <a:solidFill>
                  <a:srgbClr val="0033CC"/>
                </a:solidFill>
              </a:rPr>
              <a:t>Wait a minute! Currently, x=5. </a:t>
            </a:r>
            <a:r>
              <a:rPr lang="en-US" sz="2800" dirty="0" smtClean="0">
                <a:solidFill>
                  <a:srgbClr val="0033CC"/>
                </a:solidFill>
              </a:rPr>
              <a:t/>
            </a:r>
            <a:br>
              <a:rPr lang="en-US" sz="2800" dirty="0" smtClean="0">
                <a:solidFill>
                  <a:srgbClr val="0033CC"/>
                </a:solidFill>
              </a:rPr>
            </a:br>
            <a:r>
              <a:rPr lang="en-US" sz="2800" dirty="0" smtClean="0">
                <a:solidFill>
                  <a:srgbClr val="0033CC"/>
                </a:solidFill>
              </a:rPr>
              <a:t>That </a:t>
            </a:r>
            <a:r>
              <a:rPr lang="en-US" sz="2800" dirty="0">
                <a:solidFill>
                  <a:srgbClr val="0033CC"/>
                </a:solidFill>
              </a:rPr>
              <a:t>means that x is an integer. </a:t>
            </a:r>
            <a:r>
              <a:rPr lang="en-US" sz="2800" spc="-100" dirty="0">
                <a:solidFill>
                  <a:srgbClr val="0033CC"/>
                </a:solidFill>
              </a:rPr>
              <a:t>Ho</a:t>
            </a:r>
            <a:r>
              <a:rPr lang="en-US" sz="2800" spc="-60" dirty="0">
                <a:solidFill>
                  <a:srgbClr val="0033CC"/>
                </a:solidFill>
              </a:rPr>
              <a:t>w </a:t>
            </a:r>
            <a:r>
              <a:rPr lang="en-US" sz="2800" dirty="0">
                <a:solidFill>
                  <a:srgbClr val="0033CC"/>
                </a:solidFill>
              </a:rPr>
              <a:t>t</a:t>
            </a:r>
            <a:r>
              <a:rPr lang="en-US" sz="2800" spc="-60" dirty="0">
                <a:solidFill>
                  <a:srgbClr val="0033CC"/>
                </a:solidFill>
              </a:rPr>
              <a:t>hen can we assign a string to it?</a:t>
            </a:r>
          </a:p>
        </p:txBody>
      </p:sp>
    </p:spTree>
    <p:extLst>
      <p:ext uri="{BB962C8B-B14F-4D97-AF65-F5344CB8AC3E}">
        <p14:creationId xmlns:p14="http://schemas.microsoft.com/office/powerpoint/2010/main" val="627108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2600" y="1588169"/>
            <a:ext cx="9727188"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p:cNvSpPr>
            <a:spLocks noGrp="1"/>
          </p:cNvSpPr>
          <p:nvPr>
            <p:ph type="title"/>
          </p:nvPr>
        </p:nvSpPr>
        <p:spPr>
          <a:xfrm>
            <a:off x="-392906" y="-3841"/>
            <a:ext cx="10515600" cy="1592010"/>
          </a:xfrm>
          <a:solidFill>
            <a:schemeClr val="bg1"/>
          </a:solidFill>
        </p:spPr>
        <p:txBody>
          <a:bodyPr>
            <a:normAutofit/>
          </a:bodyPr>
          <a:lstStyle/>
          <a:p>
            <a:pPr algn="ctr"/>
            <a:r>
              <a:rPr lang="en-US" sz="5400" b="1" dirty="0">
                <a:solidFill>
                  <a:srgbClr val="FF0000"/>
                </a:solidFill>
                <a:latin typeface="Times New Roman" panose="02020603050405020304" pitchFamily="18" charset="0"/>
                <a:cs typeface="Times New Roman" panose="02020603050405020304" pitchFamily="18" charset="0"/>
              </a:rPr>
              <a:t>Dynamic Type Binding </a:t>
            </a:r>
            <a:r>
              <a:rPr lang="en-US" sz="5400" b="1" dirty="0">
                <a:solidFill>
                  <a:schemeClr val="accent1">
                    <a:lumMod val="75000"/>
                  </a:schemeClr>
                </a:solidFill>
                <a:latin typeface="Times New Roman" panose="02020603050405020304" pitchFamily="18" charset="0"/>
                <a:cs typeface="Times New Roman" panose="02020603050405020304" pitchFamily="18" charset="0"/>
              </a:rPr>
              <a:t/>
            </a:r>
            <a:br>
              <a:rPr lang="en-US" sz="5400" b="1" dirty="0">
                <a:solidFill>
                  <a:schemeClr val="accent1">
                    <a:lumMod val="75000"/>
                  </a:schemeClr>
                </a:solidFill>
                <a:latin typeface="Times New Roman" panose="02020603050405020304" pitchFamily="18" charset="0"/>
                <a:cs typeface="Times New Roman" panose="02020603050405020304" pitchFamily="18" charset="0"/>
              </a:rPr>
            </a:br>
            <a:r>
              <a:rPr lang="en-US" sz="5400" b="1" dirty="0">
                <a:solidFill>
                  <a:schemeClr val="accent1">
                    <a:lumMod val="75000"/>
                  </a:schemeClr>
                </a:solidFill>
                <a:latin typeface="Times New Roman" panose="02020603050405020304" pitchFamily="18" charset="0"/>
                <a:cs typeface="Times New Roman" panose="02020603050405020304" pitchFamily="18" charset="0"/>
              </a:rPr>
              <a:t>with Strong Typing?</a:t>
            </a:r>
          </a:p>
        </p:txBody>
      </p:sp>
      <p:sp>
        <p:nvSpPr>
          <p:cNvPr id="4" name="Rectangle 3"/>
          <p:cNvSpPr/>
          <p:nvPr/>
        </p:nvSpPr>
        <p:spPr>
          <a:xfrm>
            <a:off x="337880"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a:solidFill>
                  <a:schemeClr val="bg1"/>
                </a:solidFill>
                <a:latin typeface="Lucida Console" panose="020B0609040504020204" pitchFamily="49" charset="0"/>
                <a:cs typeface="Consolas" panose="020B0609020204030204" pitchFamily="49" charset="0"/>
              </a:rPr>
              <a:t>% python3</a:t>
            </a:r>
          </a:p>
          <a:p>
            <a:r>
              <a:rPr lang="en-US" altLang="zh-TW" sz="2200" dirty="0">
                <a:solidFill>
                  <a:schemeClr val="bg1"/>
                </a:solidFill>
                <a:latin typeface="Lucida Console" panose="020B0609040504020204" pitchFamily="49" charset="0"/>
                <a:cs typeface="Consolas" panose="020B0609020204030204" pitchFamily="49" charset="0"/>
              </a:rPr>
              <a:t>Python 3.6.1 (default, Mar 21 2017, 21:49:16)</a:t>
            </a:r>
          </a:p>
          <a:p>
            <a:r>
              <a:rPr lang="en-US" altLang="zh-TW" sz="2200" dirty="0">
                <a:solidFill>
                  <a:schemeClr val="bg1"/>
                </a:solidFill>
                <a:latin typeface="Lucida Console" panose="020B0609040504020204" pitchFamily="49" charset="0"/>
                <a:cs typeface="Consolas" panose="020B0609020204030204" pitchFamily="49" charset="0"/>
              </a:rPr>
              <a:t>[GCC 5.4.0] on </a:t>
            </a:r>
            <a:r>
              <a:rPr lang="en-US" altLang="zh-TW" sz="2200" dirty="0" err="1">
                <a:solidFill>
                  <a:schemeClr val="bg1"/>
                </a:solidFill>
                <a:latin typeface="Lucida Console" panose="020B0609040504020204" pitchFamily="49" charset="0"/>
                <a:cs typeface="Consolas" panose="020B0609020204030204" pitchFamily="49" charset="0"/>
              </a:rPr>
              <a:t>cygwin</a:t>
            </a:r>
            <a:endParaRPr lang="en-US" altLang="zh-TW"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solidFill>
                <a:latin typeface="Lucida Console" panose="020B0609040504020204" pitchFamily="49" charset="0"/>
                <a:cs typeface="Consolas" panose="020B0609020204030204" pitchFamily="49" charset="0"/>
              </a:rPr>
              <a:t>more.</a:t>
            </a:r>
            <a:endParaRPr lang="en-US"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&gt;&gt;&gt; x=5</a:t>
            </a:r>
          </a:p>
          <a:p>
            <a:r>
              <a:rPr lang="en-US" sz="2200" dirty="0">
                <a:solidFill>
                  <a:schemeClr val="bg1"/>
                </a:solidFill>
                <a:latin typeface="Lucida Console" panose="020B0609040504020204" pitchFamily="49" charset="0"/>
                <a:cs typeface="Consolas" panose="020B0609020204030204" pitchFamily="49" charset="0"/>
              </a:rPr>
              <a:t>&gt;&gt;&gt; print (x, x+1)</a:t>
            </a:r>
          </a:p>
          <a:p>
            <a:r>
              <a:rPr lang="en-US" sz="2200" dirty="0">
                <a:solidFill>
                  <a:schemeClr val="bg1"/>
                </a:solidFill>
                <a:latin typeface="Lucida Console" panose="020B0609040504020204" pitchFamily="49" charset="0"/>
                <a:cs typeface="Consolas" panose="020B0609020204030204" pitchFamily="49" charset="0"/>
              </a:rPr>
              <a:t>5 6</a:t>
            </a:r>
          </a:p>
          <a:p>
            <a:r>
              <a:rPr lang="en-US" sz="2200" dirty="0">
                <a:solidFill>
                  <a:schemeClr val="bg1"/>
                </a:solidFill>
                <a:latin typeface="Lucida Console" panose="020B0609040504020204" pitchFamily="49" charset="0"/>
                <a:cs typeface="Consolas" panose="020B0609020204030204" pitchFamily="49" charset="0"/>
              </a:rPr>
              <a:t>&gt;&gt;&gt; x</a:t>
            </a:r>
            <a:r>
              <a:rPr lang="en-US" sz="2200" dirty="0">
                <a:solidFill>
                  <a:schemeClr val="bg1">
                    <a:lumMod val="95000"/>
                  </a:schemeClr>
                </a:solidFill>
                <a:latin typeface="Lucida Console" panose="020B0609040504020204" pitchFamily="49" charset="0"/>
                <a:cs typeface="Consolas" panose="020B0609020204030204" pitchFamily="49" charset="0"/>
              </a:rPr>
              <a:t>="pineapple"</a:t>
            </a:r>
          </a:p>
          <a:p>
            <a:r>
              <a:rPr lang="en-US" sz="2200" dirty="0">
                <a:solidFill>
                  <a:schemeClr val="bg1">
                    <a:lumMod val="95000"/>
                  </a:schemeClr>
                </a:solidFill>
                <a:latin typeface="Lucida Console" panose="020B0609040504020204" pitchFamily="49" charset="0"/>
                <a:cs typeface="Consolas" panose="020B0609020204030204" pitchFamily="49" charset="0"/>
              </a:rPr>
              <a:t>&gt;&gt;&gt; </a:t>
            </a:r>
            <a:r>
              <a:rPr lang="en-US" sz="2200" dirty="0">
                <a:solidFill>
                  <a:schemeClr val="tx1"/>
                </a:solidFill>
                <a:latin typeface="Lucida Console" panose="020B0609040504020204" pitchFamily="49" charset="0"/>
                <a:cs typeface="Consolas" panose="020B0609020204030204" pitchFamily="49" charset="0"/>
              </a:rPr>
              <a:t>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k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"&lt;din</a:t>
            </a:r>
            <a:r>
              <a:rPr lang="en-US" sz="2200" dirty="0">
                <a:solidFill>
                  <a:schemeClr val="tx1"/>
                </a:solidFill>
                <a:latin typeface="Lucida Console" panose="020B0609040504020204" pitchFamily="49" charset="0"/>
                <a:cs typeface="Consolas" panose="020B0609020204030204" pitchFamily="49" charset="0"/>
              </a:rPr>
              <a:t>&gt;", line 1, in &lt;module&gt;</a:t>
            </a: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err="1">
                <a:solidFill>
                  <a:schemeClr val="tx1"/>
                </a:solidFill>
                <a:latin typeface="Lucida Console" panose="020B0609040504020204" pitchFamily="49" charset="0"/>
                <a:cs typeface="Consolas" panose="020B0609020204030204" pitchFamily="49" charset="0"/>
              </a:rPr>
              <a:t>str</a:t>
            </a:r>
            <a:r>
              <a:rPr lang="en-US" sz="2200" dirty="0">
                <a:solidFill>
                  <a:schemeClr val="tx1"/>
                </a:solidFill>
                <a:latin typeface="Lucida Console" panose="020B0609040504020204" pitchFamily="49" charset="0"/>
                <a:cs typeface="Consolas" panose="020B0609020204030204" pitchFamily="49" charset="0"/>
              </a:rPr>
              <a:t>' and 'int' </a:t>
            </a:r>
          </a:p>
          <a:p>
            <a:r>
              <a:rPr lang="en-US" sz="2200" dirty="0">
                <a:solidFill>
                  <a:schemeClr val="tx1"/>
                </a:solidFill>
                <a:latin typeface="Lucida Console" panose="020B0609040504020204" pitchFamily="49" charset="0"/>
                <a:cs typeface="Consolas" panose="020B0609020204030204" pitchFamily="49" charset="0"/>
              </a:rPr>
              <a:t>&gt;&gt;&gt;</a:t>
            </a:r>
          </a:p>
        </p:txBody>
      </p:sp>
      <p:cxnSp>
        <p:nvCxnSpPr>
          <p:cNvPr id="5" name="Straight Connector 4"/>
          <p:cNvCxnSpPr/>
          <p:nvPr/>
        </p:nvCxnSpPr>
        <p:spPr>
          <a:xfrm>
            <a:off x="1034127" y="4574725"/>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ounded Rectangular Callout 5"/>
          <p:cNvSpPr/>
          <p:nvPr/>
        </p:nvSpPr>
        <p:spPr>
          <a:xfrm>
            <a:off x="2101252" y="4910340"/>
            <a:ext cx="5364279" cy="1490460"/>
          </a:xfrm>
          <a:prstGeom prst="wedgeRoundRectCallout">
            <a:avLst>
              <a:gd name="adj1" fmla="val -67629"/>
              <a:gd name="adj2" fmla="val -57357"/>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But, there was no error message. So x can change its type. In other words: </a:t>
            </a:r>
            <a:r>
              <a:rPr lang="en-US" sz="2800" dirty="0">
                <a:solidFill>
                  <a:srgbClr val="FF0000"/>
                </a:solidFill>
              </a:rPr>
              <a:t>dynamic type binding</a:t>
            </a:r>
            <a:r>
              <a:rPr lang="en-US" sz="2800" dirty="0">
                <a:solidFill>
                  <a:srgbClr val="0033CC"/>
                </a:solidFill>
              </a:rPr>
              <a:t>. </a:t>
            </a:r>
          </a:p>
        </p:txBody>
      </p:sp>
    </p:spTree>
    <p:extLst>
      <p:ext uri="{BB962C8B-B14F-4D97-AF65-F5344CB8AC3E}">
        <p14:creationId xmlns:p14="http://schemas.microsoft.com/office/powerpoint/2010/main" val="131518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grpId="1" nodeType="clickEffect">
                                  <p:stCondLst>
                                    <p:cond delay="0"/>
                                  </p:stCondLst>
                                  <p:childTnLst>
                                    <p:animEffect transition="out" filter="randombar(horizontal)">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2601" y="1588169"/>
            <a:ext cx="9727188"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p:cNvSpPr>
            <a:spLocks noGrp="1"/>
          </p:cNvSpPr>
          <p:nvPr>
            <p:ph type="title"/>
          </p:nvPr>
        </p:nvSpPr>
        <p:spPr>
          <a:xfrm>
            <a:off x="-392906" y="-3841"/>
            <a:ext cx="10515600" cy="1592010"/>
          </a:xfrm>
          <a:solidFill>
            <a:schemeClr val="bg1"/>
          </a:solidFill>
        </p:spPr>
        <p:txBody>
          <a:bodyPr>
            <a:normAutofit/>
          </a:bodyPr>
          <a:lstStyle/>
          <a:p>
            <a:pPr algn="ctr"/>
            <a:r>
              <a:rPr lang="en-US" sz="5400" b="1" dirty="0">
                <a:solidFill>
                  <a:schemeClr val="accent1">
                    <a:lumMod val="75000"/>
                  </a:schemeClr>
                </a:solidFill>
                <a:latin typeface="Times New Roman" panose="02020603050405020304" pitchFamily="18" charset="0"/>
                <a:cs typeface="Times New Roman" panose="02020603050405020304" pitchFamily="18" charset="0"/>
              </a:rPr>
              <a:t>Dynamic Type Binding </a:t>
            </a:r>
            <a:br>
              <a:rPr lang="en-US" sz="5400" b="1" dirty="0">
                <a:solidFill>
                  <a:schemeClr val="accent1">
                    <a:lumMod val="75000"/>
                  </a:schemeClr>
                </a:solidFill>
                <a:latin typeface="Times New Roman" panose="02020603050405020304" pitchFamily="18" charset="0"/>
                <a:cs typeface="Times New Roman" panose="02020603050405020304" pitchFamily="18" charset="0"/>
              </a:rPr>
            </a:br>
            <a:r>
              <a:rPr lang="en-US" sz="5400" b="1" dirty="0">
                <a:solidFill>
                  <a:schemeClr val="accent1">
                    <a:lumMod val="75000"/>
                  </a:schemeClr>
                </a:solidFill>
                <a:latin typeface="Times New Roman" panose="02020603050405020304" pitchFamily="18" charset="0"/>
                <a:cs typeface="Times New Roman" panose="02020603050405020304" pitchFamily="18" charset="0"/>
              </a:rPr>
              <a:t>with Strong Typing?</a:t>
            </a:r>
          </a:p>
        </p:txBody>
      </p:sp>
      <p:sp>
        <p:nvSpPr>
          <p:cNvPr id="4" name="Rectangle 3"/>
          <p:cNvSpPr/>
          <p:nvPr/>
        </p:nvSpPr>
        <p:spPr>
          <a:xfrm>
            <a:off x="337880"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a:solidFill>
                  <a:schemeClr val="bg1"/>
                </a:solidFill>
                <a:latin typeface="Lucida Console" panose="020B0609040504020204" pitchFamily="49" charset="0"/>
                <a:cs typeface="Consolas" panose="020B0609020204030204" pitchFamily="49" charset="0"/>
              </a:rPr>
              <a:t>% python3</a:t>
            </a:r>
          </a:p>
          <a:p>
            <a:r>
              <a:rPr lang="en-US" altLang="zh-TW" sz="2200" dirty="0">
                <a:solidFill>
                  <a:schemeClr val="bg1"/>
                </a:solidFill>
                <a:latin typeface="Lucida Console" panose="020B0609040504020204" pitchFamily="49" charset="0"/>
                <a:cs typeface="Consolas" panose="020B0609020204030204" pitchFamily="49" charset="0"/>
              </a:rPr>
              <a:t>Python 3.6.1 (default, Mar 21 2017, 21:49:16)</a:t>
            </a:r>
          </a:p>
          <a:p>
            <a:r>
              <a:rPr lang="en-US" altLang="zh-TW" sz="2200" dirty="0">
                <a:solidFill>
                  <a:schemeClr val="bg1"/>
                </a:solidFill>
                <a:latin typeface="Lucida Console" panose="020B0609040504020204" pitchFamily="49" charset="0"/>
                <a:cs typeface="Consolas" panose="020B0609020204030204" pitchFamily="49" charset="0"/>
              </a:rPr>
              <a:t>[GCC 5.4.0] on </a:t>
            </a:r>
            <a:r>
              <a:rPr lang="en-US" altLang="zh-TW" sz="2200" dirty="0" err="1">
                <a:solidFill>
                  <a:schemeClr val="bg1"/>
                </a:solidFill>
                <a:latin typeface="Lucida Console" panose="020B0609040504020204" pitchFamily="49" charset="0"/>
                <a:cs typeface="Consolas" panose="020B0609020204030204" pitchFamily="49" charset="0"/>
              </a:rPr>
              <a:t>cygwin</a:t>
            </a:r>
            <a:endParaRPr lang="en-US" altLang="zh-TW"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solidFill>
                <a:latin typeface="Lucida Console" panose="020B0609040504020204" pitchFamily="49" charset="0"/>
                <a:cs typeface="Consolas" panose="020B0609020204030204" pitchFamily="49" charset="0"/>
              </a:rPr>
              <a:t>more.</a:t>
            </a:r>
            <a:endParaRPr lang="en-US"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&gt;&gt;&gt; x=5</a:t>
            </a:r>
          </a:p>
          <a:p>
            <a:r>
              <a:rPr lang="en-US" sz="2200" dirty="0">
                <a:solidFill>
                  <a:schemeClr val="bg1"/>
                </a:solidFill>
                <a:latin typeface="Lucida Console" panose="020B0609040504020204" pitchFamily="49" charset="0"/>
                <a:cs typeface="Consolas" panose="020B0609020204030204" pitchFamily="49" charset="0"/>
              </a:rPr>
              <a:t>&gt;&gt;&gt; print (x, x+1)</a:t>
            </a:r>
          </a:p>
          <a:p>
            <a:r>
              <a:rPr lang="en-US" sz="2200" dirty="0">
                <a:solidFill>
                  <a:schemeClr val="bg1"/>
                </a:solidFill>
                <a:latin typeface="Lucida Console" panose="020B0609040504020204" pitchFamily="49" charset="0"/>
                <a:cs typeface="Consolas" panose="020B0609020204030204" pitchFamily="49" charset="0"/>
              </a:rPr>
              <a:t>5 6</a:t>
            </a:r>
          </a:p>
          <a:p>
            <a:r>
              <a:rPr lang="en-US" sz="2200" dirty="0">
                <a:solidFill>
                  <a:schemeClr val="bg1"/>
                </a:solidFill>
                <a:latin typeface="Lucida Console" panose="020B0609040504020204" pitchFamily="49" charset="0"/>
                <a:cs typeface="Consolas" panose="020B0609020204030204" pitchFamily="49" charset="0"/>
              </a:rPr>
              <a:t>&gt;&gt;&gt; x</a:t>
            </a:r>
            <a:r>
              <a:rPr lang="en-US" sz="2200" dirty="0">
                <a:solidFill>
                  <a:schemeClr val="bg1">
                    <a:lumMod val="95000"/>
                  </a:schemeClr>
                </a:solidFill>
                <a:latin typeface="Lucida Console" panose="020B0609040504020204" pitchFamily="49" charset="0"/>
                <a:cs typeface="Consolas" panose="020B0609020204030204" pitchFamily="49" charset="0"/>
              </a:rPr>
              <a:t>="pineapple"</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tx1"/>
                </a:solidFill>
                <a:latin typeface="Lucida Console" panose="020B0609040504020204" pitchFamily="49" charset="0"/>
                <a:cs typeface="Consolas" panose="020B0609020204030204" pitchFamily="49" charset="0"/>
              </a:rPr>
              <a:t>pineapple</a:t>
            </a:r>
          </a:p>
          <a:p>
            <a:r>
              <a:rPr lang="en-US" sz="2200" dirty="0" smtClean="0">
                <a:solidFill>
                  <a:schemeClr val="tx1"/>
                </a:solidFill>
                <a:latin typeface="Lucida Console" panose="020B0609040504020204" pitchFamily="49" charset="0"/>
                <a:cs typeface="Consolas" panose="020B0609020204030204" pitchFamily="49" charset="0"/>
              </a:rPr>
              <a:t> </a:t>
            </a:r>
            <a:r>
              <a:rPr lang="en-US" sz="2200" dirty="0">
                <a:solidFill>
                  <a:schemeClr val="tx1"/>
                </a:solidFill>
                <a:latin typeface="Lucida Console" panose="020B0609040504020204" pitchFamily="49" charset="0"/>
                <a:cs typeface="Consolas" panose="020B0609020204030204" pitchFamily="49" charset="0"/>
              </a:rPr>
              <a:t>(most recent call last):</a:t>
            </a:r>
          </a:p>
          <a:p>
            <a:r>
              <a:rPr lang="en-US" sz="2200" dirty="0">
                <a:solidFill>
                  <a:schemeClr val="tx1"/>
                </a:solidFill>
                <a:latin typeface="Lucida Console" panose="020B0609040504020204" pitchFamily="49" charset="0"/>
                <a:cs typeface="Consolas" panose="020B0609020204030204" pitchFamily="49" charset="0"/>
              </a:rPr>
              <a:t>  File </a:t>
            </a:r>
            <a:r>
              <a:rPr lang="en-US" sz="2200" dirty="0" smtClean="0">
                <a:solidFill>
                  <a:schemeClr val="tx1"/>
                </a:solidFill>
                <a:latin typeface="Lucida Console" panose="020B0609040504020204" pitchFamily="49" charset="0"/>
                <a:cs typeface="Consolas" panose="020B0609020204030204" pitchFamily="49" charset="0"/>
              </a:rPr>
              <a:t>"&lt;&gt;", </a:t>
            </a:r>
            <a:r>
              <a:rPr lang="en-US" sz="2200" dirty="0">
                <a:solidFill>
                  <a:schemeClr val="tx1"/>
                </a:solidFill>
                <a:latin typeface="Lucida Console" panose="020B0609040504020204" pitchFamily="49" charset="0"/>
                <a:cs typeface="Consolas" panose="020B0609020204030204" pitchFamily="49" charset="0"/>
              </a:rPr>
              <a:t>line 1, in &lt;module&gt;</a:t>
            </a:r>
          </a:p>
          <a:p>
            <a:r>
              <a:rPr lang="en-US" sz="2200" dirty="0">
                <a:solidFill>
                  <a:schemeClr val="tx1"/>
                </a:solidFill>
                <a:latin typeface="Lucida Console" panose="020B0609040504020204" pitchFamily="49" charset="0"/>
                <a:cs typeface="Consolas" panose="020B0609020204030204" pitchFamily="49" charset="0"/>
              </a:rPr>
              <a:t>TypeError: cannot concatenate '</a:t>
            </a:r>
            <a:r>
              <a:rPr lang="en-US" sz="2200" dirty="0" err="1">
                <a:solidFill>
                  <a:schemeClr val="tx1"/>
                </a:solidFill>
                <a:latin typeface="Lucida Console" panose="020B0609040504020204" pitchFamily="49" charset="0"/>
                <a:cs typeface="Consolas" panose="020B0609020204030204" pitchFamily="49" charset="0"/>
              </a:rPr>
              <a:t>str</a:t>
            </a:r>
            <a:r>
              <a:rPr lang="en-US" sz="2200" dirty="0">
                <a:solidFill>
                  <a:schemeClr val="tx1"/>
                </a:solidFill>
                <a:latin typeface="Lucida Console" panose="020B0609040504020204" pitchFamily="49" charset="0"/>
                <a:cs typeface="Consolas" panose="020B0609020204030204" pitchFamily="49" charset="0"/>
              </a:rPr>
              <a:t>' and </a:t>
            </a:r>
            <a:r>
              <a:rPr lang="en-US" sz="2200" dirty="0" smtClean="0">
                <a:solidFill>
                  <a:schemeClr val="tx1"/>
                </a:solidFill>
                <a:latin typeface="Lucida Console" panose="020B0609040504020204" pitchFamily="49" charset="0"/>
                <a:cs typeface="Consolas" panose="020B0609020204030204" pitchFamily="49" charset="0"/>
              </a:rPr>
              <a:t>'</a:t>
            </a:r>
            <a:r>
              <a:rPr lang="en-US" sz="2200" dirty="0" err="1" smtClean="0">
                <a:solidFill>
                  <a:schemeClr val="tx1"/>
                </a:solidFill>
                <a:latin typeface="Lucida Console" panose="020B0609040504020204" pitchFamily="49" charset="0"/>
                <a:cs typeface="Consolas" panose="020B0609020204030204" pitchFamily="49" charset="0"/>
              </a:rPr>
              <a:t>int'ects</a:t>
            </a:r>
            <a:endParaRPr lang="en-US" sz="2200" dirty="0">
              <a:solidFill>
                <a:schemeClr val="tx1"/>
              </a:solidFill>
              <a:latin typeface="Lucida Console" panose="020B0609040504020204" pitchFamily="49" charset="0"/>
              <a:cs typeface="Consolas" panose="020B0609020204030204" pitchFamily="49" charset="0"/>
            </a:endParaRPr>
          </a:p>
          <a:p>
            <a:r>
              <a:rPr lang="en-US" sz="2200" dirty="0">
                <a:solidFill>
                  <a:schemeClr val="tx1"/>
                </a:solidFill>
                <a:latin typeface="Lucida Console" panose="020B0609040504020204" pitchFamily="49" charset="0"/>
                <a:cs typeface="Consolas" panose="020B0609020204030204" pitchFamily="49" charset="0"/>
              </a:rPr>
              <a:t>&gt;&gt;&gt;</a:t>
            </a:r>
          </a:p>
        </p:txBody>
      </p:sp>
      <p:cxnSp>
        <p:nvCxnSpPr>
          <p:cNvPr id="5" name="Straight Connector 4"/>
          <p:cNvCxnSpPr/>
          <p:nvPr/>
        </p:nvCxnSpPr>
        <p:spPr>
          <a:xfrm>
            <a:off x="3491577" y="4584557"/>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ounded Rectangular Callout 5"/>
          <p:cNvSpPr/>
          <p:nvPr/>
        </p:nvSpPr>
        <p:spPr>
          <a:xfrm>
            <a:off x="4384179" y="4880616"/>
            <a:ext cx="4169885" cy="1430236"/>
          </a:xfrm>
          <a:prstGeom prst="wedgeRoundRectCallout">
            <a:avLst>
              <a:gd name="adj1" fmla="val -67629"/>
              <a:gd name="adj2" fmla="val -57357"/>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spc="-20" dirty="0">
                <a:solidFill>
                  <a:srgbClr val="0033CC"/>
                </a:solidFill>
              </a:rPr>
              <a:t>See that </a:t>
            </a:r>
            <a:r>
              <a:rPr lang="en-US" sz="2800" spc="-20" dirty="0" smtClean="0">
                <a:solidFill>
                  <a:srgbClr val="0033CC"/>
                </a:solidFill>
              </a:rPr>
              <a:t>we’ve run </a:t>
            </a:r>
            <a:r>
              <a:rPr lang="en-US" sz="2800" spc="-20" dirty="0">
                <a:solidFill>
                  <a:srgbClr val="FF0000"/>
                </a:solidFill>
              </a:rPr>
              <a:t>this line</a:t>
            </a:r>
            <a:r>
              <a:rPr lang="en-US" sz="2800" spc="-20" dirty="0">
                <a:solidFill>
                  <a:srgbClr val="0033CC"/>
                </a:solidFill>
              </a:rPr>
              <a:t> </a:t>
            </a:r>
            <a:r>
              <a:rPr lang="en-US" sz="2800" dirty="0">
                <a:solidFill>
                  <a:srgbClr val="0033CC"/>
                </a:solidFill>
              </a:rPr>
              <a:t>before, and it worked. But what will it do now?</a:t>
            </a:r>
          </a:p>
        </p:txBody>
      </p:sp>
      <p:cxnSp>
        <p:nvCxnSpPr>
          <p:cNvPr id="3" name="Straight Arrow Connector 2"/>
          <p:cNvCxnSpPr/>
          <p:nvPr/>
        </p:nvCxnSpPr>
        <p:spPr>
          <a:xfrm flipH="1" flipV="1">
            <a:off x="2706720" y="3846258"/>
            <a:ext cx="4578983" cy="119769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932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500"/>
                                        <p:tgtEl>
                                          <p:spTgt spid="6"/>
                                        </p:tgtEl>
                                      </p:cBhvr>
                                    </p:animEffect>
                                  </p:childTnLst>
                                </p:cTn>
                              </p:par>
                            </p:childTnLst>
                          </p:cTn>
                        </p:par>
                        <p:par>
                          <p:cTn id="12" fill="hold">
                            <p:stCondLst>
                              <p:cond delay="500"/>
                            </p:stCondLst>
                            <p:childTnLst>
                              <p:par>
                                <p:cTn id="13" presetID="22" presetClass="entr" presetSubtype="2"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righ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xit" presetSubtype="2" fill="hold" nodeType="clickEffect">
                                  <p:stCondLst>
                                    <p:cond delay="0"/>
                                  </p:stCondLst>
                                  <p:childTnLst>
                                    <p:animEffect transition="out" filter="wipe(right)">
                                      <p:cBhvr>
                                        <p:cTn id="19" dur="500"/>
                                        <p:tgtEl>
                                          <p:spTgt spid="3"/>
                                        </p:tgtEl>
                                      </p:cBhvr>
                                    </p:animEffect>
                                    <p:set>
                                      <p:cBhvr>
                                        <p:cTn id="20" dur="1" fill="hold">
                                          <p:stCondLst>
                                            <p:cond delay="499"/>
                                          </p:stCondLst>
                                        </p:cTn>
                                        <p:tgtEl>
                                          <p:spTgt spid="3"/>
                                        </p:tgtEl>
                                        <p:attrNameLst>
                                          <p:attrName>style.visibility</p:attrName>
                                        </p:attrNameLst>
                                      </p:cBhvr>
                                      <p:to>
                                        <p:strVal val="hidden"/>
                                      </p:to>
                                    </p:set>
                                  </p:childTnLst>
                                </p:cTn>
                              </p:par>
                            </p:childTnLst>
                          </p:cTn>
                        </p:par>
                        <p:par>
                          <p:cTn id="21" fill="hold">
                            <p:stCondLst>
                              <p:cond delay="500"/>
                            </p:stCondLst>
                            <p:childTnLst>
                              <p:par>
                                <p:cTn id="22" presetID="14" presetClass="exit" presetSubtype="10" fill="hold" grpId="1" nodeType="afterEffect">
                                  <p:stCondLst>
                                    <p:cond delay="0"/>
                                  </p:stCondLst>
                                  <p:childTnLst>
                                    <p:animEffect transition="out" filter="randombar(horizontal)">
                                      <p:cBhvr>
                                        <p:cTn id="23" dur="500"/>
                                        <p:tgtEl>
                                          <p:spTgt spid="6"/>
                                        </p:tgtEl>
                                      </p:cBhvr>
                                    </p:animEffect>
                                    <p:set>
                                      <p:cBhvr>
                                        <p:cTn id="24"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2600" y="1588169"/>
            <a:ext cx="9727188"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p:cNvSpPr>
            <a:spLocks noGrp="1"/>
          </p:cNvSpPr>
          <p:nvPr>
            <p:ph type="title"/>
          </p:nvPr>
        </p:nvSpPr>
        <p:spPr>
          <a:xfrm>
            <a:off x="-392906" y="-3841"/>
            <a:ext cx="10515600" cy="1592010"/>
          </a:xfrm>
          <a:solidFill>
            <a:schemeClr val="bg1"/>
          </a:solidFill>
        </p:spPr>
        <p:txBody>
          <a:bodyPr>
            <a:normAutofit/>
          </a:bodyPr>
          <a:lstStyle/>
          <a:p>
            <a:pPr algn="ctr"/>
            <a:r>
              <a:rPr lang="en-US" sz="5400" b="1" dirty="0">
                <a:solidFill>
                  <a:schemeClr val="accent1">
                    <a:lumMod val="75000"/>
                  </a:schemeClr>
                </a:solidFill>
                <a:latin typeface="Times New Roman" panose="02020603050405020304" pitchFamily="18" charset="0"/>
                <a:cs typeface="Times New Roman" panose="02020603050405020304" pitchFamily="18" charset="0"/>
              </a:rPr>
              <a:t>Dynamic Type Binding </a:t>
            </a:r>
            <a:br>
              <a:rPr lang="en-US" sz="5400" b="1" dirty="0">
                <a:solidFill>
                  <a:schemeClr val="accent1">
                    <a:lumMod val="75000"/>
                  </a:schemeClr>
                </a:solidFill>
                <a:latin typeface="Times New Roman" panose="02020603050405020304" pitchFamily="18" charset="0"/>
                <a:cs typeface="Times New Roman" panose="02020603050405020304" pitchFamily="18" charset="0"/>
              </a:rPr>
            </a:br>
            <a:r>
              <a:rPr lang="en-US" sz="5400" b="1" dirty="0">
                <a:solidFill>
                  <a:schemeClr val="accent1">
                    <a:lumMod val="75000"/>
                  </a:schemeClr>
                </a:solidFill>
                <a:latin typeface="Times New Roman" panose="02020603050405020304" pitchFamily="18" charset="0"/>
                <a:cs typeface="Times New Roman" panose="02020603050405020304" pitchFamily="18" charset="0"/>
              </a:rPr>
              <a:t>with Strong Typing?</a:t>
            </a:r>
          </a:p>
        </p:txBody>
      </p:sp>
      <p:sp>
        <p:nvSpPr>
          <p:cNvPr id="4" name="Rectangle 3"/>
          <p:cNvSpPr/>
          <p:nvPr/>
        </p:nvSpPr>
        <p:spPr>
          <a:xfrm>
            <a:off x="337880"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a:solidFill>
                  <a:schemeClr val="bg1"/>
                </a:solidFill>
                <a:latin typeface="Lucida Console" panose="020B0609040504020204" pitchFamily="49" charset="0"/>
                <a:cs typeface="Consolas" panose="020B0609020204030204" pitchFamily="49" charset="0"/>
              </a:rPr>
              <a:t>% python3</a:t>
            </a:r>
          </a:p>
          <a:p>
            <a:r>
              <a:rPr lang="en-US" altLang="zh-TW" sz="2200" dirty="0">
                <a:solidFill>
                  <a:schemeClr val="bg1"/>
                </a:solidFill>
                <a:latin typeface="Lucida Console" panose="020B0609040504020204" pitchFamily="49" charset="0"/>
                <a:cs typeface="Consolas" panose="020B0609020204030204" pitchFamily="49" charset="0"/>
              </a:rPr>
              <a:t>Python 3.6.1 (default, Mar 21 2017, 21:49:16)</a:t>
            </a:r>
          </a:p>
          <a:p>
            <a:r>
              <a:rPr lang="en-US" altLang="zh-TW" sz="2200" dirty="0">
                <a:solidFill>
                  <a:schemeClr val="bg1"/>
                </a:solidFill>
                <a:latin typeface="Lucida Console" panose="020B0609040504020204" pitchFamily="49" charset="0"/>
                <a:cs typeface="Consolas" panose="020B0609020204030204" pitchFamily="49" charset="0"/>
              </a:rPr>
              <a:t>[GCC 5.4.0] on </a:t>
            </a:r>
            <a:r>
              <a:rPr lang="en-US" altLang="zh-TW" sz="2200" dirty="0" err="1">
                <a:solidFill>
                  <a:schemeClr val="bg1"/>
                </a:solidFill>
                <a:latin typeface="Lucida Console" panose="020B0609040504020204" pitchFamily="49" charset="0"/>
                <a:cs typeface="Consolas" panose="020B0609020204030204" pitchFamily="49" charset="0"/>
              </a:rPr>
              <a:t>cygwin</a:t>
            </a:r>
            <a:endParaRPr lang="en-US" altLang="zh-TW"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solidFill>
                <a:latin typeface="Lucida Console" panose="020B0609040504020204" pitchFamily="49" charset="0"/>
                <a:cs typeface="Consolas" panose="020B0609020204030204" pitchFamily="49" charset="0"/>
              </a:rPr>
              <a:t>more.</a:t>
            </a:r>
            <a:endParaRPr lang="en-US"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&gt;&gt;&gt; x=5</a:t>
            </a:r>
          </a:p>
          <a:p>
            <a:r>
              <a:rPr lang="en-US" sz="2200" dirty="0">
                <a:solidFill>
                  <a:schemeClr val="bg1"/>
                </a:solidFill>
                <a:latin typeface="Lucida Console" panose="020B0609040504020204" pitchFamily="49" charset="0"/>
                <a:cs typeface="Consolas" panose="020B0609020204030204" pitchFamily="49" charset="0"/>
              </a:rPr>
              <a:t>&gt;&gt;&gt; print (x, x+1)</a:t>
            </a:r>
          </a:p>
          <a:p>
            <a:r>
              <a:rPr lang="en-US" sz="2200" dirty="0">
                <a:solidFill>
                  <a:schemeClr val="bg1"/>
                </a:solidFill>
                <a:latin typeface="Lucida Console" panose="020B0609040504020204" pitchFamily="49" charset="0"/>
                <a:cs typeface="Consolas" panose="020B0609020204030204" pitchFamily="49" charset="0"/>
              </a:rPr>
              <a:t>5 6</a:t>
            </a:r>
          </a:p>
          <a:p>
            <a:r>
              <a:rPr lang="en-US" sz="2200" dirty="0">
                <a:solidFill>
                  <a:schemeClr val="bg1"/>
                </a:solidFill>
                <a:latin typeface="Lucida Console" panose="020B0609040504020204" pitchFamily="49" charset="0"/>
                <a:cs typeface="Consolas" panose="020B0609020204030204" pitchFamily="49" charset="0"/>
              </a:rPr>
              <a:t>&gt;&gt;&gt; x</a:t>
            </a:r>
            <a:r>
              <a:rPr lang="en-US" sz="2200" dirty="0">
                <a:solidFill>
                  <a:schemeClr val="bg1">
                    <a:lumMod val="95000"/>
                  </a:schemeClr>
                </a:solidFill>
                <a:latin typeface="Lucida Console" panose="020B0609040504020204" pitchFamily="49" charset="0"/>
                <a:cs typeface="Consolas" panose="020B0609020204030204" pitchFamily="49" charset="0"/>
              </a:rPr>
              <a:t>="pineapple"</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bg1">
                    <a:lumMod val="95000"/>
                  </a:schemeClr>
                </a:solidFill>
                <a:latin typeface="Lucida Console" panose="020B0609040504020204" pitchFamily="49" charset="0"/>
                <a:cs typeface="Consolas" panose="020B0609020204030204" pitchFamily="49" charset="0"/>
              </a:rPr>
              <a:t>pineapple</a:t>
            </a:r>
          </a:p>
          <a:p>
            <a:r>
              <a:rPr lang="en-US" sz="2200" dirty="0" err="1">
                <a:solidFill>
                  <a:schemeClr val="bg1">
                    <a:lumMod val="95000"/>
                  </a:schemeClr>
                </a:solidFill>
                <a:latin typeface="Lucida Console" panose="020B0609040504020204" pitchFamily="49" charset="0"/>
                <a:cs typeface="Consolas" panose="020B0609020204030204" pitchFamily="49" charset="0"/>
              </a:rPr>
              <a:t>Traceback</a:t>
            </a:r>
            <a:r>
              <a:rPr lang="en-US" sz="2200" dirty="0">
                <a:solidFill>
                  <a:schemeClr val="bg1">
                    <a:lumMod val="95000"/>
                  </a:schemeClr>
                </a:solidFill>
                <a:latin typeface="Lucida Console" panose="020B0609040504020204" pitchFamily="49" charset="0"/>
                <a:cs typeface="Consolas" panose="020B0609020204030204" pitchFamily="49" charset="0"/>
              </a:rPr>
              <a:t> (most recent call last):</a:t>
            </a:r>
          </a:p>
          <a:p>
            <a:r>
              <a:rPr lang="en-US" sz="2200" dirty="0">
                <a:solidFill>
                  <a:schemeClr val="bg1">
                    <a:lumMod val="95000"/>
                  </a:schemeClr>
                </a:solidFill>
                <a:latin typeface="Lucida Console" panose="020B0609040504020204" pitchFamily="49" charset="0"/>
                <a:cs typeface="Consolas" panose="020B0609020204030204" pitchFamily="49" charset="0"/>
              </a:rPr>
              <a:t>  File "&lt;</a:t>
            </a:r>
            <a:r>
              <a:rPr lang="en-US" sz="2200" dirty="0" err="1">
                <a:solidFill>
                  <a:schemeClr val="bg1">
                    <a:lumMod val="95000"/>
                  </a:schemeClr>
                </a:solidFill>
                <a:latin typeface="Lucida Console" panose="020B0609040504020204" pitchFamily="49" charset="0"/>
                <a:cs typeface="Consolas" panose="020B0609020204030204" pitchFamily="49" charset="0"/>
              </a:rPr>
              <a:t>stdin</a:t>
            </a:r>
            <a:r>
              <a:rPr lang="en-US" sz="2200" dirty="0">
                <a:solidFill>
                  <a:schemeClr val="bg1">
                    <a:lumMod val="95000"/>
                  </a:schemeClr>
                </a:solidFill>
                <a:latin typeface="Lucida Console" panose="020B0609040504020204" pitchFamily="49" charset="0"/>
                <a:cs typeface="Consolas" panose="020B0609020204030204" pitchFamily="49" charset="0"/>
              </a:rPr>
              <a:t>&gt;", line 1, in &lt;module&gt;</a:t>
            </a:r>
          </a:p>
          <a:p>
            <a:r>
              <a:rPr lang="en-US" sz="2200" dirty="0">
                <a:solidFill>
                  <a:schemeClr val="bg1">
                    <a:lumMod val="95000"/>
                  </a:schemeClr>
                </a:solidFill>
                <a:latin typeface="Lucida Console" panose="020B0609040504020204" pitchFamily="49" charset="0"/>
                <a:cs typeface="Consolas" panose="020B0609020204030204" pitchFamily="49" charset="0"/>
              </a:rPr>
              <a:t>TypeError: cannot concatenate</a:t>
            </a:r>
            <a:r>
              <a:rPr lang="en-US" sz="16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bg1">
                    <a:lumMod val="95000"/>
                  </a:schemeClr>
                </a:solidFill>
                <a:latin typeface="Lucida Console" panose="020B0609040504020204" pitchFamily="49" charset="0"/>
                <a:cs typeface="Consolas" panose="020B0609020204030204" pitchFamily="49" charset="0"/>
              </a:rPr>
              <a:t>'</a:t>
            </a:r>
            <a:r>
              <a:rPr lang="en-US" sz="2200" dirty="0" err="1">
                <a:solidFill>
                  <a:schemeClr val="bg1">
                    <a:lumMod val="95000"/>
                  </a:schemeClr>
                </a:solidFill>
                <a:latin typeface="Lucida Console" panose="020B0609040504020204" pitchFamily="49" charset="0"/>
                <a:cs typeface="Consolas" panose="020B0609020204030204" pitchFamily="49" charset="0"/>
              </a:rPr>
              <a:t>str</a:t>
            </a:r>
            <a:r>
              <a:rPr lang="en-US" sz="2200" dirty="0">
                <a:solidFill>
                  <a:schemeClr val="bg1">
                    <a:lumMod val="95000"/>
                  </a:schemeClr>
                </a:solidFill>
                <a:latin typeface="Lucida Console" panose="020B0609040504020204" pitchFamily="49" charset="0"/>
                <a:cs typeface="Consolas" panose="020B0609020204030204" pitchFamily="49" charset="0"/>
              </a:rPr>
              <a:t>'</a:t>
            </a:r>
            <a:r>
              <a:rPr lang="en-US" sz="16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bg1">
                    <a:lumMod val="95000"/>
                  </a:schemeClr>
                </a:solidFill>
                <a:latin typeface="Lucida Console" panose="020B0609040504020204" pitchFamily="49" charset="0"/>
                <a:cs typeface="Consolas" panose="020B0609020204030204" pitchFamily="49" charset="0"/>
              </a:rPr>
              <a:t>and</a:t>
            </a:r>
            <a:r>
              <a:rPr lang="en-US" sz="16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bg1">
                    <a:lumMod val="95000"/>
                  </a:schemeClr>
                </a:solidFill>
                <a:latin typeface="Lucida Console" panose="020B0609040504020204" pitchFamily="49" charset="0"/>
                <a:cs typeface="Consolas" panose="020B0609020204030204" pitchFamily="49" charset="0"/>
              </a:rPr>
              <a:t>'int'</a:t>
            </a:r>
            <a:r>
              <a:rPr lang="en-US" sz="16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bg1">
                    <a:lumMod val="95000"/>
                  </a:schemeClr>
                </a:solidFill>
                <a:latin typeface="Lucida Console" panose="020B0609040504020204" pitchFamily="49" charset="0"/>
                <a:cs typeface="Consolas" panose="020B0609020204030204" pitchFamily="49" charset="0"/>
              </a:rPr>
              <a:t>objects</a:t>
            </a:r>
          </a:p>
          <a:p>
            <a:r>
              <a:rPr lang="en-US" sz="2200" dirty="0">
                <a:solidFill>
                  <a:schemeClr val="bg1">
                    <a:lumMod val="95000"/>
                  </a:schemeClr>
                </a:solidFill>
                <a:latin typeface="Lucida Console" panose="020B0609040504020204" pitchFamily="49" charset="0"/>
                <a:cs typeface="Consolas" panose="020B0609020204030204" pitchFamily="49" charset="0"/>
              </a:rPr>
              <a:t>&gt;&gt;&gt;</a:t>
            </a:r>
          </a:p>
        </p:txBody>
      </p:sp>
      <p:cxnSp>
        <p:nvCxnSpPr>
          <p:cNvPr id="5" name="Straight Connector 4"/>
          <p:cNvCxnSpPr/>
          <p:nvPr/>
        </p:nvCxnSpPr>
        <p:spPr>
          <a:xfrm>
            <a:off x="1034127" y="6291031"/>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ular Callout 7"/>
          <p:cNvSpPr/>
          <p:nvPr/>
        </p:nvSpPr>
        <p:spPr>
          <a:xfrm>
            <a:off x="3991896" y="3252159"/>
            <a:ext cx="5734755" cy="1268005"/>
          </a:xfrm>
          <a:prstGeom prst="wedgeRoundRectCallout">
            <a:avLst>
              <a:gd name="adj1" fmla="val -96386"/>
              <a:gd name="adj2" fmla="val 168748"/>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We got an </a:t>
            </a:r>
            <a:r>
              <a:rPr lang="en-US" sz="2800" dirty="0">
                <a:solidFill>
                  <a:srgbClr val="FF0000"/>
                </a:solidFill>
              </a:rPr>
              <a:t>error</a:t>
            </a:r>
            <a:r>
              <a:rPr lang="en-US" sz="2800" dirty="0">
                <a:solidFill>
                  <a:srgbClr val="0033CC"/>
                </a:solidFill>
              </a:rPr>
              <a:t> message. Because you can’t add one (</a:t>
            </a:r>
            <a:r>
              <a:rPr lang="en-US" sz="2800" dirty="0">
                <a:solidFill>
                  <a:srgbClr val="FF0000"/>
                </a:solidFill>
              </a:rPr>
              <a:t>+1</a:t>
            </a:r>
            <a:r>
              <a:rPr lang="en-US" sz="2800" dirty="0">
                <a:solidFill>
                  <a:srgbClr val="0033CC"/>
                </a:solidFill>
              </a:rPr>
              <a:t>) to a string.</a:t>
            </a:r>
          </a:p>
        </p:txBody>
      </p:sp>
      <p:cxnSp>
        <p:nvCxnSpPr>
          <p:cNvPr id="12" name="Straight Arrow Connector 11"/>
          <p:cNvCxnSpPr/>
          <p:nvPr/>
        </p:nvCxnSpPr>
        <p:spPr>
          <a:xfrm flipH="1">
            <a:off x="3268394" y="4168877"/>
            <a:ext cx="3909155" cy="539111"/>
          </a:xfrm>
          <a:prstGeom prst="straightConnector1">
            <a:avLst/>
          </a:prstGeom>
          <a:ln w="285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213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par>
                          <p:cTn id="12" fill="hold">
                            <p:stCondLst>
                              <p:cond delay="500"/>
                            </p:stCondLst>
                            <p:childTnLst>
                              <p:par>
                                <p:cTn id="13" presetID="22" presetClass="entr" presetSubtype="2"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2602" y="1588169"/>
            <a:ext cx="9727186" cy="5269832"/>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p:cNvSpPr>
            <a:spLocks noGrp="1"/>
          </p:cNvSpPr>
          <p:nvPr>
            <p:ph type="title"/>
          </p:nvPr>
        </p:nvSpPr>
        <p:spPr>
          <a:xfrm>
            <a:off x="-392906" y="-3841"/>
            <a:ext cx="10515600" cy="1592010"/>
          </a:xfrm>
          <a:solidFill>
            <a:schemeClr val="bg1"/>
          </a:solidFill>
        </p:spPr>
        <p:txBody>
          <a:bodyPr>
            <a:normAutofit/>
          </a:bodyPr>
          <a:lstStyle/>
          <a:p>
            <a:pPr algn="ctr"/>
            <a:r>
              <a:rPr lang="en-US" sz="5400" b="1" dirty="0">
                <a:solidFill>
                  <a:schemeClr val="accent1">
                    <a:lumMod val="75000"/>
                  </a:schemeClr>
                </a:solidFill>
                <a:latin typeface="Times New Roman" panose="02020603050405020304" pitchFamily="18" charset="0"/>
                <a:cs typeface="Times New Roman" panose="02020603050405020304" pitchFamily="18" charset="0"/>
              </a:rPr>
              <a:t>Dynamic Type Binding </a:t>
            </a:r>
            <a:br>
              <a:rPr lang="en-US" sz="5400" b="1" dirty="0">
                <a:solidFill>
                  <a:schemeClr val="accent1">
                    <a:lumMod val="75000"/>
                  </a:schemeClr>
                </a:solidFill>
                <a:latin typeface="Times New Roman" panose="02020603050405020304" pitchFamily="18" charset="0"/>
                <a:cs typeface="Times New Roman" panose="02020603050405020304" pitchFamily="18" charset="0"/>
              </a:rPr>
            </a:br>
            <a:r>
              <a:rPr lang="en-US" sz="5400" b="1" dirty="0">
                <a:solidFill>
                  <a:schemeClr val="accent1">
                    <a:lumMod val="75000"/>
                  </a:schemeClr>
                </a:solidFill>
                <a:latin typeface="Times New Roman" panose="02020603050405020304" pitchFamily="18" charset="0"/>
                <a:cs typeface="Times New Roman" panose="02020603050405020304" pitchFamily="18" charset="0"/>
              </a:rPr>
              <a:t>with </a:t>
            </a:r>
            <a:r>
              <a:rPr lang="en-US" sz="5400" b="1" dirty="0">
                <a:solidFill>
                  <a:srgbClr val="FF0000"/>
                </a:solidFill>
                <a:latin typeface="Times New Roman" panose="02020603050405020304" pitchFamily="18" charset="0"/>
                <a:cs typeface="Times New Roman" panose="02020603050405020304" pitchFamily="18" charset="0"/>
              </a:rPr>
              <a:t>Strong Typing</a:t>
            </a:r>
            <a:r>
              <a:rPr lang="en-US" sz="5400" b="1" dirty="0">
                <a:solidFill>
                  <a:schemeClr val="accent1">
                    <a:lumMod val="75000"/>
                  </a:schemeClr>
                </a:solidFill>
                <a:latin typeface="Times New Roman" panose="02020603050405020304" pitchFamily="18" charset="0"/>
                <a:cs typeface="Times New Roman" panose="02020603050405020304" pitchFamily="18" charset="0"/>
              </a:rPr>
              <a:t>?</a:t>
            </a:r>
          </a:p>
        </p:txBody>
      </p:sp>
      <p:sp>
        <p:nvSpPr>
          <p:cNvPr id="4" name="Rectangle 3"/>
          <p:cNvSpPr/>
          <p:nvPr/>
        </p:nvSpPr>
        <p:spPr>
          <a:xfrm>
            <a:off x="337882" y="1870793"/>
            <a:ext cx="9052560" cy="473534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a:solidFill>
                  <a:schemeClr val="bg1"/>
                </a:solidFill>
                <a:latin typeface="Lucida Console" panose="020B0609040504020204" pitchFamily="49" charset="0"/>
                <a:cs typeface="Consolas" panose="020B0609020204030204" pitchFamily="49" charset="0"/>
              </a:rPr>
              <a:t>% python3</a:t>
            </a:r>
          </a:p>
          <a:p>
            <a:r>
              <a:rPr lang="en-US" altLang="zh-TW" sz="2200" dirty="0">
                <a:solidFill>
                  <a:schemeClr val="bg1"/>
                </a:solidFill>
                <a:latin typeface="Lucida Console" panose="020B0609040504020204" pitchFamily="49" charset="0"/>
                <a:cs typeface="Consolas" panose="020B0609020204030204" pitchFamily="49" charset="0"/>
              </a:rPr>
              <a:t>Python 3.6.1 (default, Mar 21 2017, 21:49:16)</a:t>
            </a:r>
          </a:p>
          <a:p>
            <a:r>
              <a:rPr lang="en-US" altLang="zh-TW" sz="2200" dirty="0">
                <a:solidFill>
                  <a:schemeClr val="bg1"/>
                </a:solidFill>
                <a:latin typeface="Lucida Console" panose="020B0609040504020204" pitchFamily="49" charset="0"/>
                <a:cs typeface="Consolas" panose="020B0609020204030204" pitchFamily="49" charset="0"/>
              </a:rPr>
              <a:t>[GCC 5.4.0] on </a:t>
            </a:r>
            <a:r>
              <a:rPr lang="en-US" altLang="zh-TW" sz="2200" dirty="0" err="1">
                <a:solidFill>
                  <a:schemeClr val="bg1"/>
                </a:solidFill>
                <a:latin typeface="Lucida Console" panose="020B0609040504020204" pitchFamily="49" charset="0"/>
                <a:cs typeface="Consolas" panose="020B0609020204030204" pitchFamily="49" charset="0"/>
              </a:rPr>
              <a:t>cygwin</a:t>
            </a:r>
            <a:endParaRPr lang="en-US" altLang="zh-TW"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Type "help", "copyright", or "license" for </a:t>
            </a:r>
            <a:r>
              <a:rPr lang="en-US" sz="2200" dirty="0" smtClean="0">
                <a:solidFill>
                  <a:schemeClr val="bg1"/>
                </a:solidFill>
                <a:latin typeface="Lucida Console" panose="020B0609040504020204" pitchFamily="49" charset="0"/>
                <a:cs typeface="Consolas" panose="020B0609020204030204" pitchFamily="49" charset="0"/>
              </a:rPr>
              <a:t>more.</a:t>
            </a:r>
            <a:endParaRPr lang="en-US" sz="2200" dirty="0">
              <a:solidFill>
                <a:schemeClr val="bg1"/>
              </a:solidFill>
              <a:latin typeface="Lucida Console" panose="020B0609040504020204" pitchFamily="49" charset="0"/>
              <a:cs typeface="Consolas" panose="020B0609020204030204" pitchFamily="49" charset="0"/>
            </a:endParaRPr>
          </a:p>
          <a:p>
            <a:r>
              <a:rPr lang="en-US" sz="2200" dirty="0">
                <a:solidFill>
                  <a:schemeClr val="bg1"/>
                </a:solidFill>
                <a:latin typeface="Lucida Console" panose="020B0609040504020204" pitchFamily="49" charset="0"/>
                <a:cs typeface="Consolas" panose="020B0609020204030204" pitchFamily="49" charset="0"/>
              </a:rPr>
              <a:t>&gt;&gt;&gt; x=5</a:t>
            </a:r>
          </a:p>
          <a:p>
            <a:r>
              <a:rPr lang="en-US" sz="2200" dirty="0">
                <a:solidFill>
                  <a:schemeClr val="bg1"/>
                </a:solidFill>
                <a:latin typeface="Lucida Console" panose="020B0609040504020204" pitchFamily="49" charset="0"/>
                <a:cs typeface="Consolas" panose="020B0609020204030204" pitchFamily="49" charset="0"/>
              </a:rPr>
              <a:t>&gt;&gt;&gt; print (x, x+1)</a:t>
            </a:r>
          </a:p>
          <a:p>
            <a:r>
              <a:rPr lang="en-US" sz="2200" dirty="0">
                <a:solidFill>
                  <a:schemeClr val="bg1"/>
                </a:solidFill>
                <a:latin typeface="Lucida Console" panose="020B0609040504020204" pitchFamily="49" charset="0"/>
                <a:cs typeface="Consolas" panose="020B0609020204030204" pitchFamily="49" charset="0"/>
              </a:rPr>
              <a:t>5 6</a:t>
            </a:r>
          </a:p>
          <a:p>
            <a:r>
              <a:rPr lang="en-US" sz="2200" dirty="0">
                <a:solidFill>
                  <a:schemeClr val="bg1"/>
                </a:solidFill>
                <a:latin typeface="Lucida Console" panose="020B0609040504020204" pitchFamily="49" charset="0"/>
                <a:cs typeface="Consolas" panose="020B0609020204030204" pitchFamily="49" charset="0"/>
              </a:rPr>
              <a:t>&gt;&gt;&gt; x</a:t>
            </a:r>
            <a:r>
              <a:rPr lang="en-US" sz="2200" dirty="0">
                <a:solidFill>
                  <a:schemeClr val="bg1">
                    <a:lumMod val="95000"/>
                  </a:schemeClr>
                </a:solidFill>
                <a:latin typeface="Lucida Console" panose="020B0609040504020204" pitchFamily="49" charset="0"/>
                <a:cs typeface="Consolas" panose="020B0609020204030204" pitchFamily="49" charset="0"/>
              </a:rPr>
              <a:t>="pineapple"</a:t>
            </a:r>
          </a:p>
          <a:p>
            <a:r>
              <a:rPr lang="en-US" sz="2200" dirty="0">
                <a:solidFill>
                  <a:schemeClr val="bg1">
                    <a:lumMod val="95000"/>
                  </a:schemeClr>
                </a:solidFill>
                <a:latin typeface="Lucida Console" panose="020B0609040504020204" pitchFamily="49" charset="0"/>
                <a:cs typeface="Consolas" panose="020B0609020204030204" pitchFamily="49" charset="0"/>
              </a:rPr>
              <a:t>&gt;&gt;&gt; print (x, x+1)</a:t>
            </a:r>
          </a:p>
          <a:p>
            <a:r>
              <a:rPr lang="en-US" sz="2200" dirty="0">
                <a:solidFill>
                  <a:schemeClr val="bg1">
                    <a:lumMod val="95000"/>
                  </a:schemeClr>
                </a:solidFill>
                <a:latin typeface="Lucida Console" panose="020B0609040504020204" pitchFamily="49" charset="0"/>
                <a:cs typeface="Consolas" panose="020B0609020204030204" pitchFamily="49" charset="0"/>
              </a:rPr>
              <a:t>pineapple</a:t>
            </a:r>
          </a:p>
          <a:p>
            <a:r>
              <a:rPr lang="en-US" sz="2200" dirty="0" err="1">
                <a:solidFill>
                  <a:schemeClr val="bg1">
                    <a:lumMod val="95000"/>
                  </a:schemeClr>
                </a:solidFill>
                <a:latin typeface="Lucida Console" panose="020B0609040504020204" pitchFamily="49" charset="0"/>
                <a:cs typeface="Consolas" panose="020B0609020204030204" pitchFamily="49" charset="0"/>
              </a:rPr>
              <a:t>Traceback</a:t>
            </a:r>
            <a:r>
              <a:rPr lang="en-US" sz="2200" dirty="0">
                <a:solidFill>
                  <a:schemeClr val="bg1">
                    <a:lumMod val="95000"/>
                  </a:schemeClr>
                </a:solidFill>
                <a:latin typeface="Lucida Console" panose="020B0609040504020204" pitchFamily="49" charset="0"/>
                <a:cs typeface="Consolas" panose="020B0609020204030204" pitchFamily="49" charset="0"/>
              </a:rPr>
              <a:t> (most recent call last):</a:t>
            </a:r>
          </a:p>
          <a:p>
            <a:r>
              <a:rPr lang="en-US" sz="2200" dirty="0">
                <a:solidFill>
                  <a:schemeClr val="bg1">
                    <a:lumMod val="95000"/>
                  </a:schemeClr>
                </a:solidFill>
                <a:latin typeface="Lucida Console" panose="020B0609040504020204" pitchFamily="49" charset="0"/>
                <a:cs typeface="Consolas" panose="020B0609020204030204" pitchFamily="49" charset="0"/>
              </a:rPr>
              <a:t>  File "&lt;</a:t>
            </a:r>
            <a:r>
              <a:rPr lang="en-US" sz="2200" dirty="0" err="1">
                <a:solidFill>
                  <a:schemeClr val="bg1">
                    <a:lumMod val="95000"/>
                  </a:schemeClr>
                </a:solidFill>
                <a:latin typeface="Lucida Console" panose="020B0609040504020204" pitchFamily="49" charset="0"/>
                <a:cs typeface="Consolas" panose="020B0609020204030204" pitchFamily="49" charset="0"/>
              </a:rPr>
              <a:t>stdin</a:t>
            </a:r>
            <a:r>
              <a:rPr lang="en-US" sz="2200" dirty="0">
                <a:solidFill>
                  <a:schemeClr val="bg1">
                    <a:lumMod val="95000"/>
                  </a:schemeClr>
                </a:solidFill>
                <a:latin typeface="Lucida Console" panose="020B0609040504020204" pitchFamily="49" charset="0"/>
                <a:cs typeface="Consolas" panose="020B0609020204030204" pitchFamily="49" charset="0"/>
              </a:rPr>
              <a:t>&gt;", line 1, in &lt;module&gt;</a:t>
            </a:r>
          </a:p>
          <a:p>
            <a:r>
              <a:rPr lang="en-US" sz="2200" dirty="0">
                <a:solidFill>
                  <a:schemeClr val="bg1">
                    <a:lumMod val="95000"/>
                  </a:schemeClr>
                </a:solidFill>
                <a:latin typeface="Lucida Console" panose="020B0609040504020204" pitchFamily="49" charset="0"/>
                <a:cs typeface="Consolas" panose="020B0609020204030204" pitchFamily="49" charset="0"/>
              </a:rPr>
              <a:t>TypeError: cannot concatenate</a:t>
            </a:r>
            <a:r>
              <a:rPr lang="en-US" sz="16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bg1">
                    <a:lumMod val="95000"/>
                  </a:schemeClr>
                </a:solidFill>
                <a:latin typeface="Lucida Console" panose="020B0609040504020204" pitchFamily="49" charset="0"/>
                <a:cs typeface="Consolas" panose="020B0609020204030204" pitchFamily="49" charset="0"/>
              </a:rPr>
              <a:t>'</a:t>
            </a:r>
            <a:r>
              <a:rPr lang="en-US" sz="2200" dirty="0" err="1">
                <a:solidFill>
                  <a:schemeClr val="bg1">
                    <a:lumMod val="95000"/>
                  </a:schemeClr>
                </a:solidFill>
                <a:latin typeface="Lucida Console" panose="020B0609040504020204" pitchFamily="49" charset="0"/>
                <a:cs typeface="Consolas" panose="020B0609020204030204" pitchFamily="49" charset="0"/>
              </a:rPr>
              <a:t>str</a:t>
            </a:r>
            <a:r>
              <a:rPr lang="en-US" sz="2200" dirty="0">
                <a:solidFill>
                  <a:schemeClr val="bg1">
                    <a:lumMod val="95000"/>
                  </a:schemeClr>
                </a:solidFill>
                <a:latin typeface="Lucida Console" panose="020B0609040504020204" pitchFamily="49" charset="0"/>
                <a:cs typeface="Consolas" panose="020B0609020204030204" pitchFamily="49" charset="0"/>
              </a:rPr>
              <a:t>'</a:t>
            </a:r>
            <a:r>
              <a:rPr lang="en-US" sz="16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bg1">
                    <a:lumMod val="95000"/>
                  </a:schemeClr>
                </a:solidFill>
                <a:latin typeface="Lucida Console" panose="020B0609040504020204" pitchFamily="49" charset="0"/>
                <a:cs typeface="Consolas" panose="020B0609020204030204" pitchFamily="49" charset="0"/>
              </a:rPr>
              <a:t>and</a:t>
            </a:r>
            <a:r>
              <a:rPr lang="en-US" sz="16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bg1">
                    <a:lumMod val="95000"/>
                  </a:schemeClr>
                </a:solidFill>
                <a:latin typeface="Lucida Console" panose="020B0609040504020204" pitchFamily="49" charset="0"/>
                <a:cs typeface="Consolas" panose="020B0609020204030204" pitchFamily="49" charset="0"/>
              </a:rPr>
              <a:t>'int'</a:t>
            </a:r>
            <a:r>
              <a:rPr lang="en-US" sz="1600" dirty="0">
                <a:solidFill>
                  <a:schemeClr val="bg1">
                    <a:lumMod val="95000"/>
                  </a:schemeClr>
                </a:solidFill>
                <a:latin typeface="Lucida Console" panose="020B0609040504020204" pitchFamily="49" charset="0"/>
                <a:cs typeface="Consolas" panose="020B0609020204030204" pitchFamily="49" charset="0"/>
              </a:rPr>
              <a:t> </a:t>
            </a:r>
            <a:r>
              <a:rPr lang="en-US" sz="2200" dirty="0">
                <a:solidFill>
                  <a:schemeClr val="bg1">
                    <a:lumMod val="95000"/>
                  </a:schemeClr>
                </a:solidFill>
                <a:latin typeface="Lucida Console" panose="020B0609040504020204" pitchFamily="49" charset="0"/>
                <a:cs typeface="Consolas" panose="020B0609020204030204" pitchFamily="49" charset="0"/>
              </a:rPr>
              <a:t>objects</a:t>
            </a:r>
          </a:p>
          <a:p>
            <a:r>
              <a:rPr lang="en-US" sz="2200" dirty="0">
                <a:solidFill>
                  <a:schemeClr val="bg1">
                    <a:lumMod val="95000"/>
                  </a:schemeClr>
                </a:solidFill>
                <a:latin typeface="Lucida Console" panose="020B0609040504020204" pitchFamily="49" charset="0"/>
                <a:cs typeface="Consolas" panose="020B0609020204030204" pitchFamily="49" charset="0"/>
              </a:rPr>
              <a:t>&gt;&gt;&gt;</a:t>
            </a:r>
          </a:p>
        </p:txBody>
      </p:sp>
      <p:cxnSp>
        <p:nvCxnSpPr>
          <p:cNvPr id="5" name="Straight Connector 4"/>
          <p:cNvCxnSpPr/>
          <p:nvPr/>
        </p:nvCxnSpPr>
        <p:spPr>
          <a:xfrm>
            <a:off x="1034129" y="6291031"/>
            <a:ext cx="1385" cy="29605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ounded Rectangular Callout 8"/>
          <p:cNvSpPr/>
          <p:nvPr/>
        </p:nvSpPr>
        <p:spPr>
          <a:xfrm>
            <a:off x="3991896" y="3252159"/>
            <a:ext cx="5734755" cy="1268005"/>
          </a:xfrm>
          <a:prstGeom prst="wedgeRoundRectCallout">
            <a:avLst>
              <a:gd name="adj1" fmla="val -96386"/>
              <a:gd name="adj2" fmla="val 168748"/>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We got an </a:t>
            </a:r>
            <a:r>
              <a:rPr lang="en-US" sz="2800" dirty="0">
                <a:solidFill>
                  <a:srgbClr val="FF0000"/>
                </a:solidFill>
              </a:rPr>
              <a:t>error</a:t>
            </a:r>
            <a:r>
              <a:rPr lang="en-US" sz="2800" dirty="0">
                <a:solidFill>
                  <a:srgbClr val="0033CC"/>
                </a:solidFill>
              </a:rPr>
              <a:t> message. Because you can’t add one (</a:t>
            </a:r>
            <a:r>
              <a:rPr lang="en-US" sz="2800" dirty="0">
                <a:solidFill>
                  <a:srgbClr val="FF0000"/>
                </a:solidFill>
              </a:rPr>
              <a:t>+1</a:t>
            </a:r>
            <a:r>
              <a:rPr lang="en-US" sz="2800" dirty="0">
                <a:solidFill>
                  <a:srgbClr val="0033CC"/>
                </a:solidFill>
              </a:rPr>
              <a:t>) to a string.</a:t>
            </a:r>
          </a:p>
        </p:txBody>
      </p:sp>
      <p:sp>
        <p:nvSpPr>
          <p:cNvPr id="8" name="Rounded Rectangular Callout 7"/>
          <p:cNvSpPr/>
          <p:nvPr/>
        </p:nvSpPr>
        <p:spPr>
          <a:xfrm>
            <a:off x="3991896" y="1631850"/>
            <a:ext cx="5733825" cy="1268005"/>
          </a:xfrm>
          <a:prstGeom prst="wedgeRoundRectCallout">
            <a:avLst>
              <a:gd name="adj1" fmla="val -8382"/>
              <a:gd name="adj2" fmla="val 105768"/>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In fact, such errors will always be caught. In other words: </a:t>
            </a:r>
            <a:r>
              <a:rPr lang="en-US" sz="2800" dirty="0">
                <a:solidFill>
                  <a:srgbClr val="FF0000"/>
                </a:solidFill>
              </a:rPr>
              <a:t>strong typing</a:t>
            </a:r>
            <a:r>
              <a:rPr lang="en-US" sz="2800" dirty="0">
                <a:solidFill>
                  <a:srgbClr val="0033CC"/>
                </a:solidFill>
              </a:rPr>
              <a:t>.</a:t>
            </a:r>
          </a:p>
        </p:txBody>
      </p:sp>
      <p:sp>
        <p:nvSpPr>
          <p:cNvPr id="12" name="Rounded Rectangular Callout 11"/>
          <p:cNvSpPr/>
          <p:nvPr/>
        </p:nvSpPr>
        <p:spPr>
          <a:xfrm>
            <a:off x="2564753" y="5771561"/>
            <a:ext cx="4314614" cy="958793"/>
          </a:xfrm>
          <a:prstGeom prst="wedgeRoundRectCallout">
            <a:avLst>
              <a:gd name="adj1" fmla="val -66155"/>
              <a:gd name="adj2" fmla="val -113981"/>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33CC"/>
                </a:solidFill>
              </a:rPr>
              <a:t>But it did print the value of </a:t>
            </a:r>
            <a:r>
              <a:rPr lang="en-US" sz="2800" dirty="0">
                <a:solidFill>
                  <a:srgbClr val="FF0000"/>
                </a:solidFill>
              </a:rPr>
              <a:t>x</a:t>
            </a:r>
            <a:r>
              <a:rPr lang="en-US" sz="2800" dirty="0">
                <a:solidFill>
                  <a:srgbClr val="0033CC"/>
                </a:solidFill>
              </a:rPr>
              <a:t>, before it crashed.</a:t>
            </a:r>
          </a:p>
        </p:txBody>
      </p:sp>
      <p:cxnSp>
        <p:nvCxnSpPr>
          <p:cNvPr id="13" name="Straight Arrow Connector 12"/>
          <p:cNvCxnSpPr/>
          <p:nvPr/>
        </p:nvCxnSpPr>
        <p:spPr>
          <a:xfrm flipH="1" flipV="1">
            <a:off x="2403835" y="4892511"/>
            <a:ext cx="933255" cy="1480009"/>
          </a:xfrm>
          <a:prstGeom prst="straightConnector1">
            <a:avLst/>
          </a:prstGeom>
          <a:ln w="285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3268394" y="4168877"/>
            <a:ext cx="3909155" cy="539111"/>
          </a:xfrm>
          <a:prstGeom prst="straightConnector1">
            <a:avLst/>
          </a:prstGeom>
          <a:ln w="285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418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par>
                                <p:cTn id="7" presetID="14" presetClass="entr" presetSubtype="1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randombar(horizontal)">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xit" presetSubtype="10" fill="hold" grpId="1" nodeType="clickEffect">
                                  <p:stCondLst>
                                    <p:cond delay="0"/>
                                  </p:stCondLst>
                                  <p:childTnLst>
                                    <p:animEffect transition="out" filter="randombar(horizontal)">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par>
                          <p:cTn id="15" fill="hold">
                            <p:stCondLst>
                              <p:cond delay="500"/>
                            </p:stCondLst>
                            <p:childTnLst>
                              <p:par>
                                <p:cTn id="16" presetID="14" presetClass="exit" presetSubtype="10" fill="hold" nodeType="afterEffect">
                                  <p:stCondLst>
                                    <p:cond delay="0"/>
                                  </p:stCondLst>
                                  <p:childTnLst>
                                    <p:animEffect transition="out" filter="randombar(horizontal)">
                                      <p:cBhvr>
                                        <p:cTn id="17" dur="500"/>
                                        <p:tgtEl>
                                          <p:spTgt spid="14"/>
                                        </p:tgtEl>
                                      </p:cBhvr>
                                    </p:animEffect>
                                    <p:set>
                                      <p:cBhvr>
                                        <p:cTn id="18" dur="1" fill="hold">
                                          <p:stCondLst>
                                            <p:cond delay="499"/>
                                          </p:stCondLst>
                                        </p:cTn>
                                        <p:tgtEl>
                                          <p:spTgt spid="14"/>
                                        </p:tgtEl>
                                        <p:attrNameLst>
                                          <p:attrName>style.visibility</p:attrName>
                                        </p:attrNameLst>
                                      </p:cBhvr>
                                      <p:to>
                                        <p:strVal val="hidden"/>
                                      </p:to>
                                    </p:set>
                                  </p:childTnLst>
                                </p:cTn>
                              </p:par>
                              <p:par>
                                <p:cTn id="19" presetID="14" presetClass="exit" presetSubtype="10" fill="hold" grpId="0" nodeType="withEffect">
                                  <p:stCondLst>
                                    <p:cond delay="0"/>
                                  </p:stCondLst>
                                  <p:childTnLst>
                                    <p:animEffect transition="out" filter="randombar(horizontal)">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randombar(horizontal)">
                                      <p:cBhvr>
                                        <p:cTn id="26" dur="500"/>
                                        <p:tgtEl>
                                          <p:spTgt spid="12"/>
                                        </p:tgtEl>
                                      </p:cBhvr>
                                    </p:animEffect>
                                  </p:childTnLst>
                                </p:cTn>
                              </p:par>
                            </p:childTnLst>
                          </p:cTn>
                        </p:par>
                        <p:par>
                          <p:cTn id="27" fill="hold">
                            <p:stCondLst>
                              <p:cond delay="500"/>
                            </p:stCondLst>
                            <p:childTnLst>
                              <p:par>
                                <p:cTn id="28" presetID="22" presetClass="entr" presetSubtype="2"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right)">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8" grpId="1" animBg="1"/>
      <p:bldP spid="12"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45454" y="1743468"/>
            <a:ext cx="9684334" cy="3605772"/>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39725" indent="-339725">
              <a:buFont typeface="Arial" panose="020B0604020202020204" pitchFamily="34" charset="0"/>
              <a:buChar char="•"/>
            </a:pPr>
            <a:r>
              <a:rPr lang="en-US" sz="4800" dirty="0">
                <a:latin typeface="Times New Roman" panose="02020603050405020304" pitchFamily="18" charset="0"/>
                <a:cs typeface="Times New Roman" panose="02020603050405020304" pitchFamily="18" charset="0"/>
              </a:rPr>
              <a:t>Not just data, but also </a:t>
            </a:r>
            <a:r>
              <a:rPr lang="en-US" sz="4800" dirty="0" smtClean="0">
                <a:latin typeface="Times New Roman" panose="02020603050405020304" pitchFamily="18" charset="0"/>
                <a:cs typeface="Times New Roman" panose="02020603050405020304" pitchFamily="18" charset="0"/>
              </a:rPr>
              <a:t>functions.</a:t>
            </a:r>
            <a:endParaRPr lang="en-US" sz="4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339725" indent="-339725">
              <a:buFont typeface="Arial" panose="020B0604020202020204" pitchFamily="34" charset="0"/>
              <a:buChar char="•"/>
            </a:pPr>
            <a:r>
              <a:rPr lang="en-US" sz="4800" dirty="0" smtClean="0">
                <a:latin typeface="Times New Roman" panose="02020603050405020304" pitchFamily="18" charset="0"/>
                <a:cs typeface="Times New Roman" panose="02020603050405020304" pitchFamily="18" charset="0"/>
              </a:rPr>
              <a:t>You get </a:t>
            </a:r>
            <a:r>
              <a:rPr lang="en-US" sz="4800" b="1" i="1" dirty="0" smtClean="0">
                <a:solidFill>
                  <a:srgbClr val="008000"/>
                </a:solidFill>
                <a:latin typeface="Times New Roman" panose="02020603050405020304" pitchFamily="18" charset="0"/>
                <a:cs typeface="Times New Roman" panose="02020603050405020304" pitchFamily="18" charset="0"/>
              </a:rPr>
              <a:t>dynamic </a:t>
            </a:r>
            <a:r>
              <a:rPr lang="en-US" sz="4800" b="1" i="1" dirty="0">
                <a:solidFill>
                  <a:srgbClr val="008000"/>
                </a:solidFill>
                <a:latin typeface="Times New Roman" panose="02020603050405020304" pitchFamily="18" charset="0"/>
                <a:cs typeface="Times New Roman" panose="02020603050405020304" pitchFamily="18" charset="0"/>
              </a:rPr>
              <a:t>type binding</a:t>
            </a:r>
            <a:r>
              <a:rPr lang="en-US" sz="4800" b="1" dirty="0">
                <a:solidFill>
                  <a:srgbClr val="008000"/>
                </a:solidFill>
                <a:latin typeface="Times New Roman" panose="02020603050405020304" pitchFamily="18" charset="0"/>
                <a:cs typeface="Times New Roman" panose="02020603050405020304" pitchFamily="18" charset="0"/>
              </a:rPr>
              <a:t> </a:t>
            </a:r>
            <a:r>
              <a:rPr lang="en-US" sz="4800" dirty="0">
                <a:latin typeface="Times New Roman" panose="02020603050405020304" pitchFamily="18" charset="0"/>
                <a:cs typeface="Times New Roman" panose="02020603050405020304" pitchFamily="18" charset="0"/>
              </a:rPr>
              <a:t>while still guaranteeing </a:t>
            </a:r>
            <a:r>
              <a:rPr lang="en-US" sz="4800" b="1" i="1" dirty="0" smtClean="0">
                <a:solidFill>
                  <a:schemeClr val="accent4">
                    <a:lumMod val="75000"/>
                  </a:schemeClr>
                </a:solidFill>
                <a:latin typeface="Times New Roman" panose="02020603050405020304" pitchFamily="18" charset="0"/>
                <a:cs typeface="Times New Roman" panose="02020603050405020304" pitchFamily="18" charset="0"/>
              </a:rPr>
              <a:t>strong typing</a:t>
            </a:r>
            <a:r>
              <a:rPr lang="en-US" sz="4800" dirty="0" smtClean="0">
                <a:latin typeface="Times New Roman" panose="02020603050405020304" pitchFamily="18" charset="0"/>
                <a:cs typeface="Times New Roman" panose="02020603050405020304" pitchFamily="18" charset="0"/>
              </a:rPr>
              <a:t>.</a:t>
            </a:r>
            <a:endParaRPr lang="en-US" sz="4800" b="1" i="1" dirty="0">
              <a:solidFill>
                <a:schemeClr val="accent4">
                  <a:lumMod val="75000"/>
                </a:schemeClr>
              </a:solidFill>
              <a:latin typeface="Times New Roman" panose="02020603050405020304" pitchFamily="18" charset="0"/>
              <a:cs typeface="Times New Roman" panose="02020603050405020304" pitchFamily="18" charset="0"/>
            </a:endParaRPr>
          </a:p>
          <a:p>
            <a:pPr marL="852488" lvl="1" indent="-390525">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But what does that mean? </a:t>
            </a:r>
            <a:endParaRPr lang="en-US" sz="4400" dirty="0" smtClean="0">
              <a:latin typeface="Times New Roman" panose="02020603050405020304" pitchFamily="18" charset="0"/>
              <a:cs typeface="Times New Roman" panose="02020603050405020304" pitchFamily="18" charset="0"/>
            </a:endParaRPr>
          </a:p>
          <a:p>
            <a:pPr marL="852488" lvl="1" indent="-390525">
              <a:buFont typeface="Arial" panose="020B0604020202020204" pitchFamily="34" charset="0"/>
              <a:buChar char="•"/>
            </a:pPr>
            <a:r>
              <a:rPr lang="en-US" sz="4400" dirty="0" smtClean="0">
                <a:solidFill>
                  <a:srgbClr val="FF0000"/>
                </a:solidFill>
                <a:latin typeface="Times New Roman" panose="02020603050405020304" pitchFamily="18" charset="0"/>
                <a:cs typeface="Times New Roman" panose="02020603050405020304" pitchFamily="18" charset="0"/>
              </a:rPr>
              <a:t>Well</a:t>
            </a:r>
            <a:r>
              <a:rPr lang="en-US" sz="4400" dirty="0">
                <a:solidFill>
                  <a:srgbClr val="FF0000"/>
                </a:solidFill>
                <a:latin typeface="Times New Roman" panose="02020603050405020304" pitchFamily="18" charset="0"/>
                <a:cs typeface="Times New Roman" panose="02020603050405020304" pitchFamily="18" charset="0"/>
              </a:rPr>
              <a:t>, an example can illustrate it...</a:t>
            </a:r>
          </a:p>
        </p:txBody>
      </p:sp>
      <p:sp>
        <p:nvSpPr>
          <p:cNvPr id="42" name="Title 1"/>
          <p:cNvSpPr>
            <a:spLocks noGrp="1"/>
          </p:cNvSpPr>
          <p:nvPr>
            <p:ph type="title"/>
          </p:nvPr>
        </p:nvSpPr>
        <p:spPr>
          <a:xfrm>
            <a:off x="0" y="-3841"/>
            <a:ext cx="9729788" cy="1747310"/>
          </a:xfrm>
          <a:solidFill>
            <a:schemeClr val="bg1"/>
          </a:solidFill>
        </p:spPr>
        <p:txBody>
          <a:bodyPr>
            <a:normAutofit/>
          </a:bodyPr>
          <a:lstStyle/>
          <a:p>
            <a:pPr algn="ct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Python takes the idea of objects </a:t>
            </a:r>
            <a:r>
              <a:rPr lang="en-US" sz="5400" b="1" spc="-100" dirty="0" smtClean="0">
                <a:solidFill>
                  <a:schemeClr val="accent1">
                    <a:lumMod val="75000"/>
                  </a:schemeClr>
                </a:solidFill>
                <a:latin typeface="Times New Roman" panose="02020603050405020304" pitchFamily="18" charset="0"/>
                <a:cs typeface="Times New Roman" panose="02020603050405020304" pitchFamily="18" charset="0"/>
              </a:rPr>
              <a:t> to </a:t>
            </a: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its limit: </a:t>
            </a:r>
            <a:r>
              <a:rPr lang="en-US" sz="5400" b="1" i="1" spc="-100" dirty="0">
                <a:solidFill>
                  <a:schemeClr val="accent1">
                    <a:lumMod val="75000"/>
                  </a:schemeClr>
                </a:solidFill>
                <a:latin typeface="Times New Roman" panose="02020603050405020304" pitchFamily="18" charset="0"/>
                <a:cs typeface="Times New Roman" panose="02020603050405020304" pitchFamily="18" charset="0"/>
              </a:rPr>
              <a:t>everything</a:t>
            </a: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 is an object</a:t>
            </a:r>
          </a:p>
        </p:txBody>
      </p:sp>
    </p:spTree>
    <p:extLst>
      <p:ext uri="{BB962C8B-B14F-4D97-AF65-F5344CB8AC3E}">
        <p14:creationId xmlns:p14="http://schemas.microsoft.com/office/powerpoint/2010/main" val="258355407"/>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45454" y="1743468"/>
            <a:ext cx="9684334" cy="3605772"/>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39725" indent="-339725">
              <a:buFont typeface="Arial" panose="020B0604020202020204" pitchFamily="34" charset="0"/>
              <a:buChar char="•"/>
            </a:pPr>
            <a:r>
              <a:rPr lang="en-US" sz="4800" dirty="0">
                <a:latin typeface="Times New Roman" panose="02020603050405020304" pitchFamily="18" charset="0"/>
                <a:cs typeface="Times New Roman" panose="02020603050405020304" pitchFamily="18" charset="0"/>
              </a:rPr>
              <a:t>Not just data, but also </a:t>
            </a:r>
            <a:r>
              <a:rPr lang="en-US" sz="4800" dirty="0" smtClean="0">
                <a:latin typeface="Times New Roman" panose="02020603050405020304" pitchFamily="18" charset="0"/>
                <a:cs typeface="Times New Roman" panose="02020603050405020304" pitchFamily="18" charset="0"/>
              </a:rPr>
              <a:t>functions.</a:t>
            </a:r>
            <a:endParaRPr lang="en-US" sz="4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339725" indent="-339725">
              <a:buFont typeface="Arial" panose="020B0604020202020204" pitchFamily="34" charset="0"/>
              <a:buChar char="•"/>
            </a:pPr>
            <a:r>
              <a:rPr lang="en-US" sz="4800" dirty="0" smtClean="0">
                <a:latin typeface="Times New Roman" panose="02020603050405020304" pitchFamily="18" charset="0"/>
                <a:cs typeface="Times New Roman" panose="02020603050405020304" pitchFamily="18" charset="0"/>
              </a:rPr>
              <a:t>You get </a:t>
            </a:r>
            <a:r>
              <a:rPr lang="en-US" sz="4800" b="1" i="1" dirty="0" smtClean="0">
                <a:solidFill>
                  <a:srgbClr val="008000"/>
                </a:solidFill>
                <a:latin typeface="Times New Roman" panose="02020603050405020304" pitchFamily="18" charset="0"/>
                <a:cs typeface="Times New Roman" panose="02020603050405020304" pitchFamily="18" charset="0"/>
              </a:rPr>
              <a:t>dynamic </a:t>
            </a:r>
            <a:r>
              <a:rPr lang="en-US" sz="4800" b="1" i="1" dirty="0">
                <a:solidFill>
                  <a:srgbClr val="008000"/>
                </a:solidFill>
                <a:latin typeface="Times New Roman" panose="02020603050405020304" pitchFamily="18" charset="0"/>
                <a:cs typeface="Times New Roman" panose="02020603050405020304" pitchFamily="18" charset="0"/>
              </a:rPr>
              <a:t>type binding</a:t>
            </a:r>
            <a:r>
              <a:rPr lang="en-US" sz="4800" b="1" dirty="0">
                <a:solidFill>
                  <a:srgbClr val="008000"/>
                </a:solidFill>
                <a:latin typeface="Times New Roman" panose="02020603050405020304" pitchFamily="18" charset="0"/>
                <a:cs typeface="Times New Roman" panose="02020603050405020304" pitchFamily="18" charset="0"/>
              </a:rPr>
              <a:t> </a:t>
            </a:r>
            <a:r>
              <a:rPr lang="en-US" sz="4800" dirty="0">
                <a:latin typeface="Times New Roman" panose="02020603050405020304" pitchFamily="18" charset="0"/>
                <a:cs typeface="Times New Roman" panose="02020603050405020304" pitchFamily="18" charset="0"/>
              </a:rPr>
              <a:t>while still guaranteeing </a:t>
            </a:r>
            <a:r>
              <a:rPr lang="en-US" sz="4800" b="1" i="1" dirty="0" smtClean="0">
                <a:solidFill>
                  <a:schemeClr val="accent4">
                    <a:lumMod val="75000"/>
                  </a:schemeClr>
                </a:solidFill>
                <a:latin typeface="Times New Roman" panose="02020603050405020304" pitchFamily="18" charset="0"/>
                <a:cs typeface="Times New Roman" panose="02020603050405020304" pitchFamily="18" charset="0"/>
              </a:rPr>
              <a:t>strong typing</a:t>
            </a:r>
            <a:r>
              <a:rPr lang="en-US" sz="4800" dirty="0" smtClean="0">
                <a:latin typeface="Times New Roman" panose="02020603050405020304" pitchFamily="18" charset="0"/>
                <a:cs typeface="Times New Roman" panose="02020603050405020304" pitchFamily="18" charset="0"/>
              </a:rPr>
              <a:t>.</a:t>
            </a:r>
            <a:endParaRPr lang="en-US" sz="4800" b="1" i="1" dirty="0">
              <a:solidFill>
                <a:schemeClr val="accent4">
                  <a:lumMod val="75000"/>
                </a:schemeClr>
              </a:solidFill>
              <a:latin typeface="Times New Roman" panose="02020603050405020304" pitchFamily="18" charset="0"/>
              <a:cs typeface="Times New Roman" panose="02020603050405020304" pitchFamily="18" charset="0"/>
            </a:endParaRPr>
          </a:p>
          <a:p>
            <a:pPr marL="852488" lvl="1" indent="-390525">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But what does that mean? </a:t>
            </a:r>
          </a:p>
          <a:p>
            <a:pPr marL="852488" lvl="1" indent="-390525">
              <a:buFont typeface="Arial" panose="020B0604020202020204" pitchFamily="34" charset="0"/>
              <a:buChar char="•"/>
            </a:pPr>
            <a:r>
              <a:rPr lang="en-US" sz="4400" dirty="0">
                <a:solidFill>
                  <a:srgbClr val="008000"/>
                </a:solidFill>
                <a:latin typeface="Times New Roman" panose="02020603050405020304" pitchFamily="18" charset="0"/>
                <a:cs typeface="Times New Roman" panose="02020603050405020304" pitchFamily="18" charset="0"/>
              </a:rPr>
              <a:t>And, now we have seen that example.</a:t>
            </a:r>
          </a:p>
        </p:txBody>
      </p:sp>
      <p:sp>
        <p:nvSpPr>
          <p:cNvPr id="42" name="Title 1"/>
          <p:cNvSpPr>
            <a:spLocks noGrp="1"/>
          </p:cNvSpPr>
          <p:nvPr>
            <p:ph type="title"/>
          </p:nvPr>
        </p:nvSpPr>
        <p:spPr>
          <a:xfrm>
            <a:off x="0" y="-3841"/>
            <a:ext cx="9729788" cy="1747310"/>
          </a:xfrm>
          <a:solidFill>
            <a:schemeClr val="bg1"/>
          </a:solidFill>
        </p:spPr>
        <p:txBody>
          <a:bodyPr>
            <a:normAutofit/>
          </a:bodyPr>
          <a:lstStyle/>
          <a:p>
            <a:pPr algn="ct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Python takes the idea of objects </a:t>
            </a:r>
            <a:r>
              <a:rPr lang="en-US" sz="5400" b="1" spc="-100" dirty="0" smtClean="0">
                <a:solidFill>
                  <a:schemeClr val="accent1">
                    <a:lumMod val="75000"/>
                  </a:schemeClr>
                </a:solidFill>
                <a:latin typeface="Times New Roman" panose="02020603050405020304" pitchFamily="18" charset="0"/>
                <a:cs typeface="Times New Roman" panose="02020603050405020304" pitchFamily="18" charset="0"/>
              </a:rPr>
              <a:t> to </a:t>
            </a: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its limit: </a:t>
            </a:r>
            <a:r>
              <a:rPr lang="en-US" sz="5400" b="1" i="1" spc="-100" dirty="0">
                <a:solidFill>
                  <a:schemeClr val="accent1">
                    <a:lumMod val="75000"/>
                  </a:schemeClr>
                </a:solidFill>
                <a:latin typeface="Times New Roman" panose="02020603050405020304" pitchFamily="18" charset="0"/>
                <a:cs typeface="Times New Roman" panose="02020603050405020304" pitchFamily="18" charset="0"/>
              </a:rPr>
              <a:t>everything</a:t>
            </a: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 is an object</a:t>
            </a:r>
          </a:p>
        </p:txBody>
      </p:sp>
      <p:sp>
        <p:nvSpPr>
          <p:cNvPr id="4" name="Title 1"/>
          <p:cNvSpPr txBox="1">
            <a:spLocks/>
          </p:cNvSpPr>
          <p:nvPr/>
        </p:nvSpPr>
        <p:spPr>
          <a:xfrm>
            <a:off x="45454" y="5191518"/>
            <a:ext cx="9684334" cy="1666482"/>
          </a:xfrm>
          <a:prstGeom prst="rect">
            <a:avLst/>
          </a:prstGeom>
          <a:solidFill>
            <a:schemeClr val="bg1"/>
          </a:solid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39725" indent="-339725">
              <a:buFont typeface="Arial" panose="020B0604020202020204" pitchFamily="34" charset="0"/>
              <a:buChar char="•"/>
            </a:pPr>
            <a:r>
              <a:rPr lang="en-US" sz="4800" spc="-40" dirty="0">
                <a:solidFill>
                  <a:srgbClr val="FF0000"/>
                </a:solidFill>
                <a:latin typeface="Times New Roman" panose="02020603050405020304" pitchFamily="18" charset="0"/>
                <a:cs typeface="Times New Roman" panose="02020603050405020304" pitchFamily="18" charset="0"/>
              </a:rPr>
              <a:t>C</a:t>
            </a:r>
            <a:r>
              <a:rPr lang="en-US" sz="4800" spc="-40" dirty="0" smtClean="0">
                <a:solidFill>
                  <a:srgbClr val="FF0000"/>
                </a:solidFill>
                <a:latin typeface="Times New Roman" panose="02020603050405020304" pitchFamily="18" charset="0"/>
                <a:cs typeface="Times New Roman" panose="02020603050405020304" pitchFamily="18" charset="0"/>
              </a:rPr>
              <a:t>onsider</a:t>
            </a:r>
            <a:r>
              <a:rPr lang="en-US" sz="4800" spc="-40" dirty="0">
                <a:solidFill>
                  <a:srgbClr val="FF0000"/>
                </a:solidFill>
                <a:latin typeface="Times New Roman" panose="02020603050405020304" pitchFamily="18" charset="0"/>
                <a:cs typeface="Times New Roman" panose="02020603050405020304" pitchFamily="18" charset="0"/>
              </a:rPr>
              <a:t>:</a:t>
            </a:r>
            <a:r>
              <a:rPr lang="en-US" sz="3000" spc="-40" dirty="0">
                <a:solidFill>
                  <a:srgbClr val="FF0000"/>
                </a:solidFill>
                <a:latin typeface="Times New Roman" panose="02020603050405020304" pitchFamily="18" charset="0"/>
                <a:cs typeface="Times New Roman" panose="02020603050405020304" pitchFamily="18" charset="0"/>
              </a:rPr>
              <a:t> </a:t>
            </a:r>
            <a:r>
              <a:rPr lang="en-US" sz="4800" i="1" spc="-200" dirty="0">
                <a:solidFill>
                  <a:srgbClr val="FF0000"/>
                </a:solidFill>
                <a:latin typeface="Times New Roman" panose="02020603050405020304" pitchFamily="18" charset="0"/>
                <a:cs typeface="Times New Roman" panose="02020603050405020304" pitchFamily="18" charset="0"/>
              </a:rPr>
              <a:t>H</a:t>
            </a:r>
            <a:r>
              <a:rPr lang="en-US" sz="4800" i="1" spc="-100" dirty="0">
                <a:solidFill>
                  <a:srgbClr val="FF0000"/>
                </a:solidFill>
                <a:latin typeface="Times New Roman" panose="02020603050405020304" pitchFamily="18" charset="0"/>
                <a:cs typeface="Times New Roman" panose="02020603050405020304" pitchFamily="18" charset="0"/>
              </a:rPr>
              <a:t>o</a:t>
            </a:r>
            <a:r>
              <a:rPr lang="en-US" sz="4800" i="1" spc="-40" dirty="0">
                <a:solidFill>
                  <a:srgbClr val="FF0000"/>
                </a:solidFill>
                <a:latin typeface="Times New Roman" panose="02020603050405020304" pitchFamily="18" charset="0"/>
                <a:cs typeface="Times New Roman" panose="02020603050405020304" pitchFamily="18" charset="0"/>
              </a:rPr>
              <a:t>w</a:t>
            </a:r>
            <a:r>
              <a:rPr lang="en-US" sz="4800" spc="-40" dirty="0">
                <a:solidFill>
                  <a:srgbClr val="FF0000"/>
                </a:solidFill>
                <a:latin typeface="Times New Roman" panose="02020603050405020304" pitchFamily="18" charset="0"/>
                <a:cs typeface="Times New Roman" panose="02020603050405020304" pitchFamily="18" charset="0"/>
              </a:rPr>
              <a:t> does Python achieve thi</a:t>
            </a:r>
            <a:r>
              <a:rPr lang="en-US" sz="4800" spc="-140" dirty="0">
                <a:solidFill>
                  <a:srgbClr val="FF0000"/>
                </a:solidFill>
                <a:latin typeface="Times New Roman" panose="02020603050405020304" pitchFamily="18" charset="0"/>
                <a:cs typeface="Times New Roman" panose="02020603050405020304" pitchFamily="18" charset="0"/>
              </a:rPr>
              <a:t>s</a:t>
            </a:r>
            <a:r>
              <a:rPr lang="en-US" sz="4800" spc="-40" dirty="0">
                <a:solidFill>
                  <a:srgbClr val="FF0000"/>
                </a:solidFill>
                <a:latin typeface="Times New Roman" panose="02020603050405020304" pitchFamily="18" charset="0"/>
                <a:cs typeface="Times New Roman" panose="02020603050405020304" pitchFamily="18" charset="0"/>
              </a:rPr>
              <a:t>?</a:t>
            </a:r>
          </a:p>
          <a:p>
            <a:pPr lvl="1"/>
            <a:r>
              <a:rPr lang="en-US" sz="4300" dirty="0" smtClean="0">
                <a:solidFill>
                  <a:schemeClr val="bg1"/>
                </a:solidFill>
                <a:latin typeface="Times New Roman" panose="02020603050405020304" pitchFamily="18" charset="0"/>
                <a:cs typeface="Times New Roman" panose="02020603050405020304" pitchFamily="18" charset="0"/>
              </a:rPr>
              <a:t>.</a:t>
            </a:r>
            <a:endParaRPr lang="en-US" sz="4300" dirty="0">
              <a:solidFill>
                <a:schemeClr val="bg1"/>
              </a:solidFill>
              <a:latin typeface="Times New Roman" panose="02020603050405020304" pitchFamily="18" charset="0"/>
              <a:cs typeface="Times New Roman" panose="02020603050405020304" pitchFamily="18" charset="0"/>
            </a:endParaRPr>
          </a:p>
        </p:txBody>
      </p:sp>
      <p:sp>
        <p:nvSpPr>
          <p:cNvPr id="5" name="Rounded Rectangular Callout 4"/>
          <p:cNvSpPr/>
          <p:nvPr/>
        </p:nvSpPr>
        <p:spPr>
          <a:xfrm>
            <a:off x="554805" y="2065311"/>
            <a:ext cx="7325474" cy="2247268"/>
          </a:xfrm>
          <a:prstGeom prst="wedgeRoundRectCallout">
            <a:avLst>
              <a:gd name="adj1" fmla="val -13490"/>
              <a:gd name="adj2" fmla="val 10506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0033CC"/>
                </a:solidFill>
              </a:rPr>
              <a:t>It is fair to ask: Why </a:t>
            </a:r>
            <a:r>
              <a:rPr lang="en-US" sz="3200" dirty="0" smtClean="0">
                <a:solidFill>
                  <a:srgbClr val="0033CC"/>
                </a:solidFill>
              </a:rPr>
              <a:t>consider </a:t>
            </a:r>
            <a:r>
              <a:rPr lang="en-US" sz="3200" i="1" dirty="0">
                <a:solidFill>
                  <a:srgbClr val="0033CC"/>
                </a:solidFill>
              </a:rPr>
              <a:t>how</a:t>
            </a:r>
            <a:r>
              <a:rPr lang="en-US" sz="3200" dirty="0">
                <a:solidFill>
                  <a:srgbClr val="0033CC"/>
                </a:solidFill>
              </a:rPr>
              <a:t>?</a:t>
            </a:r>
          </a:p>
          <a:p>
            <a:pPr algn="ctr"/>
            <a:r>
              <a:rPr lang="en-US" sz="3200" dirty="0" smtClean="0">
                <a:solidFill>
                  <a:srgbClr val="0033CC"/>
                </a:solidFill>
              </a:rPr>
              <a:t>Why not just use it, without </a:t>
            </a:r>
            <a:r>
              <a:rPr lang="en-US" sz="3200" dirty="0">
                <a:solidFill>
                  <a:srgbClr val="0033CC"/>
                </a:solidFill>
              </a:rPr>
              <a:t>going deeper. </a:t>
            </a:r>
            <a:r>
              <a:rPr lang="en-US" sz="3200" dirty="0" smtClean="0">
                <a:solidFill>
                  <a:srgbClr val="0033CC"/>
                </a:solidFill>
              </a:rPr>
              <a:t/>
            </a:r>
            <a:br>
              <a:rPr lang="en-US" sz="3200" dirty="0" smtClean="0">
                <a:solidFill>
                  <a:srgbClr val="0033CC"/>
                </a:solidFill>
              </a:rPr>
            </a:br>
            <a:r>
              <a:rPr lang="en-US" sz="3200" dirty="0" smtClean="0">
                <a:solidFill>
                  <a:srgbClr val="0033CC"/>
                </a:solidFill>
              </a:rPr>
              <a:t>In </a:t>
            </a:r>
            <a:r>
              <a:rPr lang="en-US" sz="3200" dirty="0">
                <a:solidFill>
                  <a:srgbClr val="0033CC"/>
                </a:solidFill>
              </a:rPr>
              <a:t>fact if this course was CSE 101 instead of CSE282, that is what we would do. </a:t>
            </a:r>
          </a:p>
        </p:txBody>
      </p:sp>
    </p:spTree>
    <p:extLst>
      <p:ext uri="{BB962C8B-B14F-4D97-AF65-F5344CB8AC3E}">
        <p14:creationId xmlns:p14="http://schemas.microsoft.com/office/powerpoint/2010/main" val="256954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5">
                                            <p:txEl>
                                              <p:pRg st="4" end="4"/>
                                            </p:txEl>
                                          </p:spTgt>
                                        </p:tgtEl>
                                        <p:attrNameLst>
                                          <p:attrName>style.visibility</p:attrName>
                                        </p:attrNameLst>
                                      </p:cBhvr>
                                      <p:to>
                                        <p:strVal val="visible"/>
                                      </p:to>
                                    </p:set>
                                    <p:animEffect transition="in" filter="randombar(horizontal)">
                                      <p:cBhvr>
                                        <p:cTn id="7" dur="500"/>
                                        <p:tgtEl>
                                          <p:spTgt spid="15">
                                            <p:txEl>
                                              <p:pRg st="4" end="4"/>
                                            </p:txEl>
                                          </p:spTgt>
                                        </p:tgtEl>
                                      </p:cBhvr>
                                    </p:animEffect>
                                  </p:childTnLst>
                                  <p:subTnLst>
                                    <p:animClr clrSpc="rgb" dir="cw">
                                      <p:cBhvr override="childStyle">
                                        <p:cTn dur="1" fill="hold" display="0" masterRel="nextClick" afterEffect="1"/>
                                        <p:tgtEl>
                                          <p:spTgt spid="15">
                                            <p:txEl>
                                              <p:pRg st="4" end="4"/>
                                            </p:txEl>
                                          </p:spTgt>
                                        </p:tgtEl>
                                        <p:attrNameLst>
                                          <p:attrName>ppt_c</p:attrName>
                                        </p:attrNameLst>
                                      </p:cBhvr>
                                      <p:to>
                                        <a:srgbClr val="969696"/>
                                      </p:to>
                                    </p:animClr>
                                  </p:sub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45454" y="1743468"/>
            <a:ext cx="9684334" cy="3605772"/>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39725" indent="-339725">
              <a:buFont typeface="Arial" panose="020B0604020202020204" pitchFamily="34" charset="0"/>
              <a:buChar char="•"/>
            </a:pPr>
            <a:r>
              <a:rPr lang="en-US" sz="4800" dirty="0">
                <a:latin typeface="Times New Roman" panose="02020603050405020304" pitchFamily="18" charset="0"/>
                <a:cs typeface="Times New Roman" panose="02020603050405020304" pitchFamily="18" charset="0"/>
              </a:rPr>
              <a:t>Not just data, but also </a:t>
            </a:r>
            <a:r>
              <a:rPr lang="en-US" sz="4800" dirty="0" smtClean="0">
                <a:latin typeface="Times New Roman" panose="02020603050405020304" pitchFamily="18" charset="0"/>
                <a:cs typeface="Times New Roman" panose="02020603050405020304" pitchFamily="18" charset="0"/>
              </a:rPr>
              <a:t>functions.</a:t>
            </a:r>
            <a:endParaRPr lang="en-US" sz="4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339725" indent="-339725">
              <a:buFont typeface="Arial" panose="020B0604020202020204" pitchFamily="34" charset="0"/>
              <a:buChar char="•"/>
            </a:pPr>
            <a:r>
              <a:rPr lang="en-US" sz="4800" dirty="0" smtClean="0">
                <a:latin typeface="Times New Roman" panose="02020603050405020304" pitchFamily="18" charset="0"/>
                <a:cs typeface="Times New Roman" panose="02020603050405020304" pitchFamily="18" charset="0"/>
              </a:rPr>
              <a:t>You get </a:t>
            </a:r>
            <a:r>
              <a:rPr lang="en-US" sz="4800" b="1" i="1" dirty="0" smtClean="0">
                <a:solidFill>
                  <a:srgbClr val="008000"/>
                </a:solidFill>
                <a:latin typeface="Times New Roman" panose="02020603050405020304" pitchFamily="18" charset="0"/>
                <a:cs typeface="Times New Roman" panose="02020603050405020304" pitchFamily="18" charset="0"/>
              </a:rPr>
              <a:t>dynamic </a:t>
            </a:r>
            <a:r>
              <a:rPr lang="en-US" sz="4800" b="1" i="1" dirty="0">
                <a:solidFill>
                  <a:srgbClr val="008000"/>
                </a:solidFill>
                <a:latin typeface="Times New Roman" panose="02020603050405020304" pitchFamily="18" charset="0"/>
                <a:cs typeface="Times New Roman" panose="02020603050405020304" pitchFamily="18" charset="0"/>
              </a:rPr>
              <a:t>type binding</a:t>
            </a:r>
            <a:r>
              <a:rPr lang="en-US" sz="4800" b="1" dirty="0">
                <a:solidFill>
                  <a:srgbClr val="008000"/>
                </a:solidFill>
                <a:latin typeface="Times New Roman" panose="02020603050405020304" pitchFamily="18" charset="0"/>
                <a:cs typeface="Times New Roman" panose="02020603050405020304" pitchFamily="18" charset="0"/>
              </a:rPr>
              <a:t> </a:t>
            </a:r>
            <a:r>
              <a:rPr lang="en-US" sz="4800" dirty="0">
                <a:latin typeface="Times New Roman" panose="02020603050405020304" pitchFamily="18" charset="0"/>
                <a:cs typeface="Times New Roman" panose="02020603050405020304" pitchFamily="18" charset="0"/>
              </a:rPr>
              <a:t>while still guaranteeing </a:t>
            </a:r>
            <a:r>
              <a:rPr lang="en-US" sz="4800" b="1" i="1" dirty="0" smtClean="0">
                <a:solidFill>
                  <a:schemeClr val="accent4">
                    <a:lumMod val="75000"/>
                  </a:schemeClr>
                </a:solidFill>
                <a:latin typeface="Times New Roman" panose="02020603050405020304" pitchFamily="18" charset="0"/>
                <a:cs typeface="Times New Roman" panose="02020603050405020304" pitchFamily="18" charset="0"/>
              </a:rPr>
              <a:t>strong typing</a:t>
            </a:r>
            <a:r>
              <a:rPr lang="en-US" sz="4800" dirty="0" smtClean="0">
                <a:latin typeface="Times New Roman" panose="02020603050405020304" pitchFamily="18" charset="0"/>
                <a:cs typeface="Times New Roman" panose="02020603050405020304" pitchFamily="18" charset="0"/>
              </a:rPr>
              <a:t>.</a:t>
            </a:r>
            <a:endParaRPr lang="en-US" sz="4800" b="1" i="1" dirty="0">
              <a:solidFill>
                <a:schemeClr val="accent4">
                  <a:lumMod val="75000"/>
                </a:schemeClr>
              </a:solidFill>
              <a:latin typeface="Times New Roman" panose="02020603050405020304" pitchFamily="18" charset="0"/>
              <a:cs typeface="Times New Roman" panose="02020603050405020304" pitchFamily="18" charset="0"/>
            </a:endParaRPr>
          </a:p>
          <a:p>
            <a:pPr marL="852488" lvl="1" indent="-390525">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But what does that mean? </a:t>
            </a:r>
          </a:p>
          <a:p>
            <a:pPr marL="852488" lvl="1" indent="-390525">
              <a:buFont typeface="Arial" panose="020B0604020202020204" pitchFamily="34" charset="0"/>
              <a:buChar char="•"/>
            </a:pPr>
            <a:r>
              <a:rPr lang="en-US" sz="4400" dirty="0">
                <a:solidFill>
                  <a:schemeClr val="tx1">
                    <a:lumMod val="50000"/>
                    <a:lumOff val="50000"/>
                  </a:schemeClr>
                </a:solidFill>
                <a:latin typeface="Times New Roman" panose="02020603050405020304" pitchFamily="18" charset="0"/>
                <a:cs typeface="Times New Roman" panose="02020603050405020304" pitchFamily="18" charset="0"/>
              </a:rPr>
              <a:t>And, now we have seen that example.</a:t>
            </a:r>
          </a:p>
        </p:txBody>
      </p:sp>
      <p:sp>
        <p:nvSpPr>
          <p:cNvPr id="42" name="Title 1"/>
          <p:cNvSpPr>
            <a:spLocks noGrp="1"/>
          </p:cNvSpPr>
          <p:nvPr>
            <p:ph type="title"/>
          </p:nvPr>
        </p:nvSpPr>
        <p:spPr>
          <a:xfrm>
            <a:off x="0" y="-3841"/>
            <a:ext cx="9729788" cy="1747310"/>
          </a:xfrm>
          <a:solidFill>
            <a:schemeClr val="bg1"/>
          </a:solidFill>
        </p:spPr>
        <p:txBody>
          <a:bodyPr>
            <a:normAutofit/>
          </a:bodyPr>
          <a:lstStyle/>
          <a:p>
            <a:pPr algn="ct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Python takes the idea of objects </a:t>
            </a:r>
            <a:r>
              <a:rPr lang="en-US" sz="5400" b="1" spc="-100" dirty="0" smtClean="0">
                <a:solidFill>
                  <a:schemeClr val="accent1">
                    <a:lumMod val="75000"/>
                  </a:schemeClr>
                </a:solidFill>
                <a:latin typeface="Times New Roman" panose="02020603050405020304" pitchFamily="18" charset="0"/>
                <a:cs typeface="Times New Roman" panose="02020603050405020304" pitchFamily="18" charset="0"/>
              </a:rPr>
              <a:t> to </a:t>
            </a: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its limit: </a:t>
            </a:r>
            <a:r>
              <a:rPr lang="en-US" sz="5400" b="1" i="1" spc="-100" dirty="0">
                <a:solidFill>
                  <a:schemeClr val="accent1">
                    <a:lumMod val="75000"/>
                  </a:schemeClr>
                </a:solidFill>
                <a:latin typeface="Times New Roman" panose="02020603050405020304" pitchFamily="18" charset="0"/>
                <a:cs typeface="Times New Roman" panose="02020603050405020304" pitchFamily="18" charset="0"/>
              </a:rPr>
              <a:t>everything</a:t>
            </a:r>
            <a:r>
              <a:rPr lang="en-US" sz="5400" b="1" spc="-100" dirty="0">
                <a:solidFill>
                  <a:schemeClr val="accent1">
                    <a:lumMod val="75000"/>
                  </a:schemeClr>
                </a:solidFill>
                <a:latin typeface="Times New Roman" panose="02020603050405020304" pitchFamily="18" charset="0"/>
                <a:cs typeface="Times New Roman" panose="02020603050405020304" pitchFamily="18" charset="0"/>
              </a:rPr>
              <a:t> is an object</a:t>
            </a:r>
          </a:p>
        </p:txBody>
      </p:sp>
      <p:sp>
        <p:nvSpPr>
          <p:cNvPr id="4" name="Title 1"/>
          <p:cNvSpPr txBox="1">
            <a:spLocks/>
          </p:cNvSpPr>
          <p:nvPr/>
        </p:nvSpPr>
        <p:spPr>
          <a:xfrm>
            <a:off x="45454" y="5191518"/>
            <a:ext cx="9684334" cy="1666482"/>
          </a:xfrm>
          <a:prstGeom prst="rect">
            <a:avLst/>
          </a:prstGeom>
          <a:solidFill>
            <a:schemeClr val="bg1"/>
          </a:solid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39725" indent="-339725">
              <a:buFont typeface="Arial" panose="020B0604020202020204" pitchFamily="34" charset="0"/>
              <a:buChar char="•"/>
            </a:pPr>
            <a:r>
              <a:rPr lang="en-US" sz="4800" spc="-40" dirty="0">
                <a:latin typeface="Times New Roman" panose="02020603050405020304" pitchFamily="18" charset="0"/>
                <a:cs typeface="Times New Roman" panose="02020603050405020304" pitchFamily="18" charset="0"/>
              </a:rPr>
              <a:t>C</a:t>
            </a:r>
            <a:r>
              <a:rPr lang="en-US" sz="4800" spc="-40" dirty="0" smtClean="0">
                <a:latin typeface="Times New Roman" panose="02020603050405020304" pitchFamily="18" charset="0"/>
                <a:cs typeface="Times New Roman" panose="02020603050405020304" pitchFamily="18" charset="0"/>
              </a:rPr>
              <a:t>onsider</a:t>
            </a:r>
            <a:r>
              <a:rPr lang="en-US" sz="4800" spc="-40" dirty="0">
                <a:latin typeface="Times New Roman" panose="02020603050405020304" pitchFamily="18" charset="0"/>
                <a:cs typeface="Times New Roman" panose="02020603050405020304" pitchFamily="18" charset="0"/>
              </a:rPr>
              <a:t>:</a:t>
            </a:r>
            <a:r>
              <a:rPr lang="en-US" sz="3000" spc="-40" dirty="0">
                <a:latin typeface="Times New Roman" panose="02020603050405020304" pitchFamily="18" charset="0"/>
                <a:cs typeface="Times New Roman" panose="02020603050405020304" pitchFamily="18" charset="0"/>
              </a:rPr>
              <a:t> </a:t>
            </a:r>
            <a:r>
              <a:rPr lang="en-US" sz="4800" i="1" spc="-200" dirty="0">
                <a:latin typeface="Times New Roman" panose="02020603050405020304" pitchFamily="18" charset="0"/>
                <a:cs typeface="Times New Roman" panose="02020603050405020304" pitchFamily="18" charset="0"/>
              </a:rPr>
              <a:t>H</a:t>
            </a:r>
            <a:r>
              <a:rPr lang="en-US" sz="4800" i="1" spc="-100" dirty="0">
                <a:latin typeface="Times New Roman" panose="02020603050405020304" pitchFamily="18" charset="0"/>
                <a:cs typeface="Times New Roman" panose="02020603050405020304" pitchFamily="18" charset="0"/>
              </a:rPr>
              <a:t>o</a:t>
            </a:r>
            <a:r>
              <a:rPr lang="en-US" sz="4800" i="1" spc="-40" dirty="0">
                <a:latin typeface="Times New Roman" panose="02020603050405020304" pitchFamily="18" charset="0"/>
                <a:cs typeface="Times New Roman" panose="02020603050405020304" pitchFamily="18" charset="0"/>
              </a:rPr>
              <a:t>w</a:t>
            </a:r>
            <a:r>
              <a:rPr lang="en-US" sz="4800" spc="-40" dirty="0">
                <a:latin typeface="Times New Roman" panose="02020603050405020304" pitchFamily="18" charset="0"/>
                <a:cs typeface="Times New Roman" panose="02020603050405020304" pitchFamily="18" charset="0"/>
              </a:rPr>
              <a:t> does Python achieve thi</a:t>
            </a:r>
            <a:r>
              <a:rPr lang="en-US" sz="4800" spc="-140" dirty="0">
                <a:latin typeface="Times New Roman" panose="02020603050405020304" pitchFamily="18" charset="0"/>
                <a:cs typeface="Times New Roman" panose="02020603050405020304" pitchFamily="18" charset="0"/>
              </a:rPr>
              <a:t>s</a:t>
            </a:r>
            <a:r>
              <a:rPr lang="en-US" sz="4800" spc="-40" dirty="0">
                <a:latin typeface="Times New Roman" panose="02020603050405020304" pitchFamily="18" charset="0"/>
                <a:cs typeface="Times New Roman" panose="02020603050405020304" pitchFamily="18" charset="0"/>
              </a:rPr>
              <a:t>?</a:t>
            </a:r>
          </a:p>
          <a:p>
            <a:pPr marL="852488" lvl="1" indent="-395288">
              <a:buFont typeface="Arial" panose="020B0604020202020204" pitchFamily="34" charset="0"/>
              <a:buChar char="•"/>
            </a:pPr>
            <a:r>
              <a:rPr lang="en-US" sz="4300" dirty="0" smtClean="0">
                <a:solidFill>
                  <a:srgbClr val="FF0000"/>
                </a:solidFill>
                <a:latin typeface="Times New Roman" panose="02020603050405020304" pitchFamily="18" charset="0"/>
                <a:cs typeface="Times New Roman" panose="02020603050405020304" pitchFamily="18" charset="0"/>
              </a:rPr>
              <a:t>It helps </a:t>
            </a:r>
            <a:r>
              <a:rPr lang="en-US" sz="4300" dirty="0">
                <a:solidFill>
                  <a:srgbClr val="FF0000"/>
                </a:solidFill>
                <a:latin typeface="Times New Roman" panose="02020603050405020304" pitchFamily="18" charset="0"/>
                <a:cs typeface="Times New Roman" panose="02020603050405020304" pitchFamily="18" charset="0"/>
              </a:rPr>
              <a:t>to consider how </a:t>
            </a:r>
            <a:r>
              <a:rPr lang="en-US" sz="4300" dirty="0" smtClean="0">
                <a:solidFill>
                  <a:srgbClr val="FF0000"/>
                </a:solidFill>
                <a:latin typeface="Times New Roman" panose="02020603050405020304" pitchFamily="18" charset="0"/>
                <a:cs typeface="Times New Roman" panose="02020603050405020304" pitchFamily="18" charset="0"/>
              </a:rPr>
              <a:t>you’d do it in C.</a:t>
            </a:r>
            <a:endParaRPr lang="en-US" sz="4300" dirty="0">
              <a:solidFill>
                <a:srgbClr val="FF0000"/>
              </a:solidFill>
              <a:latin typeface="Times New Roman" panose="02020603050405020304" pitchFamily="18" charset="0"/>
              <a:cs typeface="Times New Roman" panose="02020603050405020304" pitchFamily="18" charset="0"/>
            </a:endParaRPr>
          </a:p>
        </p:txBody>
      </p:sp>
      <p:sp>
        <p:nvSpPr>
          <p:cNvPr id="5" name="Rounded Rectangular Callout 4"/>
          <p:cNvSpPr/>
          <p:nvPr/>
        </p:nvSpPr>
        <p:spPr>
          <a:xfrm>
            <a:off x="554805" y="2065311"/>
            <a:ext cx="7325474" cy="2247268"/>
          </a:xfrm>
          <a:prstGeom prst="wedgeRoundRectCallout">
            <a:avLst>
              <a:gd name="adj1" fmla="val -13490"/>
              <a:gd name="adj2" fmla="val 10506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0033CC"/>
                </a:solidFill>
              </a:rPr>
              <a:t>It is fair to ask: Why </a:t>
            </a:r>
            <a:r>
              <a:rPr lang="en-US" sz="3200" dirty="0" smtClean="0">
                <a:solidFill>
                  <a:srgbClr val="0033CC"/>
                </a:solidFill>
              </a:rPr>
              <a:t>consider </a:t>
            </a:r>
            <a:r>
              <a:rPr lang="en-US" sz="3200" i="1" dirty="0">
                <a:solidFill>
                  <a:srgbClr val="0033CC"/>
                </a:solidFill>
              </a:rPr>
              <a:t>how</a:t>
            </a:r>
            <a:r>
              <a:rPr lang="en-US" sz="3200" dirty="0">
                <a:solidFill>
                  <a:srgbClr val="0033CC"/>
                </a:solidFill>
              </a:rPr>
              <a:t>?</a:t>
            </a:r>
          </a:p>
          <a:p>
            <a:pPr algn="ctr"/>
            <a:r>
              <a:rPr lang="en-US" sz="3200" dirty="0" smtClean="0">
                <a:solidFill>
                  <a:srgbClr val="0033CC"/>
                </a:solidFill>
              </a:rPr>
              <a:t>Why not just use it, without </a:t>
            </a:r>
            <a:r>
              <a:rPr lang="en-US" sz="3200" dirty="0">
                <a:solidFill>
                  <a:srgbClr val="0033CC"/>
                </a:solidFill>
              </a:rPr>
              <a:t>going deeper. </a:t>
            </a:r>
            <a:r>
              <a:rPr lang="en-US" sz="3200" dirty="0" smtClean="0">
                <a:solidFill>
                  <a:srgbClr val="0033CC"/>
                </a:solidFill>
              </a:rPr>
              <a:t/>
            </a:r>
            <a:br>
              <a:rPr lang="en-US" sz="3200" dirty="0" smtClean="0">
                <a:solidFill>
                  <a:srgbClr val="0033CC"/>
                </a:solidFill>
              </a:rPr>
            </a:br>
            <a:r>
              <a:rPr lang="en-US" sz="3200" dirty="0" smtClean="0">
                <a:solidFill>
                  <a:srgbClr val="0033CC"/>
                </a:solidFill>
              </a:rPr>
              <a:t>In </a:t>
            </a:r>
            <a:r>
              <a:rPr lang="en-US" sz="3200" dirty="0">
                <a:solidFill>
                  <a:srgbClr val="0033CC"/>
                </a:solidFill>
              </a:rPr>
              <a:t>fact if this course was CSE 101 instead of CSE282, that is what we would do. </a:t>
            </a:r>
          </a:p>
        </p:txBody>
      </p:sp>
      <p:sp>
        <p:nvSpPr>
          <p:cNvPr id="6" name="Rounded Rectangular Callout 5"/>
          <p:cNvSpPr/>
          <p:nvPr/>
        </p:nvSpPr>
        <p:spPr>
          <a:xfrm>
            <a:off x="647272" y="3257943"/>
            <a:ext cx="8823486" cy="2109271"/>
          </a:xfrm>
          <a:prstGeom prst="wedgeRoundRectCallout">
            <a:avLst>
              <a:gd name="adj1" fmla="val -33499"/>
              <a:gd name="adj2" fmla="val 8971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rgbClr val="0033CC"/>
                </a:solidFill>
              </a:rPr>
              <a:t>I mean: </a:t>
            </a:r>
            <a:r>
              <a:rPr lang="en-US" sz="3200" dirty="0">
                <a:solidFill>
                  <a:srgbClr val="0033CC"/>
                </a:solidFill>
              </a:rPr>
              <a:t>helpful to those of you who are already familiar with C </a:t>
            </a:r>
            <a:r>
              <a:rPr lang="en-US" sz="3200" dirty="0" err="1">
                <a:solidFill>
                  <a:srgbClr val="0033CC"/>
                </a:solidFill>
              </a:rPr>
              <a:t>structs</a:t>
            </a:r>
            <a:r>
              <a:rPr lang="en-US" sz="3200" dirty="0">
                <a:solidFill>
                  <a:srgbClr val="0033CC"/>
                </a:solidFill>
              </a:rPr>
              <a:t> and unions. For other people, it will probably be more confusing than </a:t>
            </a:r>
            <a:r>
              <a:rPr lang="en-US" sz="3200" dirty="0" smtClean="0">
                <a:solidFill>
                  <a:srgbClr val="0033CC"/>
                </a:solidFill>
              </a:rPr>
              <a:t>helpful (but it won’t be on the exam, so that’s OK).</a:t>
            </a:r>
            <a:endParaRPr lang="en-US" sz="3200" dirty="0">
              <a:solidFill>
                <a:srgbClr val="0033CC"/>
              </a:solidFill>
            </a:endParaRPr>
          </a:p>
        </p:txBody>
      </p:sp>
    </p:spTree>
    <p:extLst>
      <p:ext uri="{BB962C8B-B14F-4D97-AF65-F5344CB8AC3E}">
        <p14:creationId xmlns:p14="http://schemas.microsoft.com/office/powerpoint/2010/main" val="349362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xit" presetSubtype="10" fill="hold" grpId="0" nodeType="with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1" nodeType="clickEffect">
                                  <p:stCondLst>
                                    <p:cond delay="0"/>
                                  </p:stCondLst>
                                  <p:childTnLst>
                                    <p:animEffect transition="out" filter="randombar(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typedef </a:t>
            </a:r>
            <a:r>
              <a:rPr lang="en-US" sz="1431" dirty="0" err="1">
                <a:solidFill>
                  <a:srgbClr val="FF0000"/>
                </a:solidFill>
                <a:latin typeface="Consolas" panose="020B0609020204030204" pitchFamily="49" charset="0"/>
                <a:cs typeface="Consolas" panose="020B0609020204030204" pitchFamily="49" charset="0"/>
              </a:rPr>
              <a:t>struct</a:t>
            </a:r>
            <a:r>
              <a:rPr lang="en-US" sz="1431" dirty="0">
                <a:solidFill>
                  <a:srgbClr val="FF0000"/>
                </a:solidFill>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int   </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many;</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89" name="Rectangle 88"/>
          <p:cNvSpPr/>
          <p:nvPr/>
        </p:nvSpPr>
        <p:spPr>
          <a:xfrm>
            <a:off x="2955062" y="1051945"/>
            <a:ext cx="3279971" cy="787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1182702" algn="l"/>
              </a:tabLst>
            </a:pPr>
            <a:r>
              <a:rPr lang="en-US" sz="1590" dirty="0">
                <a:solidFill>
                  <a:srgbClr val="5B9BD5">
                    <a:lumMod val="75000"/>
                  </a:srgbClr>
                </a:solidFill>
                <a:latin typeface="Times New Roman" panose="02020603050405020304" pitchFamily="18" charset="0"/>
                <a:cs typeface="Times New Roman" panose="02020603050405020304" pitchFamily="18" charset="0"/>
              </a:rPr>
              <a:t>(Not because we want to do such complicated things, but so we can </a:t>
            </a:r>
            <a:br>
              <a:rPr lang="en-US" sz="1590" dirty="0">
                <a:solidFill>
                  <a:srgbClr val="5B9BD5">
                    <a:lumMod val="75000"/>
                  </a:srgbClr>
                </a:solidFill>
                <a:latin typeface="Times New Roman" panose="02020603050405020304" pitchFamily="18" charset="0"/>
                <a:cs typeface="Times New Roman" panose="02020603050405020304" pitchFamily="18" charset="0"/>
              </a:rPr>
            </a:br>
            <a:r>
              <a:rPr lang="en-US" sz="1590" dirty="0">
                <a:solidFill>
                  <a:srgbClr val="5B9BD5">
                    <a:lumMod val="75000"/>
                  </a:srgbClr>
                </a:solidFill>
                <a:latin typeface="Times New Roman" panose="02020603050405020304" pitchFamily="18" charset="0"/>
                <a:cs typeface="Times New Roman" panose="02020603050405020304" pitchFamily="18" charset="0"/>
              </a:rPr>
              <a:t>lead into a discussion of unions)</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22" name="Group 21"/>
          <p:cNvGrpSpPr/>
          <p:nvPr/>
        </p:nvGrpSpPr>
        <p:grpSpPr>
          <a:xfrm>
            <a:off x="7297383" y="101724"/>
            <a:ext cx="2223818" cy="5247899"/>
            <a:chOff x="9155534" y="58683"/>
            <a:chExt cx="2797072" cy="6600699"/>
          </a:xfrm>
        </p:grpSpPr>
        <p:sp>
          <p:nvSpPr>
            <p:cNvPr id="73" name="Rectangle 72"/>
            <p:cNvSpPr/>
            <p:nvPr/>
          </p:nvSpPr>
          <p:spPr>
            <a:xfrm rot="16200000">
              <a:off x="9177641" y="3657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sp>
          <p:nvSpPr>
            <p:cNvPr id="27" name="Left Brace 26"/>
            <p:cNvSpPr/>
            <p:nvPr/>
          </p:nvSpPr>
          <p:spPr>
            <a:xfrm>
              <a:off x="9546433" y="145613"/>
              <a:ext cx="180304" cy="1463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6" name="Rectangle 35"/>
            <p:cNvSpPr/>
            <p:nvPr/>
          </p:nvSpPr>
          <p:spPr>
            <a:xfrm rot="16200000">
              <a:off x="9177641" y="524865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d</a:t>
              </a:r>
            </a:p>
          </p:txBody>
        </p:sp>
        <p:sp>
          <p:nvSpPr>
            <p:cNvPr id="86" name="Rectangle 85"/>
            <p:cNvSpPr/>
            <p:nvPr/>
          </p:nvSpPr>
          <p:spPr>
            <a:xfrm>
              <a:off x="9767653" y="6196673"/>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srgbClr val="FF0000"/>
                  </a:solidFill>
                  <a:latin typeface="Arial Narrow" panose="020B0606020202030204" pitchFamily="34" charset="0"/>
                </a:rPr>
                <a:t>a byte representation of the “many” data type</a:t>
              </a:r>
            </a:p>
          </p:txBody>
        </p:sp>
        <p:sp>
          <p:nvSpPr>
            <p:cNvPr id="25" name="Rectangle 24"/>
            <p:cNvSpPr/>
            <p:nvPr/>
          </p:nvSpPr>
          <p:spPr>
            <a:xfrm>
              <a:off x="9784080" y="132735"/>
              <a:ext cx="2103120" cy="60330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 name="Rectangle 12"/>
            <p:cNvSpPr/>
            <p:nvPr/>
          </p:nvSpPr>
          <p:spPr>
            <a:xfrm>
              <a:off x="9784080" y="49849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 name="Rectangle 16"/>
            <p:cNvSpPr/>
            <p:nvPr/>
          </p:nvSpPr>
          <p:spPr>
            <a:xfrm>
              <a:off x="9784080" y="123001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 name="Rectangle 20"/>
            <p:cNvSpPr/>
            <p:nvPr/>
          </p:nvSpPr>
          <p:spPr>
            <a:xfrm>
              <a:off x="9784080" y="196153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8" name="Rectangle 37"/>
            <p:cNvSpPr/>
            <p:nvPr/>
          </p:nvSpPr>
          <p:spPr>
            <a:xfrm>
              <a:off x="9784080" y="3057819"/>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0" name="Rectangle 39"/>
            <p:cNvSpPr/>
            <p:nvPr/>
          </p:nvSpPr>
          <p:spPr>
            <a:xfrm>
              <a:off x="9784080" y="3789339"/>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2" name="Rectangle 41"/>
            <p:cNvSpPr/>
            <p:nvPr/>
          </p:nvSpPr>
          <p:spPr>
            <a:xfrm>
              <a:off x="9784080" y="4520859"/>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4" name="Rectangle 43"/>
            <p:cNvSpPr/>
            <p:nvPr/>
          </p:nvSpPr>
          <p:spPr>
            <a:xfrm>
              <a:off x="9784080" y="5252379"/>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7" name="Rectangle 56"/>
            <p:cNvSpPr/>
            <p:nvPr/>
          </p:nvSpPr>
          <p:spPr>
            <a:xfrm>
              <a:off x="9784080" y="2874951"/>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8" name="Rectangle 47"/>
            <p:cNvSpPr/>
            <p:nvPr/>
          </p:nvSpPr>
          <p:spPr>
            <a:xfrm>
              <a:off x="9784080" y="314631"/>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2" name="Rectangle 51"/>
            <p:cNvSpPr/>
            <p:nvPr/>
          </p:nvSpPr>
          <p:spPr>
            <a:xfrm>
              <a:off x="9784080" y="1046151"/>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4" name="Rectangle 53"/>
            <p:cNvSpPr/>
            <p:nvPr/>
          </p:nvSpPr>
          <p:spPr>
            <a:xfrm>
              <a:off x="9784080" y="1777671"/>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6" name="Rectangle 55"/>
            <p:cNvSpPr/>
            <p:nvPr/>
          </p:nvSpPr>
          <p:spPr>
            <a:xfrm>
              <a:off x="9784080" y="2509191"/>
              <a:ext cx="2103120" cy="18376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0" name="Rectangle 59"/>
            <p:cNvSpPr/>
            <p:nvPr/>
          </p:nvSpPr>
          <p:spPr>
            <a:xfrm>
              <a:off x="9784080" y="360547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2" name="Rectangle 61"/>
            <p:cNvSpPr/>
            <p:nvPr/>
          </p:nvSpPr>
          <p:spPr>
            <a:xfrm>
              <a:off x="9784080" y="433699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4" name="Rectangle 63"/>
            <p:cNvSpPr/>
            <p:nvPr/>
          </p:nvSpPr>
          <p:spPr>
            <a:xfrm>
              <a:off x="9784080" y="506851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6" name="Rectangle 65"/>
            <p:cNvSpPr/>
            <p:nvPr/>
          </p:nvSpPr>
          <p:spPr>
            <a:xfrm>
              <a:off x="9784080" y="5800035"/>
              <a:ext cx="2103120" cy="18288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7" name="Left Brace 66"/>
            <p:cNvSpPr/>
            <p:nvPr/>
          </p:nvSpPr>
          <p:spPr>
            <a:xfrm>
              <a:off x="9546433" y="2523744"/>
              <a:ext cx="180304" cy="685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68" name="Left Brace 67"/>
            <p:cNvSpPr/>
            <p:nvPr/>
          </p:nvSpPr>
          <p:spPr>
            <a:xfrm>
              <a:off x="9546433" y="4718304"/>
              <a:ext cx="180304" cy="14264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69" name="Left Brace 68"/>
            <p:cNvSpPr/>
            <p:nvPr/>
          </p:nvSpPr>
          <p:spPr>
            <a:xfrm>
              <a:off x="9546433" y="3255264"/>
              <a:ext cx="180304" cy="685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70" name="Left Brace 69"/>
            <p:cNvSpPr/>
            <p:nvPr/>
          </p:nvSpPr>
          <p:spPr>
            <a:xfrm>
              <a:off x="9546433" y="3986784"/>
              <a:ext cx="180304" cy="685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71" name="Left Brace 70"/>
            <p:cNvSpPr/>
            <p:nvPr/>
          </p:nvSpPr>
          <p:spPr>
            <a:xfrm>
              <a:off x="9546433" y="1791534"/>
              <a:ext cx="180304" cy="685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72" name="Left Brace 71"/>
            <p:cNvSpPr/>
            <p:nvPr/>
          </p:nvSpPr>
          <p:spPr>
            <a:xfrm>
              <a:off x="9546433" y="328493"/>
              <a:ext cx="180304" cy="14264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74" name="Rectangle 73"/>
            <p:cNvSpPr/>
            <p:nvPr/>
          </p:nvSpPr>
          <p:spPr>
            <a:xfrm rot="16200000">
              <a:off x="9073280" y="910107"/>
              <a:ext cx="530268"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a:t>
              </a:r>
            </a:p>
          </p:txBody>
        </p:sp>
        <p:sp>
          <p:nvSpPr>
            <p:cNvPr id="75" name="Rectangle 74"/>
            <p:cNvSpPr/>
            <p:nvPr/>
          </p:nvSpPr>
          <p:spPr>
            <a:xfrm rot="16200000">
              <a:off x="9177641" y="195681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endParaRPr lang="en-US" sz="2226" dirty="0">
                <a:solidFill>
                  <a:prstClr val="black"/>
                </a:solidFill>
              </a:endParaRPr>
            </a:p>
          </p:txBody>
        </p:sp>
        <p:sp>
          <p:nvSpPr>
            <p:cNvPr id="76" name="Rectangle 75"/>
            <p:cNvSpPr/>
            <p:nvPr/>
          </p:nvSpPr>
          <p:spPr>
            <a:xfrm rot="16200000">
              <a:off x="9177641" y="268833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l</a:t>
              </a:r>
            </a:p>
          </p:txBody>
        </p:sp>
        <p:sp>
          <p:nvSpPr>
            <p:cNvPr id="77" name="Rectangle 76"/>
            <p:cNvSpPr/>
            <p:nvPr/>
          </p:nvSpPr>
          <p:spPr>
            <a:xfrm rot="16200000">
              <a:off x="9177641" y="341985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u</a:t>
              </a:r>
            </a:p>
          </p:txBody>
        </p:sp>
        <p:sp>
          <p:nvSpPr>
            <p:cNvPr id="78" name="Rectangle 77"/>
            <p:cNvSpPr/>
            <p:nvPr/>
          </p:nvSpPr>
          <p:spPr>
            <a:xfrm rot="16200000">
              <a:off x="9177641" y="415137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f</a:t>
              </a:r>
            </a:p>
          </p:txBody>
        </p:sp>
        <p:cxnSp>
          <p:nvCxnSpPr>
            <p:cNvPr id="19" name="Straight Connector 18"/>
            <p:cNvCxnSpPr/>
            <p:nvPr/>
          </p:nvCxnSpPr>
          <p:spPr>
            <a:xfrm>
              <a:off x="9784080" y="311963"/>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9784080" y="4702755"/>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9784080" y="3969579"/>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a:off x="9784080" y="3240524"/>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9784080" y="2507357"/>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a:off x="9784080" y="1778309"/>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4433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89"/>
                                        </p:tgtEl>
                                      </p:cBhvr>
                                    </p:animEffect>
                                    <p:anim calcmode="lin" valueType="num">
                                      <p:cBhvr>
                                        <p:cTn id="7" dur="1000"/>
                                        <p:tgtEl>
                                          <p:spTgt spid="89"/>
                                        </p:tgtEl>
                                        <p:attrNameLst>
                                          <p:attrName>ppt_x</p:attrName>
                                        </p:attrNameLst>
                                      </p:cBhvr>
                                      <p:tavLst>
                                        <p:tav tm="0">
                                          <p:val>
                                            <p:strVal val="ppt_x"/>
                                          </p:val>
                                        </p:tav>
                                        <p:tav tm="100000">
                                          <p:val>
                                            <p:strVal val="ppt_x"/>
                                          </p:val>
                                        </p:tav>
                                      </p:tavLst>
                                    </p:anim>
                                    <p:anim calcmode="lin" valueType="num">
                                      <p:cBhvr>
                                        <p:cTn id="8" dur="1000"/>
                                        <p:tgtEl>
                                          <p:spTgt spid="89"/>
                                        </p:tgtEl>
                                        <p:attrNameLst>
                                          <p:attrName>ppt_y</p:attrName>
                                        </p:attrNameLst>
                                      </p:cBhvr>
                                      <p:tavLst>
                                        <p:tav tm="0">
                                          <p:val>
                                            <p:strVal val="ppt_y"/>
                                          </p:val>
                                        </p:tav>
                                        <p:tav tm="100000">
                                          <p:val>
                                            <p:strVal val="ppt_y+.1"/>
                                          </p:val>
                                        </p:tav>
                                      </p:tavLst>
                                    </p:anim>
                                    <p:set>
                                      <p:cBhvr>
                                        <p:cTn id="9" dur="1" fill="hold">
                                          <p:stCondLst>
                                            <p:cond delay="999"/>
                                          </p:stCondLst>
                                        </p:cTn>
                                        <p:tgtEl>
                                          <p:spTgt spid="89"/>
                                        </p:tgtEl>
                                        <p:attrNameLst>
                                          <p:attrName>style.visibility</p:attrName>
                                        </p:attrNameLst>
                                      </p:cBhvr>
                                      <p:to>
                                        <p:strVal val="hidden"/>
                                      </p:to>
                                    </p:set>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1000"/>
                                        <p:tgtEl>
                                          <p:spTgt spid="3">
                                            <p:txEl>
                                              <p:pRg st="2" end="2"/>
                                            </p:txEl>
                                          </p:spTgt>
                                        </p:tgtEl>
                                      </p:cBhvr>
                                    </p:animEffect>
                                    <p:anim calcmode="lin" valueType="num">
                                      <p:cBhvr>
                                        <p:cTn id="2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1000"/>
                                        <p:tgtEl>
                                          <p:spTgt spid="3">
                                            <p:txEl>
                                              <p:pRg st="3" end="3"/>
                                            </p:txEl>
                                          </p:spTgt>
                                        </p:tgtEl>
                                      </p:cBhvr>
                                    </p:animEffect>
                                    <p:anim calcmode="lin" valueType="num">
                                      <p:cBhvr>
                                        <p:cTn id="3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1000"/>
                                        <p:tgtEl>
                                          <p:spTgt spid="3">
                                            <p:txEl>
                                              <p:pRg st="4" end="4"/>
                                            </p:txEl>
                                          </p:spTgt>
                                        </p:tgtEl>
                                      </p:cBhvr>
                                    </p:animEffect>
                                    <p:anim calcmode="lin" valueType="num">
                                      <p:cBhvr>
                                        <p:cTn id="3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Effect transition="in" filter="fade">
                                      <p:cBhvr>
                                        <p:cTn id="43" dur="1000"/>
                                        <p:tgtEl>
                                          <p:spTgt spid="3">
                                            <p:txEl>
                                              <p:pRg st="5" end="5"/>
                                            </p:txEl>
                                          </p:spTgt>
                                        </p:tgtEl>
                                      </p:cBhvr>
                                    </p:animEffect>
                                    <p:anim calcmode="lin" valueType="num">
                                      <p:cBhvr>
                                        <p:cTn id="4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7" presetClass="entr" presetSubtype="0" fill="hold"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1000"/>
                                        <p:tgtEl>
                                          <p:spTgt spid="22"/>
                                        </p:tgtEl>
                                      </p:cBhvr>
                                    </p:animEffect>
                                    <p:anim calcmode="lin" valueType="num">
                                      <p:cBhvr>
                                        <p:cTn id="51" dur="1000" fill="hold"/>
                                        <p:tgtEl>
                                          <p:spTgt spid="22"/>
                                        </p:tgtEl>
                                        <p:attrNameLst>
                                          <p:attrName>ppt_x</p:attrName>
                                        </p:attrNameLst>
                                      </p:cBhvr>
                                      <p:tavLst>
                                        <p:tav tm="0">
                                          <p:val>
                                            <p:strVal val="#ppt_x"/>
                                          </p:val>
                                        </p:tav>
                                        <p:tav tm="100000">
                                          <p:val>
                                            <p:strVal val="#ppt_x"/>
                                          </p:val>
                                        </p:tav>
                                      </p:tavLst>
                                    </p:anim>
                                    <p:anim calcmode="lin" valueType="num">
                                      <p:cBhvr>
                                        <p:cTn id="52"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9"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("generic=%u  (c=%u  s=%u  </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=%u  u=%u  f=%u  d=%u)\n",</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(generic),</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(char),</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(char*),</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(unsigned int),</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(float),</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Y-&gt;d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grpSp>
        <p:nvGrpSpPr>
          <p:cNvPr id="2" name="Group 1"/>
          <p:cNvGrpSpPr/>
          <p:nvPr/>
        </p:nvGrpSpPr>
        <p:grpSpPr>
          <a:xfrm>
            <a:off x="7297383" y="101724"/>
            <a:ext cx="2223818" cy="5247899"/>
            <a:chOff x="9155534" y="58683"/>
            <a:chExt cx="2797072" cy="6600699"/>
          </a:xfrm>
        </p:grpSpPr>
        <p:sp>
          <p:nvSpPr>
            <p:cNvPr id="73" name="Rectangle 72"/>
            <p:cNvSpPr/>
            <p:nvPr/>
          </p:nvSpPr>
          <p:spPr>
            <a:xfrm rot="16200000">
              <a:off x="9177641" y="3657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sp>
          <p:nvSpPr>
            <p:cNvPr id="27" name="Left Brace 26"/>
            <p:cNvSpPr/>
            <p:nvPr/>
          </p:nvSpPr>
          <p:spPr>
            <a:xfrm>
              <a:off x="9546433" y="145613"/>
              <a:ext cx="180304" cy="1463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6" name="Rectangle 35"/>
            <p:cNvSpPr/>
            <p:nvPr/>
          </p:nvSpPr>
          <p:spPr>
            <a:xfrm rot="16200000">
              <a:off x="9177641" y="524865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d</a:t>
              </a:r>
            </a:p>
          </p:txBody>
        </p:sp>
        <p:sp>
          <p:nvSpPr>
            <p:cNvPr id="86" name="Rectangle 85"/>
            <p:cNvSpPr/>
            <p:nvPr/>
          </p:nvSpPr>
          <p:spPr>
            <a:xfrm>
              <a:off x="9767653" y="6196673"/>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“many” data type</a:t>
              </a:r>
            </a:p>
          </p:txBody>
        </p:sp>
        <p:sp>
          <p:nvSpPr>
            <p:cNvPr id="25" name="Rectangle 24"/>
            <p:cNvSpPr/>
            <p:nvPr/>
          </p:nvSpPr>
          <p:spPr>
            <a:xfrm>
              <a:off x="9784080" y="132735"/>
              <a:ext cx="2103120" cy="60330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 name="Rectangle 12"/>
            <p:cNvSpPr/>
            <p:nvPr/>
          </p:nvSpPr>
          <p:spPr>
            <a:xfrm>
              <a:off x="9784080" y="49849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 name="Rectangle 16"/>
            <p:cNvSpPr/>
            <p:nvPr/>
          </p:nvSpPr>
          <p:spPr>
            <a:xfrm>
              <a:off x="9784080" y="123001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 name="Rectangle 20"/>
            <p:cNvSpPr/>
            <p:nvPr/>
          </p:nvSpPr>
          <p:spPr>
            <a:xfrm>
              <a:off x="9784080" y="196153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8" name="Rectangle 37"/>
            <p:cNvSpPr/>
            <p:nvPr/>
          </p:nvSpPr>
          <p:spPr>
            <a:xfrm>
              <a:off x="9784080" y="3057819"/>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0" name="Rectangle 39"/>
            <p:cNvSpPr/>
            <p:nvPr/>
          </p:nvSpPr>
          <p:spPr>
            <a:xfrm>
              <a:off x="9784080" y="3789339"/>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2" name="Rectangle 41"/>
            <p:cNvSpPr/>
            <p:nvPr/>
          </p:nvSpPr>
          <p:spPr>
            <a:xfrm>
              <a:off x="9784080" y="4520859"/>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4" name="Rectangle 43"/>
            <p:cNvSpPr/>
            <p:nvPr/>
          </p:nvSpPr>
          <p:spPr>
            <a:xfrm>
              <a:off x="9784080" y="5252379"/>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7" name="Rectangle 56"/>
            <p:cNvSpPr/>
            <p:nvPr/>
          </p:nvSpPr>
          <p:spPr>
            <a:xfrm>
              <a:off x="9784080" y="2874951"/>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8" name="Rectangle 47"/>
            <p:cNvSpPr/>
            <p:nvPr/>
          </p:nvSpPr>
          <p:spPr>
            <a:xfrm>
              <a:off x="9784080" y="314631"/>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2" name="Rectangle 51"/>
            <p:cNvSpPr/>
            <p:nvPr/>
          </p:nvSpPr>
          <p:spPr>
            <a:xfrm>
              <a:off x="9784080" y="1046151"/>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4" name="Rectangle 53"/>
            <p:cNvSpPr/>
            <p:nvPr/>
          </p:nvSpPr>
          <p:spPr>
            <a:xfrm>
              <a:off x="9784080" y="1777671"/>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6" name="Rectangle 55"/>
            <p:cNvSpPr/>
            <p:nvPr/>
          </p:nvSpPr>
          <p:spPr>
            <a:xfrm>
              <a:off x="9784080" y="2509191"/>
              <a:ext cx="2103120" cy="18376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0" name="Rectangle 59"/>
            <p:cNvSpPr/>
            <p:nvPr/>
          </p:nvSpPr>
          <p:spPr>
            <a:xfrm>
              <a:off x="9784080" y="360547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2" name="Rectangle 61"/>
            <p:cNvSpPr/>
            <p:nvPr/>
          </p:nvSpPr>
          <p:spPr>
            <a:xfrm>
              <a:off x="9784080" y="433699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4" name="Rectangle 63"/>
            <p:cNvSpPr/>
            <p:nvPr/>
          </p:nvSpPr>
          <p:spPr>
            <a:xfrm>
              <a:off x="9784080" y="5068515"/>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6" name="Rectangle 65"/>
            <p:cNvSpPr/>
            <p:nvPr/>
          </p:nvSpPr>
          <p:spPr>
            <a:xfrm>
              <a:off x="9784080" y="5800035"/>
              <a:ext cx="2103120" cy="18288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7" name="Left Brace 66"/>
            <p:cNvSpPr/>
            <p:nvPr/>
          </p:nvSpPr>
          <p:spPr>
            <a:xfrm>
              <a:off x="9546433" y="2523744"/>
              <a:ext cx="180304" cy="685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68" name="Left Brace 67"/>
            <p:cNvSpPr/>
            <p:nvPr/>
          </p:nvSpPr>
          <p:spPr>
            <a:xfrm>
              <a:off x="9546433" y="4718304"/>
              <a:ext cx="180304" cy="14264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69" name="Left Brace 68"/>
            <p:cNvSpPr/>
            <p:nvPr/>
          </p:nvSpPr>
          <p:spPr>
            <a:xfrm>
              <a:off x="9546433" y="3255264"/>
              <a:ext cx="180304" cy="685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70" name="Left Brace 69"/>
            <p:cNvSpPr/>
            <p:nvPr/>
          </p:nvSpPr>
          <p:spPr>
            <a:xfrm>
              <a:off x="9546433" y="3986784"/>
              <a:ext cx="180304" cy="685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71" name="Left Brace 70"/>
            <p:cNvSpPr/>
            <p:nvPr/>
          </p:nvSpPr>
          <p:spPr>
            <a:xfrm>
              <a:off x="9546433" y="1791534"/>
              <a:ext cx="180304" cy="685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72" name="Left Brace 71"/>
            <p:cNvSpPr/>
            <p:nvPr/>
          </p:nvSpPr>
          <p:spPr>
            <a:xfrm>
              <a:off x="9546433" y="328493"/>
              <a:ext cx="180304" cy="14264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74" name="Rectangle 73"/>
            <p:cNvSpPr/>
            <p:nvPr/>
          </p:nvSpPr>
          <p:spPr>
            <a:xfrm rot="16200000">
              <a:off x="9073280" y="910107"/>
              <a:ext cx="530268"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a:t>
              </a:r>
            </a:p>
          </p:txBody>
        </p:sp>
        <p:sp>
          <p:nvSpPr>
            <p:cNvPr id="75" name="Rectangle 74"/>
            <p:cNvSpPr/>
            <p:nvPr/>
          </p:nvSpPr>
          <p:spPr>
            <a:xfrm rot="16200000">
              <a:off x="9177641" y="195681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endParaRPr lang="en-US" sz="2226" dirty="0">
                <a:solidFill>
                  <a:prstClr val="black"/>
                </a:solidFill>
              </a:endParaRPr>
            </a:p>
          </p:txBody>
        </p:sp>
        <p:sp>
          <p:nvSpPr>
            <p:cNvPr id="76" name="Rectangle 75"/>
            <p:cNvSpPr/>
            <p:nvPr/>
          </p:nvSpPr>
          <p:spPr>
            <a:xfrm rot="16200000">
              <a:off x="9177641" y="268833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l</a:t>
              </a:r>
            </a:p>
          </p:txBody>
        </p:sp>
        <p:sp>
          <p:nvSpPr>
            <p:cNvPr id="77" name="Rectangle 76"/>
            <p:cNvSpPr/>
            <p:nvPr/>
          </p:nvSpPr>
          <p:spPr>
            <a:xfrm rot="16200000">
              <a:off x="9177641" y="341985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u</a:t>
              </a:r>
            </a:p>
          </p:txBody>
        </p:sp>
        <p:sp>
          <p:nvSpPr>
            <p:cNvPr id="78" name="Rectangle 77"/>
            <p:cNvSpPr/>
            <p:nvPr/>
          </p:nvSpPr>
          <p:spPr>
            <a:xfrm rot="16200000">
              <a:off x="9177641" y="4151376"/>
              <a:ext cx="321546"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f</a:t>
              </a:r>
            </a:p>
          </p:txBody>
        </p:sp>
        <p:cxnSp>
          <p:nvCxnSpPr>
            <p:cNvPr id="19" name="Straight Connector 18"/>
            <p:cNvCxnSpPr/>
            <p:nvPr/>
          </p:nvCxnSpPr>
          <p:spPr>
            <a:xfrm>
              <a:off x="9784080" y="311963"/>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9784080" y="4702755"/>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9784080" y="3969579"/>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a:off x="9784080" y="3240524"/>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9784080" y="2507357"/>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a:off x="9784080" y="1778309"/>
              <a:ext cx="2103120"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4" name="Group 3"/>
          <p:cNvGrpSpPr/>
          <p:nvPr/>
        </p:nvGrpSpPr>
        <p:grpSpPr>
          <a:xfrm>
            <a:off x="1509766" y="3402321"/>
            <a:ext cx="4548039" cy="1692724"/>
            <a:chOff x="1875988" y="3395443"/>
            <a:chExt cx="5720429" cy="2129073"/>
          </a:xfrm>
        </p:grpSpPr>
        <p:sp>
          <p:nvSpPr>
            <p:cNvPr id="255" name="Rectangle 254"/>
            <p:cNvSpPr/>
            <p:nvPr/>
          </p:nvSpPr>
          <p:spPr>
            <a:xfrm>
              <a:off x="3559628" y="43586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6" name="Rectangle 255"/>
            <p:cNvSpPr/>
            <p:nvPr/>
          </p:nvSpPr>
          <p:spPr>
            <a:xfrm>
              <a:off x="4180114" y="435660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7" name="Rectangle 256"/>
            <p:cNvSpPr/>
            <p:nvPr/>
          </p:nvSpPr>
          <p:spPr>
            <a:xfrm>
              <a:off x="4800600" y="4354525"/>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8" name="Rectangle 257"/>
            <p:cNvSpPr/>
            <p:nvPr/>
          </p:nvSpPr>
          <p:spPr>
            <a:xfrm>
              <a:off x="5421086" y="436217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9" name="Rectangle 258"/>
            <p:cNvSpPr/>
            <p:nvPr/>
          </p:nvSpPr>
          <p:spPr>
            <a:xfrm>
              <a:off x="3559628" y="4961805"/>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0" name="Rectangle 259"/>
            <p:cNvSpPr/>
            <p:nvPr/>
          </p:nvSpPr>
          <p:spPr>
            <a:xfrm>
              <a:off x="4180114" y="4959724"/>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1" name="Rectangle 260"/>
            <p:cNvSpPr/>
            <p:nvPr/>
          </p:nvSpPr>
          <p:spPr>
            <a:xfrm>
              <a:off x="4800600" y="495764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2" name="Rectangle 261"/>
            <p:cNvSpPr/>
            <p:nvPr/>
          </p:nvSpPr>
          <p:spPr>
            <a:xfrm>
              <a:off x="5421086" y="496528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263" name="Group 262"/>
            <p:cNvGrpSpPr/>
            <p:nvPr/>
          </p:nvGrpSpPr>
          <p:grpSpPr>
            <a:xfrm>
              <a:off x="1875988" y="3770472"/>
              <a:ext cx="5720429" cy="1754044"/>
              <a:chOff x="2655475" y="3547449"/>
              <a:chExt cx="5720429" cy="1754044"/>
            </a:xfrm>
          </p:grpSpPr>
          <p:sp>
            <p:nvSpPr>
              <p:cNvPr id="264" name="Rectangle 263"/>
              <p:cNvSpPr/>
              <p:nvPr/>
            </p:nvSpPr>
            <p:spPr>
              <a:xfrm>
                <a:off x="2655475" y="4362171"/>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Y</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265" name="Rectangle 264"/>
              <p:cNvSpPr/>
              <p:nvPr/>
            </p:nvSpPr>
            <p:spPr>
              <a:xfrm>
                <a:off x="2655475" y="4965288"/>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Z</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266" name="Rectangle 265"/>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X</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grpSp>
            <p:nvGrpSpPr>
              <p:cNvPr id="267" name="Group 266"/>
              <p:cNvGrpSpPr/>
              <p:nvPr/>
            </p:nvGrpSpPr>
            <p:grpSpPr>
              <a:xfrm>
                <a:off x="3249385" y="4791456"/>
                <a:ext cx="5126519" cy="510037"/>
                <a:chOff x="3249385" y="3547449"/>
                <a:chExt cx="5126519" cy="510037"/>
              </a:xfrm>
            </p:grpSpPr>
            <p:sp>
              <p:nvSpPr>
                <p:cNvPr id="372" name="Rectangle 371"/>
                <p:cNvSpPr/>
                <p:nvPr/>
              </p:nvSpPr>
              <p:spPr>
                <a:xfrm>
                  <a:off x="3249385" y="3739597"/>
                  <a:ext cx="5126519" cy="310243"/>
                </a:xfrm>
                <a:prstGeom prst="rect">
                  <a:avLst/>
                </a:prstGeom>
                <a:solidFill>
                  <a:srgbClr val="000000">
                    <a:alpha val="20000"/>
                  </a:srgb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73" name="Rectangle 372"/>
                <p:cNvSpPr/>
                <p:nvPr/>
              </p:nvSpPr>
              <p:spPr>
                <a:xfrm>
                  <a:off x="7908254"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74" name="Rectangle 373"/>
                <p:cNvSpPr/>
                <p:nvPr/>
              </p:nvSpPr>
              <p:spPr>
                <a:xfrm>
                  <a:off x="7290380"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75" name="Rectangle 374"/>
                <p:cNvSpPr/>
                <p:nvPr/>
              </p:nvSpPr>
              <p:spPr>
                <a:xfrm>
                  <a:off x="7910866"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376" name="Straight Connector 375"/>
                <p:cNvCxnSpPr/>
                <p:nvPr/>
              </p:nvCxnSpPr>
              <p:spPr>
                <a:xfrm flipH="1">
                  <a:off x="7132320"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77" name="Straight Connector 376"/>
                <p:cNvCxnSpPr/>
                <p:nvPr/>
              </p:nvCxnSpPr>
              <p:spPr>
                <a:xfrm flipH="1">
                  <a:off x="728995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78" name="Straight Connector 377"/>
                <p:cNvCxnSpPr/>
                <p:nvPr/>
              </p:nvCxnSpPr>
              <p:spPr>
                <a:xfrm flipH="1">
                  <a:off x="744321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79" name="Straight Connector 378"/>
                <p:cNvCxnSpPr/>
                <p:nvPr/>
              </p:nvCxnSpPr>
              <p:spPr>
                <a:xfrm flipH="1">
                  <a:off x="75986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80" name="Straight Connector 379"/>
                <p:cNvCxnSpPr/>
                <p:nvPr/>
              </p:nvCxnSpPr>
              <p:spPr>
                <a:xfrm flipH="1">
                  <a:off x="77541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81" name="Straight Connector 380"/>
                <p:cNvCxnSpPr/>
                <p:nvPr/>
              </p:nvCxnSpPr>
              <p:spPr>
                <a:xfrm flipH="1">
                  <a:off x="79095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82" name="Straight Connector 381"/>
                <p:cNvCxnSpPr/>
                <p:nvPr/>
              </p:nvCxnSpPr>
              <p:spPr>
                <a:xfrm flipH="1">
                  <a:off x="80650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383" name="Rectangle 382"/>
                <p:cNvSpPr/>
                <p:nvPr/>
              </p:nvSpPr>
              <p:spPr>
                <a:xfrm>
                  <a:off x="6046796"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84" name="Rectangle 383"/>
                <p:cNvSpPr/>
                <p:nvPr/>
              </p:nvSpPr>
              <p:spPr>
                <a:xfrm>
                  <a:off x="6667282"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385" name="Straight Connector 384"/>
                <p:cNvCxnSpPr/>
                <p:nvPr/>
              </p:nvCxnSpPr>
              <p:spPr>
                <a:xfrm flipH="1">
                  <a:off x="697687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86" name="Straight Connector 385"/>
                <p:cNvCxnSpPr/>
                <p:nvPr/>
              </p:nvCxnSpPr>
              <p:spPr>
                <a:xfrm flipH="1">
                  <a:off x="5888736"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87" name="Straight Connector 386"/>
                <p:cNvCxnSpPr/>
                <p:nvPr/>
              </p:nvCxnSpPr>
              <p:spPr>
                <a:xfrm flipH="1">
                  <a:off x="604637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88" name="Straight Connector 387"/>
                <p:cNvCxnSpPr/>
                <p:nvPr/>
              </p:nvCxnSpPr>
              <p:spPr>
                <a:xfrm flipH="1">
                  <a:off x="619963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89" name="Straight Connector 388"/>
                <p:cNvCxnSpPr/>
                <p:nvPr/>
              </p:nvCxnSpPr>
              <p:spPr>
                <a:xfrm flipH="1">
                  <a:off x="635508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90" name="Straight Connector 389"/>
                <p:cNvCxnSpPr/>
                <p:nvPr/>
              </p:nvCxnSpPr>
              <p:spPr>
                <a:xfrm flipH="1">
                  <a:off x="651052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91" name="Straight Connector 390"/>
                <p:cNvCxnSpPr/>
                <p:nvPr/>
              </p:nvCxnSpPr>
              <p:spPr>
                <a:xfrm flipH="1">
                  <a:off x="666597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92" name="Straight Connector 391"/>
                <p:cNvCxnSpPr/>
                <p:nvPr/>
              </p:nvCxnSpPr>
              <p:spPr>
                <a:xfrm flipH="1">
                  <a:off x="682142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393" name="Group 392"/>
                <p:cNvGrpSpPr/>
                <p:nvPr/>
              </p:nvGrpSpPr>
              <p:grpSpPr>
                <a:xfrm>
                  <a:off x="3401568" y="3734032"/>
                  <a:ext cx="2332373" cy="323454"/>
                  <a:chOff x="3401568" y="3734032"/>
                  <a:chExt cx="2332373" cy="323454"/>
                </a:xfrm>
              </p:grpSpPr>
              <p:sp>
                <p:nvSpPr>
                  <p:cNvPr id="402" name="Rectangle 401"/>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03" name="Rectangle 402"/>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04" name="Rectangle 403"/>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405" name="Straight Connector 404"/>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06" name="Straight Connector 405"/>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407" name="Straight Connector 406"/>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08" name="Straight Connector 407"/>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09" name="Straight Connector 408"/>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10" name="Straight Connector 409"/>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411" name="Straight Connector 410"/>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12" name="Straight Connector 411"/>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413" name="Rectangle 412"/>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14" name="Rectangle 413"/>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415" name="Straight Connector 414"/>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16" name="Straight Connector 415"/>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417" name="Straight Connector 416"/>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18" name="Straight Connector 417"/>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19" name="Straight Connector 418"/>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20" name="Straight Connector 419"/>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21" name="Straight Connector 420"/>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422" name="Straight Connector 421"/>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394" name="Left Brace 393"/>
                <p:cNvSpPr/>
                <p:nvPr/>
              </p:nvSpPr>
              <p:spPr>
                <a:xfrm rot="5400000">
                  <a:off x="674370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95" name="Left Brace 394"/>
                <p:cNvSpPr/>
                <p:nvPr/>
              </p:nvSpPr>
              <p:spPr>
                <a:xfrm rot="5400000">
                  <a:off x="3249034" y="3562729"/>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96" name="Left Brace 395"/>
                <p:cNvSpPr/>
                <p:nvPr/>
              </p:nvSpPr>
              <p:spPr>
                <a:xfrm rot="5400000">
                  <a:off x="7683695" y="3026079"/>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97" name="Left Brace 396"/>
                <p:cNvSpPr/>
                <p:nvPr/>
              </p:nvSpPr>
              <p:spPr>
                <a:xfrm rot="5400000">
                  <a:off x="4881846"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98" name="Left Brace 397"/>
                <p:cNvSpPr/>
                <p:nvPr/>
              </p:nvSpPr>
              <p:spPr>
                <a:xfrm rot="5400000">
                  <a:off x="550065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99" name="Left Brace 398"/>
                <p:cNvSpPr/>
                <p:nvPr/>
              </p:nvSpPr>
              <p:spPr>
                <a:xfrm rot="5400000">
                  <a:off x="612564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400" name="Left Brace 399"/>
                <p:cNvSpPr/>
                <p:nvPr/>
              </p:nvSpPr>
              <p:spPr>
                <a:xfrm rot="5400000">
                  <a:off x="3947948" y="3018804"/>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401" name="Straight Connector 400"/>
                <p:cNvCxnSpPr/>
                <p:nvPr/>
              </p:nvCxnSpPr>
              <p:spPr>
                <a:xfrm flipH="1">
                  <a:off x="82204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grpSp>
            <p:nvGrpSpPr>
              <p:cNvPr id="268" name="Group 267"/>
              <p:cNvGrpSpPr/>
              <p:nvPr/>
            </p:nvGrpSpPr>
            <p:grpSpPr>
              <a:xfrm>
                <a:off x="3249385" y="3547449"/>
                <a:ext cx="5126519" cy="510037"/>
                <a:chOff x="3249385" y="3547449"/>
                <a:chExt cx="5126519" cy="510037"/>
              </a:xfrm>
            </p:grpSpPr>
            <p:sp>
              <p:nvSpPr>
                <p:cNvPr id="321" name="Rectangle 320"/>
                <p:cNvSpPr/>
                <p:nvPr/>
              </p:nvSpPr>
              <p:spPr>
                <a:xfrm>
                  <a:off x="3249385" y="3739597"/>
                  <a:ext cx="5126519" cy="310243"/>
                </a:xfrm>
                <a:prstGeom prst="rect">
                  <a:avLst/>
                </a:prstGeom>
                <a:solidFill>
                  <a:srgbClr val="000000">
                    <a:alpha val="20000"/>
                  </a:srgb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22" name="Rectangle 321"/>
                <p:cNvSpPr/>
                <p:nvPr/>
              </p:nvSpPr>
              <p:spPr>
                <a:xfrm>
                  <a:off x="7908254"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23" name="Rectangle 322"/>
                <p:cNvSpPr/>
                <p:nvPr/>
              </p:nvSpPr>
              <p:spPr>
                <a:xfrm>
                  <a:off x="7290380"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24" name="Rectangle 323"/>
                <p:cNvSpPr/>
                <p:nvPr/>
              </p:nvSpPr>
              <p:spPr>
                <a:xfrm>
                  <a:off x="7910866"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325" name="Straight Connector 324"/>
                <p:cNvCxnSpPr/>
                <p:nvPr/>
              </p:nvCxnSpPr>
              <p:spPr>
                <a:xfrm flipH="1">
                  <a:off x="7132320"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26" name="Straight Connector 325"/>
                <p:cNvCxnSpPr/>
                <p:nvPr/>
              </p:nvCxnSpPr>
              <p:spPr>
                <a:xfrm flipH="1">
                  <a:off x="728995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27" name="Straight Connector 326"/>
                <p:cNvCxnSpPr/>
                <p:nvPr/>
              </p:nvCxnSpPr>
              <p:spPr>
                <a:xfrm flipH="1">
                  <a:off x="744321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28" name="Straight Connector 327"/>
                <p:cNvCxnSpPr/>
                <p:nvPr/>
              </p:nvCxnSpPr>
              <p:spPr>
                <a:xfrm flipH="1">
                  <a:off x="75986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29" name="Straight Connector 328"/>
                <p:cNvCxnSpPr/>
                <p:nvPr/>
              </p:nvCxnSpPr>
              <p:spPr>
                <a:xfrm flipH="1">
                  <a:off x="77541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30" name="Straight Connector 329"/>
                <p:cNvCxnSpPr/>
                <p:nvPr/>
              </p:nvCxnSpPr>
              <p:spPr>
                <a:xfrm flipH="1">
                  <a:off x="79095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31" name="Straight Connector 330"/>
                <p:cNvCxnSpPr/>
                <p:nvPr/>
              </p:nvCxnSpPr>
              <p:spPr>
                <a:xfrm flipH="1">
                  <a:off x="80650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332" name="Rectangle 331"/>
                <p:cNvSpPr/>
                <p:nvPr/>
              </p:nvSpPr>
              <p:spPr>
                <a:xfrm>
                  <a:off x="6046796"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33" name="Rectangle 332"/>
                <p:cNvSpPr/>
                <p:nvPr/>
              </p:nvSpPr>
              <p:spPr>
                <a:xfrm>
                  <a:off x="6667282"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334" name="Straight Connector 333"/>
                <p:cNvCxnSpPr/>
                <p:nvPr/>
              </p:nvCxnSpPr>
              <p:spPr>
                <a:xfrm flipH="1">
                  <a:off x="697687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35" name="Straight Connector 334"/>
                <p:cNvCxnSpPr/>
                <p:nvPr/>
              </p:nvCxnSpPr>
              <p:spPr>
                <a:xfrm flipH="1">
                  <a:off x="5888736"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36" name="Straight Connector 335"/>
                <p:cNvCxnSpPr/>
                <p:nvPr/>
              </p:nvCxnSpPr>
              <p:spPr>
                <a:xfrm flipH="1">
                  <a:off x="604637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37" name="Straight Connector 336"/>
                <p:cNvCxnSpPr/>
                <p:nvPr/>
              </p:nvCxnSpPr>
              <p:spPr>
                <a:xfrm flipH="1">
                  <a:off x="619963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38" name="Straight Connector 337"/>
                <p:cNvCxnSpPr/>
                <p:nvPr/>
              </p:nvCxnSpPr>
              <p:spPr>
                <a:xfrm flipH="1">
                  <a:off x="635508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39" name="Straight Connector 338"/>
                <p:cNvCxnSpPr/>
                <p:nvPr/>
              </p:nvCxnSpPr>
              <p:spPr>
                <a:xfrm flipH="1">
                  <a:off x="651052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40" name="Straight Connector 339"/>
                <p:cNvCxnSpPr/>
                <p:nvPr/>
              </p:nvCxnSpPr>
              <p:spPr>
                <a:xfrm flipH="1">
                  <a:off x="666597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41" name="Straight Connector 340"/>
                <p:cNvCxnSpPr/>
                <p:nvPr/>
              </p:nvCxnSpPr>
              <p:spPr>
                <a:xfrm flipH="1">
                  <a:off x="682142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342" name="Group 341"/>
                <p:cNvGrpSpPr/>
                <p:nvPr/>
              </p:nvGrpSpPr>
              <p:grpSpPr>
                <a:xfrm>
                  <a:off x="3401568" y="3734032"/>
                  <a:ext cx="2332373" cy="323454"/>
                  <a:chOff x="3401568" y="3734032"/>
                  <a:chExt cx="2332373" cy="323454"/>
                </a:xfrm>
              </p:grpSpPr>
              <p:sp>
                <p:nvSpPr>
                  <p:cNvPr id="351" name="Rectangle 350"/>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52" name="Rectangle 351"/>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53" name="Rectangle 352"/>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354" name="Straight Connector 353"/>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55" name="Straight Connector 354"/>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56" name="Straight Connector 355"/>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57" name="Straight Connector 356"/>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58" name="Straight Connector 357"/>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59" name="Straight Connector 358"/>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60" name="Straight Connector 359"/>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61" name="Straight Connector 360"/>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362" name="Rectangle 361"/>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63" name="Rectangle 362"/>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364" name="Straight Connector 363"/>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65" name="Straight Connector 364"/>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66" name="Straight Connector 365"/>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67" name="Straight Connector 366"/>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68" name="Straight Connector 367"/>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69" name="Straight Connector 368"/>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70" name="Straight Connector 369"/>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71" name="Straight Connector 370"/>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343" name="Left Brace 342"/>
                <p:cNvSpPr/>
                <p:nvPr/>
              </p:nvSpPr>
              <p:spPr>
                <a:xfrm rot="5400000">
                  <a:off x="674370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44" name="Left Brace 343"/>
                <p:cNvSpPr/>
                <p:nvPr/>
              </p:nvSpPr>
              <p:spPr>
                <a:xfrm rot="5400000">
                  <a:off x="3249034" y="3562729"/>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45" name="Left Brace 344"/>
                <p:cNvSpPr/>
                <p:nvPr/>
              </p:nvSpPr>
              <p:spPr>
                <a:xfrm rot="5400000">
                  <a:off x="7683695" y="3026079"/>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46" name="Left Brace 345"/>
                <p:cNvSpPr/>
                <p:nvPr/>
              </p:nvSpPr>
              <p:spPr>
                <a:xfrm rot="5400000">
                  <a:off x="4881846"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47" name="Left Brace 346"/>
                <p:cNvSpPr/>
                <p:nvPr/>
              </p:nvSpPr>
              <p:spPr>
                <a:xfrm rot="5400000">
                  <a:off x="550065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48" name="Left Brace 347"/>
                <p:cNvSpPr/>
                <p:nvPr/>
              </p:nvSpPr>
              <p:spPr>
                <a:xfrm rot="5400000">
                  <a:off x="612564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349" name="Left Brace 348"/>
                <p:cNvSpPr/>
                <p:nvPr/>
              </p:nvSpPr>
              <p:spPr>
                <a:xfrm rot="5400000">
                  <a:off x="3947948" y="3018804"/>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350" name="Straight Connector 349"/>
                <p:cNvCxnSpPr/>
                <p:nvPr/>
              </p:nvCxnSpPr>
              <p:spPr>
                <a:xfrm flipH="1">
                  <a:off x="82204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grpSp>
            <p:nvGrpSpPr>
              <p:cNvPr id="269" name="Group 268"/>
              <p:cNvGrpSpPr/>
              <p:nvPr/>
            </p:nvGrpSpPr>
            <p:grpSpPr>
              <a:xfrm>
                <a:off x="3249385" y="4169664"/>
                <a:ext cx="5126519" cy="510037"/>
                <a:chOff x="3249385" y="3547449"/>
                <a:chExt cx="5126519" cy="510037"/>
              </a:xfrm>
            </p:grpSpPr>
            <p:sp>
              <p:nvSpPr>
                <p:cNvPr id="270" name="Rectangle 269"/>
                <p:cNvSpPr/>
                <p:nvPr/>
              </p:nvSpPr>
              <p:spPr>
                <a:xfrm>
                  <a:off x="3249385" y="3739597"/>
                  <a:ext cx="5126519" cy="310243"/>
                </a:xfrm>
                <a:prstGeom prst="rect">
                  <a:avLst/>
                </a:prstGeom>
                <a:solidFill>
                  <a:srgbClr val="000000">
                    <a:alpha val="20000"/>
                  </a:srgb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71" name="Rectangle 270"/>
                <p:cNvSpPr/>
                <p:nvPr/>
              </p:nvSpPr>
              <p:spPr>
                <a:xfrm>
                  <a:off x="7908254"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72" name="Rectangle 271"/>
                <p:cNvSpPr/>
                <p:nvPr/>
              </p:nvSpPr>
              <p:spPr>
                <a:xfrm>
                  <a:off x="7290380"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73" name="Rectangle 272"/>
                <p:cNvSpPr/>
                <p:nvPr/>
              </p:nvSpPr>
              <p:spPr>
                <a:xfrm>
                  <a:off x="7910866"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74" name="Straight Connector 273"/>
                <p:cNvCxnSpPr/>
                <p:nvPr/>
              </p:nvCxnSpPr>
              <p:spPr>
                <a:xfrm flipH="1">
                  <a:off x="7132320"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728995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76" name="Straight Connector 275"/>
                <p:cNvCxnSpPr/>
                <p:nvPr/>
              </p:nvCxnSpPr>
              <p:spPr>
                <a:xfrm flipH="1">
                  <a:off x="744321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p:nvCxnSpPr>
              <p:spPr>
                <a:xfrm flipH="1">
                  <a:off x="75986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p:nvCxnSpPr>
              <p:spPr>
                <a:xfrm flipH="1">
                  <a:off x="77541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79" name="Straight Connector 278"/>
                <p:cNvCxnSpPr/>
                <p:nvPr/>
              </p:nvCxnSpPr>
              <p:spPr>
                <a:xfrm flipH="1">
                  <a:off x="79095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80" name="Straight Connector 279"/>
                <p:cNvCxnSpPr/>
                <p:nvPr/>
              </p:nvCxnSpPr>
              <p:spPr>
                <a:xfrm flipH="1">
                  <a:off x="80650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81" name="Rectangle 280"/>
                <p:cNvSpPr/>
                <p:nvPr/>
              </p:nvSpPr>
              <p:spPr>
                <a:xfrm>
                  <a:off x="6046796"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82" name="Rectangle 281"/>
                <p:cNvSpPr/>
                <p:nvPr/>
              </p:nvSpPr>
              <p:spPr>
                <a:xfrm>
                  <a:off x="6667282"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83" name="Straight Connector 282"/>
                <p:cNvCxnSpPr/>
                <p:nvPr/>
              </p:nvCxnSpPr>
              <p:spPr>
                <a:xfrm flipH="1">
                  <a:off x="697687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84" name="Straight Connector 283"/>
                <p:cNvCxnSpPr/>
                <p:nvPr/>
              </p:nvCxnSpPr>
              <p:spPr>
                <a:xfrm flipH="1">
                  <a:off x="5888736"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85" name="Straight Connector 284"/>
                <p:cNvCxnSpPr/>
                <p:nvPr/>
              </p:nvCxnSpPr>
              <p:spPr>
                <a:xfrm flipH="1">
                  <a:off x="604637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86" name="Straight Connector 285"/>
                <p:cNvCxnSpPr/>
                <p:nvPr/>
              </p:nvCxnSpPr>
              <p:spPr>
                <a:xfrm flipH="1">
                  <a:off x="619963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87" name="Straight Connector 286"/>
                <p:cNvCxnSpPr/>
                <p:nvPr/>
              </p:nvCxnSpPr>
              <p:spPr>
                <a:xfrm flipH="1">
                  <a:off x="635508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p:nvPr/>
              </p:nvCxnSpPr>
              <p:spPr>
                <a:xfrm flipH="1">
                  <a:off x="651052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p:nvCxnSpPr>
              <p:spPr>
                <a:xfrm flipH="1">
                  <a:off x="666597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p:nvCxnSpPr>
              <p:spPr>
                <a:xfrm flipH="1">
                  <a:off x="682142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291" name="Group 290"/>
                <p:cNvGrpSpPr/>
                <p:nvPr/>
              </p:nvGrpSpPr>
              <p:grpSpPr>
                <a:xfrm>
                  <a:off x="3401568" y="3734032"/>
                  <a:ext cx="2332373" cy="323454"/>
                  <a:chOff x="3401568" y="3734032"/>
                  <a:chExt cx="2332373" cy="323454"/>
                </a:xfrm>
              </p:grpSpPr>
              <p:sp>
                <p:nvSpPr>
                  <p:cNvPr id="300" name="Rectangle 299"/>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01" name="Rectangle 300"/>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02" name="Rectangle 301"/>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303" name="Straight Connector 302"/>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05" name="Straight Connector 304"/>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311" name="Rectangle 310"/>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12" name="Rectangle 311"/>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313" name="Straight Connector 312"/>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315" name="Straight Connector 314"/>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17" name="Straight Connector 316"/>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18" name="Straight Connector 317"/>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19" name="Straight Connector 318"/>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320" name="Straight Connector 319"/>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292" name="Left Brace 291"/>
                <p:cNvSpPr/>
                <p:nvPr/>
              </p:nvSpPr>
              <p:spPr>
                <a:xfrm rot="5400000">
                  <a:off x="674370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93" name="Left Brace 292"/>
                <p:cNvSpPr/>
                <p:nvPr/>
              </p:nvSpPr>
              <p:spPr>
                <a:xfrm rot="5400000">
                  <a:off x="3249034" y="3562729"/>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94" name="Left Brace 293"/>
                <p:cNvSpPr/>
                <p:nvPr/>
              </p:nvSpPr>
              <p:spPr>
                <a:xfrm rot="5400000">
                  <a:off x="7683695" y="3026079"/>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95" name="Left Brace 294"/>
                <p:cNvSpPr/>
                <p:nvPr/>
              </p:nvSpPr>
              <p:spPr>
                <a:xfrm rot="5400000">
                  <a:off x="4881846"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96" name="Left Brace 295"/>
                <p:cNvSpPr/>
                <p:nvPr/>
              </p:nvSpPr>
              <p:spPr>
                <a:xfrm rot="5400000">
                  <a:off x="550065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97" name="Left Brace 296"/>
                <p:cNvSpPr/>
                <p:nvPr/>
              </p:nvSpPr>
              <p:spPr>
                <a:xfrm rot="5400000">
                  <a:off x="612564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98" name="Left Brace 297"/>
                <p:cNvSpPr/>
                <p:nvPr/>
              </p:nvSpPr>
              <p:spPr>
                <a:xfrm rot="5400000">
                  <a:off x="3947948" y="3018804"/>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99" name="Straight Connector 298"/>
                <p:cNvCxnSpPr/>
                <p:nvPr/>
              </p:nvCxnSpPr>
              <p:spPr>
                <a:xfrm flipH="1">
                  <a:off x="82204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grpSp>
        <p:sp>
          <p:nvSpPr>
            <p:cNvPr id="423" name="Rectangle 422"/>
            <p:cNvSpPr/>
            <p:nvPr/>
          </p:nvSpPr>
          <p:spPr>
            <a:xfrm>
              <a:off x="2311219" y="3395443"/>
              <a:ext cx="5284474" cy="365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grpSp>
    </p:spTree>
    <p:extLst>
      <p:ext uri="{BB962C8B-B14F-4D97-AF65-F5344CB8AC3E}">
        <p14:creationId xmlns:p14="http://schemas.microsoft.com/office/powerpoint/2010/main" val="1434447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nodeType="clickEffect">
                                  <p:stCondLst>
                                    <p:cond delay="0"/>
                                  </p:stCondLst>
                                  <p:childTnLst>
                                    <p:animEffect transition="out" filter="fade">
                                      <p:cBhvr>
                                        <p:cTn id="13" dur="1000"/>
                                        <p:tgtEl>
                                          <p:spTgt spid="2"/>
                                        </p:tgtEl>
                                      </p:cBhvr>
                                    </p:animEffect>
                                    <p:anim calcmode="lin" valueType="num">
                                      <p:cBhvr>
                                        <p:cTn id="14" dur="1000"/>
                                        <p:tgtEl>
                                          <p:spTgt spid="2"/>
                                        </p:tgtEl>
                                        <p:attrNameLst>
                                          <p:attrName>ppt_x</p:attrName>
                                        </p:attrNameLst>
                                      </p:cBhvr>
                                      <p:tavLst>
                                        <p:tav tm="0">
                                          <p:val>
                                            <p:strVal val="ppt_x"/>
                                          </p:val>
                                        </p:tav>
                                        <p:tav tm="100000">
                                          <p:val>
                                            <p:strVal val="ppt_x"/>
                                          </p:val>
                                        </p:tav>
                                      </p:tavLst>
                                    </p:anim>
                                    <p:anim calcmode="lin" valueType="num">
                                      <p:cBhvr>
                                        <p:cTn id="15" dur="1000"/>
                                        <p:tgtEl>
                                          <p:spTgt spid="2"/>
                                        </p:tgtEl>
                                        <p:attrNameLst>
                                          <p:attrName>ppt_y</p:attrName>
                                        </p:attrNameLst>
                                      </p:cBhvr>
                                      <p:tavLst>
                                        <p:tav tm="0">
                                          <p:val>
                                            <p:strVal val="ppt_y"/>
                                          </p:val>
                                        </p:tav>
                                        <p:tav tm="100000">
                                          <p:val>
                                            <p:strVal val="ppt_y+.1"/>
                                          </p:val>
                                        </p:tav>
                                      </p:tavLst>
                                    </p:anim>
                                    <p:set>
                                      <p:cBhvr>
                                        <p:cTn id="16"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(“many=%u  (c=%u s=%u </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(many),</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(char),</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(char*),</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(unsigned int),</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(float),</a:t>
            </a:r>
            <a:r>
              <a:rPr lang="en-US" sz="1431" dirty="0" err="1">
                <a:solidFill>
                  <a:schemeClr val="bg1"/>
                </a:solidFill>
                <a:latin typeface="Consolas" panose="020B0609020204030204" pitchFamily="49" charset="0"/>
                <a:cs typeface="Consolas" panose="020B0609020204030204" pitchFamily="49" charset="0"/>
              </a:rPr>
              <a:t>sizeof</a:t>
            </a:r>
            <a:r>
              <a:rPr lang="en-US" sz="1431" dirty="0">
                <a:solidFill>
                  <a:schemeClr val="bg1"/>
                </a:solidFill>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Y-&gt;d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6" name="Group 15"/>
          <p:cNvGrpSpPr/>
          <p:nvPr/>
        </p:nvGrpSpPr>
        <p:grpSpPr>
          <a:xfrm>
            <a:off x="1509766" y="3700488"/>
            <a:ext cx="4548039" cy="1394556"/>
            <a:chOff x="2655475" y="3547449"/>
            <a:chExt cx="5720429" cy="1754044"/>
          </a:xfrm>
        </p:grpSpPr>
        <p:sp>
          <p:nvSpPr>
            <p:cNvPr id="39" name="Rectangle 38"/>
            <p:cNvSpPr/>
            <p:nvPr/>
          </p:nvSpPr>
          <p:spPr>
            <a:xfrm>
              <a:off x="2655475" y="4362171"/>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8" name="Rectangle 57"/>
            <p:cNvSpPr/>
            <p:nvPr/>
          </p:nvSpPr>
          <p:spPr>
            <a:xfrm>
              <a:off x="2655475" y="4965288"/>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grpSp>
          <p:nvGrpSpPr>
            <p:cNvPr id="15" name="Group 14"/>
            <p:cNvGrpSpPr/>
            <p:nvPr/>
          </p:nvGrpSpPr>
          <p:grpSpPr>
            <a:xfrm>
              <a:off x="3249385" y="4791456"/>
              <a:ext cx="5126519" cy="510037"/>
              <a:chOff x="3249385" y="3547449"/>
              <a:chExt cx="5126519" cy="510037"/>
            </a:xfrm>
          </p:grpSpPr>
          <p:sp>
            <p:nvSpPr>
              <p:cNvPr id="97" name="Rectangle 96"/>
              <p:cNvSpPr/>
              <p:nvPr/>
            </p:nvSpPr>
            <p:spPr>
              <a:xfrm>
                <a:off x="3249385" y="3739597"/>
                <a:ext cx="5126519"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5" name="Rectangle 94"/>
              <p:cNvSpPr/>
              <p:nvPr/>
            </p:nvSpPr>
            <p:spPr>
              <a:xfrm>
                <a:off x="7908254"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7290380"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7910866"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8" name="Straight Connector 97"/>
              <p:cNvCxnSpPr/>
              <p:nvPr/>
            </p:nvCxnSpPr>
            <p:spPr>
              <a:xfrm flipH="1">
                <a:off x="7132320"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H="1">
                <a:off x="728995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744321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75986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77541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79095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80650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6046796"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6667282"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697687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5888736"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604637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619963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635508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a:off x="651052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666597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682142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116" name="Group 115"/>
              <p:cNvGrpSpPr/>
              <p:nvPr/>
            </p:nvGrpSpPr>
            <p:grpSpPr>
              <a:xfrm>
                <a:off x="3401568" y="3734032"/>
                <a:ext cx="2332373" cy="323454"/>
                <a:chOff x="3401568" y="3734032"/>
                <a:chExt cx="2332373" cy="323454"/>
              </a:xfrm>
            </p:grpSpPr>
            <p:sp>
              <p:nvSpPr>
                <p:cNvPr id="117" name="Rectangle 116"/>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14" name="Left Brace 13"/>
              <p:cNvSpPr/>
              <p:nvPr/>
            </p:nvSpPr>
            <p:spPr>
              <a:xfrm rot="5400000">
                <a:off x="674370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3249034" y="3562729"/>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7683695" y="3026079"/>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4881846"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550065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612564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3947948" y="3018804"/>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82204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grpSp>
          <p:nvGrpSpPr>
            <p:cNvPr id="145" name="Group 144"/>
            <p:cNvGrpSpPr/>
            <p:nvPr/>
          </p:nvGrpSpPr>
          <p:grpSpPr>
            <a:xfrm>
              <a:off x="3249385" y="3547449"/>
              <a:ext cx="5126519" cy="510037"/>
              <a:chOff x="3249385" y="3547449"/>
              <a:chExt cx="5126519" cy="510037"/>
            </a:xfrm>
          </p:grpSpPr>
          <p:sp>
            <p:nvSpPr>
              <p:cNvPr id="146" name="Rectangle 145"/>
              <p:cNvSpPr/>
              <p:nvPr/>
            </p:nvSpPr>
            <p:spPr>
              <a:xfrm>
                <a:off x="3249385" y="3739597"/>
                <a:ext cx="5126519"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7" name="Rectangle 146"/>
              <p:cNvSpPr/>
              <p:nvPr/>
            </p:nvSpPr>
            <p:spPr>
              <a:xfrm>
                <a:off x="7908254"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7290380"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7910866"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0" name="Straight Connector 149"/>
              <p:cNvCxnSpPr/>
              <p:nvPr/>
            </p:nvCxnSpPr>
            <p:spPr>
              <a:xfrm flipH="1">
                <a:off x="7132320"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flipH="1">
                <a:off x="728995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744321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75986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77541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79095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80650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6046796"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6667282"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697687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5888736"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604637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619963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635508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651052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666597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682142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167" name="Group 166"/>
              <p:cNvGrpSpPr/>
              <p:nvPr/>
            </p:nvGrpSpPr>
            <p:grpSpPr>
              <a:xfrm>
                <a:off x="3401568" y="3734032"/>
                <a:ext cx="2332373" cy="323454"/>
                <a:chOff x="3401568" y="3734032"/>
                <a:chExt cx="2332373" cy="323454"/>
              </a:xfrm>
            </p:grpSpPr>
            <p:sp>
              <p:nvSpPr>
                <p:cNvPr id="176" name="Rectangle 175"/>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168" name="Left Brace 167"/>
              <p:cNvSpPr/>
              <p:nvPr/>
            </p:nvSpPr>
            <p:spPr>
              <a:xfrm rot="5400000">
                <a:off x="674370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3249034" y="3562729"/>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7683695" y="3026079"/>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4881846"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550065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612564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3947948" y="3018804"/>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82204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grpSp>
          <p:nvGrpSpPr>
            <p:cNvPr id="197" name="Group 196"/>
            <p:cNvGrpSpPr/>
            <p:nvPr/>
          </p:nvGrpSpPr>
          <p:grpSpPr>
            <a:xfrm>
              <a:off x="3249385" y="4169664"/>
              <a:ext cx="5126519" cy="510037"/>
              <a:chOff x="3249385" y="3547449"/>
              <a:chExt cx="5126519" cy="510037"/>
            </a:xfrm>
          </p:grpSpPr>
          <p:sp>
            <p:nvSpPr>
              <p:cNvPr id="198" name="Rectangle 197"/>
              <p:cNvSpPr/>
              <p:nvPr/>
            </p:nvSpPr>
            <p:spPr>
              <a:xfrm>
                <a:off x="3249385" y="3739597"/>
                <a:ext cx="5126519"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9" name="Rectangle 198"/>
              <p:cNvSpPr/>
              <p:nvPr/>
            </p:nvSpPr>
            <p:spPr>
              <a:xfrm>
                <a:off x="7908254"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7290380"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7910866"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2" name="Straight Connector 201"/>
              <p:cNvCxnSpPr/>
              <p:nvPr/>
            </p:nvCxnSpPr>
            <p:spPr>
              <a:xfrm flipH="1">
                <a:off x="7132320"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flipH="1">
                <a:off x="728995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744321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75986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77541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79095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80650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6046796"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6667282"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697687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5888736"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604637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619963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635508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H="1">
                <a:off x="651052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666597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682142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219" name="Group 218"/>
              <p:cNvGrpSpPr/>
              <p:nvPr/>
            </p:nvGrpSpPr>
            <p:grpSpPr>
              <a:xfrm>
                <a:off x="3401568" y="3734032"/>
                <a:ext cx="2332373" cy="323454"/>
                <a:chOff x="3401568" y="3734032"/>
                <a:chExt cx="2332373" cy="323454"/>
              </a:xfrm>
            </p:grpSpPr>
            <p:sp>
              <p:nvSpPr>
                <p:cNvPr id="228" name="Rectangle 227"/>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220" name="Left Brace 219"/>
              <p:cNvSpPr/>
              <p:nvPr/>
            </p:nvSpPr>
            <p:spPr>
              <a:xfrm rot="5400000">
                <a:off x="674370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3249034" y="3562729"/>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7683695" y="3026079"/>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4881846"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550065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612564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3947948" y="3018804"/>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82204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grp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52" name="Rectangle 251"/>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gcc</a:t>
            </a:r>
            <a:r>
              <a:rPr lang="en-US" sz="1749" dirty="0">
                <a:solidFill>
                  <a:srgbClr val="FFFFFF"/>
                </a:solidFill>
                <a:latin typeface="Arial Narrow" panose="020B0606020202030204" pitchFamily="34" charset="0"/>
                <a:cs typeface="Consolas" panose="020B0609020204030204" pitchFamily="49" charset="0"/>
              </a:rPr>
              <a:t> -o </a:t>
            </a:r>
            <a:r>
              <a:rPr lang="en-US" sz="1749" dirty="0" err="1">
                <a:solidFill>
                  <a:srgbClr val="FFFFFF"/>
                </a:solidFill>
                <a:latin typeface="Arial Narrow" panose="020B0606020202030204" pitchFamily="34" charset="0"/>
                <a:cs typeface="Consolas" panose="020B0609020204030204" pitchFamily="49" charset="0"/>
              </a:rPr>
              <a:t>struct.x</a:t>
            </a:r>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struct.c</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struct.x</a:t>
            </a:r>
            <a:endParaRPr lang="en-US" sz="1749" dirty="0">
              <a:solidFill>
                <a:srgbClr val="FFFFFF"/>
              </a:solidFill>
              <a:latin typeface="Arial Narrow" panose="020B0606020202030204" pitchFamily="34" charset="0"/>
              <a:cs typeface="Consolas" panose="020B0609020204030204" pitchFamily="49" charset="0"/>
            </a:endParaRPr>
          </a:p>
          <a:p>
            <a:endParaRPr lang="en-US" sz="1749" dirty="0">
              <a:solidFill>
                <a:srgbClr val="FFFFFF"/>
              </a:solidFill>
              <a:latin typeface="Arial Narrow" panose="020B0606020202030204" pitchFamily="34" charset="0"/>
              <a:cs typeface="Consolas" panose="020B0609020204030204" pitchFamily="49" charset="0"/>
            </a:endParaRP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71400428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Rectangle 252"/>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gcc</a:t>
            </a:r>
            <a:r>
              <a:rPr lang="en-US" sz="1749" dirty="0">
                <a:solidFill>
                  <a:srgbClr val="FFFFFF"/>
                </a:solidFill>
                <a:latin typeface="Arial Narrow" panose="020B0606020202030204" pitchFamily="34" charset="0"/>
                <a:cs typeface="Consolas" panose="020B0609020204030204" pitchFamily="49" charset="0"/>
              </a:rPr>
              <a:t> -o </a:t>
            </a:r>
            <a:r>
              <a:rPr lang="en-US" sz="1749" dirty="0" err="1">
                <a:solidFill>
                  <a:srgbClr val="FFFFFF"/>
                </a:solidFill>
                <a:latin typeface="Arial Narrow" panose="020B0606020202030204" pitchFamily="34" charset="0"/>
                <a:cs typeface="Consolas" panose="020B0609020204030204" pitchFamily="49" charset="0"/>
              </a:rPr>
              <a:t>struct.x</a:t>
            </a:r>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struct.c</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struct.x</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many=</a:t>
            </a:r>
            <a:r>
              <a:rPr lang="en-US" sz="1749" i="1" dirty="0">
                <a:solidFill>
                  <a:srgbClr val="FFFFFF"/>
                </a:solidFill>
                <a:latin typeface="Arial Narrow" panose="020B0606020202030204" pitchFamily="34" charset="0"/>
                <a:cs typeface="Consolas" panose="020B0609020204030204" pitchFamily="49" charset="0"/>
              </a:rPr>
              <a:t>33</a:t>
            </a:r>
            <a:r>
              <a:rPr lang="en-US" sz="12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(c=1</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s=8</a:t>
            </a:r>
            <a:r>
              <a:rPr lang="en-US" sz="1400"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i</a:t>
            </a:r>
            <a:r>
              <a:rPr lang="en-US" sz="1749" dirty="0">
                <a:solidFill>
                  <a:srgbClr val="FFFFFF"/>
                </a:solidFill>
                <a:latin typeface="Arial Narrow" panose="020B0606020202030204" pitchFamily="34" charset="0"/>
                <a:cs typeface="Consolas" panose="020B0609020204030204" pitchFamily="49" charset="0"/>
              </a:rPr>
              <a:t>=4</a:t>
            </a:r>
            <a:r>
              <a:rPr lang="en-US" sz="140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l=4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u=4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f=4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d=8)</a:t>
            </a: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err="1">
                <a:solidFill>
                  <a:srgbClr val="FF0000"/>
                </a:solidFill>
                <a:latin typeface="Consolas" panose="020B0609020204030204" pitchFamily="49" charset="0"/>
                <a:cs typeface="Consolas" panose="020B0609020204030204" pitchFamily="49" charset="0"/>
              </a:rPr>
              <a:t>printf</a:t>
            </a:r>
            <a:r>
              <a:rPr lang="en-US" sz="1431" dirty="0">
                <a:solidFill>
                  <a:srgbClr val="FF0000"/>
                </a:solidFill>
                <a:latin typeface="Consolas" panose="020B0609020204030204" pitchFamily="49" charset="0"/>
                <a:cs typeface="Consolas" panose="020B0609020204030204" pitchFamily="49" charset="0"/>
              </a:rPr>
              <a:t>("many=%u  (c=%u s=%u </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(many),</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(char),</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(char*),</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(unsigned int),</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(float),</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Y-&gt;d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6" name="Group 15"/>
          <p:cNvGrpSpPr/>
          <p:nvPr/>
        </p:nvGrpSpPr>
        <p:grpSpPr>
          <a:xfrm>
            <a:off x="1509766" y="3700488"/>
            <a:ext cx="4548039" cy="1394556"/>
            <a:chOff x="2655475" y="3547449"/>
            <a:chExt cx="5720429" cy="1754044"/>
          </a:xfrm>
        </p:grpSpPr>
        <p:sp>
          <p:nvSpPr>
            <p:cNvPr id="39" name="Rectangle 38"/>
            <p:cNvSpPr/>
            <p:nvPr/>
          </p:nvSpPr>
          <p:spPr>
            <a:xfrm>
              <a:off x="2655475" y="4362171"/>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8" name="Rectangle 57"/>
            <p:cNvSpPr/>
            <p:nvPr/>
          </p:nvSpPr>
          <p:spPr>
            <a:xfrm>
              <a:off x="2655475" y="4965288"/>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grpSp>
          <p:nvGrpSpPr>
            <p:cNvPr id="15" name="Group 14"/>
            <p:cNvGrpSpPr/>
            <p:nvPr/>
          </p:nvGrpSpPr>
          <p:grpSpPr>
            <a:xfrm>
              <a:off x="3249385" y="4791456"/>
              <a:ext cx="5126519" cy="510037"/>
              <a:chOff x="3249385" y="3547449"/>
              <a:chExt cx="5126519" cy="510037"/>
            </a:xfrm>
          </p:grpSpPr>
          <p:sp>
            <p:nvSpPr>
              <p:cNvPr id="97" name="Rectangle 96"/>
              <p:cNvSpPr/>
              <p:nvPr/>
            </p:nvSpPr>
            <p:spPr>
              <a:xfrm>
                <a:off x="3249385" y="3739597"/>
                <a:ext cx="5126519"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5" name="Rectangle 94"/>
              <p:cNvSpPr/>
              <p:nvPr/>
            </p:nvSpPr>
            <p:spPr>
              <a:xfrm>
                <a:off x="7908254"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7290380"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7910866"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8" name="Straight Connector 97"/>
              <p:cNvCxnSpPr/>
              <p:nvPr/>
            </p:nvCxnSpPr>
            <p:spPr>
              <a:xfrm flipH="1">
                <a:off x="7132320"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H="1">
                <a:off x="728995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744321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75986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77541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79095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80650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6046796"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6667282"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697687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5888736"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604637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619963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635508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a:off x="651052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666597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682142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116" name="Group 115"/>
              <p:cNvGrpSpPr/>
              <p:nvPr/>
            </p:nvGrpSpPr>
            <p:grpSpPr>
              <a:xfrm>
                <a:off x="3401568" y="3734032"/>
                <a:ext cx="2332373" cy="323454"/>
                <a:chOff x="3401568" y="3734032"/>
                <a:chExt cx="2332373" cy="323454"/>
              </a:xfrm>
            </p:grpSpPr>
            <p:sp>
              <p:nvSpPr>
                <p:cNvPr id="117" name="Rectangle 116"/>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14" name="Left Brace 13"/>
              <p:cNvSpPr/>
              <p:nvPr/>
            </p:nvSpPr>
            <p:spPr>
              <a:xfrm rot="5400000">
                <a:off x="674370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3249034" y="3562729"/>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7683695" y="3026079"/>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4881846"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550065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612564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3947948" y="3018804"/>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82204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grpSp>
          <p:nvGrpSpPr>
            <p:cNvPr id="145" name="Group 144"/>
            <p:cNvGrpSpPr/>
            <p:nvPr/>
          </p:nvGrpSpPr>
          <p:grpSpPr>
            <a:xfrm>
              <a:off x="3249385" y="3547449"/>
              <a:ext cx="5126519" cy="510037"/>
              <a:chOff x="3249385" y="3547449"/>
              <a:chExt cx="5126519" cy="510037"/>
            </a:xfrm>
          </p:grpSpPr>
          <p:sp>
            <p:nvSpPr>
              <p:cNvPr id="146" name="Rectangle 145"/>
              <p:cNvSpPr/>
              <p:nvPr/>
            </p:nvSpPr>
            <p:spPr>
              <a:xfrm>
                <a:off x="3249385" y="3739597"/>
                <a:ext cx="5126519"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7" name="Rectangle 146"/>
              <p:cNvSpPr/>
              <p:nvPr/>
            </p:nvSpPr>
            <p:spPr>
              <a:xfrm>
                <a:off x="7908254"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7290380"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7910866"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0" name="Straight Connector 149"/>
              <p:cNvCxnSpPr/>
              <p:nvPr/>
            </p:nvCxnSpPr>
            <p:spPr>
              <a:xfrm flipH="1">
                <a:off x="7132320"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flipH="1">
                <a:off x="728995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744321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75986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77541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79095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80650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6046796"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6667282"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697687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5888736"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604637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619963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635508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651052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666597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682142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167" name="Group 166"/>
              <p:cNvGrpSpPr/>
              <p:nvPr/>
            </p:nvGrpSpPr>
            <p:grpSpPr>
              <a:xfrm>
                <a:off x="3401568" y="3734032"/>
                <a:ext cx="2332373" cy="323454"/>
                <a:chOff x="3401568" y="3734032"/>
                <a:chExt cx="2332373" cy="323454"/>
              </a:xfrm>
            </p:grpSpPr>
            <p:sp>
              <p:nvSpPr>
                <p:cNvPr id="176" name="Rectangle 175"/>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168" name="Left Brace 167"/>
              <p:cNvSpPr/>
              <p:nvPr/>
            </p:nvSpPr>
            <p:spPr>
              <a:xfrm rot="5400000">
                <a:off x="674370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3249034" y="3562729"/>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7683695" y="3026079"/>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4881846"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550065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612564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3947948" y="3018804"/>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82204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grpSp>
          <p:nvGrpSpPr>
            <p:cNvPr id="197" name="Group 196"/>
            <p:cNvGrpSpPr/>
            <p:nvPr/>
          </p:nvGrpSpPr>
          <p:grpSpPr>
            <a:xfrm>
              <a:off x="3249385" y="4169664"/>
              <a:ext cx="5126519" cy="510037"/>
              <a:chOff x="3249385" y="3547449"/>
              <a:chExt cx="5126519" cy="510037"/>
            </a:xfrm>
          </p:grpSpPr>
          <p:sp>
            <p:nvSpPr>
              <p:cNvPr id="198" name="Rectangle 197"/>
              <p:cNvSpPr/>
              <p:nvPr/>
            </p:nvSpPr>
            <p:spPr>
              <a:xfrm>
                <a:off x="3249385" y="3739597"/>
                <a:ext cx="5126519"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9" name="Rectangle 198"/>
              <p:cNvSpPr/>
              <p:nvPr/>
            </p:nvSpPr>
            <p:spPr>
              <a:xfrm>
                <a:off x="7908254"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7290380"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7910866"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2" name="Straight Connector 201"/>
              <p:cNvCxnSpPr/>
              <p:nvPr/>
            </p:nvCxnSpPr>
            <p:spPr>
              <a:xfrm flipH="1">
                <a:off x="7132320"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flipH="1">
                <a:off x="728995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744321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75986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77541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79095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80650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6046796"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6667282"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697687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5888736"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604637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619963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635508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H="1">
                <a:off x="651052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666597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682142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219" name="Group 218"/>
              <p:cNvGrpSpPr/>
              <p:nvPr/>
            </p:nvGrpSpPr>
            <p:grpSpPr>
              <a:xfrm>
                <a:off x="3401568" y="3734032"/>
                <a:ext cx="2332373" cy="323454"/>
                <a:chOff x="3401568" y="3734032"/>
                <a:chExt cx="2332373" cy="323454"/>
              </a:xfrm>
            </p:grpSpPr>
            <p:sp>
              <p:nvSpPr>
                <p:cNvPr id="228" name="Rectangle 227"/>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220" name="Left Brace 219"/>
              <p:cNvSpPr/>
              <p:nvPr/>
            </p:nvSpPr>
            <p:spPr>
              <a:xfrm rot="5400000">
                <a:off x="674370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3249034" y="3562729"/>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7683695" y="3026079"/>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4881846"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550065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6125640" y="333240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3947948" y="3018804"/>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82204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grp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50" name="Rectangle 249"/>
          <p:cNvSpPr/>
          <p:nvPr/>
        </p:nvSpPr>
        <p:spPr>
          <a:xfrm>
            <a:off x="6158192" y="5508610"/>
            <a:ext cx="3499855" cy="2350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Tree>
    <p:extLst>
      <p:ext uri="{BB962C8B-B14F-4D97-AF65-F5344CB8AC3E}">
        <p14:creationId xmlns:p14="http://schemas.microsoft.com/office/powerpoint/2010/main" val="3304271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250"/>
                                        </p:tgtEl>
                                      </p:cBhvr>
                                    </p:animEffect>
                                    <p:set>
                                      <p:cBhvr>
                                        <p:cTn id="7" dur="1" fill="hold">
                                          <p:stCondLst>
                                            <p:cond delay="499"/>
                                          </p:stCondLst>
                                        </p:cTn>
                                        <p:tgtEl>
                                          <p:spTgt spid="2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a:solidFill>
                  <a:schemeClr val="bg1"/>
                </a:solidFill>
                <a:latin typeface="Consolas" panose="020B0609020204030204" pitchFamily="49" charset="0"/>
                <a:cs typeface="Consolas" panose="020B0609020204030204" pitchFamily="49" charset="0"/>
              </a:rPr>
              <a:t>Z-&gt;f = 6.0;</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Y-&gt;d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8" name="Rectangle 57"/>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X</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116" name="Group 115"/>
          <p:cNvGrpSpPr/>
          <p:nvPr/>
        </p:nvGrpSpPr>
        <p:grpSpPr>
          <a:xfrm>
            <a:off x="2102948" y="4837882"/>
            <a:ext cx="1854358" cy="257163"/>
            <a:chOff x="3401568" y="3734032"/>
            <a:chExt cx="2332373" cy="323454"/>
          </a:xfrm>
        </p:grpSpPr>
        <p:sp>
          <p:nvSpPr>
            <p:cNvPr id="117" name="Rectangle 116"/>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nvGrpSpPr>
          <p:cNvPr id="219" name="Group 218"/>
          <p:cNvGrpSpPr/>
          <p:nvPr/>
        </p:nvGrpSpPr>
        <p:grpSpPr>
          <a:xfrm>
            <a:off x="2102948" y="4343525"/>
            <a:ext cx="1854358" cy="257163"/>
            <a:chOff x="3401568" y="3734032"/>
            <a:chExt cx="2332373" cy="323454"/>
          </a:xfrm>
        </p:grpSpPr>
        <p:sp>
          <p:nvSpPr>
            <p:cNvPr id="228" name="Rectangle 227"/>
            <p:cNvSpPr/>
            <p:nvPr/>
          </p:nvSpPr>
          <p:spPr>
            <a:xfrm>
              <a:off x="5421086" y="373959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4803212"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5423698"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573328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p:nvCxnSpPr>
          <p:spPr>
            <a:xfrm flipH="1">
              <a:off x="4645152"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480279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495604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511149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5266944"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542239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557784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3559628" y="373611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4180114" y="373403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448970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flipH="1">
              <a:off x="3401568" y="373959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355920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3712464"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3867912"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4023360"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4178808"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4334256" y="373959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grp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1981954" y="3848833"/>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A</a:t>
            </a:r>
          </a:p>
        </p:txBody>
      </p: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1" name="Rectangle 250"/>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gcc</a:t>
            </a:r>
            <a:r>
              <a:rPr lang="en-US" sz="1749" dirty="0">
                <a:solidFill>
                  <a:srgbClr val="FFFFFF"/>
                </a:solidFill>
                <a:latin typeface="Arial Narrow" panose="020B0606020202030204" pitchFamily="34" charset="0"/>
                <a:cs typeface="Consolas" panose="020B0609020204030204" pitchFamily="49" charset="0"/>
              </a:rPr>
              <a:t> -o </a:t>
            </a:r>
            <a:r>
              <a:rPr lang="en-US" sz="1749" dirty="0" err="1">
                <a:solidFill>
                  <a:srgbClr val="FFFFFF"/>
                </a:solidFill>
                <a:latin typeface="Arial Narrow" panose="020B0606020202030204" pitchFamily="34" charset="0"/>
                <a:cs typeface="Consolas" panose="020B0609020204030204" pitchFamily="49" charset="0"/>
              </a:rPr>
              <a:t>struct.x</a:t>
            </a:r>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struct.c</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struct.x</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many=</a:t>
            </a:r>
            <a:r>
              <a:rPr lang="en-US" sz="1749" i="1" dirty="0">
                <a:solidFill>
                  <a:srgbClr val="FFFFFF"/>
                </a:solidFill>
                <a:latin typeface="Arial Narrow" panose="020B0606020202030204" pitchFamily="34" charset="0"/>
                <a:cs typeface="Consolas" panose="020B0609020204030204" pitchFamily="49" charset="0"/>
              </a:rPr>
              <a:t>33</a:t>
            </a:r>
            <a:r>
              <a:rPr lang="en-US" sz="12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(c=1</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s=8</a:t>
            </a:r>
            <a:r>
              <a:rPr lang="en-US" sz="1400"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i</a:t>
            </a:r>
            <a:r>
              <a:rPr lang="en-US" sz="1749" dirty="0">
                <a:solidFill>
                  <a:srgbClr val="FFFFFF"/>
                </a:solidFill>
                <a:latin typeface="Arial Narrow" panose="020B0606020202030204" pitchFamily="34" charset="0"/>
                <a:cs typeface="Consolas" panose="020B0609020204030204" pitchFamily="49" charset="0"/>
              </a:rPr>
              <a:t>=4</a:t>
            </a:r>
            <a:r>
              <a:rPr lang="en-US" sz="140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l=4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u=4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f=4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d=8)</a:t>
            </a: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3997285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Y-&gt;d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8" name="Rectangle 57"/>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Z</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3708571"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3217329"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3710648"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395678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21699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333884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346243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370960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383319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228615"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2721934"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296807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22827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35012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247371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59730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272089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284448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3708571"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3217329"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3710648"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395678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321699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333884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346243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370960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383319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228615"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2721934"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296807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22827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35012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47371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259730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72089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284448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4578032"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srgbClr val="FF0000"/>
                </a:solidFill>
              </a:rPr>
              <a:t>6.0000</a:t>
            </a:r>
          </a:p>
        </p:txBody>
      </p:sp>
      <p:sp>
        <p:nvSpPr>
          <p:cNvPr id="197" name="Rectangle 196"/>
          <p:cNvSpPr/>
          <p:nvPr/>
        </p:nvSpPr>
        <p:spPr>
          <a:xfrm>
            <a:off x="1981954" y="3848833"/>
            <a:ext cx="12004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121" name="Straight Connector 120"/>
          <p:cNvCxnSpPr/>
          <p:nvPr/>
        </p:nvCxnSpPr>
        <p:spPr>
          <a:xfrm flipH="1">
            <a:off x="3091663"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3586020"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2102949"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p:nvCxnSpPr>
        <p:spPr>
          <a:xfrm flipH="1">
            <a:off x="3091663"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3586020"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flipH="1">
            <a:off x="2102949"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1" name="Rectangle 250"/>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gcc</a:t>
            </a:r>
            <a:r>
              <a:rPr lang="en-US" sz="1749" dirty="0">
                <a:solidFill>
                  <a:srgbClr val="FFFFFF"/>
                </a:solidFill>
                <a:latin typeface="Arial Narrow" panose="020B0606020202030204" pitchFamily="34" charset="0"/>
                <a:cs typeface="Consolas" panose="020B0609020204030204" pitchFamily="49" charset="0"/>
              </a:rPr>
              <a:t> -o </a:t>
            </a:r>
            <a:r>
              <a:rPr lang="en-US" sz="1749" dirty="0" err="1">
                <a:solidFill>
                  <a:srgbClr val="FFFFFF"/>
                </a:solidFill>
                <a:latin typeface="Arial Narrow" panose="020B0606020202030204" pitchFamily="34" charset="0"/>
                <a:cs typeface="Consolas" panose="020B0609020204030204" pitchFamily="49" charset="0"/>
              </a:rPr>
              <a:t>struct.x</a:t>
            </a:r>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struct.c</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struct.x</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many=</a:t>
            </a:r>
            <a:r>
              <a:rPr lang="en-US" sz="1749" i="1" dirty="0">
                <a:solidFill>
                  <a:srgbClr val="FFFFFF"/>
                </a:solidFill>
                <a:latin typeface="Arial Narrow" panose="020B0606020202030204" pitchFamily="34" charset="0"/>
                <a:cs typeface="Consolas" panose="020B0609020204030204" pitchFamily="49" charset="0"/>
              </a:rPr>
              <a:t>33</a:t>
            </a:r>
            <a:r>
              <a:rPr lang="en-US" sz="12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(c=1</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s=8</a:t>
            </a:r>
            <a:r>
              <a:rPr lang="en-US" sz="1400"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i</a:t>
            </a:r>
            <a:r>
              <a:rPr lang="en-US" sz="1749" dirty="0">
                <a:solidFill>
                  <a:srgbClr val="FFFFFF"/>
                </a:solidFill>
                <a:latin typeface="Arial Narrow" panose="020B0606020202030204" pitchFamily="34" charset="0"/>
                <a:cs typeface="Consolas" panose="020B0609020204030204" pitchFamily="49" charset="0"/>
              </a:rPr>
              <a:t>=4</a:t>
            </a:r>
            <a:r>
              <a:rPr lang="en-US" sz="140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l=4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u=4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f=4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d=8)</a:t>
            </a: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43807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Y-&gt;d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8" name="Rectangle 57"/>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Z</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3708571"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3217329"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3710648"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395678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21699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333884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346243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370960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383319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228615"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2721934"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296807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22827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35012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247371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59730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272089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284448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3708571"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3217329"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3710648"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395678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321699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333884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346243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370960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383319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228615"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2721934"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296807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22827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35012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47371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259730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72089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284448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4578032"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sp>
        <p:nvSpPr>
          <p:cNvPr id="197" name="Rectangle 196"/>
          <p:cNvSpPr/>
          <p:nvPr/>
        </p:nvSpPr>
        <p:spPr>
          <a:xfrm>
            <a:off x="1981954" y="3848833"/>
            <a:ext cx="12004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121" name="Straight Connector 120"/>
          <p:cNvCxnSpPr/>
          <p:nvPr/>
        </p:nvCxnSpPr>
        <p:spPr>
          <a:xfrm flipH="1">
            <a:off x="3091663"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3586020"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p:nvCxnSpPr>
        <p:spPr>
          <a:xfrm flipH="1">
            <a:off x="3091663"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3586020"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flipH="1">
            <a:off x="2102949"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9" name="Rectangle 218"/>
          <p:cNvSpPr/>
          <p:nvPr/>
        </p:nvSpPr>
        <p:spPr>
          <a:xfrm>
            <a:off x="1981954" y="4839373"/>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B</a:t>
            </a:r>
          </a:p>
        </p:txBody>
      </p:sp>
      <p:cxnSp>
        <p:nvCxnSpPr>
          <p:cNvPr id="131" name="Straight Connector 130"/>
          <p:cNvCxnSpPr/>
          <p:nvPr/>
        </p:nvCxnSpPr>
        <p:spPr>
          <a:xfrm flipH="1">
            <a:off x="2102949"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2" name="Rectangle 251"/>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gcc</a:t>
            </a:r>
            <a:r>
              <a:rPr lang="en-US" sz="1749" dirty="0">
                <a:solidFill>
                  <a:srgbClr val="FFFFFF"/>
                </a:solidFill>
                <a:latin typeface="Arial Narrow" panose="020B0606020202030204" pitchFamily="34" charset="0"/>
                <a:cs typeface="Consolas" panose="020B0609020204030204" pitchFamily="49" charset="0"/>
              </a:rPr>
              <a:t> -o </a:t>
            </a:r>
            <a:r>
              <a:rPr lang="en-US" sz="1749" dirty="0" err="1">
                <a:solidFill>
                  <a:srgbClr val="FFFFFF"/>
                </a:solidFill>
                <a:latin typeface="Arial Narrow" panose="020B0606020202030204" pitchFamily="34" charset="0"/>
                <a:cs typeface="Consolas" panose="020B0609020204030204" pitchFamily="49" charset="0"/>
              </a:rPr>
              <a:t>struct.x</a:t>
            </a:r>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struct.c</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struct.x</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many=</a:t>
            </a:r>
            <a:r>
              <a:rPr lang="en-US" sz="1749" i="1" dirty="0">
                <a:solidFill>
                  <a:srgbClr val="FFFFFF"/>
                </a:solidFill>
                <a:latin typeface="Arial Narrow" panose="020B0606020202030204" pitchFamily="34" charset="0"/>
                <a:cs typeface="Consolas" panose="020B0609020204030204" pitchFamily="49" charset="0"/>
              </a:rPr>
              <a:t>33</a:t>
            </a:r>
            <a:r>
              <a:rPr lang="en-US" sz="12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(c=1</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s=8</a:t>
            </a:r>
            <a:r>
              <a:rPr lang="en-US" sz="1400"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i</a:t>
            </a:r>
            <a:r>
              <a:rPr lang="en-US" sz="1749" dirty="0">
                <a:solidFill>
                  <a:srgbClr val="FFFFFF"/>
                </a:solidFill>
                <a:latin typeface="Arial Narrow" panose="020B0606020202030204" pitchFamily="34" charset="0"/>
                <a:cs typeface="Consolas" panose="020B0609020204030204" pitchFamily="49" charset="0"/>
              </a:rPr>
              <a:t>=4</a:t>
            </a:r>
            <a:r>
              <a:rPr lang="en-US" sz="140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l=4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u=4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f=4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d=8)</a:t>
            </a: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342587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19"/>
                                        </p:tgtEl>
                                        <p:attrNameLst>
                                          <p:attrName>style.visibility</p:attrName>
                                        </p:attrNameLst>
                                      </p:cBhvr>
                                      <p:to>
                                        <p:strVal val="visible"/>
                                      </p:to>
                                    </p:set>
                                    <p:animEffect transition="in" filter="fade">
                                      <p:cBhvr>
                                        <p:cTn id="7" dur="2000"/>
                                        <p:tgtEl>
                                          <p:spTgt spid="219"/>
                                        </p:tgtEl>
                                      </p:cBhvr>
                                    </p:animEffect>
                                    <p:anim calcmode="lin" valueType="num">
                                      <p:cBhvr>
                                        <p:cTn id="8" dur="2000" fill="hold"/>
                                        <p:tgtEl>
                                          <p:spTgt spid="219"/>
                                        </p:tgtEl>
                                        <p:attrNameLst>
                                          <p:attrName>style.rotation</p:attrName>
                                        </p:attrNameLst>
                                      </p:cBhvr>
                                      <p:tavLst>
                                        <p:tav tm="0">
                                          <p:val>
                                            <p:fltVal val="720"/>
                                          </p:val>
                                        </p:tav>
                                        <p:tav tm="100000">
                                          <p:val>
                                            <p:fltVal val="0"/>
                                          </p:val>
                                        </p:tav>
                                      </p:tavLst>
                                    </p:anim>
                                    <p:anim calcmode="lin" valueType="num">
                                      <p:cBhvr>
                                        <p:cTn id="9" dur="2000" fill="hold"/>
                                        <p:tgtEl>
                                          <p:spTgt spid="219"/>
                                        </p:tgtEl>
                                        <p:attrNameLst>
                                          <p:attrName>ppt_h</p:attrName>
                                        </p:attrNameLst>
                                      </p:cBhvr>
                                      <p:tavLst>
                                        <p:tav tm="0">
                                          <p:val>
                                            <p:fltVal val="0"/>
                                          </p:val>
                                        </p:tav>
                                        <p:tav tm="100000">
                                          <p:val>
                                            <p:strVal val="#ppt_h"/>
                                          </p:val>
                                        </p:tav>
                                      </p:tavLst>
                                    </p:anim>
                                    <p:anim calcmode="lin" valueType="num">
                                      <p:cBhvr>
                                        <p:cTn id="10" dur="2000" fill="hold"/>
                                        <p:tgtEl>
                                          <p:spTgt spid="219"/>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solidFill>
                  <a:srgbClr val="FF0000"/>
                </a:solidFill>
                <a:latin typeface="Consolas" panose="020B0609020204030204" pitchFamily="49" charset="0"/>
                <a:cs typeface="Consolas" panose="020B0609020204030204" pitchFamily="49" charset="0"/>
              </a:rPr>
              <a:t>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Y-&gt;d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8" name="Rectangle 57"/>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Z</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3708571"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3217329"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3710648"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395678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21699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333884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346243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370960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383319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228615"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2721934"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296807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22827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35012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247371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59730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272089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284448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3708571"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3217329"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3710648"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395678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321699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333884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346243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370960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383319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228615"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2721934"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296807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22827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35012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47371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259730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72089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284448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3105400"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6</a:t>
            </a:r>
          </a:p>
        </p:txBody>
      </p:sp>
      <p:sp>
        <p:nvSpPr>
          <p:cNvPr id="197" name="Rectangle 196"/>
          <p:cNvSpPr/>
          <p:nvPr/>
        </p:nvSpPr>
        <p:spPr>
          <a:xfrm>
            <a:off x="1981954" y="3848833"/>
            <a:ext cx="12004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232" name="Straight Connector 231"/>
          <p:cNvCxnSpPr/>
          <p:nvPr/>
        </p:nvCxnSpPr>
        <p:spPr>
          <a:xfrm flipH="1">
            <a:off x="3091663"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3586020"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flipH="1">
            <a:off x="2102949"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9" name="Rectangle 218"/>
          <p:cNvSpPr/>
          <p:nvPr/>
        </p:nvSpPr>
        <p:spPr>
          <a:xfrm>
            <a:off x="1981954" y="4839373"/>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B</a:t>
            </a:r>
          </a:p>
        </p:txBody>
      </p:sp>
      <p:cxnSp>
        <p:nvCxnSpPr>
          <p:cNvPr id="131" name="Straight Connector 130"/>
          <p:cNvCxnSpPr/>
          <p:nvPr/>
        </p:nvCxnSpPr>
        <p:spPr>
          <a:xfrm flipH="1">
            <a:off x="2102949"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0" name="Rectangle 249"/>
          <p:cNvSpPr/>
          <p:nvPr/>
        </p:nvSpPr>
        <p:spPr>
          <a:xfrm>
            <a:off x="4578032"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121" name="Straight Connector 120"/>
          <p:cNvCxnSpPr/>
          <p:nvPr/>
        </p:nvCxnSpPr>
        <p:spPr>
          <a:xfrm flipH="1">
            <a:off x="3091663"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3586020"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3" name="Rectangle 252"/>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gcc</a:t>
            </a:r>
            <a:r>
              <a:rPr lang="en-US" sz="1749" dirty="0">
                <a:solidFill>
                  <a:srgbClr val="FFFFFF"/>
                </a:solidFill>
                <a:latin typeface="Arial Narrow" panose="020B0606020202030204" pitchFamily="34" charset="0"/>
                <a:cs typeface="Consolas" panose="020B0609020204030204" pitchFamily="49" charset="0"/>
              </a:rPr>
              <a:t> -o </a:t>
            </a:r>
            <a:r>
              <a:rPr lang="en-US" sz="1749" dirty="0" err="1">
                <a:solidFill>
                  <a:srgbClr val="FFFFFF"/>
                </a:solidFill>
                <a:latin typeface="Arial Narrow" panose="020B0606020202030204" pitchFamily="34" charset="0"/>
                <a:cs typeface="Consolas" panose="020B0609020204030204" pitchFamily="49" charset="0"/>
              </a:rPr>
              <a:t>struct.x</a:t>
            </a:r>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struct.c</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struct.x</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many=</a:t>
            </a:r>
            <a:r>
              <a:rPr lang="en-US" sz="1749" i="1" dirty="0">
                <a:solidFill>
                  <a:srgbClr val="FFFFFF"/>
                </a:solidFill>
                <a:latin typeface="Arial Narrow" panose="020B0606020202030204" pitchFamily="34" charset="0"/>
                <a:cs typeface="Consolas" panose="020B0609020204030204" pitchFamily="49" charset="0"/>
              </a:rPr>
              <a:t>33</a:t>
            </a:r>
            <a:r>
              <a:rPr lang="en-US" sz="12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(c=1</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s=8</a:t>
            </a:r>
            <a:r>
              <a:rPr lang="en-US" sz="1400"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i</a:t>
            </a:r>
            <a:r>
              <a:rPr lang="en-US" sz="1749" dirty="0">
                <a:solidFill>
                  <a:srgbClr val="FFFFFF"/>
                </a:solidFill>
                <a:latin typeface="Arial Narrow" panose="020B0606020202030204" pitchFamily="34" charset="0"/>
                <a:cs typeface="Consolas" panose="020B0609020204030204" pitchFamily="49" charset="0"/>
              </a:rPr>
              <a:t>=4</a:t>
            </a:r>
            <a:r>
              <a:rPr lang="en-US" sz="140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l=4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u=4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f=4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d=8)</a:t>
            </a: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102257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Y-&gt;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 =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Y-&gt;d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Y</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58" name="Rectangle 57"/>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3708571"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3217329"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3710648"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395678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21699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333884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346243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370960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383319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228615"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2721934"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296807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22827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35012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247371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59730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272089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284448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3708571"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3217329"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3710648"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395678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321699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333884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346243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370960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383319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228615"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2721934"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296807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22827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35012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47371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259730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72089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284448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3092701" y="4356365"/>
            <a:ext cx="49658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6</a:t>
            </a:r>
          </a:p>
        </p:txBody>
      </p:sp>
      <p:sp>
        <p:nvSpPr>
          <p:cNvPr id="197" name="Rectangle 196"/>
          <p:cNvSpPr/>
          <p:nvPr/>
        </p:nvSpPr>
        <p:spPr>
          <a:xfrm>
            <a:off x="1981954" y="3848833"/>
            <a:ext cx="12004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242" name="Straight Connector 241"/>
          <p:cNvCxnSpPr/>
          <p:nvPr/>
        </p:nvCxnSpPr>
        <p:spPr>
          <a:xfrm flipH="1">
            <a:off x="2102949"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9" name="Rectangle 218"/>
          <p:cNvSpPr/>
          <p:nvPr/>
        </p:nvSpPr>
        <p:spPr>
          <a:xfrm>
            <a:off x="1981954" y="4839373"/>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B</a:t>
            </a:r>
          </a:p>
        </p:txBody>
      </p:sp>
      <p:cxnSp>
        <p:nvCxnSpPr>
          <p:cNvPr id="131" name="Straight Connector 130"/>
          <p:cNvCxnSpPr/>
          <p:nvPr/>
        </p:nvCxnSpPr>
        <p:spPr>
          <a:xfrm flipH="1">
            <a:off x="2102949"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0" name="Rectangle 249"/>
          <p:cNvSpPr/>
          <p:nvPr/>
        </p:nvSpPr>
        <p:spPr>
          <a:xfrm>
            <a:off x="4578032"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1" name="Rectangle 250"/>
          <p:cNvSpPr/>
          <p:nvPr/>
        </p:nvSpPr>
        <p:spPr>
          <a:xfrm>
            <a:off x="3105400"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cxnSp>
        <p:nvCxnSpPr>
          <p:cNvPr id="232" name="Straight Connector 231"/>
          <p:cNvCxnSpPr/>
          <p:nvPr/>
        </p:nvCxnSpPr>
        <p:spPr>
          <a:xfrm flipH="1">
            <a:off x="3091663"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3586020"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3091663"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3586020"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4" name="Rectangle 253"/>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gcc</a:t>
            </a:r>
            <a:r>
              <a:rPr lang="en-US" sz="1749" dirty="0">
                <a:solidFill>
                  <a:srgbClr val="FFFFFF"/>
                </a:solidFill>
                <a:latin typeface="Arial Narrow" panose="020B0606020202030204" pitchFamily="34" charset="0"/>
                <a:cs typeface="Consolas" panose="020B0609020204030204" pitchFamily="49" charset="0"/>
              </a:rPr>
              <a:t> -o </a:t>
            </a:r>
            <a:r>
              <a:rPr lang="en-US" sz="1749" dirty="0" err="1">
                <a:solidFill>
                  <a:srgbClr val="FFFFFF"/>
                </a:solidFill>
                <a:latin typeface="Arial Narrow" panose="020B0606020202030204" pitchFamily="34" charset="0"/>
                <a:cs typeface="Consolas" panose="020B0609020204030204" pitchFamily="49" charset="0"/>
              </a:rPr>
              <a:t>struct.x</a:t>
            </a:r>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struct.c</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struct.x</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many=</a:t>
            </a:r>
            <a:r>
              <a:rPr lang="en-US" sz="1749" i="1" dirty="0">
                <a:solidFill>
                  <a:srgbClr val="FFFFFF"/>
                </a:solidFill>
                <a:latin typeface="Arial Narrow" panose="020B0606020202030204" pitchFamily="34" charset="0"/>
                <a:cs typeface="Consolas" panose="020B0609020204030204" pitchFamily="49" charset="0"/>
              </a:rPr>
              <a:t>33</a:t>
            </a:r>
            <a:r>
              <a:rPr lang="en-US" sz="12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(c=1</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s=8</a:t>
            </a:r>
            <a:r>
              <a:rPr lang="en-US" sz="1400"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i</a:t>
            </a:r>
            <a:r>
              <a:rPr lang="en-US" sz="1749" dirty="0">
                <a:solidFill>
                  <a:srgbClr val="FFFFFF"/>
                </a:solidFill>
                <a:latin typeface="Arial Narrow" panose="020B0606020202030204" pitchFamily="34" charset="0"/>
                <a:cs typeface="Consolas" panose="020B0609020204030204" pitchFamily="49" charset="0"/>
              </a:rPr>
              <a:t>=4</a:t>
            </a:r>
            <a:r>
              <a:rPr lang="en-US" sz="140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l=4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u=4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f=4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d=8)</a:t>
            </a: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113022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solidFill>
                  <a:srgbClr val="FF0000"/>
                </a:solidFill>
                <a:latin typeface="Consolas" panose="020B0609020204030204" pitchFamily="49" charset="0"/>
                <a:cs typeface="Consolas" panose="020B0609020204030204" pitchFamily="49" charset="0"/>
              </a:rPr>
              <a:t>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Y-&gt;d =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Y</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58" name="Rectangle 57"/>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3708571"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3217329"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3710648"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395678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21699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333884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346243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370960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383319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228615"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2721934"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296807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22827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35012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247371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59730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272089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284448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3708571"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3217329"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3710648"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395678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321699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333884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346243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370960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383319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228615"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2721934"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296807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22827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35012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47371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259730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72089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284448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3091662" y="4356365"/>
            <a:ext cx="49762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sp>
        <p:nvSpPr>
          <p:cNvPr id="197" name="Rectangle 196"/>
          <p:cNvSpPr/>
          <p:nvPr/>
        </p:nvSpPr>
        <p:spPr>
          <a:xfrm>
            <a:off x="1981954" y="3848833"/>
            <a:ext cx="12004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9" name="Rectangle 218"/>
          <p:cNvSpPr/>
          <p:nvPr/>
        </p:nvSpPr>
        <p:spPr>
          <a:xfrm>
            <a:off x="1981954" y="4839373"/>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B</a:t>
            </a:r>
          </a:p>
        </p:txBody>
      </p:sp>
      <p:cxnSp>
        <p:nvCxnSpPr>
          <p:cNvPr id="131" name="Straight Connector 130"/>
          <p:cNvCxnSpPr/>
          <p:nvPr/>
        </p:nvCxnSpPr>
        <p:spPr>
          <a:xfrm flipH="1">
            <a:off x="2102949"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0" name="Rectangle 249"/>
          <p:cNvSpPr/>
          <p:nvPr/>
        </p:nvSpPr>
        <p:spPr>
          <a:xfrm>
            <a:off x="4578032"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1" name="Rectangle 250"/>
          <p:cNvSpPr/>
          <p:nvPr/>
        </p:nvSpPr>
        <p:spPr>
          <a:xfrm>
            <a:off x="3105400"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cxnSp>
        <p:nvCxnSpPr>
          <p:cNvPr id="232" name="Straight Connector 231"/>
          <p:cNvCxnSpPr/>
          <p:nvPr/>
        </p:nvCxnSpPr>
        <p:spPr>
          <a:xfrm flipH="1">
            <a:off x="3091663"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3586020"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3091663"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3586020"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2" name="Rectangle 251"/>
          <p:cNvSpPr/>
          <p:nvPr/>
        </p:nvSpPr>
        <p:spPr>
          <a:xfrm>
            <a:off x="1981954" y="4348140"/>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A</a:t>
            </a:r>
          </a:p>
        </p:txBody>
      </p:sp>
      <p:cxnSp>
        <p:nvCxnSpPr>
          <p:cNvPr id="242" name="Straight Connector 241"/>
          <p:cNvCxnSpPr/>
          <p:nvPr/>
        </p:nvCxnSpPr>
        <p:spPr>
          <a:xfrm flipH="1">
            <a:off x="2102949"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6" name="Rectangle 255"/>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gcc</a:t>
            </a:r>
            <a:r>
              <a:rPr lang="en-US" sz="1749" dirty="0">
                <a:solidFill>
                  <a:srgbClr val="FFFFFF"/>
                </a:solidFill>
                <a:latin typeface="Arial Narrow" panose="020B0606020202030204" pitchFamily="34" charset="0"/>
                <a:cs typeface="Consolas" panose="020B0609020204030204" pitchFamily="49" charset="0"/>
              </a:rPr>
              <a:t> -o </a:t>
            </a:r>
            <a:r>
              <a:rPr lang="en-US" sz="1749" dirty="0" err="1">
                <a:solidFill>
                  <a:srgbClr val="FFFFFF"/>
                </a:solidFill>
                <a:latin typeface="Arial Narrow" panose="020B0606020202030204" pitchFamily="34" charset="0"/>
                <a:cs typeface="Consolas" panose="020B0609020204030204" pitchFamily="49" charset="0"/>
              </a:rPr>
              <a:t>struct.x</a:t>
            </a:r>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struct.c</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struct.x</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many=</a:t>
            </a:r>
            <a:r>
              <a:rPr lang="en-US" sz="1749" i="1" dirty="0">
                <a:solidFill>
                  <a:srgbClr val="FFFFFF"/>
                </a:solidFill>
                <a:latin typeface="Arial Narrow" panose="020B0606020202030204" pitchFamily="34" charset="0"/>
                <a:cs typeface="Consolas" panose="020B0609020204030204" pitchFamily="49" charset="0"/>
              </a:rPr>
              <a:t>33</a:t>
            </a:r>
            <a:r>
              <a:rPr lang="en-US" sz="12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(c=1</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s=8</a:t>
            </a:r>
            <a:r>
              <a:rPr lang="en-US" sz="1400"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i</a:t>
            </a:r>
            <a:r>
              <a:rPr lang="en-US" sz="1749" dirty="0">
                <a:solidFill>
                  <a:srgbClr val="FFFFFF"/>
                </a:solidFill>
                <a:latin typeface="Arial Narrow" panose="020B0606020202030204" pitchFamily="34" charset="0"/>
                <a:cs typeface="Consolas" panose="020B0609020204030204" pitchFamily="49" charset="0"/>
              </a:rPr>
              <a:t>=4</a:t>
            </a:r>
            <a:r>
              <a:rPr lang="en-US" sz="140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l=4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u=4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f=4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d=8)</a:t>
            </a: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580530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52"/>
                                        </p:tgtEl>
                                        <p:attrNameLst>
                                          <p:attrName>style.visibility</p:attrName>
                                        </p:attrNameLst>
                                      </p:cBhvr>
                                      <p:to>
                                        <p:strVal val="visible"/>
                                      </p:to>
                                    </p:set>
                                    <p:animEffect transition="in" filter="fade">
                                      <p:cBhvr>
                                        <p:cTn id="7" dur="2000"/>
                                        <p:tgtEl>
                                          <p:spTgt spid="252"/>
                                        </p:tgtEl>
                                      </p:cBhvr>
                                    </p:animEffect>
                                    <p:anim calcmode="lin" valueType="num">
                                      <p:cBhvr>
                                        <p:cTn id="8" dur="2000" fill="hold"/>
                                        <p:tgtEl>
                                          <p:spTgt spid="252"/>
                                        </p:tgtEl>
                                        <p:attrNameLst>
                                          <p:attrName>style.rotation</p:attrName>
                                        </p:attrNameLst>
                                      </p:cBhvr>
                                      <p:tavLst>
                                        <p:tav tm="0">
                                          <p:val>
                                            <p:fltVal val="720"/>
                                          </p:val>
                                        </p:tav>
                                        <p:tav tm="100000">
                                          <p:val>
                                            <p:fltVal val="0"/>
                                          </p:val>
                                        </p:tav>
                                      </p:tavLst>
                                    </p:anim>
                                    <p:anim calcmode="lin" valueType="num">
                                      <p:cBhvr>
                                        <p:cTn id="9" dur="2000" fill="hold"/>
                                        <p:tgtEl>
                                          <p:spTgt spid="252"/>
                                        </p:tgtEl>
                                        <p:attrNameLst>
                                          <p:attrName>ppt_h</p:attrName>
                                        </p:attrNameLst>
                                      </p:cBhvr>
                                      <p:tavLst>
                                        <p:tav tm="0">
                                          <p:val>
                                            <p:fltVal val="0"/>
                                          </p:val>
                                        </p:tav>
                                        <p:tav tm="100000">
                                          <p:val>
                                            <p:strVal val="#ppt_h"/>
                                          </p:val>
                                        </p:tav>
                                      </p:tavLst>
                                    </p:anim>
                                    <p:anim calcmode="lin" valueType="num">
                                      <p:cBhvr>
                                        <p:cTn id="10" dur="2000" fill="hold"/>
                                        <p:tgtEl>
                                          <p:spTgt spid="25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solidFill>
                  <a:srgbClr val="FF0000"/>
                </a:solidFill>
                <a:latin typeface="Consolas" panose="020B0609020204030204" pitchFamily="49" charset="0"/>
                <a:cs typeface="Consolas" panose="020B0609020204030204" pitchFamily="49" charset="0"/>
              </a:rPr>
              <a:t>Y-&gt;d =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Y</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58" name="Rectangle 57"/>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3708571"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3217329"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3710648"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395678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21699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333884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346243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370960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383319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228615"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2721934"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296807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22827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35012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247371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59730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272089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284448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3708571"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3217329"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3710648"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395678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321699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333884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346243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370960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383319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228615"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2721934"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296807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22827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35012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47371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259730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72089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284448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3092701" y="4356365"/>
            <a:ext cx="49658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sp>
        <p:nvSpPr>
          <p:cNvPr id="197" name="Rectangle 196"/>
          <p:cNvSpPr/>
          <p:nvPr/>
        </p:nvSpPr>
        <p:spPr>
          <a:xfrm>
            <a:off x="1981954" y="3848833"/>
            <a:ext cx="12004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9" name="Rectangle 218"/>
          <p:cNvSpPr/>
          <p:nvPr/>
        </p:nvSpPr>
        <p:spPr>
          <a:xfrm>
            <a:off x="1981954" y="4839373"/>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B</a:t>
            </a:r>
          </a:p>
        </p:txBody>
      </p:sp>
      <p:cxnSp>
        <p:nvCxnSpPr>
          <p:cNvPr id="131" name="Straight Connector 130"/>
          <p:cNvCxnSpPr/>
          <p:nvPr/>
        </p:nvCxnSpPr>
        <p:spPr>
          <a:xfrm flipH="1">
            <a:off x="2102949"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0" name="Rectangle 249"/>
          <p:cNvSpPr/>
          <p:nvPr/>
        </p:nvSpPr>
        <p:spPr>
          <a:xfrm>
            <a:off x="4578032"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1" name="Rectangle 250"/>
          <p:cNvSpPr/>
          <p:nvPr/>
        </p:nvSpPr>
        <p:spPr>
          <a:xfrm>
            <a:off x="3105400"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cxnSp>
        <p:nvCxnSpPr>
          <p:cNvPr id="232" name="Straight Connector 231"/>
          <p:cNvCxnSpPr/>
          <p:nvPr/>
        </p:nvCxnSpPr>
        <p:spPr>
          <a:xfrm flipH="1">
            <a:off x="3091663"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3586020"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3091663"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3586020"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2" name="Rectangle 251"/>
          <p:cNvSpPr/>
          <p:nvPr/>
        </p:nvSpPr>
        <p:spPr>
          <a:xfrm>
            <a:off x="5068571" y="4348140"/>
            <a:ext cx="988657"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srgbClr val="FF0000"/>
                </a:solidFill>
              </a:rPr>
              <a:t>6.0000000000</a:t>
            </a:r>
          </a:p>
        </p:txBody>
      </p:sp>
      <p:sp>
        <p:nvSpPr>
          <p:cNvPr id="253" name="Rectangle 252"/>
          <p:cNvSpPr/>
          <p:nvPr/>
        </p:nvSpPr>
        <p:spPr>
          <a:xfrm>
            <a:off x="1981954" y="4348140"/>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242" name="Straight Connector 241"/>
          <p:cNvCxnSpPr/>
          <p:nvPr/>
        </p:nvCxnSpPr>
        <p:spPr>
          <a:xfrm flipH="1">
            <a:off x="2102949"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7" name="Rectangle 256"/>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gcc</a:t>
            </a:r>
            <a:r>
              <a:rPr lang="en-US" sz="1749" dirty="0">
                <a:solidFill>
                  <a:srgbClr val="FFFFFF"/>
                </a:solidFill>
                <a:latin typeface="Arial Narrow" panose="020B0606020202030204" pitchFamily="34" charset="0"/>
                <a:cs typeface="Consolas" panose="020B0609020204030204" pitchFamily="49" charset="0"/>
              </a:rPr>
              <a:t> -o </a:t>
            </a:r>
            <a:r>
              <a:rPr lang="en-US" sz="1749" dirty="0" err="1">
                <a:solidFill>
                  <a:srgbClr val="FFFFFF"/>
                </a:solidFill>
                <a:latin typeface="Arial Narrow" panose="020B0606020202030204" pitchFamily="34" charset="0"/>
                <a:cs typeface="Consolas" panose="020B0609020204030204" pitchFamily="49" charset="0"/>
              </a:rPr>
              <a:t>struct.x</a:t>
            </a:r>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struct.c</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struct.x</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many=</a:t>
            </a:r>
            <a:r>
              <a:rPr lang="en-US" sz="1749" i="1" dirty="0">
                <a:solidFill>
                  <a:srgbClr val="FFFFFF"/>
                </a:solidFill>
                <a:latin typeface="Arial Narrow" panose="020B0606020202030204" pitchFamily="34" charset="0"/>
                <a:cs typeface="Consolas" panose="020B0609020204030204" pitchFamily="49" charset="0"/>
              </a:rPr>
              <a:t>33</a:t>
            </a:r>
            <a:r>
              <a:rPr lang="en-US" sz="12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(c=1</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s=8</a:t>
            </a:r>
            <a:r>
              <a:rPr lang="en-US" sz="1400"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i</a:t>
            </a:r>
            <a:r>
              <a:rPr lang="en-US" sz="1749" dirty="0">
                <a:solidFill>
                  <a:srgbClr val="FFFFFF"/>
                </a:solidFill>
                <a:latin typeface="Arial Narrow" panose="020B0606020202030204" pitchFamily="34" charset="0"/>
                <a:cs typeface="Consolas" panose="020B0609020204030204" pitchFamily="49" charset="0"/>
              </a:rPr>
              <a:t>=4</a:t>
            </a:r>
            <a:r>
              <a:rPr lang="en-US" sz="140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l=4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u=4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f=4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d=8)</a:t>
            </a: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3296993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52"/>
                                        </p:tgtEl>
                                        <p:attrNameLst>
                                          <p:attrName>style.visibility</p:attrName>
                                        </p:attrNameLst>
                                      </p:cBhvr>
                                      <p:to>
                                        <p:strVal val="visible"/>
                                      </p:to>
                                    </p:set>
                                    <p:animEffect transition="in" filter="fade">
                                      <p:cBhvr>
                                        <p:cTn id="7" dur="2000"/>
                                        <p:tgtEl>
                                          <p:spTgt spid="252"/>
                                        </p:tgtEl>
                                      </p:cBhvr>
                                    </p:animEffect>
                                    <p:anim calcmode="lin" valueType="num">
                                      <p:cBhvr>
                                        <p:cTn id="8" dur="2000" fill="hold"/>
                                        <p:tgtEl>
                                          <p:spTgt spid="252"/>
                                        </p:tgtEl>
                                        <p:attrNameLst>
                                          <p:attrName>style.rotation</p:attrName>
                                        </p:attrNameLst>
                                      </p:cBhvr>
                                      <p:tavLst>
                                        <p:tav tm="0">
                                          <p:val>
                                            <p:fltVal val="720"/>
                                          </p:val>
                                        </p:tav>
                                        <p:tav tm="100000">
                                          <p:val>
                                            <p:fltVal val="0"/>
                                          </p:val>
                                        </p:tav>
                                      </p:tavLst>
                                    </p:anim>
                                    <p:anim calcmode="lin" valueType="num">
                                      <p:cBhvr>
                                        <p:cTn id="9" dur="2000" fill="hold"/>
                                        <p:tgtEl>
                                          <p:spTgt spid="252"/>
                                        </p:tgtEl>
                                        <p:attrNameLst>
                                          <p:attrName>ppt_h</p:attrName>
                                        </p:attrNameLst>
                                      </p:cBhvr>
                                      <p:tavLst>
                                        <p:tav tm="0">
                                          <p:val>
                                            <p:fltVal val="0"/>
                                          </p:val>
                                        </p:tav>
                                        <p:tav tm="100000">
                                          <p:val>
                                            <p:strVal val="#ppt_h"/>
                                          </p:val>
                                        </p:tav>
                                      </p:tavLst>
                                    </p:anim>
                                    <p:anim calcmode="lin" valueType="num">
                                      <p:cBhvr>
                                        <p:cTn id="10" dur="2000" fill="hold"/>
                                        <p:tgtEl>
                                          <p:spTgt spid="25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solidFill>
                  <a:srgbClr val="FF0000"/>
                </a:solidFill>
                <a:latin typeface="Consolas" panose="020B0609020204030204" pitchFamily="49" charset="0"/>
                <a:cs typeface="Consolas" panose="020B0609020204030204" pitchFamily="49" charset="0"/>
              </a:rPr>
              <a:t>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Y</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58" name="Rectangle 57"/>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3708571"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3217329"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3710648"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395678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21699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333884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346243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370960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383319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228615"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2721934"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296807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22827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35012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247371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59730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272089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284448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3708571"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3217329"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3710648"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395678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321699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333884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346243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370960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383319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228615"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2721934"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296807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22827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35012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47371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259730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72089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284448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3092701" y="4356365"/>
            <a:ext cx="49658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sp>
        <p:nvSpPr>
          <p:cNvPr id="197" name="Rectangle 196"/>
          <p:cNvSpPr/>
          <p:nvPr/>
        </p:nvSpPr>
        <p:spPr>
          <a:xfrm>
            <a:off x="1981954" y="3848833"/>
            <a:ext cx="12004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9" name="Rectangle 218"/>
          <p:cNvSpPr/>
          <p:nvPr/>
        </p:nvSpPr>
        <p:spPr>
          <a:xfrm>
            <a:off x="1981954" y="4839373"/>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B</a:t>
            </a:r>
          </a:p>
        </p:txBody>
      </p:sp>
      <p:cxnSp>
        <p:nvCxnSpPr>
          <p:cNvPr id="131" name="Straight Connector 130"/>
          <p:cNvCxnSpPr/>
          <p:nvPr/>
        </p:nvCxnSpPr>
        <p:spPr>
          <a:xfrm flipH="1">
            <a:off x="2102949"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0" name="Rectangle 249"/>
          <p:cNvSpPr/>
          <p:nvPr/>
        </p:nvSpPr>
        <p:spPr>
          <a:xfrm>
            <a:off x="4578032"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1" name="Rectangle 250"/>
          <p:cNvSpPr/>
          <p:nvPr/>
        </p:nvSpPr>
        <p:spPr>
          <a:xfrm>
            <a:off x="3105400"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cxnSp>
        <p:nvCxnSpPr>
          <p:cNvPr id="232" name="Straight Connector 231"/>
          <p:cNvCxnSpPr/>
          <p:nvPr/>
        </p:nvCxnSpPr>
        <p:spPr>
          <a:xfrm flipH="1">
            <a:off x="3091663"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3586020"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3091663"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3586020"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2" name="Rectangle 251"/>
          <p:cNvSpPr/>
          <p:nvPr/>
        </p:nvSpPr>
        <p:spPr>
          <a:xfrm>
            <a:off x="5068571" y="4348140"/>
            <a:ext cx="988657"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6.0000000000</a:t>
            </a:r>
          </a:p>
        </p:txBody>
      </p:sp>
      <p:sp>
        <p:nvSpPr>
          <p:cNvPr id="253" name="Rectangle 252"/>
          <p:cNvSpPr/>
          <p:nvPr/>
        </p:nvSpPr>
        <p:spPr>
          <a:xfrm>
            <a:off x="1981954" y="4348140"/>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242" name="Straight Connector 241"/>
          <p:cNvCxnSpPr/>
          <p:nvPr/>
        </p:nvCxnSpPr>
        <p:spPr>
          <a:xfrm flipH="1">
            <a:off x="2102949"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4" name="Rectangle 253"/>
          <p:cNvSpPr/>
          <p:nvPr/>
        </p:nvSpPr>
        <p:spPr>
          <a:xfrm>
            <a:off x="4576520" y="4345016"/>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srgbClr val="FF0000"/>
                </a:solidFill>
              </a:rPr>
              <a:t>6.0000</a:t>
            </a:r>
          </a:p>
        </p:txBody>
      </p: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8" name="Rectangle 257"/>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gcc</a:t>
            </a:r>
            <a:r>
              <a:rPr lang="en-US" sz="1749" dirty="0">
                <a:solidFill>
                  <a:srgbClr val="FFFFFF"/>
                </a:solidFill>
                <a:latin typeface="Arial Narrow" panose="020B0606020202030204" pitchFamily="34" charset="0"/>
                <a:cs typeface="Consolas" panose="020B0609020204030204" pitchFamily="49" charset="0"/>
              </a:rPr>
              <a:t> -o </a:t>
            </a:r>
            <a:r>
              <a:rPr lang="en-US" sz="1749" dirty="0" err="1">
                <a:solidFill>
                  <a:srgbClr val="FFFFFF"/>
                </a:solidFill>
                <a:latin typeface="Arial Narrow" panose="020B0606020202030204" pitchFamily="34" charset="0"/>
                <a:cs typeface="Consolas" panose="020B0609020204030204" pitchFamily="49" charset="0"/>
              </a:rPr>
              <a:t>struct.x</a:t>
            </a:r>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struct.c</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struct.x</a:t>
            </a:r>
            <a:endParaRPr lang="en-US" sz="1749" dirty="0">
              <a:solidFill>
                <a:srgbClr val="FFFFFF"/>
              </a:solidFill>
              <a:latin typeface="Arial Narrow" panose="020B0606020202030204" pitchFamily="34" charset="0"/>
              <a:cs typeface="Consolas" panose="020B0609020204030204" pitchFamily="49" charset="0"/>
            </a:endParaRPr>
          </a:p>
          <a:p>
            <a:r>
              <a:rPr lang="en-US" sz="1749" dirty="0">
                <a:solidFill>
                  <a:srgbClr val="FFFFFF"/>
                </a:solidFill>
                <a:latin typeface="Arial Narrow" panose="020B0606020202030204" pitchFamily="34" charset="0"/>
                <a:cs typeface="Consolas" panose="020B0609020204030204" pitchFamily="49" charset="0"/>
              </a:rPr>
              <a:t>many=</a:t>
            </a:r>
            <a:r>
              <a:rPr lang="en-US" sz="1749" i="1" dirty="0">
                <a:solidFill>
                  <a:srgbClr val="FFFFFF"/>
                </a:solidFill>
                <a:latin typeface="Arial Narrow" panose="020B0606020202030204" pitchFamily="34" charset="0"/>
                <a:cs typeface="Consolas" panose="020B0609020204030204" pitchFamily="49" charset="0"/>
              </a:rPr>
              <a:t>33</a:t>
            </a:r>
            <a:r>
              <a:rPr lang="en-US" sz="12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(c=1</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s=8</a:t>
            </a:r>
            <a:r>
              <a:rPr lang="en-US" sz="1400" dirty="0">
                <a:solidFill>
                  <a:srgbClr val="FFFFFF"/>
                </a:solidFill>
                <a:latin typeface="Arial Narrow" panose="020B0606020202030204" pitchFamily="34" charset="0"/>
                <a:cs typeface="Consolas" panose="020B0609020204030204" pitchFamily="49" charset="0"/>
              </a:rPr>
              <a:t>  </a:t>
            </a:r>
            <a:r>
              <a:rPr lang="en-US" sz="1749" dirty="0" err="1">
                <a:solidFill>
                  <a:srgbClr val="FFFFFF"/>
                </a:solidFill>
                <a:latin typeface="Arial Narrow" panose="020B0606020202030204" pitchFamily="34" charset="0"/>
                <a:cs typeface="Consolas" panose="020B0609020204030204" pitchFamily="49" charset="0"/>
              </a:rPr>
              <a:t>i</a:t>
            </a:r>
            <a:r>
              <a:rPr lang="en-US" sz="1749" dirty="0">
                <a:solidFill>
                  <a:srgbClr val="FFFFFF"/>
                </a:solidFill>
                <a:latin typeface="Arial Narrow" panose="020B0606020202030204" pitchFamily="34" charset="0"/>
                <a:cs typeface="Consolas" panose="020B0609020204030204" pitchFamily="49" charset="0"/>
              </a:rPr>
              <a:t>=4</a:t>
            </a:r>
            <a:r>
              <a:rPr lang="en-US" sz="140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l=4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u=4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f=4</a:t>
            </a:r>
            <a:r>
              <a:rPr lang="en-US" sz="1400" dirty="0">
                <a:solidFill>
                  <a:srgbClr val="FFFFFF"/>
                </a:solidFill>
                <a:latin typeface="Arial Narrow" panose="020B0606020202030204" pitchFamily="34" charset="0"/>
                <a:cs typeface="Consolas" panose="020B0609020204030204" pitchFamily="49" charset="0"/>
              </a:rPr>
              <a:t> </a:t>
            </a:r>
            <a:r>
              <a:rPr lang="en-US" sz="1590" dirty="0">
                <a:solidFill>
                  <a:srgbClr val="FFFFFF"/>
                </a:solidFill>
                <a:latin typeface="Arial Narrow" panose="020B0606020202030204" pitchFamily="34" charset="0"/>
                <a:cs typeface="Consolas" panose="020B0609020204030204" pitchFamily="49" charset="0"/>
              </a:rPr>
              <a:t> </a:t>
            </a:r>
            <a:r>
              <a:rPr lang="en-US" sz="1749" dirty="0">
                <a:solidFill>
                  <a:srgbClr val="FFFFFF"/>
                </a:solidFill>
                <a:latin typeface="Arial Narrow" panose="020B0606020202030204" pitchFamily="34" charset="0"/>
                <a:cs typeface="Consolas" panose="020B0609020204030204" pitchFamily="49" charset="0"/>
              </a:rPr>
              <a:t>d=8)</a:t>
            </a:r>
          </a:p>
          <a:p>
            <a:r>
              <a:rPr lang="en-US" sz="1749" dirty="0" smtClean="0">
                <a:solidFill>
                  <a:schemeClr val="bg1"/>
                </a:solidFill>
                <a:latin typeface="Arial Narrow" panose="020B0606020202030204" pitchFamily="34" charset="0"/>
                <a:cs typeface="Consolas" panose="020B0609020204030204" pitchFamily="49" charset="0"/>
              </a:rPr>
              <a:t/>
            </a:r>
            <a:br>
              <a:rPr lang="en-US" sz="1749" dirty="0" smtClean="0">
                <a:solidFill>
                  <a:schemeClr val="bg1"/>
                </a:solidFill>
                <a:latin typeface="Arial Narrow" panose="020B0606020202030204" pitchFamily="34" charset="0"/>
                <a:cs typeface="Consolas" panose="020B0609020204030204" pitchFamily="49" charset="0"/>
              </a:rPr>
            </a:br>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335976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fade">
                                      <p:cBhvr>
                                        <p:cTn id="7" dur="2000"/>
                                        <p:tgtEl>
                                          <p:spTgt spid="254"/>
                                        </p:tgtEl>
                                      </p:cBhvr>
                                    </p:animEffect>
                                    <p:anim calcmode="lin" valueType="num">
                                      <p:cBhvr>
                                        <p:cTn id="8" dur="2000" fill="hold"/>
                                        <p:tgtEl>
                                          <p:spTgt spid="254"/>
                                        </p:tgtEl>
                                        <p:attrNameLst>
                                          <p:attrName>style.rotation</p:attrName>
                                        </p:attrNameLst>
                                      </p:cBhvr>
                                      <p:tavLst>
                                        <p:tav tm="0">
                                          <p:val>
                                            <p:fltVal val="720"/>
                                          </p:val>
                                        </p:tav>
                                        <p:tav tm="100000">
                                          <p:val>
                                            <p:fltVal val="0"/>
                                          </p:val>
                                        </p:tav>
                                      </p:tavLst>
                                    </p:anim>
                                    <p:anim calcmode="lin" valueType="num">
                                      <p:cBhvr>
                                        <p:cTn id="9" dur="2000" fill="hold"/>
                                        <p:tgtEl>
                                          <p:spTgt spid="254"/>
                                        </p:tgtEl>
                                        <p:attrNameLst>
                                          <p:attrName>ppt_h</p:attrName>
                                        </p:attrNameLst>
                                      </p:cBhvr>
                                      <p:tavLst>
                                        <p:tav tm="0">
                                          <p:val>
                                            <p:fltVal val="0"/>
                                          </p:val>
                                        </p:tav>
                                        <p:tav tm="100000">
                                          <p:val>
                                            <p:strVal val="#ppt_h"/>
                                          </p:val>
                                        </p:tav>
                                      </p:tavLst>
                                    </p:anim>
                                    <p:anim calcmode="lin" valueType="num">
                                      <p:cBhvr>
                                        <p:cTn id="10" dur="2000" fill="hold"/>
                                        <p:tgtEl>
                                          <p:spTgt spid="25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rgbClr val="FF0000"/>
                </a:solidFill>
                <a:latin typeface="Consolas" panose="020B0609020204030204" pitchFamily="49" charset="0"/>
                <a:cs typeface="Consolas" panose="020B0609020204030204" pitchFamily="49" charset="0"/>
              </a:rPr>
              <a:t>printf</a:t>
            </a:r>
            <a:r>
              <a:rPr lang="en-US" sz="1431" dirty="0">
                <a:solidFill>
                  <a:srgbClr val="FF0000"/>
                </a:solidFill>
                <a:latin typeface="Consolas" panose="020B0609020204030204" pitchFamily="49" charset="0"/>
                <a:cs typeface="Consolas" panose="020B0609020204030204" pitchFamily="49" charset="0"/>
              </a:rPr>
              <a:t>("X-&gt;c=%c   Y-&gt;f=%f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=%d\</a:t>
            </a:r>
            <a:r>
              <a:rPr lang="en-US" sz="1431" dirty="0" err="1">
                <a:solidFill>
                  <a:srgbClr val="FF0000"/>
                </a:solidFill>
                <a:latin typeface="Consolas" panose="020B0609020204030204" pitchFamily="49" charset="0"/>
                <a:cs typeface="Consolas" panose="020B0609020204030204" pitchFamily="49" charset="0"/>
              </a:rPr>
              <a:t>n",X</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c,Y</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f,Z</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solidFill>
                  <a:schemeClr val="bg1"/>
                </a:solidFill>
                <a:latin typeface="Consolas" panose="020B0609020204030204" pitchFamily="49" charset="0"/>
                <a:cs typeface="Consolas" panose="020B0609020204030204" pitchFamily="49" charset="0"/>
              </a:rPr>
              <a:t>Z-&gt;</a:t>
            </a:r>
            <a:r>
              <a:rPr lang="en-US" sz="1431" dirty="0" err="1">
                <a:solidFill>
                  <a:schemeClr val="bg1"/>
                </a:solidFill>
                <a:latin typeface="Consolas" panose="020B0609020204030204" pitchFamily="49" charset="0"/>
                <a:cs typeface="Consolas" panose="020B0609020204030204" pitchFamily="49" charset="0"/>
              </a:rPr>
              <a:t>i</a:t>
            </a:r>
            <a:r>
              <a:rPr lang="en-US" sz="1431" dirty="0">
                <a:solidFill>
                  <a:schemeClr val="bg1"/>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8" name="Rectangle 57"/>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3708571"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3217329"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3710648"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395678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21699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333884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346243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370960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383319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228615"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2721934"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296807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22827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35012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247371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59730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272089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284448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3708571"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3217329"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3710648"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395678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321699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333884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346243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370960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383319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228615"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2721934"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296807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22827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35012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47371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259730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72089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284448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3092701" y="4356365"/>
            <a:ext cx="49658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sp>
        <p:nvSpPr>
          <p:cNvPr id="197" name="Rectangle 196"/>
          <p:cNvSpPr/>
          <p:nvPr/>
        </p:nvSpPr>
        <p:spPr>
          <a:xfrm>
            <a:off x="1981954" y="3848833"/>
            <a:ext cx="12004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9" name="Rectangle 218"/>
          <p:cNvSpPr/>
          <p:nvPr/>
        </p:nvSpPr>
        <p:spPr>
          <a:xfrm>
            <a:off x="1981954" y="4839373"/>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B</a:t>
            </a:r>
          </a:p>
        </p:txBody>
      </p:sp>
      <p:cxnSp>
        <p:nvCxnSpPr>
          <p:cNvPr id="131" name="Straight Connector 130"/>
          <p:cNvCxnSpPr/>
          <p:nvPr/>
        </p:nvCxnSpPr>
        <p:spPr>
          <a:xfrm flipH="1">
            <a:off x="2102949"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0" name="Rectangle 249"/>
          <p:cNvSpPr/>
          <p:nvPr/>
        </p:nvSpPr>
        <p:spPr>
          <a:xfrm>
            <a:off x="4578032"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1" name="Rectangle 250"/>
          <p:cNvSpPr/>
          <p:nvPr/>
        </p:nvSpPr>
        <p:spPr>
          <a:xfrm>
            <a:off x="3105400"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cxnSp>
        <p:nvCxnSpPr>
          <p:cNvPr id="232" name="Straight Connector 231"/>
          <p:cNvCxnSpPr/>
          <p:nvPr/>
        </p:nvCxnSpPr>
        <p:spPr>
          <a:xfrm flipH="1">
            <a:off x="3091663"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3586020"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3091663"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3586020"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2" name="Rectangle 251"/>
          <p:cNvSpPr/>
          <p:nvPr/>
        </p:nvSpPr>
        <p:spPr>
          <a:xfrm>
            <a:off x="5068571" y="4348140"/>
            <a:ext cx="988657"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6.0000000000</a:t>
            </a:r>
          </a:p>
        </p:txBody>
      </p:sp>
      <p:sp>
        <p:nvSpPr>
          <p:cNvPr id="253" name="Rectangle 252"/>
          <p:cNvSpPr/>
          <p:nvPr/>
        </p:nvSpPr>
        <p:spPr>
          <a:xfrm>
            <a:off x="1981954" y="4348140"/>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242" name="Straight Connector 241"/>
          <p:cNvCxnSpPr/>
          <p:nvPr/>
        </p:nvCxnSpPr>
        <p:spPr>
          <a:xfrm flipH="1">
            <a:off x="2102949"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4" name="Rectangle 253"/>
          <p:cNvSpPr/>
          <p:nvPr/>
        </p:nvSpPr>
        <p:spPr>
          <a:xfrm>
            <a:off x="4576520" y="4345016"/>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2" name="Rectangle 261"/>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gcc</a:t>
            </a:r>
            <a:r>
              <a:rPr lang="en-US" sz="1749" dirty="0">
                <a:solidFill>
                  <a:srgbClr val="7F7F7F"/>
                </a:solidFill>
                <a:latin typeface="Arial Narrow" panose="020B0606020202030204" pitchFamily="34" charset="0"/>
                <a:cs typeface="Consolas" panose="020B0609020204030204" pitchFamily="49" charset="0"/>
              </a:rPr>
              <a:t> -o </a:t>
            </a:r>
            <a:r>
              <a:rPr lang="en-US" sz="1749" dirty="0" err="1">
                <a:solidFill>
                  <a:srgbClr val="7F7F7F"/>
                </a:solidFill>
                <a:latin typeface="Arial Narrow" panose="020B0606020202030204" pitchFamily="34" charset="0"/>
                <a:cs typeface="Consolas" panose="020B0609020204030204" pitchFamily="49" charset="0"/>
              </a:rPr>
              <a:t>struct.x</a:t>
            </a:r>
            <a:r>
              <a:rPr lang="en-US" sz="1749"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struct.c</a:t>
            </a:r>
            <a:endParaRPr lang="en-US" sz="1749" dirty="0">
              <a:solidFill>
                <a:srgbClr val="7F7F7F"/>
              </a:solidFill>
              <a:latin typeface="Arial Narrow" panose="020B0606020202030204" pitchFamily="34" charset="0"/>
              <a:cs typeface="Consolas" panose="020B0609020204030204" pitchFamily="49" charset="0"/>
            </a:endParaRPr>
          </a:p>
          <a:p>
            <a:r>
              <a:rPr lang="en-US" sz="1749"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struct.x</a:t>
            </a:r>
            <a:endParaRPr lang="en-US" sz="1749" dirty="0">
              <a:solidFill>
                <a:srgbClr val="7F7F7F"/>
              </a:solidFill>
              <a:latin typeface="Arial Narrow" panose="020B0606020202030204" pitchFamily="34" charset="0"/>
              <a:cs typeface="Consolas" panose="020B0609020204030204" pitchFamily="49" charset="0"/>
            </a:endParaRPr>
          </a:p>
          <a:p>
            <a:r>
              <a:rPr lang="en-US" sz="1749" dirty="0">
                <a:solidFill>
                  <a:srgbClr val="7F7F7F"/>
                </a:solidFill>
                <a:latin typeface="Arial Narrow" panose="020B0606020202030204" pitchFamily="34" charset="0"/>
                <a:cs typeface="Consolas" panose="020B0609020204030204" pitchFamily="49" charset="0"/>
              </a:rPr>
              <a:t>many=</a:t>
            </a:r>
            <a:r>
              <a:rPr lang="en-US" sz="1749" i="1" dirty="0">
                <a:solidFill>
                  <a:srgbClr val="7F7F7F"/>
                </a:solidFill>
                <a:latin typeface="Arial Narrow" panose="020B0606020202030204" pitchFamily="34" charset="0"/>
                <a:cs typeface="Consolas" panose="020B0609020204030204" pitchFamily="49" charset="0"/>
              </a:rPr>
              <a:t>33</a:t>
            </a:r>
            <a:r>
              <a:rPr lang="en-US" sz="12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(c=1</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s=8</a:t>
            </a:r>
            <a:r>
              <a:rPr lang="en-US" sz="1400"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i</a:t>
            </a:r>
            <a:r>
              <a:rPr lang="en-US" sz="1749" dirty="0">
                <a:solidFill>
                  <a:srgbClr val="7F7F7F"/>
                </a:solidFill>
                <a:latin typeface="Arial Narrow" panose="020B0606020202030204" pitchFamily="34" charset="0"/>
                <a:cs typeface="Consolas" panose="020B0609020204030204" pitchFamily="49" charset="0"/>
              </a:rPr>
              <a:t>=4</a:t>
            </a:r>
            <a:r>
              <a:rPr lang="en-US" sz="140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l=4</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u=4</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f=4</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d=8)</a:t>
            </a:r>
          </a:p>
          <a:p>
            <a:r>
              <a:rPr lang="pl-PL" sz="1749" dirty="0">
                <a:solidFill>
                  <a:srgbClr val="FFFFFF"/>
                </a:solidFill>
                <a:latin typeface="Arial Narrow" panose="020B0606020202030204" pitchFamily="34" charset="0"/>
                <a:cs typeface="Consolas" panose="020B0609020204030204" pitchFamily="49" charset="0"/>
              </a:rPr>
              <a:t>X</a:t>
            </a:r>
            <a:r>
              <a:rPr lang="pl-PL" sz="1749" b="1" dirty="0">
                <a:solidFill>
                  <a:srgbClr val="FFFFFF"/>
                </a:solidFill>
                <a:latin typeface="Felix Titling" panose="04060505060202020A04" pitchFamily="82" charset="0"/>
                <a:cs typeface="Consolas" panose="020B0609020204030204" pitchFamily="49" charset="0"/>
              </a:rPr>
              <a:t>-</a:t>
            </a:r>
            <a:r>
              <a:rPr lang="pl-PL" sz="1749" dirty="0">
                <a:solidFill>
                  <a:srgbClr val="FFFFFF"/>
                </a:solidFill>
                <a:latin typeface="Arial Narrow" panose="020B0606020202030204" pitchFamily="34" charset="0"/>
                <a:cs typeface="Consolas" panose="020B0609020204030204" pitchFamily="49" charset="0"/>
              </a:rPr>
              <a:t>&gt;c=A </a:t>
            </a:r>
            <a:r>
              <a:rPr lang="pl-PL" sz="1272" dirty="0">
                <a:solidFill>
                  <a:srgbClr val="FFFFFF"/>
                </a:solidFill>
                <a:latin typeface="Arial Narrow" panose="020B0606020202030204" pitchFamily="34" charset="0"/>
                <a:cs typeface="Consolas" panose="020B0609020204030204" pitchFamily="49" charset="0"/>
              </a:rPr>
              <a:t>  </a:t>
            </a:r>
            <a:r>
              <a:rPr lang="pl-PL" sz="1749" dirty="0">
                <a:solidFill>
                  <a:srgbClr val="FFFFFF"/>
                </a:solidFill>
                <a:latin typeface="Arial Narrow" panose="020B0606020202030204" pitchFamily="34" charset="0"/>
                <a:cs typeface="Consolas" panose="020B0609020204030204" pitchFamily="49" charset="0"/>
              </a:rPr>
              <a:t>Y</a:t>
            </a:r>
            <a:r>
              <a:rPr lang="pl-PL" sz="1749" b="1" dirty="0">
                <a:solidFill>
                  <a:srgbClr val="FFFFFF"/>
                </a:solidFill>
                <a:latin typeface="Felix Titling" panose="04060505060202020A04" pitchFamily="82" charset="0"/>
                <a:cs typeface="Consolas" panose="020B0609020204030204" pitchFamily="49" charset="0"/>
              </a:rPr>
              <a:t>-</a:t>
            </a:r>
            <a:r>
              <a:rPr lang="pl-PL" sz="1749" dirty="0">
                <a:solidFill>
                  <a:srgbClr val="FFFFFF"/>
                </a:solidFill>
                <a:latin typeface="Arial Narrow" panose="020B0606020202030204" pitchFamily="34" charset="0"/>
                <a:cs typeface="Consolas" panose="020B0609020204030204" pitchFamily="49" charset="0"/>
              </a:rPr>
              <a:t>&gt;f=6.000000</a:t>
            </a:r>
            <a:r>
              <a:rPr lang="pl-PL" sz="1272" dirty="0">
                <a:solidFill>
                  <a:srgbClr val="FFFFFF"/>
                </a:solidFill>
                <a:latin typeface="Arial Narrow" panose="020B0606020202030204" pitchFamily="34" charset="0"/>
                <a:cs typeface="Consolas" panose="020B0609020204030204" pitchFamily="49" charset="0"/>
              </a:rPr>
              <a:t>   </a:t>
            </a:r>
            <a:r>
              <a:rPr lang="pl-PL" sz="1749" dirty="0">
                <a:solidFill>
                  <a:srgbClr val="FFFFFF"/>
                </a:solidFill>
                <a:latin typeface="Arial Narrow" panose="020B0606020202030204" pitchFamily="34" charset="0"/>
                <a:cs typeface="Consolas" panose="020B0609020204030204" pitchFamily="49" charset="0"/>
              </a:rPr>
              <a:t>Z</a:t>
            </a:r>
            <a:r>
              <a:rPr lang="pl-PL" sz="1749" b="1" dirty="0">
                <a:solidFill>
                  <a:srgbClr val="FFFFFF"/>
                </a:solidFill>
                <a:latin typeface="Felix Titling" panose="04060505060202020A04" pitchFamily="82" charset="0"/>
                <a:cs typeface="Consolas" panose="020B0609020204030204" pitchFamily="49" charset="0"/>
              </a:rPr>
              <a:t>-</a:t>
            </a:r>
            <a:r>
              <a:rPr lang="pl-PL" sz="1749" dirty="0">
                <a:solidFill>
                  <a:srgbClr val="FFFFFF"/>
                </a:solidFill>
                <a:latin typeface="Arial Narrow" panose="020B0606020202030204" pitchFamily="34" charset="0"/>
                <a:cs typeface="Consolas" panose="020B0609020204030204" pitchFamily="49" charset="0"/>
              </a:rPr>
              <a:t>&gt;i=6</a:t>
            </a:r>
          </a:p>
          <a:p>
            <a:endParaRPr lang="en-US" sz="1749" dirty="0" smtClean="0">
              <a:solidFill>
                <a:schemeClr val="bg1"/>
              </a:solidFill>
              <a:latin typeface="Arial Narrow" panose="020B0606020202030204" pitchFamily="34" charset="0"/>
              <a:cs typeface="Consolas" panose="020B0609020204030204" pitchFamily="49" charset="0"/>
            </a:endParaRPr>
          </a:p>
          <a:p>
            <a:endParaRPr lang="en-US" sz="1749" dirty="0" smtClean="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256" name="Rectangle 255"/>
          <p:cNvSpPr/>
          <p:nvPr/>
        </p:nvSpPr>
        <p:spPr>
          <a:xfrm>
            <a:off x="6194536" y="5753005"/>
            <a:ext cx="3427212" cy="2350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Tree>
    <p:extLst>
      <p:ext uri="{BB962C8B-B14F-4D97-AF65-F5344CB8AC3E}">
        <p14:creationId xmlns:p14="http://schemas.microsoft.com/office/powerpoint/2010/main" val="188234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256"/>
                                        </p:tgtEl>
                                      </p:cBhvr>
                                    </p:animEffect>
                                    <p:set>
                                      <p:cBhvr>
                                        <p:cTn id="7" dur="1" fill="hold">
                                          <p:stCondLst>
                                            <p:cond delay="499"/>
                                          </p:stCondLst>
                                        </p:cTn>
                                        <p:tgtEl>
                                          <p:spTgt spid="2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err="1">
                <a:solidFill>
                  <a:schemeClr val="bg1"/>
                </a:solidFill>
                <a:latin typeface="Consolas" panose="020B0609020204030204" pitchFamily="49" charset="0"/>
                <a:cs typeface="Consolas" panose="020B0609020204030204" pitchFamily="49" charset="0"/>
              </a:rPr>
              <a:t>printf</a:t>
            </a:r>
            <a:r>
              <a:rPr lang="en-US" sz="1431" dirty="0">
                <a:solidFill>
                  <a:schemeClr val="bg1"/>
                </a:solidFill>
                <a:latin typeface="Consolas" panose="020B0609020204030204" pitchFamily="49" charset="0"/>
                <a:cs typeface="Consolas" panose="020B0609020204030204" pitchFamily="49" charset="0"/>
              </a:rPr>
              <a:t>("X-&gt;c=%c   Y-&gt;f=%f   Z-&gt;u=%u\</a:t>
            </a:r>
            <a:r>
              <a:rPr lang="en-US" sz="1431" dirty="0" err="1">
                <a:solidFill>
                  <a:schemeClr val="bg1"/>
                </a:solidFill>
                <a:latin typeface="Consolas" panose="020B0609020204030204" pitchFamily="49" charset="0"/>
                <a:cs typeface="Consolas" panose="020B0609020204030204" pitchFamily="49" charset="0"/>
              </a:rPr>
              <a:t>n",X</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c,Y</a:t>
            </a:r>
            <a:r>
              <a:rPr lang="en-US" sz="1431" dirty="0">
                <a:solidFill>
                  <a:schemeClr val="bg1"/>
                </a:solidFill>
                <a:latin typeface="Consolas" panose="020B0609020204030204" pitchFamily="49" charset="0"/>
                <a:cs typeface="Consolas" panose="020B0609020204030204" pitchFamily="49" charset="0"/>
              </a:rPr>
              <a:t>-&gt;</a:t>
            </a:r>
            <a:r>
              <a:rPr lang="en-US" sz="1431" dirty="0" err="1">
                <a:solidFill>
                  <a:schemeClr val="bg1"/>
                </a:solidFill>
                <a:latin typeface="Consolas" panose="020B0609020204030204" pitchFamily="49" charset="0"/>
                <a:cs typeface="Consolas" panose="020B0609020204030204" pitchFamily="49" charset="0"/>
              </a:rPr>
              <a:t>f,Z</a:t>
            </a:r>
            <a:r>
              <a:rPr lang="en-US" sz="1431" dirty="0">
                <a:solidFill>
                  <a:schemeClr val="bg1"/>
                </a:solidFill>
                <a:latin typeface="Consolas" panose="020B0609020204030204" pitchFamily="49" charset="0"/>
                <a:cs typeface="Consolas" panose="020B0609020204030204" pitchFamily="49" charset="0"/>
              </a:rPr>
              <a:t>-&gt;u);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3708571"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3217329"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3710648"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395678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21699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333884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346243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370960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383319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228615"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2721934"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296807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22827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35012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247371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59730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272089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284448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3708571"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3217329"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3710648"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395678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321699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333884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346243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370960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383319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228615"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2721934"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296807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22827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35012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47371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259730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72089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284448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3092701" y="4356365"/>
            <a:ext cx="49658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sp>
        <p:nvSpPr>
          <p:cNvPr id="197" name="Rectangle 196"/>
          <p:cNvSpPr/>
          <p:nvPr/>
        </p:nvSpPr>
        <p:spPr>
          <a:xfrm>
            <a:off x="1981954" y="3848833"/>
            <a:ext cx="12004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9" name="Rectangle 218"/>
          <p:cNvSpPr/>
          <p:nvPr/>
        </p:nvSpPr>
        <p:spPr>
          <a:xfrm>
            <a:off x="1981954" y="4839373"/>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B</a:t>
            </a:r>
          </a:p>
        </p:txBody>
      </p:sp>
      <p:cxnSp>
        <p:nvCxnSpPr>
          <p:cNvPr id="131" name="Straight Connector 130"/>
          <p:cNvCxnSpPr/>
          <p:nvPr/>
        </p:nvCxnSpPr>
        <p:spPr>
          <a:xfrm flipH="1">
            <a:off x="2102949"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0" name="Rectangle 249"/>
          <p:cNvSpPr/>
          <p:nvPr/>
        </p:nvSpPr>
        <p:spPr>
          <a:xfrm>
            <a:off x="4578032"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1" name="Rectangle 250"/>
          <p:cNvSpPr/>
          <p:nvPr/>
        </p:nvSpPr>
        <p:spPr>
          <a:xfrm>
            <a:off x="3105400"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cxnSp>
        <p:nvCxnSpPr>
          <p:cNvPr id="232" name="Straight Connector 231"/>
          <p:cNvCxnSpPr/>
          <p:nvPr/>
        </p:nvCxnSpPr>
        <p:spPr>
          <a:xfrm flipH="1">
            <a:off x="3091663"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3586020"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2" name="Rectangle 251"/>
          <p:cNvSpPr/>
          <p:nvPr/>
        </p:nvSpPr>
        <p:spPr>
          <a:xfrm>
            <a:off x="5068571" y="4348140"/>
            <a:ext cx="988657"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6.0000000000</a:t>
            </a:r>
          </a:p>
        </p:txBody>
      </p:sp>
      <p:sp>
        <p:nvSpPr>
          <p:cNvPr id="253" name="Rectangle 252"/>
          <p:cNvSpPr/>
          <p:nvPr/>
        </p:nvSpPr>
        <p:spPr>
          <a:xfrm>
            <a:off x="1981954" y="4348140"/>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242" name="Straight Connector 241"/>
          <p:cNvCxnSpPr/>
          <p:nvPr/>
        </p:nvCxnSpPr>
        <p:spPr>
          <a:xfrm flipH="1">
            <a:off x="2102949"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4" name="Rectangle 253"/>
          <p:cNvSpPr/>
          <p:nvPr/>
        </p:nvSpPr>
        <p:spPr>
          <a:xfrm>
            <a:off x="4576520" y="4345016"/>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7" name="Rectangle 256"/>
          <p:cNvSpPr/>
          <p:nvPr/>
        </p:nvSpPr>
        <p:spPr>
          <a:xfrm>
            <a:off x="3105400"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b="1" dirty="0">
                <a:solidFill>
                  <a:srgbClr val="FF0000"/>
                </a:solidFill>
                <a:latin typeface="Times New Roman" panose="02020603050405020304" pitchFamily="18" charset="0"/>
                <a:cs typeface="Times New Roman" panose="02020603050405020304" pitchFamily="18" charset="0"/>
              </a:rPr>
              <a:t>?</a:t>
            </a:r>
          </a:p>
        </p:txBody>
      </p:sp>
      <p:cxnSp>
        <p:nvCxnSpPr>
          <p:cNvPr id="121" name="Straight Connector 120"/>
          <p:cNvCxnSpPr/>
          <p:nvPr/>
        </p:nvCxnSpPr>
        <p:spPr>
          <a:xfrm flipH="1">
            <a:off x="3091663"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3586020"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4" name="Rectangle 263"/>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Z</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262" name="Rectangle 261"/>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gcc</a:t>
            </a:r>
            <a:r>
              <a:rPr lang="en-US" sz="1749" dirty="0">
                <a:solidFill>
                  <a:srgbClr val="7F7F7F"/>
                </a:solidFill>
                <a:latin typeface="Arial Narrow" panose="020B0606020202030204" pitchFamily="34" charset="0"/>
                <a:cs typeface="Consolas" panose="020B0609020204030204" pitchFamily="49" charset="0"/>
              </a:rPr>
              <a:t> -o </a:t>
            </a:r>
            <a:r>
              <a:rPr lang="en-US" sz="1749" dirty="0" err="1">
                <a:solidFill>
                  <a:srgbClr val="7F7F7F"/>
                </a:solidFill>
                <a:latin typeface="Arial Narrow" panose="020B0606020202030204" pitchFamily="34" charset="0"/>
                <a:cs typeface="Consolas" panose="020B0609020204030204" pitchFamily="49" charset="0"/>
              </a:rPr>
              <a:t>struct.x</a:t>
            </a:r>
            <a:r>
              <a:rPr lang="en-US" sz="1749"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struct.c</a:t>
            </a:r>
            <a:endParaRPr lang="en-US" sz="1749" dirty="0">
              <a:solidFill>
                <a:srgbClr val="7F7F7F"/>
              </a:solidFill>
              <a:latin typeface="Arial Narrow" panose="020B0606020202030204" pitchFamily="34" charset="0"/>
              <a:cs typeface="Consolas" panose="020B0609020204030204" pitchFamily="49" charset="0"/>
            </a:endParaRPr>
          </a:p>
          <a:p>
            <a:r>
              <a:rPr lang="en-US" sz="1749"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struct.x</a:t>
            </a:r>
            <a:endParaRPr lang="en-US" sz="1749" dirty="0">
              <a:solidFill>
                <a:srgbClr val="7F7F7F"/>
              </a:solidFill>
              <a:latin typeface="Arial Narrow" panose="020B0606020202030204" pitchFamily="34" charset="0"/>
              <a:cs typeface="Consolas" panose="020B0609020204030204" pitchFamily="49" charset="0"/>
            </a:endParaRPr>
          </a:p>
          <a:p>
            <a:r>
              <a:rPr lang="en-US" sz="1749" dirty="0">
                <a:solidFill>
                  <a:srgbClr val="7F7F7F"/>
                </a:solidFill>
                <a:latin typeface="Arial Narrow" panose="020B0606020202030204" pitchFamily="34" charset="0"/>
                <a:cs typeface="Consolas" panose="020B0609020204030204" pitchFamily="49" charset="0"/>
              </a:rPr>
              <a:t>many=</a:t>
            </a:r>
            <a:r>
              <a:rPr lang="en-US" sz="1749" i="1" dirty="0">
                <a:solidFill>
                  <a:srgbClr val="7F7F7F"/>
                </a:solidFill>
                <a:latin typeface="Arial Narrow" panose="020B0606020202030204" pitchFamily="34" charset="0"/>
                <a:cs typeface="Consolas" panose="020B0609020204030204" pitchFamily="49" charset="0"/>
              </a:rPr>
              <a:t>33</a:t>
            </a:r>
            <a:r>
              <a:rPr lang="en-US" sz="12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(c=1</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s=8</a:t>
            </a:r>
            <a:r>
              <a:rPr lang="en-US" sz="1400"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i</a:t>
            </a:r>
            <a:r>
              <a:rPr lang="en-US" sz="1749" dirty="0">
                <a:solidFill>
                  <a:srgbClr val="7F7F7F"/>
                </a:solidFill>
                <a:latin typeface="Arial Narrow" panose="020B0606020202030204" pitchFamily="34" charset="0"/>
                <a:cs typeface="Consolas" panose="020B0609020204030204" pitchFamily="49" charset="0"/>
              </a:rPr>
              <a:t>=4</a:t>
            </a:r>
            <a:r>
              <a:rPr lang="en-US" sz="140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l=4</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u=4</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f=4</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d=8)</a:t>
            </a:r>
          </a:p>
          <a:p>
            <a:r>
              <a:rPr lang="pl-PL" sz="1749" dirty="0">
                <a:solidFill>
                  <a:srgbClr val="FFFFFF"/>
                </a:solidFill>
                <a:latin typeface="Arial Narrow" panose="020B0606020202030204" pitchFamily="34" charset="0"/>
                <a:cs typeface="Consolas" panose="020B0609020204030204" pitchFamily="49" charset="0"/>
              </a:rPr>
              <a:t>X</a:t>
            </a:r>
            <a:r>
              <a:rPr lang="pl-PL" sz="1749" b="1" dirty="0">
                <a:solidFill>
                  <a:srgbClr val="FFFFFF"/>
                </a:solidFill>
                <a:latin typeface="Felix Titling" panose="04060505060202020A04" pitchFamily="82" charset="0"/>
                <a:cs typeface="Consolas" panose="020B0609020204030204" pitchFamily="49" charset="0"/>
              </a:rPr>
              <a:t>-</a:t>
            </a:r>
            <a:r>
              <a:rPr lang="pl-PL" sz="1749" dirty="0">
                <a:solidFill>
                  <a:srgbClr val="FFFFFF"/>
                </a:solidFill>
                <a:latin typeface="Arial Narrow" panose="020B0606020202030204" pitchFamily="34" charset="0"/>
                <a:cs typeface="Consolas" panose="020B0609020204030204" pitchFamily="49" charset="0"/>
              </a:rPr>
              <a:t>&gt;c=A </a:t>
            </a:r>
            <a:r>
              <a:rPr lang="pl-PL" sz="1272" dirty="0">
                <a:solidFill>
                  <a:srgbClr val="FFFFFF"/>
                </a:solidFill>
                <a:latin typeface="Arial Narrow" panose="020B0606020202030204" pitchFamily="34" charset="0"/>
                <a:cs typeface="Consolas" panose="020B0609020204030204" pitchFamily="49" charset="0"/>
              </a:rPr>
              <a:t>  </a:t>
            </a:r>
            <a:r>
              <a:rPr lang="pl-PL" sz="1749" dirty="0">
                <a:solidFill>
                  <a:srgbClr val="FFFFFF"/>
                </a:solidFill>
                <a:latin typeface="Arial Narrow" panose="020B0606020202030204" pitchFamily="34" charset="0"/>
                <a:cs typeface="Consolas" panose="020B0609020204030204" pitchFamily="49" charset="0"/>
              </a:rPr>
              <a:t>Y</a:t>
            </a:r>
            <a:r>
              <a:rPr lang="pl-PL" sz="1749" b="1" dirty="0">
                <a:solidFill>
                  <a:srgbClr val="FFFFFF"/>
                </a:solidFill>
                <a:latin typeface="Felix Titling" panose="04060505060202020A04" pitchFamily="82" charset="0"/>
                <a:cs typeface="Consolas" panose="020B0609020204030204" pitchFamily="49" charset="0"/>
              </a:rPr>
              <a:t>-</a:t>
            </a:r>
            <a:r>
              <a:rPr lang="pl-PL" sz="1749" dirty="0">
                <a:solidFill>
                  <a:srgbClr val="FFFFFF"/>
                </a:solidFill>
                <a:latin typeface="Arial Narrow" panose="020B0606020202030204" pitchFamily="34" charset="0"/>
                <a:cs typeface="Consolas" panose="020B0609020204030204" pitchFamily="49" charset="0"/>
              </a:rPr>
              <a:t>&gt;f=6.000000</a:t>
            </a:r>
            <a:r>
              <a:rPr lang="pl-PL" sz="1272" dirty="0">
                <a:solidFill>
                  <a:srgbClr val="FFFFFF"/>
                </a:solidFill>
                <a:latin typeface="Arial Narrow" panose="020B0606020202030204" pitchFamily="34" charset="0"/>
                <a:cs typeface="Consolas" panose="020B0609020204030204" pitchFamily="49" charset="0"/>
              </a:rPr>
              <a:t>   </a:t>
            </a:r>
            <a:r>
              <a:rPr lang="pl-PL" sz="1749" dirty="0">
                <a:solidFill>
                  <a:srgbClr val="FFFFFF"/>
                </a:solidFill>
                <a:latin typeface="Arial Narrow" panose="020B0606020202030204" pitchFamily="34" charset="0"/>
                <a:cs typeface="Consolas" panose="020B0609020204030204" pitchFamily="49" charset="0"/>
              </a:rPr>
              <a:t>Z</a:t>
            </a:r>
            <a:r>
              <a:rPr lang="pl-PL" sz="1749" b="1" dirty="0">
                <a:solidFill>
                  <a:srgbClr val="FFFFFF"/>
                </a:solidFill>
                <a:latin typeface="Felix Titling" panose="04060505060202020A04" pitchFamily="82" charset="0"/>
                <a:cs typeface="Consolas" panose="020B0609020204030204" pitchFamily="49" charset="0"/>
              </a:rPr>
              <a:t>-</a:t>
            </a:r>
            <a:r>
              <a:rPr lang="pl-PL" sz="1749" dirty="0">
                <a:solidFill>
                  <a:srgbClr val="FFFFFF"/>
                </a:solidFill>
                <a:latin typeface="Arial Narrow" panose="020B0606020202030204" pitchFamily="34" charset="0"/>
                <a:cs typeface="Consolas" panose="020B0609020204030204" pitchFamily="49" charset="0"/>
              </a:rPr>
              <a:t>&gt;i=6</a:t>
            </a:r>
          </a:p>
          <a:p>
            <a:r>
              <a:rPr lang="pl-PL" sz="1749" dirty="0" smtClean="0">
                <a:solidFill>
                  <a:schemeClr val="tx1"/>
                </a:solidFill>
                <a:latin typeface="Arial Narrow" panose="020B0606020202030204" pitchFamily="34" charset="0"/>
                <a:cs typeface="Consolas" panose="020B0609020204030204" pitchFamily="49" charset="0"/>
              </a:rPr>
              <a:t>X</a:t>
            </a:r>
            <a:r>
              <a:rPr lang="pl-PL" sz="1749" b="1" dirty="0" smtClean="0">
                <a:solidFill>
                  <a:schemeClr val="tx1"/>
                </a:solidFill>
                <a:latin typeface="Felix Titling" panose="04060505060202020A04" pitchFamily="82" charset="0"/>
                <a:cs typeface="Consolas" panose="020B0609020204030204" pitchFamily="49" charset="0"/>
              </a:rPr>
              <a:t>-</a:t>
            </a:r>
            <a:r>
              <a:rPr lang="pl-PL" sz="1749" dirty="0" smtClean="0">
                <a:solidFill>
                  <a:schemeClr val="tx1"/>
                </a:solidFill>
                <a:latin typeface="Arial Narrow" panose="020B0606020202030204" pitchFamily="34" charset="0"/>
                <a:cs typeface="Consolas" panose="020B0609020204030204" pitchFamily="49" charset="0"/>
              </a:rPr>
              <a:t>&gt;c=A </a:t>
            </a:r>
            <a:r>
              <a:rPr lang="pl-PL" sz="1272" dirty="0" smtClean="0">
                <a:solidFill>
                  <a:schemeClr val="tx1"/>
                </a:solidFill>
                <a:latin typeface="Arial Narrow" panose="020B0606020202030204" pitchFamily="34" charset="0"/>
                <a:cs typeface="Consolas" panose="020B0609020204030204" pitchFamily="49" charset="0"/>
              </a:rPr>
              <a:t>  </a:t>
            </a:r>
            <a:r>
              <a:rPr lang="pl-PL" sz="1749" dirty="0" smtClean="0">
                <a:solidFill>
                  <a:schemeClr val="tx1"/>
                </a:solidFill>
                <a:latin typeface="Arial Narrow" panose="020B0606020202030204" pitchFamily="34" charset="0"/>
                <a:cs typeface="Consolas" panose="020B0609020204030204" pitchFamily="49" charset="0"/>
              </a:rPr>
              <a:t>Y</a:t>
            </a:r>
            <a:r>
              <a:rPr lang="pl-PL" sz="1749" b="1" dirty="0" smtClean="0">
                <a:solidFill>
                  <a:schemeClr val="tx1"/>
                </a:solidFill>
                <a:latin typeface="Felix Titling" panose="04060505060202020A04" pitchFamily="82" charset="0"/>
                <a:cs typeface="Consolas" panose="020B0609020204030204" pitchFamily="49" charset="0"/>
              </a:rPr>
              <a:t>-</a:t>
            </a:r>
            <a:r>
              <a:rPr lang="pl-PL" sz="1749" dirty="0" smtClean="0">
                <a:solidFill>
                  <a:schemeClr val="tx1"/>
                </a:solidFill>
                <a:latin typeface="Arial Narrow" panose="020B0606020202030204" pitchFamily="34" charset="0"/>
                <a:cs typeface="Consolas" panose="020B0609020204030204" pitchFamily="49" charset="0"/>
              </a:rPr>
              <a:t>&gt;f=6.000000</a:t>
            </a:r>
            <a:r>
              <a:rPr lang="pl-PL" sz="1272" dirty="0" smtClean="0">
                <a:solidFill>
                  <a:schemeClr val="tx1"/>
                </a:solidFill>
                <a:latin typeface="Arial Narrow" panose="020B0606020202030204" pitchFamily="34" charset="0"/>
                <a:cs typeface="Consolas" panose="020B0609020204030204" pitchFamily="49" charset="0"/>
              </a:rPr>
              <a:t>   </a:t>
            </a:r>
            <a:r>
              <a:rPr lang="pl-PL" sz="1749" dirty="0" smtClean="0">
                <a:solidFill>
                  <a:schemeClr val="tx1"/>
                </a:solidFill>
                <a:latin typeface="Arial Narrow" panose="020B0606020202030204" pitchFamily="34" charset="0"/>
                <a:cs typeface="Consolas" panose="020B0609020204030204" pitchFamily="49" charset="0"/>
              </a:rPr>
              <a:t>Z</a:t>
            </a:r>
            <a:r>
              <a:rPr lang="pl-PL" sz="1749" b="1" dirty="0" smtClean="0">
                <a:solidFill>
                  <a:schemeClr val="tx1"/>
                </a:solidFill>
                <a:latin typeface="Felix Titling" panose="04060505060202020A04" pitchFamily="82" charset="0"/>
                <a:cs typeface="Consolas" panose="020B0609020204030204" pitchFamily="49" charset="0"/>
              </a:rPr>
              <a:t>-</a:t>
            </a:r>
            <a:r>
              <a:rPr lang="pl-PL" sz="1749" dirty="0" smtClean="0">
                <a:solidFill>
                  <a:schemeClr val="tx1"/>
                </a:solidFill>
                <a:latin typeface="Arial Narrow" panose="020B0606020202030204" pitchFamily="34" charset="0"/>
                <a:cs typeface="Consolas" panose="020B0609020204030204" pitchFamily="49" charset="0"/>
              </a:rPr>
              <a:t>&gt;i=</a:t>
            </a:r>
            <a:r>
              <a:rPr lang="en-US" sz="1749" dirty="0" smtClean="0">
                <a:solidFill>
                  <a:schemeClr val="tx1"/>
                </a:solidFill>
                <a:latin typeface="Arial Narrow" panose="020B0606020202030204" pitchFamily="34" charset="0"/>
                <a:cs typeface="Consolas" panose="020B0609020204030204" pitchFamily="49" charset="0"/>
              </a:rPr>
              <a:t>?????</a:t>
            </a:r>
          </a:p>
          <a:p>
            <a:endParaRPr lang="en-US" sz="1749" dirty="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873989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57"/>
                                        </p:tgtEl>
                                        <p:attrNameLst>
                                          <p:attrName>style.visibility</p:attrName>
                                        </p:attrNameLst>
                                      </p:cBhvr>
                                      <p:to>
                                        <p:strVal val="visible"/>
                                      </p:to>
                                    </p:set>
                                    <p:animEffect transition="in" filter="fade">
                                      <p:cBhvr>
                                        <p:cTn id="7" dur="2000"/>
                                        <p:tgtEl>
                                          <p:spTgt spid="257"/>
                                        </p:tgtEl>
                                      </p:cBhvr>
                                    </p:animEffect>
                                    <p:anim calcmode="lin" valueType="num">
                                      <p:cBhvr>
                                        <p:cTn id="8" dur="2000" fill="hold"/>
                                        <p:tgtEl>
                                          <p:spTgt spid="257"/>
                                        </p:tgtEl>
                                        <p:attrNameLst>
                                          <p:attrName>style.rotation</p:attrName>
                                        </p:attrNameLst>
                                      </p:cBhvr>
                                      <p:tavLst>
                                        <p:tav tm="0">
                                          <p:val>
                                            <p:fltVal val="720"/>
                                          </p:val>
                                        </p:tav>
                                        <p:tav tm="100000">
                                          <p:val>
                                            <p:fltVal val="0"/>
                                          </p:val>
                                        </p:tav>
                                      </p:tavLst>
                                    </p:anim>
                                    <p:anim calcmode="lin" valueType="num">
                                      <p:cBhvr>
                                        <p:cTn id="9" dur="2000" fill="hold"/>
                                        <p:tgtEl>
                                          <p:spTgt spid="257"/>
                                        </p:tgtEl>
                                        <p:attrNameLst>
                                          <p:attrName>ppt_h</p:attrName>
                                        </p:attrNameLst>
                                      </p:cBhvr>
                                      <p:tavLst>
                                        <p:tav tm="0">
                                          <p:val>
                                            <p:fltVal val="0"/>
                                          </p:val>
                                        </p:tav>
                                        <p:tav tm="100000">
                                          <p:val>
                                            <p:strVal val="#ppt_h"/>
                                          </p:val>
                                        </p:tav>
                                      </p:tavLst>
                                    </p:anim>
                                    <p:anim calcmode="lin" valueType="num">
                                      <p:cBhvr>
                                        <p:cTn id="10" dur="2000" fill="hold"/>
                                        <p:tgtEl>
                                          <p:spTgt spid="257"/>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1981954" y="4842308"/>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1981954" y="4347951"/>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1981954" y="3853257"/>
            <a:ext cx="4075850" cy="246659"/>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err="1">
                <a:solidFill>
                  <a:srgbClr val="FF0000"/>
                </a:solidFill>
                <a:latin typeface="Consolas" panose="020B0609020204030204" pitchFamily="49" charset="0"/>
                <a:cs typeface="Consolas" panose="020B0609020204030204" pitchFamily="49" charset="0"/>
              </a:rPr>
              <a:t>printf</a:t>
            </a:r>
            <a:r>
              <a:rPr lang="en-US" sz="1431" dirty="0">
                <a:solidFill>
                  <a:srgbClr val="FF0000"/>
                </a:solidFill>
                <a:latin typeface="Consolas" panose="020B0609020204030204" pitchFamily="49" charset="0"/>
                <a:cs typeface="Consolas" panose="020B0609020204030204" pitchFamily="49" charset="0"/>
              </a:rPr>
              <a:t>("X-&gt;c=%c   Y-&gt;f=%f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=%d\</a:t>
            </a:r>
            <a:r>
              <a:rPr lang="en-US" sz="1431" dirty="0" err="1">
                <a:solidFill>
                  <a:srgbClr val="FF0000"/>
                </a:solidFill>
                <a:latin typeface="Consolas" panose="020B0609020204030204" pitchFamily="49" charset="0"/>
                <a:cs typeface="Consolas" panose="020B0609020204030204" pitchFamily="49" charset="0"/>
              </a:rPr>
              <a:t>n",X</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c,Y</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f,Z</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41" name="Rectangle 40"/>
          <p:cNvSpPr/>
          <p:nvPr/>
        </p:nvSpPr>
        <p:spPr>
          <a:xfrm>
            <a:off x="2848348" y="41681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341666" y="416649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3834985" y="416484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4328304" y="4170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848348" y="464766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3341666" y="464600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834985" y="464435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4328304" y="465043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509766" y="434823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1509766" y="385325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5685999"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5194757"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688076"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519442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31626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543985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556344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568703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581062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4206043"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4699362"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494550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420570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432755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445114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469832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4821912"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3708571" y="484230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3217329"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3710648"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395678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216993"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333884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3462431"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370960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3833198"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228615" y="4839538"/>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2721934" y="483788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296807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228279"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35012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2473717"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59730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2720895"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2844484"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476011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1981675" y="4701688"/>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5507461" y="427502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3279846"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37718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4268727" y="451856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2537348" y="426923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5934216" y="484230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5685999"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5194757"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5688076"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519442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531626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543985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556344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568703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581062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4206043"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4699362"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494550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420570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432755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445114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469832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4821912"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3708571" y="385325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3217329"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3710648"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395678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3216993"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333884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3462431"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370960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3833198"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228615" y="3850487"/>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2721934" y="3848833"/>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296807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228279"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35012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2473717"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259730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2720895"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2844484"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476011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1981675" y="3712637"/>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5507461" y="3285972"/>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3279846"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37718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4268727" y="3529516"/>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2537348" y="3280188"/>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5934216" y="3853256"/>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5685999"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5194757"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5688076"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519442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31626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543985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556344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568703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581062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4206043"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4699362"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494550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420570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432755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445114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469832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4821912"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3708571" y="434795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3217329"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3710648"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395678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3216993"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333884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3462431"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370960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3833198"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228615" y="4345181"/>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2721934" y="4343526"/>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296807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228279"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35012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2473717"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259730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2720895"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2844484"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476011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1981675" y="4207331"/>
            <a:ext cx="123330" cy="990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5507461" y="3780665"/>
            <a:ext cx="123330" cy="952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3279846"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37718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4268727" y="4024209"/>
            <a:ext cx="123330" cy="4652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2537348" y="3774881"/>
            <a:ext cx="123330" cy="9639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5934216" y="4347949"/>
            <a:ext cx="1" cy="252739"/>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1855796" y="3402321"/>
            <a:ext cx="4201432"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3092701" y="4356365"/>
            <a:ext cx="49658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sp>
        <p:nvSpPr>
          <p:cNvPr id="197" name="Rectangle 196"/>
          <p:cNvSpPr/>
          <p:nvPr/>
        </p:nvSpPr>
        <p:spPr>
          <a:xfrm>
            <a:off x="1981954" y="3848833"/>
            <a:ext cx="120048"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109" name="Straight Connector 108"/>
          <p:cNvCxnSpPr/>
          <p:nvPr/>
        </p:nvCxnSpPr>
        <p:spPr>
          <a:xfrm flipH="1">
            <a:off x="4080377"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4080377"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4080377"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091663"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3586020"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102949"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4574734"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5069091" y="385325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1981954" y="3853257"/>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9" name="Rectangle 218"/>
          <p:cNvSpPr/>
          <p:nvPr/>
        </p:nvSpPr>
        <p:spPr>
          <a:xfrm>
            <a:off x="1981954" y="4839373"/>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B</a:t>
            </a:r>
          </a:p>
        </p:txBody>
      </p:sp>
      <p:cxnSp>
        <p:nvCxnSpPr>
          <p:cNvPr id="131" name="Straight Connector 130"/>
          <p:cNvCxnSpPr/>
          <p:nvPr/>
        </p:nvCxnSpPr>
        <p:spPr>
          <a:xfrm flipH="1">
            <a:off x="2102949"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0" name="Rectangle 249"/>
          <p:cNvSpPr/>
          <p:nvPr/>
        </p:nvSpPr>
        <p:spPr>
          <a:xfrm>
            <a:off x="4578032"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113" name="Straight Connector 112"/>
          <p:cNvCxnSpPr/>
          <p:nvPr/>
        </p:nvCxnSpPr>
        <p:spPr>
          <a:xfrm flipH="1">
            <a:off x="4574734"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5069091"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1" name="Rectangle 250"/>
          <p:cNvSpPr/>
          <p:nvPr/>
        </p:nvSpPr>
        <p:spPr>
          <a:xfrm>
            <a:off x="3105400" y="4841025"/>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b="1" dirty="0">
                <a:solidFill>
                  <a:prstClr val="black"/>
                </a:solidFill>
                <a:latin typeface="Times New Roman" panose="02020603050405020304" pitchFamily="18" charset="0"/>
                <a:cs typeface="Times New Roman" panose="02020603050405020304" pitchFamily="18" charset="0"/>
              </a:rPr>
              <a:t>?</a:t>
            </a:r>
          </a:p>
        </p:txBody>
      </p:sp>
      <p:cxnSp>
        <p:nvCxnSpPr>
          <p:cNvPr id="232" name="Straight Connector 231"/>
          <p:cNvCxnSpPr/>
          <p:nvPr/>
        </p:nvCxnSpPr>
        <p:spPr>
          <a:xfrm flipH="1">
            <a:off x="3091663"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3586020"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2" name="Rectangle 251"/>
          <p:cNvSpPr/>
          <p:nvPr/>
        </p:nvSpPr>
        <p:spPr>
          <a:xfrm>
            <a:off x="5068571" y="4348140"/>
            <a:ext cx="988657"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6.0000000000</a:t>
            </a:r>
          </a:p>
        </p:txBody>
      </p:sp>
      <p:sp>
        <p:nvSpPr>
          <p:cNvPr id="253" name="Rectangle 252"/>
          <p:cNvSpPr/>
          <p:nvPr/>
        </p:nvSpPr>
        <p:spPr>
          <a:xfrm>
            <a:off x="1981954" y="4348140"/>
            <a:ext cx="119436"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242" name="Straight Connector 241"/>
          <p:cNvCxnSpPr/>
          <p:nvPr/>
        </p:nvCxnSpPr>
        <p:spPr>
          <a:xfrm flipH="1">
            <a:off x="2102949"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4" name="Rectangle 253"/>
          <p:cNvSpPr/>
          <p:nvPr/>
        </p:nvSpPr>
        <p:spPr>
          <a:xfrm>
            <a:off x="4576520" y="4345016"/>
            <a:ext cx="483889" cy="246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216" name="Straight Connector 215"/>
          <p:cNvCxnSpPr/>
          <p:nvPr/>
        </p:nvCxnSpPr>
        <p:spPr>
          <a:xfrm flipH="1">
            <a:off x="4574734"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5069091" y="4347949"/>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0" name="Rectangle 259"/>
          <p:cNvSpPr/>
          <p:nvPr/>
        </p:nvSpPr>
        <p:spPr>
          <a:xfrm>
            <a:off x="1981954" y="4347951"/>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1" name="Straight Connector 120"/>
          <p:cNvCxnSpPr/>
          <p:nvPr/>
        </p:nvCxnSpPr>
        <p:spPr>
          <a:xfrm flipH="1">
            <a:off x="3091663"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3586020" y="4842306"/>
            <a:ext cx="1" cy="252739"/>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9" name="Rectangle 258"/>
          <p:cNvSpPr/>
          <p:nvPr/>
        </p:nvSpPr>
        <p:spPr>
          <a:xfrm>
            <a:off x="1981954" y="4842308"/>
            <a:ext cx="4075850"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63" name="Rectangle 262"/>
          <p:cNvSpPr/>
          <p:nvPr/>
        </p:nvSpPr>
        <p:spPr>
          <a:xfrm>
            <a:off x="1509766" y="4827745"/>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258" name="Rectangle 257"/>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gcc</a:t>
            </a:r>
            <a:r>
              <a:rPr lang="en-US" sz="1749" dirty="0">
                <a:solidFill>
                  <a:srgbClr val="7F7F7F"/>
                </a:solidFill>
                <a:latin typeface="Arial Narrow" panose="020B0606020202030204" pitchFamily="34" charset="0"/>
                <a:cs typeface="Consolas" panose="020B0609020204030204" pitchFamily="49" charset="0"/>
              </a:rPr>
              <a:t> -o </a:t>
            </a:r>
            <a:r>
              <a:rPr lang="en-US" sz="1749" dirty="0" err="1">
                <a:solidFill>
                  <a:srgbClr val="7F7F7F"/>
                </a:solidFill>
                <a:latin typeface="Arial Narrow" panose="020B0606020202030204" pitchFamily="34" charset="0"/>
                <a:cs typeface="Consolas" panose="020B0609020204030204" pitchFamily="49" charset="0"/>
              </a:rPr>
              <a:t>struct.x</a:t>
            </a:r>
            <a:r>
              <a:rPr lang="en-US" sz="1749"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struct.c</a:t>
            </a:r>
            <a:endParaRPr lang="en-US" sz="1749" dirty="0">
              <a:solidFill>
                <a:srgbClr val="7F7F7F"/>
              </a:solidFill>
              <a:latin typeface="Arial Narrow" panose="020B0606020202030204" pitchFamily="34" charset="0"/>
              <a:cs typeface="Consolas" panose="020B0609020204030204" pitchFamily="49" charset="0"/>
            </a:endParaRPr>
          </a:p>
          <a:p>
            <a:r>
              <a:rPr lang="en-US" sz="1749"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struct.x</a:t>
            </a:r>
            <a:endParaRPr lang="en-US" sz="1749" dirty="0">
              <a:solidFill>
                <a:srgbClr val="7F7F7F"/>
              </a:solidFill>
              <a:latin typeface="Arial Narrow" panose="020B0606020202030204" pitchFamily="34" charset="0"/>
              <a:cs typeface="Consolas" panose="020B0609020204030204" pitchFamily="49" charset="0"/>
            </a:endParaRPr>
          </a:p>
          <a:p>
            <a:r>
              <a:rPr lang="en-US" sz="1749" dirty="0">
                <a:solidFill>
                  <a:srgbClr val="7F7F7F"/>
                </a:solidFill>
                <a:latin typeface="Arial Narrow" panose="020B0606020202030204" pitchFamily="34" charset="0"/>
                <a:cs typeface="Consolas" panose="020B0609020204030204" pitchFamily="49" charset="0"/>
              </a:rPr>
              <a:t>many=</a:t>
            </a:r>
            <a:r>
              <a:rPr lang="en-US" sz="1749" i="1" dirty="0">
                <a:solidFill>
                  <a:srgbClr val="7F7F7F"/>
                </a:solidFill>
                <a:latin typeface="Arial Narrow" panose="020B0606020202030204" pitchFamily="34" charset="0"/>
                <a:cs typeface="Consolas" panose="020B0609020204030204" pitchFamily="49" charset="0"/>
              </a:rPr>
              <a:t>33</a:t>
            </a:r>
            <a:r>
              <a:rPr lang="en-US" sz="12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(c=1</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s=8</a:t>
            </a:r>
            <a:r>
              <a:rPr lang="en-US" sz="1400" dirty="0">
                <a:solidFill>
                  <a:srgbClr val="7F7F7F"/>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i</a:t>
            </a:r>
            <a:r>
              <a:rPr lang="en-US" sz="1749" dirty="0">
                <a:solidFill>
                  <a:srgbClr val="7F7F7F"/>
                </a:solidFill>
                <a:latin typeface="Arial Narrow" panose="020B0606020202030204" pitchFamily="34" charset="0"/>
                <a:cs typeface="Consolas" panose="020B0609020204030204" pitchFamily="49" charset="0"/>
              </a:rPr>
              <a:t>=4</a:t>
            </a:r>
            <a:r>
              <a:rPr lang="en-US" sz="140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l=4</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u=4</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f=4</a:t>
            </a:r>
            <a:r>
              <a:rPr lang="en-US" sz="1400" dirty="0">
                <a:solidFill>
                  <a:srgbClr val="7F7F7F"/>
                </a:solidFill>
                <a:latin typeface="Arial Narrow" panose="020B0606020202030204" pitchFamily="34" charset="0"/>
                <a:cs typeface="Consolas" panose="020B0609020204030204" pitchFamily="49" charset="0"/>
              </a:rPr>
              <a:t> </a:t>
            </a:r>
            <a:r>
              <a:rPr lang="en-US" sz="1590" dirty="0">
                <a:solidFill>
                  <a:srgbClr val="7F7F7F"/>
                </a:solidFill>
                <a:latin typeface="Arial Narrow" panose="020B0606020202030204" pitchFamily="34" charset="0"/>
                <a:cs typeface="Consolas" panose="020B0609020204030204" pitchFamily="49" charset="0"/>
              </a:rPr>
              <a:t> </a:t>
            </a:r>
            <a:r>
              <a:rPr lang="en-US" sz="1749" dirty="0">
                <a:solidFill>
                  <a:srgbClr val="7F7F7F"/>
                </a:solidFill>
                <a:latin typeface="Arial Narrow" panose="020B0606020202030204" pitchFamily="34" charset="0"/>
                <a:cs typeface="Consolas" panose="020B0609020204030204" pitchFamily="49" charset="0"/>
              </a:rPr>
              <a:t>d=8)</a:t>
            </a:r>
          </a:p>
          <a:p>
            <a:r>
              <a:rPr lang="pl-PL" sz="1749" dirty="0">
                <a:solidFill>
                  <a:srgbClr val="7F7F7F"/>
                </a:solidFill>
                <a:latin typeface="Arial Narrow" panose="020B0606020202030204" pitchFamily="34" charset="0"/>
                <a:cs typeface="Consolas" panose="020B0609020204030204" pitchFamily="49" charset="0"/>
              </a:rPr>
              <a:t>X</a:t>
            </a:r>
            <a:r>
              <a:rPr lang="pl-PL" sz="1749" b="1" dirty="0">
                <a:solidFill>
                  <a:srgbClr val="7F7F7F"/>
                </a:solidFill>
                <a:latin typeface="Felix Titling" panose="04060505060202020A04" pitchFamily="82" charset="0"/>
                <a:cs typeface="Consolas" panose="020B0609020204030204" pitchFamily="49" charset="0"/>
              </a:rPr>
              <a:t>-</a:t>
            </a:r>
            <a:r>
              <a:rPr lang="pl-PL" sz="1749" dirty="0">
                <a:solidFill>
                  <a:srgbClr val="7F7F7F"/>
                </a:solidFill>
                <a:latin typeface="Arial Narrow" panose="020B0606020202030204" pitchFamily="34" charset="0"/>
                <a:cs typeface="Consolas" panose="020B0609020204030204" pitchFamily="49" charset="0"/>
              </a:rPr>
              <a:t>&gt;c=A </a:t>
            </a:r>
            <a:r>
              <a:rPr lang="pl-PL" sz="1272" dirty="0">
                <a:solidFill>
                  <a:srgbClr val="7F7F7F"/>
                </a:solidFill>
                <a:latin typeface="Arial Narrow" panose="020B0606020202030204" pitchFamily="34" charset="0"/>
                <a:cs typeface="Consolas" panose="020B0609020204030204" pitchFamily="49" charset="0"/>
              </a:rPr>
              <a:t>  </a:t>
            </a:r>
            <a:r>
              <a:rPr lang="pl-PL" sz="1749" dirty="0">
                <a:solidFill>
                  <a:srgbClr val="7F7F7F"/>
                </a:solidFill>
                <a:latin typeface="Arial Narrow" panose="020B0606020202030204" pitchFamily="34" charset="0"/>
                <a:cs typeface="Consolas" panose="020B0609020204030204" pitchFamily="49" charset="0"/>
              </a:rPr>
              <a:t>Y</a:t>
            </a:r>
            <a:r>
              <a:rPr lang="pl-PL" sz="1749" b="1" dirty="0">
                <a:solidFill>
                  <a:srgbClr val="7F7F7F"/>
                </a:solidFill>
                <a:latin typeface="Felix Titling" panose="04060505060202020A04" pitchFamily="82" charset="0"/>
                <a:cs typeface="Consolas" panose="020B0609020204030204" pitchFamily="49" charset="0"/>
              </a:rPr>
              <a:t>-</a:t>
            </a:r>
            <a:r>
              <a:rPr lang="pl-PL" sz="1749" dirty="0">
                <a:solidFill>
                  <a:srgbClr val="7F7F7F"/>
                </a:solidFill>
                <a:latin typeface="Arial Narrow" panose="020B0606020202030204" pitchFamily="34" charset="0"/>
                <a:cs typeface="Consolas" panose="020B0609020204030204" pitchFamily="49" charset="0"/>
              </a:rPr>
              <a:t>&gt;f=6.000000</a:t>
            </a:r>
            <a:r>
              <a:rPr lang="pl-PL" sz="1272" dirty="0">
                <a:solidFill>
                  <a:srgbClr val="7F7F7F"/>
                </a:solidFill>
                <a:latin typeface="Arial Narrow" panose="020B0606020202030204" pitchFamily="34" charset="0"/>
                <a:cs typeface="Consolas" panose="020B0609020204030204" pitchFamily="49" charset="0"/>
              </a:rPr>
              <a:t>   </a:t>
            </a:r>
            <a:r>
              <a:rPr lang="pl-PL" sz="1749" dirty="0">
                <a:solidFill>
                  <a:srgbClr val="7F7F7F"/>
                </a:solidFill>
                <a:latin typeface="Arial Narrow" panose="020B0606020202030204" pitchFamily="34" charset="0"/>
                <a:cs typeface="Consolas" panose="020B0609020204030204" pitchFamily="49" charset="0"/>
              </a:rPr>
              <a:t>Z</a:t>
            </a:r>
            <a:r>
              <a:rPr lang="pl-PL" sz="1749" b="1" dirty="0">
                <a:solidFill>
                  <a:srgbClr val="7F7F7F"/>
                </a:solidFill>
                <a:latin typeface="Felix Titling" panose="04060505060202020A04" pitchFamily="82" charset="0"/>
                <a:cs typeface="Consolas" panose="020B0609020204030204" pitchFamily="49" charset="0"/>
              </a:rPr>
              <a:t>-</a:t>
            </a:r>
            <a:r>
              <a:rPr lang="pl-PL" sz="1749" dirty="0">
                <a:solidFill>
                  <a:srgbClr val="7F7F7F"/>
                </a:solidFill>
                <a:latin typeface="Arial Narrow" panose="020B0606020202030204" pitchFamily="34" charset="0"/>
                <a:cs typeface="Consolas" panose="020B0609020204030204" pitchFamily="49" charset="0"/>
              </a:rPr>
              <a:t>&gt;i=6</a:t>
            </a:r>
          </a:p>
          <a:p>
            <a:r>
              <a:rPr lang="pl-PL" sz="1749" dirty="0">
                <a:solidFill>
                  <a:schemeClr val="bg1"/>
                </a:solidFill>
                <a:latin typeface="Arial Narrow" panose="020B0606020202030204" pitchFamily="34" charset="0"/>
                <a:cs typeface="Consolas" panose="020B0609020204030204" pitchFamily="49" charset="0"/>
              </a:rPr>
              <a:t>X</a:t>
            </a:r>
            <a:r>
              <a:rPr lang="pl-PL" sz="1749" b="1" dirty="0">
                <a:solidFill>
                  <a:schemeClr val="bg1"/>
                </a:solidFill>
                <a:latin typeface="Felix Titling" panose="04060505060202020A04" pitchFamily="82" charset="0"/>
                <a:cs typeface="Consolas" panose="020B0609020204030204" pitchFamily="49" charset="0"/>
              </a:rPr>
              <a:t>-</a:t>
            </a:r>
            <a:r>
              <a:rPr lang="pl-PL" sz="1749" dirty="0">
                <a:solidFill>
                  <a:schemeClr val="bg1"/>
                </a:solidFill>
                <a:latin typeface="Arial Narrow" panose="020B0606020202030204" pitchFamily="34" charset="0"/>
                <a:cs typeface="Consolas" panose="020B0609020204030204" pitchFamily="49" charset="0"/>
              </a:rPr>
              <a:t>&gt;c=A </a:t>
            </a:r>
            <a:r>
              <a:rPr lang="pl-PL" sz="1272" dirty="0">
                <a:solidFill>
                  <a:schemeClr val="bg1"/>
                </a:solidFill>
                <a:latin typeface="Arial Narrow" panose="020B0606020202030204" pitchFamily="34" charset="0"/>
                <a:cs typeface="Consolas" panose="020B0609020204030204" pitchFamily="49" charset="0"/>
              </a:rPr>
              <a:t>  </a:t>
            </a:r>
            <a:r>
              <a:rPr lang="pl-PL" sz="1749" dirty="0">
                <a:solidFill>
                  <a:schemeClr val="bg1"/>
                </a:solidFill>
                <a:latin typeface="Arial Narrow" panose="020B0606020202030204" pitchFamily="34" charset="0"/>
                <a:cs typeface="Consolas" panose="020B0609020204030204" pitchFamily="49" charset="0"/>
              </a:rPr>
              <a:t>Y</a:t>
            </a:r>
            <a:r>
              <a:rPr lang="pl-PL" sz="1749" b="1" dirty="0">
                <a:solidFill>
                  <a:schemeClr val="bg1"/>
                </a:solidFill>
                <a:latin typeface="Felix Titling" panose="04060505060202020A04" pitchFamily="82" charset="0"/>
                <a:cs typeface="Consolas" panose="020B0609020204030204" pitchFamily="49" charset="0"/>
              </a:rPr>
              <a:t>-</a:t>
            </a:r>
            <a:r>
              <a:rPr lang="pl-PL" sz="1749" dirty="0">
                <a:solidFill>
                  <a:schemeClr val="bg1"/>
                </a:solidFill>
                <a:latin typeface="Arial Narrow" panose="020B0606020202030204" pitchFamily="34" charset="0"/>
                <a:cs typeface="Consolas" panose="020B0609020204030204" pitchFamily="49" charset="0"/>
              </a:rPr>
              <a:t>&gt;f=6.000000</a:t>
            </a:r>
            <a:r>
              <a:rPr lang="pl-PL" sz="1272" dirty="0">
                <a:solidFill>
                  <a:schemeClr val="bg1"/>
                </a:solidFill>
                <a:latin typeface="Arial Narrow" panose="020B0606020202030204" pitchFamily="34" charset="0"/>
                <a:cs typeface="Consolas" panose="020B0609020204030204" pitchFamily="49" charset="0"/>
              </a:rPr>
              <a:t>   </a:t>
            </a:r>
            <a:r>
              <a:rPr lang="pl-PL" sz="1749" dirty="0">
                <a:solidFill>
                  <a:schemeClr val="bg1"/>
                </a:solidFill>
                <a:latin typeface="Arial Narrow" panose="020B0606020202030204" pitchFamily="34" charset="0"/>
                <a:cs typeface="Consolas" panose="020B0609020204030204" pitchFamily="49" charset="0"/>
              </a:rPr>
              <a:t>Z</a:t>
            </a:r>
            <a:r>
              <a:rPr lang="pl-PL" sz="1749" b="1" dirty="0">
                <a:solidFill>
                  <a:schemeClr val="bg1"/>
                </a:solidFill>
                <a:latin typeface="Felix Titling" panose="04060505060202020A04" pitchFamily="82" charset="0"/>
                <a:cs typeface="Consolas" panose="020B0609020204030204" pitchFamily="49" charset="0"/>
              </a:rPr>
              <a:t>-</a:t>
            </a:r>
            <a:r>
              <a:rPr lang="pl-PL" sz="1749" dirty="0">
                <a:solidFill>
                  <a:schemeClr val="bg1"/>
                </a:solidFill>
                <a:latin typeface="Arial Narrow" panose="020B0606020202030204" pitchFamily="34" charset="0"/>
                <a:cs typeface="Consolas" panose="020B0609020204030204" pitchFamily="49" charset="0"/>
              </a:rPr>
              <a:t>&gt;i=</a:t>
            </a:r>
            <a:r>
              <a:rPr lang="en-US" sz="1749" dirty="0">
                <a:solidFill>
                  <a:schemeClr val="bg1"/>
                </a:solidFill>
                <a:latin typeface="Arial Narrow" panose="020B0606020202030204" pitchFamily="34" charset="0"/>
                <a:cs typeface="Consolas" panose="020B0609020204030204" pitchFamily="49" charset="0"/>
              </a:rPr>
              <a:t>?????</a:t>
            </a:r>
          </a:p>
          <a:p>
            <a:endParaRPr lang="en-US" sz="1749" dirty="0">
              <a:solidFill>
                <a:prstClr val="white">
                  <a:lumMod val="85000"/>
                </a:prstClr>
              </a:solidFill>
              <a:latin typeface="Arial Narrow" panose="020B0606020202030204" pitchFamily="34" charset="0"/>
              <a:cs typeface="Consolas" panose="020B0609020204030204" pitchFamily="49" charset="0"/>
            </a:endParaRP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264" name="Rectangle 263"/>
          <p:cNvSpPr/>
          <p:nvPr/>
        </p:nvSpPr>
        <p:spPr>
          <a:xfrm>
            <a:off x="6188675" y="5999393"/>
            <a:ext cx="3438210" cy="2350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Tree>
    <p:extLst>
      <p:ext uri="{BB962C8B-B14F-4D97-AF65-F5344CB8AC3E}">
        <p14:creationId xmlns:p14="http://schemas.microsoft.com/office/powerpoint/2010/main" val="280339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264"/>
                                        </p:tgtEl>
                                      </p:cBhvr>
                                    </p:animEffect>
                                    <p:set>
                                      <p:cBhvr>
                                        <p:cTn id="7" dur="1" fill="hold">
                                          <p:stCondLst>
                                            <p:cond delay="499"/>
                                          </p:stCondLst>
                                        </p:cTn>
                                        <p:tgtEl>
                                          <p:spTgt spid="2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a:t>
            </a:r>
            <a:r>
              <a:rPr lang="en-US" sz="1431" dirty="0" err="1">
                <a:latin typeface="Consolas" panose="020B0609020204030204" pitchFamily="49" charset="0"/>
                <a:cs typeface="Consolas" panose="020B0609020204030204" pitchFamily="49" charset="0"/>
              </a:rPr>
              <a:t>struct</a:t>
            </a:r>
            <a:r>
              <a:rPr lang="en-US" sz="1431" dirty="0">
                <a:latin typeface="Consolas" panose="020B0609020204030204" pitchFamily="49" charset="0"/>
                <a:cs typeface="Consolas" panose="020B0609020204030204" pitchFamily="49" charset="0"/>
              </a:rPr>
              <a:t>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many;</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many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("many=%u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(many),</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a:t>
            </a:r>
          </a:p>
        </p:txBody>
      </p:sp>
      <p:sp>
        <p:nvSpPr>
          <p:cNvPr id="87" name="Rectangle 8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dirty="0" err="1">
                <a:solidFill>
                  <a:srgbClr val="5B9BD5">
                    <a:lumMod val="75000"/>
                  </a:srgbClr>
                </a:solidFill>
                <a:latin typeface="Times New Roman" panose="02020603050405020304" pitchFamily="18" charset="0"/>
                <a:cs typeface="Times New Roman" panose="02020603050405020304" pitchFamily="18" charset="0"/>
              </a:rPr>
              <a:t>structs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255" name="Rectangle 254"/>
          <p:cNvSpPr/>
          <p:nvPr/>
        </p:nvSpPr>
        <p:spPr>
          <a:xfrm>
            <a:off x="6126480" y="4937760"/>
            <a:ext cx="3551363" cy="188114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rtlCol="0" anchor="ctr"/>
          <a:lstStyle/>
          <a:p>
            <a:r>
              <a:rPr lang="en-US" sz="1749" dirty="0">
                <a:solidFill>
                  <a:prstClr val="white">
                    <a:lumMod val="85000"/>
                  </a:prstClr>
                </a:solidFill>
                <a:latin typeface="Arial Narrow" panose="020B0606020202030204" pitchFamily="34" charset="0"/>
                <a:cs typeface="Consolas" panose="020B0609020204030204" pitchFamily="49" charset="0"/>
              </a:rPr>
              <a:t>% </a:t>
            </a:r>
            <a:r>
              <a:rPr lang="en-US" sz="1749" dirty="0" err="1">
                <a:solidFill>
                  <a:prstClr val="white">
                    <a:lumMod val="85000"/>
                  </a:prstClr>
                </a:solidFill>
                <a:latin typeface="Arial Narrow" panose="020B0606020202030204" pitchFamily="34" charset="0"/>
                <a:cs typeface="Consolas" panose="020B0609020204030204" pitchFamily="49" charset="0"/>
              </a:rPr>
              <a:t>gcc</a:t>
            </a:r>
            <a:r>
              <a:rPr lang="en-US" sz="1749" dirty="0">
                <a:solidFill>
                  <a:prstClr val="white">
                    <a:lumMod val="85000"/>
                  </a:prstClr>
                </a:solidFill>
                <a:latin typeface="Arial Narrow" panose="020B0606020202030204" pitchFamily="34" charset="0"/>
                <a:cs typeface="Consolas" panose="020B0609020204030204" pitchFamily="49" charset="0"/>
              </a:rPr>
              <a:t> -o </a:t>
            </a:r>
            <a:r>
              <a:rPr lang="en-US" sz="1749" dirty="0" err="1">
                <a:solidFill>
                  <a:prstClr val="white">
                    <a:lumMod val="85000"/>
                  </a:prstClr>
                </a:solidFill>
                <a:latin typeface="Arial Narrow" panose="020B0606020202030204" pitchFamily="34" charset="0"/>
                <a:cs typeface="Consolas" panose="020B0609020204030204" pitchFamily="49" charset="0"/>
              </a:rPr>
              <a:t>struct.x</a:t>
            </a:r>
            <a:r>
              <a:rPr lang="en-US" sz="1749" dirty="0">
                <a:solidFill>
                  <a:prstClr val="white">
                    <a:lumMod val="85000"/>
                  </a:prstClr>
                </a:solidFill>
                <a:latin typeface="Arial Narrow" panose="020B0606020202030204" pitchFamily="34" charset="0"/>
                <a:cs typeface="Consolas" panose="020B0609020204030204" pitchFamily="49" charset="0"/>
              </a:rPr>
              <a:t> </a:t>
            </a:r>
            <a:r>
              <a:rPr lang="en-US" sz="1749" dirty="0" err="1">
                <a:solidFill>
                  <a:prstClr val="white">
                    <a:lumMod val="85000"/>
                  </a:prstClr>
                </a:solidFill>
                <a:latin typeface="Arial Narrow" panose="020B0606020202030204" pitchFamily="34" charset="0"/>
                <a:cs typeface="Consolas" panose="020B0609020204030204" pitchFamily="49" charset="0"/>
              </a:rPr>
              <a:t>struct.c</a:t>
            </a:r>
            <a:endParaRPr lang="en-US" sz="1749" dirty="0">
              <a:solidFill>
                <a:prstClr val="white">
                  <a:lumMod val="85000"/>
                </a:prstClr>
              </a:solidFill>
              <a:latin typeface="Arial Narrow" panose="020B0606020202030204" pitchFamily="34" charset="0"/>
              <a:cs typeface="Consolas" panose="020B0609020204030204" pitchFamily="49" charset="0"/>
            </a:endParaRPr>
          </a:p>
          <a:p>
            <a:r>
              <a:rPr lang="en-US" sz="1749" dirty="0">
                <a:solidFill>
                  <a:prstClr val="white">
                    <a:lumMod val="85000"/>
                  </a:prstClr>
                </a:solidFill>
                <a:latin typeface="Arial Narrow" panose="020B0606020202030204" pitchFamily="34" charset="0"/>
                <a:cs typeface="Consolas" panose="020B0609020204030204" pitchFamily="49" charset="0"/>
              </a:rPr>
              <a:t>% ./</a:t>
            </a:r>
            <a:r>
              <a:rPr lang="en-US" sz="1749" dirty="0" err="1">
                <a:solidFill>
                  <a:prstClr val="white">
                    <a:lumMod val="85000"/>
                  </a:prstClr>
                </a:solidFill>
                <a:latin typeface="Arial Narrow" panose="020B0606020202030204" pitchFamily="34" charset="0"/>
                <a:cs typeface="Consolas" panose="020B0609020204030204" pitchFamily="49" charset="0"/>
              </a:rPr>
              <a:t>struct.x</a:t>
            </a:r>
            <a:endParaRPr lang="en-US" sz="1749" dirty="0">
              <a:solidFill>
                <a:prstClr val="white">
                  <a:lumMod val="85000"/>
                </a:prstClr>
              </a:solidFill>
              <a:latin typeface="Arial Narrow" panose="020B0606020202030204" pitchFamily="34" charset="0"/>
              <a:cs typeface="Consolas" panose="020B0609020204030204" pitchFamily="49" charset="0"/>
            </a:endParaRPr>
          </a:p>
          <a:p>
            <a:r>
              <a:rPr lang="en-US" sz="1749" dirty="0">
                <a:solidFill>
                  <a:prstClr val="white">
                    <a:lumMod val="85000"/>
                  </a:prstClr>
                </a:solidFill>
                <a:latin typeface="Arial Narrow" panose="020B0606020202030204" pitchFamily="34" charset="0"/>
                <a:cs typeface="Consolas" panose="020B0609020204030204" pitchFamily="49" charset="0"/>
              </a:rPr>
              <a:t>many=</a:t>
            </a:r>
            <a:r>
              <a:rPr lang="en-US" sz="1749" i="1" dirty="0">
                <a:solidFill>
                  <a:prstClr val="white">
                    <a:lumMod val="85000"/>
                  </a:prstClr>
                </a:solidFill>
                <a:latin typeface="Arial Narrow" panose="020B0606020202030204" pitchFamily="34" charset="0"/>
                <a:cs typeface="Consolas" panose="020B0609020204030204" pitchFamily="49" charset="0"/>
              </a:rPr>
              <a:t>33</a:t>
            </a:r>
            <a:r>
              <a:rPr lang="en-US" sz="1200" dirty="0">
                <a:solidFill>
                  <a:prstClr val="white">
                    <a:lumMod val="85000"/>
                  </a:prstClr>
                </a:solidFill>
                <a:latin typeface="Arial Narrow" panose="020B0606020202030204" pitchFamily="34" charset="0"/>
                <a:cs typeface="Consolas" panose="020B0609020204030204" pitchFamily="49" charset="0"/>
              </a:rPr>
              <a:t> </a:t>
            </a:r>
            <a:r>
              <a:rPr lang="en-US" sz="1590" dirty="0">
                <a:solidFill>
                  <a:prstClr val="white">
                    <a:lumMod val="85000"/>
                  </a:prstClr>
                </a:solidFill>
                <a:latin typeface="Arial Narrow" panose="020B0606020202030204" pitchFamily="34" charset="0"/>
                <a:cs typeface="Consolas" panose="020B0609020204030204" pitchFamily="49" charset="0"/>
              </a:rPr>
              <a:t> </a:t>
            </a:r>
            <a:r>
              <a:rPr lang="en-US" sz="1749" dirty="0">
                <a:solidFill>
                  <a:prstClr val="white">
                    <a:lumMod val="85000"/>
                  </a:prstClr>
                </a:solidFill>
                <a:latin typeface="Arial Narrow" panose="020B0606020202030204" pitchFamily="34" charset="0"/>
                <a:cs typeface="Consolas" panose="020B0609020204030204" pitchFamily="49" charset="0"/>
              </a:rPr>
              <a:t>(c=1</a:t>
            </a:r>
            <a:r>
              <a:rPr lang="en-US" sz="1400" dirty="0">
                <a:solidFill>
                  <a:prstClr val="white">
                    <a:lumMod val="85000"/>
                  </a:prstClr>
                </a:solidFill>
                <a:latin typeface="Arial Narrow" panose="020B0606020202030204" pitchFamily="34" charset="0"/>
                <a:cs typeface="Consolas" panose="020B0609020204030204" pitchFamily="49" charset="0"/>
              </a:rPr>
              <a:t> </a:t>
            </a:r>
            <a:r>
              <a:rPr lang="en-US" sz="1590" dirty="0">
                <a:solidFill>
                  <a:prstClr val="white">
                    <a:lumMod val="85000"/>
                  </a:prstClr>
                </a:solidFill>
                <a:latin typeface="Arial Narrow" panose="020B0606020202030204" pitchFamily="34" charset="0"/>
                <a:cs typeface="Consolas" panose="020B0609020204030204" pitchFamily="49" charset="0"/>
              </a:rPr>
              <a:t> </a:t>
            </a:r>
            <a:r>
              <a:rPr lang="en-US" sz="1749" dirty="0">
                <a:solidFill>
                  <a:prstClr val="white">
                    <a:lumMod val="85000"/>
                  </a:prstClr>
                </a:solidFill>
                <a:latin typeface="Arial Narrow" panose="020B0606020202030204" pitchFamily="34" charset="0"/>
                <a:cs typeface="Consolas" panose="020B0609020204030204" pitchFamily="49" charset="0"/>
              </a:rPr>
              <a:t>s=8</a:t>
            </a:r>
            <a:r>
              <a:rPr lang="en-US" sz="1400" dirty="0">
                <a:solidFill>
                  <a:prstClr val="white">
                    <a:lumMod val="85000"/>
                  </a:prstClr>
                </a:solidFill>
                <a:latin typeface="Arial Narrow" panose="020B0606020202030204" pitchFamily="34" charset="0"/>
                <a:cs typeface="Consolas" panose="020B0609020204030204" pitchFamily="49" charset="0"/>
              </a:rPr>
              <a:t>  </a:t>
            </a:r>
            <a:r>
              <a:rPr lang="en-US" sz="1749" dirty="0" err="1">
                <a:solidFill>
                  <a:prstClr val="white">
                    <a:lumMod val="85000"/>
                  </a:prstClr>
                </a:solidFill>
                <a:latin typeface="Arial Narrow" panose="020B0606020202030204" pitchFamily="34" charset="0"/>
                <a:cs typeface="Consolas" panose="020B0609020204030204" pitchFamily="49" charset="0"/>
              </a:rPr>
              <a:t>i</a:t>
            </a:r>
            <a:r>
              <a:rPr lang="en-US" sz="1749" dirty="0">
                <a:solidFill>
                  <a:prstClr val="white">
                    <a:lumMod val="85000"/>
                  </a:prstClr>
                </a:solidFill>
                <a:latin typeface="Arial Narrow" panose="020B0606020202030204" pitchFamily="34" charset="0"/>
                <a:cs typeface="Consolas" panose="020B0609020204030204" pitchFamily="49" charset="0"/>
              </a:rPr>
              <a:t>=4</a:t>
            </a:r>
            <a:r>
              <a:rPr lang="en-US" sz="1400" dirty="0">
                <a:solidFill>
                  <a:prstClr val="white">
                    <a:lumMod val="85000"/>
                  </a:prstClr>
                </a:solidFill>
                <a:latin typeface="Arial Narrow" panose="020B0606020202030204" pitchFamily="34" charset="0"/>
                <a:cs typeface="Consolas" panose="020B0609020204030204" pitchFamily="49" charset="0"/>
              </a:rPr>
              <a:t>  </a:t>
            </a:r>
            <a:r>
              <a:rPr lang="en-US" sz="1749" dirty="0">
                <a:solidFill>
                  <a:prstClr val="white">
                    <a:lumMod val="85000"/>
                  </a:prstClr>
                </a:solidFill>
                <a:latin typeface="Arial Narrow" panose="020B0606020202030204" pitchFamily="34" charset="0"/>
                <a:cs typeface="Consolas" panose="020B0609020204030204" pitchFamily="49" charset="0"/>
              </a:rPr>
              <a:t>l=4</a:t>
            </a:r>
            <a:r>
              <a:rPr lang="en-US" sz="1400" dirty="0">
                <a:solidFill>
                  <a:prstClr val="white">
                    <a:lumMod val="85000"/>
                  </a:prstClr>
                </a:solidFill>
                <a:latin typeface="Arial Narrow" panose="020B0606020202030204" pitchFamily="34" charset="0"/>
                <a:cs typeface="Consolas" panose="020B0609020204030204" pitchFamily="49" charset="0"/>
              </a:rPr>
              <a:t> </a:t>
            </a:r>
            <a:r>
              <a:rPr lang="en-US" sz="1590" dirty="0">
                <a:solidFill>
                  <a:prstClr val="white">
                    <a:lumMod val="85000"/>
                  </a:prstClr>
                </a:solidFill>
                <a:latin typeface="Arial Narrow" panose="020B0606020202030204" pitchFamily="34" charset="0"/>
                <a:cs typeface="Consolas" panose="020B0609020204030204" pitchFamily="49" charset="0"/>
              </a:rPr>
              <a:t> </a:t>
            </a:r>
            <a:r>
              <a:rPr lang="en-US" sz="1749" dirty="0">
                <a:solidFill>
                  <a:prstClr val="white">
                    <a:lumMod val="85000"/>
                  </a:prstClr>
                </a:solidFill>
                <a:latin typeface="Arial Narrow" panose="020B0606020202030204" pitchFamily="34" charset="0"/>
                <a:cs typeface="Consolas" panose="020B0609020204030204" pitchFamily="49" charset="0"/>
              </a:rPr>
              <a:t>u=4</a:t>
            </a:r>
            <a:r>
              <a:rPr lang="en-US" sz="1400" dirty="0">
                <a:solidFill>
                  <a:prstClr val="white">
                    <a:lumMod val="85000"/>
                  </a:prstClr>
                </a:solidFill>
                <a:latin typeface="Arial Narrow" panose="020B0606020202030204" pitchFamily="34" charset="0"/>
                <a:cs typeface="Consolas" panose="020B0609020204030204" pitchFamily="49" charset="0"/>
              </a:rPr>
              <a:t> </a:t>
            </a:r>
            <a:r>
              <a:rPr lang="en-US" sz="1590" dirty="0">
                <a:solidFill>
                  <a:prstClr val="white">
                    <a:lumMod val="85000"/>
                  </a:prstClr>
                </a:solidFill>
                <a:latin typeface="Arial Narrow" panose="020B0606020202030204" pitchFamily="34" charset="0"/>
                <a:cs typeface="Consolas" panose="020B0609020204030204" pitchFamily="49" charset="0"/>
              </a:rPr>
              <a:t> </a:t>
            </a:r>
            <a:r>
              <a:rPr lang="en-US" sz="1749" dirty="0">
                <a:solidFill>
                  <a:prstClr val="white">
                    <a:lumMod val="85000"/>
                  </a:prstClr>
                </a:solidFill>
                <a:latin typeface="Arial Narrow" panose="020B0606020202030204" pitchFamily="34" charset="0"/>
                <a:cs typeface="Consolas" panose="020B0609020204030204" pitchFamily="49" charset="0"/>
              </a:rPr>
              <a:t>f=4</a:t>
            </a:r>
            <a:r>
              <a:rPr lang="en-US" sz="1400" dirty="0">
                <a:solidFill>
                  <a:prstClr val="white">
                    <a:lumMod val="85000"/>
                  </a:prstClr>
                </a:solidFill>
                <a:latin typeface="Arial Narrow" panose="020B0606020202030204" pitchFamily="34" charset="0"/>
                <a:cs typeface="Consolas" panose="020B0609020204030204" pitchFamily="49" charset="0"/>
              </a:rPr>
              <a:t> </a:t>
            </a:r>
            <a:r>
              <a:rPr lang="en-US" sz="1590" dirty="0">
                <a:solidFill>
                  <a:prstClr val="white">
                    <a:lumMod val="85000"/>
                  </a:prstClr>
                </a:solidFill>
                <a:latin typeface="Arial Narrow" panose="020B0606020202030204" pitchFamily="34" charset="0"/>
                <a:cs typeface="Consolas" panose="020B0609020204030204" pitchFamily="49" charset="0"/>
              </a:rPr>
              <a:t> </a:t>
            </a:r>
            <a:r>
              <a:rPr lang="en-US" sz="1749" dirty="0">
                <a:solidFill>
                  <a:prstClr val="white">
                    <a:lumMod val="85000"/>
                  </a:prstClr>
                </a:solidFill>
                <a:latin typeface="Arial Narrow" panose="020B0606020202030204" pitchFamily="34" charset="0"/>
                <a:cs typeface="Consolas" panose="020B0609020204030204" pitchFamily="49" charset="0"/>
              </a:rPr>
              <a:t>d=8)</a:t>
            </a:r>
          </a:p>
          <a:p>
            <a:r>
              <a:rPr lang="pl-PL" sz="1749" dirty="0">
                <a:solidFill>
                  <a:prstClr val="white">
                    <a:lumMod val="85000"/>
                  </a:prstClr>
                </a:solidFill>
                <a:latin typeface="Arial Narrow" panose="020B0606020202030204" pitchFamily="34" charset="0"/>
                <a:cs typeface="Consolas" panose="020B0609020204030204" pitchFamily="49" charset="0"/>
              </a:rPr>
              <a:t>X</a:t>
            </a:r>
            <a:r>
              <a:rPr lang="pl-PL" sz="1749" b="1" dirty="0">
                <a:solidFill>
                  <a:prstClr val="white">
                    <a:lumMod val="85000"/>
                  </a:prstClr>
                </a:solidFill>
                <a:latin typeface="Felix Titling" panose="04060505060202020A04" pitchFamily="82" charset="0"/>
                <a:cs typeface="Consolas" panose="020B0609020204030204" pitchFamily="49" charset="0"/>
              </a:rPr>
              <a:t>-</a:t>
            </a:r>
            <a:r>
              <a:rPr lang="pl-PL" sz="1749" dirty="0">
                <a:solidFill>
                  <a:prstClr val="white">
                    <a:lumMod val="85000"/>
                  </a:prstClr>
                </a:solidFill>
                <a:latin typeface="Arial Narrow" panose="020B0606020202030204" pitchFamily="34" charset="0"/>
                <a:cs typeface="Consolas" panose="020B0609020204030204" pitchFamily="49" charset="0"/>
              </a:rPr>
              <a:t>&gt;c=A </a:t>
            </a:r>
            <a:r>
              <a:rPr lang="pl-PL" sz="1272" dirty="0">
                <a:solidFill>
                  <a:prstClr val="white">
                    <a:lumMod val="85000"/>
                  </a:prstClr>
                </a:solidFill>
                <a:latin typeface="Arial Narrow" panose="020B0606020202030204" pitchFamily="34" charset="0"/>
                <a:cs typeface="Consolas" panose="020B0609020204030204" pitchFamily="49" charset="0"/>
              </a:rPr>
              <a:t>  </a:t>
            </a:r>
            <a:r>
              <a:rPr lang="pl-PL" sz="1749" dirty="0">
                <a:solidFill>
                  <a:prstClr val="white">
                    <a:lumMod val="85000"/>
                  </a:prstClr>
                </a:solidFill>
                <a:latin typeface="Arial Narrow" panose="020B0606020202030204" pitchFamily="34" charset="0"/>
                <a:cs typeface="Consolas" panose="020B0609020204030204" pitchFamily="49" charset="0"/>
              </a:rPr>
              <a:t>Y</a:t>
            </a:r>
            <a:r>
              <a:rPr lang="pl-PL" sz="1749" b="1" dirty="0">
                <a:solidFill>
                  <a:prstClr val="white">
                    <a:lumMod val="85000"/>
                  </a:prstClr>
                </a:solidFill>
                <a:latin typeface="Felix Titling" panose="04060505060202020A04" pitchFamily="82" charset="0"/>
                <a:cs typeface="Consolas" panose="020B0609020204030204" pitchFamily="49" charset="0"/>
              </a:rPr>
              <a:t>-</a:t>
            </a:r>
            <a:r>
              <a:rPr lang="pl-PL" sz="1749" dirty="0">
                <a:solidFill>
                  <a:prstClr val="white">
                    <a:lumMod val="85000"/>
                  </a:prstClr>
                </a:solidFill>
                <a:latin typeface="Arial Narrow" panose="020B0606020202030204" pitchFamily="34" charset="0"/>
                <a:cs typeface="Consolas" panose="020B0609020204030204" pitchFamily="49" charset="0"/>
              </a:rPr>
              <a:t>&gt;f=6.000000</a:t>
            </a:r>
            <a:r>
              <a:rPr lang="pl-PL" sz="1272" dirty="0">
                <a:solidFill>
                  <a:prstClr val="white">
                    <a:lumMod val="85000"/>
                  </a:prstClr>
                </a:solidFill>
                <a:latin typeface="Arial Narrow" panose="020B0606020202030204" pitchFamily="34" charset="0"/>
                <a:cs typeface="Consolas" panose="020B0609020204030204" pitchFamily="49" charset="0"/>
              </a:rPr>
              <a:t>   </a:t>
            </a:r>
            <a:r>
              <a:rPr lang="pl-PL" sz="1749" dirty="0">
                <a:solidFill>
                  <a:prstClr val="white">
                    <a:lumMod val="85000"/>
                  </a:prstClr>
                </a:solidFill>
                <a:latin typeface="Arial Narrow" panose="020B0606020202030204" pitchFamily="34" charset="0"/>
                <a:cs typeface="Consolas" panose="020B0609020204030204" pitchFamily="49" charset="0"/>
              </a:rPr>
              <a:t>Z</a:t>
            </a:r>
            <a:r>
              <a:rPr lang="pl-PL" sz="1749" b="1" dirty="0">
                <a:solidFill>
                  <a:prstClr val="white">
                    <a:lumMod val="85000"/>
                  </a:prstClr>
                </a:solidFill>
                <a:latin typeface="Felix Titling" panose="04060505060202020A04" pitchFamily="82" charset="0"/>
                <a:cs typeface="Consolas" panose="020B0609020204030204" pitchFamily="49" charset="0"/>
              </a:rPr>
              <a:t>-</a:t>
            </a:r>
            <a:r>
              <a:rPr lang="pl-PL" sz="1749" dirty="0">
                <a:solidFill>
                  <a:prstClr val="white">
                    <a:lumMod val="85000"/>
                  </a:prstClr>
                </a:solidFill>
                <a:latin typeface="Arial Narrow" panose="020B0606020202030204" pitchFamily="34" charset="0"/>
                <a:cs typeface="Consolas" panose="020B0609020204030204" pitchFamily="49" charset="0"/>
              </a:rPr>
              <a:t>&gt;i=6</a:t>
            </a:r>
          </a:p>
          <a:p>
            <a:r>
              <a:rPr lang="pl-PL" sz="1749" dirty="0">
                <a:solidFill>
                  <a:prstClr val="white">
                    <a:lumMod val="85000"/>
                  </a:prstClr>
                </a:solidFill>
                <a:latin typeface="Arial Narrow" panose="020B0606020202030204" pitchFamily="34" charset="0"/>
                <a:cs typeface="Consolas" panose="020B0609020204030204" pitchFamily="49" charset="0"/>
              </a:rPr>
              <a:t>X</a:t>
            </a:r>
            <a:r>
              <a:rPr lang="pl-PL" sz="1749" b="1" dirty="0">
                <a:solidFill>
                  <a:prstClr val="white">
                    <a:lumMod val="85000"/>
                  </a:prstClr>
                </a:solidFill>
                <a:latin typeface="Felix Titling" panose="04060505060202020A04" pitchFamily="82" charset="0"/>
                <a:cs typeface="Consolas" panose="020B0609020204030204" pitchFamily="49" charset="0"/>
              </a:rPr>
              <a:t>-</a:t>
            </a:r>
            <a:r>
              <a:rPr lang="pl-PL" sz="1749" dirty="0">
                <a:solidFill>
                  <a:prstClr val="white">
                    <a:lumMod val="85000"/>
                  </a:prstClr>
                </a:solidFill>
                <a:latin typeface="Arial Narrow" panose="020B0606020202030204" pitchFamily="34" charset="0"/>
                <a:cs typeface="Consolas" panose="020B0609020204030204" pitchFamily="49" charset="0"/>
              </a:rPr>
              <a:t>&gt;c=A </a:t>
            </a:r>
            <a:r>
              <a:rPr lang="pl-PL" sz="1272" dirty="0">
                <a:solidFill>
                  <a:prstClr val="white">
                    <a:lumMod val="85000"/>
                  </a:prstClr>
                </a:solidFill>
                <a:latin typeface="Arial Narrow" panose="020B0606020202030204" pitchFamily="34" charset="0"/>
                <a:cs typeface="Consolas" panose="020B0609020204030204" pitchFamily="49" charset="0"/>
              </a:rPr>
              <a:t>  </a:t>
            </a:r>
            <a:r>
              <a:rPr lang="pl-PL" sz="1749" dirty="0">
                <a:solidFill>
                  <a:prstClr val="white">
                    <a:lumMod val="85000"/>
                  </a:prstClr>
                </a:solidFill>
                <a:latin typeface="Arial Narrow" panose="020B0606020202030204" pitchFamily="34" charset="0"/>
                <a:cs typeface="Consolas" panose="020B0609020204030204" pitchFamily="49" charset="0"/>
              </a:rPr>
              <a:t>Y</a:t>
            </a:r>
            <a:r>
              <a:rPr lang="pl-PL" sz="1749" b="1" dirty="0">
                <a:solidFill>
                  <a:prstClr val="white">
                    <a:lumMod val="85000"/>
                  </a:prstClr>
                </a:solidFill>
                <a:latin typeface="Felix Titling" panose="04060505060202020A04" pitchFamily="82" charset="0"/>
                <a:cs typeface="Consolas" panose="020B0609020204030204" pitchFamily="49" charset="0"/>
              </a:rPr>
              <a:t>-</a:t>
            </a:r>
            <a:r>
              <a:rPr lang="pl-PL" sz="1749" dirty="0">
                <a:solidFill>
                  <a:prstClr val="white">
                    <a:lumMod val="85000"/>
                  </a:prstClr>
                </a:solidFill>
                <a:latin typeface="Arial Narrow" panose="020B0606020202030204" pitchFamily="34" charset="0"/>
                <a:cs typeface="Consolas" panose="020B0609020204030204" pitchFamily="49" charset="0"/>
              </a:rPr>
              <a:t>&gt;f=6.000000</a:t>
            </a:r>
            <a:r>
              <a:rPr lang="pl-PL" sz="1272" dirty="0">
                <a:solidFill>
                  <a:prstClr val="white">
                    <a:lumMod val="85000"/>
                  </a:prstClr>
                </a:solidFill>
                <a:latin typeface="Arial Narrow" panose="020B0606020202030204" pitchFamily="34" charset="0"/>
                <a:cs typeface="Consolas" panose="020B0609020204030204" pitchFamily="49" charset="0"/>
              </a:rPr>
              <a:t>   </a:t>
            </a:r>
            <a:r>
              <a:rPr lang="pl-PL" sz="1749" dirty="0">
                <a:solidFill>
                  <a:prstClr val="white">
                    <a:lumMod val="85000"/>
                  </a:prstClr>
                </a:solidFill>
                <a:latin typeface="Arial Narrow" panose="020B0606020202030204" pitchFamily="34" charset="0"/>
                <a:cs typeface="Consolas" panose="020B0609020204030204" pitchFamily="49" charset="0"/>
              </a:rPr>
              <a:t>Z</a:t>
            </a:r>
            <a:r>
              <a:rPr lang="pl-PL" sz="1749" b="1" dirty="0">
                <a:solidFill>
                  <a:prstClr val="white">
                    <a:lumMod val="85000"/>
                  </a:prstClr>
                </a:solidFill>
                <a:latin typeface="Felix Titling" panose="04060505060202020A04" pitchFamily="82" charset="0"/>
                <a:cs typeface="Consolas" panose="020B0609020204030204" pitchFamily="49" charset="0"/>
              </a:rPr>
              <a:t>-</a:t>
            </a:r>
            <a:r>
              <a:rPr lang="pl-PL" sz="1749" dirty="0">
                <a:solidFill>
                  <a:prstClr val="white">
                    <a:lumMod val="85000"/>
                  </a:prstClr>
                </a:solidFill>
                <a:latin typeface="Arial Narrow" panose="020B0606020202030204" pitchFamily="34" charset="0"/>
                <a:cs typeface="Consolas" panose="020B0609020204030204" pitchFamily="49" charset="0"/>
              </a:rPr>
              <a:t>&gt;i=</a:t>
            </a:r>
            <a:r>
              <a:rPr lang="en-US" sz="1749" dirty="0">
                <a:solidFill>
                  <a:prstClr val="white">
                    <a:lumMod val="85000"/>
                  </a:prstClr>
                </a:solidFill>
                <a:latin typeface="Arial Narrow" panose="020B0606020202030204" pitchFamily="34" charset="0"/>
                <a:cs typeface="Consolas" panose="020B0609020204030204" pitchFamily="49" charset="0"/>
              </a:rPr>
              <a:t>?????</a:t>
            </a:r>
          </a:p>
          <a:p>
            <a:r>
              <a:rPr lang="en-US" sz="1749" dirty="0">
                <a:solidFill>
                  <a:prstClr val="white">
                    <a:lumMod val="85000"/>
                  </a:prstClr>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grpSp>
        <p:nvGrpSpPr>
          <p:cNvPr id="6" name="Group 5"/>
          <p:cNvGrpSpPr/>
          <p:nvPr/>
        </p:nvGrpSpPr>
        <p:grpSpPr>
          <a:xfrm>
            <a:off x="1509766" y="3402321"/>
            <a:ext cx="4548039" cy="1692724"/>
            <a:chOff x="1875988" y="3395443"/>
            <a:chExt cx="5720429" cy="2129073"/>
          </a:xfrm>
        </p:grpSpPr>
        <p:sp>
          <p:nvSpPr>
            <p:cNvPr id="97" name="Rectangle 96"/>
            <p:cNvSpPr/>
            <p:nvPr/>
          </p:nvSpPr>
          <p:spPr>
            <a:xfrm>
              <a:off x="2469898" y="5206627"/>
              <a:ext cx="5126519" cy="310243"/>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98" name="Rectangle 197"/>
            <p:cNvSpPr/>
            <p:nvPr/>
          </p:nvSpPr>
          <p:spPr>
            <a:xfrm>
              <a:off x="2469898" y="4584835"/>
              <a:ext cx="5126519" cy="310243"/>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2469898" y="3962620"/>
              <a:ext cx="5126519" cy="310243"/>
            </a:xfrm>
            <a:prstGeom prst="rect">
              <a:avLst/>
            </a:prstGeom>
            <a:solidFill>
              <a:srgbClr val="000000">
                <a:alpha val="20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1" name="Rectangle 40"/>
            <p:cNvSpPr/>
            <p:nvPr/>
          </p:nvSpPr>
          <p:spPr>
            <a:xfrm>
              <a:off x="3559628" y="43586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4180114" y="435660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7" name="Rectangle 46"/>
            <p:cNvSpPr/>
            <p:nvPr/>
          </p:nvSpPr>
          <p:spPr>
            <a:xfrm>
              <a:off x="4800600" y="4354525"/>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0" name="Rectangle 49"/>
            <p:cNvSpPr/>
            <p:nvPr/>
          </p:nvSpPr>
          <p:spPr>
            <a:xfrm>
              <a:off x="5421086" y="436217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3559628" y="4961805"/>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4180114" y="4959724"/>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4800600" y="495764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5421086" y="496528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1875988" y="4585194"/>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5" name="Rectangle 84"/>
            <p:cNvSpPr/>
            <p:nvPr/>
          </p:nvSpPr>
          <p:spPr>
            <a:xfrm>
              <a:off x="1875988" y="3962619"/>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5" name="Rectangle 94"/>
            <p:cNvSpPr/>
            <p:nvPr/>
          </p:nvSpPr>
          <p:spPr>
            <a:xfrm>
              <a:off x="7128767" y="520662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6510893" y="520314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7131379" y="520106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99" name="Straight Connector 98"/>
            <p:cNvCxnSpPr/>
            <p:nvPr/>
          </p:nvCxnSpPr>
          <p:spPr>
            <a:xfrm flipH="1">
              <a:off x="6510471"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6663729"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6819177"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6974625"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7130073"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7285521"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a:off x="5267309" y="520314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5887795" y="520106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08" name="Straight Connector 107"/>
            <p:cNvCxnSpPr/>
            <p:nvPr/>
          </p:nvCxnSpPr>
          <p:spPr>
            <a:xfrm flipH="1">
              <a:off x="6197385"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5266887"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5420145"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5575593"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5886489"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6041937"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17" name="Rectangle 116"/>
            <p:cNvSpPr/>
            <p:nvPr/>
          </p:nvSpPr>
          <p:spPr>
            <a:xfrm>
              <a:off x="4641599" y="5206627"/>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4023725" y="520314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4644211" y="520106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0" name="Straight Connector 119"/>
            <p:cNvCxnSpPr/>
            <p:nvPr/>
          </p:nvCxnSpPr>
          <p:spPr>
            <a:xfrm flipH="1">
              <a:off x="4953801"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4023303"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4176561"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H="1">
              <a:off x="4332009"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4642905"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4798353"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28" name="Rectangle 127"/>
            <p:cNvSpPr/>
            <p:nvPr/>
          </p:nvSpPr>
          <p:spPr>
            <a:xfrm>
              <a:off x="2780141" y="520314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3400627" y="5201062"/>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30" name="Straight Connector 129"/>
            <p:cNvCxnSpPr/>
            <p:nvPr/>
          </p:nvCxnSpPr>
          <p:spPr>
            <a:xfrm flipH="1">
              <a:off x="3710217"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2779719"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932977"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3088425"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3243873"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3399321"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3554769"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 name="Left Brace 13"/>
            <p:cNvSpPr/>
            <p:nvPr/>
          </p:nvSpPr>
          <p:spPr>
            <a:xfrm rot="5400000">
              <a:off x="5964213" y="479943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8" name="Left Brace 137"/>
            <p:cNvSpPr/>
            <p:nvPr/>
          </p:nvSpPr>
          <p:spPr>
            <a:xfrm rot="5400000">
              <a:off x="2469547" y="5029759"/>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rot="5400000">
              <a:off x="6904208" y="4493109"/>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0" name="Left Brace 139"/>
            <p:cNvSpPr/>
            <p:nvPr/>
          </p:nvSpPr>
          <p:spPr>
            <a:xfrm rot="5400000">
              <a:off x="4102359" y="479943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1" name="Left Brace 140"/>
            <p:cNvSpPr/>
            <p:nvPr/>
          </p:nvSpPr>
          <p:spPr>
            <a:xfrm rot="5400000">
              <a:off x="4721163" y="479943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2" name="Left Brace 141"/>
            <p:cNvSpPr/>
            <p:nvPr/>
          </p:nvSpPr>
          <p:spPr>
            <a:xfrm rot="5400000">
              <a:off x="5346153" y="4799432"/>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43" name="Left Brace 142"/>
            <p:cNvSpPr/>
            <p:nvPr/>
          </p:nvSpPr>
          <p:spPr>
            <a:xfrm rot="5400000">
              <a:off x="3168461" y="4485834"/>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4" name="Straight Connector 143"/>
            <p:cNvCxnSpPr/>
            <p:nvPr/>
          </p:nvCxnSpPr>
          <p:spPr>
            <a:xfrm flipH="1">
              <a:off x="7440969" y="5206626"/>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47" name="Rectangle 146"/>
            <p:cNvSpPr/>
            <p:nvPr/>
          </p:nvSpPr>
          <p:spPr>
            <a:xfrm>
              <a:off x="7128767" y="396262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6510893" y="395913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7131379" y="3957055"/>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1" name="Straight Connector 150"/>
            <p:cNvCxnSpPr/>
            <p:nvPr/>
          </p:nvCxnSpPr>
          <p:spPr>
            <a:xfrm flipH="1">
              <a:off x="6510471"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6663729"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6819177"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6974625"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7130073"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7285521"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57" name="Rectangle 156"/>
            <p:cNvSpPr/>
            <p:nvPr/>
          </p:nvSpPr>
          <p:spPr>
            <a:xfrm>
              <a:off x="5267309" y="395913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8" name="Rectangle 157"/>
            <p:cNvSpPr/>
            <p:nvPr/>
          </p:nvSpPr>
          <p:spPr>
            <a:xfrm>
              <a:off x="5887795" y="3957055"/>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59" name="Straight Connector 158"/>
            <p:cNvCxnSpPr/>
            <p:nvPr/>
          </p:nvCxnSpPr>
          <p:spPr>
            <a:xfrm flipH="1">
              <a:off x="6197385"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5266887"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5420145"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5575593"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5886489"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6041937"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76" name="Rectangle 175"/>
            <p:cNvSpPr/>
            <p:nvPr/>
          </p:nvSpPr>
          <p:spPr>
            <a:xfrm>
              <a:off x="4641599" y="396262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4023725" y="395913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4644211" y="3957055"/>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79" name="Straight Connector 178"/>
            <p:cNvCxnSpPr/>
            <p:nvPr/>
          </p:nvCxnSpPr>
          <p:spPr>
            <a:xfrm flipH="1">
              <a:off x="4953801"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H="1">
              <a:off x="4023303"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4176561"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H="1">
              <a:off x="4332009"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a:off x="4642905"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4798353"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87" name="Rectangle 186"/>
            <p:cNvSpPr/>
            <p:nvPr/>
          </p:nvSpPr>
          <p:spPr>
            <a:xfrm>
              <a:off x="2780141" y="395913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8" name="Rectangle 187"/>
            <p:cNvSpPr/>
            <p:nvPr/>
          </p:nvSpPr>
          <p:spPr>
            <a:xfrm>
              <a:off x="3400627" y="3957055"/>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89" name="Straight Connector 188"/>
            <p:cNvCxnSpPr/>
            <p:nvPr/>
          </p:nvCxnSpPr>
          <p:spPr>
            <a:xfrm flipH="1">
              <a:off x="3710217"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flipH="1">
              <a:off x="2779719"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flipH="1">
              <a:off x="2932977"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flipH="1">
              <a:off x="3088425"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3243873"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flipH="1">
              <a:off x="3399321"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3554769"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68" name="Left Brace 167"/>
            <p:cNvSpPr/>
            <p:nvPr/>
          </p:nvSpPr>
          <p:spPr>
            <a:xfrm rot="5400000">
              <a:off x="5964213" y="3555425"/>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69" name="Left Brace 168"/>
            <p:cNvSpPr/>
            <p:nvPr/>
          </p:nvSpPr>
          <p:spPr>
            <a:xfrm rot="5400000">
              <a:off x="2469547" y="3785752"/>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0" name="Left Brace 169"/>
            <p:cNvSpPr/>
            <p:nvPr/>
          </p:nvSpPr>
          <p:spPr>
            <a:xfrm rot="5400000">
              <a:off x="6904208" y="3249102"/>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rot="5400000">
              <a:off x="4102359" y="3555425"/>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2" name="Left Brace 171"/>
            <p:cNvSpPr/>
            <p:nvPr/>
          </p:nvSpPr>
          <p:spPr>
            <a:xfrm rot="5400000">
              <a:off x="4721163" y="3555425"/>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3" name="Left Brace 172"/>
            <p:cNvSpPr/>
            <p:nvPr/>
          </p:nvSpPr>
          <p:spPr>
            <a:xfrm rot="5400000">
              <a:off x="5346153" y="3555425"/>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4" name="Left Brace 173"/>
            <p:cNvSpPr/>
            <p:nvPr/>
          </p:nvSpPr>
          <p:spPr>
            <a:xfrm rot="5400000">
              <a:off x="3168461" y="3241827"/>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5" name="Straight Connector 174"/>
            <p:cNvCxnSpPr/>
            <p:nvPr/>
          </p:nvCxnSpPr>
          <p:spPr>
            <a:xfrm flipH="1">
              <a:off x="7440969" y="3962619"/>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199" name="Rectangle 198"/>
            <p:cNvSpPr/>
            <p:nvPr/>
          </p:nvSpPr>
          <p:spPr>
            <a:xfrm>
              <a:off x="7128767" y="4584835"/>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0" name="Rectangle 199"/>
            <p:cNvSpPr/>
            <p:nvPr/>
          </p:nvSpPr>
          <p:spPr>
            <a:xfrm>
              <a:off x="6510893" y="4581351"/>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1" name="Rectangle 200"/>
            <p:cNvSpPr/>
            <p:nvPr/>
          </p:nvSpPr>
          <p:spPr>
            <a:xfrm>
              <a:off x="7131379" y="457927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03" name="Straight Connector 202"/>
            <p:cNvCxnSpPr/>
            <p:nvPr/>
          </p:nvCxnSpPr>
          <p:spPr>
            <a:xfrm flipH="1">
              <a:off x="6510471"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6663729"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flipH="1">
              <a:off x="6819177"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flipH="1">
              <a:off x="6974625"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flipH="1">
              <a:off x="7130073"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flipH="1">
              <a:off x="7285521"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09" name="Rectangle 208"/>
            <p:cNvSpPr/>
            <p:nvPr/>
          </p:nvSpPr>
          <p:spPr>
            <a:xfrm>
              <a:off x="5267309" y="4581351"/>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0" name="Rectangle 209"/>
            <p:cNvSpPr/>
            <p:nvPr/>
          </p:nvSpPr>
          <p:spPr>
            <a:xfrm>
              <a:off x="5887795" y="457927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11" name="Straight Connector 210"/>
            <p:cNvCxnSpPr/>
            <p:nvPr/>
          </p:nvCxnSpPr>
          <p:spPr>
            <a:xfrm flipH="1">
              <a:off x="6197385"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flipH="1">
              <a:off x="5266887"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flipH="1">
              <a:off x="5420145"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flipH="1">
              <a:off x="5575593"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H="1">
              <a:off x="5886489"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flipH="1">
              <a:off x="6041937"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8" name="Rectangle 227"/>
            <p:cNvSpPr/>
            <p:nvPr/>
          </p:nvSpPr>
          <p:spPr>
            <a:xfrm>
              <a:off x="4641599" y="4584835"/>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9" name="Rectangle 228"/>
            <p:cNvSpPr/>
            <p:nvPr/>
          </p:nvSpPr>
          <p:spPr>
            <a:xfrm>
              <a:off x="4023725" y="4581351"/>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0" name="Rectangle 229"/>
            <p:cNvSpPr/>
            <p:nvPr/>
          </p:nvSpPr>
          <p:spPr>
            <a:xfrm>
              <a:off x="4644211" y="457927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31" name="Straight Connector 230"/>
            <p:cNvCxnSpPr/>
            <p:nvPr/>
          </p:nvCxnSpPr>
          <p:spPr>
            <a:xfrm flipH="1">
              <a:off x="4953801"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flipH="1">
              <a:off x="4023303"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flipH="1">
              <a:off x="4176561"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flipH="1">
              <a:off x="4332009"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flipH="1">
              <a:off x="4642905"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flipH="1">
              <a:off x="4798353"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39" name="Rectangle 238"/>
            <p:cNvSpPr/>
            <p:nvPr/>
          </p:nvSpPr>
          <p:spPr>
            <a:xfrm>
              <a:off x="2780141" y="4581351"/>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40" name="Rectangle 239"/>
            <p:cNvSpPr/>
            <p:nvPr/>
          </p:nvSpPr>
          <p:spPr>
            <a:xfrm>
              <a:off x="3400627" y="457927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241" name="Straight Connector 240"/>
            <p:cNvCxnSpPr/>
            <p:nvPr/>
          </p:nvCxnSpPr>
          <p:spPr>
            <a:xfrm flipH="1">
              <a:off x="3710217"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flipH="1">
              <a:off x="2779719"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H="1">
              <a:off x="2932977"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flipH="1">
              <a:off x="3088425"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flipH="1">
              <a:off x="3243873"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flipH="1">
              <a:off x="3399321"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H="1">
              <a:off x="3554769"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20" name="Left Brace 219"/>
            <p:cNvSpPr/>
            <p:nvPr/>
          </p:nvSpPr>
          <p:spPr>
            <a:xfrm rot="5400000">
              <a:off x="5964213" y="4177640"/>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1" name="Left Brace 220"/>
            <p:cNvSpPr/>
            <p:nvPr/>
          </p:nvSpPr>
          <p:spPr>
            <a:xfrm rot="5400000">
              <a:off x="2469547" y="4407967"/>
              <a:ext cx="155122" cy="1245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2" name="Left Brace 221"/>
            <p:cNvSpPr/>
            <p:nvPr/>
          </p:nvSpPr>
          <p:spPr>
            <a:xfrm rot="5400000">
              <a:off x="6904208" y="3871317"/>
              <a:ext cx="155122" cy="11978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3" name="Left Brace 222"/>
            <p:cNvSpPr/>
            <p:nvPr/>
          </p:nvSpPr>
          <p:spPr>
            <a:xfrm rot="5400000">
              <a:off x="4102359" y="4177640"/>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4" name="Left Brace 223"/>
            <p:cNvSpPr/>
            <p:nvPr/>
          </p:nvSpPr>
          <p:spPr>
            <a:xfrm rot="5400000">
              <a:off x="4721163" y="4177640"/>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5" name="Left Brace 224"/>
            <p:cNvSpPr/>
            <p:nvPr/>
          </p:nvSpPr>
          <p:spPr>
            <a:xfrm rot="5400000">
              <a:off x="5346153" y="4177640"/>
              <a:ext cx="155122" cy="5852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26" name="Left Brace 225"/>
            <p:cNvSpPr/>
            <p:nvPr/>
          </p:nvSpPr>
          <p:spPr>
            <a:xfrm rot="5400000">
              <a:off x="3168461" y="3864042"/>
              <a:ext cx="155122" cy="12124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227" name="Straight Connector 226"/>
            <p:cNvCxnSpPr/>
            <p:nvPr/>
          </p:nvCxnSpPr>
          <p:spPr>
            <a:xfrm flipH="1">
              <a:off x="7440969" y="4584834"/>
              <a:ext cx="1" cy="317890"/>
            </a:xfrm>
            <a:prstGeom prst="line">
              <a:avLst/>
            </a:prstGeom>
            <a:ln w="12700">
              <a:solidFill>
                <a:srgbClr val="41719C"/>
              </a:solidFill>
              <a:prstDash val="dash"/>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2311219" y="3395443"/>
              <a:ext cx="5284474" cy="365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black"/>
                  </a:solidFill>
                </a:rPr>
                <a:t> c       s          </a:t>
              </a:r>
              <a:r>
                <a:rPr lang="en-US" sz="2226" dirty="0" err="1">
                  <a:solidFill>
                    <a:prstClr val="black"/>
                  </a:solidFill>
                </a:rPr>
                <a:t>i</a:t>
              </a:r>
              <a:r>
                <a:rPr lang="en-US" sz="2226" dirty="0">
                  <a:solidFill>
                    <a:prstClr val="black"/>
                  </a:solidFill>
                </a:rPr>
                <a:t>      </a:t>
              </a:r>
              <a:r>
                <a:rPr lang="en-US" sz="1431" dirty="0">
                  <a:solidFill>
                    <a:prstClr val="black"/>
                  </a:solidFill>
                </a:rPr>
                <a:t> </a:t>
              </a:r>
              <a:r>
                <a:rPr lang="en-US" sz="2226" dirty="0">
                  <a:solidFill>
                    <a:prstClr val="black"/>
                  </a:solidFill>
                </a:rPr>
                <a:t>l      u     </a:t>
              </a:r>
              <a:r>
                <a:rPr lang="en-US" sz="2147" dirty="0">
                  <a:solidFill>
                    <a:prstClr val="black"/>
                  </a:solidFill>
                </a:rPr>
                <a:t> </a:t>
              </a:r>
              <a:r>
                <a:rPr lang="en-US" sz="2226" dirty="0">
                  <a:solidFill>
                    <a:prstClr val="black"/>
                  </a:solidFill>
                </a:rPr>
                <a:t>f         </a:t>
              </a:r>
              <a:r>
                <a:rPr lang="en-US" sz="1908" dirty="0">
                  <a:solidFill>
                    <a:prstClr val="black"/>
                  </a:solidFill>
                </a:rPr>
                <a:t> </a:t>
              </a:r>
              <a:r>
                <a:rPr lang="en-US" sz="2226" dirty="0">
                  <a:solidFill>
                    <a:prstClr val="black"/>
                  </a:solidFill>
                </a:rPr>
                <a:t>d </a:t>
              </a:r>
            </a:p>
          </p:txBody>
        </p:sp>
        <p:sp>
          <p:nvSpPr>
            <p:cNvPr id="2" name="Rectangle 1"/>
            <p:cNvSpPr/>
            <p:nvPr/>
          </p:nvSpPr>
          <p:spPr>
            <a:xfrm>
              <a:off x="3866972" y="4595418"/>
              <a:ext cx="624598" cy="3102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6</a:t>
              </a:r>
            </a:p>
          </p:txBody>
        </p:sp>
        <p:sp>
          <p:nvSpPr>
            <p:cNvPr id="197" name="Rectangle 196"/>
            <p:cNvSpPr/>
            <p:nvPr/>
          </p:nvSpPr>
          <p:spPr>
            <a:xfrm>
              <a:off x="2469898" y="3957055"/>
              <a:ext cx="150994" cy="3102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109" name="Straight Connector 108"/>
            <p:cNvCxnSpPr/>
            <p:nvPr/>
          </p:nvCxnSpPr>
          <p:spPr>
            <a:xfrm flipH="1">
              <a:off x="5109249" y="520662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flipH="1">
              <a:off x="5109249" y="4584834"/>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5109249" y="3962619"/>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3865665" y="3962619"/>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H="1">
              <a:off x="4487457" y="3962619"/>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2622081" y="3962619"/>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5731041" y="3962619"/>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6352833" y="3962619"/>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2469898" y="3962620"/>
              <a:ext cx="5126519"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9" name="Rectangle 218"/>
            <p:cNvSpPr/>
            <p:nvPr/>
          </p:nvSpPr>
          <p:spPr>
            <a:xfrm>
              <a:off x="2469898" y="5202936"/>
              <a:ext cx="150224" cy="3102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B</a:t>
              </a:r>
            </a:p>
          </p:txBody>
        </p:sp>
        <p:cxnSp>
          <p:nvCxnSpPr>
            <p:cNvPr id="131" name="Straight Connector 130"/>
            <p:cNvCxnSpPr/>
            <p:nvPr/>
          </p:nvCxnSpPr>
          <p:spPr>
            <a:xfrm flipH="1">
              <a:off x="2622081" y="520662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0" name="Rectangle 249"/>
            <p:cNvSpPr/>
            <p:nvPr/>
          </p:nvSpPr>
          <p:spPr>
            <a:xfrm>
              <a:off x="5735189" y="5205014"/>
              <a:ext cx="608625" cy="3102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113" name="Straight Connector 112"/>
            <p:cNvCxnSpPr/>
            <p:nvPr/>
          </p:nvCxnSpPr>
          <p:spPr>
            <a:xfrm flipH="1">
              <a:off x="5731041" y="520662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6352833" y="520662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1" name="Rectangle 250"/>
            <p:cNvSpPr/>
            <p:nvPr/>
          </p:nvSpPr>
          <p:spPr>
            <a:xfrm>
              <a:off x="3882944" y="5205014"/>
              <a:ext cx="608625" cy="3102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b="1" dirty="0">
                  <a:solidFill>
                    <a:prstClr val="black"/>
                  </a:solidFill>
                  <a:latin typeface="Times New Roman" panose="02020603050405020304" pitchFamily="18" charset="0"/>
                  <a:cs typeface="Times New Roman" panose="02020603050405020304" pitchFamily="18" charset="0"/>
                </a:rPr>
                <a:t>?</a:t>
              </a:r>
            </a:p>
          </p:txBody>
        </p:sp>
        <p:cxnSp>
          <p:nvCxnSpPr>
            <p:cNvPr id="232" name="Straight Connector 231"/>
            <p:cNvCxnSpPr/>
            <p:nvPr/>
          </p:nvCxnSpPr>
          <p:spPr>
            <a:xfrm flipH="1">
              <a:off x="3865665" y="4584834"/>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flipH="1">
              <a:off x="4487457" y="4584834"/>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2" name="Rectangle 251"/>
            <p:cNvSpPr/>
            <p:nvPr/>
          </p:nvSpPr>
          <p:spPr>
            <a:xfrm>
              <a:off x="6352180" y="4585073"/>
              <a:ext cx="1243512" cy="3102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6.0000000000</a:t>
              </a:r>
            </a:p>
          </p:txBody>
        </p:sp>
        <p:sp>
          <p:nvSpPr>
            <p:cNvPr id="253" name="Rectangle 252"/>
            <p:cNvSpPr/>
            <p:nvPr/>
          </p:nvSpPr>
          <p:spPr>
            <a:xfrm>
              <a:off x="2469898" y="4585073"/>
              <a:ext cx="150224" cy="3102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A</a:t>
              </a:r>
            </a:p>
          </p:txBody>
        </p:sp>
        <p:cxnSp>
          <p:nvCxnSpPr>
            <p:cNvPr id="242" name="Straight Connector 241"/>
            <p:cNvCxnSpPr/>
            <p:nvPr/>
          </p:nvCxnSpPr>
          <p:spPr>
            <a:xfrm flipH="1">
              <a:off x="2622081" y="4584834"/>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4" name="Rectangle 253"/>
            <p:cNvSpPr/>
            <p:nvPr/>
          </p:nvSpPr>
          <p:spPr>
            <a:xfrm>
              <a:off x="5733288" y="4581144"/>
              <a:ext cx="608625" cy="3102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31" spc="-80" dirty="0">
                  <a:solidFill>
                    <a:prstClr val="black"/>
                  </a:solidFill>
                </a:rPr>
                <a:t>6.0000</a:t>
              </a:r>
            </a:p>
          </p:txBody>
        </p:sp>
        <p:cxnSp>
          <p:nvCxnSpPr>
            <p:cNvPr id="216" name="Straight Connector 215"/>
            <p:cNvCxnSpPr/>
            <p:nvPr/>
          </p:nvCxnSpPr>
          <p:spPr>
            <a:xfrm flipH="1">
              <a:off x="5731041" y="4584834"/>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flipH="1">
              <a:off x="6352833" y="4584834"/>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60" name="Rectangle 259"/>
            <p:cNvSpPr/>
            <p:nvPr/>
          </p:nvSpPr>
          <p:spPr>
            <a:xfrm>
              <a:off x="2469898" y="4584835"/>
              <a:ext cx="5126519"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cxnSp>
          <p:nvCxnSpPr>
            <p:cNvPr id="121" name="Straight Connector 120"/>
            <p:cNvCxnSpPr/>
            <p:nvPr/>
          </p:nvCxnSpPr>
          <p:spPr>
            <a:xfrm flipH="1">
              <a:off x="3865665" y="520662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4487457" y="5206626"/>
              <a:ext cx="1" cy="317890"/>
            </a:xfrm>
            <a:prstGeom prst="line">
              <a:avLst/>
            </a:prstGeom>
            <a:ln w="12700">
              <a:solidFill>
                <a:srgbClr val="41719C"/>
              </a:solidFill>
              <a:prstDash val="solid"/>
            </a:ln>
          </p:spPr>
          <p:style>
            <a:lnRef idx="1">
              <a:schemeClr val="accent1"/>
            </a:lnRef>
            <a:fillRef idx="0">
              <a:schemeClr val="accent1"/>
            </a:fillRef>
            <a:effectRef idx="0">
              <a:schemeClr val="accent1"/>
            </a:effectRef>
            <a:fontRef idx="minor">
              <a:schemeClr val="tx1"/>
            </a:fontRef>
          </p:style>
        </p:cxnSp>
        <p:sp>
          <p:nvSpPr>
            <p:cNvPr id="259" name="Rectangle 258"/>
            <p:cNvSpPr/>
            <p:nvPr/>
          </p:nvSpPr>
          <p:spPr>
            <a:xfrm>
              <a:off x="2469898" y="5206627"/>
              <a:ext cx="5126519"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56" name="Rectangle 255"/>
            <p:cNvSpPr/>
            <p:nvPr/>
          </p:nvSpPr>
          <p:spPr>
            <a:xfrm>
              <a:off x="1875988" y="5188311"/>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grpSp>
    </p:spTree>
    <p:extLst>
      <p:ext uri="{BB962C8B-B14F-4D97-AF65-F5344CB8AC3E}">
        <p14:creationId xmlns:p14="http://schemas.microsoft.com/office/powerpoint/2010/main" val="291328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xit" presetSubtype="0" fill="hold" nodeType="withEffect">
                                  <p:stCondLst>
                                    <p:cond delay="0"/>
                                  </p:stCondLst>
                                  <p:childTnLst>
                                    <p:animEffect transition="out" filter="fade">
                                      <p:cBhvr>
                                        <p:cTn id="6" dur="1000"/>
                                        <p:tgtEl>
                                          <p:spTgt spid="6"/>
                                        </p:tgtEl>
                                      </p:cBhvr>
                                    </p:animEffect>
                                    <p:anim calcmode="lin" valueType="num">
                                      <p:cBhvr>
                                        <p:cTn id="7" dur="1000"/>
                                        <p:tgtEl>
                                          <p:spTgt spid="6"/>
                                        </p:tgtEl>
                                        <p:attrNameLst>
                                          <p:attrName>ppt_x</p:attrName>
                                        </p:attrNameLst>
                                      </p:cBhvr>
                                      <p:tavLst>
                                        <p:tav tm="0">
                                          <p:val>
                                            <p:strVal val="ppt_x"/>
                                          </p:val>
                                        </p:tav>
                                        <p:tav tm="100000">
                                          <p:val>
                                            <p:strVal val="ppt_x"/>
                                          </p:val>
                                        </p:tav>
                                      </p:tavLst>
                                    </p:anim>
                                    <p:anim calcmode="lin" valueType="num">
                                      <p:cBhvr>
                                        <p:cTn id="8" dur="1000"/>
                                        <p:tgtEl>
                                          <p:spTgt spid="6"/>
                                        </p:tgtEl>
                                        <p:attrNameLst>
                                          <p:attrName>ppt_y</p:attrName>
                                        </p:attrNameLst>
                                      </p:cBhvr>
                                      <p:tavLst>
                                        <p:tav tm="0">
                                          <p:val>
                                            <p:strVal val="ppt_y"/>
                                          </p:val>
                                        </p:tav>
                                        <p:tav tm="100000">
                                          <p:val>
                                            <p:strVal val="ppt_y+.1"/>
                                          </p:val>
                                        </p:tav>
                                      </p:tavLst>
                                    </p:anim>
                                    <p:set>
                                      <p:cBhvr>
                                        <p:cTn id="9" dur="1" fill="hold">
                                          <p:stCondLst>
                                            <p:cond delay="999"/>
                                          </p:stCondLst>
                                        </p:cTn>
                                        <p:tgtEl>
                                          <p:spTgt spid="6"/>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9" presetClass="exit" presetSubtype="0" fill="hold" grpId="0" nodeType="clickEffect">
                                  <p:stCondLst>
                                    <p:cond delay="0"/>
                                  </p:stCondLst>
                                  <p:childTnLst>
                                    <p:animEffect transition="out" filter="dissolve">
                                      <p:cBhvr>
                                        <p:cTn id="13" dur="500"/>
                                        <p:tgtEl>
                                          <p:spTgt spid="255"/>
                                        </p:tgtEl>
                                      </p:cBhvr>
                                    </p:animEffect>
                                    <p:set>
                                      <p:cBhvr>
                                        <p:cTn id="14" dur="1" fill="hold">
                                          <p:stCondLst>
                                            <p:cond delay="499"/>
                                          </p:stCondLst>
                                        </p:cTn>
                                        <p:tgtEl>
                                          <p:spTgt spid="2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*c=%u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a:t>
            </a:r>
          </a:p>
        </p:txBody>
      </p:sp>
      <p:sp>
        <p:nvSpPr>
          <p:cNvPr id="83" name="Rectangle 82"/>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u="sng" dirty="0">
                <a:solidFill>
                  <a:srgbClr val="5B9BD5">
                    <a:lumMod val="75000"/>
                  </a:srgbClr>
                </a:solidFill>
                <a:latin typeface="Times New Roman" panose="02020603050405020304" pitchFamily="18" charset="0"/>
                <a:cs typeface="Times New Roman" panose="02020603050405020304" pitchFamily="18" charset="0"/>
              </a:rPr>
              <a:t>unions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Tree>
    <p:extLst>
      <p:ext uri="{BB962C8B-B14F-4D97-AF65-F5344CB8AC3E}">
        <p14:creationId xmlns:p14="http://schemas.microsoft.com/office/powerpoint/2010/main" val="223668190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int   </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solidFill>
                <a:schemeClr val="bg1">
                  <a:lumMod val="85000"/>
                </a:schemeClr>
              </a:solidFill>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("generic=%u  (c=%u  *c=%u  </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=%u  u=%u  f=%u  d=%u)\n",</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(generic),</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(char),</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(char*),</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(unsigned int),</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(float),</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Y-&gt;d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grpSp>
        <p:nvGrpSpPr>
          <p:cNvPr id="2" name="Group 1"/>
          <p:cNvGrpSpPr/>
          <p:nvPr/>
        </p:nvGrpSpPr>
        <p:grpSpPr>
          <a:xfrm>
            <a:off x="7816580" y="204386"/>
            <a:ext cx="1672090" cy="2326386"/>
            <a:chOff x="9808570" y="132735"/>
            <a:chExt cx="2103120" cy="2926080"/>
          </a:xfrm>
        </p:grpSpPr>
        <p:sp>
          <p:nvSpPr>
            <p:cNvPr id="25" name="Rectangle 24"/>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26" name="Group 25"/>
            <p:cNvGrpSpPr/>
            <p:nvPr/>
          </p:nvGrpSpPr>
          <p:grpSpPr>
            <a:xfrm>
              <a:off x="9808570" y="132735"/>
              <a:ext cx="2103120" cy="2926080"/>
              <a:chOff x="6400800" y="182880"/>
              <a:chExt cx="2103120" cy="2926080"/>
            </a:xfrm>
          </p:grpSpPr>
          <p:sp>
            <p:nvSpPr>
              <p:cNvPr id="5" name="Rectangle 4"/>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 name="Rectangle 12"/>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 name="Rectangle 15"/>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 name="Rectangle 16"/>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 name="Rectangle 19"/>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 name="Rectangle 20"/>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 name="Rectangle 21"/>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 name="Rectangle 22"/>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grpSp>
      <p:grpSp>
        <p:nvGrpSpPr>
          <p:cNvPr id="71" name="Group 70"/>
          <p:cNvGrpSpPr/>
          <p:nvPr/>
        </p:nvGrpSpPr>
        <p:grpSpPr>
          <a:xfrm>
            <a:off x="7777798" y="204386"/>
            <a:ext cx="1737151" cy="2767414"/>
            <a:chOff x="9759788" y="132735"/>
            <a:chExt cx="2184953" cy="3480796"/>
          </a:xfrm>
        </p:grpSpPr>
        <p:sp>
          <p:nvSpPr>
            <p:cNvPr id="72" name="Rectangle 71"/>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73" name="Group 72"/>
            <p:cNvGrpSpPr/>
            <p:nvPr/>
          </p:nvGrpSpPr>
          <p:grpSpPr>
            <a:xfrm>
              <a:off x="9808570" y="132735"/>
              <a:ext cx="2103120" cy="2926080"/>
              <a:chOff x="6400800" y="182880"/>
              <a:chExt cx="2103120" cy="2926080"/>
            </a:xfrm>
          </p:grpSpPr>
          <p:sp>
            <p:nvSpPr>
              <p:cNvPr id="75" name="Rectangle 74"/>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6" name="Rectangle 75"/>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7" name="Rectangle 76"/>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8" name="Rectangle 77"/>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0" name="Rectangle 79"/>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2" name="Rectangle 81"/>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74" name="Rectangle 73"/>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sp>
        <p:nvSpPr>
          <p:cNvPr id="83" name="Rectangle 82"/>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a:t>
            </a:r>
            <a:r>
              <a:rPr lang="en-US" sz="2862" b="1" u="sng" dirty="0">
                <a:solidFill>
                  <a:srgbClr val="5B9BD5">
                    <a:lumMod val="75000"/>
                  </a:srgbClr>
                </a:solidFill>
                <a:latin typeface="Times New Roman" panose="02020603050405020304" pitchFamily="18" charset="0"/>
                <a:cs typeface="Times New Roman" panose="02020603050405020304" pitchFamily="18" charset="0"/>
              </a:rPr>
              <a:t>unions</a:t>
            </a:r>
            <a:r>
              <a:rPr lang="en-US" sz="2862" b="1" dirty="0">
                <a:solidFill>
                  <a:srgbClr val="5B9BD5">
                    <a:lumMod val="75000"/>
                  </a:srgbClr>
                </a:solidFill>
                <a:latin typeface="Times New Roman" panose="02020603050405020304" pitchFamily="18" charset="0"/>
                <a:cs typeface="Times New Roman" panose="02020603050405020304" pitchFamily="18" charset="0"/>
              </a:rPr>
              <a:t> work in C...</a:t>
            </a:r>
          </a:p>
        </p:txBody>
      </p:sp>
      <p:sp>
        <p:nvSpPr>
          <p:cNvPr id="84" name="Rectangle 83"/>
          <p:cNvSpPr/>
          <p:nvPr/>
        </p:nvSpPr>
        <p:spPr>
          <a:xfrm>
            <a:off x="2955062" y="1051945"/>
            <a:ext cx="3279971" cy="787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1182702" algn="l"/>
              </a:tabLst>
            </a:pPr>
            <a:r>
              <a:rPr lang="en-US" sz="1590" dirty="0">
                <a:solidFill>
                  <a:srgbClr val="5B9BD5">
                    <a:lumMod val="75000"/>
                  </a:srgbClr>
                </a:solidFill>
                <a:latin typeface="Times New Roman" panose="02020603050405020304" pitchFamily="18" charset="0"/>
                <a:cs typeface="Times New Roman" panose="02020603050405020304" pitchFamily="18" charset="0"/>
              </a:rPr>
              <a:t>(Not because we want to do such complicated things, but so we can appreciate the simplicity of Python)</a:t>
            </a:r>
          </a:p>
        </p:txBody>
      </p:sp>
      <p:sp>
        <p:nvSpPr>
          <p:cNvPr id="85" name="Rectangle 84"/>
          <p:cNvSpPr/>
          <p:nvPr/>
        </p:nvSpPr>
        <p:spPr>
          <a:xfrm rot="16200000">
            <a:off x="7265577" y="198898"/>
            <a:ext cx="354410"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b="1" dirty="0">
                <a:solidFill>
                  <a:srgbClr val="FF0000"/>
                </a:solidFill>
                <a:latin typeface="Times New Roman" panose="02020603050405020304" pitchFamily="18" charset="0"/>
                <a:cs typeface="Times New Roman" panose="02020603050405020304" pitchFamily="18" charset="0"/>
              </a:rPr>
              <a:t>?</a:t>
            </a:r>
          </a:p>
        </p:txBody>
      </p:sp>
      <p:grpSp>
        <p:nvGrpSpPr>
          <p:cNvPr id="86" name="Group 85"/>
          <p:cNvGrpSpPr/>
          <p:nvPr/>
        </p:nvGrpSpPr>
        <p:grpSpPr>
          <a:xfrm>
            <a:off x="6171176" y="212918"/>
            <a:ext cx="1537582" cy="2318933"/>
            <a:chOff x="7739014" y="143465"/>
            <a:chExt cx="1933939" cy="2916706"/>
          </a:xfrm>
        </p:grpSpPr>
        <p:sp>
          <p:nvSpPr>
            <p:cNvPr id="87" name="Left Brace 86"/>
            <p:cNvSpPr/>
            <p:nvPr/>
          </p:nvSpPr>
          <p:spPr>
            <a:xfrm>
              <a:off x="818235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88" name="Straight Connector 87"/>
            <p:cNvCxnSpPr/>
            <p:nvPr/>
          </p:nvCxnSpPr>
          <p:spPr>
            <a:xfrm>
              <a:off x="836265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8362654" y="143465"/>
              <a:ext cx="504485" cy="0"/>
            </a:xfrm>
            <a:prstGeom prst="line">
              <a:avLst/>
            </a:prstGeom>
          </p:spPr>
          <p:style>
            <a:lnRef idx="1">
              <a:schemeClr val="accent1"/>
            </a:lnRef>
            <a:fillRef idx="0">
              <a:schemeClr val="accent1"/>
            </a:fillRef>
            <a:effectRef idx="0">
              <a:schemeClr val="accent1"/>
            </a:effectRef>
            <a:fontRef idx="minor">
              <a:schemeClr val="tx1"/>
            </a:fontRef>
          </p:style>
        </p:cxnSp>
        <p:sp>
          <p:nvSpPr>
            <p:cNvPr id="90" name="Rectangle 89"/>
            <p:cNvSpPr/>
            <p:nvPr/>
          </p:nvSpPr>
          <p:spPr>
            <a:xfrm rot="16200000">
              <a:off x="7319606" y="1466542"/>
              <a:ext cx="1204575"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b="1" dirty="0">
                  <a:solidFill>
                    <a:srgbClr val="FF0000"/>
                  </a:solidFill>
                  <a:latin typeface="Times New Roman" panose="02020603050405020304" pitchFamily="18" charset="0"/>
                  <a:cs typeface="Times New Roman" panose="02020603050405020304" pitchFamily="18" charset="0"/>
                </a:rPr>
                <a:t>?</a:t>
              </a:r>
            </a:p>
          </p:txBody>
        </p:sp>
      </p:grpSp>
      <p:grpSp>
        <p:nvGrpSpPr>
          <p:cNvPr id="91" name="Group 90"/>
          <p:cNvGrpSpPr/>
          <p:nvPr/>
        </p:nvGrpSpPr>
        <p:grpSpPr>
          <a:xfrm>
            <a:off x="6757280" y="212917"/>
            <a:ext cx="951479" cy="1156182"/>
            <a:chOff x="8476202" y="143465"/>
            <a:chExt cx="1196751" cy="1454222"/>
          </a:xfrm>
        </p:grpSpPr>
        <p:sp>
          <p:nvSpPr>
            <p:cNvPr id="92" name="Left Brace 91"/>
            <p:cNvSpPr/>
            <p:nvPr/>
          </p:nvSpPr>
          <p:spPr>
            <a:xfrm>
              <a:off x="886815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93" name="Straight Connector 92"/>
            <p:cNvCxnSpPr/>
            <p:nvPr/>
          </p:nvCxnSpPr>
          <p:spPr>
            <a:xfrm>
              <a:off x="904946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9048976" y="143465"/>
              <a:ext cx="504485" cy="0"/>
            </a:xfrm>
            <a:prstGeom prst="line">
              <a:avLst/>
            </a:prstGeom>
          </p:spPr>
          <p:style>
            <a:lnRef idx="1">
              <a:schemeClr val="accent1"/>
            </a:lnRef>
            <a:fillRef idx="0">
              <a:schemeClr val="accent1"/>
            </a:fillRef>
            <a:effectRef idx="0">
              <a:schemeClr val="accent1"/>
            </a:effectRef>
            <a:fontRef idx="minor">
              <a:schemeClr val="tx1"/>
            </a:fontRef>
          </p:style>
        </p:cxnSp>
        <p:sp>
          <p:nvSpPr>
            <p:cNvPr id="95" name="Rectangle 94"/>
            <p:cNvSpPr/>
            <p:nvPr/>
          </p:nvSpPr>
          <p:spPr>
            <a:xfrm rot="16200000">
              <a:off x="8056794" y="686740"/>
              <a:ext cx="1204575" cy="365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b="1" dirty="0">
                  <a:solidFill>
                    <a:srgbClr val="FF0000"/>
                  </a:solidFill>
                  <a:latin typeface="Times New Roman" panose="02020603050405020304" pitchFamily="18" charset="0"/>
                  <a:cs typeface="Times New Roman" panose="02020603050405020304" pitchFamily="18" charset="0"/>
                </a:rPr>
                <a:t>?</a:t>
              </a:r>
            </a:p>
          </p:txBody>
        </p:sp>
      </p:grpSp>
      <p:sp>
        <p:nvSpPr>
          <p:cNvPr id="96" name="Left Brace 95"/>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97" name="Rectangle 96"/>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sp>
        <p:nvSpPr>
          <p:cNvPr id="98" name="Rectangle 97"/>
          <p:cNvSpPr/>
          <p:nvPr/>
        </p:nvSpPr>
        <p:spPr>
          <a:xfrm rot="16200000">
            <a:off x="6423828" y="644849"/>
            <a:ext cx="957700"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99" name="Rectangle 98"/>
          <p:cNvSpPr/>
          <p:nvPr/>
        </p:nvSpPr>
        <p:spPr>
          <a:xfrm rot="16200000">
            <a:off x="5837725" y="1264832"/>
            <a:ext cx="957700"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Tree>
    <p:extLst>
      <p:ext uri="{BB962C8B-B14F-4D97-AF65-F5344CB8AC3E}">
        <p14:creationId xmlns:p14="http://schemas.microsoft.com/office/powerpoint/2010/main" val="80337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84"/>
                                        </p:tgtEl>
                                      </p:cBhvr>
                                    </p:animEffect>
                                    <p:anim calcmode="lin" valueType="num">
                                      <p:cBhvr>
                                        <p:cTn id="7" dur="1000"/>
                                        <p:tgtEl>
                                          <p:spTgt spid="84"/>
                                        </p:tgtEl>
                                        <p:attrNameLst>
                                          <p:attrName>ppt_x</p:attrName>
                                        </p:attrNameLst>
                                      </p:cBhvr>
                                      <p:tavLst>
                                        <p:tav tm="0">
                                          <p:val>
                                            <p:strVal val="ppt_x"/>
                                          </p:val>
                                        </p:tav>
                                        <p:tav tm="100000">
                                          <p:val>
                                            <p:strVal val="ppt_x"/>
                                          </p:val>
                                        </p:tav>
                                      </p:tavLst>
                                    </p:anim>
                                    <p:anim calcmode="lin" valueType="num">
                                      <p:cBhvr>
                                        <p:cTn id="8" dur="1000"/>
                                        <p:tgtEl>
                                          <p:spTgt spid="84"/>
                                        </p:tgtEl>
                                        <p:attrNameLst>
                                          <p:attrName>ppt_y</p:attrName>
                                        </p:attrNameLst>
                                      </p:cBhvr>
                                      <p:tavLst>
                                        <p:tav tm="0">
                                          <p:val>
                                            <p:strVal val="ppt_y"/>
                                          </p:val>
                                        </p:tav>
                                        <p:tav tm="100000">
                                          <p:val>
                                            <p:strVal val="ppt_y+.1"/>
                                          </p:val>
                                        </p:tav>
                                      </p:tavLst>
                                    </p:anim>
                                    <p:set>
                                      <p:cBhvr>
                                        <p:cTn id="9" dur="1" fill="hold">
                                          <p:stCondLst>
                                            <p:cond delay="999"/>
                                          </p:stCondLst>
                                        </p:cTn>
                                        <p:tgtEl>
                                          <p:spTgt spid="84"/>
                                        </p:tgtEl>
                                        <p:attrNameLst>
                                          <p:attrName>style.visibility</p:attrName>
                                        </p:attrNameLst>
                                      </p:cBhvr>
                                      <p:to>
                                        <p:strVal val="hidden"/>
                                      </p:to>
                                    </p:set>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par>
                                <p:cTn id="16" presetID="47" presetClass="entr" presetSubtype="0" fill="hold" nodeType="withEffect">
                                  <p:stCondLst>
                                    <p:cond delay="0"/>
                                  </p:stCondLst>
                                  <p:childTnLst>
                                    <p:set>
                                      <p:cBhvr>
                                        <p:cTn id="17" dur="1" fill="hold">
                                          <p:stCondLst>
                                            <p:cond delay="0"/>
                                          </p:stCondLst>
                                        </p:cTn>
                                        <p:tgtEl>
                                          <p:spTgt spid="71"/>
                                        </p:tgtEl>
                                        <p:attrNameLst>
                                          <p:attrName>style.visibility</p:attrName>
                                        </p:attrNameLst>
                                      </p:cBhvr>
                                      <p:to>
                                        <p:strVal val="visible"/>
                                      </p:to>
                                    </p:set>
                                    <p:animEffect transition="in" filter="fade">
                                      <p:cBhvr>
                                        <p:cTn id="18" dur="1000"/>
                                        <p:tgtEl>
                                          <p:spTgt spid="71"/>
                                        </p:tgtEl>
                                      </p:cBhvr>
                                    </p:animEffect>
                                    <p:anim calcmode="lin" valueType="num">
                                      <p:cBhvr>
                                        <p:cTn id="19" dur="1000" fill="hold"/>
                                        <p:tgtEl>
                                          <p:spTgt spid="71"/>
                                        </p:tgtEl>
                                        <p:attrNameLst>
                                          <p:attrName>ppt_x</p:attrName>
                                        </p:attrNameLst>
                                      </p:cBhvr>
                                      <p:tavLst>
                                        <p:tav tm="0">
                                          <p:val>
                                            <p:strVal val="#ppt_x"/>
                                          </p:val>
                                        </p:tav>
                                        <p:tav tm="100000">
                                          <p:val>
                                            <p:strVal val="#ppt_x"/>
                                          </p:val>
                                        </p:tav>
                                      </p:tavLst>
                                    </p:anim>
                                    <p:anim calcmode="lin" valueType="num">
                                      <p:cBhvr>
                                        <p:cTn id="20"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5" presetClass="entr" presetSubtype="0" fill="hold" grpId="0" nodeType="clickEffect">
                                  <p:stCondLst>
                                    <p:cond delay="0"/>
                                  </p:stCondLst>
                                  <p:childTnLst>
                                    <p:set>
                                      <p:cBhvr>
                                        <p:cTn id="24" dur="1" fill="hold">
                                          <p:stCondLst>
                                            <p:cond delay="0"/>
                                          </p:stCondLst>
                                        </p:cTn>
                                        <p:tgtEl>
                                          <p:spTgt spid="96"/>
                                        </p:tgtEl>
                                        <p:attrNameLst>
                                          <p:attrName>style.visibility</p:attrName>
                                        </p:attrNameLst>
                                      </p:cBhvr>
                                      <p:to>
                                        <p:strVal val="visible"/>
                                      </p:to>
                                    </p:set>
                                    <p:animEffect transition="in" filter="fade">
                                      <p:cBhvr>
                                        <p:cTn id="25" dur="1000"/>
                                        <p:tgtEl>
                                          <p:spTgt spid="96"/>
                                        </p:tgtEl>
                                      </p:cBhvr>
                                    </p:animEffect>
                                    <p:anim calcmode="lin" valueType="num">
                                      <p:cBhvr>
                                        <p:cTn id="26" dur="1000" fill="hold"/>
                                        <p:tgtEl>
                                          <p:spTgt spid="96"/>
                                        </p:tgtEl>
                                        <p:attrNameLst>
                                          <p:attrName>style.rotation</p:attrName>
                                        </p:attrNameLst>
                                      </p:cBhvr>
                                      <p:tavLst>
                                        <p:tav tm="0">
                                          <p:val>
                                            <p:fltVal val="720"/>
                                          </p:val>
                                        </p:tav>
                                        <p:tav tm="100000">
                                          <p:val>
                                            <p:fltVal val="0"/>
                                          </p:val>
                                        </p:tav>
                                      </p:tavLst>
                                    </p:anim>
                                    <p:anim calcmode="lin" valueType="num">
                                      <p:cBhvr>
                                        <p:cTn id="27" dur="1000" fill="hold"/>
                                        <p:tgtEl>
                                          <p:spTgt spid="96"/>
                                        </p:tgtEl>
                                        <p:attrNameLst>
                                          <p:attrName>ppt_h</p:attrName>
                                        </p:attrNameLst>
                                      </p:cBhvr>
                                      <p:tavLst>
                                        <p:tav tm="0">
                                          <p:val>
                                            <p:fltVal val="0"/>
                                          </p:val>
                                        </p:tav>
                                        <p:tav tm="100000">
                                          <p:val>
                                            <p:strVal val="#ppt_h"/>
                                          </p:val>
                                        </p:tav>
                                      </p:tavLst>
                                    </p:anim>
                                    <p:anim calcmode="lin" valueType="num">
                                      <p:cBhvr>
                                        <p:cTn id="28" dur="1000" fill="hold"/>
                                        <p:tgtEl>
                                          <p:spTgt spid="96"/>
                                        </p:tgtEl>
                                        <p:attrNameLst>
                                          <p:attrName>ppt_w</p:attrName>
                                        </p:attrNameLst>
                                      </p:cBhvr>
                                      <p:tavLst>
                                        <p:tav tm="0">
                                          <p:val>
                                            <p:fltVal val="0"/>
                                          </p:val>
                                        </p:tav>
                                        <p:tav tm="100000">
                                          <p:val>
                                            <p:strVal val="#ppt_w"/>
                                          </p:val>
                                        </p:tav>
                                      </p:tavLst>
                                    </p:anim>
                                  </p:childTnLst>
                                </p:cTn>
                              </p:par>
                              <p:par>
                                <p:cTn id="29" presetID="35"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fade">
                                      <p:cBhvr>
                                        <p:cTn id="31" dur="1000"/>
                                        <p:tgtEl>
                                          <p:spTgt spid="85"/>
                                        </p:tgtEl>
                                      </p:cBhvr>
                                    </p:animEffect>
                                    <p:anim calcmode="lin" valueType="num">
                                      <p:cBhvr>
                                        <p:cTn id="32" dur="1000" fill="hold"/>
                                        <p:tgtEl>
                                          <p:spTgt spid="85"/>
                                        </p:tgtEl>
                                        <p:attrNameLst>
                                          <p:attrName>style.rotation</p:attrName>
                                        </p:attrNameLst>
                                      </p:cBhvr>
                                      <p:tavLst>
                                        <p:tav tm="0">
                                          <p:val>
                                            <p:fltVal val="720"/>
                                          </p:val>
                                        </p:tav>
                                        <p:tav tm="100000">
                                          <p:val>
                                            <p:fltVal val="0"/>
                                          </p:val>
                                        </p:tav>
                                      </p:tavLst>
                                    </p:anim>
                                    <p:anim calcmode="lin" valueType="num">
                                      <p:cBhvr>
                                        <p:cTn id="33" dur="1000" fill="hold"/>
                                        <p:tgtEl>
                                          <p:spTgt spid="85"/>
                                        </p:tgtEl>
                                        <p:attrNameLst>
                                          <p:attrName>ppt_h</p:attrName>
                                        </p:attrNameLst>
                                      </p:cBhvr>
                                      <p:tavLst>
                                        <p:tav tm="0">
                                          <p:val>
                                            <p:fltVal val="0"/>
                                          </p:val>
                                        </p:tav>
                                        <p:tav tm="100000">
                                          <p:val>
                                            <p:strVal val="#ppt_h"/>
                                          </p:val>
                                        </p:tav>
                                      </p:tavLst>
                                    </p:anim>
                                    <p:anim calcmode="lin" valueType="num">
                                      <p:cBhvr>
                                        <p:cTn id="34" dur="1000" fill="hold"/>
                                        <p:tgtEl>
                                          <p:spTgt spid="85"/>
                                        </p:tgtEl>
                                        <p:attrNameLst>
                                          <p:attrName>ppt_w</p:attrName>
                                        </p:attrNameLst>
                                      </p:cBhvr>
                                      <p:tavLst>
                                        <p:tav tm="0">
                                          <p:val>
                                            <p:fltVal val="0"/>
                                          </p:val>
                                        </p:tav>
                                        <p:tav tm="100000">
                                          <p:val>
                                            <p:strVal val="#ppt_w"/>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97"/>
                                        </p:tgtEl>
                                        <p:attrNameLst>
                                          <p:attrName>style.visibility</p:attrName>
                                        </p:attrNameLst>
                                      </p:cBhvr>
                                      <p:to>
                                        <p:strVal val="visible"/>
                                      </p:to>
                                    </p:set>
                                    <p:anim calcmode="lin" valueType="num">
                                      <p:cBhvr additive="base">
                                        <p:cTn id="39" dur="500" fill="hold"/>
                                        <p:tgtEl>
                                          <p:spTgt spid="97"/>
                                        </p:tgtEl>
                                        <p:attrNameLst>
                                          <p:attrName>ppt_x</p:attrName>
                                        </p:attrNameLst>
                                      </p:cBhvr>
                                      <p:tavLst>
                                        <p:tav tm="0">
                                          <p:val>
                                            <p:strVal val="0-#ppt_w/2"/>
                                          </p:val>
                                        </p:tav>
                                        <p:tav tm="100000">
                                          <p:val>
                                            <p:strVal val="#ppt_x"/>
                                          </p:val>
                                        </p:tav>
                                      </p:tavLst>
                                    </p:anim>
                                    <p:anim calcmode="lin" valueType="num">
                                      <p:cBhvr additive="base">
                                        <p:cTn id="40" dur="5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nodeType="clickEffect">
                                  <p:stCondLst>
                                    <p:cond delay="0"/>
                                  </p:stCondLst>
                                  <p:childTnLst>
                                    <p:set>
                                      <p:cBhvr>
                                        <p:cTn id="44" dur="1" fill="hold">
                                          <p:stCondLst>
                                            <p:cond delay="0"/>
                                          </p:stCondLst>
                                        </p:cTn>
                                        <p:tgtEl>
                                          <p:spTgt spid="91"/>
                                        </p:tgtEl>
                                        <p:attrNameLst>
                                          <p:attrName>style.visibility</p:attrName>
                                        </p:attrNameLst>
                                      </p:cBhvr>
                                      <p:to>
                                        <p:strVal val="visible"/>
                                      </p:to>
                                    </p:set>
                                    <p:anim calcmode="lin" valueType="num">
                                      <p:cBhvr>
                                        <p:cTn id="45" dur="500" fill="hold"/>
                                        <p:tgtEl>
                                          <p:spTgt spid="91"/>
                                        </p:tgtEl>
                                        <p:attrNameLst>
                                          <p:attrName>ppt_w</p:attrName>
                                        </p:attrNameLst>
                                      </p:cBhvr>
                                      <p:tavLst>
                                        <p:tav tm="0">
                                          <p:val>
                                            <p:fltVal val="0"/>
                                          </p:val>
                                        </p:tav>
                                        <p:tav tm="100000">
                                          <p:val>
                                            <p:strVal val="#ppt_w"/>
                                          </p:val>
                                        </p:tav>
                                      </p:tavLst>
                                    </p:anim>
                                    <p:anim calcmode="lin" valueType="num">
                                      <p:cBhvr>
                                        <p:cTn id="46" dur="500" fill="hold"/>
                                        <p:tgtEl>
                                          <p:spTgt spid="91"/>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98"/>
                                        </p:tgtEl>
                                        <p:attrNameLst>
                                          <p:attrName>style.visibility</p:attrName>
                                        </p:attrNameLst>
                                      </p:cBhvr>
                                      <p:to>
                                        <p:strVal val="visible"/>
                                      </p:to>
                                    </p:set>
                                    <p:anim calcmode="lin" valueType="num">
                                      <p:cBhvr additive="base">
                                        <p:cTn id="51" dur="500" fill="hold"/>
                                        <p:tgtEl>
                                          <p:spTgt spid="98"/>
                                        </p:tgtEl>
                                        <p:attrNameLst>
                                          <p:attrName>ppt_x</p:attrName>
                                        </p:attrNameLst>
                                      </p:cBhvr>
                                      <p:tavLst>
                                        <p:tav tm="0">
                                          <p:val>
                                            <p:strVal val="0-#ppt_w/2"/>
                                          </p:val>
                                        </p:tav>
                                        <p:tav tm="100000">
                                          <p:val>
                                            <p:strVal val="#ppt_x"/>
                                          </p:val>
                                        </p:tav>
                                      </p:tavLst>
                                    </p:anim>
                                    <p:anim calcmode="lin" valueType="num">
                                      <p:cBhvr additive="base">
                                        <p:cTn id="52" dur="500" fill="hold"/>
                                        <p:tgtEl>
                                          <p:spTgt spid="98"/>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7" presetClass="entr" presetSubtype="10" fill="hold" nodeType="clickEffect">
                                  <p:stCondLst>
                                    <p:cond delay="0"/>
                                  </p:stCondLst>
                                  <p:childTnLst>
                                    <p:set>
                                      <p:cBhvr>
                                        <p:cTn id="56" dur="1" fill="hold">
                                          <p:stCondLst>
                                            <p:cond delay="0"/>
                                          </p:stCondLst>
                                        </p:cTn>
                                        <p:tgtEl>
                                          <p:spTgt spid="86"/>
                                        </p:tgtEl>
                                        <p:attrNameLst>
                                          <p:attrName>style.visibility</p:attrName>
                                        </p:attrNameLst>
                                      </p:cBhvr>
                                      <p:to>
                                        <p:strVal val="visible"/>
                                      </p:to>
                                    </p:set>
                                    <p:anim calcmode="lin" valueType="num">
                                      <p:cBhvr>
                                        <p:cTn id="57" dur="500" fill="hold"/>
                                        <p:tgtEl>
                                          <p:spTgt spid="86"/>
                                        </p:tgtEl>
                                        <p:attrNameLst>
                                          <p:attrName>ppt_w</p:attrName>
                                        </p:attrNameLst>
                                      </p:cBhvr>
                                      <p:tavLst>
                                        <p:tav tm="0">
                                          <p:val>
                                            <p:fltVal val="0"/>
                                          </p:val>
                                        </p:tav>
                                        <p:tav tm="100000">
                                          <p:val>
                                            <p:strVal val="#ppt_w"/>
                                          </p:val>
                                        </p:tav>
                                      </p:tavLst>
                                    </p:anim>
                                    <p:anim calcmode="lin" valueType="num">
                                      <p:cBhvr>
                                        <p:cTn id="58" dur="500" fill="hold"/>
                                        <p:tgtEl>
                                          <p:spTgt spid="86"/>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99"/>
                                        </p:tgtEl>
                                        <p:attrNameLst>
                                          <p:attrName>style.visibility</p:attrName>
                                        </p:attrNameLst>
                                      </p:cBhvr>
                                      <p:to>
                                        <p:strVal val="visible"/>
                                      </p:to>
                                    </p:set>
                                    <p:anim calcmode="lin" valueType="num">
                                      <p:cBhvr additive="base">
                                        <p:cTn id="63" dur="500" fill="hold"/>
                                        <p:tgtEl>
                                          <p:spTgt spid="99"/>
                                        </p:tgtEl>
                                        <p:attrNameLst>
                                          <p:attrName>ppt_x</p:attrName>
                                        </p:attrNameLst>
                                      </p:cBhvr>
                                      <p:tavLst>
                                        <p:tav tm="0">
                                          <p:val>
                                            <p:strVal val="0-#ppt_w/2"/>
                                          </p:val>
                                        </p:tav>
                                        <p:tav tm="100000">
                                          <p:val>
                                            <p:strVal val="#ppt_x"/>
                                          </p:val>
                                        </p:tav>
                                      </p:tavLst>
                                    </p:anim>
                                    <p:anim calcmode="lin" valueType="num">
                                      <p:cBhvr additive="base">
                                        <p:cTn id="64"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animBg="1"/>
      <p:bldP spid="96" grpId="0" animBg="1"/>
      <p:bldP spid="97" grpId="0" animBg="1"/>
      <p:bldP spid="98" grpId="0" animBg="1"/>
      <p:bldP spid="99"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solidFill>
                <a:schemeClr val="bg1">
                  <a:lumMod val="85000"/>
                </a:schemeClr>
              </a:solidFill>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("generic=%u  (c=%u  *c=%u  </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=%u  u=%u  f=%u  d=%u)\n",</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(generic),</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(char),</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(char*),</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(unsigned int),</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(float),</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Y-&gt;d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sp>
        <p:nvSpPr>
          <p:cNvPr id="25" name="Rectangle 24"/>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26" name="Group 25"/>
          <p:cNvGrpSpPr/>
          <p:nvPr/>
        </p:nvGrpSpPr>
        <p:grpSpPr>
          <a:xfrm>
            <a:off x="7816580" y="204386"/>
            <a:ext cx="1672090" cy="2326386"/>
            <a:chOff x="6400800" y="182880"/>
            <a:chExt cx="2103120" cy="2926080"/>
          </a:xfrm>
        </p:grpSpPr>
        <p:sp>
          <p:nvSpPr>
            <p:cNvPr id="5" name="Rectangle 4"/>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 name="Rectangle 12"/>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 name="Rectangle 15"/>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 name="Rectangle 16"/>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 name="Rectangle 19"/>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 name="Rectangle 20"/>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 name="Rectangle 21"/>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 name="Rectangle 22"/>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27" name="Left Brace 26"/>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48" name="Group 47"/>
          <p:cNvGrpSpPr/>
          <p:nvPr/>
        </p:nvGrpSpPr>
        <p:grpSpPr>
          <a:xfrm>
            <a:off x="6523652" y="212918"/>
            <a:ext cx="1185107" cy="2318933"/>
            <a:chOff x="8138160" y="143465"/>
            <a:chExt cx="1490603" cy="2916706"/>
          </a:xfrm>
        </p:grpSpPr>
        <p:sp>
          <p:nvSpPr>
            <p:cNvPr id="30" name="Left Brace 29"/>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8" name="Left Brace 27"/>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33" name="Straight Connector 32"/>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9" name="Rectangle 48"/>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50" name="Rectangle 49"/>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grpSp>
        <p:nvGrpSpPr>
          <p:cNvPr id="24" name="Group 23"/>
          <p:cNvGrpSpPr/>
          <p:nvPr/>
        </p:nvGrpSpPr>
        <p:grpSpPr>
          <a:xfrm>
            <a:off x="2129499" y="4164842"/>
            <a:ext cx="2445465" cy="252739"/>
            <a:chOff x="2655475" y="3751406"/>
            <a:chExt cx="3075855" cy="317890"/>
          </a:xfrm>
        </p:grpSpPr>
        <p:sp>
          <p:nvSpPr>
            <p:cNvPr id="29" name="Rectangle 28"/>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Y</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31" name="Rectangle 30"/>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2" name="Rectangle 31"/>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7" name="Rectangle 36"/>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8" name="Rectangle 37"/>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0" name="Rectangle 39"/>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1" name="Rectangle 40"/>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2" name="Rectangle 41"/>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3" name="Rectangle 42"/>
            <p:cNvSpPr/>
            <p:nvPr/>
          </p:nvSpPr>
          <p:spPr>
            <a:xfrm>
              <a:off x="3249386" y="3755129"/>
              <a:ext cx="2481944" cy="310243"/>
            </a:xfrm>
            <a:prstGeom prst="rect">
              <a:avLst/>
            </a:prstGeom>
            <a:solidFill>
              <a:srgbClr val="000000">
                <a:alpha val="20000"/>
              </a:srgb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grpSp>
        <p:nvGrpSpPr>
          <p:cNvPr id="59" name="Group 58"/>
          <p:cNvGrpSpPr/>
          <p:nvPr/>
        </p:nvGrpSpPr>
        <p:grpSpPr>
          <a:xfrm>
            <a:off x="2129499" y="3669862"/>
            <a:ext cx="2445465" cy="252739"/>
            <a:chOff x="2655475" y="3751406"/>
            <a:chExt cx="3075855" cy="317890"/>
          </a:xfrm>
        </p:grpSpPr>
        <p:sp>
          <p:nvSpPr>
            <p:cNvPr id="60" name="Rectangle 59"/>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X</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61" name="Rectangle 60"/>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2" name="Rectangle 61"/>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3" name="Rectangle 62"/>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4" name="Rectangle 63"/>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5" name="Rectangle 64"/>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6" name="Rectangle 65"/>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7" name="Rectangle 66"/>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8" name="Rectangle 67"/>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9" name="Rectangle 68"/>
            <p:cNvSpPr/>
            <p:nvPr/>
          </p:nvSpPr>
          <p:spPr>
            <a:xfrm>
              <a:off x="3249386" y="3755129"/>
              <a:ext cx="2481944" cy="310243"/>
            </a:xfrm>
            <a:prstGeom prst="rect">
              <a:avLst/>
            </a:prstGeom>
            <a:solidFill>
              <a:srgbClr val="000000">
                <a:alpha val="20000"/>
              </a:srgb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70" name="Rectangle 69"/>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71" name="Group 70"/>
          <p:cNvGrpSpPr/>
          <p:nvPr/>
        </p:nvGrpSpPr>
        <p:grpSpPr>
          <a:xfrm>
            <a:off x="7777798" y="204386"/>
            <a:ext cx="1737151" cy="2767414"/>
            <a:chOff x="9759788" y="132735"/>
            <a:chExt cx="2184953" cy="3480796"/>
          </a:xfrm>
        </p:grpSpPr>
        <p:sp>
          <p:nvSpPr>
            <p:cNvPr id="72" name="Rectangle 71"/>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73" name="Group 72"/>
            <p:cNvGrpSpPr/>
            <p:nvPr/>
          </p:nvGrpSpPr>
          <p:grpSpPr>
            <a:xfrm>
              <a:off x="9808570" y="132735"/>
              <a:ext cx="2103120" cy="2926080"/>
              <a:chOff x="6400800" y="182880"/>
              <a:chExt cx="2103120" cy="2926080"/>
            </a:xfrm>
          </p:grpSpPr>
          <p:sp>
            <p:nvSpPr>
              <p:cNvPr id="75" name="Rectangle 74"/>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6" name="Rectangle 75"/>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7" name="Rectangle 76"/>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8" name="Rectangle 77"/>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0" name="Rectangle 79"/>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2" name="Rectangle 81"/>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74" name="Rectangle 73"/>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sp>
        <p:nvSpPr>
          <p:cNvPr id="83" name="Rectangle 82"/>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grpSp>
        <p:nvGrpSpPr>
          <p:cNvPr id="84" name="Group 83"/>
          <p:cNvGrpSpPr/>
          <p:nvPr/>
        </p:nvGrpSpPr>
        <p:grpSpPr>
          <a:xfrm>
            <a:off x="2129499" y="4644351"/>
            <a:ext cx="2445465" cy="252739"/>
            <a:chOff x="2655475" y="3751406"/>
            <a:chExt cx="3075855" cy="317890"/>
          </a:xfrm>
        </p:grpSpPr>
        <p:sp>
          <p:nvSpPr>
            <p:cNvPr id="85" name="Rectangle 84"/>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Z</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86" name="Rectangle 85"/>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3" name="Rectangle 92"/>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4" name="Rectangle 93"/>
            <p:cNvSpPr/>
            <p:nvPr/>
          </p:nvSpPr>
          <p:spPr>
            <a:xfrm>
              <a:off x="3249386" y="3755129"/>
              <a:ext cx="2481944" cy="310243"/>
            </a:xfrm>
            <a:prstGeom prst="rect">
              <a:avLst/>
            </a:prstGeom>
            <a:solidFill>
              <a:srgbClr val="000000">
                <a:alpha val="20000"/>
              </a:srgbClr>
            </a:solid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Tree>
    <p:extLst>
      <p:ext uri="{BB962C8B-B14F-4D97-AF65-F5344CB8AC3E}">
        <p14:creationId xmlns:p14="http://schemas.microsoft.com/office/powerpoint/2010/main" val="290728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ppt_w</p:attrName>
                                        </p:attrNameLst>
                                      </p:cBhvr>
                                      <p:tavLst>
                                        <p:tav tm="0">
                                          <p:val>
                                            <p:fltVal val="0"/>
                                          </p:val>
                                        </p:tav>
                                        <p:tav tm="100000">
                                          <p:val>
                                            <p:strVal val="#ppt_w"/>
                                          </p:val>
                                        </p:tav>
                                      </p:tavLst>
                                    </p:anim>
                                    <p:anim calcmode="lin" valueType="num">
                                      <p:cBhvr>
                                        <p:cTn id="8" dur="500" fill="hold"/>
                                        <p:tgtEl>
                                          <p:spTgt spid="59"/>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p:cTn id="11" dur="500" fill="hold"/>
                                        <p:tgtEl>
                                          <p:spTgt spid="24"/>
                                        </p:tgtEl>
                                        <p:attrNameLst>
                                          <p:attrName>ppt_w</p:attrName>
                                        </p:attrNameLst>
                                      </p:cBhvr>
                                      <p:tavLst>
                                        <p:tav tm="0">
                                          <p:val>
                                            <p:fltVal val="0"/>
                                          </p:val>
                                        </p:tav>
                                        <p:tav tm="100000">
                                          <p:val>
                                            <p:strVal val="#ppt_w"/>
                                          </p:val>
                                        </p:tav>
                                      </p:tavLst>
                                    </p:anim>
                                    <p:anim calcmode="lin" valueType="num">
                                      <p:cBhvr>
                                        <p:cTn id="12" dur="500" fill="hold"/>
                                        <p:tgtEl>
                                          <p:spTgt spid="24"/>
                                        </p:tgtEl>
                                        <p:attrNameLst>
                                          <p:attrName>ppt_h</p:attrName>
                                        </p:attrNameLst>
                                      </p:cBhvr>
                                      <p:tavLst>
                                        <p:tav tm="0">
                                          <p:val>
                                            <p:strVal val="#ppt_h"/>
                                          </p:val>
                                        </p:tav>
                                        <p:tav tm="100000">
                                          <p:val>
                                            <p:strVal val="#ppt_h"/>
                                          </p:val>
                                        </p:tav>
                                      </p:tavLst>
                                    </p:anim>
                                  </p:childTnLst>
                                </p:cTn>
                              </p:par>
                              <p:par>
                                <p:cTn id="13" presetID="17" presetClass="entr" presetSubtype="10" fill="hold" nodeType="withEffect">
                                  <p:stCondLst>
                                    <p:cond delay="0"/>
                                  </p:stCondLst>
                                  <p:childTnLst>
                                    <p:set>
                                      <p:cBhvr>
                                        <p:cTn id="14" dur="1" fill="hold">
                                          <p:stCondLst>
                                            <p:cond delay="0"/>
                                          </p:stCondLst>
                                        </p:cTn>
                                        <p:tgtEl>
                                          <p:spTgt spid="84"/>
                                        </p:tgtEl>
                                        <p:attrNameLst>
                                          <p:attrName>style.visibility</p:attrName>
                                        </p:attrNameLst>
                                      </p:cBhvr>
                                      <p:to>
                                        <p:strVal val="visible"/>
                                      </p:to>
                                    </p:set>
                                    <p:anim calcmode="lin" valueType="num">
                                      <p:cBhvr>
                                        <p:cTn id="15" dur="500" fill="hold"/>
                                        <p:tgtEl>
                                          <p:spTgt spid="84"/>
                                        </p:tgtEl>
                                        <p:attrNameLst>
                                          <p:attrName>ppt_w</p:attrName>
                                        </p:attrNameLst>
                                      </p:cBhvr>
                                      <p:tavLst>
                                        <p:tav tm="0">
                                          <p:val>
                                            <p:fltVal val="0"/>
                                          </p:val>
                                        </p:tav>
                                        <p:tav tm="100000">
                                          <p:val>
                                            <p:strVal val="#ppt_w"/>
                                          </p:val>
                                        </p:tav>
                                      </p:tavLst>
                                    </p:anim>
                                    <p:anim calcmode="lin" valueType="num">
                                      <p:cBhvr>
                                        <p:cTn id="16" dur="500" fill="hold"/>
                                        <p:tgtEl>
                                          <p:spTgt spid="8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int main() {</a:t>
            </a:r>
            <a:endParaRPr lang="en-US" sz="1431" dirty="0">
              <a:solidFill>
                <a:schemeClr val="bg1">
                  <a:lumMod val="85000"/>
                </a:schemeClr>
              </a:solidFill>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("generic=%u  (c=%u  *c=%u  </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=%u  u=%u  f=%u  d=%u)\n",</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(generic),</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(char),</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(char*),</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(unsigned int),</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(float),</a:t>
            </a:r>
            <a:r>
              <a:rPr lang="en-US" sz="1431" dirty="0" err="1">
                <a:solidFill>
                  <a:schemeClr val="bg1">
                    <a:lumMod val="85000"/>
                  </a:schemeClr>
                </a:solidFill>
                <a:latin typeface="Consolas" panose="020B0609020204030204" pitchFamily="49" charset="0"/>
                <a:cs typeface="Consolas" panose="020B0609020204030204" pitchFamily="49" charset="0"/>
              </a:rPr>
              <a:t>sizeof</a:t>
            </a:r>
            <a:r>
              <a:rPr lang="en-US" sz="1431" dirty="0">
                <a:solidFill>
                  <a:schemeClr val="bg1">
                    <a:lumMod val="85000"/>
                  </a:schemeClr>
                </a:solidFill>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Y-&gt;d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sp>
        <p:nvSpPr>
          <p:cNvPr id="4" name="Rectangle 3"/>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prstClr val="white"/>
                </a:solidFill>
                <a:latin typeface="Arial Narrow" panose="020B0606020202030204" pitchFamily="34" charset="0"/>
                <a:cs typeface="Consolas" panose="020B0609020204030204" pitchFamily="49" charset="0"/>
              </a:rPr>
              <a:t>% </a:t>
            </a:r>
            <a:r>
              <a:rPr lang="en-US" sz="1749" dirty="0" err="1">
                <a:solidFill>
                  <a:prstClr val="white"/>
                </a:solidFill>
                <a:latin typeface="Arial Narrow" panose="020B0606020202030204" pitchFamily="34" charset="0"/>
                <a:cs typeface="Consolas" panose="020B0609020204030204" pitchFamily="49" charset="0"/>
              </a:rPr>
              <a:t>gcc</a:t>
            </a:r>
            <a:r>
              <a:rPr lang="en-US" sz="1749" dirty="0">
                <a:solidFill>
                  <a:prstClr val="white"/>
                </a:solidFill>
                <a:latin typeface="Arial Narrow" panose="020B0606020202030204" pitchFamily="34" charset="0"/>
                <a:cs typeface="Consolas" panose="020B0609020204030204" pitchFamily="49" charset="0"/>
              </a:rPr>
              <a:t> -o </a:t>
            </a:r>
            <a:r>
              <a:rPr lang="en-US" sz="1749" dirty="0" err="1">
                <a:solidFill>
                  <a:prstClr val="white"/>
                </a:solidFill>
                <a:latin typeface="Arial Narrow" panose="020B0606020202030204" pitchFamily="34" charset="0"/>
                <a:cs typeface="Consolas" panose="020B0609020204030204" pitchFamily="49" charset="0"/>
              </a:rPr>
              <a:t>union.x</a:t>
            </a:r>
            <a:r>
              <a:rPr lang="en-US" sz="1749" dirty="0">
                <a:solidFill>
                  <a:prstClr val="white"/>
                </a:solidFill>
                <a:latin typeface="Arial Narrow" panose="020B0606020202030204" pitchFamily="34" charset="0"/>
                <a:cs typeface="Consolas" panose="020B0609020204030204" pitchFamily="49" charset="0"/>
              </a:rPr>
              <a:t> </a:t>
            </a:r>
            <a:r>
              <a:rPr lang="en-US" sz="1749" dirty="0" err="1">
                <a:solidFill>
                  <a:prstClr val="white"/>
                </a:solidFill>
                <a:latin typeface="Arial Narrow" panose="020B0606020202030204" pitchFamily="34" charset="0"/>
                <a:cs typeface="Consolas" panose="020B0609020204030204" pitchFamily="49" charset="0"/>
              </a:rPr>
              <a:t>union.c</a:t>
            </a:r>
            <a:endParaRPr lang="en-US" sz="1749" dirty="0">
              <a:solidFill>
                <a:prstClr val="white"/>
              </a:solidFill>
              <a:latin typeface="Arial Narrow" panose="020B0606020202030204" pitchFamily="34" charset="0"/>
              <a:cs typeface="Consolas" panose="020B0609020204030204" pitchFamily="49" charset="0"/>
            </a:endParaRPr>
          </a:p>
          <a:p>
            <a:r>
              <a:rPr lang="en-US" sz="1749" dirty="0">
                <a:solidFill>
                  <a:prstClr val="white"/>
                </a:solidFill>
                <a:latin typeface="Arial Narrow" panose="020B0606020202030204" pitchFamily="34" charset="0"/>
                <a:cs typeface="Consolas" panose="020B0609020204030204" pitchFamily="49" charset="0"/>
              </a:rPr>
              <a:t>% ./</a:t>
            </a:r>
            <a:r>
              <a:rPr lang="en-US" sz="1749" dirty="0" err="1">
                <a:solidFill>
                  <a:prstClr val="white"/>
                </a:solidFill>
                <a:latin typeface="Arial Narrow" panose="020B0606020202030204" pitchFamily="34" charset="0"/>
                <a:cs typeface="Consolas" panose="020B0609020204030204" pitchFamily="49" charset="0"/>
              </a:rPr>
              <a:t>union.x</a:t>
            </a:r>
            <a:endParaRPr lang="en-US" sz="1749" dirty="0">
              <a:solidFill>
                <a:prstClr val="white"/>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generic=8  (c=1  *c=8  </a:t>
            </a:r>
            <a:r>
              <a:rPr lang="en-US" sz="1749" dirty="0" err="1">
                <a:solidFill>
                  <a:prstClr val="black"/>
                </a:solidFill>
                <a:latin typeface="Arial Narrow" panose="020B0606020202030204" pitchFamily="34" charset="0"/>
                <a:cs typeface="Consolas" panose="020B0609020204030204" pitchFamily="49" charset="0"/>
              </a:rPr>
              <a:t>i</a:t>
            </a:r>
            <a:r>
              <a:rPr lang="en-US" sz="1749" dirty="0">
                <a:solidFill>
                  <a:prstClr val="black"/>
                </a:solidFill>
                <a:latin typeface="Arial Narrow" panose="020B0606020202030204" pitchFamily="34" charset="0"/>
                <a:cs typeface="Consolas" panose="020B0609020204030204" pitchFamily="49" charset="0"/>
              </a:rPr>
              <a:t>=4  u=4  f=4  d=8)</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grpSp>
        <p:nvGrpSpPr>
          <p:cNvPr id="26" name="Group 25"/>
          <p:cNvGrpSpPr/>
          <p:nvPr/>
        </p:nvGrpSpPr>
        <p:grpSpPr>
          <a:xfrm>
            <a:off x="7816580" y="204386"/>
            <a:ext cx="1672090" cy="2326386"/>
            <a:chOff x="6400800" y="182880"/>
            <a:chExt cx="2103120" cy="2926080"/>
          </a:xfrm>
        </p:grpSpPr>
        <p:sp>
          <p:nvSpPr>
            <p:cNvPr id="5" name="Rectangle 4"/>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 name="Rectangle 12"/>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 name="Rectangle 15"/>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 name="Rectangle 16"/>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 name="Rectangle 19"/>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 name="Rectangle 20"/>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 name="Rectangle 21"/>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 name="Rectangle 22"/>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27" name="Left Brace 26"/>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48" name="Group 47"/>
          <p:cNvGrpSpPr/>
          <p:nvPr/>
        </p:nvGrpSpPr>
        <p:grpSpPr>
          <a:xfrm>
            <a:off x="6523652" y="212918"/>
            <a:ext cx="1185107" cy="2318933"/>
            <a:chOff x="8138160" y="143465"/>
            <a:chExt cx="1490603" cy="2916706"/>
          </a:xfrm>
        </p:grpSpPr>
        <p:sp>
          <p:nvSpPr>
            <p:cNvPr id="30" name="Left Brace 29"/>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8" name="Left Brace 27"/>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33" name="Straight Connector 32"/>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9" name="Rectangle 48"/>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50" name="Rectangle 49"/>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grpSp>
        <p:nvGrpSpPr>
          <p:cNvPr id="61" name="Group 60"/>
          <p:cNvGrpSpPr/>
          <p:nvPr/>
        </p:nvGrpSpPr>
        <p:grpSpPr>
          <a:xfrm>
            <a:off x="2129499" y="4164842"/>
            <a:ext cx="2445465" cy="252739"/>
            <a:chOff x="2655475" y="3751406"/>
            <a:chExt cx="3075855" cy="317890"/>
          </a:xfrm>
        </p:grpSpPr>
        <p:sp>
          <p:nvSpPr>
            <p:cNvPr id="62" name="Rectangle 61"/>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6" name="Rectangle 85"/>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3" name="Rectangle 92"/>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4" name="Rectangle 93"/>
            <p:cNvSpPr/>
            <p:nvPr/>
          </p:nvSpPr>
          <p:spPr>
            <a:xfrm>
              <a:off x="3249386" y="3755129"/>
              <a:ext cx="2481944"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grpSp>
        <p:nvGrpSpPr>
          <p:cNvPr id="95" name="Group 94"/>
          <p:cNvGrpSpPr/>
          <p:nvPr/>
        </p:nvGrpSpPr>
        <p:grpSpPr>
          <a:xfrm>
            <a:off x="2129499" y="4644351"/>
            <a:ext cx="2445465" cy="252739"/>
            <a:chOff x="2655475" y="3751406"/>
            <a:chExt cx="3075855" cy="317890"/>
          </a:xfrm>
        </p:grpSpPr>
        <p:sp>
          <p:nvSpPr>
            <p:cNvPr id="96" name="Rectangle 95"/>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7" name="Rectangle 96"/>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8" name="Rectangle 97"/>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9" name="Rectangle 98"/>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0" name="Rectangle 99"/>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1" name="Rectangle 100"/>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2" name="Rectangle 101"/>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3" name="Rectangle 102"/>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4" name="Rectangle 103"/>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5" name="Rectangle 104"/>
            <p:cNvSpPr/>
            <p:nvPr/>
          </p:nvSpPr>
          <p:spPr>
            <a:xfrm>
              <a:off x="3249386" y="3755129"/>
              <a:ext cx="2481944"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grpSp>
        <p:nvGrpSpPr>
          <p:cNvPr id="106" name="Group 105"/>
          <p:cNvGrpSpPr/>
          <p:nvPr/>
        </p:nvGrpSpPr>
        <p:grpSpPr>
          <a:xfrm>
            <a:off x="2129499" y="3669862"/>
            <a:ext cx="2445465" cy="252739"/>
            <a:chOff x="2655475" y="3751406"/>
            <a:chExt cx="3075855" cy="317890"/>
          </a:xfrm>
        </p:grpSpPr>
        <p:sp>
          <p:nvSpPr>
            <p:cNvPr id="107" name="Rectangle 106"/>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108" name="Rectangle 107"/>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9" name="Rectangle 108"/>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0" name="Rectangle 109"/>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1" name="Rectangle 110"/>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2" name="Rectangle 111"/>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3" name="Rectangle 112"/>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4" name="Rectangle 113"/>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5" name="Rectangle 114"/>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6" name="Rectangle 115"/>
            <p:cNvSpPr/>
            <p:nvPr/>
          </p:nvSpPr>
          <p:spPr>
            <a:xfrm>
              <a:off x="3249386" y="3753167"/>
              <a:ext cx="2481944"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7" name="Rectangle 116"/>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18" name="Group 117"/>
          <p:cNvGrpSpPr/>
          <p:nvPr/>
        </p:nvGrpSpPr>
        <p:grpSpPr>
          <a:xfrm>
            <a:off x="7777798" y="204386"/>
            <a:ext cx="1737151" cy="2767414"/>
            <a:chOff x="9759788" y="132735"/>
            <a:chExt cx="2184953" cy="3480796"/>
          </a:xfrm>
        </p:grpSpPr>
        <p:sp>
          <p:nvSpPr>
            <p:cNvPr id="119" name="Rectangle 118"/>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20" name="Group 119"/>
            <p:cNvGrpSpPr/>
            <p:nvPr/>
          </p:nvGrpSpPr>
          <p:grpSpPr>
            <a:xfrm>
              <a:off x="9808570" y="132735"/>
              <a:ext cx="2103120" cy="2926080"/>
              <a:chOff x="6400800" y="182880"/>
              <a:chExt cx="2103120" cy="2926080"/>
            </a:xfrm>
          </p:grpSpPr>
          <p:sp>
            <p:nvSpPr>
              <p:cNvPr id="122" name="Rectangle 121"/>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3" name="Rectangle 122"/>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4" name="Rectangle 123"/>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5" name="Rectangle 124"/>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6" name="Rectangle 125"/>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7" name="Rectangle 126"/>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8" name="Rectangle 127"/>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21" name="Rectangle 120"/>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sp>
        <p:nvSpPr>
          <p:cNvPr id="130" name="Rectangle 129"/>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Tree>
    <p:extLst>
      <p:ext uri="{BB962C8B-B14F-4D97-AF65-F5344CB8AC3E}">
        <p14:creationId xmlns:p14="http://schemas.microsoft.com/office/powerpoint/2010/main" val="1847145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err="1">
                <a:solidFill>
                  <a:srgbClr val="FF0000"/>
                </a:solidFill>
                <a:latin typeface="Consolas" panose="020B0609020204030204" pitchFamily="49" charset="0"/>
                <a:cs typeface="Consolas" panose="020B0609020204030204" pitchFamily="49" charset="0"/>
              </a:rPr>
              <a:t>printf</a:t>
            </a:r>
            <a:r>
              <a:rPr lang="en-US" sz="1431" dirty="0">
                <a:solidFill>
                  <a:srgbClr val="FF0000"/>
                </a:solidFill>
                <a:latin typeface="Consolas" panose="020B0609020204030204" pitchFamily="49" charset="0"/>
                <a:cs typeface="Consolas" panose="020B0609020204030204" pitchFamily="49" charset="0"/>
              </a:rPr>
              <a:t>("generic=%u  (c=%u s=%u </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(generic),</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(char),</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(char*),</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(unsigned int),</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(float),</a:t>
            </a:r>
            <a:r>
              <a:rPr lang="en-US" sz="1431" dirty="0" err="1">
                <a:solidFill>
                  <a:srgbClr val="FF0000"/>
                </a:solidFill>
                <a:latin typeface="Consolas" panose="020B0609020204030204" pitchFamily="49" charset="0"/>
                <a:cs typeface="Consolas" panose="020B0609020204030204" pitchFamily="49" charset="0"/>
              </a:rPr>
              <a:t>sizeof</a:t>
            </a:r>
            <a:r>
              <a:rPr lang="en-US" sz="1431" dirty="0">
                <a:solidFill>
                  <a:srgbClr val="FF0000"/>
                </a:solidFill>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Y-&gt;d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smtClean="0">
                <a:solidFill>
                  <a:schemeClr val="bg1">
                    <a:lumMod val="85000"/>
                  </a:schemeClr>
                </a:solidFill>
                <a:latin typeface="Consolas" panose="020B0609020204030204" pitchFamily="49" charset="0"/>
                <a:cs typeface="Consolas" panose="020B0609020204030204" pitchFamily="49" charset="0"/>
              </a:rPr>
              <a:t>);</a:t>
            </a:r>
            <a:endParaRPr lang="en-US" sz="1431" dirty="0">
              <a:solidFill>
                <a:schemeClr val="bg1">
                  <a:lumMod val="85000"/>
                </a:schemeClr>
              </a:solidFill>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smtClean="0">
                <a:solidFill>
                  <a:schemeClr val="bg1">
                    <a:lumMod val="85000"/>
                  </a:schemeClr>
                </a:solidFill>
                <a:latin typeface="Consolas" panose="020B0609020204030204" pitchFamily="49" charset="0"/>
                <a:cs typeface="Consolas" panose="020B0609020204030204" pitchFamily="49" charset="0"/>
              </a:rPr>
              <a:t>);</a:t>
            </a:r>
            <a:endParaRPr lang="en-US" sz="1431" dirty="0">
              <a:solidFill>
                <a:schemeClr val="bg1">
                  <a:lumMod val="85000"/>
                </a:schemeClr>
              </a:solidFill>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grpSp>
        <p:nvGrpSpPr>
          <p:cNvPr id="26" name="Group 25"/>
          <p:cNvGrpSpPr/>
          <p:nvPr/>
        </p:nvGrpSpPr>
        <p:grpSpPr>
          <a:xfrm>
            <a:off x="7816580" y="204386"/>
            <a:ext cx="1672090" cy="2326386"/>
            <a:chOff x="6400800" y="182880"/>
            <a:chExt cx="2103120" cy="2926080"/>
          </a:xfrm>
        </p:grpSpPr>
        <p:sp>
          <p:nvSpPr>
            <p:cNvPr id="5" name="Rectangle 4"/>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 name="Rectangle 12"/>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 name="Rectangle 15"/>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 name="Rectangle 16"/>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0" name="Rectangle 19"/>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1" name="Rectangle 20"/>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2" name="Rectangle 21"/>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23" name="Rectangle 22"/>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27" name="Left Brace 26"/>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48" name="Group 47"/>
          <p:cNvGrpSpPr/>
          <p:nvPr/>
        </p:nvGrpSpPr>
        <p:grpSpPr>
          <a:xfrm>
            <a:off x="6523652" y="212918"/>
            <a:ext cx="1185107" cy="2318933"/>
            <a:chOff x="8138160" y="143465"/>
            <a:chExt cx="1490603" cy="2916706"/>
          </a:xfrm>
        </p:grpSpPr>
        <p:sp>
          <p:nvSpPr>
            <p:cNvPr id="30" name="Left Brace 29"/>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28" name="Left Brace 27"/>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33" name="Straight Connector 32"/>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9" name="Rectangle 48"/>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50" name="Rectangle 49"/>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grpSp>
        <p:nvGrpSpPr>
          <p:cNvPr id="61" name="Group 60"/>
          <p:cNvGrpSpPr/>
          <p:nvPr/>
        </p:nvGrpSpPr>
        <p:grpSpPr>
          <a:xfrm>
            <a:off x="2129499" y="4164842"/>
            <a:ext cx="2445465" cy="252739"/>
            <a:chOff x="2655475" y="3751406"/>
            <a:chExt cx="3075855" cy="317890"/>
          </a:xfrm>
        </p:grpSpPr>
        <p:sp>
          <p:nvSpPr>
            <p:cNvPr id="62" name="Rectangle 61"/>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86" name="Rectangle 85"/>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3" name="Rectangle 92"/>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4" name="Rectangle 93"/>
            <p:cNvSpPr/>
            <p:nvPr/>
          </p:nvSpPr>
          <p:spPr>
            <a:xfrm>
              <a:off x="3249386" y="3755129"/>
              <a:ext cx="2481944"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grpSp>
        <p:nvGrpSpPr>
          <p:cNvPr id="95" name="Group 94"/>
          <p:cNvGrpSpPr/>
          <p:nvPr/>
        </p:nvGrpSpPr>
        <p:grpSpPr>
          <a:xfrm>
            <a:off x="2129499" y="4644351"/>
            <a:ext cx="2445465" cy="252739"/>
            <a:chOff x="2655475" y="3751406"/>
            <a:chExt cx="3075855" cy="317890"/>
          </a:xfrm>
        </p:grpSpPr>
        <p:sp>
          <p:nvSpPr>
            <p:cNvPr id="96" name="Rectangle 95"/>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Z</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97" name="Rectangle 96"/>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8" name="Rectangle 97"/>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9" name="Rectangle 98"/>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0" name="Rectangle 99"/>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1" name="Rectangle 100"/>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2" name="Rectangle 101"/>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3" name="Rectangle 102"/>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4" name="Rectangle 103"/>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5" name="Rectangle 104"/>
            <p:cNvSpPr/>
            <p:nvPr/>
          </p:nvSpPr>
          <p:spPr>
            <a:xfrm>
              <a:off x="3249386" y="3755129"/>
              <a:ext cx="2481944"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grpSp>
        <p:nvGrpSpPr>
          <p:cNvPr id="106" name="Group 105"/>
          <p:cNvGrpSpPr/>
          <p:nvPr/>
        </p:nvGrpSpPr>
        <p:grpSpPr>
          <a:xfrm>
            <a:off x="2129499" y="3669862"/>
            <a:ext cx="2445465" cy="252739"/>
            <a:chOff x="2655475" y="3751406"/>
            <a:chExt cx="3075855" cy="317890"/>
          </a:xfrm>
        </p:grpSpPr>
        <p:sp>
          <p:nvSpPr>
            <p:cNvPr id="107" name="Rectangle 106"/>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108" name="Rectangle 107"/>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9" name="Rectangle 108"/>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0" name="Rectangle 109"/>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1" name="Rectangle 110"/>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2" name="Rectangle 111"/>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3" name="Rectangle 112"/>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4" name="Rectangle 113"/>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5" name="Rectangle 114"/>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6" name="Rectangle 115"/>
            <p:cNvSpPr/>
            <p:nvPr/>
          </p:nvSpPr>
          <p:spPr>
            <a:xfrm>
              <a:off x="3249386" y="3755129"/>
              <a:ext cx="2481944"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7" name="Rectangle 116"/>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18" name="Group 117"/>
          <p:cNvGrpSpPr/>
          <p:nvPr/>
        </p:nvGrpSpPr>
        <p:grpSpPr>
          <a:xfrm>
            <a:off x="7777798" y="204386"/>
            <a:ext cx="1737151" cy="2767414"/>
            <a:chOff x="9759788" y="132735"/>
            <a:chExt cx="2184953" cy="3480796"/>
          </a:xfrm>
        </p:grpSpPr>
        <p:sp>
          <p:nvSpPr>
            <p:cNvPr id="119" name="Rectangle 118"/>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20" name="Group 119"/>
            <p:cNvGrpSpPr/>
            <p:nvPr/>
          </p:nvGrpSpPr>
          <p:grpSpPr>
            <a:xfrm>
              <a:off x="9808570" y="132735"/>
              <a:ext cx="2103120" cy="2926080"/>
              <a:chOff x="6400800" y="182880"/>
              <a:chExt cx="2103120" cy="2926080"/>
            </a:xfrm>
          </p:grpSpPr>
          <p:sp>
            <p:nvSpPr>
              <p:cNvPr id="122" name="Rectangle 121"/>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3" name="Rectangle 122"/>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4" name="Rectangle 123"/>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5" name="Rectangle 124"/>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6" name="Rectangle 125"/>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7" name="Rectangle 126"/>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8" name="Rectangle 127"/>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21" name="Rectangle 120"/>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sp>
        <p:nvSpPr>
          <p:cNvPr id="130" name="Rectangle 129"/>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
        <p:nvSpPr>
          <p:cNvPr id="72" name="Rectangle 71"/>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prstClr val="white"/>
                </a:solidFill>
                <a:latin typeface="Arial Narrow" panose="020B0606020202030204" pitchFamily="34" charset="0"/>
                <a:cs typeface="Consolas" panose="020B0609020204030204" pitchFamily="49" charset="0"/>
              </a:rPr>
              <a:t>% </a:t>
            </a:r>
            <a:r>
              <a:rPr lang="en-US" sz="1749" dirty="0" err="1">
                <a:solidFill>
                  <a:prstClr val="white"/>
                </a:solidFill>
                <a:latin typeface="Arial Narrow" panose="020B0606020202030204" pitchFamily="34" charset="0"/>
                <a:cs typeface="Consolas" panose="020B0609020204030204" pitchFamily="49" charset="0"/>
              </a:rPr>
              <a:t>gcc</a:t>
            </a:r>
            <a:r>
              <a:rPr lang="en-US" sz="1749" dirty="0">
                <a:solidFill>
                  <a:prstClr val="white"/>
                </a:solidFill>
                <a:latin typeface="Arial Narrow" panose="020B0606020202030204" pitchFamily="34" charset="0"/>
                <a:cs typeface="Consolas" panose="020B0609020204030204" pitchFamily="49" charset="0"/>
              </a:rPr>
              <a:t> -o </a:t>
            </a:r>
            <a:r>
              <a:rPr lang="en-US" sz="1749" dirty="0" err="1">
                <a:solidFill>
                  <a:prstClr val="white"/>
                </a:solidFill>
                <a:latin typeface="Arial Narrow" panose="020B0606020202030204" pitchFamily="34" charset="0"/>
                <a:cs typeface="Consolas" panose="020B0609020204030204" pitchFamily="49" charset="0"/>
              </a:rPr>
              <a:t>union.x</a:t>
            </a:r>
            <a:r>
              <a:rPr lang="en-US" sz="1749" dirty="0">
                <a:solidFill>
                  <a:prstClr val="white"/>
                </a:solidFill>
                <a:latin typeface="Arial Narrow" panose="020B0606020202030204" pitchFamily="34" charset="0"/>
                <a:cs typeface="Consolas" panose="020B0609020204030204" pitchFamily="49" charset="0"/>
              </a:rPr>
              <a:t> </a:t>
            </a:r>
            <a:r>
              <a:rPr lang="en-US" sz="1749" dirty="0" err="1">
                <a:solidFill>
                  <a:prstClr val="white"/>
                </a:solidFill>
                <a:latin typeface="Arial Narrow" panose="020B0606020202030204" pitchFamily="34" charset="0"/>
                <a:cs typeface="Consolas" panose="020B0609020204030204" pitchFamily="49" charset="0"/>
              </a:rPr>
              <a:t>union.c</a:t>
            </a:r>
            <a:endParaRPr lang="en-US" sz="1749" dirty="0">
              <a:solidFill>
                <a:prstClr val="white"/>
              </a:solidFill>
              <a:latin typeface="Arial Narrow" panose="020B0606020202030204" pitchFamily="34" charset="0"/>
              <a:cs typeface="Consolas" panose="020B0609020204030204" pitchFamily="49" charset="0"/>
            </a:endParaRPr>
          </a:p>
          <a:p>
            <a:r>
              <a:rPr lang="en-US" sz="1749" dirty="0">
                <a:solidFill>
                  <a:prstClr val="white"/>
                </a:solidFill>
                <a:latin typeface="Arial Narrow" panose="020B0606020202030204" pitchFamily="34" charset="0"/>
                <a:cs typeface="Consolas" panose="020B0609020204030204" pitchFamily="49" charset="0"/>
              </a:rPr>
              <a:t>% ./</a:t>
            </a:r>
            <a:r>
              <a:rPr lang="en-US" sz="1749" dirty="0" err="1">
                <a:solidFill>
                  <a:prstClr val="white"/>
                </a:solidFill>
                <a:latin typeface="Arial Narrow" panose="020B0606020202030204" pitchFamily="34" charset="0"/>
                <a:cs typeface="Consolas" panose="020B0609020204030204" pitchFamily="49" charset="0"/>
              </a:rPr>
              <a:t>union.x</a:t>
            </a:r>
            <a:endParaRPr lang="en-US" sz="1749" dirty="0">
              <a:solidFill>
                <a:prstClr val="white"/>
              </a:solidFill>
              <a:latin typeface="Arial Narrow" panose="020B0606020202030204" pitchFamily="34" charset="0"/>
              <a:cs typeface="Consolas" panose="020B0609020204030204" pitchFamily="49" charset="0"/>
            </a:endParaRPr>
          </a:p>
          <a:p>
            <a:r>
              <a:rPr lang="en-US" sz="1749" dirty="0">
                <a:solidFill>
                  <a:prstClr val="white"/>
                </a:solidFill>
                <a:latin typeface="Arial Narrow" panose="020B0606020202030204" pitchFamily="34" charset="0"/>
                <a:cs typeface="Consolas" panose="020B0609020204030204" pitchFamily="49" charset="0"/>
              </a:rPr>
              <a:t>generic=8</a:t>
            </a:r>
            <a:r>
              <a:rPr lang="en-US" sz="1590" dirty="0">
                <a:solidFill>
                  <a:prstClr val="white"/>
                </a:solidFill>
                <a:latin typeface="Arial Narrow" panose="020B0606020202030204" pitchFamily="34" charset="0"/>
                <a:cs typeface="Consolas" panose="020B0609020204030204" pitchFamily="49" charset="0"/>
              </a:rPr>
              <a:t>  </a:t>
            </a:r>
            <a:r>
              <a:rPr lang="en-US" sz="1749" dirty="0">
                <a:solidFill>
                  <a:prstClr val="white"/>
                </a:solidFill>
                <a:latin typeface="Arial Narrow" panose="020B0606020202030204" pitchFamily="34" charset="0"/>
                <a:cs typeface="Consolas" panose="020B0609020204030204" pitchFamily="49" charset="0"/>
              </a:rPr>
              <a:t>(c=1</a:t>
            </a:r>
            <a:r>
              <a:rPr lang="en-US" sz="1590" dirty="0">
                <a:solidFill>
                  <a:prstClr val="white"/>
                </a:solidFill>
                <a:latin typeface="Arial Narrow" panose="020B0606020202030204" pitchFamily="34" charset="0"/>
                <a:cs typeface="Consolas" panose="020B0609020204030204" pitchFamily="49" charset="0"/>
              </a:rPr>
              <a:t>  </a:t>
            </a:r>
            <a:r>
              <a:rPr lang="en-US" sz="1749" dirty="0">
                <a:solidFill>
                  <a:prstClr val="white"/>
                </a:solidFill>
                <a:latin typeface="Arial Narrow" panose="020B0606020202030204" pitchFamily="34" charset="0"/>
                <a:cs typeface="Consolas" panose="020B0609020204030204" pitchFamily="49" charset="0"/>
              </a:rPr>
              <a:t>s=8</a:t>
            </a:r>
            <a:r>
              <a:rPr lang="en-US" sz="1590" dirty="0">
                <a:solidFill>
                  <a:prstClr val="white"/>
                </a:solidFill>
                <a:latin typeface="Arial Narrow" panose="020B0606020202030204" pitchFamily="34" charset="0"/>
                <a:cs typeface="Consolas" panose="020B0609020204030204" pitchFamily="49" charset="0"/>
              </a:rPr>
              <a:t>  </a:t>
            </a:r>
            <a:r>
              <a:rPr lang="en-US" sz="1749" dirty="0" err="1">
                <a:solidFill>
                  <a:prstClr val="white"/>
                </a:solidFill>
                <a:latin typeface="Arial Narrow" panose="020B0606020202030204" pitchFamily="34" charset="0"/>
                <a:cs typeface="Consolas" panose="020B0609020204030204" pitchFamily="49" charset="0"/>
              </a:rPr>
              <a:t>i</a:t>
            </a:r>
            <a:r>
              <a:rPr lang="en-US" sz="1749" dirty="0">
                <a:solidFill>
                  <a:prstClr val="white"/>
                </a:solidFill>
                <a:latin typeface="Arial Narrow" panose="020B0606020202030204" pitchFamily="34" charset="0"/>
                <a:cs typeface="Consolas" panose="020B0609020204030204" pitchFamily="49" charset="0"/>
              </a:rPr>
              <a:t>=4</a:t>
            </a:r>
            <a:r>
              <a:rPr lang="en-US" sz="1590" dirty="0">
                <a:solidFill>
                  <a:prstClr val="white"/>
                </a:solidFill>
                <a:latin typeface="Arial Narrow" panose="020B0606020202030204" pitchFamily="34" charset="0"/>
                <a:cs typeface="Consolas" panose="020B0609020204030204" pitchFamily="49" charset="0"/>
              </a:rPr>
              <a:t>  </a:t>
            </a:r>
            <a:r>
              <a:rPr lang="en-US" sz="1749" dirty="0">
                <a:solidFill>
                  <a:prstClr val="white"/>
                </a:solidFill>
                <a:latin typeface="Arial Narrow" panose="020B0606020202030204" pitchFamily="34" charset="0"/>
                <a:cs typeface="Consolas" panose="020B0609020204030204" pitchFamily="49" charset="0"/>
              </a:rPr>
              <a:t>l=4</a:t>
            </a:r>
            <a:r>
              <a:rPr lang="en-US" sz="1590" dirty="0">
                <a:solidFill>
                  <a:prstClr val="white"/>
                </a:solidFill>
                <a:latin typeface="Arial Narrow" panose="020B0606020202030204" pitchFamily="34" charset="0"/>
                <a:cs typeface="Consolas" panose="020B0609020204030204" pitchFamily="49" charset="0"/>
              </a:rPr>
              <a:t>  </a:t>
            </a:r>
            <a:r>
              <a:rPr lang="en-US" sz="1749" dirty="0">
                <a:solidFill>
                  <a:prstClr val="white"/>
                </a:solidFill>
                <a:latin typeface="Arial Narrow" panose="020B0606020202030204" pitchFamily="34" charset="0"/>
                <a:cs typeface="Consolas" panose="020B0609020204030204" pitchFamily="49" charset="0"/>
              </a:rPr>
              <a:t>u=4</a:t>
            </a:r>
            <a:r>
              <a:rPr lang="en-US" sz="1590" dirty="0">
                <a:solidFill>
                  <a:prstClr val="white"/>
                </a:solidFill>
                <a:latin typeface="Arial Narrow" panose="020B0606020202030204" pitchFamily="34" charset="0"/>
                <a:cs typeface="Consolas" panose="020B0609020204030204" pitchFamily="49" charset="0"/>
              </a:rPr>
              <a:t>  </a:t>
            </a:r>
            <a:r>
              <a:rPr lang="en-US" sz="1749" dirty="0">
                <a:solidFill>
                  <a:prstClr val="white"/>
                </a:solidFill>
                <a:latin typeface="Arial Narrow" panose="020B0606020202030204" pitchFamily="34" charset="0"/>
                <a:cs typeface="Consolas" panose="020B0609020204030204" pitchFamily="49" charset="0"/>
              </a:rPr>
              <a:t>f=4</a:t>
            </a:r>
            <a:r>
              <a:rPr lang="en-US" sz="1590" dirty="0">
                <a:solidFill>
                  <a:prstClr val="white"/>
                </a:solidFill>
                <a:latin typeface="Arial Narrow" panose="020B0606020202030204" pitchFamily="34" charset="0"/>
                <a:cs typeface="Consolas" panose="020B0609020204030204" pitchFamily="49" charset="0"/>
              </a:rPr>
              <a:t>  </a:t>
            </a:r>
            <a:r>
              <a:rPr lang="en-US" sz="1749" dirty="0">
                <a:solidFill>
                  <a:prstClr val="white"/>
                </a:solidFill>
                <a:latin typeface="Arial Narrow" panose="020B0606020202030204" pitchFamily="34" charset="0"/>
                <a:cs typeface="Consolas" panose="020B0609020204030204" pitchFamily="49" charset="0"/>
              </a:rPr>
              <a:t>d=8)</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2" name="Rectangle 1"/>
          <p:cNvSpPr/>
          <p:nvPr/>
        </p:nvSpPr>
        <p:spPr>
          <a:xfrm>
            <a:off x="5924202" y="5495529"/>
            <a:ext cx="3623830" cy="2350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Tree>
    <p:extLst>
      <p:ext uri="{BB962C8B-B14F-4D97-AF65-F5344CB8AC3E}">
        <p14:creationId xmlns:p14="http://schemas.microsoft.com/office/powerpoint/2010/main" val="193723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a:solidFill>
                  <a:srgbClr val="FF0000"/>
                </a:solidFill>
                <a:latin typeface="Consolas" panose="020B0609020204030204" pitchFamily="49" charset="0"/>
                <a:cs typeface="Consolas" panose="020B0609020204030204" pitchFamily="49" charset="0"/>
              </a:rPr>
              <a:t>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solidFill>
                  <a:srgbClr val="D9D9D9"/>
                </a:solidFill>
                <a:latin typeface="Consolas" panose="020B0609020204030204" pitchFamily="49" charset="0"/>
                <a:cs typeface="Consolas" panose="020B0609020204030204" pitchFamily="49" charset="0"/>
              </a:rPr>
              <a:t>Z-&gt;f = 6.0;</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Y-&gt;d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grpSp>
        <p:nvGrpSpPr>
          <p:cNvPr id="63" name="Group 62"/>
          <p:cNvGrpSpPr/>
          <p:nvPr/>
        </p:nvGrpSpPr>
        <p:grpSpPr>
          <a:xfrm>
            <a:off x="2129499" y="4164842"/>
            <a:ext cx="2445465" cy="252739"/>
            <a:chOff x="2655475" y="3751406"/>
            <a:chExt cx="3075855" cy="317890"/>
          </a:xfrm>
        </p:grpSpPr>
        <p:sp>
          <p:nvSpPr>
            <p:cNvPr id="51" name="Rectangle 50"/>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2" name="Rectangle 51"/>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3" name="Rectangle 52"/>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4" name="Rectangle 53"/>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5" name="Rectangle 54"/>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6" name="Rectangle 55"/>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7" name="Rectangle 56"/>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0" name="Rectangle 59"/>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8" name="Rectangle 57"/>
            <p:cNvSpPr/>
            <p:nvPr/>
          </p:nvSpPr>
          <p:spPr>
            <a:xfrm>
              <a:off x="3249386" y="3755129"/>
              <a:ext cx="2481944"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62" name="Rectangle 61"/>
          <p:cNvSpPr/>
          <p:nvPr/>
        </p:nvSpPr>
        <p:spPr>
          <a:xfrm>
            <a:off x="2129500" y="3675941"/>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2848349" y="3673172"/>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095008" y="3673172"/>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3341667" y="367151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3588327" y="3669858"/>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3834986" y="3669860"/>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4081646" y="3669861"/>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4328305" y="367594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2601689" y="3673179"/>
            <a:ext cx="246659" cy="246659"/>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90" b="1" dirty="0">
              <a:solidFill>
                <a:prstClr val="black"/>
              </a:solidFill>
            </a:endParaRPr>
          </a:p>
        </p:txBody>
      </p:sp>
      <p:sp>
        <p:nvSpPr>
          <p:cNvPr id="107" name="Rectangle 10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grpSp>
        <p:nvGrpSpPr>
          <p:cNvPr id="2" name="Group 1"/>
          <p:cNvGrpSpPr/>
          <p:nvPr/>
        </p:nvGrpSpPr>
        <p:grpSpPr>
          <a:xfrm>
            <a:off x="2129499" y="4643084"/>
            <a:ext cx="2445464" cy="252739"/>
            <a:chOff x="2129499" y="4643084"/>
            <a:chExt cx="2445464" cy="252739"/>
          </a:xfrm>
        </p:grpSpPr>
        <p:sp>
          <p:nvSpPr>
            <p:cNvPr id="76" name="Rectangle 75"/>
            <p:cNvSpPr/>
            <p:nvPr/>
          </p:nvSpPr>
          <p:spPr>
            <a:xfrm>
              <a:off x="2129499" y="4649163"/>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chemeClr val="tx1"/>
                  </a:solidFill>
                </a:rPr>
                <a:t>Z</a:t>
              </a:r>
              <a:r>
                <a:rPr lang="en-US" sz="1431" dirty="0">
                  <a:solidFill>
                    <a:schemeClr val="tx1"/>
                  </a:solidFill>
                  <a:latin typeface="Times New Roman" panose="02020603050405020304" pitchFamily="18" charset="0"/>
                  <a:cs typeface="Times New Roman" panose="02020603050405020304" pitchFamily="18" charset="0"/>
                </a:rPr>
                <a:t>→</a:t>
              </a:r>
              <a:endParaRPr lang="en-US" sz="1431" dirty="0">
                <a:solidFill>
                  <a:schemeClr val="tx1"/>
                </a:solidFill>
              </a:endParaRPr>
            </a:p>
          </p:txBody>
        </p:sp>
        <p:sp>
          <p:nvSpPr>
            <p:cNvPr id="78" name="Rectangle 77"/>
            <p:cNvSpPr/>
            <p:nvPr/>
          </p:nvSpPr>
          <p:spPr>
            <a:xfrm>
              <a:off x="3095007" y="4646394"/>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341666" y="4644740"/>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0" name="Rectangle 79"/>
            <p:cNvSpPr/>
            <p:nvPr/>
          </p:nvSpPr>
          <p:spPr>
            <a:xfrm>
              <a:off x="2595546" y="4643085"/>
              <a:ext cx="1239438"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3834985" y="464308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2" name="Rectangle 81"/>
            <p:cNvSpPr/>
            <p:nvPr/>
          </p:nvSpPr>
          <p:spPr>
            <a:xfrm>
              <a:off x="4081644" y="4645609"/>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3" name="Rectangle 82"/>
            <p:cNvSpPr/>
            <p:nvPr/>
          </p:nvSpPr>
          <p:spPr>
            <a:xfrm>
              <a:off x="4328304" y="464916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4" name="Rectangle 83"/>
            <p:cNvSpPr/>
            <p:nvPr/>
          </p:nvSpPr>
          <p:spPr>
            <a:xfrm>
              <a:off x="2601688" y="4646395"/>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109" name="Rectangle 108"/>
            <p:cNvSpPr/>
            <p:nvPr/>
          </p:nvSpPr>
          <p:spPr>
            <a:xfrm>
              <a:off x="3588326" y="4645610"/>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5" name="Rectangle 84"/>
            <p:cNvSpPr/>
            <p:nvPr/>
          </p:nvSpPr>
          <p:spPr>
            <a:xfrm>
              <a:off x="2601688" y="4646044"/>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71" name="Rectangle 70"/>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C0C0C0"/>
                </a:solidFill>
                <a:latin typeface="Arial Narrow" panose="020B0606020202030204" pitchFamily="34" charset="0"/>
                <a:cs typeface="Consolas" panose="020B0609020204030204" pitchFamily="49" charset="0"/>
              </a:rPr>
              <a:t>% </a:t>
            </a:r>
            <a:r>
              <a:rPr lang="en-US" sz="1749" dirty="0" err="1">
                <a:solidFill>
                  <a:srgbClr val="C0C0C0"/>
                </a:solidFill>
                <a:latin typeface="Arial Narrow" panose="020B0606020202030204" pitchFamily="34" charset="0"/>
                <a:cs typeface="Consolas" panose="020B0609020204030204" pitchFamily="49" charset="0"/>
              </a:rPr>
              <a:t>gcc</a:t>
            </a:r>
            <a:r>
              <a:rPr lang="en-US" sz="1749" dirty="0">
                <a:solidFill>
                  <a:srgbClr val="C0C0C0"/>
                </a:solidFill>
                <a:latin typeface="Arial Narrow" panose="020B0606020202030204" pitchFamily="34" charset="0"/>
                <a:cs typeface="Consolas" panose="020B0609020204030204" pitchFamily="49" charset="0"/>
              </a:rPr>
              <a:t> -o </a:t>
            </a:r>
            <a:r>
              <a:rPr lang="en-US" sz="1749" dirty="0" err="1">
                <a:solidFill>
                  <a:srgbClr val="C0C0C0"/>
                </a:solidFill>
                <a:latin typeface="Arial Narrow" panose="020B0606020202030204" pitchFamily="34" charset="0"/>
                <a:cs typeface="Consolas" panose="020B0609020204030204" pitchFamily="49" charset="0"/>
              </a:rPr>
              <a:t>union.x</a:t>
            </a:r>
            <a:r>
              <a:rPr lang="en-US" sz="1749" dirty="0">
                <a:solidFill>
                  <a:srgbClr val="C0C0C0"/>
                </a:solidFill>
                <a:latin typeface="Arial Narrow" panose="020B0606020202030204" pitchFamily="34" charset="0"/>
                <a:cs typeface="Consolas" panose="020B0609020204030204" pitchFamily="49" charset="0"/>
              </a:rPr>
              <a:t> </a:t>
            </a:r>
            <a:r>
              <a:rPr lang="en-US" sz="1749" dirty="0" err="1">
                <a:solidFill>
                  <a:srgbClr val="C0C0C0"/>
                </a:solidFill>
                <a:latin typeface="Arial Narrow" panose="020B0606020202030204" pitchFamily="34" charset="0"/>
                <a:cs typeface="Consolas" panose="020B0609020204030204" pitchFamily="49" charset="0"/>
              </a:rPr>
              <a:t>union.c</a:t>
            </a:r>
            <a:endParaRPr lang="en-US" sz="1749" dirty="0">
              <a:solidFill>
                <a:srgbClr val="C0C0C0"/>
              </a:solidFill>
              <a:latin typeface="Arial Narrow" panose="020B0606020202030204" pitchFamily="34" charset="0"/>
              <a:cs typeface="Consolas" panose="020B0609020204030204" pitchFamily="49" charset="0"/>
            </a:endParaRPr>
          </a:p>
          <a:p>
            <a:r>
              <a:rPr lang="en-US" sz="1749" dirty="0">
                <a:solidFill>
                  <a:srgbClr val="C0C0C0"/>
                </a:solidFill>
                <a:latin typeface="Arial Narrow" panose="020B0606020202030204" pitchFamily="34" charset="0"/>
                <a:cs typeface="Consolas" panose="020B0609020204030204" pitchFamily="49" charset="0"/>
              </a:rPr>
              <a:t>% ./</a:t>
            </a:r>
            <a:r>
              <a:rPr lang="en-US" sz="1749" dirty="0" err="1">
                <a:solidFill>
                  <a:srgbClr val="C0C0C0"/>
                </a:solidFill>
                <a:latin typeface="Arial Narrow" panose="020B0606020202030204" pitchFamily="34" charset="0"/>
                <a:cs typeface="Consolas" panose="020B0609020204030204" pitchFamily="49" charset="0"/>
              </a:rPr>
              <a:t>union.x</a:t>
            </a:r>
            <a:endParaRPr lang="en-US" sz="1749" dirty="0">
              <a:solidFill>
                <a:srgbClr val="C0C0C0"/>
              </a:solidFill>
              <a:latin typeface="Arial Narrow" panose="020B0606020202030204" pitchFamily="34" charset="0"/>
              <a:cs typeface="Consolas" panose="020B0609020204030204" pitchFamily="49" charset="0"/>
            </a:endParaRPr>
          </a:p>
          <a:p>
            <a:r>
              <a:rPr lang="en-US" sz="1749" dirty="0">
                <a:solidFill>
                  <a:srgbClr val="C0C0C0"/>
                </a:solidFill>
                <a:latin typeface="Arial Narrow" panose="020B0606020202030204" pitchFamily="34" charset="0"/>
                <a:cs typeface="Consolas" panose="020B0609020204030204" pitchFamily="49" charset="0"/>
              </a:rPr>
              <a:t>generic=8</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(c=1</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s=8</a:t>
            </a:r>
            <a:r>
              <a:rPr lang="en-US" sz="1590" dirty="0">
                <a:solidFill>
                  <a:srgbClr val="C0C0C0"/>
                </a:solidFill>
                <a:latin typeface="Arial Narrow" panose="020B0606020202030204" pitchFamily="34" charset="0"/>
                <a:cs typeface="Consolas" panose="020B0609020204030204" pitchFamily="49" charset="0"/>
              </a:rPr>
              <a:t>  </a:t>
            </a:r>
            <a:r>
              <a:rPr lang="en-US" sz="1749" dirty="0" err="1">
                <a:solidFill>
                  <a:srgbClr val="C0C0C0"/>
                </a:solidFill>
                <a:latin typeface="Arial Narrow" panose="020B0606020202030204" pitchFamily="34" charset="0"/>
                <a:cs typeface="Consolas" panose="020B0609020204030204" pitchFamily="49" charset="0"/>
              </a:rPr>
              <a:t>i</a:t>
            </a:r>
            <a:r>
              <a:rPr lang="en-US" sz="1749" dirty="0">
                <a:solidFill>
                  <a:srgbClr val="C0C0C0"/>
                </a:solidFill>
                <a:latin typeface="Arial Narrow" panose="020B0606020202030204" pitchFamily="34" charset="0"/>
                <a:cs typeface="Consolas" panose="020B0609020204030204" pitchFamily="49" charset="0"/>
              </a:rPr>
              <a:t>=4</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l=4</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u=4</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f=4</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d=8)</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grpSp>
        <p:nvGrpSpPr>
          <p:cNvPr id="74" name="Group 73"/>
          <p:cNvGrpSpPr/>
          <p:nvPr/>
        </p:nvGrpSpPr>
        <p:grpSpPr>
          <a:xfrm>
            <a:off x="6171176" y="204386"/>
            <a:ext cx="3343773" cy="2767414"/>
            <a:chOff x="6171176" y="204386"/>
            <a:chExt cx="3343773" cy="2767414"/>
          </a:xfrm>
        </p:grpSpPr>
        <p:sp>
          <p:nvSpPr>
            <p:cNvPr id="108" name="Rectangle 107"/>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10" name="Group 109"/>
            <p:cNvGrpSpPr/>
            <p:nvPr/>
          </p:nvGrpSpPr>
          <p:grpSpPr>
            <a:xfrm>
              <a:off x="7816580" y="204386"/>
              <a:ext cx="1672090" cy="2326386"/>
              <a:chOff x="6400800" y="182880"/>
              <a:chExt cx="2103120" cy="2926080"/>
            </a:xfrm>
          </p:grpSpPr>
          <p:sp>
            <p:nvSpPr>
              <p:cNvPr id="134" name="Rectangle 133"/>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5" name="Rectangle 134"/>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6" name="Rectangle 135"/>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7" name="Rectangle 136"/>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8" name="Rectangle 137"/>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9" name="Rectangle 138"/>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0" name="Rectangle 139"/>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1" name="Rectangle 140"/>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1" name="Left Brace 110"/>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112" name="Group 111"/>
            <p:cNvGrpSpPr/>
            <p:nvPr/>
          </p:nvGrpSpPr>
          <p:grpSpPr>
            <a:xfrm>
              <a:off x="6523652" y="212918"/>
              <a:ext cx="1185107" cy="2318933"/>
              <a:chOff x="8138160" y="143465"/>
              <a:chExt cx="1490603" cy="2916706"/>
            </a:xfrm>
          </p:grpSpPr>
          <p:sp>
            <p:nvSpPr>
              <p:cNvPr id="128" name="Left Brace 127"/>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29" name="Left Brace 128"/>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30" name="Straight Connector 129"/>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3" name="Rectangle 112"/>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114" name="Rectangle 113"/>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15" name="Rectangle 114"/>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16" name="Group 115"/>
            <p:cNvGrpSpPr/>
            <p:nvPr/>
          </p:nvGrpSpPr>
          <p:grpSpPr>
            <a:xfrm>
              <a:off x="7777798" y="204386"/>
              <a:ext cx="1737151" cy="2767414"/>
              <a:chOff x="9759788" y="132735"/>
              <a:chExt cx="2184953" cy="3480796"/>
            </a:xfrm>
          </p:grpSpPr>
          <p:sp>
            <p:nvSpPr>
              <p:cNvPr id="117" name="Rectangle 116"/>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18" name="Group 117"/>
              <p:cNvGrpSpPr/>
              <p:nvPr/>
            </p:nvGrpSpPr>
            <p:grpSpPr>
              <a:xfrm>
                <a:off x="9808570" y="132735"/>
                <a:ext cx="2103120" cy="2926080"/>
                <a:chOff x="6400800" y="182880"/>
                <a:chExt cx="2103120" cy="2926080"/>
              </a:xfrm>
            </p:grpSpPr>
            <p:sp>
              <p:nvSpPr>
                <p:cNvPr id="120" name="Rectangle 119"/>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1" name="Rectangle 120"/>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2" name="Rectangle 121"/>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3" name="Rectangle 122"/>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4" name="Rectangle 123"/>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5" name="Rectangle 124"/>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6" name="Rectangle 125"/>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7" name="Rectangle 126"/>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9" name="Rectangle 118"/>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sp>
        <p:nvSpPr>
          <p:cNvPr id="72" name="Rectangle 71"/>
          <p:cNvSpPr/>
          <p:nvPr/>
        </p:nvSpPr>
        <p:spPr>
          <a:xfrm>
            <a:off x="2601688" y="3673173"/>
            <a:ext cx="246659"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FF0000"/>
                </a:solidFill>
              </a:rPr>
              <a:t>A</a:t>
            </a:r>
          </a:p>
        </p:txBody>
      </p:sp>
      <p:sp>
        <p:nvSpPr>
          <p:cNvPr id="93" name="Rectangle 92"/>
          <p:cNvSpPr/>
          <p:nvPr/>
        </p:nvSpPr>
        <p:spPr>
          <a:xfrm>
            <a:off x="2601690" y="3672825"/>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Tree>
    <p:extLst>
      <p:ext uri="{BB962C8B-B14F-4D97-AF65-F5344CB8AC3E}">
        <p14:creationId xmlns:p14="http://schemas.microsoft.com/office/powerpoint/2010/main" val="398324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2000"/>
                                        <p:tgtEl>
                                          <p:spTgt spid="72"/>
                                        </p:tgtEl>
                                      </p:cBhvr>
                                    </p:animEffect>
                                    <p:anim calcmode="lin" valueType="num">
                                      <p:cBhvr>
                                        <p:cTn id="8" dur="2000" fill="hold"/>
                                        <p:tgtEl>
                                          <p:spTgt spid="72"/>
                                        </p:tgtEl>
                                        <p:attrNameLst>
                                          <p:attrName>style.rotation</p:attrName>
                                        </p:attrNameLst>
                                      </p:cBhvr>
                                      <p:tavLst>
                                        <p:tav tm="0">
                                          <p:val>
                                            <p:fltVal val="720"/>
                                          </p:val>
                                        </p:tav>
                                        <p:tav tm="100000">
                                          <p:val>
                                            <p:fltVal val="0"/>
                                          </p:val>
                                        </p:tav>
                                      </p:tavLst>
                                    </p:anim>
                                    <p:anim calcmode="lin" valueType="num">
                                      <p:cBhvr>
                                        <p:cTn id="9" dur="2000" fill="hold"/>
                                        <p:tgtEl>
                                          <p:spTgt spid="72"/>
                                        </p:tgtEl>
                                        <p:attrNameLst>
                                          <p:attrName>ppt_h</p:attrName>
                                        </p:attrNameLst>
                                      </p:cBhvr>
                                      <p:tavLst>
                                        <p:tav tm="0">
                                          <p:val>
                                            <p:fltVal val="0"/>
                                          </p:val>
                                        </p:tav>
                                        <p:tav tm="100000">
                                          <p:val>
                                            <p:strVal val="#ppt_h"/>
                                          </p:val>
                                        </p:tav>
                                      </p:tavLst>
                                    </p:anim>
                                    <p:anim calcmode="lin" valueType="num">
                                      <p:cBhvr>
                                        <p:cTn id="10" dur="2000" fill="hold"/>
                                        <p:tgtEl>
                                          <p:spTgt spid="7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Y-&gt;d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grpSp>
        <p:nvGrpSpPr>
          <p:cNvPr id="63" name="Group 62"/>
          <p:cNvGrpSpPr/>
          <p:nvPr/>
        </p:nvGrpSpPr>
        <p:grpSpPr>
          <a:xfrm>
            <a:off x="2129499" y="4164842"/>
            <a:ext cx="2445465" cy="252739"/>
            <a:chOff x="2655475" y="3751406"/>
            <a:chExt cx="3075855" cy="317890"/>
          </a:xfrm>
        </p:grpSpPr>
        <p:sp>
          <p:nvSpPr>
            <p:cNvPr id="51" name="Rectangle 50"/>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2" name="Rectangle 51"/>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3" name="Rectangle 52"/>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4" name="Rectangle 53"/>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5" name="Rectangle 54"/>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6" name="Rectangle 55"/>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7" name="Rectangle 56"/>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0" name="Rectangle 59"/>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8" name="Rectangle 57"/>
            <p:cNvSpPr/>
            <p:nvPr/>
          </p:nvSpPr>
          <p:spPr>
            <a:xfrm>
              <a:off x="3249386" y="3755129"/>
              <a:ext cx="2481944"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76" name="Rectangle 75"/>
          <p:cNvSpPr/>
          <p:nvPr/>
        </p:nvSpPr>
        <p:spPr>
          <a:xfrm>
            <a:off x="2129499" y="4649163"/>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Z</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78" name="Rectangle 77"/>
          <p:cNvSpPr/>
          <p:nvPr/>
        </p:nvSpPr>
        <p:spPr>
          <a:xfrm>
            <a:off x="3095007" y="4646394"/>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341666" y="4644740"/>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0" name="Rectangle 79"/>
          <p:cNvSpPr/>
          <p:nvPr/>
        </p:nvSpPr>
        <p:spPr>
          <a:xfrm>
            <a:off x="2595546" y="4643085"/>
            <a:ext cx="1239438"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3834985" y="464308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2" name="Rectangle 81"/>
          <p:cNvSpPr/>
          <p:nvPr/>
        </p:nvSpPr>
        <p:spPr>
          <a:xfrm>
            <a:off x="4081644" y="4645609"/>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3" name="Rectangle 82"/>
          <p:cNvSpPr/>
          <p:nvPr/>
        </p:nvSpPr>
        <p:spPr>
          <a:xfrm>
            <a:off x="4328304" y="464916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4" name="Rectangle 83"/>
          <p:cNvSpPr/>
          <p:nvPr/>
        </p:nvSpPr>
        <p:spPr>
          <a:xfrm>
            <a:off x="2601688" y="4646395"/>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grpSp>
        <p:nvGrpSpPr>
          <p:cNvPr id="61" name="Group 60"/>
          <p:cNvGrpSpPr/>
          <p:nvPr/>
        </p:nvGrpSpPr>
        <p:grpSpPr>
          <a:xfrm>
            <a:off x="2129499" y="3669862"/>
            <a:ext cx="2445465" cy="252739"/>
            <a:chOff x="2655475" y="3731950"/>
            <a:chExt cx="3075855" cy="317890"/>
          </a:xfrm>
        </p:grpSpPr>
        <p:sp>
          <p:nvSpPr>
            <p:cNvPr id="62" name="Rectangle 61"/>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3559628" y="3736113"/>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869871" y="3736113"/>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4180114" y="3734032"/>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490357" y="3731951"/>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800600" y="3731950"/>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5110843" y="3731950"/>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421086" y="3739597"/>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3249385" y="3736114"/>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A</a:t>
              </a:r>
            </a:p>
          </p:txBody>
        </p:sp>
        <p:sp>
          <p:nvSpPr>
            <p:cNvPr id="93" name="Rectangle 92"/>
            <p:cNvSpPr/>
            <p:nvPr/>
          </p:nvSpPr>
          <p:spPr>
            <a:xfrm>
              <a:off x="3249386" y="373567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07" name="Rectangle 10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
        <p:nvSpPr>
          <p:cNvPr id="77" name="Rectangle 76"/>
          <p:cNvSpPr/>
          <p:nvPr/>
        </p:nvSpPr>
        <p:spPr>
          <a:xfrm>
            <a:off x="2608732" y="4650354"/>
            <a:ext cx="979593"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FF0000"/>
                </a:solidFill>
              </a:rPr>
              <a:t>6.00000</a:t>
            </a:r>
          </a:p>
        </p:txBody>
      </p:sp>
      <p:sp>
        <p:nvSpPr>
          <p:cNvPr id="109" name="Rectangle 108"/>
          <p:cNvSpPr/>
          <p:nvPr/>
        </p:nvSpPr>
        <p:spPr>
          <a:xfrm>
            <a:off x="3588326" y="4645610"/>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5" name="Rectangle 84"/>
          <p:cNvSpPr/>
          <p:nvPr/>
        </p:nvSpPr>
        <p:spPr>
          <a:xfrm>
            <a:off x="2601688" y="4646044"/>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1" name="Rectangle 70"/>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C0C0C0"/>
                </a:solidFill>
                <a:latin typeface="Arial Narrow" panose="020B0606020202030204" pitchFamily="34" charset="0"/>
                <a:cs typeface="Consolas" panose="020B0609020204030204" pitchFamily="49" charset="0"/>
              </a:rPr>
              <a:t>% </a:t>
            </a:r>
            <a:r>
              <a:rPr lang="en-US" sz="1749" dirty="0" err="1">
                <a:solidFill>
                  <a:srgbClr val="C0C0C0"/>
                </a:solidFill>
                <a:latin typeface="Arial Narrow" panose="020B0606020202030204" pitchFamily="34" charset="0"/>
                <a:cs typeface="Consolas" panose="020B0609020204030204" pitchFamily="49" charset="0"/>
              </a:rPr>
              <a:t>gcc</a:t>
            </a:r>
            <a:r>
              <a:rPr lang="en-US" sz="1749" dirty="0">
                <a:solidFill>
                  <a:srgbClr val="C0C0C0"/>
                </a:solidFill>
                <a:latin typeface="Arial Narrow" panose="020B0606020202030204" pitchFamily="34" charset="0"/>
                <a:cs typeface="Consolas" panose="020B0609020204030204" pitchFamily="49" charset="0"/>
              </a:rPr>
              <a:t> -o </a:t>
            </a:r>
            <a:r>
              <a:rPr lang="en-US" sz="1749" dirty="0" err="1">
                <a:solidFill>
                  <a:srgbClr val="C0C0C0"/>
                </a:solidFill>
                <a:latin typeface="Arial Narrow" panose="020B0606020202030204" pitchFamily="34" charset="0"/>
                <a:cs typeface="Consolas" panose="020B0609020204030204" pitchFamily="49" charset="0"/>
              </a:rPr>
              <a:t>union.x</a:t>
            </a:r>
            <a:r>
              <a:rPr lang="en-US" sz="1749" dirty="0">
                <a:solidFill>
                  <a:srgbClr val="C0C0C0"/>
                </a:solidFill>
                <a:latin typeface="Arial Narrow" panose="020B0606020202030204" pitchFamily="34" charset="0"/>
                <a:cs typeface="Consolas" panose="020B0609020204030204" pitchFamily="49" charset="0"/>
              </a:rPr>
              <a:t> </a:t>
            </a:r>
            <a:r>
              <a:rPr lang="en-US" sz="1749" dirty="0" err="1">
                <a:solidFill>
                  <a:srgbClr val="C0C0C0"/>
                </a:solidFill>
                <a:latin typeface="Arial Narrow" panose="020B0606020202030204" pitchFamily="34" charset="0"/>
                <a:cs typeface="Consolas" panose="020B0609020204030204" pitchFamily="49" charset="0"/>
              </a:rPr>
              <a:t>union.c</a:t>
            </a:r>
            <a:endParaRPr lang="en-US" sz="1749" dirty="0">
              <a:solidFill>
                <a:srgbClr val="C0C0C0"/>
              </a:solidFill>
              <a:latin typeface="Arial Narrow" panose="020B0606020202030204" pitchFamily="34" charset="0"/>
              <a:cs typeface="Consolas" panose="020B0609020204030204" pitchFamily="49" charset="0"/>
            </a:endParaRPr>
          </a:p>
          <a:p>
            <a:r>
              <a:rPr lang="en-US" sz="1749" dirty="0">
                <a:solidFill>
                  <a:srgbClr val="C0C0C0"/>
                </a:solidFill>
                <a:latin typeface="Arial Narrow" panose="020B0606020202030204" pitchFamily="34" charset="0"/>
                <a:cs typeface="Consolas" panose="020B0609020204030204" pitchFamily="49" charset="0"/>
              </a:rPr>
              <a:t>% ./</a:t>
            </a:r>
            <a:r>
              <a:rPr lang="en-US" sz="1749" dirty="0" err="1">
                <a:solidFill>
                  <a:srgbClr val="C0C0C0"/>
                </a:solidFill>
                <a:latin typeface="Arial Narrow" panose="020B0606020202030204" pitchFamily="34" charset="0"/>
                <a:cs typeface="Consolas" panose="020B0609020204030204" pitchFamily="49" charset="0"/>
              </a:rPr>
              <a:t>union.x</a:t>
            </a:r>
            <a:endParaRPr lang="en-US" sz="1749" dirty="0">
              <a:solidFill>
                <a:srgbClr val="C0C0C0"/>
              </a:solidFill>
              <a:latin typeface="Arial Narrow" panose="020B0606020202030204" pitchFamily="34" charset="0"/>
              <a:cs typeface="Consolas" panose="020B0609020204030204" pitchFamily="49" charset="0"/>
            </a:endParaRPr>
          </a:p>
          <a:p>
            <a:r>
              <a:rPr lang="en-US" sz="1749" dirty="0">
                <a:solidFill>
                  <a:srgbClr val="C0C0C0"/>
                </a:solidFill>
                <a:latin typeface="Arial Narrow" panose="020B0606020202030204" pitchFamily="34" charset="0"/>
                <a:cs typeface="Consolas" panose="020B0609020204030204" pitchFamily="49" charset="0"/>
              </a:rPr>
              <a:t>generic=8</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(c=1</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s=8</a:t>
            </a:r>
            <a:r>
              <a:rPr lang="en-US" sz="1590" dirty="0">
                <a:solidFill>
                  <a:srgbClr val="C0C0C0"/>
                </a:solidFill>
                <a:latin typeface="Arial Narrow" panose="020B0606020202030204" pitchFamily="34" charset="0"/>
                <a:cs typeface="Consolas" panose="020B0609020204030204" pitchFamily="49" charset="0"/>
              </a:rPr>
              <a:t>  </a:t>
            </a:r>
            <a:r>
              <a:rPr lang="en-US" sz="1749" dirty="0" err="1">
                <a:solidFill>
                  <a:srgbClr val="C0C0C0"/>
                </a:solidFill>
                <a:latin typeface="Arial Narrow" panose="020B0606020202030204" pitchFamily="34" charset="0"/>
                <a:cs typeface="Consolas" panose="020B0609020204030204" pitchFamily="49" charset="0"/>
              </a:rPr>
              <a:t>i</a:t>
            </a:r>
            <a:r>
              <a:rPr lang="en-US" sz="1749" dirty="0">
                <a:solidFill>
                  <a:srgbClr val="C0C0C0"/>
                </a:solidFill>
                <a:latin typeface="Arial Narrow" panose="020B0606020202030204" pitchFamily="34" charset="0"/>
                <a:cs typeface="Consolas" panose="020B0609020204030204" pitchFamily="49" charset="0"/>
              </a:rPr>
              <a:t>=4</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l=4</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u=4</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f=4</a:t>
            </a:r>
            <a:r>
              <a:rPr lang="en-US" sz="1590" dirty="0">
                <a:solidFill>
                  <a:srgbClr val="C0C0C0"/>
                </a:solidFill>
                <a:latin typeface="Arial Narrow" panose="020B0606020202030204" pitchFamily="34" charset="0"/>
                <a:cs typeface="Consolas" panose="020B0609020204030204" pitchFamily="49" charset="0"/>
              </a:rPr>
              <a:t>  </a:t>
            </a:r>
            <a:r>
              <a:rPr lang="en-US" sz="1749" dirty="0">
                <a:solidFill>
                  <a:srgbClr val="C0C0C0"/>
                </a:solidFill>
                <a:latin typeface="Arial Narrow" panose="020B0606020202030204" pitchFamily="34" charset="0"/>
                <a:cs typeface="Consolas" panose="020B0609020204030204" pitchFamily="49" charset="0"/>
              </a:rPr>
              <a:t>d=8)</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grpSp>
        <p:nvGrpSpPr>
          <p:cNvPr id="74" name="Group 73"/>
          <p:cNvGrpSpPr/>
          <p:nvPr/>
        </p:nvGrpSpPr>
        <p:grpSpPr>
          <a:xfrm>
            <a:off x="6171176" y="204386"/>
            <a:ext cx="3343773" cy="2767414"/>
            <a:chOff x="6171176" y="204386"/>
            <a:chExt cx="3343773" cy="2767414"/>
          </a:xfrm>
        </p:grpSpPr>
        <p:sp>
          <p:nvSpPr>
            <p:cNvPr id="108" name="Rectangle 107"/>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10" name="Group 109"/>
            <p:cNvGrpSpPr/>
            <p:nvPr/>
          </p:nvGrpSpPr>
          <p:grpSpPr>
            <a:xfrm>
              <a:off x="7816580" y="204386"/>
              <a:ext cx="1672090" cy="2326386"/>
              <a:chOff x="6400800" y="182880"/>
              <a:chExt cx="2103120" cy="2926080"/>
            </a:xfrm>
          </p:grpSpPr>
          <p:sp>
            <p:nvSpPr>
              <p:cNvPr id="134" name="Rectangle 133"/>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5" name="Rectangle 134"/>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6" name="Rectangle 135"/>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7" name="Rectangle 136"/>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8" name="Rectangle 137"/>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9" name="Rectangle 138"/>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0" name="Rectangle 139"/>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1" name="Rectangle 140"/>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1" name="Left Brace 110"/>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112" name="Group 111"/>
            <p:cNvGrpSpPr/>
            <p:nvPr/>
          </p:nvGrpSpPr>
          <p:grpSpPr>
            <a:xfrm>
              <a:off x="6523652" y="212918"/>
              <a:ext cx="1185107" cy="2318933"/>
              <a:chOff x="8138160" y="143465"/>
              <a:chExt cx="1490603" cy="2916706"/>
            </a:xfrm>
          </p:grpSpPr>
          <p:sp>
            <p:nvSpPr>
              <p:cNvPr id="128" name="Left Brace 127"/>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29" name="Left Brace 128"/>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30" name="Straight Connector 129"/>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3" name="Rectangle 112"/>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114" name="Rectangle 113"/>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15" name="Rectangle 114"/>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16" name="Group 115"/>
            <p:cNvGrpSpPr/>
            <p:nvPr/>
          </p:nvGrpSpPr>
          <p:grpSpPr>
            <a:xfrm>
              <a:off x="7777798" y="204386"/>
              <a:ext cx="1737151" cy="2767414"/>
              <a:chOff x="9759788" y="132735"/>
              <a:chExt cx="2184953" cy="3480796"/>
            </a:xfrm>
          </p:grpSpPr>
          <p:sp>
            <p:nvSpPr>
              <p:cNvPr id="117" name="Rectangle 116"/>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18" name="Group 117"/>
              <p:cNvGrpSpPr/>
              <p:nvPr/>
            </p:nvGrpSpPr>
            <p:grpSpPr>
              <a:xfrm>
                <a:off x="9808570" y="132735"/>
                <a:ext cx="2103120" cy="2926080"/>
                <a:chOff x="6400800" y="182880"/>
                <a:chExt cx="2103120" cy="2926080"/>
              </a:xfrm>
            </p:grpSpPr>
            <p:sp>
              <p:nvSpPr>
                <p:cNvPr id="120" name="Rectangle 119"/>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1" name="Rectangle 120"/>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2" name="Rectangle 121"/>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3" name="Rectangle 122"/>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4" name="Rectangle 123"/>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5" name="Rectangle 124"/>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6" name="Rectangle 125"/>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7" name="Rectangle 126"/>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9" name="Rectangle 118"/>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spTree>
    <p:extLst>
      <p:ext uri="{BB962C8B-B14F-4D97-AF65-F5344CB8AC3E}">
        <p14:creationId xmlns:p14="http://schemas.microsoft.com/office/powerpoint/2010/main" val="278864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2000"/>
                                        <p:tgtEl>
                                          <p:spTgt spid="77"/>
                                        </p:tgtEl>
                                      </p:cBhvr>
                                    </p:animEffect>
                                    <p:anim calcmode="lin" valueType="num">
                                      <p:cBhvr>
                                        <p:cTn id="8" dur="2000" fill="hold"/>
                                        <p:tgtEl>
                                          <p:spTgt spid="77"/>
                                        </p:tgtEl>
                                        <p:attrNameLst>
                                          <p:attrName>style.rotation</p:attrName>
                                        </p:attrNameLst>
                                      </p:cBhvr>
                                      <p:tavLst>
                                        <p:tav tm="0">
                                          <p:val>
                                            <p:fltVal val="720"/>
                                          </p:val>
                                        </p:tav>
                                        <p:tav tm="100000">
                                          <p:val>
                                            <p:fltVal val="0"/>
                                          </p:val>
                                        </p:tav>
                                      </p:tavLst>
                                    </p:anim>
                                    <p:anim calcmode="lin" valueType="num">
                                      <p:cBhvr>
                                        <p:cTn id="9" dur="2000" fill="hold"/>
                                        <p:tgtEl>
                                          <p:spTgt spid="77"/>
                                        </p:tgtEl>
                                        <p:attrNameLst>
                                          <p:attrName>ppt_h</p:attrName>
                                        </p:attrNameLst>
                                      </p:cBhvr>
                                      <p:tavLst>
                                        <p:tav tm="0">
                                          <p:val>
                                            <p:fltVal val="0"/>
                                          </p:val>
                                        </p:tav>
                                        <p:tav tm="100000">
                                          <p:val>
                                            <p:strVal val="#ppt_h"/>
                                          </p:val>
                                        </p:tav>
                                      </p:tavLst>
                                    </p:anim>
                                    <p:anim calcmode="lin" valueType="num">
                                      <p:cBhvr>
                                        <p:cTn id="10" dur="2000" fill="hold"/>
                                        <p:tgtEl>
                                          <p:spTgt spid="77"/>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Y-&gt;d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grpSp>
        <p:nvGrpSpPr>
          <p:cNvPr id="63" name="Group 62"/>
          <p:cNvGrpSpPr/>
          <p:nvPr/>
        </p:nvGrpSpPr>
        <p:grpSpPr>
          <a:xfrm>
            <a:off x="2129499" y="4164842"/>
            <a:ext cx="2445465" cy="252739"/>
            <a:chOff x="2655475" y="3751406"/>
            <a:chExt cx="3075855" cy="317890"/>
          </a:xfrm>
        </p:grpSpPr>
        <p:sp>
          <p:nvSpPr>
            <p:cNvPr id="51" name="Rectangle 50"/>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2" name="Rectangle 51"/>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3" name="Rectangle 52"/>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4" name="Rectangle 53"/>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5" name="Rectangle 54"/>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6" name="Rectangle 55"/>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7" name="Rectangle 56"/>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0" name="Rectangle 59"/>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8" name="Rectangle 57"/>
            <p:cNvSpPr/>
            <p:nvPr/>
          </p:nvSpPr>
          <p:spPr>
            <a:xfrm>
              <a:off x="3249386" y="3751953"/>
              <a:ext cx="2481944"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grpSp>
        <p:nvGrpSpPr>
          <p:cNvPr id="61" name="Group 60"/>
          <p:cNvGrpSpPr/>
          <p:nvPr/>
        </p:nvGrpSpPr>
        <p:grpSpPr>
          <a:xfrm>
            <a:off x="2129499" y="3669862"/>
            <a:ext cx="2445465" cy="252739"/>
            <a:chOff x="2655475" y="3731950"/>
            <a:chExt cx="3075855" cy="317890"/>
          </a:xfrm>
        </p:grpSpPr>
        <p:sp>
          <p:nvSpPr>
            <p:cNvPr id="62" name="Rectangle 61"/>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3559628" y="3736113"/>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869871" y="3736113"/>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4180114" y="3734032"/>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490357" y="3731951"/>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800600" y="3731950"/>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5110843" y="3731950"/>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421086" y="3739597"/>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3249385" y="3736114"/>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A</a:t>
              </a:r>
            </a:p>
          </p:txBody>
        </p:sp>
        <p:sp>
          <p:nvSpPr>
            <p:cNvPr id="93" name="Rectangle 92"/>
            <p:cNvSpPr/>
            <p:nvPr/>
          </p:nvSpPr>
          <p:spPr>
            <a:xfrm>
              <a:off x="3249386" y="373567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96" name="Rectangle 95"/>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
        <p:nvSpPr>
          <p:cNvPr id="76" name="Rectangle 75"/>
          <p:cNvSpPr/>
          <p:nvPr/>
        </p:nvSpPr>
        <p:spPr>
          <a:xfrm>
            <a:off x="2129499" y="4649163"/>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Z</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77" name="Rectangle 76"/>
          <p:cNvSpPr/>
          <p:nvPr/>
        </p:nvSpPr>
        <p:spPr>
          <a:xfrm>
            <a:off x="2608732" y="4646394"/>
            <a:ext cx="979593"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b="1" dirty="0">
                <a:solidFill>
                  <a:prstClr val="black">
                    <a:lumMod val="50000"/>
                    <a:lumOff val="50000"/>
                  </a:prstClr>
                </a:solidFill>
              </a:rPr>
              <a:t>6</a:t>
            </a:r>
            <a:r>
              <a:rPr lang="en-US" sz="1590" b="1" dirty="0">
                <a:solidFill>
                  <a:prstClr val="black">
                    <a:lumMod val="50000"/>
                    <a:lumOff val="50000"/>
                  </a:prstClr>
                </a:solidFill>
              </a:rPr>
              <a:t>.00000</a:t>
            </a:r>
          </a:p>
        </p:txBody>
      </p:sp>
      <p:sp>
        <p:nvSpPr>
          <p:cNvPr id="78" name="Rectangle 77"/>
          <p:cNvSpPr/>
          <p:nvPr/>
        </p:nvSpPr>
        <p:spPr>
          <a:xfrm>
            <a:off x="3095007" y="4646394"/>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341666" y="4644740"/>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0" name="Rectangle 79"/>
          <p:cNvSpPr/>
          <p:nvPr/>
        </p:nvSpPr>
        <p:spPr>
          <a:xfrm>
            <a:off x="3588326" y="4645610"/>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3834985" y="464308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2" name="Rectangle 81"/>
          <p:cNvSpPr/>
          <p:nvPr/>
        </p:nvSpPr>
        <p:spPr>
          <a:xfrm>
            <a:off x="4081644" y="4645609"/>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3" name="Rectangle 82"/>
          <p:cNvSpPr/>
          <p:nvPr/>
        </p:nvSpPr>
        <p:spPr>
          <a:xfrm>
            <a:off x="4328304" y="464916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4" name="Rectangle 83"/>
          <p:cNvSpPr/>
          <p:nvPr/>
        </p:nvSpPr>
        <p:spPr>
          <a:xfrm>
            <a:off x="2601688" y="4650354"/>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90" b="1" dirty="0">
              <a:solidFill>
                <a:srgbClr val="FF0000"/>
              </a:solidFill>
            </a:endParaRPr>
          </a:p>
        </p:txBody>
      </p:sp>
      <p:sp>
        <p:nvSpPr>
          <p:cNvPr id="97" name="Rectangle 96"/>
          <p:cNvSpPr/>
          <p:nvPr/>
        </p:nvSpPr>
        <p:spPr>
          <a:xfrm>
            <a:off x="2601688" y="4650354"/>
            <a:ext cx="246659"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FF0000"/>
                </a:solidFill>
              </a:rPr>
              <a:t>B</a:t>
            </a:r>
          </a:p>
        </p:txBody>
      </p:sp>
      <p:sp>
        <p:nvSpPr>
          <p:cNvPr id="85" name="Rectangle 84"/>
          <p:cNvSpPr/>
          <p:nvPr/>
        </p:nvSpPr>
        <p:spPr>
          <a:xfrm>
            <a:off x="2601688" y="4646044"/>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8" name="Rectangle 97"/>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B2B2B2"/>
                </a:solidFill>
                <a:latin typeface="Arial Narrow" panose="020B0606020202030204" pitchFamily="34" charset="0"/>
                <a:cs typeface="Consolas" panose="020B0609020204030204" pitchFamily="49" charset="0"/>
              </a:rPr>
              <a:t>% </a:t>
            </a:r>
            <a:r>
              <a:rPr lang="en-US" sz="1749" dirty="0" err="1">
                <a:solidFill>
                  <a:srgbClr val="B2B2B2"/>
                </a:solidFill>
                <a:latin typeface="Arial Narrow" panose="020B0606020202030204" pitchFamily="34" charset="0"/>
                <a:cs typeface="Consolas" panose="020B0609020204030204" pitchFamily="49" charset="0"/>
              </a:rPr>
              <a:t>gcc</a:t>
            </a:r>
            <a:r>
              <a:rPr lang="en-US" sz="1749" dirty="0">
                <a:solidFill>
                  <a:srgbClr val="B2B2B2"/>
                </a:solidFill>
                <a:latin typeface="Arial Narrow" panose="020B0606020202030204" pitchFamily="34" charset="0"/>
                <a:cs typeface="Consolas" panose="020B0609020204030204" pitchFamily="49" charset="0"/>
              </a:rPr>
              <a:t> -o </a:t>
            </a:r>
            <a:r>
              <a:rPr lang="en-US" sz="1749" dirty="0" err="1">
                <a:solidFill>
                  <a:srgbClr val="B2B2B2"/>
                </a:solidFill>
                <a:latin typeface="Arial Narrow" panose="020B0606020202030204" pitchFamily="34" charset="0"/>
                <a:cs typeface="Consolas" panose="020B0609020204030204" pitchFamily="49" charset="0"/>
              </a:rPr>
              <a:t>union.x</a:t>
            </a:r>
            <a:r>
              <a:rPr lang="en-US" sz="1749" dirty="0">
                <a:solidFill>
                  <a:srgbClr val="B2B2B2"/>
                </a:solidFill>
                <a:latin typeface="Arial Narrow" panose="020B0606020202030204" pitchFamily="34" charset="0"/>
                <a:cs typeface="Consolas" panose="020B0609020204030204" pitchFamily="49" charset="0"/>
              </a:rPr>
              <a:t> </a:t>
            </a:r>
            <a:r>
              <a:rPr lang="en-US" sz="1749" dirty="0" err="1">
                <a:solidFill>
                  <a:srgbClr val="B2B2B2"/>
                </a:solidFill>
                <a:latin typeface="Arial Narrow" panose="020B0606020202030204" pitchFamily="34" charset="0"/>
                <a:cs typeface="Consolas" panose="020B0609020204030204" pitchFamily="49" charset="0"/>
              </a:rPr>
              <a:t>union.c</a:t>
            </a:r>
            <a:endParaRPr lang="en-US" sz="1749" dirty="0">
              <a:solidFill>
                <a:srgbClr val="B2B2B2"/>
              </a:solidFill>
              <a:latin typeface="Arial Narrow" panose="020B0606020202030204" pitchFamily="34" charset="0"/>
              <a:cs typeface="Consolas" panose="020B0609020204030204" pitchFamily="49" charset="0"/>
            </a:endParaRPr>
          </a:p>
          <a:p>
            <a:r>
              <a:rPr lang="en-US" sz="1749" dirty="0">
                <a:solidFill>
                  <a:srgbClr val="B2B2B2"/>
                </a:solidFill>
                <a:latin typeface="Arial Narrow" panose="020B0606020202030204" pitchFamily="34" charset="0"/>
                <a:cs typeface="Consolas" panose="020B0609020204030204" pitchFamily="49" charset="0"/>
              </a:rPr>
              <a:t>% ./</a:t>
            </a:r>
            <a:r>
              <a:rPr lang="en-US" sz="1749" dirty="0" err="1">
                <a:solidFill>
                  <a:srgbClr val="B2B2B2"/>
                </a:solidFill>
                <a:latin typeface="Arial Narrow" panose="020B0606020202030204" pitchFamily="34" charset="0"/>
                <a:cs typeface="Consolas" panose="020B0609020204030204" pitchFamily="49" charset="0"/>
              </a:rPr>
              <a:t>union.x</a:t>
            </a:r>
            <a:endParaRPr lang="en-US" sz="1749" dirty="0">
              <a:solidFill>
                <a:srgbClr val="B2B2B2"/>
              </a:solidFill>
              <a:latin typeface="Arial Narrow" panose="020B0606020202030204" pitchFamily="34" charset="0"/>
              <a:cs typeface="Consolas" panose="020B0609020204030204" pitchFamily="49" charset="0"/>
            </a:endParaRPr>
          </a:p>
          <a:p>
            <a:r>
              <a:rPr lang="en-US" sz="1749" dirty="0">
                <a:solidFill>
                  <a:srgbClr val="B2B2B2"/>
                </a:solidFill>
                <a:latin typeface="Arial Narrow" panose="020B0606020202030204" pitchFamily="34" charset="0"/>
                <a:cs typeface="Consolas" panose="020B0609020204030204" pitchFamily="49" charset="0"/>
              </a:rPr>
              <a:t>generic=8</a:t>
            </a:r>
            <a:r>
              <a:rPr lang="en-US" sz="1590" dirty="0">
                <a:solidFill>
                  <a:srgbClr val="B2B2B2"/>
                </a:solidFill>
                <a:latin typeface="Arial Narrow" panose="020B0606020202030204" pitchFamily="34" charset="0"/>
                <a:cs typeface="Consolas" panose="020B0609020204030204" pitchFamily="49" charset="0"/>
              </a:rPr>
              <a:t>  </a:t>
            </a:r>
            <a:r>
              <a:rPr lang="en-US" sz="1749" dirty="0">
                <a:solidFill>
                  <a:srgbClr val="B2B2B2"/>
                </a:solidFill>
                <a:latin typeface="Arial Narrow" panose="020B0606020202030204" pitchFamily="34" charset="0"/>
                <a:cs typeface="Consolas" panose="020B0609020204030204" pitchFamily="49" charset="0"/>
              </a:rPr>
              <a:t>(c=1</a:t>
            </a:r>
            <a:r>
              <a:rPr lang="en-US" sz="1590" dirty="0">
                <a:solidFill>
                  <a:srgbClr val="B2B2B2"/>
                </a:solidFill>
                <a:latin typeface="Arial Narrow" panose="020B0606020202030204" pitchFamily="34" charset="0"/>
                <a:cs typeface="Consolas" panose="020B0609020204030204" pitchFamily="49" charset="0"/>
              </a:rPr>
              <a:t>  </a:t>
            </a:r>
            <a:r>
              <a:rPr lang="en-US" sz="1749" dirty="0">
                <a:solidFill>
                  <a:srgbClr val="B2B2B2"/>
                </a:solidFill>
                <a:latin typeface="Arial Narrow" panose="020B0606020202030204" pitchFamily="34" charset="0"/>
                <a:cs typeface="Consolas" panose="020B0609020204030204" pitchFamily="49" charset="0"/>
              </a:rPr>
              <a:t>s=8</a:t>
            </a:r>
            <a:r>
              <a:rPr lang="en-US" sz="1590" dirty="0">
                <a:solidFill>
                  <a:srgbClr val="B2B2B2"/>
                </a:solidFill>
                <a:latin typeface="Arial Narrow" panose="020B0606020202030204" pitchFamily="34" charset="0"/>
                <a:cs typeface="Consolas" panose="020B0609020204030204" pitchFamily="49" charset="0"/>
              </a:rPr>
              <a:t>  </a:t>
            </a:r>
            <a:r>
              <a:rPr lang="en-US" sz="1749" dirty="0" err="1">
                <a:solidFill>
                  <a:srgbClr val="B2B2B2"/>
                </a:solidFill>
                <a:latin typeface="Arial Narrow" panose="020B0606020202030204" pitchFamily="34" charset="0"/>
                <a:cs typeface="Consolas" panose="020B0609020204030204" pitchFamily="49" charset="0"/>
              </a:rPr>
              <a:t>i</a:t>
            </a:r>
            <a:r>
              <a:rPr lang="en-US" sz="1749" dirty="0">
                <a:solidFill>
                  <a:srgbClr val="B2B2B2"/>
                </a:solidFill>
                <a:latin typeface="Arial Narrow" panose="020B0606020202030204" pitchFamily="34" charset="0"/>
                <a:cs typeface="Consolas" panose="020B0609020204030204" pitchFamily="49" charset="0"/>
              </a:rPr>
              <a:t>=4</a:t>
            </a:r>
            <a:r>
              <a:rPr lang="en-US" sz="1590" dirty="0">
                <a:solidFill>
                  <a:srgbClr val="B2B2B2"/>
                </a:solidFill>
                <a:latin typeface="Arial Narrow" panose="020B0606020202030204" pitchFamily="34" charset="0"/>
                <a:cs typeface="Consolas" panose="020B0609020204030204" pitchFamily="49" charset="0"/>
              </a:rPr>
              <a:t>  </a:t>
            </a:r>
            <a:r>
              <a:rPr lang="en-US" sz="1749" dirty="0">
                <a:solidFill>
                  <a:srgbClr val="B2B2B2"/>
                </a:solidFill>
                <a:latin typeface="Arial Narrow" panose="020B0606020202030204" pitchFamily="34" charset="0"/>
                <a:cs typeface="Consolas" panose="020B0609020204030204" pitchFamily="49" charset="0"/>
              </a:rPr>
              <a:t>l=4</a:t>
            </a:r>
            <a:r>
              <a:rPr lang="en-US" sz="1590" dirty="0">
                <a:solidFill>
                  <a:srgbClr val="B2B2B2"/>
                </a:solidFill>
                <a:latin typeface="Arial Narrow" panose="020B0606020202030204" pitchFamily="34" charset="0"/>
                <a:cs typeface="Consolas" panose="020B0609020204030204" pitchFamily="49" charset="0"/>
              </a:rPr>
              <a:t>  </a:t>
            </a:r>
            <a:r>
              <a:rPr lang="en-US" sz="1749" dirty="0">
                <a:solidFill>
                  <a:srgbClr val="B2B2B2"/>
                </a:solidFill>
                <a:latin typeface="Arial Narrow" panose="020B0606020202030204" pitchFamily="34" charset="0"/>
                <a:cs typeface="Consolas" panose="020B0609020204030204" pitchFamily="49" charset="0"/>
              </a:rPr>
              <a:t>u=4</a:t>
            </a:r>
            <a:r>
              <a:rPr lang="en-US" sz="1590" dirty="0">
                <a:solidFill>
                  <a:srgbClr val="B2B2B2"/>
                </a:solidFill>
                <a:latin typeface="Arial Narrow" panose="020B0606020202030204" pitchFamily="34" charset="0"/>
                <a:cs typeface="Consolas" panose="020B0609020204030204" pitchFamily="49" charset="0"/>
              </a:rPr>
              <a:t>  </a:t>
            </a:r>
            <a:r>
              <a:rPr lang="en-US" sz="1749" dirty="0">
                <a:solidFill>
                  <a:srgbClr val="B2B2B2"/>
                </a:solidFill>
                <a:latin typeface="Arial Narrow" panose="020B0606020202030204" pitchFamily="34" charset="0"/>
                <a:cs typeface="Consolas" panose="020B0609020204030204" pitchFamily="49" charset="0"/>
              </a:rPr>
              <a:t>f=4</a:t>
            </a:r>
            <a:r>
              <a:rPr lang="en-US" sz="1590" dirty="0">
                <a:solidFill>
                  <a:srgbClr val="B2B2B2"/>
                </a:solidFill>
                <a:latin typeface="Arial Narrow" panose="020B0606020202030204" pitchFamily="34" charset="0"/>
                <a:cs typeface="Consolas" panose="020B0609020204030204" pitchFamily="49" charset="0"/>
              </a:rPr>
              <a:t>  </a:t>
            </a:r>
            <a:r>
              <a:rPr lang="en-US" sz="1749" dirty="0">
                <a:solidFill>
                  <a:srgbClr val="B2B2B2"/>
                </a:solidFill>
                <a:latin typeface="Arial Narrow" panose="020B0606020202030204" pitchFamily="34" charset="0"/>
                <a:cs typeface="Consolas" panose="020B0609020204030204" pitchFamily="49" charset="0"/>
              </a:rPr>
              <a:t>d=8)</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99" name="Rounded Rectangular Callout 98"/>
          <p:cNvSpPr/>
          <p:nvPr/>
        </p:nvSpPr>
        <p:spPr>
          <a:xfrm>
            <a:off x="3124438" y="3290781"/>
            <a:ext cx="3256955" cy="1008130"/>
          </a:xfrm>
          <a:prstGeom prst="wedgeRoundRectCallout">
            <a:avLst>
              <a:gd name="adj1" fmla="val -59805"/>
              <a:gd name="adj2" fmla="val 8987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srgbClr val="0033CC"/>
                </a:solidFill>
              </a:rPr>
              <a:t>So C’s union type is able to change its type.</a:t>
            </a:r>
          </a:p>
        </p:txBody>
      </p:sp>
      <p:grpSp>
        <p:nvGrpSpPr>
          <p:cNvPr id="102" name="Group 101"/>
          <p:cNvGrpSpPr/>
          <p:nvPr/>
        </p:nvGrpSpPr>
        <p:grpSpPr>
          <a:xfrm>
            <a:off x="6171176" y="204386"/>
            <a:ext cx="3343773" cy="2767414"/>
            <a:chOff x="6171176" y="204386"/>
            <a:chExt cx="3343773" cy="2767414"/>
          </a:xfrm>
        </p:grpSpPr>
        <p:sp>
          <p:nvSpPr>
            <p:cNvPr id="103" name="Rectangle 102"/>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04" name="Group 103"/>
            <p:cNvGrpSpPr/>
            <p:nvPr/>
          </p:nvGrpSpPr>
          <p:grpSpPr>
            <a:xfrm>
              <a:off x="7816580" y="204386"/>
              <a:ext cx="1672090" cy="2326386"/>
              <a:chOff x="6400800" y="182880"/>
              <a:chExt cx="2103120" cy="2926080"/>
            </a:xfrm>
          </p:grpSpPr>
          <p:sp>
            <p:nvSpPr>
              <p:cNvPr id="128" name="Rectangle 127"/>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0" name="Rectangle 129"/>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1" name="Rectangle 130"/>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2" name="Rectangle 131"/>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3" name="Rectangle 132"/>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4" name="Rectangle 133"/>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5" name="Rectangle 134"/>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05" name="Left Brace 104"/>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106" name="Group 105"/>
            <p:cNvGrpSpPr/>
            <p:nvPr/>
          </p:nvGrpSpPr>
          <p:grpSpPr>
            <a:xfrm>
              <a:off x="6523652" y="212918"/>
              <a:ext cx="1185107" cy="2318933"/>
              <a:chOff x="8138160" y="143465"/>
              <a:chExt cx="1490603" cy="2916706"/>
            </a:xfrm>
          </p:grpSpPr>
          <p:sp>
            <p:nvSpPr>
              <p:cNvPr id="122" name="Left Brace 121"/>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23" name="Left Brace 122"/>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24" name="Straight Connector 123"/>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07" name="Rectangle 106"/>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108" name="Rectangle 107"/>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09" name="Rectangle 108"/>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10" name="Group 109"/>
            <p:cNvGrpSpPr/>
            <p:nvPr/>
          </p:nvGrpSpPr>
          <p:grpSpPr>
            <a:xfrm>
              <a:off x="7777798" y="204386"/>
              <a:ext cx="1737151" cy="2767414"/>
              <a:chOff x="9759788" y="132735"/>
              <a:chExt cx="2184953" cy="3480796"/>
            </a:xfrm>
          </p:grpSpPr>
          <p:sp>
            <p:nvSpPr>
              <p:cNvPr id="111" name="Rectangle 110"/>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12" name="Group 111"/>
              <p:cNvGrpSpPr/>
              <p:nvPr/>
            </p:nvGrpSpPr>
            <p:grpSpPr>
              <a:xfrm>
                <a:off x="9808570" y="132735"/>
                <a:ext cx="2103120" cy="2926080"/>
                <a:chOff x="6400800" y="182880"/>
                <a:chExt cx="2103120" cy="2926080"/>
              </a:xfrm>
            </p:grpSpPr>
            <p:sp>
              <p:nvSpPr>
                <p:cNvPr id="114" name="Rectangle 113"/>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5" name="Rectangle 114"/>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6" name="Rectangle 115"/>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7" name="Rectangle 116"/>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0" name="Rectangle 119"/>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1" name="Rectangle 120"/>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3" name="Rectangle 112"/>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spTree>
    <p:extLst>
      <p:ext uri="{BB962C8B-B14F-4D97-AF65-F5344CB8AC3E}">
        <p14:creationId xmlns:p14="http://schemas.microsoft.com/office/powerpoint/2010/main" val="1334901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2000"/>
                                        <p:tgtEl>
                                          <p:spTgt spid="97"/>
                                        </p:tgtEl>
                                      </p:cBhvr>
                                    </p:animEffect>
                                    <p:anim calcmode="lin" valueType="num">
                                      <p:cBhvr>
                                        <p:cTn id="8" dur="2000" fill="hold"/>
                                        <p:tgtEl>
                                          <p:spTgt spid="97"/>
                                        </p:tgtEl>
                                        <p:attrNameLst>
                                          <p:attrName>style.rotation</p:attrName>
                                        </p:attrNameLst>
                                      </p:cBhvr>
                                      <p:tavLst>
                                        <p:tav tm="0">
                                          <p:val>
                                            <p:fltVal val="720"/>
                                          </p:val>
                                        </p:tav>
                                        <p:tav tm="100000">
                                          <p:val>
                                            <p:fltVal val="0"/>
                                          </p:val>
                                        </p:tav>
                                      </p:tavLst>
                                    </p:anim>
                                    <p:anim calcmode="lin" valueType="num">
                                      <p:cBhvr>
                                        <p:cTn id="9" dur="2000" fill="hold"/>
                                        <p:tgtEl>
                                          <p:spTgt spid="97"/>
                                        </p:tgtEl>
                                        <p:attrNameLst>
                                          <p:attrName>ppt_h</p:attrName>
                                        </p:attrNameLst>
                                      </p:cBhvr>
                                      <p:tavLst>
                                        <p:tav tm="0">
                                          <p:val>
                                            <p:fltVal val="0"/>
                                          </p:val>
                                        </p:tav>
                                        <p:tav tm="100000">
                                          <p:val>
                                            <p:strVal val="#ppt_h"/>
                                          </p:val>
                                        </p:tav>
                                      </p:tavLst>
                                    </p:anim>
                                    <p:anim calcmode="lin" valueType="num">
                                      <p:cBhvr>
                                        <p:cTn id="10" dur="2000" fill="hold"/>
                                        <p:tgtEl>
                                          <p:spTgt spid="97"/>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99"/>
                                        </p:tgtEl>
                                        <p:attrNameLst>
                                          <p:attrName>style.visibility</p:attrName>
                                        </p:attrNameLst>
                                      </p:cBhvr>
                                      <p:to>
                                        <p:strVal val="visible"/>
                                      </p:to>
                                    </p:set>
                                    <p:animEffect transition="in" filter="randombar(horizontal)">
                                      <p:cBhvr>
                                        <p:cTn id="15" dur="500"/>
                                        <p:tgtEl>
                                          <p:spTgt spid="99"/>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xit" presetSubtype="10" fill="hold" grpId="1" nodeType="clickEffect">
                                  <p:stCondLst>
                                    <p:cond delay="0"/>
                                  </p:stCondLst>
                                  <p:childTnLst>
                                    <p:animEffect transition="out" filter="randombar(horizontal)">
                                      <p:cBhvr>
                                        <p:cTn id="19" dur="500"/>
                                        <p:tgtEl>
                                          <p:spTgt spid="99"/>
                                        </p:tgtEl>
                                      </p:cBhvr>
                                    </p:animEffect>
                                    <p:set>
                                      <p:cBhvr>
                                        <p:cTn id="20" dur="1" fill="hold">
                                          <p:stCondLst>
                                            <p:cond delay="499"/>
                                          </p:stCondLst>
                                        </p:cTn>
                                        <p:tgtEl>
                                          <p:spTgt spid="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99" grpId="1"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Y-&gt;d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grpSp>
        <p:nvGrpSpPr>
          <p:cNvPr id="63" name="Group 62"/>
          <p:cNvGrpSpPr/>
          <p:nvPr/>
        </p:nvGrpSpPr>
        <p:grpSpPr>
          <a:xfrm>
            <a:off x="2129499" y="4164842"/>
            <a:ext cx="2445465" cy="252739"/>
            <a:chOff x="2655475" y="3751406"/>
            <a:chExt cx="3075855" cy="317890"/>
          </a:xfrm>
        </p:grpSpPr>
        <p:sp>
          <p:nvSpPr>
            <p:cNvPr id="51" name="Rectangle 50"/>
            <p:cNvSpPr/>
            <p:nvPr/>
          </p:nvSpPr>
          <p:spPr>
            <a:xfrm>
              <a:off x="2655475" y="3759052"/>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52" name="Rectangle 51"/>
            <p:cNvSpPr/>
            <p:nvPr/>
          </p:nvSpPr>
          <p:spPr>
            <a:xfrm>
              <a:off x="3559628" y="3755569"/>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3" name="Rectangle 52"/>
            <p:cNvSpPr/>
            <p:nvPr/>
          </p:nvSpPr>
          <p:spPr>
            <a:xfrm>
              <a:off x="3869871" y="3755569"/>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4" name="Rectangle 53"/>
            <p:cNvSpPr/>
            <p:nvPr/>
          </p:nvSpPr>
          <p:spPr>
            <a:xfrm>
              <a:off x="4180114" y="3753488"/>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5" name="Rectangle 54"/>
            <p:cNvSpPr/>
            <p:nvPr/>
          </p:nvSpPr>
          <p:spPr>
            <a:xfrm>
              <a:off x="4490357" y="3751407"/>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6" name="Rectangle 55"/>
            <p:cNvSpPr/>
            <p:nvPr/>
          </p:nvSpPr>
          <p:spPr>
            <a:xfrm>
              <a:off x="4800600" y="3751406"/>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7" name="Rectangle 56"/>
            <p:cNvSpPr/>
            <p:nvPr/>
          </p:nvSpPr>
          <p:spPr>
            <a:xfrm>
              <a:off x="5110843" y="3751406"/>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0" name="Rectangle 59"/>
            <p:cNvSpPr/>
            <p:nvPr/>
          </p:nvSpPr>
          <p:spPr>
            <a:xfrm>
              <a:off x="5421086" y="3759053"/>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3249385" y="3755570"/>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8" name="Rectangle 57"/>
            <p:cNvSpPr/>
            <p:nvPr/>
          </p:nvSpPr>
          <p:spPr>
            <a:xfrm>
              <a:off x="3249386" y="3751953"/>
              <a:ext cx="2481944" cy="310243"/>
            </a:xfrm>
            <a:prstGeom prst="rect">
              <a:avLst/>
            </a:prstGeom>
            <a:solidFill>
              <a:srgbClr val="000000">
                <a:alpha val="20000"/>
              </a:srgb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grpSp>
        <p:nvGrpSpPr>
          <p:cNvPr id="61" name="Group 60"/>
          <p:cNvGrpSpPr/>
          <p:nvPr/>
        </p:nvGrpSpPr>
        <p:grpSpPr>
          <a:xfrm>
            <a:off x="2129499" y="3669862"/>
            <a:ext cx="2445465" cy="252739"/>
            <a:chOff x="2655475" y="3731950"/>
            <a:chExt cx="3075855" cy="317890"/>
          </a:xfrm>
        </p:grpSpPr>
        <p:sp>
          <p:nvSpPr>
            <p:cNvPr id="62" name="Rectangle 61"/>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3559628" y="3736113"/>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869871" y="3736113"/>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4180114" y="3734032"/>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490357" y="3731951"/>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800600" y="3731950"/>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5110843" y="3731950"/>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421086" y="3739597"/>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3249385" y="3736114"/>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A</a:t>
              </a:r>
            </a:p>
          </p:txBody>
        </p:sp>
        <p:sp>
          <p:nvSpPr>
            <p:cNvPr id="93" name="Rectangle 92"/>
            <p:cNvSpPr/>
            <p:nvPr/>
          </p:nvSpPr>
          <p:spPr>
            <a:xfrm>
              <a:off x="3249386" y="3732497"/>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96" name="Rectangle 95"/>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
        <p:nvSpPr>
          <p:cNvPr id="98" name="Rectangle 97"/>
          <p:cNvSpPr/>
          <p:nvPr/>
        </p:nvSpPr>
        <p:spPr>
          <a:xfrm>
            <a:off x="2129499" y="4649163"/>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Z</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99" name="Rectangle 98"/>
          <p:cNvSpPr/>
          <p:nvPr/>
        </p:nvSpPr>
        <p:spPr>
          <a:xfrm>
            <a:off x="2608731" y="4646394"/>
            <a:ext cx="986637"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lumMod val="50000"/>
                    <a:lumOff val="50000"/>
                  </a:prstClr>
                </a:solidFill>
              </a:rPr>
              <a:t>  .00000</a:t>
            </a:r>
          </a:p>
        </p:txBody>
      </p:sp>
      <p:sp>
        <p:nvSpPr>
          <p:cNvPr id="100" name="Rectangle 99"/>
          <p:cNvSpPr/>
          <p:nvPr/>
        </p:nvSpPr>
        <p:spPr>
          <a:xfrm>
            <a:off x="3095007" y="4646394"/>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1" name="Rectangle 100"/>
          <p:cNvSpPr/>
          <p:nvPr/>
        </p:nvSpPr>
        <p:spPr>
          <a:xfrm>
            <a:off x="3341666" y="4644740"/>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3" name="Rectangle 102"/>
          <p:cNvSpPr/>
          <p:nvPr/>
        </p:nvSpPr>
        <p:spPr>
          <a:xfrm>
            <a:off x="3834985" y="464308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4" name="Rectangle 103"/>
          <p:cNvSpPr/>
          <p:nvPr/>
        </p:nvSpPr>
        <p:spPr>
          <a:xfrm>
            <a:off x="4081644" y="4645609"/>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5" name="Rectangle 104"/>
          <p:cNvSpPr/>
          <p:nvPr/>
        </p:nvSpPr>
        <p:spPr>
          <a:xfrm>
            <a:off x="4328304" y="464916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6" name="Rectangle 105"/>
          <p:cNvSpPr/>
          <p:nvPr/>
        </p:nvSpPr>
        <p:spPr>
          <a:xfrm>
            <a:off x="2601688" y="4650354"/>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90" b="1" dirty="0">
              <a:solidFill>
                <a:srgbClr val="FF0000"/>
              </a:solidFill>
            </a:endParaRPr>
          </a:p>
        </p:txBody>
      </p:sp>
      <p:sp>
        <p:nvSpPr>
          <p:cNvPr id="107" name="Rectangle 106"/>
          <p:cNvSpPr/>
          <p:nvPr/>
        </p:nvSpPr>
        <p:spPr>
          <a:xfrm>
            <a:off x="2601688" y="4650354"/>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white">
                    <a:lumMod val="50000"/>
                  </a:prstClr>
                </a:solidFill>
              </a:rPr>
              <a:t>B</a:t>
            </a:r>
          </a:p>
        </p:txBody>
      </p:sp>
      <p:sp>
        <p:nvSpPr>
          <p:cNvPr id="77" name="Rectangle 76"/>
          <p:cNvSpPr/>
          <p:nvPr/>
        </p:nvSpPr>
        <p:spPr>
          <a:xfrm>
            <a:off x="2608731" y="4650354"/>
            <a:ext cx="986637"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FF0000"/>
                </a:solidFill>
              </a:rPr>
              <a:t>6</a:t>
            </a:r>
          </a:p>
        </p:txBody>
      </p:sp>
      <p:sp>
        <p:nvSpPr>
          <p:cNvPr id="102" name="Rectangle 101"/>
          <p:cNvSpPr/>
          <p:nvPr/>
        </p:nvSpPr>
        <p:spPr>
          <a:xfrm>
            <a:off x="3588326" y="4645610"/>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8" name="Rectangle 107"/>
          <p:cNvSpPr/>
          <p:nvPr/>
        </p:nvSpPr>
        <p:spPr>
          <a:xfrm>
            <a:off x="2601688" y="4644782"/>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6" name="Rectangle 75"/>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969696"/>
                </a:solidFill>
                <a:latin typeface="Arial Narrow" panose="020B0606020202030204" pitchFamily="34" charset="0"/>
                <a:cs typeface="Consolas" panose="020B0609020204030204" pitchFamily="49" charset="0"/>
              </a:rPr>
              <a:t>% </a:t>
            </a:r>
            <a:r>
              <a:rPr lang="en-US" sz="1749" dirty="0" err="1">
                <a:solidFill>
                  <a:srgbClr val="969696"/>
                </a:solidFill>
                <a:latin typeface="Arial Narrow" panose="020B0606020202030204" pitchFamily="34" charset="0"/>
                <a:cs typeface="Consolas" panose="020B0609020204030204" pitchFamily="49" charset="0"/>
              </a:rPr>
              <a:t>gcc</a:t>
            </a:r>
            <a:r>
              <a:rPr lang="en-US" sz="1749" dirty="0">
                <a:solidFill>
                  <a:srgbClr val="969696"/>
                </a:solidFill>
                <a:latin typeface="Arial Narrow" panose="020B0606020202030204" pitchFamily="34" charset="0"/>
                <a:cs typeface="Consolas" panose="020B0609020204030204" pitchFamily="49" charset="0"/>
              </a:rPr>
              <a:t> -o </a:t>
            </a:r>
            <a:r>
              <a:rPr lang="en-US" sz="1749" dirty="0" err="1">
                <a:solidFill>
                  <a:srgbClr val="969696"/>
                </a:solidFill>
                <a:latin typeface="Arial Narrow" panose="020B0606020202030204" pitchFamily="34" charset="0"/>
                <a:cs typeface="Consolas" panose="020B0609020204030204" pitchFamily="49" charset="0"/>
              </a:rPr>
              <a:t>union.x</a:t>
            </a:r>
            <a:r>
              <a:rPr lang="en-US" sz="1749" dirty="0">
                <a:solidFill>
                  <a:srgbClr val="969696"/>
                </a:solidFill>
                <a:latin typeface="Arial Narrow" panose="020B0606020202030204" pitchFamily="34" charset="0"/>
                <a:cs typeface="Consolas" panose="020B0609020204030204" pitchFamily="49" charset="0"/>
              </a:rPr>
              <a:t> </a:t>
            </a:r>
            <a:r>
              <a:rPr lang="en-US" sz="1749" dirty="0" err="1">
                <a:solidFill>
                  <a:srgbClr val="969696"/>
                </a:solidFill>
                <a:latin typeface="Arial Narrow" panose="020B0606020202030204" pitchFamily="34" charset="0"/>
                <a:cs typeface="Consolas" panose="020B0609020204030204" pitchFamily="49" charset="0"/>
              </a:rPr>
              <a:t>union.c</a:t>
            </a:r>
            <a:endParaRPr lang="en-US" sz="1749" dirty="0">
              <a:solidFill>
                <a:srgbClr val="969696"/>
              </a:solidFill>
              <a:latin typeface="Arial Narrow" panose="020B0606020202030204" pitchFamily="34" charset="0"/>
              <a:cs typeface="Consolas" panose="020B0609020204030204" pitchFamily="49" charset="0"/>
            </a:endParaRPr>
          </a:p>
          <a:p>
            <a:r>
              <a:rPr lang="en-US" sz="1749" dirty="0">
                <a:solidFill>
                  <a:srgbClr val="969696"/>
                </a:solidFill>
                <a:latin typeface="Arial Narrow" panose="020B0606020202030204" pitchFamily="34" charset="0"/>
                <a:cs typeface="Consolas" panose="020B0609020204030204" pitchFamily="49" charset="0"/>
              </a:rPr>
              <a:t>% ./</a:t>
            </a:r>
            <a:r>
              <a:rPr lang="en-US" sz="1749" dirty="0" err="1">
                <a:solidFill>
                  <a:srgbClr val="969696"/>
                </a:solidFill>
                <a:latin typeface="Arial Narrow" panose="020B0606020202030204" pitchFamily="34" charset="0"/>
                <a:cs typeface="Consolas" panose="020B0609020204030204" pitchFamily="49" charset="0"/>
              </a:rPr>
              <a:t>union.x</a:t>
            </a:r>
            <a:endParaRPr lang="en-US" sz="1749" dirty="0">
              <a:solidFill>
                <a:srgbClr val="969696"/>
              </a:solidFill>
              <a:latin typeface="Arial Narrow" panose="020B0606020202030204" pitchFamily="34" charset="0"/>
              <a:cs typeface="Consolas" panose="020B0609020204030204" pitchFamily="49" charset="0"/>
            </a:endParaRPr>
          </a:p>
          <a:p>
            <a:r>
              <a:rPr lang="en-US" sz="1749" dirty="0">
                <a:solidFill>
                  <a:srgbClr val="969696"/>
                </a:solidFill>
                <a:latin typeface="Arial Narrow" panose="020B0606020202030204" pitchFamily="34" charset="0"/>
                <a:cs typeface="Consolas" panose="020B0609020204030204" pitchFamily="49" charset="0"/>
              </a:rPr>
              <a:t>generic=8</a:t>
            </a:r>
            <a:r>
              <a:rPr lang="en-US" sz="1590" dirty="0">
                <a:solidFill>
                  <a:srgbClr val="969696"/>
                </a:solidFill>
                <a:latin typeface="Arial Narrow" panose="020B0606020202030204" pitchFamily="34" charset="0"/>
                <a:cs typeface="Consolas" panose="020B0609020204030204" pitchFamily="49" charset="0"/>
              </a:rPr>
              <a:t>  </a:t>
            </a:r>
            <a:r>
              <a:rPr lang="en-US" sz="1749" dirty="0">
                <a:solidFill>
                  <a:srgbClr val="969696"/>
                </a:solidFill>
                <a:latin typeface="Arial Narrow" panose="020B0606020202030204" pitchFamily="34" charset="0"/>
                <a:cs typeface="Consolas" panose="020B0609020204030204" pitchFamily="49" charset="0"/>
              </a:rPr>
              <a:t>(c=1</a:t>
            </a:r>
            <a:r>
              <a:rPr lang="en-US" sz="1590" dirty="0">
                <a:solidFill>
                  <a:srgbClr val="969696"/>
                </a:solidFill>
                <a:latin typeface="Arial Narrow" panose="020B0606020202030204" pitchFamily="34" charset="0"/>
                <a:cs typeface="Consolas" panose="020B0609020204030204" pitchFamily="49" charset="0"/>
              </a:rPr>
              <a:t>  </a:t>
            </a:r>
            <a:r>
              <a:rPr lang="en-US" sz="1749" dirty="0">
                <a:solidFill>
                  <a:srgbClr val="969696"/>
                </a:solidFill>
                <a:latin typeface="Arial Narrow" panose="020B0606020202030204" pitchFamily="34" charset="0"/>
                <a:cs typeface="Consolas" panose="020B0609020204030204" pitchFamily="49" charset="0"/>
              </a:rPr>
              <a:t>s=8</a:t>
            </a:r>
            <a:r>
              <a:rPr lang="en-US" sz="1590" dirty="0">
                <a:solidFill>
                  <a:srgbClr val="969696"/>
                </a:solidFill>
                <a:latin typeface="Arial Narrow" panose="020B0606020202030204" pitchFamily="34" charset="0"/>
                <a:cs typeface="Consolas" panose="020B0609020204030204" pitchFamily="49" charset="0"/>
              </a:rPr>
              <a:t>  </a:t>
            </a:r>
            <a:r>
              <a:rPr lang="en-US" sz="1749" dirty="0" err="1">
                <a:solidFill>
                  <a:srgbClr val="969696"/>
                </a:solidFill>
                <a:latin typeface="Arial Narrow" panose="020B0606020202030204" pitchFamily="34" charset="0"/>
                <a:cs typeface="Consolas" panose="020B0609020204030204" pitchFamily="49" charset="0"/>
              </a:rPr>
              <a:t>i</a:t>
            </a:r>
            <a:r>
              <a:rPr lang="en-US" sz="1749" dirty="0">
                <a:solidFill>
                  <a:srgbClr val="969696"/>
                </a:solidFill>
                <a:latin typeface="Arial Narrow" panose="020B0606020202030204" pitchFamily="34" charset="0"/>
                <a:cs typeface="Consolas" panose="020B0609020204030204" pitchFamily="49" charset="0"/>
              </a:rPr>
              <a:t>=4</a:t>
            </a:r>
            <a:r>
              <a:rPr lang="en-US" sz="1590" dirty="0">
                <a:solidFill>
                  <a:srgbClr val="969696"/>
                </a:solidFill>
                <a:latin typeface="Arial Narrow" panose="020B0606020202030204" pitchFamily="34" charset="0"/>
                <a:cs typeface="Consolas" panose="020B0609020204030204" pitchFamily="49" charset="0"/>
              </a:rPr>
              <a:t>  </a:t>
            </a:r>
            <a:r>
              <a:rPr lang="en-US" sz="1749" dirty="0">
                <a:solidFill>
                  <a:srgbClr val="969696"/>
                </a:solidFill>
                <a:latin typeface="Arial Narrow" panose="020B0606020202030204" pitchFamily="34" charset="0"/>
                <a:cs typeface="Consolas" panose="020B0609020204030204" pitchFamily="49" charset="0"/>
              </a:rPr>
              <a:t>l=4</a:t>
            </a:r>
            <a:r>
              <a:rPr lang="en-US" sz="1590" dirty="0">
                <a:solidFill>
                  <a:srgbClr val="969696"/>
                </a:solidFill>
                <a:latin typeface="Arial Narrow" panose="020B0606020202030204" pitchFamily="34" charset="0"/>
                <a:cs typeface="Consolas" panose="020B0609020204030204" pitchFamily="49" charset="0"/>
              </a:rPr>
              <a:t>  </a:t>
            </a:r>
            <a:r>
              <a:rPr lang="en-US" sz="1749" dirty="0">
                <a:solidFill>
                  <a:srgbClr val="969696"/>
                </a:solidFill>
                <a:latin typeface="Arial Narrow" panose="020B0606020202030204" pitchFamily="34" charset="0"/>
                <a:cs typeface="Consolas" panose="020B0609020204030204" pitchFamily="49" charset="0"/>
              </a:rPr>
              <a:t>u=4</a:t>
            </a:r>
            <a:r>
              <a:rPr lang="en-US" sz="1590" dirty="0">
                <a:solidFill>
                  <a:srgbClr val="969696"/>
                </a:solidFill>
                <a:latin typeface="Arial Narrow" panose="020B0606020202030204" pitchFamily="34" charset="0"/>
                <a:cs typeface="Consolas" panose="020B0609020204030204" pitchFamily="49" charset="0"/>
              </a:rPr>
              <a:t>  </a:t>
            </a:r>
            <a:r>
              <a:rPr lang="en-US" sz="1749" dirty="0">
                <a:solidFill>
                  <a:srgbClr val="969696"/>
                </a:solidFill>
                <a:latin typeface="Arial Narrow" panose="020B0606020202030204" pitchFamily="34" charset="0"/>
                <a:cs typeface="Consolas" panose="020B0609020204030204" pitchFamily="49" charset="0"/>
              </a:rPr>
              <a:t>f=4</a:t>
            </a:r>
            <a:r>
              <a:rPr lang="en-US" sz="1590" dirty="0">
                <a:solidFill>
                  <a:srgbClr val="969696"/>
                </a:solidFill>
                <a:latin typeface="Arial Narrow" panose="020B0606020202030204" pitchFamily="34" charset="0"/>
                <a:cs typeface="Consolas" panose="020B0609020204030204" pitchFamily="49" charset="0"/>
              </a:rPr>
              <a:t>  </a:t>
            </a:r>
            <a:r>
              <a:rPr lang="en-US" sz="1749" dirty="0">
                <a:solidFill>
                  <a:srgbClr val="969696"/>
                </a:solidFill>
                <a:latin typeface="Arial Narrow" panose="020B0606020202030204" pitchFamily="34" charset="0"/>
                <a:cs typeface="Consolas" panose="020B0609020204030204" pitchFamily="49" charset="0"/>
              </a:rPr>
              <a:t>d=8)</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grpSp>
        <p:nvGrpSpPr>
          <p:cNvPr id="78" name="Group 77"/>
          <p:cNvGrpSpPr/>
          <p:nvPr/>
        </p:nvGrpSpPr>
        <p:grpSpPr>
          <a:xfrm>
            <a:off x="6171176" y="204386"/>
            <a:ext cx="3343773" cy="2767414"/>
            <a:chOff x="6171176" y="204386"/>
            <a:chExt cx="3343773" cy="2767414"/>
          </a:xfrm>
        </p:grpSpPr>
        <p:sp>
          <p:nvSpPr>
            <p:cNvPr id="81" name="Rectangle 80"/>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82" name="Group 81"/>
            <p:cNvGrpSpPr/>
            <p:nvPr/>
          </p:nvGrpSpPr>
          <p:grpSpPr>
            <a:xfrm>
              <a:off x="7816580" y="204386"/>
              <a:ext cx="1672090" cy="2326386"/>
              <a:chOff x="6400800" y="182880"/>
              <a:chExt cx="2103120" cy="2926080"/>
            </a:xfrm>
          </p:grpSpPr>
          <p:sp>
            <p:nvSpPr>
              <p:cNvPr id="128" name="Rectangle 127"/>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0" name="Rectangle 129"/>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1" name="Rectangle 130"/>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2" name="Rectangle 131"/>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3" name="Rectangle 132"/>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4" name="Rectangle 133"/>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5" name="Rectangle 134"/>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83" name="Left Brace 82"/>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84" name="Group 83"/>
            <p:cNvGrpSpPr/>
            <p:nvPr/>
          </p:nvGrpSpPr>
          <p:grpSpPr>
            <a:xfrm>
              <a:off x="6523652" y="212918"/>
              <a:ext cx="1185107" cy="2318933"/>
              <a:chOff x="8138160" y="143465"/>
              <a:chExt cx="1490603" cy="2916706"/>
            </a:xfrm>
          </p:grpSpPr>
          <p:sp>
            <p:nvSpPr>
              <p:cNvPr id="122" name="Left Brace 121"/>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23" name="Left Brace 122"/>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24" name="Straight Connector 123"/>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5" name="Rectangle 84"/>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97" name="Rectangle 96"/>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09" name="Rectangle 108"/>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10" name="Group 109"/>
            <p:cNvGrpSpPr/>
            <p:nvPr/>
          </p:nvGrpSpPr>
          <p:grpSpPr>
            <a:xfrm>
              <a:off x="7777798" y="204386"/>
              <a:ext cx="1737151" cy="2767414"/>
              <a:chOff x="9759788" y="132735"/>
              <a:chExt cx="2184953" cy="3480796"/>
            </a:xfrm>
          </p:grpSpPr>
          <p:sp>
            <p:nvSpPr>
              <p:cNvPr id="111" name="Rectangle 110"/>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12" name="Group 111"/>
              <p:cNvGrpSpPr/>
              <p:nvPr/>
            </p:nvGrpSpPr>
            <p:grpSpPr>
              <a:xfrm>
                <a:off x="9808570" y="132735"/>
                <a:ext cx="2103120" cy="2926080"/>
                <a:chOff x="6400800" y="182880"/>
                <a:chExt cx="2103120" cy="2926080"/>
              </a:xfrm>
            </p:grpSpPr>
            <p:sp>
              <p:nvSpPr>
                <p:cNvPr id="114" name="Rectangle 113"/>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5" name="Rectangle 114"/>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6" name="Rectangle 115"/>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7" name="Rectangle 116"/>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8" name="Rectangle 117"/>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9" name="Rectangle 118"/>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0" name="Rectangle 119"/>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1" name="Rectangle 120"/>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3" name="Rectangle 112"/>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spTree>
    <p:extLst>
      <p:ext uri="{BB962C8B-B14F-4D97-AF65-F5344CB8AC3E}">
        <p14:creationId xmlns:p14="http://schemas.microsoft.com/office/powerpoint/2010/main" val="32011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2000"/>
                                        <p:tgtEl>
                                          <p:spTgt spid="77"/>
                                        </p:tgtEl>
                                      </p:cBhvr>
                                    </p:animEffect>
                                    <p:anim calcmode="lin" valueType="num">
                                      <p:cBhvr>
                                        <p:cTn id="8" dur="2000" fill="hold"/>
                                        <p:tgtEl>
                                          <p:spTgt spid="77"/>
                                        </p:tgtEl>
                                        <p:attrNameLst>
                                          <p:attrName>style.rotation</p:attrName>
                                        </p:attrNameLst>
                                      </p:cBhvr>
                                      <p:tavLst>
                                        <p:tav tm="0">
                                          <p:val>
                                            <p:fltVal val="720"/>
                                          </p:val>
                                        </p:tav>
                                        <p:tav tm="100000">
                                          <p:val>
                                            <p:fltVal val="0"/>
                                          </p:val>
                                        </p:tav>
                                      </p:tavLst>
                                    </p:anim>
                                    <p:anim calcmode="lin" valueType="num">
                                      <p:cBhvr>
                                        <p:cTn id="9" dur="2000" fill="hold"/>
                                        <p:tgtEl>
                                          <p:spTgt spid="77"/>
                                        </p:tgtEl>
                                        <p:attrNameLst>
                                          <p:attrName>ppt_h</p:attrName>
                                        </p:attrNameLst>
                                      </p:cBhvr>
                                      <p:tavLst>
                                        <p:tav tm="0">
                                          <p:val>
                                            <p:fltVal val="0"/>
                                          </p:val>
                                        </p:tav>
                                        <p:tav tm="100000">
                                          <p:val>
                                            <p:strVal val="#ppt_h"/>
                                          </p:val>
                                        </p:tav>
                                      </p:tavLst>
                                    </p:anim>
                                    <p:anim calcmode="lin" valueType="num">
                                      <p:cBhvr>
                                        <p:cTn id="10" dur="2000" fill="hold"/>
                                        <p:tgtEl>
                                          <p:spTgt spid="77"/>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p:cNvSpPr/>
          <p:nvPr/>
        </p:nvSpPr>
        <p:spPr>
          <a:xfrm>
            <a:off x="3834985" y="416326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solidFill>
                  <a:srgbClr val="000000"/>
                </a:solidFill>
                <a:latin typeface="Consolas" panose="020B0609020204030204" pitchFamily="49" charset="0"/>
                <a:cs typeface="Consolas" panose="020B0609020204030204" pitchFamily="49" charset="0"/>
              </a:rPr>
              <a:t>Z-&gt;</a:t>
            </a:r>
            <a:r>
              <a:rPr lang="en-US" sz="1431" dirty="0" err="1">
                <a:solidFill>
                  <a:srgbClr val="000000"/>
                </a:solidFill>
                <a:latin typeface="Consolas" panose="020B0609020204030204" pitchFamily="49" charset="0"/>
                <a:cs typeface="Consolas" panose="020B0609020204030204" pitchFamily="49" charset="0"/>
              </a:rPr>
              <a:t>i</a:t>
            </a:r>
            <a:r>
              <a:rPr lang="en-US" sz="1431" dirty="0">
                <a:solidFill>
                  <a:srgbClr val="000000"/>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Y-&gt;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 =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Y-&gt;d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grpSp>
        <p:nvGrpSpPr>
          <p:cNvPr id="61" name="Group 60"/>
          <p:cNvGrpSpPr/>
          <p:nvPr/>
        </p:nvGrpSpPr>
        <p:grpSpPr>
          <a:xfrm>
            <a:off x="2129499" y="3669862"/>
            <a:ext cx="2445465" cy="252739"/>
            <a:chOff x="2655475" y="3731950"/>
            <a:chExt cx="3075855" cy="317890"/>
          </a:xfrm>
        </p:grpSpPr>
        <p:sp>
          <p:nvSpPr>
            <p:cNvPr id="62" name="Rectangle 61"/>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3559628" y="3736113"/>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869871" y="3736113"/>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4180114" y="3734032"/>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490357" y="3731951"/>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800600" y="3731950"/>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5110843" y="3731950"/>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421086" y="3739597"/>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3249385" y="3736114"/>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A</a:t>
              </a:r>
            </a:p>
          </p:txBody>
        </p:sp>
        <p:sp>
          <p:nvSpPr>
            <p:cNvPr id="93" name="Rectangle 92"/>
            <p:cNvSpPr/>
            <p:nvPr/>
          </p:nvSpPr>
          <p:spPr>
            <a:xfrm>
              <a:off x="3249386" y="373483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78" name="Rectangle 77"/>
          <p:cNvSpPr/>
          <p:nvPr/>
        </p:nvSpPr>
        <p:spPr>
          <a:xfrm>
            <a:off x="3095007" y="4166577"/>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0" name="Rectangle 79"/>
          <p:cNvSpPr/>
          <p:nvPr/>
        </p:nvSpPr>
        <p:spPr>
          <a:xfrm>
            <a:off x="2598073" y="4167056"/>
            <a:ext cx="1235651"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341666" y="4164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2" name="Rectangle 81"/>
          <p:cNvSpPr/>
          <p:nvPr/>
        </p:nvSpPr>
        <p:spPr>
          <a:xfrm>
            <a:off x="4081644" y="4165792"/>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3" name="Rectangle 82"/>
          <p:cNvSpPr/>
          <p:nvPr/>
        </p:nvSpPr>
        <p:spPr>
          <a:xfrm>
            <a:off x="4328304" y="416934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4" name="Rectangle 83"/>
          <p:cNvSpPr/>
          <p:nvPr/>
        </p:nvSpPr>
        <p:spPr>
          <a:xfrm>
            <a:off x="2601688" y="4166578"/>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grpSp>
        <p:nvGrpSpPr>
          <p:cNvPr id="64" name="Group 63"/>
          <p:cNvGrpSpPr/>
          <p:nvPr/>
        </p:nvGrpSpPr>
        <p:grpSpPr>
          <a:xfrm>
            <a:off x="2129499" y="4643084"/>
            <a:ext cx="2445465" cy="252739"/>
            <a:chOff x="2655475" y="4956048"/>
            <a:chExt cx="3075855" cy="317890"/>
          </a:xfrm>
        </p:grpSpPr>
        <p:sp>
          <p:nvSpPr>
            <p:cNvPr id="65" name="Rectangle 64"/>
            <p:cNvSpPr/>
            <p:nvPr/>
          </p:nvSpPr>
          <p:spPr>
            <a:xfrm>
              <a:off x="2655475" y="4963694"/>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000000"/>
                  </a:solidFill>
                </a:rPr>
                <a:t>Z</a:t>
              </a:r>
              <a:r>
                <a:rPr lang="en-US" sz="1431" dirty="0">
                  <a:solidFill>
                    <a:srgbClr val="000000"/>
                  </a:solidFill>
                  <a:latin typeface="Times New Roman" panose="02020603050405020304" pitchFamily="18" charset="0"/>
                  <a:cs typeface="Times New Roman" panose="02020603050405020304" pitchFamily="18" charset="0"/>
                </a:rPr>
                <a:t>→</a:t>
              </a:r>
              <a:endParaRPr lang="en-US" sz="1431" dirty="0">
                <a:solidFill>
                  <a:srgbClr val="000000"/>
                </a:solidFill>
              </a:endParaRPr>
            </a:p>
          </p:txBody>
        </p:sp>
        <p:sp>
          <p:nvSpPr>
            <p:cNvPr id="66" name="Rectangle 65"/>
            <p:cNvSpPr/>
            <p:nvPr/>
          </p:nvSpPr>
          <p:spPr>
            <a:xfrm>
              <a:off x="3869871" y="4960211"/>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7" name="Rectangle 66"/>
            <p:cNvSpPr/>
            <p:nvPr/>
          </p:nvSpPr>
          <p:spPr>
            <a:xfrm>
              <a:off x="4180114" y="495813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9" name="Rectangle 68"/>
            <p:cNvSpPr/>
            <p:nvPr/>
          </p:nvSpPr>
          <p:spPr>
            <a:xfrm>
              <a:off x="4800600" y="4956048"/>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0" name="Rectangle 69"/>
            <p:cNvSpPr/>
            <p:nvPr/>
          </p:nvSpPr>
          <p:spPr>
            <a:xfrm>
              <a:off x="5110843" y="4957636"/>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1" name="Rectangle 70"/>
            <p:cNvSpPr/>
            <p:nvPr/>
          </p:nvSpPr>
          <p:spPr>
            <a:xfrm>
              <a:off x="5421086" y="4963695"/>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2" name="Rectangle 71"/>
            <p:cNvSpPr/>
            <p:nvPr/>
          </p:nvSpPr>
          <p:spPr>
            <a:xfrm>
              <a:off x="3249385" y="4960212"/>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73" name="Rectangle 72"/>
            <p:cNvSpPr/>
            <p:nvPr/>
          </p:nvSpPr>
          <p:spPr>
            <a:xfrm>
              <a:off x="3258245" y="4960211"/>
              <a:ext cx="1224856" cy="310243"/>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000000"/>
                  </a:solidFill>
                </a:rPr>
                <a:t>6</a:t>
              </a:r>
            </a:p>
          </p:txBody>
        </p:sp>
        <p:sp>
          <p:nvSpPr>
            <p:cNvPr id="68" name="Rectangle 67"/>
            <p:cNvSpPr/>
            <p:nvPr/>
          </p:nvSpPr>
          <p:spPr>
            <a:xfrm>
              <a:off x="4490357" y="4957637"/>
              <a:ext cx="310243" cy="310243"/>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4" name="Rectangle 73"/>
            <p:cNvSpPr/>
            <p:nvPr/>
          </p:nvSpPr>
          <p:spPr>
            <a:xfrm>
              <a:off x="3249386" y="495734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07" name="Rectangle 106"/>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
        <p:nvSpPr>
          <p:cNvPr id="77" name="Rectangle 76"/>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gcc</a:t>
            </a:r>
            <a:r>
              <a:rPr lang="en-US" sz="1749" dirty="0">
                <a:solidFill>
                  <a:srgbClr val="898989"/>
                </a:solidFill>
                <a:latin typeface="Arial Narrow" panose="020B0606020202030204" pitchFamily="34" charset="0"/>
                <a:cs typeface="Consolas" panose="020B0609020204030204" pitchFamily="49" charset="0"/>
              </a:rPr>
              <a:t> -o </a:t>
            </a:r>
            <a:r>
              <a:rPr lang="en-US" sz="1749" dirty="0" err="1">
                <a:solidFill>
                  <a:srgbClr val="898989"/>
                </a:solidFill>
                <a:latin typeface="Arial Narrow" panose="020B0606020202030204" pitchFamily="34" charset="0"/>
                <a:cs typeface="Consolas" panose="020B0609020204030204" pitchFamily="49" charset="0"/>
              </a:rPr>
              <a:t>union.x</a:t>
            </a:r>
            <a:r>
              <a:rPr lang="en-US" sz="1749"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union.c</a:t>
            </a:r>
            <a:endParaRPr lang="en-US" sz="1749" dirty="0">
              <a:solidFill>
                <a:srgbClr val="898989"/>
              </a:solidFill>
              <a:latin typeface="Arial Narrow" panose="020B0606020202030204" pitchFamily="34" charset="0"/>
              <a:cs typeface="Consolas" panose="020B0609020204030204" pitchFamily="49" charset="0"/>
            </a:endParaRPr>
          </a:p>
          <a:p>
            <a:r>
              <a:rPr lang="en-US" sz="1749"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union.x</a:t>
            </a:r>
            <a:endParaRPr lang="en-US" sz="1749" dirty="0">
              <a:solidFill>
                <a:srgbClr val="898989"/>
              </a:solidFill>
              <a:latin typeface="Arial Narrow" panose="020B0606020202030204" pitchFamily="34" charset="0"/>
              <a:cs typeface="Consolas" panose="020B0609020204030204" pitchFamily="49" charset="0"/>
            </a:endParaRPr>
          </a:p>
          <a:p>
            <a:r>
              <a:rPr lang="en-US" sz="1749" dirty="0">
                <a:solidFill>
                  <a:srgbClr val="898989"/>
                </a:solidFill>
                <a:latin typeface="Arial Narrow" panose="020B0606020202030204" pitchFamily="34" charset="0"/>
                <a:cs typeface="Consolas" panose="020B0609020204030204" pitchFamily="49" charset="0"/>
              </a:rPr>
              <a:t>generic=8</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(c=1</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s=8</a:t>
            </a:r>
            <a:r>
              <a:rPr lang="en-US" sz="1590"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i</a:t>
            </a:r>
            <a:r>
              <a:rPr lang="en-US" sz="1749" dirty="0">
                <a:solidFill>
                  <a:srgbClr val="898989"/>
                </a:solidFill>
                <a:latin typeface="Arial Narrow" panose="020B0606020202030204" pitchFamily="34" charset="0"/>
                <a:cs typeface="Consolas" panose="020B0609020204030204" pitchFamily="49" charset="0"/>
              </a:rPr>
              <a:t>=4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l=4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u=4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f=4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d=8)</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110" name="Rectangle 109"/>
          <p:cNvSpPr/>
          <p:nvPr/>
        </p:nvSpPr>
        <p:spPr>
          <a:xfrm>
            <a:off x="2608731" y="4166749"/>
            <a:ext cx="975086"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FF0000"/>
                </a:solidFill>
              </a:rPr>
              <a:t>6</a:t>
            </a:r>
          </a:p>
        </p:txBody>
      </p:sp>
      <p:sp>
        <p:nvSpPr>
          <p:cNvPr id="111" name="Rectangle 110"/>
          <p:cNvSpPr/>
          <p:nvPr/>
        </p:nvSpPr>
        <p:spPr>
          <a:xfrm>
            <a:off x="2608731" y="4645960"/>
            <a:ext cx="976348"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FF0000"/>
                </a:solidFill>
              </a:rPr>
              <a:t>6</a:t>
            </a:r>
          </a:p>
        </p:txBody>
      </p:sp>
      <p:sp>
        <p:nvSpPr>
          <p:cNvPr id="113" name="Rectangle 112"/>
          <p:cNvSpPr/>
          <p:nvPr/>
        </p:nvSpPr>
        <p:spPr>
          <a:xfrm>
            <a:off x="2129499" y="4170609"/>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Y</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114" name="Rectangle 113"/>
          <p:cNvSpPr/>
          <p:nvPr/>
        </p:nvSpPr>
        <p:spPr>
          <a:xfrm>
            <a:off x="3588326" y="4164530"/>
            <a:ext cx="246659" cy="246659"/>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dirty="0">
              <a:solidFill>
                <a:prstClr val="white"/>
              </a:solidFill>
            </a:endParaRPr>
          </a:p>
        </p:txBody>
      </p:sp>
      <p:sp>
        <p:nvSpPr>
          <p:cNvPr id="85" name="Rectangle 84"/>
          <p:cNvSpPr/>
          <p:nvPr/>
        </p:nvSpPr>
        <p:spPr>
          <a:xfrm>
            <a:off x="2600426" y="4164297"/>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09" name="Group 108"/>
          <p:cNvGrpSpPr/>
          <p:nvPr/>
        </p:nvGrpSpPr>
        <p:grpSpPr>
          <a:xfrm>
            <a:off x="6171176" y="204386"/>
            <a:ext cx="3343773" cy="2767414"/>
            <a:chOff x="6171176" y="204386"/>
            <a:chExt cx="3343773" cy="2767414"/>
          </a:xfrm>
        </p:grpSpPr>
        <p:sp>
          <p:nvSpPr>
            <p:cNvPr id="112" name="Rectangle 111"/>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15" name="Group 114"/>
            <p:cNvGrpSpPr/>
            <p:nvPr/>
          </p:nvGrpSpPr>
          <p:grpSpPr>
            <a:xfrm>
              <a:off x="7816580" y="204386"/>
              <a:ext cx="1672090" cy="2326386"/>
              <a:chOff x="6400800" y="182880"/>
              <a:chExt cx="2103120" cy="2926080"/>
            </a:xfrm>
          </p:grpSpPr>
          <p:sp>
            <p:nvSpPr>
              <p:cNvPr id="139" name="Rectangle 138"/>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0" name="Rectangle 139"/>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1" name="Rectangle 140"/>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2" name="Rectangle 141"/>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3" name="Rectangle 142"/>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4" name="Rectangle 143"/>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5" name="Rectangle 144"/>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6" name="Left Brace 115"/>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117" name="Group 116"/>
            <p:cNvGrpSpPr/>
            <p:nvPr/>
          </p:nvGrpSpPr>
          <p:grpSpPr>
            <a:xfrm>
              <a:off x="6523652" y="212918"/>
              <a:ext cx="1185107" cy="2318933"/>
              <a:chOff x="8138160" y="143465"/>
              <a:chExt cx="1490603" cy="2916706"/>
            </a:xfrm>
          </p:grpSpPr>
          <p:sp>
            <p:nvSpPr>
              <p:cNvPr id="133" name="Left Brace 132"/>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4" name="Left Brace 133"/>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35" name="Straight Connector 134"/>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8" name="Rectangle 117"/>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119" name="Rectangle 118"/>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20" name="Rectangle 119"/>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21" name="Group 120"/>
            <p:cNvGrpSpPr/>
            <p:nvPr/>
          </p:nvGrpSpPr>
          <p:grpSpPr>
            <a:xfrm>
              <a:off x="7777798" y="204386"/>
              <a:ext cx="1737151" cy="2767414"/>
              <a:chOff x="9759788" y="132735"/>
              <a:chExt cx="2184953" cy="3480796"/>
            </a:xfrm>
          </p:grpSpPr>
          <p:sp>
            <p:nvSpPr>
              <p:cNvPr id="122" name="Rectangle 121"/>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23" name="Group 122"/>
              <p:cNvGrpSpPr/>
              <p:nvPr/>
            </p:nvGrpSpPr>
            <p:grpSpPr>
              <a:xfrm>
                <a:off x="9808570" y="132735"/>
                <a:ext cx="2103120" cy="2926080"/>
                <a:chOff x="6400800" y="182880"/>
                <a:chExt cx="2103120" cy="2926080"/>
              </a:xfrm>
            </p:grpSpPr>
            <p:sp>
              <p:nvSpPr>
                <p:cNvPr id="125" name="Rectangle 124"/>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6" name="Rectangle 125"/>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7" name="Rectangle 126"/>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8" name="Rectangle 127"/>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0" name="Rectangle 129"/>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1" name="Rectangle 130"/>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2" name="Rectangle 131"/>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24" name="Rectangle 123"/>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spTree>
    <p:extLst>
      <p:ext uri="{BB962C8B-B14F-4D97-AF65-F5344CB8AC3E}">
        <p14:creationId xmlns:p14="http://schemas.microsoft.com/office/powerpoint/2010/main" val="1694827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par>
                          <p:cTn id="7" fill="hold">
                            <p:stCondLst>
                              <p:cond delay="0"/>
                            </p:stCondLst>
                            <p:childTnLst>
                              <p:par>
                                <p:cTn id="8" presetID="64" presetClass="path" presetSubtype="0" fill="hold" grpId="1" nodeType="afterEffect">
                                  <p:stCondLst>
                                    <p:cond delay="0"/>
                                  </p:stCondLst>
                                  <p:childTnLst>
                                    <p:animMotion origin="layout" path="M 4.30739E-7 -3.7037E-7 L -0.00033 -0.06991 " pathEditMode="relative" rAng="0" ptsTypes="AA">
                                      <p:cBhvr>
                                        <p:cTn id="9" dur="1000" fill="hold"/>
                                        <p:tgtEl>
                                          <p:spTgt spid="111"/>
                                        </p:tgtEl>
                                        <p:attrNameLst>
                                          <p:attrName>ppt_x</p:attrName>
                                          <p:attrName>ppt_y</p:attrName>
                                        </p:attrNameLst>
                                      </p:cBhvr>
                                      <p:rCtr x="-16" y="-3495"/>
                                    </p:animMotion>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0"/>
                                          </p:stCondLst>
                                        </p:cTn>
                                        <p:tgtEl>
                                          <p:spTgt spid="110"/>
                                        </p:tgtEl>
                                        <p:attrNameLst>
                                          <p:attrName>style.visibility</p:attrName>
                                        </p:attrNameLst>
                                      </p:cBhvr>
                                      <p:to>
                                        <p:strVal val="visible"/>
                                      </p:to>
                                    </p:set>
                                  </p:childTnLst>
                                </p:cTn>
                              </p:par>
                              <p:par>
                                <p:cTn id="13" presetID="1" presetClass="exit" presetSubtype="0" fill="hold" grpId="2" nodeType="withEffect">
                                  <p:stCondLst>
                                    <p:cond delay="0"/>
                                  </p:stCondLst>
                                  <p:childTnLst>
                                    <p:set>
                                      <p:cBhvr>
                                        <p:cTn id="14" dur="1" fill="hold">
                                          <p:stCondLst>
                                            <p:cond delay="0"/>
                                          </p:stCondLst>
                                        </p:cTn>
                                        <p:tgtEl>
                                          <p:spTgt spid="1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111" grpId="0" animBg="1"/>
      <p:bldP spid="111" grpId="1" animBg="1"/>
      <p:bldP spid="111" grpId="2"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solidFill>
                  <a:srgbClr val="000000"/>
                </a:solidFill>
                <a:latin typeface="Consolas" panose="020B0609020204030204" pitchFamily="49" charset="0"/>
                <a:cs typeface="Consolas" panose="020B0609020204030204" pitchFamily="49" charset="0"/>
              </a:rPr>
              <a:t>Z-&gt;</a:t>
            </a:r>
            <a:r>
              <a:rPr lang="en-US" sz="1431" dirty="0" err="1">
                <a:solidFill>
                  <a:srgbClr val="000000"/>
                </a:solidFill>
                <a:latin typeface="Consolas" panose="020B0609020204030204" pitchFamily="49" charset="0"/>
                <a:cs typeface="Consolas" panose="020B0609020204030204" pitchFamily="49" charset="0"/>
              </a:rPr>
              <a:t>i</a:t>
            </a:r>
            <a:r>
              <a:rPr lang="en-US" sz="1431" dirty="0">
                <a:solidFill>
                  <a:srgbClr val="000000"/>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solidFill>
                  <a:srgbClr val="000000"/>
                </a:solidFill>
                <a:latin typeface="Consolas" panose="020B0609020204030204" pitchFamily="49" charset="0"/>
                <a:cs typeface="Consolas" panose="020B0609020204030204" pitchFamily="49" charset="0"/>
              </a:rPr>
              <a:t>Y-&gt;</a:t>
            </a:r>
            <a:r>
              <a:rPr lang="en-US" sz="1431" dirty="0" err="1">
                <a:solidFill>
                  <a:srgbClr val="000000"/>
                </a:solidFill>
                <a:latin typeface="Consolas" panose="020B0609020204030204" pitchFamily="49" charset="0"/>
                <a:cs typeface="Consolas" panose="020B0609020204030204" pitchFamily="49" charset="0"/>
              </a:rPr>
              <a:t>i</a:t>
            </a:r>
            <a:r>
              <a:rPr lang="en-US" sz="1431" dirty="0">
                <a:solidFill>
                  <a:srgbClr val="000000"/>
                </a:solidFill>
                <a:latin typeface="Consolas" panose="020B0609020204030204" pitchFamily="49" charset="0"/>
                <a:cs typeface="Consolas" panose="020B0609020204030204" pitchFamily="49" charset="0"/>
              </a:rPr>
              <a:t> = Z-&gt;</a:t>
            </a:r>
            <a:r>
              <a:rPr lang="en-US" sz="1431" dirty="0" err="1">
                <a:solidFill>
                  <a:srgbClr val="000000"/>
                </a:solidFill>
                <a:latin typeface="Consolas" panose="020B0609020204030204" pitchFamily="49" charset="0"/>
                <a:cs typeface="Consolas" panose="020B0609020204030204" pitchFamily="49" charset="0"/>
              </a:rPr>
              <a:t>i</a:t>
            </a:r>
            <a:r>
              <a:rPr lang="en-US" sz="1431" dirty="0">
                <a:solidFill>
                  <a:srgbClr val="000000"/>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Y-&gt;d =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grpSp>
        <p:nvGrpSpPr>
          <p:cNvPr id="61" name="Group 60"/>
          <p:cNvGrpSpPr/>
          <p:nvPr/>
        </p:nvGrpSpPr>
        <p:grpSpPr>
          <a:xfrm>
            <a:off x="2129499" y="3669862"/>
            <a:ext cx="2445465" cy="252739"/>
            <a:chOff x="2655475" y="3731950"/>
            <a:chExt cx="3075855" cy="317890"/>
          </a:xfrm>
        </p:grpSpPr>
        <p:sp>
          <p:nvSpPr>
            <p:cNvPr id="62" name="Rectangle 61"/>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3559628" y="3736113"/>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869871" y="3736113"/>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4180114" y="3734032"/>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490357" y="3731951"/>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800600" y="3731950"/>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5110843" y="3731950"/>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421086" y="3739597"/>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3249385" y="3736114"/>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A</a:t>
              </a:r>
            </a:p>
          </p:txBody>
        </p:sp>
        <p:sp>
          <p:nvSpPr>
            <p:cNvPr id="93" name="Rectangle 92"/>
            <p:cNvSpPr/>
            <p:nvPr/>
          </p:nvSpPr>
          <p:spPr>
            <a:xfrm>
              <a:off x="3249386" y="373483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59" name="Rectangle 58"/>
          <p:cNvSpPr/>
          <p:nvPr/>
        </p:nvSpPr>
        <p:spPr>
          <a:xfrm>
            <a:off x="2605778" y="4166577"/>
            <a:ext cx="981827"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lumMod val="50000"/>
                    <a:lumOff val="50000"/>
                  </a:prstClr>
                </a:solidFill>
              </a:rPr>
              <a:t>6</a:t>
            </a:r>
          </a:p>
        </p:txBody>
      </p:sp>
      <p:sp>
        <p:nvSpPr>
          <p:cNvPr id="63" name="Rectangle 62"/>
          <p:cNvSpPr/>
          <p:nvPr/>
        </p:nvSpPr>
        <p:spPr>
          <a:xfrm>
            <a:off x="3338713" y="4164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4" name="Rectangle 93"/>
          <p:cNvSpPr/>
          <p:nvPr/>
        </p:nvSpPr>
        <p:spPr>
          <a:xfrm>
            <a:off x="3585372" y="4165793"/>
            <a:ext cx="246659" cy="246659"/>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5" name="Rectangle 94"/>
          <p:cNvSpPr/>
          <p:nvPr/>
        </p:nvSpPr>
        <p:spPr>
          <a:xfrm>
            <a:off x="3832031" y="416326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6" name="Rectangle 95"/>
          <p:cNvSpPr/>
          <p:nvPr/>
        </p:nvSpPr>
        <p:spPr>
          <a:xfrm>
            <a:off x="4078691" y="4165792"/>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7" name="Rectangle 96"/>
          <p:cNvSpPr/>
          <p:nvPr/>
        </p:nvSpPr>
        <p:spPr>
          <a:xfrm>
            <a:off x="4325350" y="416934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8" name="Rectangle 97"/>
          <p:cNvSpPr/>
          <p:nvPr/>
        </p:nvSpPr>
        <p:spPr>
          <a:xfrm>
            <a:off x="2598735" y="4170537"/>
            <a:ext cx="246659" cy="246659"/>
          </a:xfrm>
          <a:prstGeom prst="rect">
            <a:avLst/>
          </a:prstGeom>
          <a:solidFill>
            <a:srgbClr val="FFFFFF">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90" b="1" dirty="0">
              <a:solidFill>
                <a:srgbClr val="FF0000"/>
              </a:solidFill>
            </a:endParaRPr>
          </a:p>
        </p:txBody>
      </p:sp>
      <p:sp>
        <p:nvSpPr>
          <p:cNvPr id="60" name="Rectangle 59"/>
          <p:cNvSpPr/>
          <p:nvPr/>
        </p:nvSpPr>
        <p:spPr>
          <a:xfrm>
            <a:off x="3092053" y="4166577"/>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3" name="Rectangle 112"/>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
        <p:nvSpPr>
          <p:cNvPr id="115" name="Rectangle 114"/>
          <p:cNvSpPr/>
          <p:nvPr/>
        </p:nvSpPr>
        <p:spPr>
          <a:xfrm>
            <a:off x="2596896" y="4169664"/>
            <a:ext cx="246659"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FF0000"/>
                </a:solidFill>
              </a:rPr>
              <a:t>A</a:t>
            </a:r>
          </a:p>
        </p:txBody>
      </p:sp>
      <p:sp>
        <p:nvSpPr>
          <p:cNvPr id="99" name="Rectangle 98"/>
          <p:cNvSpPr/>
          <p:nvPr/>
        </p:nvSpPr>
        <p:spPr>
          <a:xfrm>
            <a:off x="2598735" y="4165559"/>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6" name="Rectangle 75"/>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gcc</a:t>
            </a:r>
            <a:r>
              <a:rPr lang="en-US" sz="1749" dirty="0">
                <a:solidFill>
                  <a:srgbClr val="898989"/>
                </a:solidFill>
                <a:latin typeface="Arial Narrow" panose="020B0606020202030204" pitchFamily="34" charset="0"/>
                <a:cs typeface="Consolas" panose="020B0609020204030204" pitchFamily="49" charset="0"/>
              </a:rPr>
              <a:t> -o </a:t>
            </a:r>
            <a:r>
              <a:rPr lang="en-US" sz="1749" dirty="0" err="1">
                <a:solidFill>
                  <a:srgbClr val="898989"/>
                </a:solidFill>
                <a:latin typeface="Arial Narrow" panose="020B0606020202030204" pitchFamily="34" charset="0"/>
                <a:cs typeface="Consolas" panose="020B0609020204030204" pitchFamily="49" charset="0"/>
              </a:rPr>
              <a:t>union.x</a:t>
            </a:r>
            <a:r>
              <a:rPr lang="en-US" sz="1749"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union.c</a:t>
            </a:r>
            <a:endParaRPr lang="en-US" sz="1749" dirty="0">
              <a:solidFill>
                <a:srgbClr val="898989"/>
              </a:solidFill>
              <a:latin typeface="Arial Narrow" panose="020B0606020202030204" pitchFamily="34" charset="0"/>
              <a:cs typeface="Consolas" panose="020B0609020204030204" pitchFamily="49" charset="0"/>
            </a:endParaRPr>
          </a:p>
          <a:p>
            <a:r>
              <a:rPr lang="en-US" sz="1749"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union.x</a:t>
            </a:r>
            <a:endParaRPr lang="en-US" sz="1749" dirty="0">
              <a:solidFill>
                <a:srgbClr val="898989"/>
              </a:solidFill>
              <a:latin typeface="Arial Narrow" panose="020B0606020202030204" pitchFamily="34" charset="0"/>
              <a:cs typeface="Consolas" panose="020B0609020204030204" pitchFamily="49" charset="0"/>
            </a:endParaRPr>
          </a:p>
          <a:p>
            <a:r>
              <a:rPr lang="en-US" sz="1749" dirty="0">
                <a:solidFill>
                  <a:srgbClr val="898989"/>
                </a:solidFill>
                <a:latin typeface="Arial Narrow" panose="020B0606020202030204" pitchFamily="34" charset="0"/>
                <a:cs typeface="Consolas" panose="020B0609020204030204" pitchFamily="49" charset="0"/>
              </a:rPr>
              <a:t>generic=8</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(c=1</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s=8</a:t>
            </a:r>
            <a:r>
              <a:rPr lang="en-US" sz="1590"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i</a:t>
            </a:r>
            <a:r>
              <a:rPr lang="en-US" sz="1749" dirty="0">
                <a:solidFill>
                  <a:srgbClr val="898989"/>
                </a:solidFill>
                <a:latin typeface="Arial Narrow" panose="020B0606020202030204" pitchFamily="34" charset="0"/>
                <a:cs typeface="Consolas" panose="020B0609020204030204" pitchFamily="49" charset="0"/>
              </a:rPr>
              <a:t>=4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l=4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u=4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f=4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d=8)</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78" name="Rectangle 77"/>
          <p:cNvSpPr/>
          <p:nvPr/>
        </p:nvSpPr>
        <p:spPr>
          <a:xfrm>
            <a:off x="2598735" y="3677300"/>
            <a:ext cx="246659"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FF0000"/>
                </a:solidFill>
              </a:rPr>
              <a:t>A</a:t>
            </a:r>
          </a:p>
        </p:txBody>
      </p:sp>
      <p:sp>
        <p:nvSpPr>
          <p:cNvPr id="77" name="Rectangle 76"/>
          <p:cNvSpPr/>
          <p:nvPr/>
        </p:nvSpPr>
        <p:spPr>
          <a:xfrm>
            <a:off x="2129499" y="4170609"/>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Y</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grpSp>
        <p:nvGrpSpPr>
          <p:cNvPr id="81" name="Group 80"/>
          <p:cNvGrpSpPr/>
          <p:nvPr/>
        </p:nvGrpSpPr>
        <p:grpSpPr>
          <a:xfrm>
            <a:off x="6171176" y="204386"/>
            <a:ext cx="3343773" cy="2767414"/>
            <a:chOff x="6171176" y="204386"/>
            <a:chExt cx="3343773" cy="2767414"/>
          </a:xfrm>
        </p:grpSpPr>
        <p:sp>
          <p:nvSpPr>
            <p:cNvPr id="82" name="Rectangle 81"/>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83" name="Group 82"/>
            <p:cNvGrpSpPr/>
            <p:nvPr/>
          </p:nvGrpSpPr>
          <p:grpSpPr>
            <a:xfrm>
              <a:off x="7816580" y="204386"/>
              <a:ext cx="1672090" cy="2326386"/>
              <a:chOff x="6400800" y="182880"/>
              <a:chExt cx="2103120" cy="2926080"/>
            </a:xfrm>
          </p:grpSpPr>
          <p:sp>
            <p:nvSpPr>
              <p:cNvPr id="136" name="Rectangle 135"/>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7" name="Rectangle 136"/>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8" name="Rectangle 137"/>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9" name="Rectangle 138"/>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0" name="Rectangle 139"/>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1" name="Rectangle 140"/>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2" name="Rectangle 141"/>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3" name="Rectangle 142"/>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84" name="Left Brace 83"/>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85" name="Group 84"/>
            <p:cNvGrpSpPr/>
            <p:nvPr/>
          </p:nvGrpSpPr>
          <p:grpSpPr>
            <a:xfrm>
              <a:off x="6523652" y="212918"/>
              <a:ext cx="1185107" cy="2318933"/>
              <a:chOff x="8138160" y="143465"/>
              <a:chExt cx="1490603" cy="2916706"/>
            </a:xfrm>
          </p:grpSpPr>
          <p:sp>
            <p:nvSpPr>
              <p:cNvPr id="130" name="Left Brace 129"/>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1" name="Left Brace 130"/>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32" name="Straight Connector 131"/>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4" name="Rectangle 113"/>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116" name="Rectangle 115"/>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17" name="Rectangle 116"/>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18" name="Group 117"/>
            <p:cNvGrpSpPr/>
            <p:nvPr/>
          </p:nvGrpSpPr>
          <p:grpSpPr>
            <a:xfrm>
              <a:off x="7777798" y="204386"/>
              <a:ext cx="1737151" cy="2767414"/>
              <a:chOff x="9759788" y="132735"/>
              <a:chExt cx="2184953" cy="3480796"/>
            </a:xfrm>
          </p:grpSpPr>
          <p:sp>
            <p:nvSpPr>
              <p:cNvPr id="119" name="Rectangle 118"/>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20" name="Group 119"/>
              <p:cNvGrpSpPr/>
              <p:nvPr/>
            </p:nvGrpSpPr>
            <p:grpSpPr>
              <a:xfrm>
                <a:off x="9808570" y="132735"/>
                <a:ext cx="2103120" cy="2926080"/>
                <a:chOff x="6400800" y="182880"/>
                <a:chExt cx="2103120" cy="2926080"/>
              </a:xfrm>
            </p:grpSpPr>
            <p:sp>
              <p:nvSpPr>
                <p:cNvPr id="122" name="Rectangle 121"/>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3" name="Rectangle 122"/>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4" name="Rectangle 123"/>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5" name="Rectangle 124"/>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6" name="Rectangle 125"/>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7" name="Rectangle 126"/>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8" name="Rectangle 127"/>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21" name="Rectangle 120"/>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grpSp>
        <p:nvGrpSpPr>
          <p:cNvPr id="79" name="Group 78"/>
          <p:cNvGrpSpPr/>
          <p:nvPr/>
        </p:nvGrpSpPr>
        <p:grpSpPr>
          <a:xfrm>
            <a:off x="2129499" y="4643084"/>
            <a:ext cx="2445465" cy="252739"/>
            <a:chOff x="2655475" y="4956048"/>
            <a:chExt cx="3075855" cy="317890"/>
          </a:xfrm>
        </p:grpSpPr>
        <p:sp>
          <p:nvSpPr>
            <p:cNvPr id="80" name="Rectangle 79"/>
            <p:cNvSpPr/>
            <p:nvPr/>
          </p:nvSpPr>
          <p:spPr>
            <a:xfrm>
              <a:off x="2655475" y="4963694"/>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000000"/>
                  </a:solidFill>
                </a:rPr>
                <a:t>Z</a:t>
              </a:r>
              <a:r>
                <a:rPr lang="en-US" sz="1431" dirty="0">
                  <a:solidFill>
                    <a:srgbClr val="000000"/>
                  </a:solidFill>
                  <a:latin typeface="Times New Roman" panose="02020603050405020304" pitchFamily="18" charset="0"/>
                  <a:cs typeface="Times New Roman" panose="02020603050405020304" pitchFamily="18" charset="0"/>
                </a:rPr>
                <a:t>→</a:t>
              </a:r>
              <a:endParaRPr lang="en-US" sz="1431" dirty="0">
                <a:solidFill>
                  <a:srgbClr val="000000"/>
                </a:solidFill>
              </a:endParaRPr>
            </a:p>
          </p:txBody>
        </p:sp>
        <p:sp>
          <p:nvSpPr>
            <p:cNvPr id="100" name="Rectangle 99"/>
            <p:cNvSpPr/>
            <p:nvPr/>
          </p:nvSpPr>
          <p:spPr>
            <a:xfrm>
              <a:off x="3869871" y="4960211"/>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1" name="Rectangle 100"/>
            <p:cNvSpPr/>
            <p:nvPr/>
          </p:nvSpPr>
          <p:spPr>
            <a:xfrm>
              <a:off x="4180114" y="495813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2" name="Rectangle 101"/>
            <p:cNvSpPr/>
            <p:nvPr/>
          </p:nvSpPr>
          <p:spPr>
            <a:xfrm>
              <a:off x="4800600" y="4956048"/>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3" name="Rectangle 102"/>
            <p:cNvSpPr/>
            <p:nvPr/>
          </p:nvSpPr>
          <p:spPr>
            <a:xfrm>
              <a:off x="5110843" y="4957636"/>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4" name="Rectangle 103"/>
            <p:cNvSpPr/>
            <p:nvPr/>
          </p:nvSpPr>
          <p:spPr>
            <a:xfrm>
              <a:off x="5421086" y="4963695"/>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5" name="Rectangle 104"/>
            <p:cNvSpPr/>
            <p:nvPr/>
          </p:nvSpPr>
          <p:spPr>
            <a:xfrm>
              <a:off x="3249385" y="4960212"/>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106" name="Rectangle 105"/>
            <p:cNvSpPr/>
            <p:nvPr/>
          </p:nvSpPr>
          <p:spPr>
            <a:xfrm>
              <a:off x="3258245" y="4960211"/>
              <a:ext cx="1224856" cy="310243"/>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000000"/>
                  </a:solidFill>
                </a:rPr>
                <a:t>6</a:t>
              </a:r>
            </a:p>
          </p:txBody>
        </p:sp>
        <p:sp>
          <p:nvSpPr>
            <p:cNvPr id="107" name="Rectangle 106"/>
            <p:cNvSpPr/>
            <p:nvPr/>
          </p:nvSpPr>
          <p:spPr>
            <a:xfrm>
              <a:off x="4490357" y="4957637"/>
              <a:ext cx="310243" cy="310243"/>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8" name="Rectangle 107"/>
            <p:cNvSpPr/>
            <p:nvPr/>
          </p:nvSpPr>
          <p:spPr>
            <a:xfrm>
              <a:off x="3249386" y="495734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Tree>
    <p:extLst>
      <p:ext uri="{BB962C8B-B14F-4D97-AF65-F5344CB8AC3E}">
        <p14:creationId xmlns:p14="http://schemas.microsoft.com/office/powerpoint/2010/main" val="200030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par>
                          <p:cTn id="7" fill="hold">
                            <p:stCondLst>
                              <p:cond delay="0"/>
                            </p:stCondLst>
                            <p:childTnLst>
                              <p:par>
                                <p:cTn id="8" presetID="42" presetClass="path" presetSubtype="0" fill="hold" grpId="2" nodeType="afterEffect">
                                  <p:stCondLst>
                                    <p:cond delay="0"/>
                                  </p:stCondLst>
                                  <p:childTnLst>
                                    <p:animMotion origin="layout" path="M -4.10344E-6 3.33333E-6 L 0.00066 0.07129 " pathEditMode="relative" rAng="0" ptsTypes="AA">
                                      <p:cBhvr>
                                        <p:cTn id="9" dur="1000" fill="hold"/>
                                        <p:tgtEl>
                                          <p:spTgt spid="78"/>
                                        </p:tgtEl>
                                        <p:attrNameLst>
                                          <p:attrName>ppt_x</p:attrName>
                                          <p:attrName>ppt_y</p:attrName>
                                        </p:attrNameLst>
                                      </p:cBhvr>
                                      <p:rCtr x="33" y="3565"/>
                                    </p:animMotion>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0"/>
                                          </p:stCondLst>
                                        </p:cTn>
                                        <p:tgtEl>
                                          <p:spTgt spid="115"/>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78" grpId="0" animBg="1"/>
      <p:bldP spid="78" grpId="1" animBg="1"/>
      <p:bldP spid="78" grpId="2"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solidFill>
                  <a:srgbClr val="000000"/>
                </a:solidFill>
                <a:latin typeface="Consolas" panose="020B0609020204030204" pitchFamily="49" charset="0"/>
                <a:cs typeface="Consolas" panose="020B0609020204030204" pitchFamily="49" charset="0"/>
              </a:rPr>
              <a:t>Z-&gt;</a:t>
            </a:r>
            <a:r>
              <a:rPr lang="en-US" sz="1431" dirty="0" err="1">
                <a:solidFill>
                  <a:srgbClr val="000000"/>
                </a:solidFill>
                <a:latin typeface="Consolas" panose="020B0609020204030204" pitchFamily="49" charset="0"/>
                <a:cs typeface="Consolas" panose="020B0609020204030204" pitchFamily="49" charset="0"/>
              </a:rPr>
              <a:t>i</a:t>
            </a:r>
            <a:r>
              <a:rPr lang="en-US" sz="1431" dirty="0">
                <a:solidFill>
                  <a:srgbClr val="000000"/>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Y-&gt;d =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sp>
        <p:nvSpPr>
          <p:cNvPr id="97" name="Rectangle 96"/>
          <p:cNvSpPr/>
          <p:nvPr/>
        </p:nvSpPr>
        <p:spPr>
          <a:xfrm>
            <a:off x="4325350" y="416934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61" name="Group 60"/>
          <p:cNvGrpSpPr/>
          <p:nvPr/>
        </p:nvGrpSpPr>
        <p:grpSpPr>
          <a:xfrm>
            <a:off x="2129499" y="3669862"/>
            <a:ext cx="2445465" cy="252739"/>
            <a:chOff x="2655475" y="3731950"/>
            <a:chExt cx="3075855" cy="317890"/>
          </a:xfrm>
        </p:grpSpPr>
        <p:sp>
          <p:nvSpPr>
            <p:cNvPr id="62" name="Rectangle 61"/>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3559628" y="3736113"/>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869871" y="3736113"/>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4180114" y="3734032"/>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490357" y="3731951"/>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800600" y="3731950"/>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5110843" y="3731950"/>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421086" y="3739597"/>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3249385" y="3736114"/>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A</a:t>
              </a:r>
            </a:p>
          </p:txBody>
        </p:sp>
        <p:sp>
          <p:nvSpPr>
            <p:cNvPr id="93" name="Rectangle 92"/>
            <p:cNvSpPr/>
            <p:nvPr/>
          </p:nvSpPr>
          <p:spPr>
            <a:xfrm>
              <a:off x="3249386" y="373483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59" name="Rectangle 58"/>
          <p:cNvSpPr/>
          <p:nvPr/>
        </p:nvSpPr>
        <p:spPr>
          <a:xfrm>
            <a:off x="2605778" y="4166577"/>
            <a:ext cx="986637"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lumMod val="50000"/>
                    <a:lumOff val="50000"/>
                  </a:prstClr>
                </a:solidFill>
              </a:rPr>
              <a:t>6</a:t>
            </a:r>
          </a:p>
        </p:txBody>
      </p:sp>
      <p:sp>
        <p:nvSpPr>
          <p:cNvPr id="63" name="Rectangle 62"/>
          <p:cNvSpPr/>
          <p:nvPr/>
        </p:nvSpPr>
        <p:spPr>
          <a:xfrm>
            <a:off x="3338713" y="4164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4" name="Rectangle 93"/>
          <p:cNvSpPr/>
          <p:nvPr/>
        </p:nvSpPr>
        <p:spPr>
          <a:xfrm>
            <a:off x="3585372" y="4166780"/>
            <a:ext cx="246659" cy="246659"/>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5" name="Rectangle 94"/>
          <p:cNvSpPr/>
          <p:nvPr/>
        </p:nvSpPr>
        <p:spPr>
          <a:xfrm>
            <a:off x="3832031" y="416326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6" name="Rectangle 95"/>
          <p:cNvSpPr/>
          <p:nvPr/>
        </p:nvSpPr>
        <p:spPr>
          <a:xfrm>
            <a:off x="4078691" y="4166780"/>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8" name="Rectangle 97"/>
          <p:cNvSpPr/>
          <p:nvPr/>
        </p:nvSpPr>
        <p:spPr>
          <a:xfrm>
            <a:off x="2596896" y="4169664"/>
            <a:ext cx="246659" cy="246659"/>
          </a:xfrm>
          <a:prstGeom prst="rect">
            <a:avLst/>
          </a:prstGeom>
          <a:solidFill>
            <a:srgbClr val="FFFFFF">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white">
                    <a:lumMod val="50000"/>
                  </a:prstClr>
                </a:solidFill>
              </a:rPr>
              <a:t>A</a:t>
            </a:r>
          </a:p>
        </p:txBody>
      </p:sp>
      <p:sp>
        <p:nvSpPr>
          <p:cNvPr id="60" name="Rectangle 59"/>
          <p:cNvSpPr/>
          <p:nvPr/>
        </p:nvSpPr>
        <p:spPr>
          <a:xfrm>
            <a:off x="3092053" y="4166577"/>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3" name="Rectangle 112"/>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
        <p:nvSpPr>
          <p:cNvPr id="77" name="Rectangle 76"/>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939393"/>
                </a:solidFill>
                <a:latin typeface="Arial Narrow" panose="020B0606020202030204" pitchFamily="34" charset="0"/>
                <a:cs typeface="Consolas" panose="020B0609020204030204" pitchFamily="49" charset="0"/>
              </a:rPr>
              <a:t>% </a:t>
            </a:r>
            <a:r>
              <a:rPr lang="en-US" sz="1749" dirty="0" err="1">
                <a:solidFill>
                  <a:srgbClr val="939393"/>
                </a:solidFill>
                <a:latin typeface="Arial Narrow" panose="020B0606020202030204" pitchFamily="34" charset="0"/>
                <a:cs typeface="Consolas" panose="020B0609020204030204" pitchFamily="49" charset="0"/>
              </a:rPr>
              <a:t>gcc</a:t>
            </a:r>
            <a:r>
              <a:rPr lang="en-US" sz="1749" dirty="0">
                <a:solidFill>
                  <a:srgbClr val="939393"/>
                </a:solidFill>
                <a:latin typeface="Arial Narrow" panose="020B0606020202030204" pitchFamily="34" charset="0"/>
                <a:cs typeface="Consolas" panose="020B0609020204030204" pitchFamily="49" charset="0"/>
              </a:rPr>
              <a:t> -o </a:t>
            </a:r>
            <a:r>
              <a:rPr lang="en-US" sz="1749" dirty="0" err="1">
                <a:solidFill>
                  <a:srgbClr val="939393"/>
                </a:solidFill>
                <a:latin typeface="Arial Narrow" panose="020B0606020202030204" pitchFamily="34" charset="0"/>
                <a:cs typeface="Consolas" panose="020B0609020204030204" pitchFamily="49" charset="0"/>
              </a:rPr>
              <a:t>union.x</a:t>
            </a:r>
            <a:r>
              <a:rPr lang="en-US" sz="1749" dirty="0">
                <a:solidFill>
                  <a:srgbClr val="939393"/>
                </a:solidFill>
                <a:latin typeface="Arial Narrow" panose="020B0606020202030204" pitchFamily="34" charset="0"/>
                <a:cs typeface="Consolas" panose="020B0609020204030204" pitchFamily="49" charset="0"/>
              </a:rPr>
              <a:t> </a:t>
            </a:r>
            <a:r>
              <a:rPr lang="en-US" sz="1749" dirty="0" err="1">
                <a:solidFill>
                  <a:srgbClr val="939393"/>
                </a:solidFill>
                <a:latin typeface="Arial Narrow" panose="020B0606020202030204" pitchFamily="34" charset="0"/>
                <a:cs typeface="Consolas" panose="020B0609020204030204" pitchFamily="49" charset="0"/>
              </a:rPr>
              <a:t>union.c</a:t>
            </a:r>
            <a:endParaRPr lang="en-US" sz="1749" dirty="0">
              <a:solidFill>
                <a:srgbClr val="939393"/>
              </a:solidFill>
              <a:latin typeface="Arial Narrow" panose="020B0606020202030204" pitchFamily="34" charset="0"/>
              <a:cs typeface="Consolas" panose="020B0609020204030204" pitchFamily="49" charset="0"/>
            </a:endParaRPr>
          </a:p>
          <a:p>
            <a:r>
              <a:rPr lang="en-US" sz="1749" dirty="0">
                <a:solidFill>
                  <a:srgbClr val="939393"/>
                </a:solidFill>
                <a:latin typeface="Arial Narrow" panose="020B0606020202030204" pitchFamily="34" charset="0"/>
                <a:cs typeface="Consolas" panose="020B0609020204030204" pitchFamily="49" charset="0"/>
              </a:rPr>
              <a:t>% ./</a:t>
            </a:r>
            <a:r>
              <a:rPr lang="en-US" sz="1749" dirty="0" err="1">
                <a:solidFill>
                  <a:srgbClr val="939393"/>
                </a:solidFill>
                <a:latin typeface="Arial Narrow" panose="020B0606020202030204" pitchFamily="34" charset="0"/>
                <a:cs typeface="Consolas" panose="020B0609020204030204" pitchFamily="49" charset="0"/>
              </a:rPr>
              <a:t>union.x</a:t>
            </a:r>
            <a:endParaRPr lang="en-US" sz="1749" dirty="0">
              <a:solidFill>
                <a:srgbClr val="939393"/>
              </a:solidFill>
              <a:latin typeface="Arial Narrow" panose="020B0606020202030204" pitchFamily="34" charset="0"/>
              <a:cs typeface="Consolas" panose="020B0609020204030204" pitchFamily="49" charset="0"/>
            </a:endParaRPr>
          </a:p>
          <a:p>
            <a:r>
              <a:rPr lang="en-US" sz="1749" dirty="0">
                <a:solidFill>
                  <a:srgbClr val="939393"/>
                </a:solidFill>
                <a:latin typeface="Arial Narrow" panose="020B0606020202030204" pitchFamily="34" charset="0"/>
                <a:cs typeface="Consolas" panose="020B0609020204030204" pitchFamily="49" charset="0"/>
              </a:rPr>
              <a:t>generic=8</a:t>
            </a:r>
            <a:r>
              <a:rPr lang="en-US" sz="1590" dirty="0">
                <a:solidFill>
                  <a:srgbClr val="939393"/>
                </a:solidFill>
                <a:latin typeface="Arial Narrow" panose="020B0606020202030204" pitchFamily="34" charset="0"/>
                <a:cs typeface="Consolas" panose="020B0609020204030204" pitchFamily="49" charset="0"/>
              </a:rPr>
              <a:t>  </a:t>
            </a:r>
            <a:r>
              <a:rPr lang="en-US" sz="1749" dirty="0">
                <a:solidFill>
                  <a:srgbClr val="939393"/>
                </a:solidFill>
                <a:latin typeface="Arial Narrow" panose="020B0606020202030204" pitchFamily="34" charset="0"/>
                <a:cs typeface="Consolas" panose="020B0609020204030204" pitchFamily="49" charset="0"/>
              </a:rPr>
              <a:t>(c=1</a:t>
            </a:r>
            <a:r>
              <a:rPr lang="en-US" sz="1590" dirty="0">
                <a:solidFill>
                  <a:srgbClr val="939393"/>
                </a:solidFill>
                <a:latin typeface="Arial Narrow" panose="020B0606020202030204" pitchFamily="34" charset="0"/>
                <a:cs typeface="Consolas" panose="020B0609020204030204" pitchFamily="49" charset="0"/>
              </a:rPr>
              <a:t>  </a:t>
            </a:r>
            <a:r>
              <a:rPr lang="en-US" sz="1749" dirty="0">
                <a:solidFill>
                  <a:srgbClr val="939393"/>
                </a:solidFill>
                <a:latin typeface="Arial Narrow" panose="020B0606020202030204" pitchFamily="34" charset="0"/>
                <a:cs typeface="Consolas" panose="020B0609020204030204" pitchFamily="49" charset="0"/>
              </a:rPr>
              <a:t>s=8</a:t>
            </a:r>
            <a:r>
              <a:rPr lang="en-US" sz="1590" dirty="0">
                <a:solidFill>
                  <a:srgbClr val="939393"/>
                </a:solidFill>
                <a:latin typeface="Arial Narrow" panose="020B0606020202030204" pitchFamily="34" charset="0"/>
                <a:cs typeface="Consolas" panose="020B0609020204030204" pitchFamily="49" charset="0"/>
              </a:rPr>
              <a:t>  </a:t>
            </a:r>
            <a:r>
              <a:rPr lang="en-US" sz="1749" dirty="0" err="1">
                <a:solidFill>
                  <a:srgbClr val="939393"/>
                </a:solidFill>
                <a:latin typeface="Arial Narrow" panose="020B0606020202030204" pitchFamily="34" charset="0"/>
                <a:cs typeface="Consolas" panose="020B0609020204030204" pitchFamily="49" charset="0"/>
              </a:rPr>
              <a:t>i</a:t>
            </a:r>
            <a:r>
              <a:rPr lang="en-US" sz="1749" dirty="0">
                <a:solidFill>
                  <a:srgbClr val="939393"/>
                </a:solidFill>
                <a:latin typeface="Arial Narrow" panose="020B0606020202030204" pitchFamily="34" charset="0"/>
                <a:cs typeface="Consolas" panose="020B0609020204030204" pitchFamily="49" charset="0"/>
              </a:rPr>
              <a:t>=4</a:t>
            </a:r>
            <a:r>
              <a:rPr lang="en-US" sz="1590" dirty="0">
                <a:solidFill>
                  <a:srgbClr val="939393"/>
                </a:solidFill>
                <a:latin typeface="Arial Narrow" panose="020B0606020202030204" pitchFamily="34" charset="0"/>
                <a:cs typeface="Consolas" panose="020B0609020204030204" pitchFamily="49" charset="0"/>
              </a:rPr>
              <a:t>  </a:t>
            </a:r>
            <a:r>
              <a:rPr lang="en-US" sz="1749" dirty="0">
                <a:solidFill>
                  <a:srgbClr val="939393"/>
                </a:solidFill>
                <a:latin typeface="Arial Narrow" panose="020B0606020202030204" pitchFamily="34" charset="0"/>
                <a:cs typeface="Consolas" panose="020B0609020204030204" pitchFamily="49" charset="0"/>
              </a:rPr>
              <a:t>l=4</a:t>
            </a:r>
            <a:r>
              <a:rPr lang="en-US" sz="1590" dirty="0">
                <a:solidFill>
                  <a:srgbClr val="939393"/>
                </a:solidFill>
                <a:latin typeface="Arial Narrow" panose="020B0606020202030204" pitchFamily="34" charset="0"/>
                <a:cs typeface="Consolas" panose="020B0609020204030204" pitchFamily="49" charset="0"/>
              </a:rPr>
              <a:t>  </a:t>
            </a:r>
            <a:r>
              <a:rPr lang="en-US" sz="1749" dirty="0">
                <a:solidFill>
                  <a:srgbClr val="939393"/>
                </a:solidFill>
                <a:latin typeface="Arial Narrow" panose="020B0606020202030204" pitchFamily="34" charset="0"/>
                <a:cs typeface="Consolas" panose="020B0609020204030204" pitchFamily="49" charset="0"/>
              </a:rPr>
              <a:t>u=4</a:t>
            </a:r>
            <a:r>
              <a:rPr lang="en-US" sz="1590" dirty="0">
                <a:solidFill>
                  <a:srgbClr val="939393"/>
                </a:solidFill>
                <a:latin typeface="Arial Narrow" panose="020B0606020202030204" pitchFamily="34" charset="0"/>
                <a:cs typeface="Consolas" panose="020B0609020204030204" pitchFamily="49" charset="0"/>
              </a:rPr>
              <a:t>  </a:t>
            </a:r>
            <a:r>
              <a:rPr lang="en-US" sz="1749" dirty="0">
                <a:solidFill>
                  <a:srgbClr val="939393"/>
                </a:solidFill>
                <a:latin typeface="Arial Narrow" panose="020B0606020202030204" pitchFamily="34" charset="0"/>
                <a:cs typeface="Consolas" panose="020B0609020204030204" pitchFamily="49" charset="0"/>
              </a:rPr>
              <a:t>f=4</a:t>
            </a:r>
            <a:r>
              <a:rPr lang="en-US" sz="1590" dirty="0">
                <a:solidFill>
                  <a:srgbClr val="939393"/>
                </a:solidFill>
                <a:latin typeface="Arial Narrow" panose="020B0606020202030204" pitchFamily="34" charset="0"/>
                <a:cs typeface="Consolas" panose="020B0609020204030204" pitchFamily="49" charset="0"/>
              </a:rPr>
              <a:t>  </a:t>
            </a:r>
            <a:r>
              <a:rPr lang="en-US" sz="1749" dirty="0">
                <a:solidFill>
                  <a:srgbClr val="939393"/>
                </a:solidFill>
                <a:latin typeface="Arial Narrow" panose="020B0606020202030204" pitchFamily="34" charset="0"/>
                <a:cs typeface="Consolas" panose="020B0609020204030204" pitchFamily="49" charset="0"/>
              </a:rPr>
              <a:t>d=8)</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78" name="Rectangle 77"/>
          <p:cNvSpPr/>
          <p:nvPr/>
        </p:nvSpPr>
        <p:spPr>
          <a:xfrm>
            <a:off x="2129499" y="4170609"/>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Y</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79" name="Rectangle 78"/>
          <p:cNvSpPr/>
          <p:nvPr/>
        </p:nvSpPr>
        <p:spPr>
          <a:xfrm>
            <a:off x="2608730" y="4166577"/>
            <a:ext cx="1959188"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spc="183" dirty="0">
                <a:solidFill>
                  <a:srgbClr val="FF0000"/>
                </a:solidFill>
              </a:rPr>
              <a:t>6.000000000000</a:t>
            </a:r>
          </a:p>
        </p:txBody>
      </p:sp>
      <p:sp>
        <p:nvSpPr>
          <p:cNvPr id="99" name="Rectangle 98"/>
          <p:cNvSpPr/>
          <p:nvPr/>
        </p:nvSpPr>
        <p:spPr>
          <a:xfrm>
            <a:off x="2598735" y="4165487"/>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50" name="Group 149"/>
          <p:cNvGrpSpPr/>
          <p:nvPr/>
        </p:nvGrpSpPr>
        <p:grpSpPr>
          <a:xfrm>
            <a:off x="6171176" y="204386"/>
            <a:ext cx="3343773" cy="2767414"/>
            <a:chOff x="6171176" y="204386"/>
            <a:chExt cx="3343773" cy="2767414"/>
          </a:xfrm>
        </p:grpSpPr>
        <p:sp>
          <p:nvSpPr>
            <p:cNvPr id="151" name="Rectangle 150"/>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52" name="Group 151"/>
            <p:cNvGrpSpPr/>
            <p:nvPr/>
          </p:nvGrpSpPr>
          <p:grpSpPr>
            <a:xfrm>
              <a:off x="7816580" y="204386"/>
              <a:ext cx="1672090" cy="2326386"/>
              <a:chOff x="6400800" y="182880"/>
              <a:chExt cx="2103120" cy="2926080"/>
            </a:xfrm>
          </p:grpSpPr>
          <p:sp>
            <p:nvSpPr>
              <p:cNvPr id="176" name="Rectangle 175"/>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7" name="Rectangle 176"/>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8" name="Rectangle 177"/>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79" name="Rectangle 178"/>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0" name="Rectangle 179"/>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1" name="Rectangle 180"/>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2" name="Rectangle 181"/>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83" name="Rectangle 182"/>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53" name="Left Brace 152"/>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154" name="Group 153"/>
            <p:cNvGrpSpPr/>
            <p:nvPr/>
          </p:nvGrpSpPr>
          <p:grpSpPr>
            <a:xfrm>
              <a:off x="6523652" y="212918"/>
              <a:ext cx="1185107" cy="2318933"/>
              <a:chOff x="8138160" y="143465"/>
              <a:chExt cx="1490603" cy="2916706"/>
            </a:xfrm>
          </p:grpSpPr>
          <p:sp>
            <p:nvSpPr>
              <p:cNvPr id="170" name="Left Brace 169"/>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71" name="Left Brace 170"/>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72" name="Straight Connector 171"/>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55" name="Rectangle 154"/>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156" name="Rectangle 155"/>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57" name="Rectangle 156"/>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58" name="Group 157"/>
            <p:cNvGrpSpPr/>
            <p:nvPr/>
          </p:nvGrpSpPr>
          <p:grpSpPr>
            <a:xfrm>
              <a:off x="7777798" y="204386"/>
              <a:ext cx="1737151" cy="2767414"/>
              <a:chOff x="9759788" y="132735"/>
              <a:chExt cx="2184953" cy="3480796"/>
            </a:xfrm>
          </p:grpSpPr>
          <p:sp>
            <p:nvSpPr>
              <p:cNvPr id="159" name="Rectangle 158"/>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60" name="Group 159"/>
              <p:cNvGrpSpPr/>
              <p:nvPr/>
            </p:nvGrpSpPr>
            <p:grpSpPr>
              <a:xfrm>
                <a:off x="9808570" y="132735"/>
                <a:ext cx="2103120" cy="2926080"/>
                <a:chOff x="6400800" y="182880"/>
                <a:chExt cx="2103120" cy="2926080"/>
              </a:xfrm>
            </p:grpSpPr>
            <p:sp>
              <p:nvSpPr>
                <p:cNvPr id="162" name="Rectangle 161"/>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3" name="Rectangle 162"/>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4" name="Rectangle 163"/>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5" name="Rectangle 164"/>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6" name="Rectangle 165"/>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7" name="Rectangle 166"/>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8" name="Rectangle 167"/>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69" name="Rectangle 168"/>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61" name="Rectangle 160"/>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grpSp>
        <p:nvGrpSpPr>
          <p:cNvPr id="72" name="Group 71"/>
          <p:cNvGrpSpPr/>
          <p:nvPr/>
        </p:nvGrpSpPr>
        <p:grpSpPr>
          <a:xfrm>
            <a:off x="2129499" y="4643084"/>
            <a:ext cx="2445465" cy="252739"/>
            <a:chOff x="2655475" y="4956048"/>
            <a:chExt cx="3075855" cy="317890"/>
          </a:xfrm>
        </p:grpSpPr>
        <p:sp>
          <p:nvSpPr>
            <p:cNvPr id="73" name="Rectangle 72"/>
            <p:cNvSpPr/>
            <p:nvPr/>
          </p:nvSpPr>
          <p:spPr>
            <a:xfrm>
              <a:off x="2655475" y="4963694"/>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000000"/>
                  </a:solidFill>
                </a:rPr>
                <a:t>Z</a:t>
              </a:r>
              <a:r>
                <a:rPr lang="en-US" sz="1431" dirty="0">
                  <a:solidFill>
                    <a:srgbClr val="000000"/>
                  </a:solidFill>
                  <a:latin typeface="Times New Roman" panose="02020603050405020304" pitchFamily="18" charset="0"/>
                  <a:cs typeface="Times New Roman" panose="02020603050405020304" pitchFamily="18" charset="0"/>
                </a:rPr>
                <a:t>→</a:t>
              </a:r>
              <a:endParaRPr lang="en-US" sz="1431" dirty="0">
                <a:solidFill>
                  <a:srgbClr val="000000"/>
                </a:solidFill>
              </a:endParaRPr>
            </a:p>
          </p:txBody>
        </p:sp>
        <p:sp>
          <p:nvSpPr>
            <p:cNvPr id="74" name="Rectangle 73"/>
            <p:cNvSpPr/>
            <p:nvPr/>
          </p:nvSpPr>
          <p:spPr>
            <a:xfrm>
              <a:off x="3869871" y="4960211"/>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6" name="Rectangle 75"/>
            <p:cNvSpPr/>
            <p:nvPr/>
          </p:nvSpPr>
          <p:spPr>
            <a:xfrm>
              <a:off x="4180114" y="495813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0" name="Rectangle 99"/>
            <p:cNvSpPr/>
            <p:nvPr/>
          </p:nvSpPr>
          <p:spPr>
            <a:xfrm>
              <a:off x="4800600" y="4956048"/>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1" name="Rectangle 100"/>
            <p:cNvSpPr/>
            <p:nvPr/>
          </p:nvSpPr>
          <p:spPr>
            <a:xfrm>
              <a:off x="5110843" y="4957636"/>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2" name="Rectangle 101"/>
            <p:cNvSpPr/>
            <p:nvPr/>
          </p:nvSpPr>
          <p:spPr>
            <a:xfrm>
              <a:off x="5421086" y="4963695"/>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3" name="Rectangle 102"/>
            <p:cNvSpPr/>
            <p:nvPr/>
          </p:nvSpPr>
          <p:spPr>
            <a:xfrm>
              <a:off x="3249385" y="4960212"/>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104" name="Rectangle 103"/>
            <p:cNvSpPr/>
            <p:nvPr/>
          </p:nvSpPr>
          <p:spPr>
            <a:xfrm>
              <a:off x="3258245" y="4960211"/>
              <a:ext cx="1224856" cy="310243"/>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000000"/>
                  </a:solidFill>
                </a:rPr>
                <a:t>6</a:t>
              </a:r>
            </a:p>
          </p:txBody>
        </p:sp>
        <p:sp>
          <p:nvSpPr>
            <p:cNvPr id="105" name="Rectangle 104"/>
            <p:cNvSpPr/>
            <p:nvPr/>
          </p:nvSpPr>
          <p:spPr>
            <a:xfrm>
              <a:off x="4490357" y="4957637"/>
              <a:ext cx="310243" cy="310243"/>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6" name="Rectangle 105"/>
            <p:cNvSpPr/>
            <p:nvPr/>
          </p:nvSpPr>
          <p:spPr>
            <a:xfrm>
              <a:off x="3249386" y="495734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Tree>
    <p:extLst>
      <p:ext uri="{BB962C8B-B14F-4D97-AF65-F5344CB8AC3E}">
        <p14:creationId xmlns:p14="http://schemas.microsoft.com/office/powerpoint/2010/main" val="323634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2000"/>
                                        <p:tgtEl>
                                          <p:spTgt spid="79"/>
                                        </p:tgtEl>
                                      </p:cBhvr>
                                    </p:animEffect>
                                    <p:anim calcmode="lin" valueType="num">
                                      <p:cBhvr>
                                        <p:cTn id="8" dur="2000" fill="hold"/>
                                        <p:tgtEl>
                                          <p:spTgt spid="79"/>
                                        </p:tgtEl>
                                        <p:attrNameLst>
                                          <p:attrName>style.rotation</p:attrName>
                                        </p:attrNameLst>
                                      </p:cBhvr>
                                      <p:tavLst>
                                        <p:tav tm="0">
                                          <p:val>
                                            <p:fltVal val="720"/>
                                          </p:val>
                                        </p:tav>
                                        <p:tav tm="100000">
                                          <p:val>
                                            <p:fltVal val="0"/>
                                          </p:val>
                                        </p:tav>
                                      </p:tavLst>
                                    </p:anim>
                                    <p:anim calcmode="lin" valueType="num">
                                      <p:cBhvr>
                                        <p:cTn id="9" dur="2000" fill="hold"/>
                                        <p:tgtEl>
                                          <p:spTgt spid="79"/>
                                        </p:tgtEl>
                                        <p:attrNameLst>
                                          <p:attrName>ppt_h</p:attrName>
                                        </p:attrNameLst>
                                      </p:cBhvr>
                                      <p:tavLst>
                                        <p:tav tm="0">
                                          <p:val>
                                            <p:fltVal val="0"/>
                                          </p:val>
                                        </p:tav>
                                        <p:tav tm="100000">
                                          <p:val>
                                            <p:strVal val="#ppt_h"/>
                                          </p:val>
                                        </p:tav>
                                      </p:tavLst>
                                    </p:anim>
                                    <p:anim calcmode="lin" valueType="num">
                                      <p:cBhvr>
                                        <p:cTn id="10" dur="2000" fill="hold"/>
                                        <p:tgtEl>
                                          <p:spTgt spid="79"/>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2605778" y="4166577"/>
            <a:ext cx="986637"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90" b="1" dirty="0">
              <a:solidFill>
                <a:prstClr val="black">
                  <a:lumMod val="50000"/>
                  <a:lumOff val="50000"/>
                </a:prstClr>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solidFill>
                  <a:srgbClr val="000000"/>
                </a:solidFill>
                <a:latin typeface="Consolas" panose="020B0609020204030204" pitchFamily="49" charset="0"/>
                <a:cs typeface="Consolas" panose="020B0609020204030204" pitchFamily="49" charset="0"/>
              </a:rPr>
              <a:t>Z-&gt;</a:t>
            </a:r>
            <a:r>
              <a:rPr lang="en-US" sz="1431" dirty="0" err="1">
                <a:solidFill>
                  <a:srgbClr val="000000"/>
                </a:solidFill>
                <a:latin typeface="Consolas" panose="020B0609020204030204" pitchFamily="49" charset="0"/>
                <a:cs typeface="Consolas" panose="020B0609020204030204" pitchFamily="49" charset="0"/>
              </a:rPr>
              <a:t>i</a:t>
            </a:r>
            <a:r>
              <a:rPr lang="en-US" sz="1431" dirty="0">
                <a:solidFill>
                  <a:srgbClr val="000000"/>
                </a:solidFill>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grpSp>
        <p:nvGrpSpPr>
          <p:cNvPr id="61" name="Group 60"/>
          <p:cNvGrpSpPr/>
          <p:nvPr/>
        </p:nvGrpSpPr>
        <p:grpSpPr>
          <a:xfrm>
            <a:off x="2129499" y="3669862"/>
            <a:ext cx="2445465" cy="252739"/>
            <a:chOff x="2655475" y="3731950"/>
            <a:chExt cx="3075855" cy="317890"/>
          </a:xfrm>
        </p:grpSpPr>
        <p:sp>
          <p:nvSpPr>
            <p:cNvPr id="62" name="Rectangle 61"/>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3559628" y="3736113"/>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869871" y="3736113"/>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4180114" y="3734032"/>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490357" y="3731951"/>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800600" y="3731950"/>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5110843" y="3731950"/>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421086" y="3739597"/>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3249385" y="3736114"/>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A</a:t>
              </a:r>
            </a:p>
          </p:txBody>
        </p:sp>
        <p:sp>
          <p:nvSpPr>
            <p:cNvPr id="93" name="Rectangle 92"/>
            <p:cNvSpPr/>
            <p:nvPr/>
          </p:nvSpPr>
          <p:spPr>
            <a:xfrm>
              <a:off x="3249386" y="373483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63" name="Rectangle 62"/>
          <p:cNvSpPr/>
          <p:nvPr/>
        </p:nvSpPr>
        <p:spPr>
          <a:xfrm>
            <a:off x="3338713" y="4164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6" name="Rectangle 95"/>
          <p:cNvSpPr/>
          <p:nvPr/>
        </p:nvSpPr>
        <p:spPr>
          <a:xfrm>
            <a:off x="4078691" y="4167219"/>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7" name="Rectangle 96"/>
          <p:cNvSpPr/>
          <p:nvPr/>
        </p:nvSpPr>
        <p:spPr>
          <a:xfrm>
            <a:off x="4325350" y="416934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3" name="Rectangle 112"/>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
        <p:nvSpPr>
          <p:cNvPr id="98" name="Rectangle 97"/>
          <p:cNvSpPr/>
          <p:nvPr/>
        </p:nvSpPr>
        <p:spPr>
          <a:xfrm>
            <a:off x="2598735" y="4170537"/>
            <a:ext cx="246659" cy="246659"/>
          </a:xfrm>
          <a:prstGeom prst="rect">
            <a:avLst/>
          </a:prstGeom>
          <a:solidFill>
            <a:srgbClr val="FFFFFF">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90" b="1" dirty="0">
              <a:solidFill>
                <a:prstClr val="white">
                  <a:lumMod val="50000"/>
                </a:prstClr>
              </a:solidFill>
            </a:endParaRPr>
          </a:p>
        </p:txBody>
      </p:sp>
      <p:sp>
        <p:nvSpPr>
          <p:cNvPr id="60" name="Rectangle 59"/>
          <p:cNvSpPr/>
          <p:nvPr/>
        </p:nvSpPr>
        <p:spPr>
          <a:xfrm>
            <a:off x="3092053" y="4166577"/>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5" name="Rectangle 94"/>
          <p:cNvSpPr/>
          <p:nvPr/>
        </p:nvSpPr>
        <p:spPr>
          <a:xfrm>
            <a:off x="3832031" y="4163267"/>
            <a:ext cx="246659" cy="246659"/>
          </a:xfrm>
          <a:prstGeom prst="rect">
            <a:avLst/>
          </a:prstGeom>
          <a:solidFill>
            <a:srgbClr val="CCCCCC"/>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dirty="0">
              <a:solidFill>
                <a:prstClr val="white"/>
              </a:solidFill>
            </a:endParaRPr>
          </a:p>
        </p:txBody>
      </p:sp>
      <p:sp>
        <p:nvSpPr>
          <p:cNvPr id="76" name="Rectangle 75"/>
          <p:cNvSpPr/>
          <p:nvPr/>
        </p:nvSpPr>
        <p:spPr>
          <a:xfrm>
            <a:off x="2608730" y="4166577"/>
            <a:ext cx="1959188"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spc="183" dirty="0">
                <a:solidFill>
                  <a:prstClr val="white">
                    <a:lumMod val="50000"/>
                  </a:prstClr>
                </a:solidFill>
              </a:rPr>
              <a:t>6.000000000000</a:t>
            </a:r>
          </a:p>
        </p:txBody>
      </p:sp>
      <p:sp>
        <p:nvSpPr>
          <p:cNvPr id="77" name="Rectangle 76"/>
          <p:cNvSpPr/>
          <p:nvPr/>
        </p:nvSpPr>
        <p:spPr>
          <a:xfrm>
            <a:off x="2608731" y="4166577"/>
            <a:ext cx="986637"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FF0000"/>
                </a:solidFill>
              </a:rPr>
              <a:t>6.00000</a:t>
            </a:r>
          </a:p>
        </p:txBody>
      </p:sp>
      <p:sp>
        <p:nvSpPr>
          <p:cNvPr id="94" name="Rectangle 93"/>
          <p:cNvSpPr/>
          <p:nvPr/>
        </p:nvSpPr>
        <p:spPr>
          <a:xfrm>
            <a:off x="3585372" y="4167219"/>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8" name="Rectangle 77"/>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gcc</a:t>
            </a:r>
            <a:r>
              <a:rPr lang="en-US" sz="1749" dirty="0">
                <a:solidFill>
                  <a:srgbClr val="898989"/>
                </a:solidFill>
                <a:latin typeface="Arial Narrow" panose="020B0606020202030204" pitchFamily="34" charset="0"/>
                <a:cs typeface="Consolas" panose="020B0609020204030204" pitchFamily="49" charset="0"/>
              </a:rPr>
              <a:t> -o </a:t>
            </a:r>
            <a:r>
              <a:rPr lang="en-US" sz="1749" dirty="0" err="1">
                <a:solidFill>
                  <a:srgbClr val="898989"/>
                </a:solidFill>
                <a:latin typeface="Arial Narrow" panose="020B0606020202030204" pitchFamily="34" charset="0"/>
                <a:cs typeface="Consolas" panose="020B0609020204030204" pitchFamily="49" charset="0"/>
              </a:rPr>
              <a:t>union.x</a:t>
            </a:r>
            <a:r>
              <a:rPr lang="en-US" sz="1749"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union.c</a:t>
            </a:r>
            <a:endParaRPr lang="en-US" sz="1749" dirty="0">
              <a:solidFill>
                <a:srgbClr val="898989"/>
              </a:solidFill>
              <a:latin typeface="Arial Narrow" panose="020B0606020202030204" pitchFamily="34" charset="0"/>
              <a:cs typeface="Consolas" panose="020B0609020204030204" pitchFamily="49" charset="0"/>
            </a:endParaRPr>
          </a:p>
          <a:p>
            <a:r>
              <a:rPr lang="en-US" sz="1749"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union.x</a:t>
            </a:r>
            <a:endParaRPr lang="en-US" sz="1749" dirty="0">
              <a:solidFill>
                <a:srgbClr val="898989"/>
              </a:solidFill>
              <a:latin typeface="Arial Narrow" panose="020B0606020202030204" pitchFamily="34" charset="0"/>
              <a:cs typeface="Consolas" panose="020B0609020204030204" pitchFamily="49" charset="0"/>
            </a:endParaRPr>
          </a:p>
          <a:p>
            <a:r>
              <a:rPr lang="en-US" sz="1749" dirty="0">
                <a:solidFill>
                  <a:srgbClr val="898989"/>
                </a:solidFill>
                <a:latin typeface="Arial Narrow" panose="020B0606020202030204" pitchFamily="34" charset="0"/>
                <a:cs typeface="Consolas" panose="020B0609020204030204" pitchFamily="49" charset="0"/>
              </a:rPr>
              <a:t>generic=8</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(c=1</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s=8</a:t>
            </a:r>
            <a:r>
              <a:rPr lang="en-US" sz="1590"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i</a:t>
            </a:r>
            <a:r>
              <a:rPr lang="en-US" sz="1749" dirty="0">
                <a:solidFill>
                  <a:srgbClr val="898989"/>
                </a:solidFill>
                <a:latin typeface="Arial Narrow" panose="020B0606020202030204" pitchFamily="34" charset="0"/>
                <a:cs typeface="Consolas" panose="020B0609020204030204" pitchFamily="49" charset="0"/>
              </a:rPr>
              <a:t>=4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l=4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u=4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f=4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d=8)</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79" name="Rectangle 78"/>
          <p:cNvSpPr/>
          <p:nvPr/>
        </p:nvSpPr>
        <p:spPr>
          <a:xfrm>
            <a:off x="2129499" y="4170609"/>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FF0000"/>
                </a:solidFill>
              </a:rPr>
              <a:t>Y</a:t>
            </a:r>
            <a:r>
              <a:rPr lang="en-US" sz="1431" dirty="0">
                <a:solidFill>
                  <a:srgbClr val="FF0000"/>
                </a:solidFill>
                <a:latin typeface="Times New Roman" panose="02020603050405020304" pitchFamily="18" charset="0"/>
                <a:cs typeface="Times New Roman" panose="02020603050405020304" pitchFamily="18" charset="0"/>
              </a:rPr>
              <a:t>→</a:t>
            </a:r>
            <a:endParaRPr lang="en-US" sz="1431" dirty="0">
              <a:solidFill>
                <a:srgbClr val="FF0000"/>
              </a:solidFill>
            </a:endParaRPr>
          </a:p>
        </p:txBody>
      </p:sp>
      <p:sp>
        <p:nvSpPr>
          <p:cNvPr id="99" name="Rectangle 98"/>
          <p:cNvSpPr/>
          <p:nvPr/>
        </p:nvSpPr>
        <p:spPr>
          <a:xfrm>
            <a:off x="2598735" y="4165487"/>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74" name="Group 73"/>
          <p:cNvGrpSpPr/>
          <p:nvPr/>
        </p:nvGrpSpPr>
        <p:grpSpPr>
          <a:xfrm>
            <a:off x="6171176" y="204386"/>
            <a:ext cx="3343773" cy="2767414"/>
            <a:chOff x="6171176" y="204386"/>
            <a:chExt cx="3343773" cy="2767414"/>
          </a:xfrm>
        </p:grpSpPr>
        <p:sp>
          <p:nvSpPr>
            <p:cNvPr id="119" name="Rectangle 118"/>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20" name="Group 119"/>
            <p:cNvGrpSpPr/>
            <p:nvPr/>
          </p:nvGrpSpPr>
          <p:grpSpPr>
            <a:xfrm>
              <a:off x="7816580" y="204386"/>
              <a:ext cx="1672090" cy="2326386"/>
              <a:chOff x="6400800" y="182880"/>
              <a:chExt cx="2103120" cy="2926080"/>
            </a:xfrm>
          </p:grpSpPr>
          <p:sp>
            <p:nvSpPr>
              <p:cNvPr id="144" name="Rectangle 143"/>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5" name="Rectangle 144"/>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7" name="Rectangle 146"/>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0" name="Rectangle 149"/>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51" name="Rectangle 150"/>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21" name="Left Brace 120"/>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122" name="Group 121"/>
            <p:cNvGrpSpPr/>
            <p:nvPr/>
          </p:nvGrpSpPr>
          <p:grpSpPr>
            <a:xfrm>
              <a:off x="6523652" y="212918"/>
              <a:ext cx="1185107" cy="2318933"/>
              <a:chOff x="8138160" y="143465"/>
              <a:chExt cx="1490603" cy="2916706"/>
            </a:xfrm>
          </p:grpSpPr>
          <p:sp>
            <p:nvSpPr>
              <p:cNvPr id="138" name="Left Brace 137"/>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9" name="Left Brace 138"/>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40" name="Straight Connector 139"/>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3" name="Rectangle 122"/>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124" name="Rectangle 123"/>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25" name="Rectangle 124"/>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26" name="Group 125"/>
            <p:cNvGrpSpPr/>
            <p:nvPr/>
          </p:nvGrpSpPr>
          <p:grpSpPr>
            <a:xfrm>
              <a:off x="7777798" y="204386"/>
              <a:ext cx="1737151" cy="2767414"/>
              <a:chOff x="9759788" y="132735"/>
              <a:chExt cx="2184953" cy="3480796"/>
            </a:xfrm>
          </p:grpSpPr>
          <p:sp>
            <p:nvSpPr>
              <p:cNvPr id="127" name="Rectangle 126"/>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28" name="Group 127"/>
              <p:cNvGrpSpPr/>
              <p:nvPr/>
            </p:nvGrpSpPr>
            <p:grpSpPr>
              <a:xfrm>
                <a:off x="9808570" y="132735"/>
                <a:ext cx="2103120" cy="2926080"/>
                <a:chOff x="6400800" y="182880"/>
                <a:chExt cx="2103120" cy="2926080"/>
              </a:xfrm>
            </p:grpSpPr>
            <p:sp>
              <p:nvSpPr>
                <p:cNvPr id="130" name="Rectangle 129"/>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1" name="Rectangle 130"/>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2" name="Rectangle 131"/>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3" name="Rectangle 132"/>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4" name="Rectangle 133"/>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5" name="Rectangle 134"/>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6" name="Rectangle 135"/>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7" name="Rectangle 136"/>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29" name="Rectangle 128"/>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grpSp>
        <p:nvGrpSpPr>
          <p:cNvPr id="100" name="Group 99"/>
          <p:cNvGrpSpPr/>
          <p:nvPr/>
        </p:nvGrpSpPr>
        <p:grpSpPr>
          <a:xfrm>
            <a:off x="2129499" y="4643084"/>
            <a:ext cx="2445465" cy="252739"/>
            <a:chOff x="2655475" y="4956048"/>
            <a:chExt cx="3075855" cy="317890"/>
          </a:xfrm>
        </p:grpSpPr>
        <p:sp>
          <p:nvSpPr>
            <p:cNvPr id="101" name="Rectangle 100"/>
            <p:cNvSpPr/>
            <p:nvPr/>
          </p:nvSpPr>
          <p:spPr>
            <a:xfrm>
              <a:off x="2655475" y="4963694"/>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000000"/>
                  </a:solidFill>
                </a:rPr>
                <a:t>Z</a:t>
              </a:r>
              <a:r>
                <a:rPr lang="en-US" sz="1431" dirty="0">
                  <a:solidFill>
                    <a:srgbClr val="000000"/>
                  </a:solidFill>
                  <a:latin typeface="Times New Roman" panose="02020603050405020304" pitchFamily="18" charset="0"/>
                  <a:cs typeface="Times New Roman" panose="02020603050405020304" pitchFamily="18" charset="0"/>
                </a:rPr>
                <a:t>→</a:t>
              </a:r>
              <a:endParaRPr lang="en-US" sz="1431" dirty="0">
                <a:solidFill>
                  <a:srgbClr val="000000"/>
                </a:solidFill>
              </a:endParaRPr>
            </a:p>
          </p:txBody>
        </p:sp>
        <p:sp>
          <p:nvSpPr>
            <p:cNvPr id="102" name="Rectangle 101"/>
            <p:cNvSpPr/>
            <p:nvPr/>
          </p:nvSpPr>
          <p:spPr>
            <a:xfrm>
              <a:off x="3869871" y="4960211"/>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3" name="Rectangle 102"/>
            <p:cNvSpPr/>
            <p:nvPr/>
          </p:nvSpPr>
          <p:spPr>
            <a:xfrm>
              <a:off x="4180114" y="495813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4" name="Rectangle 103"/>
            <p:cNvSpPr/>
            <p:nvPr/>
          </p:nvSpPr>
          <p:spPr>
            <a:xfrm>
              <a:off x="4800600" y="4956048"/>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5" name="Rectangle 104"/>
            <p:cNvSpPr/>
            <p:nvPr/>
          </p:nvSpPr>
          <p:spPr>
            <a:xfrm>
              <a:off x="5110843" y="4957636"/>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6" name="Rectangle 105"/>
            <p:cNvSpPr/>
            <p:nvPr/>
          </p:nvSpPr>
          <p:spPr>
            <a:xfrm>
              <a:off x="5421086" y="4963695"/>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7" name="Rectangle 106"/>
            <p:cNvSpPr/>
            <p:nvPr/>
          </p:nvSpPr>
          <p:spPr>
            <a:xfrm>
              <a:off x="3249385" y="4960212"/>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108" name="Rectangle 107"/>
            <p:cNvSpPr/>
            <p:nvPr/>
          </p:nvSpPr>
          <p:spPr>
            <a:xfrm>
              <a:off x="3258245" y="4960211"/>
              <a:ext cx="1224856" cy="310243"/>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000000"/>
                  </a:solidFill>
                </a:rPr>
                <a:t>6</a:t>
              </a:r>
            </a:p>
          </p:txBody>
        </p:sp>
        <p:sp>
          <p:nvSpPr>
            <p:cNvPr id="109" name="Rectangle 108"/>
            <p:cNvSpPr/>
            <p:nvPr/>
          </p:nvSpPr>
          <p:spPr>
            <a:xfrm>
              <a:off x="4490357" y="4957637"/>
              <a:ext cx="310243" cy="310243"/>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0" name="Rectangle 109"/>
            <p:cNvSpPr/>
            <p:nvPr/>
          </p:nvSpPr>
          <p:spPr>
            <a:xfrm>
              <a:off x="3249386" y="495734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Tree>
    <p:extLst>
      <p:ext uri="{BB962C8B-B14F-4D97-AF65-F5344CB8AC3E}">
        <p14:creationId xmlns:p14="http://schemas.microsoft.com/office/powerpoint/2010/main" val="343653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2000"/>
                                        <p:tgtEl>
                                          <p:spTgt spid="77"/>
                                        </p:tgtEl>
                                      </p:cBhvr>
                                    </p:animEffect>
                                    <p:anim calcmode="lin" valueType="num">
                                      <p:cBhvr>
                                        <p:cTn id="8" dur="2000" fill="hold"/>
                                        <p:tgtEl>
                                          <p:spTgt spid="77"/>
                                        </p:tgtEl>
                                        <p:attrNameLst>
                                          <p:attrName>style.rotation</p:attrName>
                                        </p:attrNameLst>
                                      </p:cBhvr>
                                      <p:tavLst>
                                        <p:tav tm="0">
                                          <p:val>
                                            <p:fltVal val="720"/>
                                          </p:val>
                                        </p:tav>
                                        <p:tav tm="100000">
                                          <p:val>
                                            <p:fltVal val="0"/>
                                          </p:val>
                                        </p:tav>
                                      </p:tavLst>
                                    </p:anim>
                                    <p:anim calcmode="lin" valueType="num">
                                      <p:cBhvr>
                                        <p:cTn id="9" dur="2000" fill="hold"/>
                                        <p:tgtEl>
                                          <p:spTgt spid="77"/>
                                        </p:tgtEl>
                                        <p:attrNameLst>
                                          <p:attrName>ppt_h</p:attrName>
                                        </p:attrNameLst>
                                      </p:cBhvr>
                                      <p:tavLst>
                                        <p:tav tm="0">
                                          <p:val>
                                            <p:fltVal val="0"/>
                                          </p:val>
                                        </p:tav>
                                        <p:tav tm="100000">
                                          <p:val>
                                            <p:strVal val="#ppt_h"/>
                                          </p:val>
                                        </p:tav>
                                      </p:tavLst>
                                    </p:anim>
                                    <p:anim calcmode="lin" valueType="num">
                                      <p:cBhvr>
                                        <p:cTn id="10" dur="2000" fill="hold"/>
                                        <p:tgtEl>
                                          <p:spTgt spid="77"/>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Rectangle 105"/>
          <p:cNvSpPr/>
          <p:nvPr/>
        </p:nvSpPr>
        <p:spPr>
          <a:xfrm>
            <a:off x="2608730" y="4166577"/>
            <a:ext cx="1959188"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spc="183" dirty="0">
                <a:solidFill>
                  <a:prstClr val="white">
                    <a:lumMod val="50000"/>
                  </a:prstClr>
                </a:solidFill>
              </a:rPr>
              <a:t>6.000000000000</a:t>
            </a: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rgbClr val="FF0000"/>
                </a:solidFill>
                <a:latin typeface="Consolas" panose="020B0609020204030204" pitchFamily="49" charset="0"/>
                <a:cs typeface="Consolas" panose="020B0609020204030204" pitchFamily="49" charset="0"/>
              </a:rPr>
              <a:t>printf</a:t>
            </a:r>
            <a:r>
              <a:rPr lang="en-US" sz="1431" dirty="0">
                <a:solidFill>
                  <a:srgbClr val="FF0000"/>
                </a:solidFill>
                <a:latin typeface="Consolas" panose="020B0609020204030204" pitchFamily="49" charset="0"/>
                <a:cs typeface="Consolas" panose="020B0609020204030204" pitchFamily="49" charset="0"/>
              </a:rPr>
              <a:t>("X-&gt;c=%c   Y-&gt;f=%f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=%d\</a:t>
            </a:r>
            <a:r>
              <a:rPr lang="en-US" sz="1431" dirty="0" err="1">
                <a:solidFill>
                  <a:srgbClr val="FF0000"/>
                </a:solidFill>
                <a:latin typeface="Consolas" panose="020B0609020204030204" pitchFamily="49" charset="0"/>
                <a:cs typeface="Consolas" panose="020B0609020204030204" pitchFamily="49" charset="0"/>
              </a:rPr>
              <a:t>n",X</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c,Y</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f,Z</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sp>
        <p:nvSpPr>
          <p:cNvPr id="4" name="Rectangle 3"/>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gcc</a:t>
            </a:r>
            <a:r>
              <a:rPr lang="en-US" sz="1749" dirty="0">
                <a:solidFill>
                  <a:prstClr val="white">
                    <a:lumMod val="50000"/>
                  </a:prstClr>
                </a:solidFill>
                <a:latin typeface="Arial Narrow" panose="020B0606020202030204" pitchFamily="34" charset="0"/>
                <a:cs typeface="Consolas" panose="020B0609020204030204" pitchFamily="49" charset="0"/>
              </a:rPr>
              <a:t> -o </a:t>
            </a:r>
            <a:r>
              <a:rPr lang="en-US" sz="1749" dirty="0" err="1">
                <a:solidFill>
                  <a:prstClr val="white">
                    <a:lumMod val="50000"/>
                  </a:prstClr>
                </a:solidFill>
                <a:latin typeface="Arial Narrow" panose="020B0606020202030204" pitchFamily="34" charset="0"/>
                <a:cs typeface="Consolas" panose="020B0609020204030204" pitchFamily="49" charset="0"/>
              </a:rPr>
              <a:t>union.x</a:t>
            </a:r>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union.c</a:t>
            </a:r>
            <a:endParaRPr lang="en-US" sz="1749" dirty="0">
              <a:solidFill>
                <a:prstClr val="white">
                  <a:lumMod val="50000"/>
                </a:prstClr>
              </a:solidFill>
              <a:latin typeface="Arial Narrow" panose="020B0606020202030204" pitchFamily="34" charset="0"/>
              <a:cs typeface="Consolas" panose="020B0609020204030204" pitchFamily="49" charset="0"/>
            </a:endParaRPr>
          </a:p>
          <a:p>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srgbClr val="7F7F7F"/>
                </a:solidFill>
                <a:latin typeface="Arial Narrow" panose="020B0606020202030204" pitchFamily="34" charset="0"/>
                <a:cs typeface="Consolas" panose="020B0609020204030204" pitchFamily="49" charset="0"/>
              </a:rPr>
              <a:t>union.x</a:t>
            </a:r>
            <a:endParaRPr lang="en-US" sz="1749" dirty="0">
              <a:solidFill>
                <a:srgbClr val="7F7F7F"/>
              </a:solidFill>
              <a:latin typeface="Arial Narrow" panose="020B0606020202030204" pitchFamily="34" charset="0"/>
              <a:cs typeface="Consolas" panose="020B0609020204030204" pitchFamily="49" charset="0"/>
            </a:endParaRPr>
          </a:p>
          <a:p>
            <a:r>
              <a:rPr lang="en-US" sz="1749" dirty="0">
                <a:solidFill>
                  <a:srgbClr val="898989"/>
                </a:solidFill>
                <a:latin typeface="Arial Narrow" panose="020B0606020202030204" pitchFamily="34" charset="0"/>
                <a:cs typeface="Consolas" panose="020B0609020204030204" pitchFamily="49" charset="0"/>
              </a:rPr>
              <a:t>generic=8</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(c=1</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s=8</a:t>
            </a:r>
            <a:r>
              <a:rPr lang="en-US" sz="1590" dirty="0">
                <a:solidFill>
                  <a:srgbClr val="898989"/>
                </a:solidFill>
                <a:latin typeface="Arial Narrow" panose="020B0606020202030204" pitchFamily="34" charset="0"/>
                <a:cs typeface="Consolas" panose="020B0609020204030204" pitchFamily="49" charset="0"/>
              </a:rPr>
              <a:t>  </a:t>
            </a:r>
            <a:r>
              <a:rPr lang="en-US" sz="1749" dirty="0" err="1">
                <a:solidFill>
                  <a:srgbClr val="898989"/>
                </a:solidFill>
                <a:latin typeface="Arial Narrow" panose="020B0606020202030204" pitchFamily="34" charset="0"/>
                <a:cs typeface="Consolas" panose="020B0609020204030204" pitchFamily="49" charset="0"/>
              </a:rPr>
              <a:t>i</a:t>
            </a:r>
            <a:r>
              <a:rPr lang="en-US" sz="1749" dirty="0">
                <a:solidFill>
                  <a:srgbClr val="898989"/>
                </a:solidFill>
                <a:latin typeface="Arial Narrow" panose="020B0606020202030204" pitchFamily="34" charset="0"/>
                <a:cs typeface="Consolas" panose="020B0609020204030204" pitchFamily="49" charset="0"/>
              </a:rPr>
              <a:t>=4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l=4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u=4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f=4</a:t>
            </a:r>
            <a:r>
              <a:rPr lang="en-US" sz="1590" dirty="0">
                <a:solidFill>
                  <a:srgbClr val="898989"/>
                </a:solidFill>
                <a:latin typeface="Arial Narrow" panose="020B0606020202030204" pitchFamily="34" charset="0"/>
                <a:cs typeface="Consolas" panose="020B0609020204030204" pitchFamily="49" charset="0"/>
              </a:rPr>
              <a:t>  </a:t>
            </a:r>
            <a:r>
              <a:rPr lang="en-US" sz="1749" dirty="0">
                <a:solidFill>
                  <a:srgbClr val="898989"/>
                </a:solidFill>
                <a:latin typeface="Arial Narrow" panose="020B0606020202030204" pitchFamily="34" charset="0"/>
                <a:cs typeface="Consolas" panose="020B0609020204030204" pitchFamily="49" charset="0"/>
              </a:rPr>
              <a:t>d=8)</a:t>
            </a:r>
          </a:p>
          <a:p>
            <a:r>
              <a:rPr lang="pl-PL" sz="1749" dirty="0">
                <a:solidFill>
                  <a:prstClr val="white"/>
                </a:solidFill>
                <a:latin typeface="Arial Narrow" panose="020B0606020202030204" pitchFamily="34" charset="0"/>
                <a:cs typeface="Consolas" panose="020B0609020204030204" pitchFamily="49" charset="0"/>
              </a:rPr>
              <a:t>X</a:t>
            </a:r>
            <a:r>
              <a:rPr lang="pl-PL" sz="1749" b="1" dirty="0">
                <a:solidFill>
                  <a:prstClr val="white"/>
                </a:solidFill>
                <a:latin typeface="Felix Titling" panose="04060505060202020A04" pitchFamily="82" charset="0"/>
                <a:cs typeface="Consolas" panose="020B0609020204030204" pitchFamily="49" charset="0"/>
              </a:rPr>
              <a:t>-</a:t>
            </a:r>
            <a:r>
              <a:rPr lang="pl-PL" sz="1749" dirty="0">
                <a:solidFill>
                  <a:prstClr val="white"/>
                </a:solidFill>
                <a:latin typeface="Arial Narrow" panose="020B0606020202030204" pitchFamily="34" charset="0"/>
                <a:cs typeface="Consolas" panose="020B0609020204030204" pitchFamily="49" charset="0"/>
              </a:rPr>
              <a:t>&gt;c=A   Y</a:t>
            </a:r>
            <a:r>
              <a:rPr lang="pl-PL" sz="1749" b="1" dirty="0">
                <a:solidFill>
                  <a:prstClr val="white"/>
                </a:solidFill>
                <a:latin typeface="Felix Titling" panose="04060505060202020A04" pitchFamily="82" charset="0"/>
                <a:cs typeface="Consolas" panose="020B0609020204030204" pitchFamily="49" charset="0"/>
              </a:rPr>
              <a:t>-</a:t>
            </a:r>
            <a:r>
              <a:rPr lang="pl-PL" sz="1749" dirty="0">
                <a:solidFill>
                  <a:prstClr val="white"/>
                </a:solidFill>
                <a:latin typeface="Arial Narrow" panose="020B0606020202030204" pitchFamily="34" charset="0"/>
                <a:cs typeface="Consolas" panose="020B0609020204030204" pitchFamily="49" charset="0"/>
              </a:rPr>
              <a:t>&gt;f=6.000000   Z</a:t>
            </a:r>
            <a:r>
              <a:rPr lang="pl-PL" sz="1749" b="1" dirty="0">
                <a:solidFill>
                  <a:prstClr val="white"/>
                </a:solidFill>
                <a:latin typeface="Felix Titling" panose="04060505060202020A04" pitchFamily="82" charset="0"/>
                <a:cs typeface="Consolas" panose="020B0609020204030204" pitchFamily="49" charset="0"/>
              </a:rPr>
              <a:t>-</a:t>
            </a:r>
            <a:r>
              <a:rPr lang="pl-PL" sz="1749" dirty="0">
                <a:solidFill>
                  <a:prstClr val="white"/>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grpSp>
        <p:nvGrpSpPr>
          <p:cNvPr id="61" name="Group 60"/>
          <p:cNvGrpSpPr/>
          <p:nvPr/>
        </p:nvGrpSpPr>
        <p:grpSpPr>
          <a:xfrm>
            <a:off x="2129499" y="3669862"/>
            <a:ext cx="2445465" cy="252739"/>
            <a:chOff x="2655475" y="3731950"/>
            <a:chExt cx="3075855" cy="317890"/>
          </a:xfrm>
        </p:grpSpPr>
        <p:sp>
          <p:nvSpPr>
            <p:cNvPr id="62" name="Rectangle 61"/>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3559628" y="3736113"/>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869871" y="3736113"/>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4180114" y="3734032"/>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490357" y="3731951"/>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800600" y="3731950"/>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5110843" y="3731950"/>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421086" y="3739597"/>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3249385" y="3736114"/>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A</a:t>
              </a:r>
            </a:p>
          </p:txBody>
        </p:sp>
        <p:sp>
          <p:nvSpPr>
            <p:cNvPr id="93" name="Rectangle 92"/>
            <p:cNvSpPr/>
            <p:nvPr/>
          </p:nvSpPr>
          <p:spPr>
            <a:xfrm>
              <a:off x="3249386" y="3733245"/>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76" name="Rectangle 75"/>
          <p:cNvSpPr/>
          <p:nvPr/>
        </p:nvSpPr>
        <p:spPr>
          <a:xfrm>
            <a:off x="2129499" y="416934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8" name="Rectangle 77"/>
          <p:cNvSpPr/>
          <p:nvPr/>
        </p:nvSpPr>
        <p:spPr>
          <a:xfrm>
            <a:off x="3095007" y="4166577"/>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341666" y="4164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3834985" y="416326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2" name="Rectangle 81"/>
          <p:cNvSpPr/>
          <p:nvPr/>
        </p:nvSpPr>
        <p:spPr>
          <a:xfrm>
            <a:off x="4081644" y="4167219"/>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3" name="Rectangle 82"/>
          <p:cNvSpPr/>
          <p:nvPr/>
        </p:nvSpPr>
        <p:spPr>
          <a:xfrm>
            <a:off x="4328304" y="416934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4" name="Rectangle 83"/>
          <p:cNvSpPr/>
          <p:nvPr/>
        </p:nvSpPr>
        <p:spPr>
          <a:xfrm>
            <a:off x="2601688" y="4166578"/>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59" name="Rectangle 58"/>
          <p:cNvSpPr/>
          <p:nvPr/>
        </p:nvSpPr>
        <p:spPr>
          <a:xfrm>
            <a:off x="2608731" y="4166577"/>
            <a:ext cx="986637"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6.00000</a:t>
            </a:r>
          </a:p>
        </p:txBody>
      </p:sp>
      <p:sp>
        <p:nvSpPr>
          <p:cNvPr id="104" name="Rectangle 103"/>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
        <p:nvSpPr>
          <p:cNvPr id="105" name="Rectangle 104"/>
          <p:cNvSpPr/>
          <p:nvPr/>
        </p:nvSpPr>
        <p:spPr>
          <a:xfrm>
            <a:off x="5898903" y="5757209"/>
            <a:ext cx="3623830" cy="2753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0" name="Rectangle 79"/>
          <p:cNvSpPr/>
          <p:nvPr/>
        </p:nvSpPr>
        <p:spPr>
          <a:xfrm>
            <a:off x="3588326" y="4165244"/>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5" name="Rectangle 84"/>
          <p:cNvSpPr/>
          <p:nvPr/>
        </p:nvSpPr>
        <p:spPr>
          <a:xfrm>
            <a:off x="2601688" y="4165559"/>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74" name="Group 73"/>
          <p:cNvGrpSpPr/>
          <p:nvPr/>
        </p:nvGrpSpPr>
        <p:grpSpPr>
          <a:xfrm>
            <a:off x="6171176" y="204386"/>
            <a:ext cx="3343773" cy="2767414"/>
            <a:chOff x="6171176" y="204386"/>
            <a:chExt cx="3343773" cy="2767414"/>
          </a:xfrm>
        </p:grpSpPr>
        <p:sp>
          <p:nvSpPr>
            <p:cNvPr id="117" name="Rectangle 116"/>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18" name="Group 117"/>
            <p:cNvGrpSpPr/>
            <p:nvPr/>
          </p:nvGrpSpPr>
          <p:grpSpPr>
            <a:xfrm>
              <a:off x="7816580" y="204386"/>
              <a:ext cx="1672090" cy="2326386"/>
              <a:chOff x="6400800" y="182880"/>
              <a:chExt cx="2103120" cy="2926080"/>
            </a:xfrm>
          </p:grpSpPr>
          <p:sp>
            <p:nvSpPr>
              <p:cNvPr id="142" name="Rectangle 141"/>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3" name="Rectangle 142"/>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4" name="Rectangle 143"/>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5" name="Rectangle 144"/>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7" name="Rectangle 146"/>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8" name="Rectangle 147"/>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9" name="Rectangle 148"/>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9" name="Left Brace 118"/>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120" name="Group 119"/>
            <p:cNvGrpSpPr/>
            <p:nvPr/>
          </p:nvGrpSpPr>
          <p:grpSpPr>
            <a:xfrm>
              <a:off x="6523652" y="212918"/>
              <a:ext cx="1185107" cy="2318933"/>
              <a:chOff x="8138160" y="143465"/>
              <a:chExt cx="1490603" cy="2916706"/>
            </a:xfrm>
          </p:grpSpPr>
          <p:sp>
            <p:nvSpPr>
              <p:cNvPr id="136" name="Left Brace 135"/>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7" name="Left Brace 136"/>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38" name="Straight Connector 137"/>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1" name="Rectangle 120"/>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122" name="Rectangle 121"/>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23" name="Rectangle 122"/>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24" name="Group 123"/>
            <p:cNvGrpSpPr/>
            <p:nvPr/>
          </p:nvGrpSpPr>
          <p:grpSpPr>
            <a:xfrm>
              <a:off x="7777798" y="204386"/>
              <a:ext cx="1737151" cy="2767414"/>
              <a:chOff x="9759788" y="132735"/>
              <a:chExt cx="2184953" cy="3480796"/>
            </a:xfrm>
          </p:grpSpPr>
          <p:sp>
            <p:nvSpPr>
              <p:cNvPr id="125" name="Rectangle 124"/>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26" name="Group 125"/>
              <p:cNvGrpSpPr/>
              <p:nvPr/>
            </p:nvGrpSpPr>
            <p:grpSpPr>
              <a:xfrm>
                <a:off x="9808570" y="132735"/>
                <a:ext cx="2103120" cy="2926080"/>
                <a:chOff x="6400800" y="182880"/>
                <a:chExt cx="2103120" cy="2926080"/>
              </a:xfrm>
            </p:grpSpPr>
            <p:sp>
              <p:nvSpPr>
                <p:cNvPr id="128" name="Rectangle 127"/>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0" name="Rectangle 129"/>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1" name="Rectangle 130"/>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2" name="Rectangle 131"/>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3" name="Rectangle 132"/>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4" name="Rectangle 133"/>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5" name="Rectangle 134"/>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27" name="Rectangle 126"/>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grpSp>
        <p:nvGrpSpPr>
          <p:cNvPr id="73" name="Group 72"/>
          <p:cNvGrpSpPr/>
          <p:nvPr/>
        </p:nvGrpSpPr>
        <p:grpSpPr>
          <a:xfrm>
            <a:off x="2129499" y="4643084"/>
            <a:ext cx="2445465" cy="252739"/>
            <a:chOff x="2655475" y="4956048"/>
            <a:chExt cx="3075855" cy="317890"/>
          </a:xfrm>
        </p:grpSpPr>
        <p:sp>
          <p:nvSpPr>
            <p:cNvPr id="94" name="Rectangle 93"/>
            <p:cNvSpPr/>
            <p:nvPr/>
          </p:nvSpPr>
          <p:spPr>
            <a:xfrm>
              <a:off x="2655475" y="4963694"/>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000000"/>
                  </a:solidFill>
                </a:rPr>
                <a:t>Z</a:t>
              </a:r>
              <a:r>
                <a:rPr lang="en-US" sz="1431" dirty="0">
                  <a:solidFill>
                    <a:srgbClr val="000000"/>
                  </a:solidFill>
                  <a:latin typeface="Times New Roman" panose="02020603050405020304" pitchFamily="18" charset="0"/>
                  <a:cs typeface="Times New Roman" panose="02020603050405020304" pitchFamily="18" charset="0"/>
                </a:rPr>
                <a:t>→</a:t>
              </a:r>
              <a:endParaRPr lang="en-US" sz="1431" dirty="0">
                <a:solidFill>
                  <a:srgbClr val="000000"/>
                </a:solidFill>
              </a:endParaRPr>
            </a:p>
          </p:txBody>
        </p:sp>
        <p:sp>
          <p:nvSpPr>
            <p:cNvPr id="95" name="Rectangle 94"/>
            <p:cNvSpPr/>
            <p:nvPr/>
          </p:nvSpPr>
          <p:spPr>
            <a:xfrm>
              <a:off x="3869871" y="4960211"/>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6" name="Rectangle 95"/>
            <p:cNvSpPr/>
            <p:nvPr/>
          </p:nvSpPr>
          <p:spPr>
            <a:xfrm>
              <a:off x="4180114" y="4958130"/>
              <a:ext cx="310243" cy="31024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7" name="Rectangle 96"/>
            <p:cNvSpPr/>
            <p:nvPr/>
          </p:nvSpPr>
          <p:spPr>
            <a:xfrm>
              <a:off x="4800600" y="4956048"/>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8" name="Rectangle 97"/>
            <p:cNvSpPr/>
            <p:nvPr/>
          </p:nvSpPr>
          <p:spPr>
            <a:xfrm>
              <a:off x="5110843" y="4957636"/>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9" name="Rectangle 98"/>
            <p:cNvSpPr/>
            <p:nvPr/>
          </p:nvSpPr>
          <p:spPr>
            <a:xfrm>
              <a:off x="5421086" y="4963695"/>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0" name="Rectangle 99"/>
            <p:cNvSpPr/>
            <p:nvPr/>
          </p:nvSpPr>
          <p:spPr>
            <a:xfrm>
              <a:off x="3249385" y="4960212"/>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101" name="Rectangle 100"/>
            <p:cNvSpPr/>
            <p:nvPr/>
          </p:nvSpPr>
          <p:spPr>
            <a:xfrm>
              <a:off x="3258245" y="4960211"/>
              <a:ext cx="1224856" cy="310243"/>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rgbClr val="000000"/>
                  </a:solidFill>
                </a:rPr>
                <a:t>6</a:t>
              </a:r>
            </a:p>
          </p:txBody>
        </p:sp>
        <p:sp>
          <p:nvSpPr>
            <p:cNvPr id="102" name="Rectangle 101"/>
            <p:cNvSpPr/>
            <p:nvPr/>
          </p:nvSpPr>
          <p:spPr>
            <a:xfrm>
              <a:off x="4490357" y="4957637"/>
              <a:ext cx="310243" cy="310243"/>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3" name="Rectangle 102"/>
            <p:cNvSpPr/>
            <p:nvPr/>
          </p:nvSpPr>
          <p:spPr>
            <a:xfrm>
              <a:off x="3249386" y="4957343"/>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Tree>
    <p:extLst>
      <p:ext uri="{BB962C8B-B14F-4D97-AF65-F5344CB8AC3E}">
        <p14:creationId xmlns:p14="http://schemas.microsoft.com/office/powerpoint/2010/main" val="183131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05"/>
                                        </p:tgtEl>
                                      </p:cBhvr>
                                    </p:animEffect>
                                    <p:set>
                                      <p:cBhvr>
                                        <p:cTn id="7" dur="1" fill="hold">
                                          <p:stCondLst>
                                            <p:cond delay="499"/>
                                          </p:stCondLst>
                                        </p:cTn>
                                        <p:tgtEl>
                                          <p:spTgt spid="1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   </a:t>
            </a:r>
            <a:r>
              <a:rPr lang="en-US" sz="1431" dirty="0" err="1">
                <a:solidFill>
                  <a:schemeClr val="bg1">
                    <a:lumMod val="85000"/>
                  </a:schemeClr>
                </a:solidFill>
                <a:latin typeface="Consolas" panose="020B0609020204030204" pitchFamily="49" charset="0"/>
                <a:cs typeface="Consolas" panose="020B0609020204030204" pitchFamily="49" charset="0"/>
              </a:rPr>
              <a:t>printf</a:t>
            </a:r>
            <a:r>
              <a:rPr lang="en-US" sz="1431" dirty="0">
                <a:solidFill>
                  <a:schemeClr val="bg1">
                    <a:lumMod val="85000"/>
                  </a:schemeClr>
                </a:solidFill>
                <a:latin typeface="Consolas" panose="020B0609020204030204" pitchFamily="49" charset="0"/>
                <a:cs typeface="Consolas" panose="020B0609020204030204" pitchFamily="49" charset="0"/>
              </a:rPr>
              <a:t>("X-&gt;c=%c   Y-&gt;f=%f   Z-&gt;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=%d\</a:t>
            </a:r>
            <a:r>
              <a:rPr lang="en-US" sz="1431" dirty="0" err="1">
                <a:solidFill>
                  <a:schemeClr val="bg1">
                    <a:lumMod val="85000"/>
                  </a:schemeClr>
                </a:solidFill>
                <a:latin typeface="Consolas" panose="020B0609020204030204" pitchFamily="49" charset="0"/>
                <a:cs typeface="Consolas" panose="020B0609020204030204" pitchFamily="49" charset="0"/>
              </a:rPr>
              <a:t>n",X</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c,Y</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f,Z</a:t>
            </a:r>
            <a:r>
              <a:rPr lang="en-US" sz="1431" dirty="0">
                <a:solidFill>
                  <a:schemeClr val="bg1">
                    <a:lumMod val="85000"/>
                  </a:schemeClr>
                </a:solidFill>
                <a:latin typeface="Consolas" panose="020B0609020204030204" pitchFamily="49" charset="0"/>
                <a:cs typeface="Consolas" panose="020B0609020204030204" pitchFamily="49" charset="0"/>
              </a:rPr>
              <a:t>-&gt;</a:t>
            </a:r>
            <a:r>
              <a:rPr lang="en-US" sz="1431" dirty="0" err="1">
                <a:solidFill>
                  <a:schemeClr val="bg1">
                    <a:lumMod val="85000"/>
                  </a:schemeClr>
                </a:solidFill>
                <a:latin typeface="Consolas" panose="020B0609020204030204" pitchFamily="49" charset="0"/>
                <a:cs typeface="Consolas" panose="020B0609020204030204" pitchFamily="49" charset="0"/>
              </a:rPr>
              <a:t>i</a:t>
            </a:r>
            <a:r>
              <a:rPr lang="en-US" sz="1431" dirty="0">
                <a:solidFill>
                  <a:schemeClr val="bg1">
                    <a:lumMod val="85000"/>
                  </a:schemeClr>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solidFill>
                  <a:schemeClr val="bg1">
                    <a:lumMod val="85000"/>
                  </a:schemeClr>
                </a:solidFill>
                <a:latin typeface="Consolas" panose="020B0609020204030204" pitchFamily="49" charset="0"/>
                <a:cs typeface="Consolas" panose="020B0609020204030204" pitchFamily="49" charset="0"/>
              </a:rPr>
              <a:t>}</a:t>
            </a:r>
          </a:p>
        </p:txBody>
      </p:sp>
      <p:sp>
        <p:nvSpPr>
          <p:cNvPr id="95" name="Rectangle 94"/>
          <p:cNvSpPr/>
          <p:nvPr/>
        </p:nvSpPr>
        <p:spPr>
          <a:xfrm>
            <a:off x="2129499" y="4649163"/>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000000"/>
                </a:solidFill>
              </a:rPr>
              <a:t>Z</a:t>
            </a:r>
            <a:r>
              <a:rPr lang="en-US" sz="1431" dirty="0">
                <a:solidFill>
                  <a:srgbClr val="000000"/>
                </a:solidFill>
                <a:latin typeface="Times New Roman" panose="02020603050405020304" pitchFamily="18" charset="0"/>
                <a:cs typeface="Times New Roman" panose="02020603050405020304" pitchFamily="18" charset="0"/>
              </a:rPr>
              <a:t>→</a:t>
            </a:r>
            <a:endParaRPr lang="en-US" sz="1431" dirty="0">
              <a:solidFill>
                <a:srgbClr val="000000"/>
              </a:solidFill>
            </a:endParaRPr>
          </a:p>
        </p:txBody>
      </p:sp>
      <p:sp>
        <p:nvSpPr>
          <p:cNvPr id="96" name="Rectangle 95"/>
          <p:cNvSpPr/>
          <p:nvPr/>
        </p:nvSpPr>
        <p:spPr>
          <a:xfrm>
            <a:off x="3095007" y="4646394"/>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7" name="Rectangle 96"/>
          <p:cNvSpPr/>
          <p:nvPr/>
        </p:nvSpPr>
        <p:spPr>
          <a:xfrm>
            <a:off x="3341666" y="4644739"/>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8" name="Rectangle 97"/>
          <p:cNvSpPr/>
          <p:nvPr/>
        </p:nvSpPr>
        <p:spPr>
          <a:xfrm>
            <a:off x="3834985" y="464308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9" name="Rectangle 98"/>
          <p:cNvSpPr/>
          <p:nvPr/>
        </p:nvSpPr>
        <p:spPr>
          <a:xfrm>
            <a:off x="4081645" y="4644347"/>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0" name="Rectangle 99"/>
          <p:cNvSpPr/>
          <p:nvPr/>
        </p:nvSpPr>
        <p:spPr>
          <a:xfrm>
            <a:off x="4328304" y="464916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1" name="Rectangle 100"/>
          <p:cNvSpPr/>
          <p:nvPr/>
        </p:nvSpPr>
        <p:spPr>
          <a:xfrm>
            <a:off x="2601688" y="4646395"/>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102" name="Rectangle 101"/>
          <p:cNvSpPr/>
          <p:nvPr/>
        </p:nvSpPr>
        <p:spPr>
          <a:xfrm>
            <a:off x="2608733" y="4646394"/>
            <a:ext cx="973824"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schemeClr val="bg1">
                    <a:lumMod val="50000"/>
                  </a:schemeClr>
                </a:solidFill>
              </a:rPr>
              <a:t>6</a:t>
            </a:r>
          </a:p>
        </p:txBody>
      </p:sp>
      <p:sp>
        <p:nvSpPr>
          <p:cNvPr id="107" name="Rectangle 106"/>
          <p:cNvSpPr/>
          <p:nvPr/>
        </p:nvSpPr>
        <p:spPr>
          <a:xfrm>
            <a:off x="2608731" y="4646394"/>
            <a:ext cx="986637"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590" b="1" spc="-80" dirty="0">
                <a:solidFill>
                  <a:srgbClr val="FF0000"/>
                </a:solidFill>
              </a:rPr>
              <a:t>1086324736</a:t>
            </a:r>
          </a:p>
        </p:txBody>
      </p:sp>
      <p:grpSp>
        <p:nvGrpSpPr>
          <p:cNvPr id="113" name="Group 112"/>
          <p:cNvGrpSpPr/>
          <p:nvPr/>
        </p:nvGrpSpPr>
        <p:grpSpPr>
          <a:xfrm>
            <a:off x="6171176" y="204386"/>
            <a:ext cx="3343773" cy="2767414"/>
            <a:chOff x="6171176" y="204386"/>
            <a:chExt cx="3343773" cy="2767414"/>
          </a:xfrm>
        </p:grpSpPr>
        <p:sp>
          <p:nvSpPr>
            <p:cNvPr id="114" name="Rectangle 113"/>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15" name="Group 114"/>
            <p:cNvGrpSpPr/>
            <p:nvPr/>
          </p:nvGrpSpPr>
          <p:grpSpPr>
            <a:xfrm>
              <a:off x="7816580" y="204386"/>
              <a:ext cx="1672090" cy="2326386"/>
              <a:chOff x="6400800" y="182880"/>
              <a:chExt cx="2103120" cy="2926080"/>
            </a:xfrm>
          </p:grpSpPr>
          <p:sp>
            <p:nvSpPr>
              <p:cNvPr id="139" name="Rectangle 138"/>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0" name="Rectangle 139"/>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1" name="Rectangle 140"/>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2" name="Rectangle 141"/>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3" name="Rectangle 142"/>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4" name="Rectangle 143"/>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5" name="Rectangle 144"/>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6" name="Rectangle 145"/>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16" name="Left Brace 115"/>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117" name="Group 116"/>
            <p:cNvGrpSpPr/>
            <p:nvPr/>
          </p:nvGrpSpPr>
          <p:grpSpPr>
            <a:xfrm>
              <a:off x="6523652" y="212918"/>
              <a:ext cx="1185107" cy="2318933"/>
              <a:chOff x="8138160" y="143465"/>
              <a:chExt cx="1490603" cy="2916706"/>
            </a:xfrm>
          </p:grpSpPr>
          <p:sp>
            <p:nvSpPr>
              <p:cNvPr id="133" name="Left Brace 132"/>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4" name="Left Brace 133"/>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35" name="Straight Connector 134"/>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8" name="Rectangle 117"/>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119" name="Rectangle 118"/>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20" name="Rectangle 119"/>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21" name="Group 120"/>
            <p:cNvGrpSpPr/>
            <p:nvPr/>
          </p:nvGrpSpPr>
          <p:grpSpPr>
            <a:xfrm>
              <a:off x="7777798" y="204386"/>
              <a:ext cx="1737151" cy="2767414"/>
              <a:chOff x="9759788" y="132735"/>
              <a:chExt cx="2184953" cy="3480796"/>
            </a:xfrm>
          </p:grpSpPr>
          <p:sp>
            <p:nvSpPr>
              <p:cNvPr id="122" name="Rectangle 121"/>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23" name="Group 122"/>
              <p:cNvGrpSpPr/>
              <p:nvPr/>
            </p:nvGrpSpPr>
            <p:grpSpPr>
              <a:xfrm>
                <a:off x="9808570" y="132735"/>
                <a:ext cx="2103120" cy="2926080"/>
                <a:chOff x="6400800" y="182880"/>
                <a:chExt cx="2103120" cy="2926080"/>
              </a:xfrm>
            </p:grpSpPr>
            <p:sp>
              <p:nvSpPr>
                <p:cNvPr id="125" name="Rectangle 124"/>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6" name="Rectangle 125"/>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7" name="Rectangle 126"/>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8" name="Rectangle 127"/>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0" name="Rectangle 129"/>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1" name="Rectangle 130"/>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2" name="Rectangle 131"/>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24" name="Rectangle 123"/>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sp>
        <p:nvSpPr>
          <p:cNvPr id="106" name="Rectangle 105"/>
          <p:cNvSpPr/>
          <p:nvPr/>
        </p:nvSpPr>
        <p:spPr>
          <a:xfrm>
            <a:off x="2608730" y="4166577"/>
            <a:ext cx="1959188"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spc="183" dirty="0">
                <a:solidFill>
                  <a:prstClr val="white">
                    <a:lumMod val="50000"/>
                  </a:prstClr>
                </a:solidFill>
              </a:rPr>
              <a:t>6.000000000000</a:t>
            </a:r>
          </a:p>
        </p:txBody>
      </p:sp>
      <p:grpSp>
        <p:nvGrpSpPr>
          <p:cNvPr id="61" name="Group 60"/>
          <p:cNvGrpSpPr/>
          <p:nvPr/>
        </p:nvGrpSpPr>
        <p:grpSpPr>
          <a:xfrm>
            <a:off x="2129499" y="3669862"/>
            <a:ext cx="2445465" cy="252739"/>
            <a:chOff x="2655475" y="3731950"/>
            <a:chExt cx="3075855" cy="317890"/>
          </a:xfrm>
        </p:grpSpPr>
        <p:sp>
          <p:nvSpPr>
            <p:cNvPr id="62" name="Rectangle 61"/>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3559628" y="3736113"/>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869871" y="3736113"/>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4180114" y="3734032"/>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490357" y="3731951"/>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800600" y="3731950"/>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5110843" y="3731950"/>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421086" y="3739597"/>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3249385" y="3736114"/>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A</a:t>
              </a:r>
            </a:p>
          </p:txBody>
        </p:sp>
        <p:sp>
          <p:nvSpPr>
            <p:cNvPr id="93" name="Rectangle 92"/>
            <p:cNvSpPr/>
            <p:nvPr/>
          </p:nvSpPr>
          <p:spPr>
            <a:xfrm>
              <a:off x="3249386" y="3734627"/>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76" name="Rectangle 75"/>
          <p:cNvSpPr/>
          <p:nvPr/>
        </p:nvSpPr>
        <p:spPr>
          <a:xfrm>
            <a:off x="2129499" y="416934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8" name="Rectangle 77"/>
          <p:cNvSpPr/>
          <p:nvPr/>
        </p:nvSpPr>
        <p:spPr>
          <a:xfrm>
            <a:off x="3095007" y="4166577"/>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9" name="Rectangle 78"/>
          <p:cNvSpPr/>
          <p:nvPr/>
        </p:nvSpPr>
        <p:spPr>
          <a:xfrm>
            <a:off x="3341666" y="4164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1" name="Rectangle 80"/>
          <p:cNvSpPr/>
          <p:nvPr/>
        </p:nvSpPr>
        <p:spPr>
          <a:xfrm>
            <a:off x="3834985" y="416326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2" name="Rectangle 81"/>
          <p:cNvSpPr/>
          <p:nvPr/>
        </p:nvSpPr>
        <p:spPr>
          <a:xfrm>
            <a:off x="4081644" y="4165243"/>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3" name="Rectangle 82"/>
          <p:cNvSpPr/>
          <p:nvPr/>
        </p:nvSpPr>
        <p:spPr>
          <a:xfrm>
            <a:off x="4328304" y="416934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4" name="Rectangle 83"/>
          <p:cNvSpPr/>
          <p:nvPr/>
        </p:nvSpPr>
        <p:spPr>
          <a:xfrm>
            <a:off x="2601688" y="4166578"/>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67" name="Rectangle 66"/>
          <p:cNvSpPr/>
          <p:nvPr/>
        </p:nvSpPr>
        <p:spPr>
          <a:xfrm>
            <a:off x="3341666" y="4644740"/>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9" name="Rectangle 58"/>
          <p:cNvSpPr/>
          <p:nvPr/>
        </p:nvSpPr>
        <p:spPr>
          <a:xfrm>
            <a:off x="2608731" y="4166577"/>
            <a:ext cx="986637"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6.00000</a:t>
            </a:r>
          </a:p>
        </p:txBody>
      </p:sp>
      <p:sp>
        <p:nvSpPr>
          <p:cNvPr id="104" name="Rectangle 103"/>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sp>
        <p:nvSpPr>
          <p:cNvPr id="80" name="Rectangle 79"/>
          <p:cNvSpPr/>
          <p:nvPr/>
        </p:nvSpPr>
        <p:spPr>
          <a:xfrm>
            <a:off x="3588326" y="4165244"/>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5" name="Rectangle 84"/>
          <p:cNvSpPr/>
          <p:nvPr/>
        </p:nvSpPr>
        <p:spPr>
          <a:xfrm>
            <a:off x="2601688" y="4165396"/>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8" name="Rectangle 107"/>
          <p:cNvSpPr/>
          <p:nvPr/>
        </p:nvSpPr>
        <p:spPr>
          <a:xfrm>
            <a:off x="1531135" y="1202971"/>
            <a:ext cx="4475840" cy="2881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26" dirty="0">
                <a:solidFill>
                  <a:prstClr val="white"/>
                </a:solidFill>
                <a:latin typeface="Arial Narrow" panose="020B0606020202030204" pitchFamily="34" charset="0"/>
                <a:cs typeface="Consolas" panose="020B0609020204030204" pitchFamily="49" charset="0"/>
              </a:rPr>
              <a:t>In this class, we don’t care about how the computer represents data. But, if you are interested, a 4-byte 6.0 is encoded as:</a:t>
            </a:r>
          </a:p>
          <a:p>
            <a:endParaRPr lang="en-US" sz="835" dirty="0">
              <a:solidFill>
                <a:prstClr val="white"/>
              </a:solidFill>
              <a:latin typeface="Arial Narrow" panose="020B0606020202030204" pitchFamily="34" charset="0"/>
              <a:cs typeface="Consolas" panose="020B0609020204030204" pitchFamily="49" charset="0"/>
            </a:endParaRPr>
          </a:p>
          <a:p>
            <a:r>
              <a:rPr lang="en-US" sz="2226" dirty="0">
                <a:solidFill>
                  <a:prstClr val="white"/>
                </a:solidFill>
                <a:latin typeface="Arial Narrow" panose="020B0606020202030204" pitchFamily="34" charset="0"/>
                <a:cs typeface="Consolas" panose="020B0609020204030204" pitchFamily="49" charset="0"/>
              </a:rPr>
              <a:t>6.0</a:t>
            </a:r>
            <a:r>
              <a:rPr lang="en-US" sz="2226" baseline="-25000" dirty="0">
                <a:solidFill>
                  <a:prstClr val="white"/>
                </a:solidFill>
                <a:latin typeface="Arial Narrow" panose="020B0606020202030204" pitchFamily="34" charset="0"/>
                <a:cs typeface="Consolas" panose="020B0609020204030204" pitchFamily="49" charset="0"/>
              </a:rPr>
              <a:t>(10)</a:t>
            </a:r>
            <a:r>
              <a:rPr lang="en-US" sz="2226" dirty="0">
                <a:solidFill>
                  <a:prstClr val="white"/>
                </a:solidFill>
                <a:latin typeface="Arial Narrow" panose="020B0606020202030204" pitchFamily="34" charset="0"/>
                <a:cs typeface="Consolas" panose="020B0609020204030204" pitchFamily="49" charset="0"/>
              </a:rPr>
              <a:t> </a:t>
            </a:r>
            <a:r>
              <a:rPr lang="en-US" sz="2226" b="1" dirty="0">
                <a:solidFill>
                  <a:srgbClr val="FFFF00"/>
                </a:solidFill>
                <a:latin typeface="Times New Roman" panose="02020603050405020304" pitchFamily="18" charset="0"/>
                <a:cs typeface="Times New Roman" panose="02020603050405020304" pitchFamily="18" charset="0"/>
              </a:rPr>
              <a:t>→</a:t>
            </a:r>
            <a:r>
              <a:rPr lang="en-US" sz="2226" b="1" dirty="0">
                <a:solidFill>
                  <a:prstClr val="white"/>
                </a:solidFill>
                <a:latin typeface="Times New Roman" panose="02020603050405020304" pitchFamily="18" charset="0"/>
                <a:cs typeface="Times New Roman" panose="02020603050405020304" pitchFamily="18" charset="0"/>
              </a:rPr>
              <a:t>  </a:t>
            </a:r>
            <a:r>
              <a:rPr lang="en-US" sz="2226" dirty="0">
                <a:solidFill>
                  <a:prstClr val="white"/>
                </a:solidFill>
                <a:latin typeface="Arial Narrow" panose="020B0606020202030204" pitchFamily="34" charset="0"/>
                <a:cs typeface="Consolas" panose="020B0609020204030204" pitchFamily="49" charset="0"/>
              </a:rPr>
              <a:t>110.0</a:t>
            </a:r>
            <a:r>
              <a:rPr lang="en-US" sz="2226" baseline="-25000" dirty="0">
                <a:solidFill>
                  <a:prstClr val="white"/>
                </a:solidFill>
                <a:latin typeface="Arial Narrow" panose="020B0606020202030204" pitchFamily="34" charset="0"/>
                <a:cs typeface="Consolas" panose="020B0609020204030204" pitchFamily="49" charset="0"/>
              </a:rPr>
              <a:t>(2)</a:t>
            </a:r>
            <a:r>
              <a:rPr lang="en-US" sz="2226" b="1" dirty="0">
                <a:solidFill>
                  <a:prstClr val="white"/>
                </a:solidFill>
                <a:latin typeface="Times New Roman" panose="02020603050405020304" pitchFamily="18" charset="0"/>
                <a:cs typeface="Times New Roman" panose="02020603050405020304" pitchFamily="18" charset="0"/>
              </a:rPr>
              <a:t> </a:t>
            </a:r>
            <a:r>
              <a:rPr lang="en-US" sz="2226" b="1" dirty="0">
                <a:solidFill>
                  <a:srgbClr val="FFFF00"/>
                </a:solidFill>
                <a:latin typeface="Times New Roman" panose="02020603050405020304" pitchFamily="18" charset="0"/>
                <a:cs typeface="Times New Roman" panose="02020603050405020304" pitchFamily="18" charset="0"/>
              </a:rPr>
              <a:t>→</a:t>
            </a:r>
            <a:r>
              <a:rPr lang="en-US" sz="2226" b="1" dirty="0">
                <a:solidFill>
                  <a:prstClr val="white"/>
                </a:solidFill>
                <a:latin typeface="Times New Roman" panose="02020603050405020304" pitchFamily="18" charset="0"/>
                <a:cs typeface="Times New Roman" panose="02020603050405020304" pitchFamily="18" charset="0"/>
              </a:rPr>
              <a:t>   </a:t>
            </a:r>
            <a:r>
              <a:rPr lang="en-US" sz="2226" dirty="0">
                <a:solidFill>
                  <a:prstClr val="white"/>
                </a:solidFill>
                <a:latin typeface="Arial Narrow" panose="020B0606020202030204" pitchFamily="34" charset="0"/>
                <a:cs typeface="Consolas" panose="020B0609020204030204" pitchFamily="49" charset="0"/>
              </a:rPr>
              <a:t>1.1000… &lt;&lt; 2</a:t>
            </a:r>
            <a:r>
              <a:rPr lang="en-US" sz="2226" b="1" dirty="0">
                <a:solidFill>
                  <a:prstClr val="white"/>
                </a:solidFill>
                <a:latin typeface="Times New Roman" panose="02020603050405020304" pitchFamily="18" charset="0"/>
                <a:cs typeface="Times New Roman" panose="02020603050405020304" pitchFamily="18" charset="0"/>
              </a:rPr>
              <a:t> </a:t>
            </a:r>
            <a:r>
              <a:rPr lang="en-US" sz="2226" b="1" dirty="0">
                <a:solidFill>
                  <a:srgbClr val="FFFF00"/>
                </a:solidFill>
                <a:latin typeface="Times New Roman" panose="02020603050405020304" pitchFamily="18" charset="0"/>
                <a:cs typeface="Times New Roman" panose="02020603050405020304" pitchFamily="18" charset="0"/>
              </a:rPr>
              <a:t>→</a:t>
            </a:r>
          </a:p>
          <a:p>
            <a:endParaRPr lang="en-US" sz="835" dirty="0">
              <a:solidFill>
                <a:prstClr val="white"/>
              </a:solidFill>
              <a:latin typeface="Times New Roman" panose="02020603050405020304" pitchFamily="18" charset="0"/>
              <a:cs typeface="Times New Roman" panose="02020603050405020304" pitchFamily="18" charset="0"/>
            </a:endParaRPr>
          </a:p>
          <a:p>
            <a:r>
              <a:rPr lang="en-US" sz="2226" dirty="0">
                <a:solidFill>
                  <a:prstClr val="white"/>
                </a:solidFill>
                <a:latin typeface="Times New Roman" panose="02020603050405020304" pitchFamily="18" charset="0"/>
                <a:cs typeface="Times New Roman" panose="02020603050405020304" pitchFamily="18" charset="0"/>
              </a:rPr>
              <a:t>encode (sign=‘+’, exponent = 2,      	    mantissa = (1).1000…)</a:t>
            </a:r>
            <a:r>
              <a:rPr lang="en-US" sz="2226" dirty="0">
                <a:solidFill>
                  <a:prstClr val="white"/>
                </a:solidFill>
                <a:latin typeface="Arial Narrow" panose="020B0606020202030204" pitchFamily="34" charset="0"/>
                <a:cs typeface="Consolas" panose="020B0609020204030204" pitchFamily="49" charset="0"/>
              </a:rPr>
              <a:t> </a:t>
            </a:r>
            <a:r>
              <a:rPr lang="en-US" sz="2226" b="1" dirty="0">
                <a:solidFill>
                  <a:srgbClr val="FFFF00"/>
                </a:solidFill>
                <a:latin typeface="Times New Roman" panose="02020603050405020304" pitchFamily="18" charset="0"/>
                <a:cs typeface="Times New Roman" panose="02020603050405020304" pitchFamily="18" charset="0"/>
              </a:rPr>
              <a:t>→</a:t>
            </a:r>
            <a:r>
              <a:rPr lang="en-US" sz="2226" b="1" dirty="0">
                <a:solidFill>
                  <a:prstClr val="white"/>
                </a:solidFill>
                <a:latin typeface="Times New Roman" panose="02020603050405020304" pitchFamily="18" charset="0"/>
                <a:cs typeface="Times New Roman" panose="02020603050405020304" pitchFamily="18" charset="0"/>
              </a:rPr>
              <a:t> </a:t>
            </a:r>
          </a:p>
          <a:p>
            <a:endParaRPr lang="en-US" sz="835" b="1" dirty="0">
              <a:solidFill>
                <a:prstClr val="white"/>
              </a:solidFill>
              <a:latin typeface="Times New Roman" panose="02020603050405020304" pitchFamily="18" charset="0"/>
              <a:cs typeface="Times New Roman" panose="02020603050405020304" pitchFamily="18" charset="0"/>
            </a:endParaRPr>
          </a:p>
          <a:p>
            <a:r>
              <a:rPr lang="en-US" sz="2226" dirty="0">
                <a:solidFill>
                  <a:prstClr val="white"/>
                </a:solidFill>
                <a:latin typeface="Times New Roman" panose="02020603050405020304" pitchFamily="18" charset="0"/>
                <a:cs typeface="Times New Roman" panose="02020603050405020304" pitchFamily="18" charset="0"/>
              </a:rPr>
              <a:t>40C00000</a:t>
            </a:r>
            <a:r>
              <a:rPr lang="en-US" sz="2226" baseline="-25000" dirty="0">
                <a:solidFill>
                  <a:prstClr val="white"/>
                </a:solidFill>
                <a:latin typeface="Times New Roman" panose="02020603050405020304" pitchFamily="18" charset="0"/>
                <a:cs typeface="Times New Roman" panose="02020603050405020304" pitchFamily="18" charset="0"/>
              </a:rPr>
              <a:t>(16)</a:t>
            </a:r>
            <a:r>
              <a:rPr lang="en-US" sz="2226" dirty="0">
                <a:solidFill>
                  <a:prstClr val="white"/>
                </a:solidFill>
                <a:latin typeface="Times New Roman" panose="02020603050405020304" pitchFamily="18" charset="0"/>
                <a:cs typeface="Times New Roman" panose="02020603050405020304" pitchFamily="18" charset="0"/>
              </a:rPr>
              <a:t> </a:t>
            </a:r>
            <a:r>
              <a:rPr lang="en-US" sz="2226" b="1" dirty="0">
                <a:solidFill>
                  <a:srgbClr val="FFFF00"/>
                </a:solidFill>
                <a:latin typeface="Times New Roman" panose="02020603050405020304" pitchFamily="18" charset="0"/>
                <a:cs typeface="Times New Roman" panose="02020603050405020304" pitchFamily="18" charset="0"/>
              </a:rPr>
              <a:t>→</a:t>
            </a:r>
            <a:r>
              <a:rPr lang="en-US" sz="2226" b="1" dirty="0">
                <a:solidFill>
                  <a:prstClr val="white"/>
                </a:solidFill>
                <a:latin typeface="Times New Roman" panose="02020603050405020304" pitchFamily="18" charset="0"/>
                <a:cs typeface="Times New Roman" panose="02020603050405020304" pitchFamily="18" charset="0"/>
              </a:rPr>
              <a:t>    </a:t>
            </a:r>
            <a:r>
              <a:rPr lang="en-US" sz="2226" b="1" dirty="0">
                <a:solidFill>
                  <a:srgbClr val="FFC000"/>
                </a:solidFill>
                <a:latin typeface="Times New Roman" panose="02020603050405020304" pitchFamily="18" charset="0"/>
                <a:cs typeface="Times New Roman" panose="02020603050405020304" pitchFamily="18" charset="0"/>
              </a:rPr>
              <a:t>1086324736</a:t>
            </a:r>
            <a:r>
              <a:rPr lang="en-US" sz="2226" b="1" baseline="-25000" dirty="0">
                <a:solidFill>
                  <a:srgbClr val="FFC000"/>
                </a:solidFill>
                <a:latin typeface="Times New Roman" panose="02020603050405020304" pitchFamily="18" charset="0"/>
                <a:cs typeface="Times New Roman" panose="02020603050405020304" pitchFamily="18" charset="0"/>
              </a:rPr>
              <a:t>(10)</a:t>
            </a:r>
            <a:endParaRPr lang="en-US" sz="2226" b="1" baseline="-25000" dirty="0">
              <a:solidFill>
                <a:srgbClr val="FFC000"/>
              </a:solidFill>
              <a:latin typeface="Arial Narrow" panose="020B0606020202030204" pitchFamily="34" charset="0"/>
              <a:cs typeface="Consolas" panose="020B0609020204030204" pitchFamily="49" charset="0"/>
            </a:endParaRPr>
          </a:p>
        </p:txBody>
      </p:sp>
      <p:sp>
        <p:nvSpPr>
          <p:cNvPr id="77" name="Rectangle 76"/>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gcc</a:t>
            </a:r>
            <a:r>
              <a:rPr lang="en-US" sz="1749" dirty="0">
                <a:solidFill>
                  <a:prstClr val="white">
                    <a:lumMod val="50000"/>
                  </a:prstClr>
                </a:solidFill>
                <a:latin typeface="Arial Narrow" panose="020B0606020202030204" pitchFamily="34" charset="0"/>
                <a:cs typeface="Consolas" panose="020B0609020204030204" pitchFamily="49" charset="0"/>
              </a:rPr>
              <a:t> -o </a:t>
            </a:r>
            <a:r>
              <a:rPr lang="en-US" sz="1749" dirty="0" err="1">
                <a:solidFill>
                  <a:prstClr val="white">
                    <a:lumMod val="50000"/>
                  </a:prstClr>
                </a:solidFill>
                <a:latin typeface="Arial Narrow" panose="020B0606020202030204" pitchFamily="34" charset="0"/>
                <a:cs typeface="Consolas" panose="020B0609020204030204" pitchFamily="49" charset="0"/>
              </a:rPr>
              <a:t>union.x</a:t>
            </a:r>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union.c</a:t>
            </a:r>
            <a:endParaRPr lang="en-US" sz="1749" dirty="0">
              <a:solidFill>
                <a:prstClr val="white">
                  <a:lumMod val="50000"/>
                </a:prstClr>
              </a:solidFill>
              <a:latin typeface="Arial Narrow" panose="020B0606020202030204" pitchFamily="34" charset="0"/>
              <a:cs typeface="Consolas" panose="020B0609020204030204" pitchFamily="49" charset="0"/>
            </a:endParaRPr>
          </a:p>
          <a:p>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union.x</a:t>
            </a:r>
            <a:endParaRPr lang="en-US" sz="1749" dirty="0">
              <a:solidFill>
                <a:prstClr val="white">
                  <a:lumMod val="50000"/>
                </a:prstClr>
              </a:solidFill>
              <a:latin typeface="Arial Narrow" panose="020B0606020202030204" pitchFamily="34" charset="0"/>
              <a:cs typeface="Consolas" panose="020B0609020204030204" pitchFamily="49" charset="0"/>
            </a:endParaRPr>
          </a:p>
          <a:p>
            <a:r>
              <a:rPr lang="en-US" sz="1749" dirty="0">
                <a:solidFill>
                  <a:prstClr val="white">
                    <a:lumMod val="50000"/>
                  </a:prstClr>
                </a:solidFill>
                <a:latin typeface="Arial Narrow" panose="020B0606020202030204" pitchFamily="34" charset="0"/>
                <a:cs typeface="Consolas" panose="020B0609020204030204" pitchFamily="49" charset="0"/>
              </a:rPr>
              <a:t>generic=8</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(c=1</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s=8</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i</a:t>
            </a:r>
            <a:r>
              <a:rPr lang="en-US" sz="1749" dirty="0">
                <a:solidFill>
                  <a:prstClr val="white">
                    <a:lumMod val="50000"/>
                  </a:prstClr>
                </a:solidFill>
                <a:latin typeface="Arial Narrow" panose="020B0606020202030204" pitchFamily="34" charset="0"/>
                <a:cs typeface="Consolas" panose="020B0609020204030204" pitchFamily="49" charset="0"/>
              </a:rPr>
              <a:t>=4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l=4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u=4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f=4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d=8)</a:t>
            </a:r>
          </a:p>
          <a:p>
            <a:r>
              <a:rPr lang="pl-PL" sz="1749" dirty="0">
                <a:solidFill>
                  <a:prstClr val="white">
                    <a:lumMod val="50000"/>
                  </a:prstClr>
                </a:solidFill>
                <a:latin typeface="Arial Narrow" panose="020B0606020202030204" pitchFamily="34" charset="0"/>
                <a:cs typeface="Consolas" panose="020B0609020204030204" pitchFamily="49" charset="0"/>
              </a:rPr>
              <a:t>X</a:t>
            </a:r>
            <a:r>
              <a:rPr lang="pl-PL" sz="1749" b="1" dirty="0">
                <a:solidFill>
                  <a:prstClr val="white">
                    <a:lumMod val="50000"/>
                  </a:prstClr>
                </a:solidFill>
                <a:latin typeface="Felix Titling" panose="04060505060202020A04" pitchFamily="82" charset="0"/>
                <a:cs typeface="Consolas" panose="020B0609020204030204" pitchFamily="49" charset="0"/>
              </a:rPr>
              <a:t>-</a:t>
            </a:r>
            <a:r>
              <a:rPr lang="pl-PL" sz="1749" dirty="0">
                <a:solidFill>
                  <a:prstClr val="white">
                    <a:lumMod val="50000"/>
                  </a:prstClr>
                </a:solidFill>
                <a:latin typeface="Arial Narrow" panose="020B0606020202030204" pitchFamily="34" charset="0"/>
                <a:cs typeface="Consolas" panose="020B0609020204030204" pitchFamily="49" charset="0"/>
              </a:rPr>
              <a:t>&gt;c=A   Y</a:t>
            </a:r>
            <a:r>
              <a:rPr lang="pl-PL" sz="1749" b="1" dirty="0">
                <a:solidFill>
                  <a:prstClr val="white">
                    <a:lumMod val="50000"/>
                  </a:prstClr>
                </a:solidFill>
                <a:latin typeface="Felix Titling" panose="04060505060202020A04" pitchFamily="82" charset="0"/>
                <a:cs typeface="Consolas" panose="020B0609020204030204" pitchFamily="49" charset="0"/>
              </a:rPr>
              <a:t>-</a:t>
            </a:r>
            <a:r>
              <a:rPr lang="pl-PL" sz="1749" dirty="0">
                <a:solidFill>
                  <a:prstClr val="white">
                    <a:lumMod val="50000"/>
                  </a:prstClr>
                </a:solidFill>
                <a:latin typeface="Arial Narrow" panose="020B0606020202030204" pitchFamily="34" charset="0"/>
                <a:cs typeface="Consolas" panose="020B0609020204030204" pitchFamily="49" charset="0"/>
              </a:rPr>
              <a:t>&gt;f=6.000000   Z</a:t>
            </a:r>
            <a:r>
              <a:rPr lang="pl-PL" sz="1749" b="1" dirty="0">
                <a:solidFill>
                  <a:prstClr val="white">
                    <a:lumMod val="50000"/>
                  </a:prstClr>
                </a:solidFill>
                <a:latin typeface="Felix Titling" panose="04060505060202020A04" pitchFamily="82" charset="0"/>
                <a:cs typeface="Consolas" panose="020B0609020204030204" pitchFamily="49" charset="0"/>
              </a:rPr>
              <a:t>-</a:t>
            </a:r>
            <a:r>
              <a:rPr lang="pl-PL" sz="1749" dirty="0">
                <a:solidFill>
                  <a:prstClr val="white">
                    <a:lumMod val="50000"/>
                  </a:prstClr>
                </a:solidFill>
                <a:latin typeface="Arial Narrow" panose="020B0606020202030204" pitchFamily="34" charset="0"/>
                <a:cs typeface="Consolas" panose="020B0609020204030204" pitchFamily="49" charset="0"/>
              </a:rPr>
              <a:t>&gt;i=6</a:t>
            </a:r>
          </a:p>
          <a:p>
            <a:r>
              <a:rPr lang="pl-PL" sz="1749" dirty="0">
                <a:solidFill>
                  <a:prstClr val="black"/>
                </a:solidFill>
                <a:latin typeface="Arial Narrow" panose="020B0606020202030204" pitchFamily="34" charset="0"/>
                <a:cs typeface="Consolas" panose="020B0609020204030204" pitchFamily="49" charset="0"/>
              </a:rPr>
              <a:t>X</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&gt;c=A   Y</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&gt;f=6.000000   Z</a:t>
            </a:r>
            <a:r>
              <a:rPr lang="pl-PL" sz="1749" b="1" dirty="0">
                <a:solidFill>
                  <a:prstClr val="black"/>
                </a:solidFill>
                <a:latin typeface="Felix Titling" panose="04060505060202020A04" pitchFamily="82" charset="0"/>
                <a:cs typeface="Consolas" panose="020B0609020204030204" pitchFamily="49" charset="0"/>
              </a:rPr>
              <a:t>-</a:t>
            </a:r>
            <a:r>
              <a:rPr lang="pl-PL" sz="1749" dirty="0">
                <a:solidFill>
                  <a:prstClr val="black"/>
                </a:solidFill>
                <a:latin typeface="Arial Narrow" panose="020B0606020202030204" pitchFamily="34" charset="0"/>
                <a:cs typeface="Consolas" panose="020B0609020204030204" pitchFamily="49" charset="0"/>
              </a:rPr>
              <a:t>&gt;i=1086324736</a:t>
            </a:r>
            <a:endParaRPr lang="en-US" sz="1749" dirty="0">
              <a:solidFill>
                <a:prstClr val="black"/>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103" name="Rectangle 102"/>
          <p:cNvSpPr/>
          <p:nvPr/>
        </p:nvSpPr>
        <p:spPr>
          <a:xfrm>
            <a:off x="3588326" y="4644347"/>
            <a:ext cx="246659" cy="246659"/>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1" name="Rectangle 110"/>
          <p:cNvSpPr/>
          <p:nvPr/>
        </p:nvSpPr>
        <p:spPr>
          <a:xfrm>
            <a:off x="2601689" y="4644114"/>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5" name="Rounded Rectangular Callout 104"/>
          <p:cNvSpPr/>
          <p:nvPr/>
        </p:nvSpPr>
        <p:spPr>
          <a:xfrm>
            <a:off x="3156683" y="2940226"/>
            <a:ext cx="3256955" cy="1190486"/>
          </a:xfrm>
          <a:prstGeom prst="wedgeRoundRectCallout">
            <a:avLst>
              <a:gd name="adj1" fmla="val -47249"/>
              <a:gd name="adj2" fmla="val 9820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srgbClr val="0033CC"/>
                </a:solidFill>
              </a:rPr>
              <a:t>C allowed the wrong type to be used. </a:t>
            </a:r>
            <a:br>
              <a:rPr lang="en-US" sz="2226" dirty="0">
                <a:solidFill>
                  <a:srgbClr val="0033CC"/>
                </a:solidFill>
              </a:rPr>
            </a:br>
            <a:r>
              <a:rPr lang="en-US" sz="2226" dirty="0">
                <a:solidFill>
                  <a:srgbClr val="0033CC"/>
                </a:solidFill>
              </a:rPr>
              <a:t>C is </a:t>
            </a:r>
            <a:r>
              <a:rPr lang="en-US" sz="2226" b="1" dirty="0">
                <a:solidFill>
                  <a:srgbClr val="0033CC"/>
                </a:solidFill>
              </a:rPr>
              <a:t>not</a:t>
            </a:r>
            <a:r>
              <a:rPr lang="en-US" sz="2226" dirty="0">
                <a:solidFill>
                  <a:srgbClr val="0033CC"/>
                </a:solidFill>
              </a:rPr>
              <a:t> strongly typed.</a:t>
            </a:r>
          </a:p>
        </p:txBody>
      </p:sp>
      <p:sp>
        <p:nvSpPr>
          <p:cNvPr id="109" name="Rounded Rectangular Callout 108"/>
          <p:cNvSpPr/>
          <p:nvPr/>
        </p:nvSpPr>
        <p:spPr>
          <a:xfrm>
            <a:off x="2380993" y="697181"/>
            <a:ext cx="7309600" cy="1874094"/>
          </a:xfrm>
          <a:prstGeom prst="wedgeRoundRectCallout">
            <a:avLst>
              <a:gd name="adj1" fmla="val -23540"/>
              <a:gd name="adj2" fmla="val 81851"/>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srgbClr val="0033CC"/>
                </a:solidFill>
              </a:rPr>
              <a:t>But </a:t>
            </a:r>
            <a:r>
              <a:rPr lang="en-US" sz="2226" b="1" dirty="0">
                <a:solidFill>
                  <a:srgbClr val="0033CC"/>
                </a:solidFill>
              </a:rPr>
              <a:t>you</a:t>
            </a:r>
            <a:r>
              <a:rPr lang="en-US" sz="2226" dirty="0">
                <a:solidFill>
                  <a:srgbClr val="0033CC"/>
                </a:solidFill>
              </a:rPr>
              <a:t> can write a strongly-typed program in C. You would need to maintain another variable about the current type of the structure, and check it whenever the union type is used.  This is what Python </a:t>
            </a:r>
            <a:r>
              <a:rPr lang="en-US" sz="2226" dirty="0" smtClean="0">
                <a:solidFill>
                  <a:srgbClr val="0033CC"/>
                </a:solidFill>
              </a:rPr>
              <a:t>does </a:t>
            </a:r>
            <a:r>
              <a:rPr lang="en-US" sz="2226" i="1" dirty="0">
                <a:solidFill>
                  <a:srgbClr val="FF0000"/>
                </a:solidFill>
              </a:rPr>
              <a:t>automatically</a:t>
            </a:r>
            <a:r>
              <a:rPr lang="en-US" sz="2226" dirty="0">
                <a:solidFill>
                  <a:srgbClr val="0033CC"/>
                </a:solidFill>
              </a:rPr>
              <a:t>.</a:t>
            </a:r>
          </a:p>
        </p:txBody>
      </p:sp>
      <p:sp>
        <p:nvSpPr>
          <p:cNvPr id="110" name="Rounded Rectangular Callout 109"/>
          <p:cNvSpPr/>
          <p:nvPr/>
        </p:nvSpPr>
        <p:spPr>
          <a:xfrm>
            <a:off x="5450940" y="3694530"/>
            <a:ext cx="4268635" cy="2402582"/>
          </a:xfrm>
          <a:prstGeom prst="wedgeRoundRectCallout">
            <a:avLst>
              <a:gd name="adj1" fmla="val -5761"/>
              <a:gd name="adj2" fmla="val -10878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srgbClr val="0033CC"/>
                </a:solidFill>
              </a:rPr>
              <a:t>Obviously, that removes a source of errors. But it also causes a slower program, because the compiler must insert extra type-checking computations into the generated executable.</a:t>
            </a:r>
          </a:p>
        </p:txBody>
      </p:sp>
    </p:spTree>
    <p:extLst>
      <p:ext uri="{BB962C8B-B14F-4D97-AF65-F5344CB8AC3E}">
        <p14:creationId xmlns:p14="http://schemas.microsoft.com/office/powerpoint/2010/main" val="122387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1000"/>
                                        <p:tgtEl>
                                          <p:spTgt spid="108"/>
                                        </p:tgtEl>
                                      </p:cBhvr>
                                    </p:animEffect>
                                    <p:anim calcmode="lin" valueType="num">
                                      <p:cBhvr>
                                        <p:cTn id="8" dur="1000" fill="hold"/>
                                        <p:tgtEl>
                                          <p:spTgt spid="108"/>
                                        </p:tgtEl>
                                        <p:attrNameLst>
                                          <p:attrName>ppt_x</p:attrName>
                                        </p:attrNameLst>
                                      </p:cBhvr>
                                      <p:tavLst>
                                        <p:tav tm="0">
                                          <p:val>
                                            <p:strVal val="#ppt_x"/>
                                          </p:val>
                                        </p:tav>
                                        <p:tav tm="100000">
                                          <p:val>
                                            <p:strVal val="#ppt_x"/>
                                          </p:val>
                                        </p:tav>
                                      </p:tavLst>
                                    </p:anim>
                                    <p:anim calcmode="lin" valueType="num">
                                      <p:cBhvr>
                                        <p:cTn id="9" dur="1000" fill="hold"/>
                                        <p:tgtEl>
                                          <p:spTgt spid="10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ntr" presetSubtype="0" fill="hold" grpId="0" nodeType="clickEffect">
                                  <p:stCondLst>
                                    <p:cond delay="0"/>
                                  </p:stCondLst>
                                  <p:childTnLst>
                                    <p:set>
                                      <p:cBhvr>
                                        <p:cTn id="13" dur="1" fill="hold">
                                          <p:stCondLst>
                                            <p:cond delay="0"/>
                                          </p:stCondLst>
                                        </p:cTn>
                                        <p:tgtEl>
                                          <p:spTgt spid="107"/>
                                        </p:tgtEl>
                                        <p:attrNameLst>
                                          <p:attrName>style.visibility</p:attrName>
                                        </p:attrNameLst>
                                      </p:cBhvr>
                                      <p:to>
                                        <p:strVal val="visible"/>
                                      </p:to>
                                    </p:set>
                                    <p:animEffect transition="in" filter="fade">
                                      <p:cBhvr>
                                        <p:cTn id="14" dur="2000"/>
                                        <p:tgtEl>
                                          <p:spTgt spid="107"/>
                                        </p:tgtEl>
                                      </p:cBhvr>
                                    </p:animEffect>
                                    <p:anim calcmode="lin" valueType="num">
                                      <p:cBhvr>
                                        <p:cTn id="15" dur="2000" fill="hold"/>
                                        <p:tgtEl>
                                          <p:spTgt spid="107"/>
                                        </p:tgtEl>
                                        <p:attrNameLst>
                                          <p:attrName>style.rotation</p:attrName>
                                        </p:attrNameLst>
                                      </p:cBhvr>
                                      <p:tavLst>
                                        <p:tav tm="0">
                                          <p:val>
                                            <p:fltVal val="720"/>
                                          </p:val>
                                        </p:tav>
                                        <p:tav tm="100000">
                                          <p:val>
                                            <p:fltVal val="0"/>
                                          </p:val>
                                        </p:tav>
                                      </p:tavLst>
                                    </p:anim>
                                    <p:anim calcmode="lin" valueType="num">
                                      <p:cBhvr>
                                        <p:cTn id="16" dur="2000" fill="hold"/>
                                        <p:tgtEl>
                                          <p:spTgt spid="107"/>
                                        </p:tgtEl>
                                        <p:attrNameLst>
                                          <p:attrName>ppt_h</p:attrName>
                                        </p:attrNameLst>
                                      </p:cBhvr>
                                      <p:tavLst>
                                        <p:tav tm="0">
                                          <p:val>
                                            <p:fltVal val="0"/>
                                          </p:val>
                                        </p:tav>
                                        <p:tav tm="100000">
                                          <p:val>
                                            <p:strVal val="#ppt_h"/>
                                          </p:val>
                                        </p:tav>
                                      </p:tavLst>
                                    </p:anim>
                                    <p:anim calcmode="lin" valueType="num">
                                      <p:cBhvr>
                                        <p:cTn id="17" dur="2000" fill="hold"/>
                                        <p:tgtEl>
                                          <p:spTgt spid="107"/>
                                        </p:tgtEl>
                                        <p:attrNameLst>
                                          <p:attrName>ppt_w</p:attrName>
                                        </p:attrNameLst>
                                      </p:cBhvr>
                                      <p:tavLst>
                                        <p:tav tm="0">
                                          <p:val>
                                            <p:fltVal val="0"/>
                                          </p:val>
                                        </p:tav>
                                        <p:tav tm="100000">
                                          <p:val>
                                            <p:strVal val="#ppt_w"/>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xit" presetSubtype="0" fill="hold" grpId="1" nodeType="clickEffect">
                                  <p:stCondLst>
                                    <p:cond delay="0"/>
                                  </p:stCondLst>
                                  <p:childTnLst>
                                    <p:animEffect transition="out" filter="fade">
                                      <p:cBhvr>
                                        <p:cTn id="21" dur="1000"/>
                                        <p:tgtEl>
                                          <p:spTgt spid="108"/>
                                        </p:tgtEl>
                                      </p:cBhvr>
                                    </p:animEffect>
                                    <p:anim calcmode="lin" valueType="num">
                                      <p:cBhvr>
                                        <p:cTn id="22" dur="1000"/>
                                        <p:tgtEl>
                                          <p:spTgt spid="108"/>
                                        </p:tgtEl>
                                        <p:attrNameLst>
                                          <p:attrName>ppt_x</p:attrName>
                                        </p:attrNameLst>
                                      </p:cBhvr>
                                      <p:tavLst>
                                        <p:tav tm="0">
                                          <p:val>
                                            <p:strVal val="ppt_x"/>
                                          </p:val>
                                        </p:tav>
                                        <p:tav tm="100000">
                                          <p:val>
                                            <p:strVal val="ppt_x"/>
                                          </p:val>
                                        </p:tav>
                                      </p:tavLst>
                                    </p:anim>
                                    <p:anim calcmode="lin" valueType="num">
                                      <p:cBhvr>
                                        <p:cTn id="23" dur="1000"/>
                                        <p:tgtEl>
                                          <p:spTgt spid="108"/>
                                        </p:tgtEl>
                                        <p:attrNameLst>
                                          <p:attrName>ppt_y</p:attrName>
                                        </p:attrNameLst>
                                      </p:cBhvr>
                                      <p:tavLst>
                                        <p:tav tm="0">
                                          <p:val>
                                            <p:strVal val="ppt_y"/>
                                          </p:val>
                                        </p:tav>
                                        <p:tav tm="100000">
                                          <p:val>
                                            <p:strVal val="ppt_y+.1"/>
                                          </p:val>
                                        </p:tav>
                                      </p:tavLst>
                                    </p:anim>
                                    <p:set>
                                      <p:cBhvr>
                                        <p:cTn id="24" dur="1" fill="hold">
                                          <p:stCondLst>
                                            <p:cond delay="999"/>
                                          </p:stCondLst>
                                        </p:cTn>
                                        <p:tgtEl>
                                          <p:spTgt spid="10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05"/>
                                        </p:tgtEl>
                                        <p:attrNameLst>
                                          <p:attrName>style.visibility</p:attrName>
                                        </p:attrNameLst>
                                      </p:cBhvr>
                                      <p:to>
                                        <p:strVal val="visible"/>
                                      </p:to>
                                    </p:set>
                                    <p:animEffect transition="in" filter="randombar(horizontal)">
                                      <p:cBhvr>
                                        <p:cTn id="29" dur="500"/>
                                        <p:tgtEl>
                                          <p:spTgt spid="105"/>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109"/>
                                        </p:tgtEl>
                                        <p:attrNameLst>
                                          <p:attrName>style.visibility</p:attrName>
                                        </p:attrNameLst>
                                      </p:cBhvr>
                                      <p:to>
                                        <p:strVal val="visible"/>
                                      </p:to>
                                    </p:set>
                                    <p:animEffect transition="in" filter="randombar(horizontal)">
                                      <p:cBhvr>
                                        <p:cTn id="34" dur="500"/>
                                        <p:tgtEl>
                                          <p:spTgt spid="109"/>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110"/>
                                        </p:tgtEl>
                                        <p:attrNameLst>
                                          <p:attrName>style.visibility</p:attrName>
                                        </p:attrNameLst>
                                      </p:cBhvr>
                                      <p:to>
                                        <p:strVal val="visible"/>
                                      </p:to>
                                    </p:set>
                                    <p:animEffect transition="in" filter="randombar(horizontal)">
                                      <p:cBhvr>
                                        <p:cTn id="39" dur="500"/>
                                        <p:tgtEl>
                                          <p:spTgt spid="110"/>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xit" presetSubtype="10" fill="hold" grpId="1" nodeType="clickEffect">
                                  <p:stCondLst>
                                    <p:cond delay="0"/>
                                  </p:stCondLst>
                                  <p:childTnLst>
                                    <p:animEffect transition="out" filter="randombar(horizontal)">
                                      <p:cBhvr>
                                        <p:cTn id="43" dur="500"/>
                                        <p:tgtEl>
                                          <p:spTgt spid="110"/>
                                        </p:tgtEl>
                                      </p:cBhvr>
                                    </p:animEffect>
                                    <p:set>
                                      <p:cBhvr>
                                        <p:cTn id="44" dur="1" fill="hold">
                                          <p:stCondLst>
                                            <p:cond delay="499"/>
                                          </p:stCondLst>
                                        </p:cTn>
                                        <p:tgtEl>
                                          <p:spTgt spid="110"/>
                                        </p:tgtEl>
                                        <p:attrNameLst>
                                          <p:attrName>style.visibility</p:attrName>
                                        </p:attrNameLst>
                                      </p:cBhvr>
                                      <p:to>
                                        <p:strVal val="hidden"/>
                                      </p:to>
                                    </p:set>
                                  </p:childTnLst>
                                </p:cTn>
                              </p:par>
                            </p:childTnLst>
                          </p:cTn>
                        </p:par>
                        <p:par>
                          <p:cTn id="45" fill="hold">
                            <p:stCondLst>
                              <p:cond delay="500"/>
                            </p:stCondLst>
                            <p:childTnLst>
                              <p:par>
                                <p:cTn id="46" presetID="14" presetClass="exit" presetSubtype="10" fill="hold" grpId="1" nodeType="afterEffect">
                                  <p:stCondLst>
                                    <p:cond delay="0"/>
                                  </p:stCondLst>
                                  <p:childTnLst>
                                    <p:animEffect transition="out" filter="randombar(horizontal)">
                                      <p:cBhvr>
                                        <p:cTn id="47" dur="500"/>
                                        <p:tgtEl>
                                          <p:spTgt spid="109"/>
                                        </p:tgtEl>
                                      </p:cBhvr>
                                    </p:animEffect>
                                    <p:set>
                                      <p:cBhvr>
                                        <p:cTn id="48" dur="1" fill="hold">
                                          <p:stCondLst>
                                            <p:cond delay="499"/>
                                          </p:stCondLst>
                                        </p:cTn>
                                        <p:tgtEl>
                                          <p:spTgt spid="109"/>
                                        </p:tgtEl>
                                        <p:attrNameLst>
                                          <p:attrName>style.visibility</p:attrName>
                                        </p:attrNameLst>
                                      </p:cBhvr>
                                      <p:to>
                                        <p:strVal val="hidden"/>
                                      </p:to>
                                    </p:set>
                                  </p:childTnLst>
                                </p:cTn>
                              </p:par>
                            </p:childTnLst>
                          </p:cTn>
                        </p:par>
                        <p:par>
                          <p:cTn id="49" fill="hold">
                            <p:stCondLst>
                              <p:cond delay="1000"/>
                            </p:stCondLst>
                            <p:childTnLst>
                              <p:par>
                                <p:cTn id="50" presetID="14" presetClass="exit" presetSubtype="10" fill="hold" grpId="1" nodeType="afterEffect">
                                  <p:stCondLst>
                                    <p:cond delay="0"/>
                                  </p:stCondLst>
                                  <p:childTnLst>
                                    <p:animEffect transition="out" filter="randombar(horizontal)">
                                      <p:cBhvr>
                                        <p:cTn id="51" dur="500"/>
                                        <p:tgtEl>
                                          <p:spTgt spid="105"/>
                                        </p:tgtEl>
                                      </p:cBhvr>
                                    </p:animEffect>
                                    <p:set>
                                      <p:cBhvr>
                                        <p:cTn id="52" dur="1" fill="hold">
                                          <p:stCondLst>
                                            <p:cond delay="499"/>
                                          </p:stCondLst>
                                        </p:cTn>
                                        <p:tgtEl>
                                          <p:spTgt spid="1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08" grpId="0" animBg="1"/>
      <p:bldP spid="108" grpId="1" animBg="1"/>
      <p:bldP spid="105" grpId="0" animBg="1"/>
      <p:bldP spid="105" grpId="1" animBg="1"/>
      <p:bldP spid="109" grpId="0" animBg="1"/>
      <p:bldP spid="109" grpId="1" animBg="1"/>
      <p:bldP spid="110" grpId="0" animBg="1"/>
      <p:bldP spid="110" grpId="1"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solidFill>
                  <a:srgbClr val="FF000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solidFill>
                  <a:schemeClr val="bg1"/>
                </a:solidFill>
                <a:latin typeface="Consolas" panose="020B0609020204030204" pitchFamily="49" charset="0"/>
                <a:cs typeface="Consolas" panose="020B0609020204030204" pitchFamily="49" charset="0"/>
              </a:rPr>
              <a:t>   </a:t>
            </a:r>
            <a:r>
              <a:rPr lang="en-US" sz="1431" dirty="0" err="1">
                <a:solidFill>
                  <a:srgbClr val="FF0000"/>
                </a:solidFill>
                <a:latin typeface="Consolas" panose="020B0609020204030204" pitchFamily="49" charset="0"/>
                <a:cs typeface="Consolas" panose="020B0609020204030204" pitchFamily="49" charset="0"/>
              </a:rPr>
              <a:t>printf</a:t>
            </a:r>
            <a:r>
              <a:rPr lang="en-US" sz="1431" dirty="0">
                <a:solidFill>
                  <a:srgbClr val="FF0000"/>
                </a:solidFill>
                <a:latin typeface="Consolas" panose="020B0609020204030204" pitchFamily="49" charset="0"/>
                <a:cs typeface="Consolas" panose="020B0609020204030204" pitchFamily="49" charset="0"/>
              </a:rPr>
              <a:t>("X-&gt;c=%c   Y-&gt;f=%f   Z-&gt;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=%d\</a:t>
            </a:r>
            <a:r>
              <a:rPr lang="en-US" sz="1431" dirty="0" err="1">
                <a:solidFill>
                  <a:srgbClr val="FF0000"/>
                </a:solidFill>
                <a:latin typeface="Consolas" panose="020B0609020204030204" pitchFamily="49" charset="0"/>
                <a:cs typeface="Consolas" panose="020B0609020204030204" pitchFamily="49" charset="0"/>
              </a:rPr>
              <a:t>n",X</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c,Y</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f,Z</a:t>
            </a:r>
            <a:r>
              <a:rPr lang="en-US" sz="1431" dirty="0">
                <a:solidFill>
                  <a:srgbClr val="FF0000"/>
                </a:solidFill>
                <a:latin typeface="Consolas" panose="020B0609020204030204" pitchFamily="49" charset="0"/>
                <a:cs typeface="Consolas" panose="020B0609020204030204" pitchFamily="49" charset="0"/>
              </a:rPr>
              <a:t>-&gt;</a:t>
            </a:r>
            <a:r>
              <a:rPr lang="en-US" sz="1431" dirty="0" err="1">
                <a:solidFill>
                  <a:srgbClr val="FF0000"/>
                </a:solidFill>
                <a:latin typeface="Consolas" panose="020B0609020204030204" pitchFamily="49" charset="0"/>
                <a:cs typeface="Consolas" panose="020B0609020204030204" pitchFamily="49" charset="0"/>
              </a:rPr>
              <a:t>i</a:t>
            </a:r>
            <a:r>
              <a:rPr lang="en-US" sz="1431" dirty="0">
                <a:solidFill>
                  <a:srgbClr val="FF0000"/>
                </a:solidFill>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a:t>
            </a:r>
          </a:p>
        </p:txBody>
      </p:sp>
      <p:sp>
        <p:nvSpPr>
          <p:cNvPr id="105" name="Rectangle 104"/>
          <p:cNvSpPr/>
          <p:nvPr/>
        </p:nvSpPr>
        <p:spPr>
          <a:xfrm>
            <a:off x="2956523" y="228600"/>
            <a:ext cx="3279971" cy="910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2862" b="1" dirty="0">
                <a:solidFill>
                  <a:srgbClr val="5B9BD5">
                    <a:lumMod val="75000"/>
                  </a:srgbClr>
                </a:solidFill>
                <a:latin typeface="Times New Roman" panose="02020603050405020304" pitchFamily="18" charset="0"/>
                <a:cs typeface="Times New Roman" panose="02020603050405020304" pitchFamily="18" charset="0"/>
              </a:rPr>
              <a:t>Let us recall how unions work in C...</a:t>
            </a:r>
          </a:p>
        </p:txBody>
      </p:sp>
      <p:grpSp>
        <p:nvGrpSpPr>
          <p:cNvPr id="79" name="Group 78"/>
          <p:cNvGrpSpPr/>
          <p:nvPr/>
        </p:nvGrpSpPr>
        <p:grpSpPr>
          <a:xfrm>
            <a:off x="6171176" y="204386"/>
            <a:ext cx="3343773" cy="2767414"/>
            <a:chOff x="6171176" y="204386"/>
            <a:chExt cx="3343773" cy="2767414"/>
          </a:xfrm>
        </p:grpSpPr>
        <p:sp>
          <p:nvSpPr>
            <p:cNvPr id="80" name="Rectangle 79"/>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81" name="Group 80"/>
            <p:cNvGrpSpPr/>
            <p:nvPr/>
          </p:nvGrpSpPr>
          <p:grpSpPr>
            <a:xfrm>
              <a:off x="7816580" y="204386"/>
              <a:ext cx="1672090" cy="2326386"/>
              <a:chOff x="6400800" y="182880"/>
              <a:chExt cx="2103120" cy="2926080"/>
            </a:xfrm>
          </p:grpSpPr>
          <p:sp>
            <p:nvSpPr>
              <p:cNvPr id="137" name="Rectangle 136"/>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8" name="Rectangle 137"/>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9" name="Rectangle 138"/>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0" name="Rectangle 139"/>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1" name="Rectangle 140"/>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2" name="Rectangle 141"/>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3" name="Rectangle 142"/>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44" name="Rectangle 143"/>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82" name="Left Brace 81"/>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83" name="Group 82"/>
            <p:cNvGrpSpPr/>
            <p:nvPr/>
          </p:nvGrpSpPr>
          <p:grpSpPr>
            <a:xfrm>
              <a:off x="6523652" y="212918"/>
              <a:ext cx="1185107" cy="2318933"/>
              <a:chOff x="8138160" y="143465"/>
              <a:chExt cx="1490603" cy="2916706"/>
            </a:xfrm>
          </p:grpSpPr>
          <p:sp>
            <p:nvSpPr>
              <p:cNvPr id="131" name="Left Brace 130"/>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132" name="Left Brace 131"/>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133" name="Straight Connector 132"/>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4" name="Rectangle 83"/>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85" name="Rectangle 84"/>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118" name="Rectangle 117"/>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119" name="Group 118"/>
            <p:cNvGrpSpPr/>
            <p:nvPr/>
          </p:nvGrpSpPr>
          <p:grpSpPr>
            <a:xfrm>
              <a:off x="7777798" y="204386"/>
              <a:ext cx="1737151" cy="2767414"/>
              <a:chOff x="9759788" y="132735"/>
              <a:chExt cx="2184953" cy="3480796"/>
            </a:xfrm>
          </p:grpSpPr>
          <p:sp>
            <p:nvSpPr>
              <p:cNvPr id="120" name="Rectangle 119"/>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121" name="Group 120"/>
              <p:cNvGrpSpPr/>
              <p:nvPr/>
            </p:nvGrpSpPr>
            <p:grpSpPr>
              <a:xfrm>
                <a:off x="9808570" y="132735"/>
                <a:ext cx="2103120" cy="2926080"/>
                <a:chOff x="6400800" y="182880"/>
                <a:chExt cx="2103120" cy="2926080"/>
              </a:xfrm>
            </p:grpSpPr>
            <p:sp>
              <p:nvSpPr>
                <p:cNvPr id="123" name="Rectangle 122"/>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4" name="Rectangle 123"/>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5" name="Rectangle 124"/>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6" name="Rectangle 125"/>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7" name="Rectangle 126"/>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8" name="Rectangle 127"/>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29" name="Rectangle 128"/>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0" name="Rectangle 129"/>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22" name="Rectangle 121"/>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sp>
        <p:nvSpPr>
          <p:cNvPr id="78" name="Rectangle 77"/>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gcc</a:t>
            </a:r>
            <a:r>
              <a:rPr lang="en-US" sz="1749" dirty="0">
                <a:solidFill>
                  <a:prstClr val="white">
                    <a:lumMod val="50000"/>
                  </a:prstClr>
                </a:solidFill>
                <a:latin typeface="Arial Narrow" panose="020B0606020202030204" pitchFamily="34" charset="0"/>
                <a:cs typeface="Consolas" panose="020B0609020204030204" pitchFamily="49" charset="0"/>
              </a:rPr>
              <a:t> -o </a:t>
            </a:r>
            <a:r>
              <a:rPr lang="en-US" sz="1749" dirty="0" err="1">
                <a:solidFill>
                  <a:prstClr val="white">
                    <a:lumMod val="50000"/>
                  </a:prstClr>
                </a:solidFill>
                <a:latin typeface="Arial Narrow" panose="020B0606020202030204" pitchFamily="34" charset="0"/>
                <a:cs typeface="Consolas" panose="020B0609020204030204" pitchFamily="49" charset="0"/>
              </a:rPr>
              <a:t>union.x</a:t>
            </a:r>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union.c</a:t>
            </a:r>
            <a:endParaRPr lang="en-US" sz="1749" dirty="0">
              <a:solidFill>
                <a:prstClr val="white">
                  <a:lumMod val="50000"/>
                </a:prstClr>
              </a:solidFill>
              <a:latin typeface="Arial Narrow" panose="020B0606020202030204" pitchFamily="34" charset="0"/>
              <a:cs typeface="Consolas" panose="020B0609020204030204" pitchFamily="49" charset="0"/>
            </a:endParaRPr>
          </a:p>
          <a:p>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union.x</a:t>
            </a:r>
            <a:endParaRPr lang="en-US" sz="1749" dirty="0">
              <a:solidFill>
                <a:prstClr val="white">
                  <a:lumMod val="50000"/>
                </a:prstClr>
              </a:solidFill>
              <a:latin typeface="Arial Narrow" panose="020B0606020202030204" pitchFamily="34" charset="0"/>
              <a:cs typeface="Consolas" panose="020B0609020204030204" pitchFamily="49" charset="0"/>
            </a:endParaRPr>
          </a:p>
          <a:p>
            <a:r>
              <a:rPr lang="en-US" sz="1749" dirty="0">
                <a:solidFill>
                  <a:prstClr val="white">
                    <a:lumMod val="50000"/>
                  </a:prstClr>
                </a:solidFill>
                <a:latin typeface="Arial Narrow" panose="020B0606020202030204" pitchFamily="34" charset="0"/>
                <a:cs typeface="Consolas" panose="020B0609020204030204" pitchFamily="49" charset="0"/>
              </a:rPr>
              <a:t>generic=8</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(c=1</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s=8</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i</a:t>
            </a:r>
            <a:r>
              <a:rPr lang="en-US" sz="1749" dirty="0">
                <a:solidFill>
                  <a:prstClr val="white">
                    <a:lumMod val="50000"/>
                  </a:prstClr>
                </a:solidFill>
                <a:latin typeface="Arial Narrow" panose="020B0606020202030204" pitchFamily="34" charset="0"/>
                <a:cs typeface="Consolas" panose="020B0609020204030204" pitchFamily="49" charset="0"/>
              </a:rPr>
              <a:t>=4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l=4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u=4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f=4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d=8)</a:t>
            </a:r>
          </a:p>
          <a:p>
            <a:r>
              <a:rPr lang="pl-PL" sz="1749" dirty="0">
                <a:solidFill>
                  <a:prstClr val="white">
                    <a:lumMod val="50000"/>
                  </a:prstClr>
                </a:solidFill>
                <a:latin typeface="Arial Narrow" panose="020B0606020202030204" pitchFamily="34" charset="0"/>
                <a:cs typeface="Consolas" panose="020B0609020204030204" pitchFamily="49" charset="0"/>
              </a:rPr>
              <a:t>X</a:t>
            </a:r>
            <a:r>
              <a:rPr lang="pl-PL" sz="1749" b="1" dirty="0">
                <a:solidFill>
                  <a:prstClr val="white">
                    <a:lumMod val="50000"/>
                  </a:prstClr>
                </a:solidFill>
                <a:latin typeface="Felix Titling" panose="04060505060202020A04" pitchFamily="82" charset="0"/>
                <a:cs typeface="Consolas" panose="020B0609020204030204" pitchFamily="49" charset="0"/>
              </a:rPr>
              <a:t>-</a:t>
            </a:r>
            <a:r>
              <a:rPr lang="pl-PL" sz="1749" dirty="0">
                <a:solidFill>
                  <a:prstClr val="white">
                    <a:lumMod val="50000"/>
                  </a:prstClr>
                </a:solidFill>
                <a:latin typeface="Arial Narrow" panose="020B0606020202030204" pitchFamily="34" charset="0"/>
                <a:cs typeface="Consolas" panose="020B0609020204030204" pitchFamily="49" charset="0"/>
              </a:rPr>
              <a:t>&gt;c=A   Y</a:t>
            </a:r>
            <a:r>
              <a:rPr lang="pl-PL" sz="1749" b="1" dirty="0">
                <a:solidFill>
                  <a:prstClr val="white">
                    <a:lumMod val="50000"/>
                  </a:prstClr>
                </a:solidFill>
                <a:latin typeface="Felix Titling" panose="04060505060202020A04" pitchFamily="82" charset="0"/>
                <a:cs typeface="Consolas" panose="020B0609020204030204" pitchFamily="49" charset="0"/>
              </a:rPr>
              <a:t>-</a:t>
            </a:r>
            <a:r>
              <a:rPr lang="pl-PL" sz="1749" dirty="0">
                <a:solidFill>
                  <a:prstClr val="white">
                    <a:lumMod val="50000"/>
                  </a:prstClr>
                </a:solidFill>
                <a:latin typeface="Arial Narrow" panose="020B0606020202030204" pitchFamily="34" charset="0"/>
                <a:cs typeface="Consolas" panose="020B0609020204030204" pitchFamily="49" charset="0"/>
              </a:rPr>
              <a:t>&gt;f=6.000000   Z</a:t>
            </a:r>
            <a:r>
              <a:rPr lang="pl-PL" sz="1749" b="1" dirty="0">
                <a:solidFill>
                  <a:prstClr val="white">
                    <a:lumMod val="50000"/>
                  </a:prstClr>
                </a:solidFill>
                <a:latin typeface="Felix Titling" panose="04060505060202020A04" pitchFamily="82" charset="0"/>
                <a:cs typeface="Consolas" panose="020B0609020204030204" pitchFamily="49" charset="0"/>
              </a:rPr>
              <a:t>-</a:t>
            </a:r>
            <a:r>
              <a:rPr lang="pl-PL" sz="1749" dirty="0">
                <a:solidFill>
                  <a:prstClr val="white">
                    <a:lumMod val="50000"/>
                  </a:prstClr>
                </a:solidFill>
                <a:latin typeface="Arial Narrow" panose="020B0606020202030204" pitchFamily="34" charset="0"/>
                <a:cs typeface="Consolas" panose="020B0609020204030204" pitchFamily="49" charset="0"/>
              </a:rPr>
              <a:t>&gt;</a:t>
            </a:r>
            <a:r>
              <a:rPr lang="pl-PL" sz="1749" dirty="0" smtClean="0">
                <a:solidFill>
                  <a:prstClr val="white">
                    <a:lumMod val="50000"/>
                  </a:prstClr>
                </a:solidFill>
                <a:latin typeface="Arial Narrow" panose="020B0606020202030204" pitchFamily="34" charset="0"/>
                <a:cs typeface="Consolas" panose="020B0609020204030204" pitchFamily="49" charset="0"/>
              </a:rPr>
              <a:t>i=6</a:t>
            </a:r>
            <a:endParaRPr lang="pl-PL" sz="1749" dirty="0">
              <a:solidFill>
                <a:prstClr val="white">
                  <a:lumMod val="50000"/>
                </a:prstClr>
              </a:solidFill>
              <a:latin typeface="Arial Narrow" panose="020B0606020202030204" pitchFamily="34" charset="0"/>
              <a:cs typeface="Consolas" panose="020B0609020204030204" pitchFamily="49" charset="0"/>
            </a:endParaRPr>
          </a:p>
          <a:p>
            <a:r>
              <a:rPr lang="pl-PL" sz="1749" dirty="0">
                <a:solidFill>
                  <a:srgbClr val="ECECEC"/>
                </a:solidFill>
                <a:latin typeface="Arial Narrow" panose="020B0606020202030204" pitchFamily="34" charset="0"/>
                <a:cs typeface="Consolas" panose="020B0609020204030204" pitchFamily="49" charset="0"/>
              </a:rPr>
              <a:t>X</a:t>
            </a:r>
            <a:r>
              <a:rPr lang="pl-PL" sz="1749" b="1" dirty="0">
                <a:solidFill>
                  <a:srgbClr val="ECECEC"/>
                </a:solidFill>
                <a:latin typeface="Felix Titling" panose="04060505060202020A04" pitchFamily="82" charset="0"/>
                <a:cs typeface="Consolas" panose="020B0609020204030204" pitchFamily="49" charset="0"/>
              </a:rPr>
              <a:t>-</a:t>
            </a:r>
            <a:r>
              <a:rPr lang="pl-PL" sz="1749" dirty="0">
                <a:solidFill>
                  <a:srgbClr val="ECECEC"/>
                </a:solidFill>
                <a:latin typeface="Arial Narrow" panose="020B0606020202030204" pitchFamily="34" charset="0"/>
                <a:cs typeface="Consolas" panose="020B0609020204030204" pitchFamily="49" charset="0"/>
              </a:rPr>
              <a:t>&gt;c=A   Y</a:t>
            </a:r>
            <a:r>
              <a:rPr lang="pl-PL" sz="1749" b="1" dirty="0">
                <a:solidFill>
                  <a:srgbClr val="ECECEC"/>
                </a:solidFill>
                <a:latin typeface="Felix Titling" panose="04060505060202020A04" pitchFamily="82" charset="0"/>
                <a:cs typeface="Consolas" panose="020B0609020204030204" pitchFamily="49" charset="0"/>
              </a:rPr>
              <a:t>-</a:t>
            </a:r>
            <a:r>
              <a:rPr lang="pl-PL" sz="1749" dirty="0">
                <a:solidFill>
                  <a:srgbClr val="ECECEC"/>
                </a:solidFill>
                <a:latin typeface="Arial Narrow" panose="020B0606020202030204" pitchFamily="34" charset="0"/>
                <a:cs typeface="Consolas" panose="020B0609020204030204" pitchFamily="49" charset="0"/>
              </a:rPr>
              <a:t>&gt;f=6.000000   Z</a:t>
            </a:r>
            <a:r>
              <a:rPr lang="pl-PL" sz="1749" b="1" dirty="0">
                <a:solidFill>
                  <a:srgbClr val="ECECEC"/>
                </a:solidFill>
                <a:latin typeface="Felix Titling" panose="04060505060202020A04" pitchFamily="82" charset="0"/>
                <a:cs typeface="Consolas" panose="020B0609020204030204" pitchFamily="49" charset="0"/>
              </a:rPr>
              <a:t>-</a:t>
            </a:r>
            <a:r>
              <a:rPr lang="pl-PL" sz="1749" dirty="0">
                <a:solidFill>
                  <a:srgbClr val="ECECEC"/>
                </a:solidFill>
                <a:latin typeface="Arial Narrow" panose="020B0606020202030204" pitchFamily="34" charset="0"/>
                <a:cs typeface="Consolas" panose="020B0609020204030204" pitchFamily="49" charset="0"/>
              </a:rPr>
              <a:t>&gt;i=1086324736</a:t>
            </a:r>
            <a:endParaRPr lang="en-US" sz="1749" dirty="0">
              <a:solidFill>
                <a:srgbClr val="ECECEC"/>
              </a:solidFill>
              <a:latin typeface="Arial Narrow" panose="020B0606020202030204" pitchFamily="34" charset="0"/>
              <a:cs typeface="Consolas" panose="020B0609020204030204" pitchFamily="49" charset="0"/>
            </a:endParaRPr>
          </a:p>
          <a:p>
            <a:r>
              <a:rPr lang="en-US" sz="1749" dirty="0">
                <a:solidFill>
                  <a:prstClr val="black"/>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106" name="Rectangle 105"/>
          <p:cNvSpPr/>
          <p:nvPr/>
        </p:nvSpPr>
        <p:spPr>
          <a:xfrm>
            <a:off x="5909746" y="6020095"/>
            <a:ext cx="3623830" cy="2350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2" name="Group 1"/>
          <p:cNvGrpSpPr/>
          <p:nvPr/>
        </p:nvGrpSpPr>
        <p:grpSpPr>
          <a:xfrm>
            <a:off x="2129499" y="3669862"/>
            <a:ext cx="2445465" cy="1225961"/>
            <a:chOff x="2129499" y="3669862"/>
            <a:chExt cx="2445465" cy="1225961"/>
          </a:xfrm>
        </p:grpSpPr>
        <p:grpSp>
          <p:nvGrpSpPr>
            <p:cNvPr id="61" name="Group 60"/>
            <p:cNvGrpSpPr/>
            <p:nvPr/>
          </p:nvGrpSpPr>
          <p:grpSpPr>
            <a:xfrm>
              <a:off x="2129499" y="3669862"/>
              <a:ext cx="2445465" cy="252739"/>
              <a:chOff x="2655475" y="3731950"/>
              <a:chExt cx="3075855" cy="317890"/>
            </a:xfrm>
          </p:grpSpPr>
          <p:sp>
            <p:nvSpPr>
              <p:cNvPr id="62" name="Rectangle 61"/>
              <p:cNvSpPr/>
              <p:nvPr/>
            </p:nvSpPr>
            <p:spPr>
              <a:xfrm>
                <a:off x="2655475" y="3739596"/>
                <a:ext cx="602769" cy="31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X</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75" name="Rectangle 74"/>
              <p:cNvSpPr/>
              <p:nvPr/>
            </p:nvSpPr>
            <p:spPr>
              <a:xfrm>
                <a:off x="3559628" y="3736113"/>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6" name="Rectangle 85"/>
              <p:cNvSpPr/>
              <p:nvPr/>
            </p:nvSpPr>
            <p:spPr>
              <a:xfrm>
                <a:off x="3869871" y="3736113"/>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7" name="Rectangle 86"/>
              <p:cNvSpPr/>
              <p:nvPr/>
            </p:nvSpPr>
            <p:spPr>
              <a:xfrm>
                <a:off x="4180114" y="3734032"/>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8" name="Rectangle 87"/>
              <p:cNvSpPr/>
              <p:nvPr/>
            </p:nvSpPr>
            <p:spPr>
              <a:xfrm>
                <a:off x="4490357" y="3731951"/>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9" name="Rectangle 88"/>
              <p:cNvSpPr/>
              <p:nvPr/>
            </p:nvSpPr>
            <p:spPr>
              <a:xfrm>
                <a:off x="4800600" y="3731950"/>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0" name="Rectangle 89"/>
              <p:cNvSpPr/>
              <p:nvPr/>
            </p:nvSpPr>
            <p:spPr>
              <a:xfrm>
                <a:off x="5110843" y="3731950"/>
                <a:ext cx="310243" cy="310243"/>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1" name="Rectangle 90"/>
              <p:cNvSpPr/>
              <p:nvPr/>
            </p:nvSpPr>
            <p:spPr>
              <a:xfrm>
                <a:off x="5421086" y="3739597"/>
                <a:ext cx="310243" cy="310243"/>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2" name="Rectangle 91"/>
              <p:cNvSpPr/>
              <p:nvPr/>
            </p:nvSpPr>
            <p:spPr>
              <a:xfrm>
                <a:off x="3249385" y="3736114"/>
                <a:ext cx="310243" cy="31024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A</a:t>
                </a:r>
              </a:p>
            </p:txBody>
          </p:sp>
          <p:sp>
            <p:nvSpPr>
              <p:cNvPr id="93" name="Rectangle 92"/>
              <p:cNvSpPr/>
              <p:nvPr/>
            </p:nvSpPr>
            <p:spPr>
              <a:xfrm>
                <a:off x="3249386" y="3734627"/>
                <a:ext cx="2481944" cy="310243"/>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107" name="Rectangle 106"/>
            <p:cNvSpPr/>
            <p:nvPr/>
          </p:nvSpPr>
          <p:spPr>
            <a:xfrm>
              <a:off x="2608732" y="4166576"/>
              <a:ext cx="1959188"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spc="183" dirty="0">
                  <a:solidFill>
                    <a:prstClr val="white">
                      <a:lumMod val="50000"/>
                    </a:prstClr>
                  </a:solidFill>
                </a:rPr>
                <a:t>6.000000000000</a:t>
              </a:r>
            </a:p>
          </p:txBody>
        </p:sp>
        <p:sp>
          <p:nvSpPr>
            <p:cNvPr id="108" name="Rectangle 107"/>
            <p:cNvSpPr/>
            <p:nvPr/>
          </p:nvSpPr>
          <p:spPr>
            <a:xfrm>
              <a:off x="2129499" y="4169346"/>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prstClr val="black"/>
                  </a:solidFill>
                </a:rPr>
                <a:t>Y</a:t>
              </a:r>
              <a:r>
                <a:rPr lang="en-US" sz="1431" dirty="0">
                  <a:solidFill>
                    <a:prstClr val="black"/>
                  </a:solidFill>
                  <a:latin typeface="Times New Roman" panose="02020603050405020304" pitchFamily="18" charset="0"/>
                  <a:cs typeface="Times New Roman" panose="02020603050405020304" pitchFamily="18" charset="0"/>
                </a:rPr>
                <a:t>→</a:t>
              </a:r>
              <a:endParaRPr lang="en-US" sz="1431" dirty="0">
                <a:solidFill>
                  <a:prstClr val="black"/>
                </a:solidFill>
              </a:endParaRPr>
            </a:p>
          </p:txBody>
        </p:sp>
        <p:sp>
          <p:nvSpPr>
            <p:cNvPr id="109" name="Rectangle 108"/>
            <p:cNvSpPr/>
            <p:nvPr/>
          </p:nvSpPr>
          <p:spPr>
            <a:xfrm>
              <a:off x="3095007" y="4166576"/>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0" name="Rectangle 109"/>
            <p:cNvSpPr/>
            <p:nvPr/>
          </p:nvSpPr>
          <p:spPr>
            <a:xfrm>
              <a:off x="3341666" y="4164922"/>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1" name="Rectangle 110"/>
            <p:cNvSpPr/>
            <p:nvPr/>
          </p:nvSpPr>
          <p:spPr>
            <a:xfrm>
              <a:off x="3834985" y="4163267"/>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2" name="Rectangle 111"/>
            <p:cNvSpPr/>
            <p:nvPr/>
          </p:nvSpPr>
          <p:spPr>
            <a:xfrm>
              <a:off x="4081645" y="4167218"/>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3" name="Rectangle 112"/>
            <p:cNvSpPr/>
            <p:nvPr/>
          </p:nvSpPr>
          <p:spPr>
            <a:xfrm>
              <a:off x="4328304" y="4169346"/>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4" name="Rectangle 113"/>
            <p:cNvSpPr/>
            <p:nvPr/>
          </p:nvSpPr>
          <p:spPr>
            <a:xfrm>
              <a:off x="2601688" y="4166577"/>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115" name="Rectangle 114"/>
            <p:cNvSpPr/>
            <p:nvPr/>
          </p:nvSpPr>
          <p:spPr>
            <a:xfrm>
              <a:off x="2608732" y="4166576"/>
              <a:ext cx="986637"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0" b="1" dirty="0">
                  <a:solidFill>
                    <a:prstClr val="black"/>
                  </a:solidFill>
                </a:rPr>
                <a:t>6.00000</a:t>
              </a:r>
            </a:p>
          </p:txBody>
        </p:sp>
        <p:sp>
          <p:nvSpPr>
            <p:cNvPr id="116" name="Rectangle 115"/>
            <p:cNvSpPr/>
            <p:nvPr/>
          </p:nvSpPr>
          <p:spPr>
            <a:xfrm>
              <a:off x="3588326" y="4167219"/>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17" name="Rectangle 116"/>
            <p:cNvSpPr/>
            <p:nvPr/>
          </p:nvSpPr>
          <p:spPr>
            <a:xfrm>
              <a:off x="2601689" y="4165395"/>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6" name="Rectangle 75"/>
            <p:cNvSpPr/>
            <p:nvPr/>
          </p:nvSpPr>
          <p:spPr>
            <a:xfrm>
              <a:off x="2129499" y="4649163"/>
              <a:ext cx="479233" cy="246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31" dirty="0">
                  <a:solidFill>
                    <a:srgbClr val="000000"/>
                  </a:solidFill>
                </a:rPr>
                <a:t>Z</a:t>
              </a:r>
              <a:r>
                <a:rPr lang="en-US" sz="1431" dirty="0">
                  <a:solidFill>
                    <a:srgbClr val="000000"/>
                  </a:solidFill>
                  <a:latin typeface="Times New Roman" panose="02020603050405020304" pitchFamily="18" charset="0"/>
                  <a:cs typeface="Times New Roman" panose="02020603050405020304" pitchFamily="18" charset="0"/>
                </a:rPr>
                <a:t>→</a:t>
              </a:r>
              <a:endParaRPr lang="en-US" sz="1431" dirty="0">
                <a:solidFill>
                  <a:srgbClr val="000000"/>
                </a:solidFill>
              </a:endParaRPr>
            </a:p>
          </p:txBody>
        </p:sp>
        <p:sp>
          <p:nvSpPr>
            <p:cNvPr id="77" name="Rectangle 76"/>
            <p:cNvSpPr/>
            <p:nvPr/>
          </p:nvSpPr>
          <p:spPr>
            <a:xfrm>
              <a:off x="3095007" y="4646394"/>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4" name="Rectangle 93"/>
            <p:cNvSpPr/>
            <p:nvPr/>
          </p:nvSpPr>
          <p:spPr>
            <a:xfrm>
              <a:off x="3341666" y="4644739"/>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5" name="Rectangle 94"/>
            <p:cNvSpPr/>
            <p:nvPr/>
          </p:nvSpPr>
          <p:spPr>
            <a:xfrm>
              <a:off x="3834985" y="464308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6" name="Rectangle 95"/>
            <p:cNvSpPr/>
            <p:nvPr/>
          </p:nvSpPr>
          <p:spPr>
            <a:xfrm>
              <a:off x="4081645" y="4644347"/>
              <a:ext cx="246659" cy="246659"/>
            </a:xfrm>
            <a:prstGeom prst="rect">
              <a:avLst/>
            </a:prstGeom>
            <a:solidFill>
              <a:srgbClr val="000000">
                <a:alpha val="20000"/>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7" name="Rectangle 96"/>
            <p:cNvSpPr/>
            <p:nvPr/>
          </p:nvSpPr>
          <p:spPr>
            <a:xfrm>
              <a:off x="4328304" y="4649164"/>
              <a:ext cx="246659" cy="246659"/>
            </a:xfrm>
            <a:prstGeom prst="rect">
              <a:avLst/>
            </a:prstGeom>
            <a:solidFill>
              <a:srgbClr val="000000">
                <a:alpha val="2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8" name="Rectangle 97"/>
            <p:cNvSpPr/>
            <p:nvPr/>
          </p:nvSpPr>
          <p:spPr>
            <a:xfrm>
              <a:off x="2601688" y="4646395"/>
              <a:ext cx="246659" cy="24665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b="1" dirty="0">
                <a:solidFill>
                  <a:prstClr val="black"/>
                </a:solidFill>
              </a:endParaRPr>
            </a:p>
          </p:txBody>
        </p:sp>
        <p:sp>
          <p:nvSpPr>
            <p:cNvPr id="102" name="Rectangle 101"/>
            <p:cNvSpPr/>
            <p:nvPr/>
          </p:nvSpPr>
          <p:spPr>
            <a:xfrm>
              <a:off x="3341666" y="4644740"/>
              <a:ext cx="246659" cy="246659"/>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1" name="Rectangle 100"/>
            <p:cNvSpPr/>
            <p:nvPr/>
          </p:nvSpPr>
          <p:spPr>
            <a:xfrm>
              <a:off x="2608731" y="4646394"/>
              <a:ext cx="986637" cy="246659"/>
            </a:xfrm>
            <a:prstGeom prst="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590" b="1" spc="-80" dirty="0">
                  <a:solidFill>
                    <a:schemeClr val="tx1"/>
                  </a:solidFill>
                </a:rPr>
                <a:t>1086324736</a:t>
              </a:r>
            </a:p>
          </p:txBody>
        </p:sp>
        <p:sp>
          <p:nvSpPr>
            <p:cNvPr id="100" name="Rectangle 99"/>
            <p:cNvSpPr/>
            <p:nvPr/>
          </p:nvSpPr>
          <p:spPr>
            <a:xfrm>
              <a:off x="3588326" y="4644347"/>
              <a:ext cx="246659" cy="246659"/>
            </a:xfrm>
            <a:prstGeom prst="rect">
              <a:avLst/>
            </a:prstGeom>
            <a:solidFill>
              <a:srgbClr val="CCCCCC"/>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3" name="Rectangle 102"/>
            <p:cNvSpPr/>
            <p:nvPr/>
          </p:nvSpPr>
          <p:spPr>
            <a:xfrm>
              <a:off x="2601689" y="4644114"/>
              <a:ext cx="1973275" cy="246659"/>
            </a:xfrm>
            <a:prstGeom prst="rect">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Tree>
    <p:extLst>
      <p:ext uri="{BB962C8B-B14F-4D97-AF65-F5344CB8AC3E}">
        <p14:creationId xmlns:p14="http://schemas.microsoft.com/office/powerpoint/2010/main" val="1743536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06"/>
                                        </p:tgtEl>
                                      </p:cBhvr>
                                    </p:animEffect>
                                    <p:set>
                                      <p:cBhvr>
                                        <p:cTn id="7" dur="1" fill="hold">
                                          <p:stCondLst>
                                            <p:cond delay="499"/>
                                          </p:stCondLst>
                                        </p:cTn>
                                        <p:tgtEl>
                                          <p:spTgt spid="10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exit" presetSubtype="0" fill="hold" nodeType="clickEffect">
                                  <p:stCondLst>
                                    <p:cond delay="0"/>
                                  </p:stCondLst>
                                  <p:childTnLst>
                                    <p:animEffect transition="out" filter="fade">
                                      <p:cBhvr>
                                        <p:cTn id="11" dur="1000"/>
                                        <p:tgtEl>
                                          <p:spTgt spid="2"/>
                                        </p:tgtEl>
                                      </p:cBhvr>
                                    </p:animEffect>
                                    <p:anim calcmode="lin" valueType="num">
                                      <p:cBhvr>
                                        <p:cTn id="12" dur="1000"/>
                                        <p:tgtEl>
                                          <p:spTgt spid="2"/>
                                        </p:tgtEl>
                                        <p:attrNameLst>
                                          <p:attrName>ppt_x</p:attrName>
                                        </p:attrNameLst>
                                      </p:cBhvr>
                                      <p:tavLst>
                                        <p:tav tm="0">
                                          <p:val>
                                            <p:strVal val="ppt_x"/>
                                          </p:val>
                                        </p:tav>
                                        <p:tav tm="100000">
                                          <p:val>
                                            <p:strVal val="ppt_x"/>
                                          </p:val>
                                        </p:tav>
                                      </p:tavLst>
                                    </p:anim>
                                    <p:anim calcmode="lin" valueType="num">
                                      <p:cBhvr>
                                        <p:cTn id="13" dur="1000"/>
                                        <p:tgtEl>
                                          <p:spTgt spid="2"/>
                                        </p:tgtEl>
                                        <p:attrNameLst>
                                          <p:attrName>ppt_y</p:attrName>
                                        </p:attrNameLst>
                                      </p:cBhvr>
                                      <p:tavLst>
                                        <p:tav tm="0">
                                          <p:val>
                                            <p:strVal val="ppt_y"/>
                                          </p:val>
                                        </p:tav>
                                        <p:tav tm="100000">
                                          <p:val>
                                            <p:strVal val="ppt_y+.1"/>
                                          </p:val>
                                        </p:tav>
                                      </p:tavLst>
                                    </p:anim>
                                    <p:set>
                                      <p:cBhvr>
                                        <p:cTn id="14"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6171176" y="204386"/>
            <a:ext cx="3343773" cy="2767414"/>
            <a:chOff x="6171176" y="204386"/>
            <a:chExt cx="3343773" cy="2767414"/>
          </a:xfrm>
        </p:grpSpPr>
        <p:sp>
          <p:nvSpPr>
            <p:cNvPr id="54" name="Rectangle 53"/>
            <p:cNvSpPr/>
            <p:nvPr/>
          </p:nvSpPr>
          <p:spPr>
            <a:xfrm>
              <a:off x="7816580" y="204386"/>
              <a:ext cx="1672090" cy="23263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55" name="Group 54"/>
            <p:cNvGrpSpPr/>
            <p:nvPr/>
          </p:nvGrpSpPr>
          <p:grpSpPr>
            <a:xfrm>
              <a:off x="7816580" y="204386"/>
              <a:ext cx="1672090" cy="2326386"/>
              <a:chOff x="6400800" y="182880"/>
              <a:chExt cx="2103120" cy="2926080"/>
            </a:xfrm>
          </p:grpSpPr>
          <p:sp>
            <p:nvSpPr>
              <p:cNvPr id="82" name="Rectangle 81"/>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3" name="Rectangle 82"/>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4" name="Rectangle 83"/>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85" name="Rectangle 84"/>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8" name="Rectangle 97"/>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99" name="Rectangle 98"/>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0" name="Rectangle 99"/>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01" name="Rectangle 100"/>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56" name="Left Brace 55"/>
            <p:cNvSpPr/>
            <p:nvPr/>
          </p:nvSpPr>
          <p:spPr>
            <a:xfrm>
              <a:off x="7608169" y="214625"/>
              <a:ext cx="143351" cy="253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grpSp>
          <p:nvGrpSpPr>
            <p:cNvPr id="58" name="Group 57"/>
            <p:cNvGrpSpPr/>
            <p:nvPr/>
          </p:nvGrpSpPr>
          <p:grpSpPr>
            <a:xfrm>
              <a:off x="6523652" y="212918"/>
              <a:ext cx="1185107" cy="2318933"/>
              <a:chOff x="8138160" y="143465"/>
              <a:chExt cx="1490603" cy="2916706"/>
            </a:xfrm>
          </p:grpSpPr>
          <p:sp>
            <p:nvSpPr>
              <p:cNvPr id="76" name="Left Brace 75"/>
              <p:cNvSpPr/>
              <p:nvPr/>
            </p:nvSpPr>
            <p:spPr>
              <a:xfrm>
                <a:off x="8138160" y="143465"/>
                <a:ext cx="180304" cy="29153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77" name="Left Brace 76"/>
              <p:cNvSpPr/>
              <p:nvPr/>
            </p:nvSpPr>
            <p:spPr>
              <a:xfrm>
                <a:off x="8823960" y="143465"/>
                <a:ext cx="180304" cy="14523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cxnSp>
            <p:nvCxnSpPr>
              <p:cNvPr id="78" name="Straight Connector 77"/>
              <p:cNvCxnSpPr/>
              <p:nvPr/>
            </p:nvCxnSpPr>
            <p:spPr>
              <a:xfrm>
                <a:off x="8318464" y="3060171"/>
                <a:ext cx="13102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9005275" y="1597687"/>
                <a:ext cx="6234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9004786" y="143465"/>
                <a:ext cx="5044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8318464" y="143465"/>
                <a:ext cx="504485"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9" name="Rectangle 58"/>
            <p:cNvSpPr/>
            <p:nvPr/>
          </p:nvSpPr>
          <p:spPr>
            <a:xfrm rot="16200000">
              <a:off x="6423828" y="644849"/>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err="1">
                  <a:solidFill>
                    <a:prstClr val="black"/>
                  </a:solidFill>
                </a:rPr>
                <a:t>i</a:t>
              </a:r>
              <a:r>
                <a:rPr lang="en-US" sz="2226" dirty="0">
                  <a:solidFill>
                    <a:prstClr val="black"/>
                  </a:solidFill>
                </a:rPr>
                <a:t>, l, u, f</a:t>
              </a:r>
            </a:p>
          </p:txBody>
        </p:sp>
        <p:sp>
          <p:nvSpPr>
            <p:cNvPr id="60" name="Rectangle 59"/>
            <p:cNvSpPr/>
            <p:nvPr/>
          </p:nvSpPr>
          <p:spPr>
            <a:xfrm rot="16200000">
              <a:off x="5837725" y="1264832"/>
              <a:ext cx="957700" cy="290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 s, d</a:t>
              </a:r>
            </a:p>
          </p:txBody>
        </p:sp>
        <p:sp>
          <p:nvSpPr>
            <p:cNvPr id="63" name="Rectangle 62"/>
            <p:cNvSpPr/>
            <p:nvPr/>
          </p:nvSpPr>
          <p:spPr>
            <a:xfrm rot="16200000">
              <a:off x="7314959" y="212857"/>
              <a:ext cx="255646" cy="2907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prstClr val="black"/>
                  </a:solidFill>
                </a:rPr>
                <a:t>c</a:t>
              </a:r>
            </a:p>
          </p:txBody>
        </p:sp>
        <p:grpSp>
          <p:nvGrpSpPr>
            <p:cNvPr id="64" name="Group 63"/>
            <p:cNvGrpSpPr/>
            <p:nvPr/>
          </p:nvGrpSpPr>
          <p:grpSpPr>
            <a:xfrm>
              <a:off x="7777798" y="204386"/>
              <a:ext cx="1737151" cy="2767414"/>
              <a:chOff x="9759788" y="132735"/>
              <a:chExt cx="2184953" cy="3480796"/>
            </a:xfrm>
          </p:grpSpPr>
          <p:sp>
            <p:nvSpPr>
              <p:cNvPr id="65" name="Rectangle 64"/>
              <p:cNvSpPr/>
              <p:nvPr/>
            </p:nvSpPr>
            <p:spPr>
              <a:xfrm>
                <a:off x="9808570" y="132735"/>
                <a:ext cx="2103120" cy="2926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nvGrpSpPr>
              <p:cNvPr id="66" name="Group 65"/>
              <p:cNvGrpSpPr/>
              <p:nvPr/>
            </p:nvGrpSpPr>
            <p:grpSpPr>
              <a:xfrm>
                <a:off x="9808570" y="132735"/>
                <a:ext cx="2103120" cy="2926080"/>
                <a:chOff x="6400800" y="182880"/>
                <a:chExt cx="2103120" cy="2926080"/>
              </a:xfrm>
            </p:grpSpPr>
            <p:sp>
              <p:nvSpPr>
                <p:cNvPr id="68" name="Rectangle 67"/>
                <p:cNvSpPr/>
                <p:nvPr/>
              </p:nvSpPr>
              <p:spPr>
                <a:xfrm>
                  <a:off x="6400800" y="1828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69" name="Rectangle 68"/>
                <p:cNvSpPr/>
                <p:nvPr/>
              </p:nvSpPr>
              <p:spPr>
                <a:xfrm>
                  <a:off x="6400800" y="5486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0" name="Rectangle 69"/>
                <p:cNvSpPr/>
                <p:nvPr/>
              </p:nvSpPr>
              <p:spPr>
                <a:xfrm>
                  <a:off x="6400800" y="9144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1" name="Rectangle 70"/>
                <p:cNvSpPr/>
                <p:nvPr/>
              </p:nvSpPr>
              <p:spPr>
                <a:xfrm>
                  <a:off x="6400800" y="128016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2" name="Rectangle 71"/>
                <p:cNvSpPr/>
                <p:nvPr/>
              </p:nvSpPr>
              <p:spPr>
                <a:xfrm>
                  <a:off x="6400800" y="164592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3" name="Rectangle 72"/>
                <p:cNvSpPr/>
                <p:nvPr/>
              </p:nvSpPr>
              <p:spPr>
                <a:xfrm>
                  <a:off x="6400800" y="201168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4" name="Rectangle 73"/>
                <p:cNvSpPr/>
                <p:nvPr/>
              </p:nvSpPr>
              <p:spPr>
                <a:xfrm>
                  <a:off x="6400800" y="237744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75" name="Rectangle 74"/>
                <p:cNvSpPr/>
                <p:nvPr/>
              </p:nvSpPr>
              <p:spPr>
                <a:xfrm>
                  <a:off x="6400800" y="2743200"/>
                  <a:ext cx="2103120" cy="36576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grpSp>
          <p:sp>
            <p:nvSpPr>
              <p:cNvPr id="67" name="Rectangle 66"/>
              <p:cNvSpPr/>
              <p:nvPr/>
            </p:nvSpPr>
            <p:spPr>
              <a:xfrm>
                <a:off x="9759788" y="3150822"/>
                <a:ext cx="2184953" cy="462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75000"/>
                  </a:lnSpc>
                </a:pPr>
                <a:r>
                  <a:rPr lang="en-US" sz="1431" i="1" dirty="0">
                    <a:solidFill>
                      <a:prstClr val="black"/>
                    </a:solidFill>
                    <a:latin typeface="Arial Narrow" panose="020B0606020202030204" pitchFamily="34" charset="0"/>
                  </a:rPr>
                  <a:t>a byte representation of the “generic” data type</a:t>
                </a:r>
              </a:p>
            </p:txBody>
          </p:sp>
        </p:grpSp>
      </p:grpSp>
      <p:sp>
        <p:nvSpPr>
          <p:cNvPr id="47" name="Rectangle 46"/>
          <p:cNvSpPr/>
          <p:nvPr/>
        </p:nvSpPr>
        <p:spPr>
          <a:xfrm>
            <a:off x="0" y="0"/>
            <a:ext cx="9729788" cy="6858000"/>
          </a:xfrm>
          <a:prstGeom prst="rect">
            <a:avLst/>
          </a:prstGeom>
          <a:solidFill>
            <a:srgbClr val="7FB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a:t>
            </a:r>
          </a:p>
        </p:txBody>
      </p:sp>
      <p:sp>
        <p:nvSpPr>
          <p:cNvPr id="38" name="Rectangle 37"/>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gcc</a:t>
            </a:r>
            <a:r>
              <a:rPr lang="en-US" sz="1749" dirty="0">
                <a:solidFill>
                  <a:prstClr val="white">
                    <a:lumMod val="50000"/>
                  </a:prstClr>
                </a:solidFill>
                <a:latin typeface="Arial Narrow" panose="020B0606020202030204" pitchFamily="34" charset="0"/>
                <a:cs typeface="Consolas" panose="020B0609020204030204" pitchFamily="49" charset="0"/>
              </a:rPr>
              <a:t> -o </a:t>
            </a:r>
            <a:r>
              <a:rPr lang="en-US" sz="1749" dirty="0" err="1">
                <a:solidFill>
                  <a:prstClr val="white">
                    <a:lumMod val="50000"/>
                  </a:prstClr>
                </a:solidFill>
                <a:latin typeface="Arial Narrow" panose="020B0606020202030204" pitchFamily="34" charset="0"/>
                <a:cs typeface="Consolas" panose="020B0609020204030204" pitchFamily="49" charset="0"/>
              </a:rPr>
              <a:t>union.x</a:t>
            </a:r>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union.c</a:t>
            </a:r>
            <a:endParaRPr lang="en-US" sz="1749" dirty="0">
              <a:solidFill>
                <a:prstClr val="white">
                  <a:lumMod val="50000"/>
                </a:prstClr>
              </a:solidFill>
              <a:latin typeface="Arial Narrow" panose="020B0606020202030204" pitchFamily="34" charset="0"/>
              <a:cs typeface="Consolas" panose="020B0609020204030204" pitchFamily="49" charset="0"/>
            </a:endParaRPr>
          </a:p>
          <a:p>
            <a:r>
              <a:rPr lang="en-US" sz="1749"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union.x</a:t>
            </a:r>
            <a:endParaRPr lang="en-US" sz="1749" dirty="0">
              <a:solidFill>
                <a:prstClr val="white">
                  <a:lumMod val="50000"/>
                </a:prstClr>
              </a:solidFill>
              <a:latin typeface="Arial Narrow" panose="020B0606020202030204" pitchFamily="34" charset="0"/>
              <a:cs typeface="Consolas" panose="020B0609020204030204" pitchFamily="49" charset="0"/>
            </a:endParaRPr>
          </a:p>
          <a:p>
            <a:r>
              <a:rPr lang="en-US" sz="1749" dirty="0">
                <a:solidFill>
                  <a:prstClr val="white">
                    <a:lumMod val="50000"/>
                  </a:prstClr>
                </a:solidFill>
                <a:latin typeface="Arial Narrow" panose="020B0606020202030204" pitchFamily="34" charset="0"/>
                <a:cs typeface="Consolas" panose="020B0609020204030204" pitchFamily="49" charset="0"/>
              </a:rPr>
              <a:t>generic=8</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(c=1</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s=8</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err="1">
                <a:solidFill>
                  <a:prstClr val="white">
                    <a:lumMod val="50000"/>
                  </a:prstClr>
                </a:solidFill>
                <a:latin typeface="Arial Narrow" panose="020B0606020202030204" pitchFamily="34" charset="0"/>
                <a:cs typeface="Consolas" panose="020B0609020204030204" pitchFamily="49" charset="0"/>
              </a:rPr>
              <a:t>i</a:t>
            </a:r>
            <a:r>
              <a:rPr lang="en-US" sz="1749" dirty="0">
                <a:solidFill>
                  <a:prstClr val="white">
                    <a:lumMod val="50000"/>
                  </a:prstClr>
                </a:solidFill>
                <a:latin typeface="Arial Narrow" panose="020B0606020202030204" pitchFamily="34" charset="0"/>
                <a:cs typeface="Consolas" panose="020B0609020204030204" pitchFamily="49" charset="0"/>
              </a:rPr>
              <a:t>=4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l=4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u=4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f=4</a:t>
            </a:r>
            <a:r>
              <a:rPr lang="en-US" sz="1590" dirty="0">
                <a:solidFill>
                  <a:prstClr val="white">
                    <a:lumMod val="50000"/>
                  </a:prstClr>
                </a:solidFill>
                <a:latin typeface="Arial Narrow" panose="020B0606020202030204" pitchFamily="34" charset="0"/>
                <a:cs typeface="Consolas" panose="020B0609020204030204" pitchFamily="49" charset="0"/>
              </a:rPr>
              <a:t>  </a:t>
            </a:r>
            <a:r>
              <a:rPr lang="en-US" sz="1749" dirty="0">
                <a:solidFill>
                  <a:prstClr val="white">
                    <a:lumMod val="50000"/>
                  </a:prstClr>
                </a:solidFill>
                <a:latin typeface="Arial Narrow" panose="020B0606020202030204" pitchFamily="34" charset="0"/>
                <a:cs typeface="Consolas" panose="020B0609020204030204" pitchFamily="49" charset="0"/>
              </a:rPr>
              <a:t>d=8)</a:t>
            </a:r>
          </a:p>
          <a:p>
            <a:r>
              <a:rPr lang="pl-PL" sz="1749" dirty="0">
                <a:solidFill>
                  <a:prstClr val="white">
                    <a:lumMod val="50000"/>
                  </a:prstClr>
                </a:solidFill>
                <a:latin typeface="Arial Narrow" panose="020B0606020202030204" pitchFamily="34" charset="0"/>
                <a:cs typeface="Consolas" panose="020B0609020204030204" pitchFamily="49" charset="0"/>
              </a:rPr>
              <a:t>X</a:t>
            </a:r>
            <a:r>
              <a:rPr lang="pl-PL" sz="1749" b="1" dirty="0">
                <a:solidFill>
                  <a:prstClr val="white">
                    <a:lumMod val="50000"/>
                  </a:prstClr>
                </a:solidFill>
                <a:latin typeface="Felix Titling" panose="04060505060202020A04" pitchFamily="82" charset="0"/>
                <a:cs typeface="Consolas" panose="020B0609020204030204" pitchFamily="49" charset="0"/>
              </a:rPr>
              <a:t>-</a:t>
            </a:r>
            <a:r>
              <a:rPr lang="pl-PL" sz="1749" dirty="0">
                <a:solidFill>
                  <a:prstClr val="white">
                    <a:lumMod val="50000"/>
                  </a:prstClr>
                </a:solidFill>
                <a:latin typeface="Arial Narrow" panose="020B0606020202030204" pitchFamily="34" charset="0"/>
                <a:cs typeface="Consolas" panose="020B0609020204030204" pitchFamily="49" charset="0"/>
              </a:rPr>
              <a:t>&gt;c=A   Y</a:t>
            </a:r>
            <a:r>
              <a:rPr lang="pl-PL" sz="1749" b="1" dirty="0">
                <a:solidFill>
                  <a:prstClr val="white">
                    <a:lumMod val="50000"/>
                  </a:prstClr>
                </a:solidFill>
                <a:latin typeface="Felix Titling" panose="04060505060202020A04" pitchFamily="82" charset="0"/>
                <a:cs typeface="Consolas" panose="020B0609020204030204" pitchFamily="49" charset="0"/>
              </a:rPr>
              <a:t>-</a:t>
            </a:r>
            <a:r>
              <a:rPr lang="pl-PL" sz="1749" dirty="0">
                <a:solidFill>
                  <a:prstClr val="white">
                    <a:lumMod val="50000"/>
                  </a:prstClr>
                </a:solidFill>
                <a:latin typeface="Arial Narrow" panose="020B0606020202030204" pitchFamily="34" charset="0"/>
                <a:cs typeface="Consolas" panose="020B0609020204030204" pitchFamily="49" charset="0"/>
              </a:rPr>
              <a:t>&gt;f=6.000000   Z</a:t>
            </a:r>
            <a:r>
              <a:rPr lang="pl-PL" sz="1749" b="1" dirty="0">
                <a:solidFill>
                  <a:prstClr val="white">
                    <a:lumMod val="50000"/>
                  </a:prstClr>
                </a:solidFill>
                <a:latin typeface="Felix Titling" panose="04060505060202020A04" pitchFamily="82" charset="0"/>
                <a:cs typeface="Consolas" panose="020B0609020204030204" pitchFamily="49" charset="0"/>
              </a:rPr>
              <a:t>-</a:t>
            </a:r>
            <a:r>
              <a:rPr lang="pl-PL" sz="1749" dirty="0">
                <a:solidFill>
                  <a:prstClr val="white">
                    <a:lumMod val="50000"/>
                  </a:prstClr>
                </a:solidFill>
                <a:latin typeface="Arial Narrow" panose="020B0606020202030204" pitchFamily="34" charset="0"/>
                <a:cs typeface="Consolas" panose="020B0609020204030204" pitchFamily="49" charset="0"/>
              </a:rPr>
              <a:t>&gt;i=6</a:t>
            </a:r>
          </a:p>
          <a:p>
            <a:r>
              <a:rPr lang="pl-PL" sz="1749" dirty="0" smtClean="0">
                <a:solidFill>
                  <a:srgbClr val="7F7F7F"/>
                </a:solidFill>
                <a:latin typeface="Arial Narrow" panose="020B0606020202030204" pitchFamily="34" charset="0"/>
                <a:cs typeface="Consolas" panose="020B0609020204030204" pitchFamily="49" charset="0"/>
              </a:rPr>
              <a:t>X</a:t>
            </a:r>
            <a:r>
              <a:rPr lang="pl-PL" sz="1749" b="1" dirty="0" smtClean="0">
                <a:solidFill>
                  <a:srgbClr val="7F7F7F"/>
                </a:solidFill>
                <a:latin typeface="Felix Titling" panose="04060505060202020A04" pitchFamily="82" charset="0"/>
                <a:cs typeface="Consolas" panose="020B0609020204030204" pitchFamily="49" charset="0"/>
              </a:rPr>
              <a:t>-</a:t>
            </a:r>
            <a:r>
              <a:rPr lang="pl-PL" sz="1749" dirty="0">
                <a:solidFill>
                  <a:srgbClr val="7F7F7F"/>
                </a:solidFill>
                <a:latin typeface="Arial Narrow" panose="020B0606020202030204" pitchFamily="34" charset="0"/>
                <a:cs typeface="Consolas" panose="020B0609020204030204" pitchFamily="49" charset="0"/>
              </a:rPr>
              <a:t>&gt;c=A   Y</a:t>
            </a:r>
            <a:r>
              <a:rPr lang="pl-PL" sz="1749" b="1" dirty="0">
                <a:solidFill>
                  <a:srgbClr val="7F7F7F"/>
                </a:solidFill>
                <a:latin typeface="Felix Titling" panose="04060505060202020A04" pitchFamily="82" charset="0"/>
                <a:cs typeface="Consolas" panose="020B0609020204030204" pitchFamily="49" charset="0"/>
              </a:rPr>
              <a:t>-</a:t>
            </a:r>
            <a:r>
              <a:rPr lang="pl-PL" sz="1749" dirty="0">
                <a:solidFill>
                  <a:srgbClr val="7F7F7F"/>
                </a:solidFill>
                <a:latin typeface="Arial Narrow" panose="020B0606020202030204" pitchFamily="34" charset="0"/>
                <a:cs typeface="Consolas" panose="020B0609020204030204" pitchFamily="49" charset="0"/>
              </a:rPr>
              <a:t>&gt;f=6.000000   Z</a:t>
            </a:r>
            <a:r>
              <a:rPr lang="pl-PL" sz="1749" b="1" dirty="0">
                <a:solidFill>
                  <a:srgbClr val="7F7F7F"/>
                </a:solidFill>
                <a:latin typeface="Felix Titling" panose="04060505060202020A04" pitchFamily="82" charset="0"/>
                <a:cs typeface="Consolas" panose="020B0609020204030204" pitchFamily="49" charset="0"/>
              </a:rPr>
              <a:t>-</a:t>
            </a:r>
            <a:r>
              <a:rPr lang="pl-PL" sz="1749" dirty="0">
                <a:solidFill>
                  <a:srgbClr val="7F7F7F"/>
                </a:solidFill>
                <a:latin typeface="Arial Narrow" panose="020B0606020202030204" pitchFamily="34" charset="0"/>
                <a:cs typeface="Consolas" panose="020B0609020204030204" pitchFamily="49" charset="0"/>
              </a:rPr>
              <a:t>&gt;i=1086324736</a:t>
            </a:r>
            <a:endParaRPr lang="en-US" sz="1749" dirty="0">
              <a:solidFill>
                <a:srgbClr val="7F7F7F"/>
              </a:solidFill>
              <a:latin typeface="Arial Narrow" panose="020B0606020202030204" pitchFamily="34" charset="0"/>
              <a:cs typeface="Consolas" panose="020B0609020204030204" pitchFamily="49" charset="0"/>
            </a:endParaRPr>
          </a:p>
          <a:p>
            <a:r>
              <a:rPr lang="en-US" sz="1749" dirty="0">
                <a:solidFill>
                  <a:srgbClr val="7F7F7F"/>
                </a:solidFill>
                <a:latin typeface="Arial Narrow" panose="020B0606020202030204" pitchFamily="34" charset="0"/>
                <a:cs typeface="Consolas" panose="020B0609020204030204" pitchFamily="49" charset="0"/>
              </a:rPr>
              <a:t>%</a:t>
            </a:r>
          </a:p>
          <a:p>
            <a:endParaRPr lang="pl-PL" sz="1749" dirty="0">
              <a:solidFill>
                <a:prstClr val="white"/>
              </a:solidFill>
              <a:latin typeface="Arial Narrow" panose="020B0606020202030204" pitchFamily="34" charset="0"/>
              <a:cs typeface="Consolas" panose="020B0609020204030204" pitchFamily="49" charset="0"/>
            </a:endParaRPr>
          </a:p>
        </p:txBody>
      </p:sp>
      <p:sp>
        <p:nvSpPr>
          <p:cNvPr id="97" name="Rectangle 96"/>
          <p:cNvSpPr/>
          <p:nvPr/>
        </p:nvSpPr>
        <p:spPr>
          <a:xfrm>
            <a:off x="2956523" y="228600"/>
            <a:ext cx="3279971" cy="1095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unions work in C</a:t>
            </a:r>
          </a:p>
        </p:txBody>
      </p:sp>
      <p:grpSp>
        <p:nvGrpSpPr>
          <p:cNvPr id="9" name="Group 8"/>
          <p:cNvGrpSpPr/>
          <p:nvPr/>
        </p:nvGrpSpPr>
        <p:grpSpPr>
          <a:xfrm>
            <a:off x="2261595" y="0"/>
            <a:ext cx="7468194" cy="4198246"/>
            <a:chOff x="2832380" y="-1646"/>
            <a:chExt cx="9351102" cy="4376672"/>
          </a:xfrm>
        </p:grpSpPr>
        <p:sp>
          <p:nvSpPr>
            <p:cNvPr id="7" name="Rectangle 6"/>
            <p:cNvSpPr/>
            <p:nvPr/>
          </p:nvSpPr>
          <p:spPr>
            <a:xfrm>
              <a:off x="7443403" y="-1"/>
              <a:ext cx="4740079" cy="4375027"/>
            </a:xfrm>
            <a:prstGeom prst="rect">
              <a:avLst/>
            </a:prstGeom>
            <a:solidFill>
              <a:srgbClr val="FF99CC"/>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011052" y="-1646"/>
              <a:ext cx="4753250" cy="1416974"/>
            </a:xfrm>
            <a:prstGeom prst="rect">
              <a:avLst/>
            </a:prstGeom>
            <a:solidFill>
              <a:srgbClr val="FF99CC"/>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0" name="Rectangle 39"/>
            <p:cNvSpPr/>
            <p:nvPr/>
          </p:nvSpPr>
          <p:spPr>
            <a:xfrm>
              <a:off x="2832380" y="32084"/>
              <a:ext cx="4755714" cy="1377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everything works</a:t>
              </a:r>
              <a:r>
                <a:rPr lang="en-US" sz="2862" b="1" dirty="0">
                  <a:solidFill>
                    <a:srgbClr val="5B9BD5">
                      <a:lumMod val="75000"/>
                    </a:srgbClr>
                  </a:solidFill>
                  <a:latin typeface="Times New Roman" panose="02020603050405020304" pitchFamily="18" charset="0"/>
                  <a:cs typeface="Times New Roman" panose="02020603050405020304" pitchFamily="18" charset="0"/>
                </a:rPr>
                <a:t> </a:t>
              </a:r>
              <a:r>
                <a:rPr lang="en-US" sz="3816" b="1" dirty="0">
                  <a:solidFill>
                    <a:srgbClr val="5B9BD5">
                      <a:lumMod val="75000"/>
                    </a:srgbClr>
                  </a:solidFill>
                  <a:latin typeface="Times New Roman" panose="02020603050405020304" pitchFamily="18" charset="0"/>
                  <a:cs typeface="Times New Roman" panose="02020603050405020304" pitchFamily="18" charset="0"/>
                </a:rPr>
                <a:t>in</a:t>
              </a:r>
              <a:r>
                <a:rPr lang="en-US" sz="2862" b="1" dirty="0">
                  <a:solidFill>
                    <a:srgbClr val="5B9BD5">
                      <a:lumMod val="75000"/>
                    </a:srgbClr>
                  </a:solidFill>
                  <a:latin typeface="Times New Roman" panose="02020603050405020304" pitchFamily="18" charset="0"/>
                  <a:cs typeface="Times New Roman" panose="02020603050405020304" pitchFamily="18" charset="0"/>
                </a:rPr>
                <a:t> </a:t>
              </a:r>
              <a:r>
                <a:rPr lang="en-US" sz="3816" b="1" dirty="0">
                  <a:solidFill>
                    <a:srgbClr val="5B9BD5">
                      <a:lumMod val="75000"/>
                    </a:srgbClr>
                  </a:solidFill>
                  <a:latin typeface="Times New Roman" panose="02020603050405020304" pitchFamily="18" charset="0"/>
                  <a:cs typeface="Times New Roman" panose="02020603050405020304" pitchFamily="18" charset="0"/>
                </a:rPr>
                <a:t>Python:</a:t>
              </a:r>
            </a:p>
          </p:txBody>
        </p:sp>
        <p:sp>
          <p:nvSpPr>
            <p:cNvPr id="8" name="Rectangle 7"/>
            <p:cNvSpPr/>
            <p:nvPr/>
          </p:nvSpPr>
          <p:spPr>
            <a:xfrm>
              <a:off x="7462221" y="15947"/>
              <a:ext cx="714750" cy="1439824"/>
            </a:xfrm>
            <a:prstGeom prst="rect">
              <a:avLst/>
            </a:prstGeom>
            <a:solidFill>
              <a:srgbClr val="FF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7560670" y="97745"/>
              <a:ext cx="4498371" cy="417707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5000"/>
                </a:lnSpc>
              </a:pPr>
              <a:r>
                <a:rPr lang="en-US" sz="1590" dirty="0">
                  <a:solidFill>
                    <a:srgbClr val="FF99CC"/>
                  </a:solidFill>
                  <a:latin typeface="Arial" panose="020B0604020202020204" pitchFamily="34" charset="0"/>
                  <a:cs typeface="Arial" panose="020B0604020202020204" pitchFamily="34" charset="0"/>
                </a:rPr>
                <a:t>$ cat likeTheCExample.py</a:t>
              </a:r>
            </a:p>
            <a:p>
              <a:pPr>
                <a:lnSpc>
                  <a:spcPct val="105000"/>
                </a:lnSpc>
              </a:pPr>
              <a:r>
                <a:rPr lang="en-US" sz="1590" dirty="0">
                  <a:solidFill>
                    <a:srgbClr val="FF99CC"/>
                  </a:solidFill>
                  <a:latin typeface="Arial" panose="020B0604020202020204" pitchFamily="34" charset="0"/>
                  <a:cs typeface="Arial" panose="020B0604020202020204" pitchFamily="34" charset="0"/>
                </a:rPr>
                <a:t>X='A'</a:t>
              </a:r>
            </a:p>
            <a:p>
              <a:pPr>
                <a:lnSpc>
                  <a:spcPct val="105000"/>
                </a:lnSpc>
              </a:pPr>
              <a:r>
                <a:rPr lang="en-US" sz="1590" dirty="0">
                  <a:solidFill>
                    <a:srgbClr val="FF99CC"/>
                  </a:solidFill>
                  <a:latin typeface="Arial" panose="020B0604020202020204" pitchFamily="34" charset="0"/>
                  <a:cs typeface="Arial" panose="020B0604020202020204" pitchFamily="34" charset="0"/>
                </a:rPr>
                <a:t>Z=6.0</a:t>
              </a:r>
            </a:p>
            <a:p>
              <a:pPr>
                <a:lnSpc>
                  <a:spcPct val="105000"/>
                </a:lnSpc>
              </a:pPr>
              <a:r>
                <a:rPr lang="en-US" sz="1590" dirty="0">
                  <a:solidFill>
                    <a:srgbClr val="FF99CC"/>
                  </a:solidFill>
                  <a:latin typeface="Arial" panose="020B0604020202020204" pitchFamily="34" charset="0"/>
                  <a:cs typeface="Arial" panose="020B0604020202020204" pitchFamily="34" charset="0"/>
                </a:rPr>
                <a:t>Z='B'</a:t>
              </a:r>
            </a:p>
            <a:p>
              <a:pPr>
                <a:lnSpc>
                  <a:spcPct val="105000"/>
                </a:lnSpc>
              </a:pPr>
              <a:r>
                <a:rPr lang="en-US" sz="1590" dirty="0">
                  <a:solidFill>
                    <a:srgbClr val="FF99CC"/>
                  </a:solidFill>
                  <a:latin typeface="Arial" panose="020B0604020202020204" pitchFamily="34" charset="0"/>
                  <a:cs typeface="Arial" panose="020B0604020202020204" pitchFamily="34" charset="0"/>
                </a:rPr>
                <a:t>Z=6</a:t>
              </a:r>
            </a:p>
            <a:p>
              <a:pPr>
                <a:lnSpc>
                  <a:spcPct val="105000"/>
                </a:lnSpc>
              </a:pPr>
              <a:r>
                <a:rPr lang="en-US" sz="1590" dirty="0">
                  <a:solidFill>
                    <a:srgbClr val="FF99CC"/>
                  </a:solidFill>
                  <a:latin typeface="Arial" panose="020B0604020202020204" pitchFamily="34" charset="0"/>
                  <a:cs typeface="Arial" panose="020B0604020202020204" pitchFamily="34" charset="0"/>
                </a:rPr>
                <a:t>Y=Z</a:t>
              </a:r>
            </a:p>
            <a:p>
              <a:pPr>
                <a:lnSpc>
                  <a:spcPct val="105000"/>
                </a:lnSpc>
              </a:pPr>
              <a:r>
                <a:rPr lang="en-US" sz="1590" dirty="0">
                  <a:solidFill>
                    <a:srgbClr val="FF99CC"/>
                  </a:solidFill>
                  <a:latin typeface="Arial" panose="020B0604020202020204" pitchFamily="34" charset="0"/>
                  <a:cs typeface="Arial" panose="020B0604020202020204" pitchFamily="34" charset="0"/>
                </a:rPr>
                <a:t>Y=X</a:t>
              </a:r>
            </a:p>
            <a:p>
              <a:pPr>
                <a:lnSpc>
                  <a:spcPct val="105000"/>
                </a:lnSpc>
              </a:pPr>
              <a:r>
                <a:rPr lang="en-US" sz="1590" dirty="0">
                  <a:solidFill>
                    <a:srgbClr val="FF99CC"/>
                  </a:solidFill>
                  <a:latin typeface="Arial" panose="020B0604020202020204" pitchFamily="34" charset="0"/>
                  <a:cs typeface="Arial" panose="020B0604020202020204" pitchFamily="34" charset="0"/>
                </a:rPr>
                <a:t>Y=Z</a:t>
              </a:r>
            </a:p>
            <a:p>
              <a:pPr>
                <a:lnSpc>
                  <a:spcPct val="105000"/>
                </a:lnSpc>
              </a:pPr>
              <a:r>
                <a:rPr lang="en-US" sz="1590" dirty="0">
                  <a:solidFill>
                    <a:srgbClr val="FF99CC"/>
                  </a:solidFill>
                  <a:latin typeface="Arial" panose="020B0604020202020204" pitchFamily="34" charset="0"/>
                  <a:cs typeface="Arial" panose="020B0604020202020204" pitchFamily="34" charset="0"/>
                </a:rPr>
                <a:t>Y=Y</a:t>
              </a:r>
            </a:p>
            <a:p>
              <a:pPr>
                <a:lnSpc>
                  <a:spcPct val="105000"/>
                </a:lnSpc>
              </a:pPr>
              <a:r>
                <a:rPr lang="en-US" sz="1590" dirty="0">
                  <a:solidFill>
                    <a:srgbClr val="FF99CC"/>
                  </a:solidFill>
                  <a:latin typeface="Arial" panose="020B0604020202020204" pitchFamily="34" charset="0"/>
                  <a:cs typeface="Arial" panose="020B0604020202020204" pitchFamily="34" charset="0"/>
                </a:rPr>
                <a:t>print ("X=%c Y=%f Z</a:t>
              </a:r>
              <a:r>
                <a:rPr lang="en-US" sz="1590" dirty="0" smtClean="0">
                  <a:solidFill>
                    <a:srgbClr val="FF99CC"/>
                  </a:solidFill>
                  <a:latin typeface="Arial" panose="020B0604020202020204" pitchFamily="34" charset="0"/>
                  <a:cs typeface="Arial" panose="020B0604020202020204" pitchFamily="34" charset="0"/>
                </a:rPr>
                <a:t>=%d" </a:t>
              </a:r>
              <a:r>
                <a:rPr lang="en-US" sz="1590" dirty="0">
                  <a:solidFill>
                    <a:srgbClr val="FF99CC"/>
                  </a:solidFill>
                  <a:latin typeface="Arial" panose="020B0604020202020204" pitchFamily="34" charset="0"/>
                  <a:cs typeface="Arial" panose="020B0604020202020204" pitchFamily="34" charset="0"/>
                </a:rPr>
                <a:t>% (X,Y,Z))</a:t>
              </a:r>
            </a:p>
            <a:p>
              <a:pPr>
                <a:lnSpc>
                  <a:spcPct val="105000"/>
                </a:lnSpc>
              </a:pPr>
              <a:r>
                <a:rPr lang="en-US" sz="1590" dirty="0">
                  <a:solidFill>
                    <a:srgbClr val="FF99CC"/>
                  </a:solidFill>
                  <a:latin typeface="Arial" panose="020B0604020202020204" pitchFamily="34" charset="0"/>
                  <a:cs typeface="Arial" panose="020B0604020202020204" pitchFamily="34" charset="0"/>
                </a:rPr>
                <a:t>Z=Y</a:t>
              </a:r>
            </a:p>
            <a:p>
              <a:pPr>
                <a:lnSpc>
                  <a:spcPct val="105000"/>
                </a:lnSpc>
              </a:pPr>
              <a:r>
                <a:rPr lang="en-US" sz="1590" dirty="0">
                  <a:solidFill>
                    <a:srgbClr val="FF99CC"/>
                  </a:solidFill>
                  <a:latin typeface="Arial" panose="020B0604020202020204" pitchFamily="34" charset="0"/>
                  <a:cs typeface="Arial" panose="020B0604020202020204" pitchFamily="34" charset="0"/>
                </a:rPr>
                <a:t>print ("X=%c Y=%f Z</a:t>
              </a:r>
              <a:r>
                <a:rPr lang="en-US" sz="1590" dirty="0" smtClean="0">
                  <a:solidFill>
                    <a:srgbClr val="FF99CC"/>
                  </a:solidFill>
                  <a:latin typeface="Arial" panose="020B0604020202020204" pitchFamily="34" charset="0"/>
                  <a:cs typeface="Arial" panose="020B0604020202020204" pitchFamily="34" charset="0"/>
                </a:rPr>
                <a:t>=%d" </a:t>
              </a:r>
              <a:r>
                <a:rPr lang="en-US" sz="1590" dirty="0">
                  <a:solidFill>
                    <a:srgbClr val="FF99CC"/>
                  </a:solidFill>
                  <a:latin typeface="Arial" panose="020B0604020202020204" pitchFamily="34" charset="0"/>
                  <a:cs typeface="Arial" panose="020B0604020202020204" pitchFamily="34" charset="0"/>
                </a:rPr>
                <a:t>% (X,Y,Z))</a:t>
              </a:r>
            </a:p>
            <a:p>
              <a:pPr>
                <a:lnSpc>
                  <a:spcPct val="105000"/>
                </a:lnSpc>
              </a:pPr>
              <a:r>
                <a:rPr lang="en-US" sz="1590" dirty="0">
                  <a:solidFill>
                    <a:srgbClr val="FF99CC"/>
                  </a:solidFill>
                  <a:latin typeface="Arial" panose="020B0604020202020204" pitchFamily="34" charset="0"/>
                  <a:cs typeface="Arial" panose="020B0604020202020204" pitchFamily="34" charset="0"/>
                </a:rPr>
                <a:t>% python3 likeTheCExample.py</a:t>
              </a:r>
            </a:p>
            <a:p>
              <a:pPr>
                <a:lnSpc>
                  <a:spcPct val="105000"/>
                </a:lnSpc>
              </a:pPr>
              <a:r>
                <a:rPr lang="en-US" sz="1590" dirty="0">
                  <a:solidFill>
                    <a:srgbClr val="FF99CC"/>
                  </a:solidFill>
                  <a:latin typeface="Arial" panose="020B0604020202020204" pitchFamily="34" charset="0"/>
                  <a:cs typeface="Arial" panose="020B0604020202020204" pitchFamily="34" charset="0"/>
                </a:rPr>
                <a:t>X=A Y=6.000000 Z=6</a:t>
              </a:r>
            </a:p>
            <a:p>
              <a:pPr>
                <a:lnSpc>
                  <a:spcPct val="105000"/>
                </a:lnSpc>
              </a:pPr>
              <a:r>
                <a:rPr lang="en-US" sz="1590" dirty="0">
                  <a:solidFill>
                    <a:srgbClr val="FF99CC"/>
                  </a:solidFill>
                  <a:latin typeface="Arial" panose="020B0604020202020204" pitchFamily="34" charset="0"/>
                  <a:cs typeface="Arial" panose="020B0604020202020204" pitchFamily="34" charset="0"/>
                </a:rPr>
                <a:t>X=A Y=6.000000 Z=6</a:t>
              </a:r>
            </a:p>
            <a:p>
              <a:pPr>
                <a:lnSpc>
                  <a:spcPct val="105000"/>
                </a:lnSpc>
              </a:pPr>
              <a:r>
                <a:rPr lang="en-US" sz="1590" dirty="0">
                  <a:solidFill>
                    <a:srgbClr val="FF99CC"/>
                  </a:solidFill>
                  <a:latin typeface="Arial" panose="020B0604020202020204" pitchFamily="34" charset="0"/>
                  <a:cs typeface="Arial" panose="020B0604020202020204" pitchFamily="34" charset="0"/>
                </a:rPr>
                <a:t>%</a:t>
              </a:r>
            </a:p>
          </p:txBody>
        </p:sp>
      </p:grpSp>
      <p:sp>
        <p:nvSpPr>
          <p:cNvPr id="57" name="Rectangle 56"/>
          <p:cNvSpPr/>
          <p:nvPr/>
        </p:nvSpPr>
        <p:spPr>
          <a:xfrm>
            <a:off x="1947156" y="3763418"/>
            <a:ext cx="3279971" cy="1095474"/>
          </a:xfrm>
          <a:prstGeom prst="rect">
            <a:avLst/>
          </a:prstGeom>
          <a:solidFill>
            <a:srgbClr val="7FB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unions work in C</a:t>
            </a:r>
          </a:p>
        </p:txBody>
      </p:sp>
    </p:spTree>
    <p:extLst>
      <p:ext uri="{BB962C8B-B14F-4D97-AF65-F5344CB8AC3E}">
        <p14:creationId xmlns:p14="http://schemas.microsoft.com/office/powerpoint/2010/main" val="345871945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59129E-6 -0.0037 L -0.10409 0.51436 " pathEditMode="relative" rAng="0" ptsTypes="AA">
                                          <p:cBhvr>
                                            <p:cTn id="6" dur="2000" fill="hold"/>
                                            <p:tgtEl>
                                              <p:spTgt spid="97"/>
                                            </p:tgtEl>
                                            <p:attrNameLst>
                                              <p:attrName>ppt_x</p:attrName>
                                              <p:attrName>ppt_y</p:attrName>
                                            </p:attrNameLst>
                                          </p:cBhvr>
                                          <p:rCtr x="-5205" y="25903"/>
                                        </p:animMotion>
                                      </p:childTnLst>
                                    </p:cTn>
                                  </p:par>
                                  <p:par>
                                    <p:cTn id="7" presetID="16" presetClass="emph" presetSubtype="0" fill="hold" nodeType="withEffect">
                                      <p:stCondLst>
                                        <p:cond delay="0"/>
                                      </p:stCondLst>
                                      <p:childTnLst>
                                        <p:set>
                                          <p:cBhvr override="childStyle">
                                            <p:cTn id="8" dur="2000" fill="hold"/>
                                            <p:tgtEl>
                                              <p:spTgt spid="38">
                                                <p:txEl>
                                                  <p:pRg st="0" end="0"/>
                                                </p:txEl>
                                              </p:spTgt>
                                            </p:tgtEl>
                                            <p:attrNameLst>
                                              <p:attrName>style.color</p:attrName>
                                            </p:attrNameLst>
                                          </p:cBhvr>
                                          <p:to>
                                            <p:clrVal>
                                              <a:srgbClr val="7FBF7F"/>
                                            </p:clrVal>
                                          </p:to>
                                        </p:set>
                                        <p:set>
                                          <p:cBhvr>
                                            <p:cTn id="9" dur="2000" fill="hold"/>
                                            <p:tgtEl>
                                              <p:spTgt spid="38">
                                                <p:txEl>
                                                  <p:pRg st="0" end="0"/>
                                                </p:txEl>
                                              </p:spTgt>
                                            </p:tgtEl>
                                            <p:attrNameLst>
                                              <p:attrName>fillcolor</p:attrName>
                                            </p:attrNameLst>
                                          </p:cBhvr>
                                          <p:to>
                                            <p:clrVal>
                                              <a:srgbClr val="7FBF7F"/>
                                            </p:clrVal>
                                          </p:to>
                                        </p:set>
                                        <p:set>
                                          <p:cBhvr>
                                            <p:cTn id="10" dur="2000" fill="hold"/>
                                            <p:tgtEl>
                                              <p:spTgt spid="38">
                                                <p:txEl>
                                                  <p:pRg st="0" end="0"/>
                                                </p:txEl>
                                              </p:spTgt>
                                            </p:tgtEl>
                                            <p:attrNameLst>
                                              <p:attrName>fill.type</p:attrName>
                                            </p:attrNameLst>
                                          </p:cBhvr>
                                          <p:to>
                                            <p:strVal val="solid"/>
                                          </p:to>
                                        </p:set>
                                      </p:childTnLst>
                                    </p:cTn>
                                  </p:par>
                                  <p:par>
                                    <p:cTn id="11" presetID="16" presetClass="emph" presetSubtype="0" fill="hold" nodeType="withEffect">
                                      <p:stCondLst>
                                        <p:cond delay="0"/>
                                      </p:stCondLst>
                                      <p:childTnLst>
                                        <p:set>
                                          <p:cBhvr override="childStyle">
                                            <p:cTn id="12" dur="2000" fill="hold"/>
                                            <p:tgtEl>
                                              <p:spTgt spid="38">
                                                <p:txEl>
                                                  <p:pRg st="1" end="1"/>
                                                </p:txEl>
                                              </p:spTgt>
                                            </p:tgtEl>
                                            <p:attrNameLst>
                                              <p:attrName>style.color</p:attrName>
                                            </p:attrNameLst>
                                          </p:cBhvr>
                                          <p:to>
                                            <p:clrVal>
                                              <a:srgbClr val="7FBF7F"/>
                                            </p:clrVal>
                                          </p:to>
                                        </p:set>
                                        <p:set>
                                          <p:cBhvr>
                                            <p:cTn id="13" dur="2000" fill="hold"/>
                                            <p:tgtEl>
                                              <p:spTgt spid="38">
                                                <p:txEl>
                                                  <p:pRg st="1" end="1"/>
                                                </p:txEl>
                                              </p:spTgt>
                                            </p:tgtEl>
                                            <p:attrNameLst>
                                              <p:attrName>fillcolor</p:attrName>
                                            </p:attrNameLst>
                                          </p:cBhvr>
                                          <p:to>
                                            <p:clrVal>
                                              <a:srgbClr val="7FBF7F"/>
                                            </p:clrVal>
                                          </p:to>
                                        </p:set>
                                        <p:set>
                                          <p:cBhvr>
                                            <p:cTn id="14" dur="2000" fill="hold"/>
                                            <p:tgtEl>
                                              <p:spTgt spid="38">
                                                <p:txEl>
                                                  <p:pRg st="1" end="1"/>
                                                </p:txEl>
                                              </p:spTgt>
                                            </p:tgtEl>
                                            <p:attrNameLst>
                                              <p:attrName>fill.type</p:attrName>
                                            </p:attrNameLst>
                                          </p:cBhvr>
                                          <p:to>
                                            <p:strVal val="solid"/>
                                          </p:to>
                                        </p:set>
                                      </p:childTnLst>
                                    </p:cTn>
                                  </p:par>
                                  <p:par>
                                    <p:cTn id="15" presetID="16" presetClass="emph" presetSubtype="0" fill="hold" nodeType="withEffect">
                                      <p:stCondLst>
                                        <p:cond delay="0"/>
                                      </p:stCondLst>
                                      <p:childTnLst>
                                        <p:set>
                                          <p:cBhvr override="childStyle">
                                            <p:cTn id="16" dur="2000" fill="hold"/>
                                            <p:tgtEl>
                                              <p:spTgt spid="38">
                                                <p:txEl>
                                                  <p:pRg st="2" end="2"/>
                                                </p:txEl>
                                              </p:spTgt>
                                            </p:tgtEl>
                                            <p:attrNameLst>
                                              <p:attrName>style.color</p:attrName>
                                            </p:attrNameLst>
                                          </p:cBhvr>
                                          <p:to>
                                            <p:clrVal>
                                              <a:srgbClr val="7FBF7F"/>
                                            </p:clrVal>
                                          </p:to>
                                        </p:set>
                                        <p:set>
                                          <p:cBhvr>
                                            <p:cTn id="17" dur="2000" fill="hold"/>
                                            <p:tgtEl>
                                              <p:spTgt spid="38">
                                                <p:txEl>
                                                  <p:pRg st="2" end="2"/>
                                                </p:txEl>
                                              </p:spTgt>
                                            </p:tgtEl>
                                            <p:attrNameLst>
                                              <p:attrName>fillcolor</p:attrName>
                                            </p:attrNameLst>
                                          </p:cBhvr>
                                          <p:to>
                                            <p:clrVal>
                                              <a:srgbClr val="7FBF7F"/>
                                            </p:clrVal>
                                          </p:to>
                                        </p:set>
                                        <p:set>
                                          <p:cBhvr>
                                            <p:cTn id="18" dur="2000" fill="hold"/>
                                            <p:tgtEl>
                                              <p:spTgt spid="38">
                                                <p:txEl>
                                                  <p:pRg st="2" end="2"/>
                                                </p:txEl>
                                              </p:spTgt>
                                            </p:tgtEl>
                                            <p:attrNameLst>
                                              <p:attrName>fill.type</p:attrName>
                                            </p:attrNameLst>
                                          </p:cBhvr>
                                          <p:to>
                                            <p:strVal val="solid"/>
                                          </p:to>
                                        </p:set>
                                      </p:childTnLst>
                                    </p:cTn>
                                  </p:par>
                                  <p:par>
                                    <p:cTn id="19" presetID="16" presetClass="emph" presetSubtype="0" fill="hold" nodeType="withEffect">
                                      <p:stCondLst>
                                        <p:cond delay="0"/>
                                      </p:stCondLst>
                                      <p:childTnLst>
                                        <p:set>
                                          <p:cBhvr override="childStyle">
                                            <p:cTn id="20" dur="2000" fill="hold"/>
                                            <p:tgtEl>
                                              <p:spTgt spid="38">
                                                <p:txEl>
                                                  <p:pRg st="3" end="3"/>
                                                </p:txEl>
                                              </p:spTgt>
                                            </p:tgtEl>
                                            <p:attrNameLst>
                                              <p:attrName>style.color</p:attrName>
                                            </p:attrNameLst>
                                          </p:cBhvr>
                                          <p:to>
                                            <p:clrVal>
                                              <a:srgbClr val="7FBF7F"/>
                                            </p:clrVal>
                                          </p:to>
                                        </p:set>
                                        <p:set>
                                          <p:cBhvr>
                                            <p:cTn id="21" dur="2000" fill="hold"/>
                                            <p:tgtEl>
                                              <p:spTgt spid="38">
                                                <p:txEl>
                                                  <p:pRg st="3" end="3"/>
                                                </p:txEl>
                                              </p:spTgt>
                                            </p:tgtEl>
                                            <p:attrNameLst>
                                              <p:attrName>fillcolor</p:attrName>
                                            </p:attrNameLst>
                                          </p:cBhvr>
                                          <p:to>
                                            <p:clrVal>
                                              <a:srgbClr val="7FBF7F"/>
                                            </p:clrVal>
                                          </p:to>
                                        </p:set>
                                        <p:set>
                                          <p:cBhvr>
                                            <p:cTn id="22" dur="2000" fill="hold"/>
                                            <p:tgtEl>
                                              <p:spTgt spid="38">
                                                <p:txEl>
                                                  <p:pRg st="3" end="3"/>
                                                </p:txEl>
                                              </p:spTgt>
                                            </p:tgtEl>
                                            <p:attrNameLst>
                                              <p:attrName>fill.type</p:attrName>
                                            </p:attrNameLst>
                                          </p:cBhvr>
                                          <p:to>
                                            <p:strVal val="solid"/>
                                          </p:to>
                                        </p:set>
                                      </p:childTnLst>
                                    </p:cTn>
                                  </p:par>
                                  <p:par>
                                    <p:cTn id="23" presetID="16" presetClass="emph" presetSubtype="0" fill="hold" nodeType="withEffect">
                                      <p:stCondLst>
                                        <p:cond delay="0"/>
                                      </p:stCondLst>
                                      <p:childTnLst>
                                        <p:set>
                                          <p:cBhvr override="childStyle">
                                            <p:cTn id="24" dur="2000" fill="hold"/>
                                            <p:tgtEl>
                                              <p:spTgt spid="38">
                                                <p:txEl>
                                                  <p:pRg st="4" end="4"/>
                                                </p:txEl>
                                              </p:spTgt>
                                            </p:tgtEl>
                                            <p:attrNameLst>
                                              <p:attrName>style.color</p:attrName>
                                            </p:attrNameLst>
                                          </p:cBhvr>
                                          <p:to>
                                            <p:clrVal>
                                              <a:srgbClr val="7FBF7F"/>
                                            </p:clrVal>
                                          </p:to>
                                        </p:set>
                                        <p:set>
                                          <p:cBhvr>
                                            <p:cTn id="25" dur="2000" fill="hold"/>
                                            <p:tgtEl>
                                              <p:spTgt spid="38">
                                                <p:txEl>
                                                  <p:pRg st="4" end="4"/>
                                                </p:txEl>
                                              </p:spTgt>
                                            </p:tgtEl>
                                            <p:attrNameLst>
                                              <p:attrName>fillcolor</p:attrName>
                                            </p:attrNameLst>
                                          </p:cBhvr>
                                          <p:to>
                                            <p:clrVal>
                                              <a:srgbClr val="7FBF7F"/>
                                            </p:clrVal>
                                          </p:to>
                                        </p:set>
                                        <p:set>
                                          <p:cBhvr>
                                            <p:cTn id="26" dur="2000" fill="hold"/>
                                            <p:tgtEl>
                                              <p:spTgt spid="38">
                                                <p:txEl>
                                                  <p:pRg st="4" end="4"/>
                                                </p:txEl>
                                              </p:spTgt>
                                            </p:tgtEl>
                                            <p:attrNameLst>
                                              <p:attrName>fill.type</p:attrName>
                                            </p:attrNameLst>
                                          </p:cBhvr>
                                          <p:to>
                                            <p:strVal val="solid"/>
                                          </p:to>
                                        </p:set>
                                      </p:childTnLst>
                                    </p:cTn>
                                  </p:par>
                                  <p:par>
                                    <p:cTn id="27" presetID="16" presetClass="emph" presetSubtype="0" fill="hold" nodeType="withEffect">
                                      <p:stCondLst>
                                        <p:cond delay="0"/>
                                      </p:stCondLst>
                                      <p:childTnLst>
                                        <p:set>
                                          <p:cBhvr override="childStyle">
                                            <p:cTn id="28" dur="2000" fill="hold"/>
                                            <p:tgtEl>
                                              <p:spTgt spid="38">
                                                <p:txEl>
                                                  <p:pRg st="5" end="5"/>
                                                </p:txEl>
                                              </p:spTgt>
                                            </p:tgtEl>
                                            <p:attrNameLst>
                                              <p:attrName>style.color</p:attrName>
                                            </p:attrNameLst>
                                          </p:cBhvr>
                                          <p:to>
                                            <p:clrVal>
                                              <a:srgbClr val="7FBF7F"/>
                                            </p:clrVal>
                                          </p:to>
                                        </p:set>
                                        <p:set>
                                          <p:cBhvr>
                                            <p:cTn id="29" dur="2000" fill="hold"/>
                                            <p:tgtEl>
                                              <p:spTgt spid="38">
                                                <p:txEl>
                                                  <p:pRg st="5" end="5"/>
                                                </p:txEl>
                                              </p:spTgt>
                                            </p:tgtEl>
                                            <p:attrNameLst>
                                              <p:attrName>fillcolor</p:attrName>
                                            </p:attrNameLst>
                                          </p:cBhvr>
                                          <p:to>
                                            <p:clrVal>
                                              <a:srgbClr val="7FBF7F"/>
                                            </p:clrVal>
                                          </p:to>
                                        </p:set>
                                        <p:set>
                                          <p:cBhvr>
                                            <p:cTn id="30" dur="2000" fill="hold"/>
                                            <p:tgtEl>
                                              <p:spTgt spid="38">
                                                <p:txEl>
                                                  <p:pRg st="5" end="5"/>
                                                </p:txEl>
                                              </p:spTgt>
                                            </p:tgtEl>
                                            <p:attrNameLst>
                                              <p:attrName>fill.type</p:attrName>
                                            </p:attrNameLst>
                                          </p:cBhvr>
                                          <p:to>
                                            <p:strVal val="solid"/>
                                          </p:to>
                                        </p:set>
                                      </p:childTnLst>
                                    </p:cTn>
                                  </p:par>
                                  <p:par>
                                    <p:cTn id="31" presetID="10"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Effect transition="in" filter="fade">
                                          <p:cBhvr>
                                            <p:cTn id="33" dur="500"/>
                                            <p:tgtEl>
                                              <p:spTgt spid="47"/>
                                            </p:tgtEl>
                                          </p:cBhvr>
                                        </p:animEffect>
                                      </p:childTnLst>
                                    </p:cTn>
                                  </p:par>
                                  <p:par>
                                    <p:cTn id="34" presetID="2" presetClass="entr" presetSubtype="3" fill="hold" nodeType="withEffect" p14:presetBounceEnd="20000">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14:bounceEnd="20000">
                                          <p:cBhvr additive="base">
                                            <p:cTn id="36" dur="2000" fill="hold"/>
                                            <p:tgtEl>
                                              <p:spTgt spid="9"/>
                                            </p:tgtEl>
                                            <p:attrNameLst>
                                              <p:attrName>ppt_x</p:attrName>
                                            </p:attrNameLst>
                                          </p:cBhvr>
                                          <p:tavLst>
                                            <p:tav tm="0">
                                              <p:val>
                                                <p:strVal val="1+#ppt_w/2"/>
                                              </p:val>
                                            </p:tav>
                                            <p:tav tm="100000">
                                              <p:val>
                                                <p:strVal val="#ppt_x"/>
                                              </p:val>
                                            </p:tav>
                                          </p:tavLst>
                                        </p:anim>
                                        <p:anim calcmode="lin" valueType="num" p14:bounceEnd="20000">
                                          <p:cBhvr additive="base">
                                            <p:cTn id="37" dur="2000" fill="hold"/>
                                            <p:tgtEl>
                                              <p:spTgt spid="9"/>
                                            </p:tgtEl>
                                            <p:attrNameLst>
                                              <p:attrName>ppt_y</p:attrName>
                                            </p:attrNameLst>
                                          </p:cBhvr>
                                          <p:tavLst>
                                            <p:tav tm="0">
                                              <p:val>
                                                <p:strVal val="0-#ppt_h/2"/>
                                              </p:val>
                                            </p:tav>
                                            <p:tav tm="100000">
                                              <p:val>
                                                <p:strVal val="#ppt_y"/>
                                              </p:val>
                                            </p:tav>
                                          </p:tavLst>
                                        </p:anim>
                                      </p:childTnLst>
                                    </p:cTn>
                                  </p:par>
                                </p:childTnLst>
                              </p:cTn>
                            </p:par>
                            <p:par>
                              <p:cTn id="38" fill="hold">
                                <p:stCondLst>
                                  <p:cond delay="2000"/>
                                </p:stCondLst>
                                <p:childTnLst>
                                  <p:par>
                                    <p:cTn id="39" presetID="1" presetClass="entr" presetSubtype="0" fill="hold" grpId="0" nodeType="after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97" grpId="0"/>
          <p:bldP spid="57"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59129E-6 -0.0037 L -0.10409 0.51436 " pathEditMode="relative" rAng="0" ptsTypes="AA">
                                          <p:cBhvr>
                                            <p:cTn id="6" dur="2000" fill="hold"/>
                                            <p:tgtEl>
                                              <p:spTgt spid="97"/>
                                            </p:tgtEl>
                                            <p:attrNameLst>
                                              <p:attrName>ppt_x</p:attrName>
                                              <p:attrName>ppt_y</p:attrName>
                                            </p:attrNameLst>
                                          </p:cBhvr>
                                          <p:rCtr x="-5205" y="25903"/>
                                        </p:animMotion>
                                      </p:childTnLst>
                                    </p:cTn>
                                  </p:par>
                                  <p:par>
                                    <p:cTn id="7" presetID="16" presetClass="emph" presetSubtype="0" fill="hold" nodeType="withEffect">
                                      <p:stCondLst>
                                        <p:cond delay="0"/>
                                      </p:stCondLst>
                                      <p:childTnLst>
                                        <p:set>
                                          <p:cBhvr override="childStyle">
                                            <p:cTn id="8" dur="2000" fill="hold"/>
                                            <p:tgtEl>
                                              <p:spTgt spid="38">
                                                <p:txEl>
                                                  <p:pRg st="0" end="0"/>
                                                </p:txEl>
                                              </p:spTgt>
                                            </p:tgtEl>
                                            <p:attrNameLst>
                                              <p:attrName>style.color</p:attrName>
                                            </p:attrNameLst>
                                          </p:cBhvr>
                                          <p:to>
                                            <p:clrVal>
                                              <a:srgbClr val="7FBF7F"/>
                                            </p:clrVal>
                                          </p:to>
                                        </p:set>
                                        <p:set>
                                          <p:cBhvr>
                                            <p:cTn id="9" dur="2000" fill="hold"/>
                                            <p:tgtEl>
                                              <p:spTgt spid="38">
                                                <p:txEl>
                                                  <p:pRg st="0" end="0"/>
                                                </p:txEl>
                                              </p:spTgt>
                                            </p:tgtEl>
                                            <p:attrNameLst>
                                              <p:attrName>fillcolor</p:attrName>
                                            </p:attrNameLst>
                                          </p:cBhvr>
                                          <p:to>
                                            <p:clrVal>
                                              <a:srgbClr val="7FBF7F"/>
                                            </p:clrVal>
                                          </p:to>
                                        </p:set>
                                        <p:set>
                                          <p:cBhvr>
                                            <p:cTn id="10" dur="2000" fill="hold"/>
                                            <p:tgtEl>
                                              <p:spTgt spid="38">
                                                <p:txEl>
                                                  <p:pRg st="0" end="0"/>
                                                </p:txEl>
                                              </p:spTgt>
                                            </p:tgtEl>
                                            <p:attrNameLst>
                                              <p:attrName>fill.type</p:attrName>
                                            </p:attrNameLst>
                                          </p:cBhvr>
                                          <p:to>
                                            <p:strVal val="solid"/>
                                          </p:to>
                                        </p:set>
                                      </p:childTnLst>
                                    </p:cTn>
                                  </p:par>
                                  <p:par>
                                    <p:cTn id="11" presetID="16" presetClass="emph" presetSubtype="0" fill="hold" nodeType="withEffect">
                                      <p:stCondLst>
                                        <p:cond delay="0"/>
                                      </p:stCondLst>
                                      <p:childTnLst>
                                        <p:set>
                                          <p:cBhvr override="childStyle">
                                            <p:cTn id="12" dur="2000" fill="hold"/>
                                            <p:tgtEl>
                                              <p:spTgt spid="38">
                                                <p:txEl>
                                                  <p:pRg st="1" end="1"/>
                                                </p:txEl>
                                              </p:spTgt>
                                            </p:tgtEl>
                                            <p:attrNameLst>
                                              <p:attrName>style.color</p:attrName>
                                            </p:attrNameLst>
                                          </p:cBhvr>
                                          <p:to>
                                            <p:clrVal>
                                              <a:srgbClr val="7FBF7F"/>
                                            </p:clrVal>
                                          </p:to>
                                        </p:set>
                                        <p:set>
                                          <p:cBhvr>
                                            <p:cTn id="13" dur="2000" fill="hold"/>
                                            <p:tgtEl>
                                              <p:spTgt spid="38">
                                                <p:txEl>
                                                  <p:pRg st="1" end="1"/>
                                                </p:txEl>
                                              </p:spTgt>
                                            </p:tgtEl>
                                            <p:attrNameLst>
                                              <p:attrName>fillcolor</p:attrName>
                                            </p:attrNameLst>
                                          </p:cBhvr>
                                          <p:to>
                                            <p:clrVal>
                                              <a:srgbClr val="7FBF7F"/>
                                            </p:clrVal>
                                          </p:to>
                                        </p:set>
                                        <p:set>
                                          <p:cBhvr>
                                            <p:cTn id="14" dur="2000" fill="hold"/>
                                            <p:tgtEl>
                                              <p:spTgt spid="38">
                                                <p:txEl>
                                                  <p:pRg st="1" end="1"/>
                                                </p:txEl>
                                              </p:spTgt>
                                            </p:tgtEl>
                                            <p:attrNameLst>
                                              <p:attrName>fill.type</p:attrName>
                                            </p:attrNameLst>
                                          </p:cBhvr>
                                          <p:to>
                                            <p:strVal val="solid"/>
                                          </p:to>
                                        </p:set>
                                      </p:childTnLst>
                                    </p:cTn>
                                  </p:par>
                                  <p:par>
                                    <p:cTn id="15" presetID="16" presetClass="emph" presetSubtype="0" fill="hold" nodeType="withEffect">
                                      <p:stCondLst>
                                        <p:cond delay="0"/>
                                      </p:stCondLst>
                                      <p:childTnLst>
                                        <p:set>
                                          <p:cBhvr override="childStyle">
                                            <p:cTn id="16" dur="2000" fill="hold"/>
                                            <p:tgtEl>
                                              <p:spTgt spid="38">
                                                <p:txEl>
                                                  <p:pRg st="2" end="2"/>
                                                </p:txEl>
                                              </p:spTgt>
                                            </p:tgtEl>
                                            <p:attrNameLst>
                                              <p:attrName>style.color</p:attrName>
                                            </p:attrNameLst>
                                          </p:cBhvr>
                                          <p:to>
                                            <p:clrVal>
                                              <a:srgbClr val="7FBF7F"/>
                                            </p:clrVal>
                                          </p:to>
                                        </p:set>
                                        <p:set>
                                          <p:cBhvr>
                                            <p:cTn id="17" dur="2000" fill="hold"/>
                                            <p:tgtEl>
                                              <p:spTgt spid="38">
                                                <p:txEl>
                                                  <p:pRg st="2" end="2"/>
                                                </p:txEl>
                                              </p:spTgt>
                                            </p:tgtEl>
                                            <p:attrNameLst>
                                              <p:attrName>fillcolor</p:attrName>
                                            </p:attrNameLst>
                                          </p:cBhvr>
                                          <p:to>
                                            <p:clrVal>
                                              <a:srgbClr val="7FBF7F"/>
                                            </p:clrVal>
                                          </p:to>
                                        </p:set>
                                        <p:set>
                                          <p:cBhvr>
                                            <p:cTn id="18" dur="2000" fill="hold"/>
                                            <p:tgtEl>
                                              <p:spTgt spid="38">
                                                <p:txEl>
                                                  <p:pRg st="2" end="2"/>
                                                </p:txEl>
                                              </p:spTgt>
                                            </p:tgtEl>
                                            <p:attrNameLst>
                                              <p:attrName>fill.type</p:attrName>
                                            </p:attrNameLst>
                                          </p:cBhvr>
                                          <p:to>
                                            <p:strVal val="solid"/>
                                          </p:to>
                                        </p:set>
                                      </p:childTnLst>
                                    </p:cTn>
                                  </p:par>
                                  <p:par>
                                    <p:cTn id="19" presetID="16" presetClass="emph" presetSubtype="0" fill="hold" nodeType="withEffect">
                                      <p:stCondLst>
                                        <p:cond delay="0"/>
                                      </p:stCondLst>
                                      <p:childTnLst>
                                        <p:set>
                                          <p:cBhvr override="childStyle">
                                            <p:cTn id="20" dur="2000" fill="hold"/>
                                            <p:tgtEl>
                                              <p:spTgt spid="38">
                                                <p:txEl>
                                                  <p:pRg st="3" end="3"/>
                                                </p:txEl>
                                              </p:spTgt>
                                            </p:tgtEl>
                                            <p:attrNameLst>
                                              <p:attrName>style.color</p:attrName>
                                            </p:attrNameLst>
                                          </p:cBhvr>
                                          <p:to>
                                            <p:clrVal>
                                              <a:srgbClr val="7FBF7F"/>
                                            </p:clrVal>
                                          </p:to>
                                        </p:set>
                                        <p:set>
                                          <p:cBhvr>
                                            <p:cTn id="21" dur="2000" fill="hold"/>
                                            <p:tgtEl>
                                              <p:spTgt spid="38">
                                                <p:txEl>
                                                  <p:pRg st="3" end="3"/>
                                                </p:txEl>
                                              </p:spTgt>
                                            </p:tgtEl>
                                            <p:attrNameLst>
                                              <p:attrName>fillcolor</p:attrName>
                                            </p:attrNameLst>
                                          </p:cBhvr>
                                          <p:to>
                                            <p:clrVal>
                                              <a:srgbClr val="7FBF7F"/>
                                            </p:clrVal>
                                          </p:to>
                                        </p:set>
                                        <p:set>
                                          <p:cBhvr>
                                            <p:cTn id="22" dur="2000" fill="hold"/>
                                            <p:tgtEl>
                                              <p:spTgt spid="38">
                                                <p:txEl>
                                                  <p:pRg st="3" end="3"/>
                                                </p:txEl>
                                              </p:spTgt>
                                            </p:tgtEl>
                                            <p:attrNameLst>
                                              <p:attrName>fill.type</p:attrName>
                                            </p:attrNameLst>
                                          </p:cBhvr>
                                          <p:to>
                                            <p:strVal val="solid"/>
                                          </p:to>
                                        </p:set>
                                      </p:childTnLst>
                                    </p:cTn>
                                  </p:par>
                                  <p:par>
                                    <p:cTn id="23" presetID="16" presetClass="emph" presetSubtype="0" fill="hold" nodeType="withEffect">
                                      <p:stCondLst>
                                        <p:cond delay="0"/>
                                      </p:stCondLst>
                                      <p:childTnLst>
                                        <p:set>
                                          <p:cBhvr override="childStyle">
                                            <p:cTn id="24" dur="2000" fill="hold"/>
                                            <p:tgtEl>
                                              <p:spTgt spid="38">
                                                <p:txEl>
                                                  <p:pRg st="4" end="4"/>
                                                </p:txEl>
                                              </p:spTgt>
                                            </p:tgtEl>
                                            <p:attrNameLst>
                                              <p:attrName>style.color</p:attrName>
                                            </p:attrNameLst>
                                          </p:cBhvr>
                                          <p:to>
                                            <p:clrVal>
                                              <a:srgbClr val="7FBF7F"/>
                                            </p:clrVal>
                                          </p:to>
                                        </p:set>
                                        <p:set>
                                          <p:cBhvr>
                                            <p:cTn id="25" dur="2000" fill="hold"/>
                                            <p:tgtEl>
                                              <p:spTgt spid="38">
                                                <p:txEl>
                                                  <p:pRg st="4" end="4"/>
                                                </p:txEl>
                                              </p:spTgt>
                                            </p:tgtEl>
                                            <p:attrNameLst>
                                              <p:attrName>fillcolor</p:attrName>
                                            </p:attrNameLst>
                                          </p:cBhvr>
                                          <p:to>
                                            <p:clrVal>
                                              <a:srgbClr val="7FBF7F"/>
                                            </p:clrVal>
                                          </p:to>
                                        </p:set>
                                        <p:set>
                                          <p:cBhvr>
                                            <p:cTn id="26" dur="2000" fill="hold"/>
                                            <p:tgtEl>
                                              <p:spTgt spid="38">
                                                <p:txEl>
                                                  <p:pRg st="4" end="4"/>
                                                </p:txEl>
                                              </p:spTgt>
                                            </p:tgtEl>
                                            <p:attrNameLst>
                                              <p:attrName>fill.type</p:attrName>
                                            </p:attrNameLst>
                                          </p:cBhvr>
                                          <p:to>
                                            <p:strVal val="solid"/>
                                          </p:to>
                                        </p:set>
                                      </p:childTnLst>
                                    </p:cTn>
                                  </p:par>
                                  <p:par>
                                    <p:cTn id="27" presetID="16" presetClass="emph" presetSubtype="0" fill="hold" nodeType="withEffect">
                                      <p:stCondLst>
                                        <p:cond delay="0"/>
                                      </p:stCondLst>
                                      <p:childTnLst>
                                        <p:set>
                                          <p:cBhvr override="childStyle">
                                            <p:cTn id="28" dur="2000" fill="hold"/>
                                            <p:tgtEl>
                                              <p:spTgt spid="38">
                                                <p:txEl>
                                                  <p:pRg st="5" end="5"/>
                                                </p:txEl>
                                              </p:spTgt>
                                            </p:tgtEl>
                                            <p:attrNameLst>
                                              <p:attrName>style.color</p:attrName>
                                            </p:attrNameLst>
                                          </p:cBhvr>
                                          <p:to>
                                            <p:clrVal>
                                              <a:srgbClr val="7FBF7F"/>
                                            </p:clrVal>
                                          </p:to>
                                        </p:set>
                                        <p:set>
                                          <p:cBhvr>
                                            <p:cTn id="29" dur="2000" fill="hold"/>
                                            <p:tgtEl>
                                              <p:spTgt spid="38">
                                                <p:txEl>
                                                  <p:pRg st="5" end="5"/>
                                                </p:txEl>
                                              </p:spTgt>
                                            </p:tgtEl>
                                            <p:attrNameLst>
                                              <p:attrName>fillcolor</p:attrName>
                                            </p:attrNameLst>
                                          </p:cBhvr>
                                          <p:to>
                                            <p:clrVal>
                                              <a:srgbClr val="7FBF7F"/>
                                            </p:clrVal>
                                          </p:to>
                                        </p:set>
                                        <p:set>
                                          <p:cBhvr>
                                            <p:cTn id="30" dur="2000" fill="hold"/>
                                            <p:tgtEl>
                                              <p:spTgt spid="38">
                                                <p:txEl>
                                                  <p:pRg st="5" end="5"/>
                                                </p:txEl>
                                              </p:spTgt>
                                            </p:tgtEl>
                                            <p:attrNameLst>
                                              <p:attrName>fill.type</p:attrName>
                                            </p:attrNameLst>
                                          </p:cBhvr>
                                          <p:to>
                                            <p:strVal val="solid"/>
                                          </p:to>
                                        </p:set>
                                      </p:childTnLst>
                                    </p:cTn>
                                  </p:par>
                                  <p:par>
                                    <p:cTn id="31" presetID="10"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Effect transition="in" filter="fade">
                                          <p:cBhvr>
                                            <p:cTn id="33" dur="500"/>
                                            <p:tgtEl>
                                              <p:spTgt spid="47"/>
                                            </p:tgtEl>
                                          </p:cBhvr>
                                        </p:animEffect>
                                      </p:childTnLst>
                                    </p:cTn>
                                  </p:par>
                                  <p:par>
                                    <p:cTn id="34" presetID="2" presetClass="entr" presetSubtype="3"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2000" fill="hold"/>
                                            <p:tgtEl>
                                              <p:spTgt spid="9"/>
                                            </p:tgtEl>
                                            <p:attrNameLst>
                                              <p:attrName>ppt_x</p:attrName>
                                            </p:attrNameLst>
                                          </p:cBhvr>
                                          <p:tavLst>
                                            <p:tav tm="0">
                                              <p:val>
                                                <p:strVal val="1+#ppt_w/2"/>
                                              </p:val>
                                            </p:tav>
                                            <p:tav tm="100000">
                                              <p:val>
                                                <p:strVal val="#ppt_x"/>
                                              </p:val>
                                            </p:tav>
                                          </p:tavLst>
                                        </p:anim>
                                        <p:anim calcmode="lin" valueType="num">
                                          <p:cBhvr additive="base">
                                            <p:cTn id="37" dur="2000" fill="hold"/>
                                            <p:tgtEl>
                                              <p:spTgt spid="9"/>
                                            </p:tgtEl>
                                            <p:attrNameLst>
                                              <p:attrName>ppt_y</p:attrName>
                                            </p:attrNameLst>
                                          </p:cBhvr>
                                          <p:tavLst>
                                            <p:tav tm="0">
                                              <p:val>
                                                <p:strVal val="0-#ppt_h/2"/>
                                              </p:val>
                                            </p:tav>
                                            <p:tav tm="100000">
                                              <p:val>
                                                <p:strVal val="#ppt_y"/>
                                              </p:val>
                                            </p:tav>
                                          </p:tavLst>
                                        </p:anim>
                                      </p:childTnLst>
                                    </p:cTn>
                                  </p:par>
                                </p:childTnLst>
                              </p:cTn>
                            </p:par>
                            <p:par>
                              <p:cTn id="38" fill="hold">
                                <p:stCondLst>
                                  <p:cond delay="2000"/>
                                </p:stCondLst>
                                <p:childTnLst>
                                  <p:par>
                                    <p:cTn id="39" presetID="1" presetClass="entr" presetSubtype="0" fill="hold" grpId="0" nodeType="after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97" grpId="0"/>
          <p:bldP spid="57" grpId="0" animBg="1"/>
        </p:bldLst>
      </p:timing>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729789" cy="6858000"/>
          </a:xfrm>
          <a:prstGeom prst="rect">
            <a:avLst/>
          </a:prstGeom>
          <a:solidFill>
            <a:srgbClr val="7FB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a:t>
            </a:r>
          </a:p>
        </p:txBody>
      </p:sp>
      <p:grpSp>
        <p:nvGrpSpPr>
          <p:cNvPr id="9" name="Group 8"/>
          <p:cNvGrpSpPr/>
          <p:nvPr/>
        </p:nvGrpSpPr>
        <p:grpSpPr>
          <a:xfrm>
            <a:off x="2261594" y="0"/>
            <a:ext cx="7468194" cy="4198246"/>
            <a:chOff x="2832380" y="-1646"/>
            <a:chExt cx="9351102" cy="4376672"/>
          </a:xfrm>
        </p:grpSpPr>
        <p:sp>
          <p:nvSpPr>
            <p:cNvPr id="7" name="Rectangle 6"/>
            <p:cNvSpPr/>
            <p:nvPr/>
          </p:nvSpPr>
          <p:spPr>
            <a:xfrm>
              <a:off x="7443403" y="-1"/>
              <a:ext cx="4740079" cy="4375027"/>
            </a:xfrm>
            <a:prstGeom prst="rect">
              <a:avLst/>
            </a:prstGeom>
            <a:solidFill>
              <a:srgbClr val="FF99CC"/>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011052" y="-1646"/>
              <a:ext cx="4753250" cy="1416974"/>
            </a:xfrm>
            <a:prstGeom prst="rect">
              <a:avLst/>
            </a:prstGeom>
            <a:solidFill>
              <a:srgbClr val="FF99CC"/>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0" name="Rectangle 39"/>
            <p:cNvSpPr/>
            <p:nvPr/>
          </p:nvSpPr>
          <p:spPr>
            <a:xfrm>
              <a:off x="2832380" y="32084"/>
              <a:ext cx="4755714" cy="1377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everything works</a:t>
              </a:r>
              <a:r>
                <a:rPr lang="en-US" sz="2862" b="1" dirty="0">
                  <a:solidFill>
                    <a:srgbClr val="5B9BD5">
                      <a:lumMod val="75000"/>
                    </a:srgbClr>
                  </a:solidFill>
                  <a:latin typeface="Times New Roman" panose="02020603050405020304" pitchFamily="18" charset="0"/>
                  <a:cs typeface="Times New Roman" panose="02020603050405020304" pitchFamily="18" charset="0"/>
                </a:rPr>
                <a:t> </a:t>
              </a:r>
              <a:r>
                <a:rPr lang="en-US" sz="3816" b="1" dirty="0">
                  <a:solidFill>
                    <a:srgbClr val="5B9BD5">
                      <a:lumMod val="75000"/>
                    </a:srgbClr>
                  </a:solidFill>
                  <a:latin typeface="Times New Roman" panose="02020603050405020304" pitchFamily="18" charset="0"/>
                  <a:cs typeface="Times New Roman" panose="02020603050405020304" pitchFamily="18" charset="0"/>
                </a:rPr>
                <a:t>in</a:t>
              </a:r>
              <a:r>
                <a:rPr lang="en-US" sz="2862" b="1" dirty="0">
                  <a:solidFill>
                    <a:srgbClr val="5B9BD5">
                      <a:lumMod val="75000"/>
                    </a:srgbClr>
                  </a:solidFill>
                  <a:latin typeface="Times New Roman" panose="02020603050405020304" pitchFamily="18" charset="0"/>
                  <a:cs typeface="Times New Roman" panose="02020603050405020304" pitchFamily="18" charset="0"/>
                </a:rPr>
                <a:t> </a:t>
              </a:r>
              <a:r>
                <a:rPr lang="en-US" sz="3816" b="1" dirty="0">
                  <a:solidFill>
                    <a:srgbClr val="5B9BD5">
                      <a:lumMod val="75000"/>
                    </a:srgbClr>
                  </a:solidFill>
                  <a:latin typeface="Times New Roman" panose="02020603050405020304" pitchFamily="18" charset="0"/>
                  <a:cs typeface="Times New Roman" panose="02020603050405020304" pitchFamily="18" charset="0"/>
                </a:rPr>
                <a:t>Python:</a:t>
              </a:r>
            </a:p>
          </p:txBody>
        </p:sp>
        <p:sp>
          <p:nvSpPr>
            <p:cNvPr id="8" name="Rectangle 7"/>
            <p:cNvSpPr/>
            <p:nvPr/>
          </p:nvSpPr>
          <p:spPr>
            <a:xfrm>
              <a:off x="7462221" y="15947"/>
              <a:ext cx="714750" cy="1439824"/>
            </a:xfrm>
            <a:prstGeom prst="rect">
              <a:avLst/>
            </a:prstGeom>
            <a:solidFill>
              <a:srgbClr val="FF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7560670" y="97745"/>
              <a:ext cx="4498371" cy="417707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5000"/>
                </a:lnSpc>
              </a:pPr>
              <a:r>
                <a:rPr lang="en-US" sz="1590" dirty="0">
                  <a:solidFill>
                    <a:srgbClr val="FF99CC"/>
                  </a:solidFill>
                  <a:latin typeface="Arial" panose="020B0604020202020204" pitchFamily="34" charset="0"/>
                  <a:cs typeface="Arial" panose="020B0604020202020204" pitchFamily="34" charset="0"/>
                </a:rPr>
                <a:t>$ cat likeTheCExample.py</a:t>
              </a:r>
            </a:p>
            <a:p>
              <a:pPr>
                <a:lnSpc>
                  <a:spcPct val="105000"/>
                </a:lnSpc>
              </a:pPr>
              <a:r>
                <a:rPr lang="en-US" sz="1590" dirty="0">
                  <a:solidFill>
                    <a:srgbClr val="FFD966"/>
                  </a:solidFill>
                  <a:latin typeface="Arial" panose="020B0604020202020204" pitchFamily="34" charset="0"/>
                  <a:cs typeface="Arial" panose="020B0604020202020204" pitchFamily="34" charset="0"/>
                </a:rPr>
                <a:t>X='A'</a:t>
              </a:r>
            </a:p>
            <a:p>
              <a:pPr>
                <a:lnSpc>
                  <a:spcPct val="105000"/>
                </a:lnSpc>
              </a:pPr>
              <a:r>
                <a:rPr lang="en-US" sz="1590" dirty="0">
                  <a:solidFill>
                    <a:srgbClr val="FFD966"/>
                  </a:solidFill>
                  <a:latin typeface="Arial" panose="020B0604020202020204" pitchFamily="34" charset="0"/>
                  <a:cs typeface="Arial" panose="020B0604020202020204" pitchFamily="34" charset="0"/>
                </a:rPr>
                <a:t>Z=6.0</a:t>
              </a:r>
            </a:p>
            <a:p>
              <a:pPr>
                <a:lnSpc>
                  <a:spcPct val="105000"/>
                </a:lnSpc>
              </a:pPr>
              <a:r>
                <a:rPr lang="en-US" sz="1590" dirty="0">
                  <a:solidFill>
                    <a:srgbClr val="FFD966"/>
                  </a:solidFill>
                  <a:latin typeface="Arial" panose="020B0604020202020204" pitchFamily="34" charset="0"/>
                  <a:cs typeface="Arial" panose="020B0604020202020204" pitchFamily="34" charset="0"/>
                </a:rPr>
                <a:t>Z='B'</a:t>
              </a:r>
            </a:p>
            <a:p>
              <a:pPr>
                <a:lnSpc>
                  <a:spcPct val="105000"/>
                </a:lnSpc>
              </a:pPr>
              <a:r>
                <a:rPr lang="en-US" sz="1590" dirty="0">
                  <a:solidFill>
                    <a:srgbClr val="FFD966"/>
                  </a:solidFill>
                  <a:latin typeface="Arial" panose="020B0604020202020204" pitchFamily="34" charset="0"/>
                  <a:cs typeface="Arial" panose="020B0604020202020204" pitchFamily="34" charset="0"/>
                </a:rPr>
                <a:t>Z=6</a:t>
              </a:r>
            </a:p>
            <a:p>
              <a:pPr>
                <a:lnSpc>
                  <a:spcPct val="105000"/>
                </a:lnSpc>
              </a:pPr>
              <a:r>
                <a:rPr lang="en-US" sz="1590" dirty="0">
                  <a:solidFill>
                    <a:srgbClr val="FFD966"/>
                  </a:solidFill>
                  <a:latin typeface="Arial" panose="020B0604020202020204" pitchFamily="34" charset="0"/>
                  <a:cs typeface="Arial" panose="020B0604020202020204" pitchFamily="34" charset="0"/>
                </a:rPr>
                <a:t>Y=Z</a:t>
              </a:r>
            </a:p>
            <a:p>
              <a:pPr>
                <a:lnSpc>
                  <a:spcPct val="105000"/>
                </a:lnSpc>
              </a:pPr>
              <a:r>
                <a:rPr lang="en-US" sz="1590" dirty="0">
                  <a:solidFill>
                    <a:srgbClr val="FFD966"/>
                  </a:solidFill>
                  <a:latin typeface="Arial" panose="020B0604020202020204" pitchFamily="34" charset="0"/>
                  <a:cs typeface="Arial" panose="020B0604020202020204" pitchFamily="34" charset="0"/>
                </a:rPr>
                <a:t>Y=X</a:t>
              </a:r>
            </a:p>
            <a:p>
              <a:pPr>
                <a:lnSpc>
                  <a:spcPct val="105000"/>
                </a:lnSpc>
              </a:pPr>
              <a:r>
                <a:rPr lang="en-US" sz="1590" dirty="0">
                  <a:solidFill>
                    <a:srgbClr val="FFD966"/>
                  </a:solidFill>
                  <a:latin typeface="Arial" panose="020B0604020202020204" pitchFamily="34" charset="0"/>
                  <a:cs typeface="Arial" panose="020B0604020202020204" pitchFamily="34" charset="0"/>
                </a:rPr>
                <a:t>Y=Z</a:t>
              </a:r>
            </a:p>
            <a:p>
              <a:pPr>
                <a:lnSpc>
                  <a:spcPct val="105000"/>
                </a:lnSpc>
              </a:pPr>
              <a:r>
                <a:rPr lang="en-US" sz="1590" dirty="0">
                  <a:solidFill>
                    <a:srgbClr val="FFD966"/>
                  </a:solidFill>
                  <a:latin typeface="Arial" panose="020B0604020202020204" pitchFamily="34" charset="0"/>
                  <a:cs typeface="Arial" panose="020B0604020202020204" pitchFamily="34" charset="0"/>
                </a:rPr>
                <a:t>Y=Y</a:t>
              </a:r>
            </a:p>
            <a:p>
              <a:pPr>
                <a:lnSpc>
                  <a:spcPct val="105000"/>
                </a:lnSpc>
              </a:pPr>
              <a:r>
                <a:rPr lang="en-US" sz="1590" dirty="0">
                  <a:solidFill>
                    <a:srgbClr val="FFD966"/>
                  </a:solidFill>
                  <a:latin typeface="Arial" panose="020B0604020202020204" pitchFamily="34" charset="0"/>
                  <a:cs typeface="Arial" panose="020B0604020202020204" pitchFamily="34" charset="0"/>
                </a:rPr>
                <a:t>print ("X=%c Y=%f Z</a:t>
              </a:r>
              <a:r>
                <a:rPr lang="en-US" sz="1590" dirty="0" smtClean="0">
                  <a:solidFill>
                    <a:srgbClr val="FFD966"/>
                  </a:solidFill>
                  <a:latin typeface="Arial" panose="020B0604020202020204" pitchFamily="34" charset="0"/>
                  <a:cs typeface="Arial" panose="020B0604020202020204" pitchFamily="34" charset="0"/>
                </a:rPr>
                <a:t>=%d" </a:t>
              </a:r>
              <a:r>
                <a:rPr lang="en-US" sz="1590" dirty="0">
                  <a:solidFill>
                    <a:srgbClr val="FFD966"/>
                  </a:solidFill>
                  <a:latin typeface="Arial" panose="020B0604020202020204" pitchFamily="34" charset="0"/>
                  <a:cs typeface="Arial" panose="020B0604020202020204" pitchFamily="34" charset="0"/>
                </a:rPr>
                <a:t>% (X,Y,Z))</a:t>
              </a:r>
            </a:p>
            <a:p>
              <a:pPr>
                <a:lnSpc>
                  <a:spcPct val="105000"/>
                </a:lnSpc>
              </a:pPr>
              <a:r>
                <a:rPr lang="en-US" sz="1590" dirty="0">
                  <a:solidFill>
                    <a:srgbClr val="FFD966"/>
                  </a:solidFill>
                  <a:latin typeface="Arial" panose="020B0604020202020204" pitchFamily="34" charset="0"/>
                  <a:cs typeface="Arial" panose="020B0604020202020204" pitchFamily="34" charset="0"/>
                </a:rPr>
                <a:t>Z=Y</a:t>
              </a:r>
            </a:p>
            <a:p>
              <a:pPr>
                <a:lnSpc>
                  <a:spcPct val="105000"/>
                </a:lnSpc>
              </a:pPr>
              <a:r>
                <a:rPr lang="en-US" sz="1590" dirty="0">
                  <a:solidFill>
                    <a:srgbClr val="FFD966"/>
                  </a:solidFill>
                  <a:latin typeface="Arial" panose="020B0604020202020204" pitchFamily="34" charset="0"/>
                  <a:cs typeface="Arial" panose="020B0604020202020204" pitchFamily="34" charset="0"/>
                </a:rPr>
                <a:t>print ("X=%c Y=%f Z</a:t>
              </a:r>
              <a:r>
                <a:rPr lang="en-US" sz="1590" dirty="0" smtClean="0">
                  <a:solidFill>
                    <a:srgbClr val="FFD966"/>
                  </a:solidFill>
                  <a:latin typeface="Arial" panose="020B0604020202020204" pitchFamily="34" charset="0"/>
                  <a:cs typeface="Arial" panose="020B0604020202020204" pitchFamily="34" charset="0"/>
                </a:rPr>
                <a:t>=%d" </a:t>
              </a:r>
              <a:r>
                <a:rPr lang="en-US" sz="1590" dirty="0">
                  <a:solidFill>
                    <a:srgbClr val="FFD966"/>
                  </a:solidFill>
                  <a:latin typeface="Arial" panose="020B0604020202020204" pitchFamily="34" charset="0"/>
                  <a:cs typeface="Arial" panose="020B0604020202020204" pitchFamily="34" charset="0"/>
                </a:rPr>
                <a:t>% (X,Y,Z))</a:t>
              </a:r>
            </a:p>
            <a:p>
              <a:pPr>
                <a:lnSpc>
                  <a:spcPct val="105000"/>
                </a:lnSpc>
              </a:pPr>
              <a:r>
                <a:rPr lang="en-US" sz="1590" dirty="0">
                  <a:solidFill>
                    <a:srgbClr val="FF99CC"/>
                  </a:solidFill>
                  <a:latin typeface="Arial" panose="020B0604020202020204" pitchFamily="34" charset="0"/>
                  <a:cs typeface="Arial" panose="020B0604020202020204" pitchFamily="34" charset="0"/>
                </a:rPr>
                <a:t>% python3 likeTheCExample.py</a:t>
              </a:r>
            </a:p>
            <a:p>
              <a:pPr>
                <a:lnSpc>
                  <a:spcPct val="105000"/>
                </a:lnSpc>
              </a:pPr>
              <a:r>
                <a:rPr lang="en-US" sz="1590" dirty="0">
                  <a:solidFill>
                    <a:srgbClr val="FF99CC"/>
                  </a:solidFill>
                  <a:latin typeface="Arial" panose="020B0604020202020204" pitchFamily="34" charset="0"/>
                  <a:cs typeface="Arial" panose="020B0604020202020204" pitchFamily="34" charset="0"/>
                </a:rPr>
                <a:t>X=A Y=6.000000 Z=6</a:t>
              </a:r>
            </a:p>
            <a:p>
              <a:pPr>
                <a:lnSpc>
                  <a:spcPct val="105000"/>
                </a:lnSpc>
              </a:pPr>
              <a:r>
                <a:rPr lang="en-US" sz="1590" dirty="0">
                  <a:solidFill>
                    <a:srgbClr val="FF99CC"/>
                  </a:solidFill>
                  <a:latin typeface="Arial" panose="020B0604020202020204" pitchFamily="34" charset="0"/>
                  <a:cs typeface="Arial" panose="020B0604020202020204" pitchFamily="34" charset="0"/>
                </a:rPr>
                <a:t>X=A Y=6.000000 Z=6</a:t>
              </a:r>
            </a:p>
            <a:p>
              <a:pPr>
                <a:lnSpc>
                  <a:spcPct val="105000"/>
                </a:lnSpc>
              </a:pPr>
              <a:r>
                <a:rPr lang="en-US" sz="1590" dirty="0">
                  <a:solidFill>
                    <a:srgbClr val="FF99CC"/>
                  </a:solidFill>
                  <a:latin typeface="Arial" panose="020B0604020202020204" pitchFamily="34" charset="0"/>
                  <a:cs typeface="Arial" panose="020B0604020202020204" pitchFamily="34" charset="0"/>
                </a:rPr>
                <a:t>%</a:t>
              </a:r>
            </a:p>
          </p:txBody>
        </p:sp>
      </p:grpSp>
      <p:sp>
        <p:nvSpPr>
          <p:cNvPr id="51" name="Rounded Rectangular Callout 50"/>
          <p:cNvSpPr/>
          <p:nvPr/>
        </p:nvSpPr>
        <p:spPr>
          <a:xfrm>
            <a:off x="296249" y="1472664"/>
            <a:ext cx="4563072" cy="587141"/>
          </a:xfrm>
          <a:prstGeom prst="wedgeRoundRectCallout">
            <a:avLst>
              <a:gd name="adj1" fmla="val 64326"/>
              <a:gd name="adj2" fmla="val -1450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srgbClr val="0033CC"/>
                </a:solidFill>
              </a:rPr>
              <a:t>Notice: it’s a much smaller program.</a:t>
            </a:r>
          </a:p>
        </p:txBody>
      </p:sp>
      <p:sp>
        <p:nvSpPr>
          <p:cNvPr id="10" name="Left Brace 9"/>
          <p:cNvSpPr/>
          <p:nvPr/>
        </p:nvSpPr>
        <p:spPr>
          <a:xfrm>
            <a:off x="5680859" y="304801"/>
            <a:ext cx="411245" cy="2808050"/>
          </a:xfrm>
          <a:prstGeom prst="leftBrace">
            <a:avLst>
              <a:gd name="adj1" fmla="val 77114"/>
              <a:gd name="adj2" fmla="val 49102"/>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1">
              <a:solidFill>
                <a:prstClr val="black"/>
              </a:solidFill>
            </a:endParaRPr>
          </a:p>
        </p:txBody>
      </p:sp>
      <p:sp>
        <p:nvSpPr>
          <p:cNvPr id="54" name="Rectangle 53"/>
          <p:cNvSpPr/>
          <p:nvPr/>
        </p:nvSpPr>
        <p:spPr>
          <a:xfrm>
            <a:off x="1947156" y="3763418"/>
            <a:ext cx="3279971" cy="1095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unions work in C</a:t>
            </a:r>
          </a:p>
        </p:txBody>
      </p:sp>
      <p:sp>
        <p:nvSpPr>
          <p:cNvPr id="14" name="Rectangle 13"/>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gcc</a:t>
            </a:r>
            <a:r>
              <a:rPr lang="en-US" sz="1749" dirty="0">
                <a:solidFill>
                  <a:srgbClr val="7FBF7F"/>
                </a:solidFill>
                <a:latin typeface="Arial Narrow" panose="020B0606020202030204" pitchFamily="34" charset="0"/>
                <a:cs typeface="Consolas" panose="020B0609020204030204" pitchFamily="49" charset="0"/>
              </a:rPr>
              <a:t> -o </a:t>
            </a:r>
            <a:r>
              <a:rPr lang="en-US" sz="1749" dirty="0" err="1">
                <a:solidFill>
                  <a:srgbClr val="7FBF7F"/>
                </a:solidFill>
                <a:latin typeface="Arial Narrow" panose="020B0606020202030204" pitchFamily="34" charset="0"/>
                <a:cs typeface="Consolas" panose="020B0609020204030204" pitchFamily="49" charset="0"/>
              </a:rPr>
              <a:t>union.x</a:t>
            </a:r>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union.c</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union.x</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generic=8</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(c=1</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s=8</a:t>
            </a:r>
            <a:r>
              <a:rPr lang="en-US" sz="1590"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i</a:t>
            </a:r>
            <a:r>
              <a:rPr lang="en-US" sz="1749" dirty="0">
                <a:solidFill>
                  <a:srgbClr val="7FBF7F"/>
                </a:solidFill>
                <a:latin typeface="Arial Narrow" panose="020B0606020202030204" pitchFamily="34" charset="0"/>
                <a:cs typeface="Consolas" panose="020B0609020204030204" pitchFamily="49" charset="0"/>
              </a:rPr>
              <a:t>=4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l=4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u=4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f=4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d=8)</a:t>
            </a:r>
          </a:p>
          <a:p>
            <a:r>
              <a:rPr lang="pl-PL" sz="1749" dirty="0">
                <a:solidFill>
                  <a:srgbClr val="7FBF7F"/>
                </a:solidFill>
                <a:latin typeface="Arial Narrow" panose="020B0606020202030204" pitchFamily="34" charset="0"/>
                <a:cs typeface="Consolas" panose="020B0609020204030204" pitchFamily="49" charset="0"/>
              </a:rPr>
              <a:t>X</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&gt;c=A   Y</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&gt;f=6.000000   Z</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&gt;i=6</a:t>
            </a:r>
          </a:p>
          <a:p>
            <a:r>
              <a:rPr lang="pl-PL" sz="1749" dirty="0">
                <a:solidFill>
                  <a:srgbClr val="7FBF7F"/>
                </a:solidFill>
                <a:latin typeface="Arial Narrow" panose="020B0606020202030204" pitchFamily="34" charset="0"/>
                <a:cs typeface="Consolas" panose="020B0609020204030204" pitchFamily="49" charset="0"/>
              </a:rPr>
              <a:t>X</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&gt;c=A   Y</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&gt;f=6.000000   Z</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&gt;i=1086324736</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a:t>
            </a:r>
          </a:p>
          <a:p>
            <a:endParaRPr lang="pl-PL" sz="1749" dirty="0">
              <a:solidFill>
                <a:srgbClr val="7FBF7F"/>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387060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randombar(horizontal)">
                                      <p:cBhvr>
                                        <p:cTn id="7" dur="500"/>
                                        <p:tgtEl>
                                          <p:spTgt spid="51"/>
                                        </p:tgtEl>
                                      </p:cBhvr>
                                    </p:animEffect>
                                  </p:childTnLst>
                                </p:cTn>
                              </p:par>
                              <p:par>
                                <p:cTn id="8" presetID="17"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ppt_w</p:attrName>
                                        </p:attrNameLst>
                                      </p:cBhvr>
                                      <p:tavLst>
                                        <p:tav tm="0">
                                          <p:val>
                                            <p:fltVal val="0"/>
                                          </p:val>
                                        </p:tav>
                                        <p:tav tm="100000">
                                          <p:val>
                                            <p:strVal val="#ppt_w"/>
                                          </p:val>
                                        </p:tav>
                                      </p:tavLst>
                                    </p:anim>
                                    <p:anim calcmode="lin" valueType="num">
                                      <p:cBhvr>
                                        <p:cTn id="11" dur="500" fill="hold"/>
                                        <p:tgtEl>
                                          <p:spTgt spid="10"/>
                                        </p:tgtEl>
                                        <p:attrNameLst>
                                          <p:attrName>ppt_h</p:attrName>
                                        </p:attrNameLst>
                                      </p:cBhvr>
                                      <p:tavLst>
                                        <p:tav tm="0">
                                          <p:val>
                                            <p:strVal val="#ppt_h"/>
                                          </p:val>
                                        </p:tav>
                                        <p:tav tm="100000">
                                          <p:val>
                                            <p:strVal val="#ppt_h"/>
                                          </p:val>
                                        </p:tav>
                                      </p:tavLst>
                                    </p:anim>
                                  </p:childTnLst>
                                </p:cTn>
                              </p:par>
                              <p:par>
                                <p:cTn id="12" presetID="16" presetClass="emph" presetSubtype="0" fill="hold" nodeType="withEffect">
                                  <p:stCondLst>
                                    <p:cond delay="0"/>
                                  </p:stCondLst>
                                  <p:childTnLst>
                                    <p:set>
                                      <p:cBhvr override="childStyle">
                                        <p:cTn id="13" dur="2000" fill="hold"/>
                                        <p:tgtEl>
                                          <p:spTgt spid="14">
                                            <p:txEl>
                                              <p:pRg st="0" end="0"/>
                                            </p:txEl>
                                          </p:spTgt>
                                        </p:tgtEl>
                                        <p:attrNameLst>
                                          <p:attrName>style.color</p:attrName>
                                        </p:attrNameLst>
                                      </p:cBhvr>
                                      <p:to>
                                        <p:clrVal>
                                          <a:srgbClr val="7FBF7F"/>
                                        </p:clrVal>
                                      </p:to>
                                    </p:set>
                                    <p:set>
                                      <p:cBhvr>
                                        <p:cTn id="14" dur="2000" fill="hold"/>
                                        <p:tgtEl>
                                          <p:spTgt spid="14">
                                            <p:txEl>
                                              <p:pRg st="0" end="0"/>
                                            </p:txEl>
                                          </p:spTgt>
                                        </p:tgtEl>
                                        <p:attrNameLst>
                                          <p:attrName>fillcolor</p:attrName>
                                        </p:attrNameLst>
                                      </p:cBhvr>
                                      <p:to>
                                        <p:clrVal>
                                          <a:srgbClr val="7FBF7F"/>
                                        </p:clrVal>
                                      </p:to>
                                    </p:set>
                                    <p:set>
                                      <p:cBhvr>
                                        <p:cTn id="15" dur="2000" fill="hold"/>
                                        <p:tgtEl>
                                          <p:spTgt spid="14">
                                            <p:txEl>
                                              <p:pRg st="0" end="0"/>
                                            </p:txEl>
                                          </p:spTgt>
                                        </p:tgtEl>
                                        <p:attrNameLst>
                                          <p:attrName>fill.type</p:attrName>
                                        </p:attrNameLst>
                                      </p:cBhvr>
                                      <p:to>
                                        <p:strVal val="solid"/>
                                      </p:to>
                                    </p:set>
                                  </p:childTnLst>
                                </p:cTn>
                              </p:par>
                              <p:par>
                                <p:cTn id="16" presetID="16" presetClass="emph" presetSubtype="0" fill="hold" nodeType="withEffect">
                                  <p:stCondLst>
                                    <p:cond delay="0"/>
                                  </p:stCondLst>
                                  <p:childTnLst>
                                    <p:set>
                                      <p:cBhvr override="childStyle">
                                        <p:cTn id="17" dur="2000" fill="hold"/>
                                        <p:tgtEl>
                                          <p:spTgt spid="14">
                                            <p:txEl>
                                              <p:pRg st="1" end="1"/>
                                            </p:txEl>
                                          </p:spTgt>
                                        </p:tgtEl>
                                        <p:attrNameLst>
                                          <p:attrName>style.color</p:attrName>
                                        </p:attrNameLst>
                                      </p:cBhvr>
                                      <p:to>
                                        <p:clrVal>
                                          <a:srgbClr val="7FBF7F"/>
                                        </p:clrVal>
                                      </p:to>
                                    </p:set>
                                    <p:set>
                                      <p:cBhvr>
                                        <p:cTn id="18" dur="2000" fill="hold"/>
                                        <p:tgtEl>
                                          <p:spTgt spid="14">
                                            <p:txEl>
                                              <p:pRg st="1" end="1"/>
                                            </p:txEl>
                                          </p:spTgt>
                                        </p:tgtEl>
                                        <p:attrNameLst>
                                          <p:attrName>fillcolor</p:attrName>
                                        </p:attrNameLst>
                                      </p:cBhvr>
                                      <p:to>
                                        <p:clrVal>
                                          <a:srgbClr val="7FBF7F"/>
                                        </p:clrVal>
                                      </p:to>
                                    </p:set>
                                    <p:set>
                                      <p:cBhvr>
                                        <p:cTn id="19" dur="2000" fill="hold"/>
                                        <p:tgtEl>
                                          <p:spTgt spid="14">
                                            <p:txEl>
                                              <p:pRg st="1" end="1"/>
                                            </p:txEl>
                                          </p:spTgt>
                                        </p:tgtEl>
                                        <p:attrNameLst>
                                          <p:attrName>fill.type</p:attrName>
                                        </p:attrNameLst>
                                      </p:cBhvr>
                                      <p:to>
                                        <p:strVal val="solid"/>
                                      </p:to>
                                    </p:set>
                                  </p:childTnLst>
                                </p:cTn>
                              </p:par>
                              <p:par>
                                <p:cTn id="20" presetID="16" presetClass="emph" presetSubtype="0" fill="hold" nodeType="withEffect">
                                  <p:stCondLst>
                                    <p:cond delay="0"/>
                                  </p:stCondLst>
                                  <p:childTnLst>
                                    <p:set>
                                      <p:cBhvr override="childStyle">
                                        <p:cTn id="21" dur="2000" fill="hold"/>
                                        <p:tgtEl>
                                          <p:spTgt spid="14">
                                            <p:txEl>
                                              <p:pRg st="2" end="2"/>
                                            </p:txEl>
                                          </p:spTgt>
                                        </p:tgtEl>
                                        <p:attrNameLst>
                                          <p:attrName>style.color</p:attrName>
                                        </p:attrNameLst>
                                      </p:cBhvr>
                                      <p:to>
                                        <p:clrVal>
                                          <a:srgbClr val="7FBF7F"/>
                                        </p:clrVal>
                                      </p:to>
                                    </p:set>
                                    <p:set>
                                      <p:cBhvr>
                                        <p:cTn id="22" dur="2000" fill="hold"/>
                                        <p:tgtEl>
                                          <p:spTgt spid="14">
                                            <p:txEl>
                                              <p:pRg st="2" end="2"/>
                                            </p:txEl>
                                          </p:spTgt>
                                        </p:tgtEl>
                                        <p:attrNameLst>
                                          <p:attrName>fillcolor</p:attrName>
                                        </p:attrNameLst>
                                      </p:cBhvr>
                                      <p:to>
                                        <p:clrVal>
                                          <a:srgbClr val="7FBF7F"/>
                                        </p:clrVal>
                                      </p:to>
                                    </p:set>
                                    <p:set>
                                      <p:cBhvr>
                                        <p:cTn id="23" dur="2000" fill="hold"/>
                                        <p:tgtEl>
                                          <p:spTgt spid="14">
                                            <p:txEl>
                                              <p:pRg st="2" end="2"/>
                                            </p:txEl>
                                          </p:spTgt>
                                        </p:tgtEl>
                                        <p:attrNameLst>
                                          <p:attrName>fill.type</p:attrName>
                                        </p:attrNameLst>
                                      </p:cBhvr>
                                      <p:to>
                                        <p:strVal val="solid"/>
                                      </p:to>
                                    </p:set>
                                  </p:childTnLst>
                                </p:cTn>
                              </p:par>
                              <p:par>
                                <p:cTn id="24" presetID="16" presetClass="emph" presetSubtype="0" fill="hold" nodeType="withEffect">
                                  <p:stCondLst>
                                    <p:cond delay="0"/>
                                  </p:stCondLst>
                                  <p:childTnLst>
                                    <p:set>
                                      <p:cBhvr override="childStyle">
                                        <p:cTn id="25" dur="2000" fill="hold"/>
                                        <p:tgtEl>
                                          <p:spTgt spid="14">
                                            <p:txEl>
                                              <p:pRg st="3" end="3"/>
                                            </p:txEl>
                                          </p:spTgt>
                                        </p:tgtEl>
                                        <p:attrNameLst>
                                          <p:attrName>style.color</p:attrName>
                                        </p:attrNameLst>
                                      </p:cBhvr>
                                      <p:to>
                                        <p:clrVal>
                                          <a:srgbClr val="7FBF7F"/>
                                        </p:clrVal>
                                      </p:to>
                                    </p:set>
                                    <p:set>
                                      <p:cBhvr>
                                        <p:cTn id="26" dur="2000" fill="hold"/>
                                        <p:tgtEl>
                                          <p:spTgt spid="14">
                                            <p:txEl>
                                              <p:pRg st="3" end="3"/>
                                            </p:txEl>
                                          </p:spTgt>
                                        </p:tgtEl>
                                        <p:attrNameLst>
                                          <p:attrName>fillcolor</p:attrName>
                                        </p:attrNameLst>
                                      </p:cBhvr>
                                      <p:to>
                                        <p:clrVal>
                                          <a:srgbClr val="7FBF7F"/>
                                        </p:clrVal>
                                      </p:to>
                                    </p:set>
                                    <p:set>
                                      <p:cBhvr>
                                        <p:cTn id="27" dur="2000" fill="hold"/>
                                        <p:tgtEl>
                                          <p:spTgt spid="14">
                                            <p:txEl>
                                              <p:pRg st="3" end="3"/>
                                            </p:txEl>
                                          </p:spTgt>
                                        </p:tgtEl>
                                        <p:attrNameLst>
                                          <p:attrName>fill.type</p:attrName>
                                        </p:attrNameLst>
                                      </p:cBhvr>
                                      <p:to>
                                        <p:strVal val="solid"/>
                                      </p:to>
                                    </p:set>
                                  </p:childTnLst>
                                </p:cTn>
                              </p:par>
                              <p:par>
                                <p:cTn id="28" presetID="16" presetClass="emph" presetSubtype="0" fill="hold" nodeType="withEffect">
                                  <p:stCondLst>
                                    <p:cond delay="0"/>
                                  </p:stCondLst>
                                  <p:childTnLst>
                                    <p:set>
                                      <p:cBhvr override="childStyle">
                                        <p:cTn id="29" dur="2000" fill="hold"/>
                                        <p:tgtEl>
                                          <p:spTgt spid="14">
                                            <p:txEl>
                                              <p:pRg st="4" end="4"/>
                                            </p:txEl>
                                          </p:spTgt>
                                        </p:tgtEl>
                                        <p:attrNameLst>
                                          <p:attrName>style.color</p:attrName>
                                        </p:attrNameLst>
                                      </p:cBhvr>
                                      <p:to>
                                        <p:clrVal>
                                          <a:srgbClr val="7FBF7F"/>
                                        </p:clrVal>
                                      </p:to>
                                    </p:set>
                                    <p:set>
                                      <p:cBhvr>
                                        <p:cTn id="30" dur="2000" fill="hold"/>
                                        <p:tgtEl>
                                          <p:spTgt spid="14">
                                            <p:txEl>
                                              <p:pRg st="4" end="4"/>
                                            </p:txEl>
                                          </p:spTgt>
                                        </p:tgtEl>
                                        <p:attrNameLst>
                                          <p:attrName>fillcolor</p:attrName>
                                        </p:attrNameLst>
                                      </p:cBhvr>
                                      <p:to>
                                        <p:clrVal>
                                          <a:srgbClr val="7FBF7F"/>
                                        </p:clrVal>
                                      </p:to>
                                    </p:set>
                                    <p:set>
                                      <p:cBhvr>
                                        <p:cTn id="31" dur="2000" fill="hold"/>
                                        <p:tgtEl>
                                          <p:spTgt spid="14">
                                            <p:txEl>
                                              <p:pRg st="4" end="4"/>
                                            </p:txEl>
                                          </p:spTgt>
                                        </p:tgtEl>
                                        <p:attrNameLst>
                                          <p:attrName>fill.type</p:attrName>
                                        </p:attrNameLst>
                                      </p:cBhvr>
                                      <p:to>
                                        <p:strVal val="solid"/>
                                      </p:to>
                                    </p:set>
                                  </p:childTnLst>
                                </p:cTn>
                              </p:par>
                              <p:par>
                                <p:cTn id="32" presetID="16" presetClass="emph" presetSubtype="0" fill="hold" nodeType="withEffect">
                                  <p:stCondLst>
                                    <p:cond delay="0"/>
                                  </p:stCondLst>
                                  <p:childTnLst>
                                    <p:set>
                                      <p:cBhvr override="childStyle">
                                        <p:cTn id="33" dur="2000" fill="hold"/>
                                        <p:tgtEl>
                                          <p:spTgt spid="14">
                                            <p:txEl>
                                              <p:pRg st="5" end="5"/>
                                            </p:txEl>
                                          </p:spTgt>
                                        </p:tgtEl>
                                        <p:attrNameLst>
                                          <p:attrName>style.color</p:attrName>
                                        </p:attrNameLst>
                                      </p:cBhvr>
                                      <p:to>
                                        <p:clrVal>
                                          <a:srgbClr val="7FBF7F"/>
                                        </p:clrVal>
                                      </p:to>
                                    </p:set>
                                    <p:set>
                                      <p:cBhvr>
                                        <p:cTn id="34" dur="2000" fill="hold"/>
                                        <p:tgtEl>
                                          <p:spTgt spid="14">
                                            <p:txEl>
                                              <p:pRg st="5" end="5"/>
                                            </p:txEl>
                                          </p:spTgt>
                                        </p:tgtEl>
                                        <p:attrNameLst>
                                          <p:attrName>fillcolor</p:attrName>
                                        </p:attrNameLst>
                                      </p:cBhvr>
                                      <p:to>
                                        <p:clrVal>
                                          <a:srgbClr val="7FBF7F"/>
                                        </p:clrVal>
                                      </p:to>
                                    </p:set>
                                    <p:set>
                                      <p:cBhvr>
                                        <p:cTn id="35" dur="2000" fill="hold"/>
                                        <p:tgtEl>
                                          <p:spTgt spid="14">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10"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9729788" cy="6858000"/>
          </a:xfrm>
          <a:prstGeom prst="rect">
            <a:avLst/>
          </a:prstGeom>
          <a:solidFill>
            <a:srgbClr val="7FB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a:t>
            </a:r>
          </a:p>
        </p:txBody>
      </p:sp>
      <p:grpSp>
        <p:nvGrpSpPr>
          <p:cNvPr id="9" name="Group 8"/>
          <p:cNvGrpSpPr/>
          <p:nvPr/>
        </p:nvGrpSpPr>
        <p:grpSpPr>
          <a:xfrm>
            <a:off x="2261594" y="0"/>
            <a:ext cx="7468194" cy="4198246"/>
            <a:chOff x="2832380" y="-1646"/>
            <a:chExt cx="9351102" cy="4376672"/>
          </a:xfrm>
        </p:grpSpPr>
        <p:sp>
          <p:nvSpPr>
            <p:cNvPr id="7" name="Rectangle 6"/>
            <p:cNvSpPr/>
            <p:nvPr/>
          </p:nvSpPr>
          <p:spPr>
            <a:xfrm>
              <a:off x="7443403" y="-1"/>
              <a:ext cx="4740079" cy="4375027"/>
            </a:xfrm>
            <a:prstGeom prst="rect">
              <a:avLst/>
            </a:prstGeom>
            <a:solidFill>
              <a:srgbClr val="FF99CC"/>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011052" y="-1646"/>
              <a:ext cx="4753250" cy="1416974"/>
            </a:xfrm>
            <a:prstGeom prst="rect">
              <a:avLst/>
            </a:prstGeom>
            <a:solidFill>
              <a:srgbClr val="FF99CC"/>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0" name="Rectangle 39"/>
            <p:cNvSpPr/>
            <p:nvPr/>
          </p:nvSpPr>
          <p:spPr>
            <a:xfrm>
              <a:off x="2832380" y="32084"/>
              <a:ext cx="4755714" cy="1377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everything works</a:t>
              </a:r>
              <a:r>
                <a:rPr lang="en-US" sz="2862" b="1" dirty="0">
                  <a:solidFill>
                    <a:srgbClr val="5B9BD5">
                      <a:lumMod val="75000"/>
                    </a:srgbClr>
                  </a:solidFill>
                  <a:latin typeface="Times New Roman" panose="02020603050405020304" pitchFamily="18" charset="0"/>
                  <a:cs typeface="Times New Roman" panose="02020603050405020304" pitchFamily="18" charset="0"/>
                </a:rPr>
                <a:t> </a:t>
              </a:r>
              <a:r>
                <a:rPr lang="en-US" sz="3816" b="1" dirty="0">
                  <a:solidFill>
                    <a:srgbClr val="5B9BD5">
                      <a:lumMod val="75000"/>
                    </a:srgbClr>
                  </a:solidFill>
                  <a:latin typeface="Times New Roman" panose="02020603050405020304" pitchFamily="18" charset="0"/>
                  <a:cs typeface="Times New Roman" panose="02020603050405020304" pitchFamily="18" charset="0"/>
                </a:rPr>
                <a:t>in</a:t>
              </a:r>
              <a:r>
                <a:rPr lang="en-US" sz="2862" b="1" dirty="0">
                  <a:solidFill>
                    <a:srgbClr val="5B9BD5">
                      <a:lumMod val="75000"/>
                    </a:srgbClr>
                  </a:solidFill>
                  <a:latin typeface="Times New Roman" panose="02020603050405020304" pitchFamily="18" charset="0"/>
                  <a:cs typeface="Times New Roman" panose="02020603050405020304" pitchFamily="18" charset="0"/>
                </a:rPr>
                <a:t> </a:t>
              </a:r>
              <a:r>
                <a:rPr lang="en-US" sz="3816" b="1" dirty="0">
                  <a:solidFill>
                    <a:srgbClr val="5B9BD5">
                      <a:lumMod val="75000"/>
                    </a:srgbClr>
                  </a:solidFill>
                  <a:latin typeface="Times New Roman" panose="02020603050405020304" pitchFamily="18" charset="0"/>
                  <a:cs typeface="Times New Roman" panose="02020603050405020304" pitchFamily="18" charset="0"/>
                </a:rPr>
                <a:t>Python:</a:t>
              </a:r>
            </a:p>
          </p:txBody>
        </p:sp>
        <p:sp>
          <p:nvSpPr>
            <p:cNvPr id="8" name="Rectangle 7"/>
            <p:cNvSpPr/>
            <p:nvPr/>
          </p:nvSpPr>
          <p:spPr>
            <a:xfrm>
              <a:off x="7462221" y="15947"/>
              <a:ext cx="714750" cy="1439824"/>
            </a:xfrm>
            <a:prstGeom prst="rect">
              <a:avLst/>
            </a:prstGeom>
            <a:solidFill>
              <a:srgbClr val="FF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7560670" y="97745"/>
              <a:ext cx="4498371" cy="417707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5000"/>
                </a:lnSpc>
              </a:pPr>
              <a:r>
                <a:rPr lang="en-US" sz="1590" dirty="0">
                  <a:solidFill>
                    <a:srgbClr val="FF99CC"/>
                  </a:solidFill>
                  <a:latin typeface="Arial" panose="020B0604020202020204" pitchFamily="34" charset="0"/>
                  <a:cs typeface="Arial" panose="020B0604020202020204" pitchFamily="34" charset="0"/>
                </a:rPr>
                <a:t>$ cat likeTheCExample.py</a:t>
              </a:r>
            </a:p>
            <a:p>
              <a:pPr>
                <a:lnSpc>
                  <a:spcPct val="105000"/>
                </a:lnSpc>
              </a:pPr>
              <a:r>
                <a:rPr lang="en-US" sz="1590" dirty="0">
                  <a:solidFill>
                    <a:srgbClr val="FF99CC"/>
                  </a:solidFill>
                  <a:latin typeface="Arial" panose="020B0604020202020204" pitchFamily="34" charset="0"/>
                  <a:cs typeface="Arial" panose="020B0604020202020204" pitchFamily="34" charset="0"/>
                </a:rPr>
                <a:t>X='A'</a:t>
              </a:r>
            </a:p>
            <a:p>
              <a:pPr>
                <a:lnSpc>
                  <a:spcPct val="105000"/>
                </a:lnSpc>
              </a:pPr>
              <a:r>
                <a:rPr lang="en-US" sz="1590" dirty="0">
                  <a:solidFill>
                    <a:srgbClr val="FF99CC"/>
                  </a:solidFill>
                  <a:latin typeface="Arial" panose="020B0604020202020204" pitchFamily="34" charset="0"/>
                  <a:cs typeface="Arial" panose="020B0604020202020204" pitchFamily="34" charset="0"/>
                </a:rPr>
                <a:t>Z=6.0</a:t>
              </a:r>
            </a:p>
            <a:p>
              <a:pPr>
                <a:lnSpc>
                  <a:spcPct val="105000"/>
                </a:lnSpc>
              </a:pPr>
              <a:r>
                <a:rPr lang="en-US" sz="1590" dirty="0">
                  <a:solidFill>
                    <a:srgbClr val="FF99CC"/>
                  </a:solidFill>
                  <a:latin typeface="Arial" panose="020B0604020202020204" pitchFamily="34" charset="0"/>
                  <a:cs typeface="Arial" panose="020B0604020202020204" pitchFamily="34" charset="0"/>
                </a:rPr>
                <a:t>Z='B'</a:t>
              </a:r>
            </a:p>
            <a:p>
              <a:pPr>
                <a:lnSpc>
                  <a:spcPct val="105000"/>
                </a:lnSpc>
              </a:pPr>
              <a:r>
                <a:rPr lang="en-US" sz="1590" dirty="0">
                  <a:solidFill>
                    <a:srgbClr val="FF99CC"/>
                  </a:solidFill>
                  <a:latin typeface="Arial" panose="020B0604020202020204" pitchFamily="34" charset="0"/>
                  <a:cs typeface="Arial" panose="020B0604020202020204" pitchFamily="34" charset="0"/>
                </a:rPr>
                <a:t>Z=6</a:t>
              </a:r>
            </a:p>
            <a:p>
              <a:pPr>
                <a:lnSpc>
                  <a:spcPct val="105000"/>
                </a:lnSpc>
              </a:pPr>
              <a:r>
                <a:rPr lang="en-US" sz="1590" dirty="0">
                  <a:solidFill>
                    <a:srgbClr val="FF99CC"/>
                  </a:solidFill>
                  <a:latin typeface="Arial" panose="020B0604020202020204" pitchFamily="34" charset="0"/>
                  <a:cs typeface="Arial" panose="020B0604020202020204" pitchFamily="34" charset="0"/>
                </a:rPr>
                <a:t>Y=Z</a:t>
              </a:r>
            </a:p>
            <a:p>
              <a:pPr>
                <a:lnSpc>
                  <a:spcPct val="105000"/>
                </a:lnSpc>
              </a:pPr>
              <a:r>
                <a:rPr lang="en-US" sz="1590" dirty="0">
                  <a:solidFill>
                    <a:srgbClr val="FF99CC"/>
                  </a:solidFill>
                  <a:latin typeface="Arial" panose="020B0604020202020204" pitchFamily="34" charset="0"/>
                  <a:cs typeface="Arial" panose="020B0604020202020204" pitchFamily="34" charset="0"/>
                </a:rPr>
                <a:t>Y=X</a:t>
              </a:r>
            </a:p>
            <a:p>
              <a:pPr>
                <a:lnSpc>
                  <a:spcPct val="105000"/>
                </a:lnSpc>
              </a:pPr>
              <a:r>
                <a:rPr lang="en-US" sz="1590" dirty="0">
                  <a:solidFill>
                    <a:srgbClr val="FF99CC"/>
                  </a:solidFill>
                  <a:latin typeface="Arial" panose="020B0604020202020204" pitchFamily="34" charset="0"/>
                  <a:cs typeface="Arial" panose="020B0604020202020204" pitchFamily="34" charset="0"/>
                </a:rPr>
                <a:t>Y=Z</a:t>
              </a:r>
            </a:p>
            <a:p>
              <a:pPr>
                <a:lnSpc>
                  <a:spcPct val="105000"/>
                </a:lnSpc>
              </a:pPr>
              <a:r>
                <a:rPr lang="en-US" sz="1590" dirty="0">
                  <a:solidFill>
                    <a:srgbClr val="FF99CC"/>
                  </a:solidFill>
                  <a:latin typeface="Arial" panose="020B0604020202020204" pitchFamily="34" charset="0"/>
                  <a:cs typeface="Arial" panose="020B0604020202020204" pitchFamily="34" charset="0"/>
                </a:rPr>
                <a:t>Y=Y</a:t>
              </a:r>
            </a:p>
            <a:p>
              <a:pPr>
                <a:lnSpc>
                  <a:spcPct val="105000"/>
                </a:lnSpc>
              </a:pPr>
              <a:r>
                <a:rPr lang="en-US" sz="1590" dirty="0">
                  <a:solidFill>
                    <a:srgbClr val="FF99CC"/>
                  </a:solidFill>
                  <a:latin typeface="Arial" panose="020B0604020202020204" pitchFamily="34" charset="0"/>
                  <a:cs typeface="Arial" panose="020B0604020202020204" pitchFamily="34" charset="0"/>
                </a:rPr>
                <a:t>print ("</a:t>
              </a:r>
              <a:r>
                <a:rPr lang="en-US" sz="1590" dirty="0">
                  <a:solidFill>
                    <a:srgbClr val="FFD966"/>
                  </a:solidFill>
                  <a:latin typeface="Arial" panose="020B0604020202020204" pitchFamily="34" charset="0"/>
                  <a:cs typeface="Arial" panose="020B0604020202020204" pitchFamily="34" charset="0"/>
                </a:rPr>
                <a:t>X=%c Y=%f Z</a:t>
              </a:r>
              <a:r>
                <a:rPr lang="en-US" sz="1590" dirty="0" smtClean="0">
                  <a:solidFill>
                    <a:srgbClr val="FFD966"/>
                  </a:solidFill>
                  <a:latin typeface="Arial" panose="020B0604020202020204" pitchFamily="34" charset="0"/>
                  <a:cs typeface="Arial" panose="020B0604020202020204" pitchFamily="34" charset="0"/>
                </a:rPr>
                <a:t>=%d</a:t>
              </a:r>
              <a:r>
                <a:rPr lang="en-US" sz="1590" dirty="0" smtClean="0">
                  <a:solidFill>
                    <a:srgbClr val="FF99CC"/>
                  </a:solidFill>
                  <a:latin typeface="Arial" panose="020B0604020202020204" pitchFamily="34" charset="0"/>
                  <a:cs typeface="Arial" panose="020B0604020202020204" pitchFamily="34" charset="0"/>
                </a:rPr>
                <a:t>" </a:t>
              </a:r>
              <a:r>
                <a:rPr lang="en-US" sz="1590" dirty="0">
                  <a:solidFill>
                    <a:srgbClr val="FF99CC"/>
                  </a:solidFill>
                  <a:latin typeface="Arial" panose="020B0604020202020204" pitchFamily="34" charset="0"/>
                  <a:cs typeface="Arial" panose="020B0604020202020204" pitchFamily="34" charset="0"/>
                </a:rPr>
                <a:t>% (X,Y,Z))</a:t>
              </a:r>
            </a:p>
            <a:p>
              <a:pPr>
                <a:lnSpc>
                  <a:spcPct val="105000"/>
                </a:lnSpc>
              </a:pPr>
              <a:r>
                <a:rPr lang="en-US" sz="1590" dirty="0">
                  <a:solidFill>
                    <a:srgbClr val="FF99CC"/>
                  </a:solidFill>
                  <a:latin typeface="Arial" panose="020B0604020202020204" pitchFamily="34" charset="0"/>
                  <a:cs typeface="Arial" panose="020B0604020202020204" pitchFamily="34" charset="0"/>
                </a:rPr>
                <a:t>Z=Y</a:t>
              </a:r>
            </a:p>
            <a:p>
              <a:pPr>
                <a:lnSpc>
                  <a:spcPct val="105000"/>
                </a:lnSpc>
              </a:pPr>
              <a:r>
                <a:rPr lang="en-US" sz="1590" dirty="0">
                  <a:solidFill>
                    <a:srgbClr val="FF99CC"/>
                  </a:solidFill>
                  <a:latin typeface="Arial" panose="020B0604020202020204" pitchFamily="34" charset="0"/>
                  <a:cs typeface="Arial" panose="020B0604020202020204" pitchFamily="34" charset="0"/>
                </a:rPr>
                <a:t>print ("X=%c Y=%f Z</a:t>
              </a:r>
              <a:r>
                <a:rPr lang="en-US" sz="1590" dirty="0" smtClean="0">
                  <a:solidFill>
                    <a:srgbClr val="FF99CC"/>
                  </a:solidFill>
                  <a:latin typeface="Arial" panose="020B0604020202020204" pitchFamily="34" charset="0"/>
                  <a:cs typeface="Arial" panose="020B0604020202020204" pitchFamily="34" charset="0"/>
                </a:rPr>
                <a:t>=%d" </a:t>
              </a:r>
              <a:r>
                <a:rPr lang="en-US" sz="1590" dirty="0">
                  <a:solidFill>
                    <a:srgbClr val="FF99CC"/>
                  </a:solidFill>
                  <a:latin typeface="Arial" panose="020B0604020202020204" pitchFamily="34" charset="0"/>
                  <a:cs typeface="Arial" panose="020B0604020202020204" pitchFamily="34" charset="0"/>
                </a:rPr>
                <a:t>% (X,Y,Z))</a:t>
              </a:r>
            </a:p>
            <a:p>
              <a:pPr>
                <a:lnSpc>
                  <a:spcPct val="105000"/>
                </a:lnSpc>
              </a:pPr>
              <a:r>
                <a:rPr lang="en-US" sz="1590" dirty="0">
                  <a:solidFill>
                    <a:srgbClr val="FF99CC"/>
                  </a:solidFill>
                  <a:latin typeface="Arial" panose="020B0604020202020204" pitchFamily="34" charset="0"/>
                  <a:cs typeface="Arial" panose="020B0604020202020204" pitchFamily="34" charset="0"/>
                </a:rPr>
                <a:t>% python3 likeTheCExample.py</a:t>
              </a:r>
            </a:p>
            <a:p>
              <a:pPr>
                <a:lnSpc>
                  <a:spcPct val="105000"/>
                </a:lnSpc>
              </a:pPr>
              <a:r>
                <a:rPr lang="en-US" sz="1590" dirty="0">
                  <a:solidFill>
                    <a:srgbClr val="FF99CC"/>
                  </a:solidFill>
                  <a:latin typeface="Arial" panose="020B0604020202020204" pitchFamily="34" charset="0"/>
                  <a:cs typeface="Arial" panose="020B0604020202020204" pitchFamily="34" charset="0"/>
                </a:rPr>
                <a:t>X=A Y=6.000000 Z=6</a:t>
              </a:r>
            </a:p>
            <a:p>
              <a:pPr>
                <a:lnSpc>
                  <a:spcPct val="105000"/>
                </a:lnSpc>
              </a:pPr>
              <a:r>
                <a:rPr lang="en-US" sz="1590" dirty="0">
                  <a:solidFill>
                    <a:srgbClr val="FF99CC"/>
                  </a:solidFill>
                  <a:latin typeface="Arial" panose="020B0604020202020204" pitchFamily="34" charset="0"/>
                  <a:cs typeface="Arial" panose="020B0604020202020204" pitchFamily="34" charset="0"/>
                </a:rPr>
                <a:t>X=A Y=6.000000 Z=6</a:t>
              </a:r>
            </a:p>
            <a:p>
              <a:pPr>
                <a:lnSpc>
                  <a:spcPct val="105000"/>
                </a:lnSpc>
              </a:pPr>
              <a:r>
                <a:rPr lang="en-US" sz="1590" dirty="0">
                  <a:solidFill>
                    <a:srgbClr val="FF99CC"/>
                  </a:solidFill>
                  <a:latin typeface="Arial" panose="020B0604020202020204" pitchFamily="34" charset="0"/>
                  <a:cs typeface="Arial" panose="020B0604020202020204" pitchFamily="34" charset="0"/>
                </a:rPr>
                <a:t>%</a:t>
              </a:r>
            </a:p>
          </p:txBody>
        </p:sp>
      </p:grpSp>
      <p:sp>
        <p:nvSpPr>
          <p:cNvPr id="52" name="Rounded Rectangular Callout 51"/>
          <p:cNvSpPr/>
          <p:nvPr/>
        </p:nvSpPr>
        <p:spPr>
          <a:xfrm>
            <a:off x="296250" y="1600201"/>
            <a:ext cx="5243857" cy="613610"/>
          </a:xfrm>
          <a:prstGeom prst="wedgeRoundRectCallout">
            <a:avLst>
              <a:gd name="adj1" fmla="val 71335"/>
              <a:gd name="adj2" fmla="val 7069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226" spc="-10" dirty="0">
                <a:solidFill>
                  <a:srgbClr val="0033CC"/>
                </a:solidFill>
              </a:rPr>
              <a:t>Notice: you can use C-style print formatting.</a:t>
            </a:r>
          </a:p>
        </p:txBody>
      </p:sp>
      <p:sp>
        <p:nvSpPr>
          <p:cNvPr id="57" name="Rectangle 56"/>
          <p:cNvSpPr/>
          <p:nvPr/>
        </p:nvSpPr>
        <p:spPr>
          <a:xfrm>
            <a:off x="1947156" y="3763418"/>
            <a:ext cx="3279971" cy="1095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unions work in C</a:t>
            </a:r>
          </a:p>
        </p:txBody>
      </p:sp>
      <p:sp>
        <p:nvSpPr>
          <p:cNvPr id="13" name="Rectangle 12"/>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gcc</a:t>
            </a:r>
            <a:r>
              <a:rPr lang="en-US" sz="1749" dirty="0">
                <a:solidFill>
                  <a:srgbClr val="7FBF7F"/>
                </a:solidFill>
                <a:latin typeface="Arial Narrow" panose="020B0606020202030204" pitchFamily="34" charset="0"/>
                <a:cs typeface="Consolas" panose="020B0609020204030204" pitchFamily="49" charset="0"/>
              </a:rPr>
              <a:t> -o </a:t>
            </a:r>
            <a:r>
              <a:rPr lang="en-US" sz="1749" dirty="0" err="1">
                <a:solidFill>
                  <a:srgbClr val="7FBF7F"/>
                </a:solidFill>
                <a:latin typeface="Arial Narrow" panose="020B0606020202030204" pitchFamily="34" charset="0"/>
                <a:cs typeface="Consolas" panose="020B0609020204030204" pitchFamily="49" charset="0"/>
              </a:rPr>
              <a:t>union.x</a:t>
            </a:r>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union.c</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union.x</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generic=8</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(c=1</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s=8</a:t>
            </a:r>
            <a:r>
              <a:rPr lang="en-US" sz="1590"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i</a:t>
            </a:r>
            <a:r>
              <a:rPr lang="en-US" sz="1749" dirty="0">
                <a:solidFill>
                  <a:srgbClr val="7FBF7F"/>
                </a:solidFill>
                <a:latin typeface="Arial Narrow" panose="020B0606020202030204" pitchFamily="34" charset="0"/>
                <a:cs typeface="Consolas" panose="020B0609020204030204" pitchFamily="49" charset="0"/>
              </a:rPr>
              <a:t>=4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l=4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u=4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f=4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d=8)</a:t>
            </a:r>
          </a:p>
          <a:p>
            <a:r>
              <a:rPr lang="pl-PL" sz="1749" dirty="0">
                <a:solidFill>
                  <a:srgbClr val="7FBF7F"/>
                </a:solidFill>
                <a:latin typeface="Arial Narrow" panose="020B0606020202030204" pitchFamily="34" charset="0"/>
                <a:cs typeface="Consolas" panose="020B0609020204030204" pitchFamily="49" charset="0"/>
              </a:rPr>
              <a:t>X</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&gt;c=A   Y</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&gt;f=6.000000   Z</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&gt;i=6</a:t>
            </a:r>
          </a:p>
          <a:p>
            <a:r>
              <a:rPr lang="pl-PL" sz="1749" dirty="0">
                <a:solidFill>
                  <a:srgbClr val="7FBF7F"/>
                </a:solidFill>
                <a:latin typeface="Arial Narrow" panose="020B0606020202030204" pitchFamily="34" charset="0"/>
                <a:cs typeface="Consolas" panose="020B0609020204030204" pitchFamily="49" charset="0"/>
              </a:rPr>
              <a:t>X</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&gt;c=A   Y</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&gt;f=6.000000   Z</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&gt;i=1086324736</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a:t>
            </a:r>
          </a:p>
          <a:p>
            <a:endParaRPr lang="pl-PL" sz="1749" dirty="0">
              <a:solidFill>
                <a:srgbClr val="7FBF7F"/>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342264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randombar(horizontal)">
                                      <p:cBhvr>
                                        <p:cTn id="7" dur="500"/>
                                        <p:tgtEl>
                                          <p:spTgt spid="52"/>
                                        </p:tgtEl>
                                      </p:cBhvr>
                                    </p:animEffect>
                                  </p:childTnLst>
                                </p:cTn>
                              </p:par>
                              <p:par>
                                <p:cTn id="8" presetID="16" presetClass="emph" presetSubtype="0" fill="hold" nodeType="withEffect">
                                  <p:stCondLst>
                                    <p:cond delay="0"/>
                                  </p:stCondLst>
                                  <p:childTnLst>
                                    <p:set>
                                      <p:cBhvr override="childStyle">
                                        <p:cTn id="9" dur="2000" fill="hold"/>
                                        <p:tgtEl>
                                          <p:spTgt spid="13">
                                            <p:txEl>
                                              <p:pRg st="0" end="0"/>
                                            </p:txEl>
                                          </p:spTgt>
                                        </p:tgtEl>
                                        <p:attrNameLst>
                                          <p:attrName>style.color</p:attrName>
                                        </p:attrNameLst>
                                      </p:cBhvr>
                                      <p:to>
                                        <p:clrVal>
                                          <a:srgbClr val="7FBF7F"/>
                                        </p:clrVal>
                                      </p:to>
                                    </p:set>
                                    <p:set>
                                      <p:cBhvr>
                                        <p:cTn id="10" dur="2000" fill="hold"/>
                                        <p:tgtEl>
                                          <p:spTgt spid="13">
                                            <p:txEl>
                                              <p:pRg st="0" end="0"/>
                                            </p:txEl>
                                          </p:spTgt>
                                        </p:tgtEl>
                                        <p:attrNameLst>
                                          <p:attrName>fillcolor</p:attrName>
                                        </p:attrNameLst>
                                      </p:cBhvr>
                                      <p:to>
                                        <p:clrVal>
                                          <a:srgbClr val="7FBF7F"/>
                                        </p:clrVal>
                                      </p:to>
                                    </p:set>
                                    <p:set>
                                      <p:cBhvr>
                                        <p:cTn id="11" dur="2000" fill="hold"/>
                                        <p:tgtEl>
                                          <p:spTgt spid="13">
                                            <p:txEl>
                                              <p:pRg st="0" end="0"/>
                                            </p:txEl>
                                          </p:spTgt>
                                        </p:tgtEl>
                                        <p:attrNameLst>
                                          <p:attrName>fill.type</p:attrName>
                                        </p:attrNameLst>
                                      </p:cBhvr>
                                      <p:to>
                                        <p:strVal val="solid"/>
                                      </p:to>
                                    </p:set>
                                  </p:childTnLst>
                                </p:cTn>
                              </p:par>
                              <p:par>
                                <p:cTn id="12" presetID="16" presetClass="emph" presetSubtype="0" fill="hold" nodeType="withEffect">
                                  <p:stCondLst>
                                    <p:cond delay="0"/>
                                  </p:stCondLst>
                                  <p:childTnLst>
                                    <p:set>
                                      <p:cBhvr override="childStyle">
                                        <p:cTn id="13" dur="2000" fill="hold"/>
                                        <p:tgtEl>
                                          <p:spTgt spid="13">
                                            <p:txEl>
                                              <p:pRg st="1" end="1"/>
                                            </p:txEl>
                                          </p:spTgt>
                                        </p:tgtEl>
                                        <p:attrNameLst>
                                          <p:attrName>style.color</p:attrName>
                                        </p:attrNameLst>
                                      </p:cBhvr>
                                      <p:to>
                                        <p:clrVal>
                                          <a:srgbClr val="7FBF7F"/>
                                        </p:clrVal>
                                      </p:to>
                                    </p:set>
                                    <p:set>
                                      <p:cBhvr>
                                        <p:cTn id="14" dur="2000" fill="hold"/>
                                        <p:tgtEl>
                                          <p:spTgt spid="13">
                                            <p:txEl>
                                              <p:pRg st="1" end="1"/>
                                            </p:txEl>
                                          </p:spTgt>
                                        </p:tgtEl>
                                        <p:attrNameLst>
                                          <p:attrName>fillcolor</p:attrName>
                                        </p:attrNameLst>
                                      </p:cBhvr>
                                      <p:to>
                                        <p:clrVal>
                                          <a:srgbClr val="7FBF7F"/>
                                        </p:clrVal>
                                      </p:to>
                                    </p:set>
                                    <p:set>
                                      <p:cBhvr>
                                        <p:cTn id="15" dur="2000" fill="hold"/>
                                        <p:tgtEl>
                                          <p:spTgt spid="13">
                                            <p:txEl>
                                              <p:pRg st="1" end="1"/>
                                            </p:txEl>
                                          </p:spTgt>
                                        </p:tgtEl>
                                        <p:attrNameLst>
                                          <p:attrName>fill.type</p:attrName>
                                        </p:attrNameLst>
                                      </p:cBhvr>
                                      <p:to>
                                        <p:strVal val="solid"/>
                                      </p:to>
                                    </p:set>
                                  </p:childTnLst>
                                </p:cTn>
                              </p:par>
                              <p:par>
                                <p:cTn id="16" presetID="16" presetClass="emph" presetSubtype="0" fill="hold" nodeType="withEffect">
                                  <p:stCondLst>
                                    <p:cond delay="0"/>
                                  </p:stCondLst>
                                  <p:childTnLst>
                                    <p:set>
                                      <p:cBhvr override="childStyle">
                                        <p:cTn id="17" dur="2000" fill="hold"/>
                                        <p:tgtEl>
                                          <p:spTgt spid="13">
                                            <p:txEl>
                                              <p:pRg st="2" end="2"/>
                                            </p:txEl>
                                          </p:spTgt>
                                        </p:tgtEl>
                                        <p:attrNameLst>
                                          <p:attrName>style.color</p:attrName>
                                        </p:attrNameLst>
                                      </p:cBhvr>
                                      <p:to>
                                        <p:clrVal>
                                          <a:srgbClr val="7FBF7F"/>
                                        </p:clrVal>
                                      </p:to>
                                    </p:set>
                                    <p:set>
                                      <p:cBhvr>
                                        <p:cTn id="18" dur="2000" fill="hold"/>
                                        <p:tgtEl>
                                          <p:spTgt spid="13">
                                            <p:txEl>
                                              <p:pRg st="2" end="2"/>
                                            </p:txEl>
                                          </p:spTgt>
                                        </p:tgtEl>
                                        <p:attrNameLst>
                                          <p:attrName>fillcolor</p:attrName>
                                        </p:attrNameLst>
                                      </p:cBhvr>
                                      <p:to>
                                        <p:clrVal>
                                          <a:srgbClr val="7FBF7F"/>
                                        </p:clrVal>
                                      </p:to>
                                    </p:set>
                                    <p:set>
                                      <p:cBhvr>
                                        <p:cTn id="19" dur="2000" fill="hold"/>
                                        <p:tgtEl>
                                          <p:spTgt spid="13">
                                            <p:txEl>
                                              <p:pRg st="2" end="2"/>
                                            </p:txEl>
                                          </p:spTgt>
                                        </p:tgtEl>
                                        <p:attrNameLst>
                                          <p:attrName>fill.type</p:attrName>
                                        </p:attrNameLst>
                                      </p:cBhvr>
                                      <p:to>
                                        <p:strVal val="solid"/>
                                      </p:to>
                                    </p:set>
                                  </p:childTnLst>
                                </p:cTn>
                              </p:par>
                              <p:par>
                                <p:cTn id="20" presetID="16" presetClass="emph" presetSubtype="0" fill="hold" nodeType="withEffect">
                                  <p:stCondLst>
                                    <p:cond delay="0"/>
                                  </p:stCondLst>
                                  <p:childTnLst>
                                    <p:set>
                                      <p:cBhvr override="childStyle">
                                        <p:cTn id="21" dur="2000" fill="hold"/>
                                        <p:tgtEl>
                                          <p:spTgt spid="13">
                                            <p:txEl>
                                              <p:pRg st="3" end="3"/>
                                            </p:txEl>
                                          </p:spTgt>
                                        </p:tgtEl>
                                        <p:attrNameLst>
                                          <p:attrName>style.color</p:attrName>
                                        </p:attrNameLst>
                                      </p:cBhvr>
                                      <p:to>
                                        <p:clrVal>
                                          <a:srgbClr val="7FBF7F"/>
                                        </p:clrVal>
                                      </p:to>
                                    </p:set>
                                    <p:set>
                                      <p:cBhvr>
                                        <p:cTn id="22" dur="2000" fill="hold"/>
                                        <p:tgtEl>
                                          <p:spTgt spid="13">
                                            <p:txEl>
                                              <p:pRg st="3" end="3"/>
                                            </p:txEl>
                                          </p:spTgt>
                                        </p:tgtEl>
                                        <p:attrNameLst>
                                          <p:attrName>fillcolor</p:attrName>
                                        </p:attrNameLst>
                                      </p:cBhvr>
                                      <p:to>
                                        <p:clrVal>
                                          <a:srgbClr val="7FBF7F"/>
                                        </p:clrVal>
                                      </p:to>
                                    </p:set>
                                    <p:set>
                                      <p:cBhvr>
                                        <p:cTn id="23" dur="2000" fill="hold"/>
                                        <p:tgtEl>
                                          <p:spTgt spid="13">
                                            <p:txEl>
                                              <p:pRg st="3" end="3"/>
                                            </p:txEl>
                                          </p:spTgt>
                                        </p:tgtEl>
                                        <p:attrNameLst>
                                          <p:attrName>fill.type</p:attrName>
                                        </p:attrNameLst>
                                      </p:cBhvr>
                                      <p:to>
                                        <p:strVal val="solid"/>
                                      </p:to>
                                    </p:set>
                                  </p:childTnLst>
                                </p:cTn>
                              </p:par>
                              <p:par>
                                <p:cTn id="24" presetID="16" presetClass="emph" presetSubtype="0" fill="hold" nodeType="withEffect">
                                  <p:stCondLst>
                                    <p:cond delay="0"/>
                                  </p:stCondLst>
                                  <p:childTnLst>
                                    <p:set>
                                      <p:cBhvr override="childStyle">
                                        <p:cTn id="25" dur="2000" fill="hold"/>
                                        <p:tgtEl>
                                          <p:spTgt spid="13">
                                            <p:txEl>
                                              <p:pRg st="4" end="4"/>
                                            </p:txEl>
                                          </p:spTgt>
                                        </p:tgtEl>
                                        <p:attrNameLst>
                                          <p:attrName>style.color</p:attrName>
                                        </p:attrNameLst>
                                      </p:cBhvr>
                                      <p:to>
                                        <p:clrVal>
                                          <a:srgbClr val="7FBF7F"/>
                                        </p:clrVal>
                                      </p:to>
                                    </p:set>
                                    <p:set>
                                      <p:cBhvr>
                                        <p:cTn id="26" dur="2000" fill="hold"/>
                                        <p:tgtEl>
                                          <p:spTgt spid="13">
                                            <p:txEl>
                                              <p:pRg st="4" end="4"/>
                                            </p:txEl>
                                          </p:spTgt>
                                        </p:tgtEl>
                                        <p:attrNameLst>
                                          <p:attrName>fillcolor</p:attrName>
                                        </p:attrNameLst>
                                      </p:cBhvr>
                                      <p:to>
                                        <p:clrVal>
                                          <a:srgbClr val="7FBF7F"/>
                                        </p:clrVal>
                                      </p:to>
                                    </p:set>
                                    <p:set>
                                      <p:cBhvr>
                                        <p:cTn id="27" dur="2000" fill="hold"/>
                                        <p:tgtEl>
                                          <p:spTgt spid="13">
                                            <p:txEl>
                                              <p:pRg st="4" end="4"/>
                                            </p:txEl>
                                          </p:spTgt>
                                        </p:tgtEl>
                                        <p:attrNameLst>
                                          <p:attrName>fill.type</p:attrName>
                                        </p:attrNameLst>
                                      </p:cBhvr>
                                      <p:to>
                                        <p:strVal val="solid"/>
                                      </p:to>
                                    </p:set>
                                  </p:childTnLst>
                                </p:cTn>
                              </p:par>
                              <p:par>
                                <p:cTn id="28" presetID="16" presetClass="emph" presetSubtype="0" fill="hold" nodeType="withEffect">
                                  <p:stCondLst>
                                    <p:cond delay="0"/>
                                  </p:stCondLst>
                                  <p:childTnLst>
                                    <p:set>
                                      <p:cBhvr override="childStyle">
                                        <p:cTn id="29" dur="2000" fill="hold"/>
                                        <p:tgtEl>
                                          <p:spTgt spid="13">
                                            <p:txEl>
                                              <p:pRg st="5" end="5"/>
                                            </p:txEl>
                                          </p:spTgt>
                                        </p:tgtEl>
                                        <p:attrNameLst>
                                          <p:attrName>style.color</p:attrName>
                                        </p:attrNameLst>
                                      </p:cBhvr>
                                      <p:to>
                                        <p:clrVal>
                                          <a:srgbClr val="7FBF7F"/>
                                        </p:clrVal>
                                      </p:to>
                                    </p:set>
                                    <p:set>
                                      <p:cBhvr>
                                        <p:cTn id="30" dur="2000" fill="hold"/>
                                        <p:tgtEl>
                                          <p:spTgt spid="13">
                                            <p:txEl>
                                              <p:pRg st="5" end="5"/>
                                            </p:txEl>
                                          </p:spTgt>
                                        </p:tgtEl>
                                        <p:attrNameLst>
                                          <p:attrName>fillcolor</p:attrName>
                                        </p:attrNameLst>
                                      </p:cBhvr>
                                      <p:to>
                                        <p:clrVal>
                                          <a:srgbClr val="7FBF7F"/>
                                        </p:clrVal>
                                      </p:to>
                                    </p:set>
                                    <p:set>
                                      <p:cBhvr>
                                        <p:cTn id="31" dur="2000" fill="hold"/>
                                        <p:tgtEl>
                                          <p:spTgt spid="13">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0" y="0"/>
            <a:ext cx="9729788" cy="6858000"/>
          </a:xfrm>
          <a:prstGeom prst="rect">
            <a:avLst/>
          </a:prstGeom>
          <a:solidFill>
            <a:srgbClr val="7FB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57" name="Rectangle 56"/>
          <p:cNvSpPr/>
          <p:nvPr/>
        </p:nvSpPr>
        <p:spPr>
          <a:xfrm>
            <a:off x="1947156" y="3763418"/>
            <a:ext cx="3279971" cy="1095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unions work in C</a:t>
            </a: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a:solidFill>
                  <a:srgbClr val="7030A0"/>
                </a:solidFill>
                <a:latin typeface="Consolas" panose="020B0609020204030204" pitchFamily="49" charset="0"/>
                <a:cs typeface="Consolas" panose="020B0609020204030204" pitchFamily="49" charset="0"/>
              </a:rPr>
              <a:t>Z-&gt;</a:t>
            </a:r>
            <a:r>
              <a:rPr lang="en-US" sz="1431" dirty="0" err="1">
                <a:solidFill>
                  <a:srgbClr val="7030A0"/>
                </a:solidFill>
                <a:latin typeface="Consolas" panose="020B0609020204030204" pitchFamily="49" charset="0"/>
                <a:cs typeface="Consolas" panose="020B0609020204030204" pitchFamily="49" charset="0"/>
              </a:rPr>
              <a:t>i</a:t>
            </a:r>
            <a:r>
              <a:rPr lang="en-US" sz="1431" dirty="0">
                <a:solidFill>
                  <a:srgbClr val="7030A0"/>
                </a:solidFill>
                <a:latin typeface="Consolas" panose="020B0609020204030204" pitchFamily="49" charset="0"/>
                <a:cs typeface="Consolas" panose="020B0609020204030204" pitchFamily="49" charset="0"/>
              </a:rPr>
              <a:t> </a:t>
            </a:r>
            <a:r>
              <a:rPr lang="en-US" sz="1431" dirty="0">
                <a:latin typeface="Consolas" panose="020B0609020204030204" pitchFamily="49" charset="0"/>
                <a:cs typeface="Consolas" panose="020B0609020204030204" pitchFamily="49" charset="0"/>
              </a:rPr>
              <a:t>= Y-&gt;u;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a:t>
            </a:r>
          </a:p>
        </p:txBody>
      </p:sp>
      <p:grpSp>
        <p:nvGrpSpPr>
          <p:cNvPr id="9" name="Group 8"/>
          <p:cNvGrpSpPr/>
          <p:nvPr/>
        </p:nvGrpSpPr>
        <p:grpSpPr>
          <a:xfrm>
            <a:off x="2261594" y="0"/>
            <a:ext cx="7468194" cy="4198246"/>
            <a:chOff x="2832380" y="-1646"/>
            <a:chExt cx="9351102" cy="4376672"/>
          </a:xfrm>
        </p:grpSpPr>
        <p:sp>
          <p:nvSpPr>
            <p:cNvPr id="7" name="Rectangle 6"/>
            <p:cNvSpPr/>
            <p:nvPr/>
          </p:nvSpPr>
          <p:spPr>
            <a:xfrm>
              <a:off x="7447597" y="-1"/>
              <a:ext cx="4735885" cy="4375027"/>
            </a:xfrm>
            <a:prstGeom prst="rect">
              <a:avLst/>
            </a:prstGeom>
            <a:solidFill>
              <a:srgbClr val="FF99CC"/>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011052" y="-1646"/>
              <a:ext cx="4753250" cy="1416974"/>
            </a:xfrm>
            <a:prstGeom prst="rect">
              <a:avLst/>
            </a:prstGeom>
            <a:solidFill>
              <a:srgbClr val="FF99CC"/>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0" name="Rectangle 39"/>
            <p:cNvSpPr/>
            <p:nvPr/>
          </p:nvSpPr>
          <p:spPr>
            <a:xfrm>
              <a:off x="2832380" y="32084"/>
              <a:ext cx="4755714" cy="1377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everything works</a:t>
              </a:r>
              <a:r>
                <a:rPr lang="en-US" sz="2862" b="1" dirty="0">
                  <a:solidFill>
                    <a:srgbClr val="5B9BD5">
                      <a:lumMod val="75000"/>
                    </a:srgbClr>
                  </a:solidFill>
                  <a:latin typeface="Times New Roman" panose="02020603050405020304" pitchFamily="18" charset="0"/>
                  <a:cs typeface="Times New Roman" panose="02020603050405020304" pitchFamily="18" charset="0"/>
                </a:rPr>
                <a:t> </a:t>
              </a:r>
              <a:r>
                <a:rPr lang="en-US" sz="3816" b="1" dirty="0">
                  <a:solidFill>
                    <a:srgbClr val="5B9BD5">
                      <a:lumMod val="75000"/>
                    </a:srgbClr>
                  </a:solidFill>
                  <a:latin typeface="Times New Roman" panose="02020603050405020304" pitchFamily="18" charset="0"/>
                  <a:cs typeface="Times New Roman" panose="02020603050405020304" pitchFamily="18" charset="0"/>
                </a:rPr>
                <a:t>in</a:t>
              </a:r>
              <a:r>
                <a:rPr lang="en-US" sz="2862" b="1" dirty="0">
                  <a:solidFill>
                    <a:srgbClr val="5B9BD5">
                      <a:lumMod val="75000"/>
                    </a:srgbClr>
                  </a:solidFill>
                  <a:latin typeface="Times New Roman" panose="02020603050405020304" pitchFamily="18" charset="0"/>
                  <a:cs typeface="Times New Roman" panose="02020603050405020304" pitchFamily="18" charset="0"/>
                </a:rPr>
                <a:t> </a:t>
              </a:r>
              <a:r>
                <a:rPr lang="en-US" sz="3816" b="1" dirty="0">
                  <a:solidFill>
                    <a:srgbClr val="5B9BD5">
                      <a:lumMod val="75000"/>
                    </a:srgbClr>
                  </a:solidFill>
                  <a:latin typeface="Times New Roman" panose="02020603050405020304" pitchFamily="18" charset="0"/>
                  <a:cs typeface="Times New Roman" panose="02020603050405020304" pitchFamily="18" charset="0"/>
                </a:rPr>
                <a:t>Python:</a:t>
              </a:r>
            </a:p>
          </p:txBody>
        </p:sp>
        <p:sp>
          <p:nvSpPr>
            <p:cNvPr id="8" name="Rectangle 7"/>
            <p:cNvSpPr/>
            <p:nvPr/>
          </p:nvSpPr>
          <p:spPr>
            <a:xfrm>
              <a:off x="7462221" y="15947"/>
              <a:ext cx="714750" cy="1439824"/>
            </a:xfrm>
            <a:prstGeom prst="rect">
              <a:avLst/>
            </a:prstGeom>
            <a:solidFill>
              <a:srgbClr val="FF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7560670" y="97745"/>
              <a:ext cx="4498371" cy="417707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5000"/>
                </a:lnSpc>
              </a:pPr>
              <a:r>
                <a:rPr lang="en-US" sz="1590" dirty="0">
                  <a:solidFill>
                    <a:srgbClr val="FF99CC"/>
                  </a:solidFill>
                  <a:latin typeface="Arial" panose="020B0604020202020204" pitchFamily="34" charset="0"/>
                  <a:cs typeface="Arial" panose="020B0604020202020204" pitchFamily="34" charset="0"/>
                </a:rPr>
                <a:t>$ cat likeTheCExample.py</a:t>
              </a:r>
            </a:p>
            <a:p>
              <a:pPr>
                <a:lnSpc>
                  <a:spcPct val="105000"/>
                </a:lnSpc>
              </a:pPr>
              <a:r>
                <a:rPr lang="en-US" sz="1590" dirty="0">
                  <a:solidFill>
                    <a:srgbClr val="FF99CC"/>
                  </a:solidFill>
                  <a:latin typeface="Arial" panose="020B0604020202020204" pitchFamily="34" charset="0"/>
                  <a:cs typeface="Arial" panose="020B0604020202020204" pitchFamily="34" charset="0"/>
                </a:rPr>
                <a:t>X='A'</a:t>
              </a:r>
            </a:p>
            <a:p>
              <a:pPr>
                <a:lnSpc>
                  <a:spcPct val="105000"/>
                </a:lnSpc>
              </a:pPr>
              <a:r>
                <a:rPr lang="en-US" sz="1590" dirty="0">
                  <a:solidFill>
                    <a:srgbClr val="FF99CC"/>
                  </a:solidFill>
                  <a:latin typeface="Arial" panose="020B0604020202020204" pitchFamily="34" charset="0"/>
                  <a:cs typeface="Arial" panose="020B0604020202020204" pitchFamily="34" charset="0"/>
                </a:rPr>
                <a:t>Z=6.0</a:t>
              </a:r>
            </a:p>
            <a:p>
              <a:pPr>
                <a:lnSpc>
                  <a:spcPct val="105000"/>
                </a:lnSpc>
              </a:pPr>
              <a:r>
                <a:rPr lang="en-US" sz="1590" dirty="0">
                  <a:solidFill>
                    <a:srgbClr val="FF99CC"/>
                  </a:solidFill>
                  <a:latin typeface="Arial" panose="020B0604020202020204" pitchFamily="34" charset="0"/>
                  <a:cs typeface="Arial" panose="020B0604020202020204" pitchFamily="34" charset="0"/>
                </a:rPr>
                <a:t>Z='B'</a:t>
              </a:r>
            </a:p>
            <a:p>
              <a:pPr>
                <a:lnSpc>
                  <a:spcPct val="105000"/>
                </a:lnSpc>
              </a:pPr>
              <a:r>
                <a:rPr lang="en-US" sz="1590" dirty="0">
                  <a:solidFill>
                    <a:srgbClr val="FF99CC"/>
                  </a:solidFill>
                  <a:latin typeface="Arial" panose="020B0604020202020204" pitchFamily="34" charset="0"/>
                  <a:cs typeface="Arial" panose="020B0604020202020204" pitchFamily="34" charset="0"/>
                </a:rPr>
                <a:t>Z=6</a:t>
              </a:r>
            </a:p>
            <a:p>
              <a:pPr>
                <a:lnSpc>
                  <a:spcPct val="105000"/>
                </a:lnSpc>
              </a:pPr>
              <a:r>
                <a:rPr lang="en-US" sz="1590" dirty="0">
                  <a:solidFill>
                    <a:srgbClr val="FF99CC"/>
                  </a:solidFill>
                  <a:latin typeface="Arial" panose="020B0604020202020204" pitchFamily="34" charset="0"/>
                  <a:cs typeface="Arial" panose="020B0604020202020204" pitchFamily="34" charset="0"/>
                </a:rPr>
                <a:t>Y=Z</a:t>
              </a:r>
            </a:p>
            <a:p>
              <a:pPr>
                <a:lnSpc>
                  <a:spcPct val="105000"/>
                </a:lnSpc>
              </a:pPr>
              <a:r>
                <a:rPr lang="en-US" sz="1590" dirty="0">
                  <a:solidFill>
                    <a:srgbClr val="FF99CC"/>
                  </a:solidFill>
                  <a:latin typeface="Arial" panose="020B0604020202020204" pitchFamily="34" charset="0"/>
                  <a:cs typeface="Arial" panose="020B0604020202020204" pitchFamily="34" charset="0"/>
                </a:rPr>
                <a:t>Y=X</a:t>
              </a:r>
            </a:p>
            <a:p>
              <a:pPr>
                <a:lnSpc>
                  <a:spcPct val="105000"/>
                </a:lnSpc>
              </a:pPr>
              <a:r>
                <a:rPr lang="en-US" sz="1590" dirty="0">
                  <a:solidFill>
                    <a:srgbClr val="FF99CC"/>
                  </a:solidFill>
                  <a:latin typeface="Arial" panose="020B0604020202020204" pitchFamily="34" charset="0"/>
                  <a:cs typeface="Arial" panose="020B0604020202020204" pitchFamily="34" charset="0"/>
                </a:rPr>
                <a:t>Y=Z</a:t>
              </a:r>
            </a:p>
            <a:p>
              <a:pPr>
                <a:lnSpc>
                  <a:spcPct val="105000"/>
                </a:lnSpc>
              </a:pPr>
              <a:r>
                <a:rPr lang="en-US" sz="1590" dirty="0">
                  <a:solidFill>
                    <a:srgbClr val="FF99CC"/>
                  </a:solidFill>
                  <a:latin typeface="Arial" panose="020B0604020202020204" pitchFamily="34" charset="0"/>
                  <a:cs typeface="Arial" panose="020B0604020202020204" pitchFamily="34" charset="0"/>
                </a:rPr>
                <a:t>Y=Y</a:t>
              </a:r>
            </a:p>
            <a:p>
              <a:pPr>
                <a:lnSpc>
                  <a:spcPct val="105000"/>
                </a:lnSpc>
              </a:pPr>
              <a:r>
                <a:rPr lang="en-US" sz="1590" dirty="0">
                  <a:solidFill>
                    <a:srgbClr val="FF99CC"/>
                  </a:solidFill>
                  <a:latin typeface="Arial" panose="020B0604020202020204" pitchFamily="34" charset="0"/>
                  <a:cs typeface="Arial" panose="020B0604020202020204" pitchFamily="34" charset="0"/>
                </a:rPr>
                <a:t>print ("X=%c Y=%f Z</a:t>
              </a:r>
              <a:r>
                <a:rPr lang="en-US" sz="1590" dirty="0" smtClean="0">
                  <a:solidFill>
                    <a:srgbClr val="FF99CC"/>
                  </a:solidFill>
                  <a:latin typeface="Arial" panose="020B0604020202020204" pitchFamily="34" charset="0"/>
                  <a:cs typeface="Arial" panose="020B0604020202020204" pitchFamily="34" charset="0"/>
                </a:rPr>
                <a:t>=%d" </a:t>
              </a:r>
              <a:r>
                <a:rPr lang="en-US" sz="1590" dirty="0">
                  <a:solidFill>
                    <a:srgbClr val="FF99CC"/>
                  </a:solidFill>
                  <a:latin typeface="Arial" panose="020B0604020202020204" pitchFamily="34" charset="0"/>
                  <a:cs typeface="Arial" panose="020B0604020202020204" pitchFamily="34" charset="0"/>
                </a:rPr>
                <a:t>% (X,Y,Z))</a:t>
              </a:r>
            </a:p>
            <a:p>
              <a:pPr>
                <a:lnSpc>
                  <a:spcPct val="105000"/>
                </a:lnSpc>
              </a:pPr>
              <a:r>
                <a:rPr lang="en-US" sz="1590" dirty="0">
                  <a:solidFill>
                    <a:srgbClr val="FFD966"/>
                  </a:solidFill>
                  <a:latin typeface="Arial" panose="020B0604020202020204" pitchFamily="34" charset="0"/>
                  <a:cs typeface="Arial" panose="020B0604020202020204" pitchFamily="34" charset="0"/>
                </a:rPr>
                <a:t>Z=Y</a:t>
              </a:r>
            </a:p>
            <a:p>
              <a:pPr>
                <a:lnSpc>
                  <a:spcPct val="105000"/>
                </a:lnSpc>
              </a:pPr>
              <a:r>
                <a:rPr lang="en-US" sz="1590" dirty="0">
                  <a:solidFill>
                    <a:srgbClr val="FF99CC"/>
                  </a:solidFill>
                  <a:latin typeface="Arial" panose="020B0604020202020204" pitchFamily="34" charset="0"/>
                  <a:cs typeface="Arial" panose="020B0604020202020204" pitchFamily="34" charset="0"/>
                </a:rPr>
                <a:t>print ("X=%c Y=%f Z</a:t>
              </a:r>
              <a:r>
                <a:rPr lang="en-US" sz="1590" dirty="0" smtClean="0">
                  <a:solidFill>
                    <a:srgbClr val="FF99CC"/>
                  </a:solidFill>
                  <a:latin typeface="Arial" panose="020B0604020202020204" pitchFamily="34" charset="0"/>
                  <a:cs typeface="Arial" panose="020B0604020202020204" pitchFamily="34" charset="0"/>
                </a:rPr>
                <a:t>=%d" </a:t>
              </a:r>
              <a:r>
                <a:rPr lang="en-US" sz="1590" dirty="0">
                  <a:solidFill>
                    <a:srgbClr val="FF99CC"/>
                  </a:solidFill>
                  <a:latin typeface="Arial" panose="020B0604020202020204" pitchFamily="34" charset="0"/>
                  <a:cs typeface="Arial" panose="020B0604020202020204" pitchFamily="34" charset="0"/>
                </a:rPr>
                <a:t>% (X,Y,Z))</a:t>
              </a:r>
            </a:p>
            <a:p>
              <a:pPr>
                <a:lnSpc>
                  <a:spcPct val="105000"/>
                </a:lnSpc>
              </a:pPr>
              <a:r>
                <a:rPr lang="en-US" sz="1590" dirty="0">
                  <a:solidFill>
                    <a:srgbClr val="FF99CC"/>
                  </a:solidFill>
                  <a:latin typeface="Arial" panose="020B0604020202020204" pitchFamily="34" charset="0"/>
                  <a:cs typeface="Arial" panose="020B0604020202020204" pitchFamily="34" charset="0"/>
                </a:rPr>
                <a:t>% python3 likeTheCExample.py</a:t>
              </a:r>
            </a:p>
            <a:p>
              <a:pPr>
                <a:lnSpc>
                  <a:spcPct val="105000"/>
                </a:lnSpc>
              </a:pPr>
              <a:r>
                <a:rPr lang="en-US" sz="1590" dirty="0">
                  <a:solidFill>
                    <a:srgbClr val="FF99CC"/>
                  </a:solidFill>
                  <a:latin typeface="Arial" panose="020B0604020202020204" pitchFamily="34" charset="0"/>
                  <a:cs typeface="Arial" panose="020B0604020202020204" pitchFamily="34" charset="0"/>
                </a:rPr>
                <a:t>X=A Y=6.000000 Z=6</a:t>
              </a:r>
            </a:p>
            <a:p>
              <a:pPr>
                <a:lnSpc>
                  <a:spcPct val="105000"/>
                </a:lnSpc>
              </a:pPr>
              <a:r>
                <a:rPr lang="en-US" sz="1590" dirty="0">
                  <a:solidFill>
                    <a:srgbClr val="FF99CC"/>
                  </a:solidFill>
                  <a:latin typeface="Arial" panose="020B0604020202020204" pitchFamily="34" charset="0"/>
                  <a:cs typeface="Arial" panose="020B0604020202020204" pitchFamily="34" charset="0"/>
                </a:rPr>
                <a:t>X=A Y=6.000000 Z=6</a:t>
              </a:r>
            </a:p>
            <a:p>
              <a:pPr>
                <a:lnSpc>
                  <a:spcPct val="105000"/>
                </a:lnSpc>
              </a:pPr>
              <a:r>
                <a:rPr lang="en-US" sz="1590" dirty="0">
                  <a:solidFill>
                    <a:srgbClr val="FF99CC"/>
                  </a:solidFill>
                  <a:latin typeface="Arial" panose="020B0604020202020204" pitchFamily="34" charset="0"/>
                  <a:cs typeface="Arial" panose="020B0604020202020204" pitchFamily="34" charset="0"/>
                </a:rPr>
                <a:t>%</a:t>
              </a:r>
            </a:p>
          </p:txBody>
        </p:sp>
      </p:grpSp>
      <p:sp>
        <p:nvSpPr>
          <p:cNvPr id="53" name="Rounded Rectangular Callout 52"/>
          <p:cNvSpPr/>
          <p:nvPr/>
        </p:nvSpPr>
        <p:spPr>
          <a:xfrm>
            <a:off x="298096" y="2812014"/>
            <a:ext cx="5242010" cy="709719"/>
          </a:xfrm>
          <a:prstGeom prst="wedgeRoundRectCallout">
            <a:avLst>
              <a:gd name="adj1" fmla="val 60799"/>
              <a:gd name="adj2" fmla="val -48337"/>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srgbClr val="0033CC"/>
                </a:solidFill>
              </a:rPr>
              <a:t>Notice: Z is becoming a float type here </a:t>
            </a:r>
            <a:r>
              <a:rPr lang="en-US" sz="2226" spc="-80" dirty="0">
                <a:solidFill>
                  <a:srgbClr val="0033CC"/>
                </a:solidFill>
              </a:rPr>
              <a:t>(unlike </a:t>
            </a:r>
            <a:r>
              <a:rPr lang="en-US" sz="2226" spc="-80" dirty="0">
                <a:solidFill>
                  <a:srgbClr val="7030A0"/>
                </a:solidFill>
              </a:rPr>
              <a:t>what happened here </a:t>
            </a:r>
            <a:r>
              <a:rPr lang="en-US" sz="2226" spc="-80" dirty="0">
                <a:solidFill>
                  <a:srgbClr val="0033CC"/>
                </a:solidFill>
              </a:rPr>
              <a:t>in the C program).</a:t>
            </a:r>
          </a:p>
        </p:txBody>
      </p:sp>
      <p:cxnSp>
        <p:nvCxnSpPr>
          <p:cNvPr id="12" name="Straight Arrow Connector 11"/>
          <p:cNvCxnSpPr/>
          <p:nvPr/>
        </p:nvCxnSpPr>
        <p:spPr>
          <a:xfrm flipH="1">
            <a:off x="707010" y="3454327"/>
            <a:ext cx="2406173" cy="2550547"/>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gcc</a:t>
            </a:r>
            <a:r>
              <a:rPr lang="en-US" sz="1749" dirty="0">
                <a:solidFill>
                  <a:srgbClr val="7FBF7F"/>
                </a:solidFill>
                <a:latin typeface="Arial Narrow" panose="020B0606020202030204" pitchFamily="34" charset="0"/>
                <a:cs typeface="Consolas" panose="020B0609020204030204" pitchFamily="49" charset="0"/>
              </a:rPr>
              <a:t> -o </a:t>
            </a:r>
            <a:r>
              <a:rPr lang="en-US" sz="1749" dirty="0" err="1">
                <a:solidFill>
                  <a:srgbClr val="7FBF7F"/>
                </a:solidFill>
                <a:latin typeface="Arial Narrow" panose="020B0606020202030204" pitchFamily="34" charset="0"/>
                <a:cs typeface="Consolas" panose="020B0609020204030204" pitchFamily="49" charset="0"/>
              </a:rPr>
              <a:t>union.x</a:t>
            </a:r>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union.c</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union.x</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generic=8</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(c=1</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s=8</a:t>
            </a:r>
            <a:r>
              <a:rPr lang="en-US" sz="1590"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i</a:t>
            </a:r>
            <a:r>
              <a:rPr lang="en-US" sz="1749" dirty="0">
                <a:solidFill>
                  <a:srgbClr val="7FBF7F"/>
                </a:solidFill>
                <a:latin typeface="Arial Narrow" panose="020B0606020202030204" pitchFamily="34" charset="0"/>
                <a:cs typeface="Consolas" panose="020B0609020204030204" pitchFamily="49" charset="0"/>
              </a:rPr>
              <a:t>=4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l=4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u=4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f=4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d=8)</a:t>
            </a:r>
          </a:p>
          <a:p>
            <a:r>
              <a:rPr lang="pl-PL" sz="1749" dirty="0">
                <a:solidFill>
                  <a:srgbClr val="7FBF7F"/>
                </a:solidFill>
                <a:latin typeface="Arial Narrow" panose="020B0606020202030204" pitchFamily="34" charset="0"/>
                <a:cs typeface="Consolas" panose="020B0609020204030204" pitchFamily="49" charset="0"/>
              </a:rPr>
              <a:t>X</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&gt;c=A   Y</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&gt;f=6.000000   Z</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&gt;i=6</a:t>
            </a:r>
          </a:p>
          <a:p>
            <a:r>
              <a:rPr lang="pl-PL" sz="1749" dirty="0">
                <a:solidFill>
                  <a:srgbClr val="7FBF7F"/>
                </a:solidFill>
                <a:latin typeface="Arial Narrow" panose="020B0606020202030204" pitchFamily="34" charset="0"/>
                <a:cs typeface="Consolas" panose="020B0609020204030204" pitchFamily="49" charset="0"/>
              </a:rPr>
              <a:t>X</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&gt;c=A   Y</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&gt;f=6.000000   Z</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&gt;i=1086324736</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a:t>
            </a:r>
          </a:p>
          <a:p>
            <a:endParaRPr lang="pl-PL" sz="1749" dirty="0">
              <a:solidFill>
                <a:srgbClr val="7FBF7F"/>
              </a:solidFill>
              <a:latin typeface="Arial Narrow" panose="020B0606020202030204" pitchFamily="34" charset="0"/>
              <a:cs typeface="Consolas" panose="020B0609020204030204" pitchFamily="49" charset="0"/>
            </a:endParaRPr>
          </a:p>
        </p:txBody>
      </p:sp>
    </p:spTree>
    <p:extLst>
      <p:ext uri="{BB962C8B-B14F-4D97-AF65-F5344CB8AC3E}">
        <p14:creationId xmlns:p14="http://schemas.microsoft.com/office/powerpoint/2010/main" val="425840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randombar(horizontal)">
                                      <p:cBhvr>
                                        <p:cTn id="7" dur="500"/>
                                        <p:tgtEl>
                                          <p:spTgt spid="5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par>
                                <p:cTn id="12" presetID="16" presetClass="emph" presetSubtype="0" fill="hold" nodeType="withEffect">
                                  <p:stCondLst>
                                    <p:cond delay="0"/>
                                  </p:stCondLst>
                                  <p:childTnLst>
                                    <p:set>
                                      <p:cBhvr override="childStyle">
                                        <p:cTn id="13" dur="2000" fill="hold"/>
                                        <p:tgtEl>
                                          <p:spTgt spid="14">
                                            <p:txEl>
                                              <p:pRg st="0" end="0"/>
                                            </p:txEl>
                                          </p:spTgt>
                                        </p:tgtEl>
                                        <p:attrNameLst>
                                          <p:attrName>style.color</p:attrName>
                                        </p:attrNameLst>
                                      </p:cBhvr>
                                      <p:to>
                                        <p:clrVal>
                                          <a:srgbClr val="7FBF7F"/>
                                        </p:clrVal>
                                      </p:to>
                                    </p:set>
                                    <p:set>
                                      <p:cBhvr>
                                        <p:cTn id="14" dur="2000" fill="hold"/>
                                        <p:tgtEl>
                                          <p:spTgt spid="14">
                                            <p:txEl>
                                              <p:pRg st="0" end="0"/>
                                            </p:txEl>
                                          </p:spTgt>
                                        </p:tgtEl>
                                        <p:attrNameLst>
                                          <p:attrName>fillcolor</p:attrName>
                                        </p:attrNameLst>
                                      </p:cBhvr>
                                      <p:to>
                                        <p:clrVal>
                                          <a:srgbClr val="7FBF7F"/>
                                        </p:clrVal>
                                      </p:to>
                                    </p:set>
                                    <p:set>
                                      <p:cBhvr>
                                        <p:cTn id="15" dur="2000" fill="hold"/>
                                        <p:tgtEl>
                                          <p:spTgt spid="14">
                                            <p:txEl>
                                              <p:pRg st="0" end="0"/>
                                            </p:txEl>
                                          </p:spTgt>
                                        </p:tgtEl>
                                        <p:attrNameLst>
                                          <p:attrName>fill.type</p:attrName>
                                        </p:attrNameLst>
                                      </p:cBhvr>
                                      <p:to>
                                        <p:strVal val="solid"/>
                                      </p:to>
                                    </p:set>
                                  </p:childTnLst>
                                </p:cTn>
                              </p:par>
                              <p:par>
                                <p:cTn id="16" presetID="16" presetClass="emph" presetSubtype="0" fill="hold" nodeType="withEffect">
                                  <p:stCondLst>
                                    <p:cond delay="0"/>
                                  </p:stCondLst>
                                  <p:childTnLst>
                                    <p:set>
                                      <p:cBhvr override="childStyle">
                                        <p:cTn id="17" dur="2000" fill="hold"/>
                                        <p:tgtEl>
                                          <p:spTgt spid="14">
                                            <p:txEl>
                                              <p:pRg st="1" end="1"/>
                                            </p:txEl>
                                          </p:spTgt>
                                        </p:tgtEl>
                                        <p:attrNameLst>
                                          <p:attrName>style.color</p:attrName>
                                        </p:attrNameLst>
                                      </p:cBhvr>
                                      <p:to>
                                        <p:clrVal>
                                          <a:srgbClr val="7FBF7F"/>
                                        </p:clrVal>
                                      </p:to>
                                    </p:set>
                                    <p:set>
                                      <p:cBhvr>
                                        <p:cTn id="18" dur="2000" fill="hold"/>
                                        <p:tgtEl>
                                          <p:spTgt spid="14">
                                            <p:txEl>
                                              <p:pRg st="1" end="1"/>
                                            </p:txEl>
                                          </p:spTgt>
                                        </p:tgtEl>
                                        <p:attrNameLst>
                                          <p:attrName>fillcolor</p:attrName>
                                        </p:attrNameLst>
                                      </p:cBhvr>
                                      <p:to>
                                        <p:clrVal>
                                          <a:srgbClr val="7FBF7F"/>
                                        </p:clrVal>
                                      </p:to>
                                    </p:set>
                                    <p:set>
                                      <p:cBhvr>
                                        <p:cTn id="19" dur="2000" fill="hold"/>
                                        <p:tgtEl>
                                          <p:spTgt spid="14">
                                            <p:txEl>
                                              <p:pRg st="1" end="1"/>
                                            </p:txEl>
                                          </p:spTgt>
                                        </p:tgtEl>
                                        <p:attrNameLst>
                                          <p:attrName>fill.type</p:attrName>
                                        </p:attrNameLst>
                                      </p:cBhvr>
                                      <p:to>
                                        <p:strVal val="solid"/>
                                      </p:to>
                                    </p:set>
                                  </p:childTnLst>
                                </p:cTn>
                              </p:par>
                              <p:par>
                                <p:cTn id="20" presetID="16" presetClass="emph" presetSubtype="0" fill="hold" nodeType="withEffect">
                                  <p:stCondLst>
                                    <p:cond delay="0"/>
                                  </p:stCondLst>
                                  <p:childTnLst>
                                    <p:set>
                                      <p:cBhvr override="childStyle">
                                        <p:cTn id="21" dur="2000" fill="hold"/>
                                        <p:tgtEl>
                                          <p:spTgt spid="14">
                                            <p:txEl>
                                              <p:pRg st="2" end="2"/>
                                            </p:txEl>
                                          </p:spTgt>
                                        </p:tgtEl>
                                        <p:attrNameLst>
                                          <p:attrName>style.color</p:attrName>
                                        </p:attrNameLst>
                                      </p:cBhvr>
                                      <p:to>
                                        <p:clrVal>
                                          <a:srgbClr val="7FBF7F"/>
                                        </p:clrVal>
                                      </p:to>
                                    </p:set>
                                    <p:set>
                                      <p:cBhvr>
                                        <p:cTn id="22" dur="2000" fill="hold"/>
                                        <p:tgtEl>
                                          <p:spTgt spid="14">
                                            <p:txEl>
                                              <p:pRg st="2" end="2"/>
                                            </p:txEl>
                                          </p:spTgt>
                                        </p:tgtEl>
                                        <p:attrNameLst>
                                          <p:attrName>fillcolor</p:attrName>
                                        </p:attrNameLst>
                                      </p:cBhvr>
                                      <p:to>
                                        <p:clrVal>
                                          <a:srgbClr val="7FBF7F"/>
                                        </p:clrVal>
                                      </p:to>
                                    </p:set>
                                    <p:set>
                                      <p:cBhvr>
                                        <p:cTn id="23" dur="2000" fill="hold"/>
                                        <p:tgtEl>
                                          <p:spTgt spid="14">
                                            <p:txEl>
                                              <p:pRg st="2" end="2"/>
                                            </p:txEl>
                                          </p:spTgt>
                                        </p:tgtEl>
                                        <p:attrNameLst>
                                          <p:attrName>fill.type</p:attrName>
                                        </p:attrNameLst>
                                      </p:cBhvr>
                                      <p:to>
                                        <p:strVal val="solid"/>
                                      </p:to>
                                    </p:set>
                                  </p:childTnLst>
                                </p:cTn>
                              </p:par>
                              <p:par>
                                <p:cTn id="24" presetID="16" presetClass="emph" presetSubtype="0" fill="hold" nodeType="withEffect">
                                  <p:stCondLst>
                                    <p:cond delay="0"/>
                                  </p:stCondLst>
                                  <p:childTnLst>
                                    <p:set>
                                      <p:cBhvr override="childStyle">
                                        <p:cTn id="25" dur="2000" fill="hold"/>
                                        <p:tgtEl>
                                          <p:spTgt spid="14">
                                            <p:txEl>
                                              <p:pRg st="3" end="3"/>
                                            </p:txEl>
                                          </p:spTgt>
                                        </p:tgtEl>
                                        <p:attrNameLst>
                                          <p:attrName>style.color</p:attrName>
                                        </p:attrNameLst>
                                      </p:cBhvr>
                                      <p:to>
                                        <p:clrVal>
                                          <a:srgbClr val="7FBF7F"/>
                                        </p:clrVal>
                                      </p:to>
                                    </p:set>
                                    <p:set>
                                      <p:cBhvr>
                                        <p:cTn id="26" dur="2000" fill="hold"/>
                                        <p:tgtEl>
                                          <p:spTgt spid="14">
                                            <p:txEl>
                                              <p:pRg st="3" end="3"/>
                                            </p:txEl>
                                          </p:spTgt>
                                        </p:tgtEl>
                                        <p:attrNameLst>
                                          <p:attrName>fillcolor</p:attrName>
                                        </p:attrNameLst>
                                      </p:cBhvr>
                                      <p:to>
                                        <p:clrVal>
                                          <a:srgbClr val="7FBF7F"/>
                                        </p:clrVal>
                                      </p:to>
                                    </p:set>
                                    <p:set>
                                      <p:cBhvr>
                                        <p:cTn id="27" dur="2000" fill="hold"/>
                                        <p:tgtEl>
                                          <p:spTgt spid="14">
                                            <p:txEl>
                                              <p:pRg st="3" end="3"/>
                                            </p:txEl>
                                          </p:spTgt>
                                        </p:tgtEl>
                                        <p:attrNameLst>
                                          <p:attrName>fill.type</p:attrName>
                                        </p:attrNameLst>
                                      </p:cBhvr>
                                      <p:to>
                                        <p:strVal val="solid"/>
                                      </p:to>
                                    </p:set>
                                  </p:childTnLst>
                                </p:cTn>
                              </p:par>
                              <p:par>
                                <p:cTn id="28" presetID="16" presetClass="emph" presetSubtype="0" fill="hold" nodeType="withEffect">
                                  <p:stCondLst>
                                    <p:cond delay="0"/>
                                  </p:stCondLst>
                                  <p:childTnLst>
                                    <p:set>
                                      <p:cBhvr override="childStyle">
                                        <p:cTn id="29" dur="2000" fill="hold"/>
                                        <p:tgtEl>
                                          <p:spTgt spid="14">
                                            <p:txEl>
                                              <p:pRg st="4" end="4"/>
                                            </p:txEl>
                                          </p:spTgt>
                                        </p:tgtEl>
                                        <p:attrNameLst>
                                          <p:attrName>style.color</p:attrName>
                                        </p:attrNameLst>
                                      </p:cBhvr>
                                      <p:to>
                                        <p:clrVal>
                                          <a:srgbClr val="7FBF7F"/>
                                        </p:clrVal>
                                      </p:to>
                                    </p:set>
                                    <p:set>
                                      <p:cBhvr>
                                        <p:cTn id="30" dur="2000" fill="hold"/>
                                        <p:tgtEl>
                                          <p:spTgt spid="14">
                                            <p:txEl>
                                              <p:pRg st="4" end="4"/>
                                            </p:txEl>
                                          </p:spTgt>
                                        </p:tgtEl>
                                        <p:attrNameLst>
                                          <p:attrName>fillcolor</p:attrName>
                                        </p:attrNameLst>
                                      </p:cBhvr>
                                      <p:to>
                                        <p:clrVal>
                                          <a:srgbClr val="7FBF7F"/>
                                        </p:clrVal>
                                      </p:to>
                                    </p:set>
                                    <p:set>
                                      <p:cBhvr>
                                        <p:cTn id="31" dur="2000" fill="hold"/>
                                        <p:tgtEl>
                                          <p:spTgt spid="14">
                                            <p:txEl>
                                              <p:pRg st="4" end="4"/>
                                            </p:txEl>
                                          </p:spTgt>
                                        </p:tgtEl>
                                        <p:attrNameLst>
                                          <p:attrName>fill.type</p:attrName>
                                        </p:attrNameLst>
                                      </p:cBhvr>
                                      <p:to>
                                        <p:strVal val="solid"/>
                                      </p:to>
                                    </p:set>
                                  </p:childTnLst>
                                </p:cTn>
                              </p:par>
                              <p:par>
                                <p:cTn id="32" presetID="16" presetClass="emph" presetSubtype="0" fill="hold" nodeType="withEffect">
                                  <p:stCondLst>
                                    <p:cond delay="0"/>
                                  </p:stCondLst>
                                  <p:childTnLst>
                                    <p:set>
                                      <p:cBhvr override="childStyle">
                                        <p:cTn id="33" dur="2000" fill="hold"/>
                                        <p:tgtEl>
                                          <p:spTgt spid="14">
                                            <p:txEl>
                                              <p:pRg st="5" end="5"/>
                                            </p:txEl>
                                          </p:spTgt>
                                        </p:tgtEl>
                                        <p:attrNameLst>
                                          <p:attrName>style.color</p:attrName>
                                        </p:attrNameLst>
                                      </p:cBhvr>
                                      <p:to>
                                        <p:clrVal>
                                          <a:srgbClr val="7FBF7F"/>
                                        </p:clrVal>
                                      </p:to>
                                    </p:set>
                                    <p:set>
                                      <p:cBhvr>
                                        <p:cTn id="34" dur="2000" fill="hold"/>
                                        <p:tgtEl>
                                          <p:spTgt spid="14">
                                            <p:txEl>
                                              <p:pRg st="5" end="5"/>
                                            </p:txEl>
                                          </p:spTgt>
                                        </p:tgtEl>
                                        <p:attrNameLst>
                                          <p:attrName>fillcolor</p:attrName>
                                        </p:attrNameLst>
                                      </p:cBhvr>
                                      <p:to>
                                        <p:clrVal>
                                          <a:srgbClr val="7FBF7F"/>
                                        </p:clrVal>
                                      </p:to>
                                    </p:set>
                                    <p:set>
                                      <p:cBhvr>
                                        <p:cTn id="35" dur="2000" fill="hold"/>
                                        <p:tgtEl>
                                          <p:spTgt spid="14">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2" y="0"/>
            <a:ext cx="9729790" cy="6858000"/>
          </a:xfrm>
          <a:prstGeom prst="rect">
            <a:avLst/>
          </a:prstGeom>
          <a:solidFill>
            <a:srgbClr val="7FB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 name="Content Placeholder 2"/>
          <p:cNvSpPr>
            <a:spLocks noGrp="1"/>
          </p:cNvSpPr>
          <p:nvPr>
            <p:ph idx="1"/>
          </p:nvPr>
        </p:nvSpPr>
        <p:spPr>
          <a:xfrm>
            <a:off x="18256" y="0"/>
            <a:ext cx="8207178" cy="6858000"/>
          </a:xfrm>
        </p:spPr>
        <p:txBody>
          <a:bodyPr>
            <a:noAutofit/>
          </a:bodyPr>
          <a:lstStyle/>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typedef union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char  c;    char *s;</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int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long  l;</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unsigned int 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float f;    double 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generic;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generic X[1], Y[1], Z[1];</a:t>
            </a:r>
          </a:p>
          <a:p>
            <a:pPr marL="0" indent="0">
              <a:lnSpc>
                <a:spcPct val="130000"/>
              </a:lnSpc>
              <a:spcBef>
                <a:spcPts val="0"/>
              </a:spcBef>
              <a:buNone/>
            </a:pPr>
            <a:endParaRPr lang="en-US" sz="1113" dirty="0">
              <a:latin typeface="Consolas" panose="020B0609020204030204" pitchFamily="49" charset="0"/>
              <a:cs typeface="Consolas" panose="020B0609020204030204" pitchFamily="49" charset="0"/>
            </a:endParaRP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int main() {</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("generic=%u  (c=%u s=%u </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=%u l=%u u=%u f=%u d=%u)\n",</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(generic),</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(char*),</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(int),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(unsigned int),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(float),</a:t>
            </a:r>
            <a:r>
              <a:rPr lang="en-US" sz="1431" dirty="0" err="1">
                <a:latin typeface="Consolas" panose="020B0609020204030204" pitchFamily="49" charset="0"/>
                <a:cs typeface="Consolas" panose="020B0609020204030204" pitchFamily="49" charset="0"/>
              </a:rPr>
              <a:t>sizeof</a:t>
            </a:r>
            <a:r>
              <a:rPr lang="en-US" sz="1431" dirty="0">
                <a:latin typeface="Consolas" panose="020B0609020204030204" pitchFamily="49" charset="0"/>
                <a:cs typeface="Consolas" panose="020B0609020204030204" pitchFamily="49" charset="0"/>
              </a:rPr>
              <a:t>(double));</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X-&gt;c = 'A';</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Z-&gt;f = 6.0;</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Z-&gt;c = 'B';</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6;</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Y-&gt;c = X-&gt;c;</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Y-&gt;d =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Y-&gt;f = Y-&gt;d;</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=%d\</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 = Y-&gt;u;</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   </a:t>
            </a:r>
            <a:r>
              <a:rPr lang="en-US" sz="1431" dirty="0" err="1">
                <a:latin typeface="Consolas" panose="020B0609020204030204" pitchFamily="49" charset="0"/>
                <a:cs typeface="Consolas" panose="020B0609020204030204" pitchFamily="49" charset="0"/>
              </a:rPr>
              <a:t>printf</a:t>
            </a:r>
            <a:r>
              <a:rPr lang="en-US" sz="1431" dirty="0">
                <a:latin typeface="Consolas" panose="020B0609020204030204" pitchFamily="49" charset="0"/>
                <a:cs typeface="Consolas" panose="020B0609020204030204" pitchFamily="49" charset="0"/>
              </a:rPr>
              <a:t>("X-&gt;c=%c   Y-&gt;f=%f   Z-&gt;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r>
              <a:rPr lang="en-US" sz="1431" dirty="0">
                <a:solidFill>
                  <a:srgbClr val="FF0000"/>
                </a:solidFill>
                <a:latin typeface="Consolas" panose="020B0609020204030204" pitchFamily="49" charset="0"/>
                <a:cs typeface="Consolas" panose="020B0609020204030204" pitchFamily="49" charset="0"/>
              </a:rPr>
              <a:t>%d</a:t>
            </a:r>
            <a:r>
              <a:rPr lang="en-US" sz="1431" dirty="0">
                <a:latin typeface="Consolas" panose="020B0609020204030204" pitchFamily="49" charset="0"/>
                <a:cs typeface="Consolas" panose="020B0609020204030204" pitchFamily="49" charset="0"/>
              </a:rPr>
              <a:t>\</a:t>
            </a:r>
            <a:r>
              <a:rPr lang="en-US" sz="1431" dirty="0" err="1">
                <a:latin typeface="Consolas" panose="020B0609020204030204" pitchFamily="49" charset="0"/>
                <a:cs typeface="Consolas" panose="020B0609020204030204" pitchFamily="49" charset="0"/>
              </a:rPr>
              <a:t>n",X</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c,Y</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f,Z</a:t>
            </a:r>
            <a:r>
              <a:rPr lang="en-US" sz="1431" dirty="0">
                <a:latin typeface="Consolas" panose="020B0609020204030204" pitchFamily="49" charset="0"/>
                <a:cs typeface="Consolas" panose="020B0609020204030204" pitchFamily="49" charset="0"/>
              </a:rPr>
              <a:t>-&gt;</a:t>
            </a:r>
            <a:r>
              <a:rPr lang="en-US" sz="1431" dirty="0" err="1">
                <a:latin typeface="Consolas" panose="020B0609020204030204" pitchFamily="49" charset="0"/>
                <a:cs typeface="Consolas" panose="020B0609020204030204" pitchFamily="49" charset="0"/>
              </a:rPr>
              <a:t>i</a:t>
            </a:r>
            <a:r>
              <a:rPr lang="en-US" sz="1431" dirty="0">
                <a:latin typeface="Consolas" panose="020B0609020204030204" pitchFamily="49" charset="0"/>
                <a:cs typeface="Consolas" panose="020B0609020204030204" pitchFamily="49" charset="0"/>
              </a:rPr>
              <a:t>);</a:t>
            </a:r>
          </a:p>
          <a:p>
            <a:pPr marL="0" indent="0">
              <a:lnSpc>
                <a:spcPct val="130000"/>
              </a:lnSpc>
              <a:spcBef>
                <a:spcPts val="0"/>
              </a:spcBef>
              <a:buNone/>
            </a:pPr>
            <a:r>
              <a:rPr lang="en-US" sz="1431" dirty="0">
                <a:latin typeface="Consolas" panose="020B0609020204030204" pitchFamily="49" charset="0"/>
                <a:cs typeface="Consolas" panose="020B0609020204030204" pitchFamily="49" charset="0"/>
              </a:rPr>
              <a:t>}</a:t>
            </a:r>
          </a:p>
        </p:txBody>
      </p:sp>
      <p:grpSp>
        <p:nvGrpSpPr>
          <p:cNvPr id="9" name="Group 8"/>
          <p:cNvGrpSpPr/>
          <p:nvPr/>
        </p:nvGrpSpPr>
        <p:grpSpPr>
          <a:xfrm>
            <a:off x="2261594" y="0"/>
            <a:ext cx="7468194" cy="4198246"/>
            <a:chOff x="2832380" y="-1646"/>
            <a:chExt cx="9351102" cy="4376672"/>
          </a:xfrm>
        </p:grpSpPr>
        <p:sp>
          <p:nvSpPr>
            <p:cNvPr id="7" name="Rectangle 6"/>
            <p:cNvSpPr/>
            <p:nvPr/>
          </p:nvSpPr>
          <p:spPr>
            <a:xfrm>
              <a:off x="7447597" y="-1"/>
              <a:ext cx="4735885" cy="4375027"/>
            </a:xfrm>
            <a:prstGeom prst="rect">
              <a:avLst/>
            </a:prstGeom>
            <a:solidFill>
              <a:srgbClr val="FF99CC"/>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5" name="Rectangle 44"/>
            <p:cNvSpPr/>
            <p:nvPr/>
          </p:nvSpPr>
          <p:spPr>
            <a:xfrm>
              <a:off x="3011052" y="-1646"/>
              <a:ext cx="4753250" cy="1416974"/>
            </a:xfrm>
            <a:prstGeom prst="rect">
              <a:avLst/>
            </a:prstGeom>
            <a:solidFill>
              <a:srgbClr val="FF99CC"/>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0" name="Rectangle 39"/>
            <p:cNvSpPr/>
            <p:nvPr/>
          </p:nvSpPr>
          <p:spPr>
            <a:xfrm>
              <a:off x="2832380" y="32084"/>
              <a:ext cx="4755714" cy="1377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everything works</a:t>
              </a:r>
              <a:r>
                <a:rPr lang="en-US" sz="2862" b="1" dirty="0">
                  <a:solidFill>
                    <a:srgbClr val="5B9BD5">
                      <a:lumMod val="75000"/>
                    </a:srgbClr>
                  </a:solidFill>
                  <a:latin typeface="Times New Roman" panose="02020603050405020304" pitchFamily="18" charset="0"/>
                  <a:cs typeface="Times New Roman" panose="02020603050405020304" pitchFamily="18" charset="0"/>
                </a:rPr>
                <a:t> </a:t>
              </a:r>
              <a:r>
                <a:rPr lang="en-US" sz="3816" b="1" dirty="0">
                  <a:solidFill>
                    <a:srgbClr val="5B9BD5">
                      <a:lumMod val="75000"/>
                    </a:srgbClr>
                  </a:solidFill>
                  <a:latin typeface="Times New Roman" panose="02020603050405020304" pitchFamily="18" charset="0"/>
                  <a:cs typeface="Times New Roman" panose="02020603050405020304" pitchFamily="18" charset="0"/>
                </a:rPr>
                <a:t>in</a:t>
              </a:r>
              <a:r>
                <a:rPr lang="en-US" sz="2862" b="1" dirty="0">
                  <a:solidFill>
                    <a:srgbClr val="5B9BD5">
                      <a:lumMod val="75000"/>
                    </a:srgbClr>
                  </a:solidFill>
                  <a:latin typeface="Times New Roman" panose="02020603050405020304" pitchFamily="18" charset="0"/>
                  <a:cs typeface="Times New Roman" panose="02020603050405020304" pitchFamily="18" charset="0"/>
                </a:rPr>
                <a:t> </a:t>
              </a:r>
              <a:r>
                <a:rPr lang="en-US" sz="3816" b="1" dirty="0">
                  <a:solidFill>
                    <a:srgbClr val="5B9BD5">
                      <a:lumMod val="75000"/>
                    </a:srgbClr>
                  </a:solidFill>
                  <a:latin typeface="Times New Roman" panose="02020603050405020304" pitchFamily="18" charset="0"/>
                  <a:cs typeface="Times New Roman" panose="02020603050405020304" pitchFamily="18" charset="0"/>
                </a:rPr>
                <a:t>Python:</a:t>
              </a:r>
            </a:p>
          </p:txBody>
        </p:sp>
        <p:sp>
          <p:nvSpPr>
            <p:cNvPr id="8" name="Rectangle 7"/>
            <p:cNvSpPr/>
            <p:nvPr/>
          </p:nvSpPr>
          <p:spPr>
            <a:xfrm>
              <a:off x="7462221" y="15947"/>
              <a:ext cx="714750" cy="1439824"/>
            </a:xfrm>
            <a:prstGeom prst="rect">
              <a:avLst/>
            </a:prstGeom>
            <a:solidFill>
              <a:srgbClr val="FF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39" name="Rectangle 38"/>
            <p:cNvSpPr/>
            <p:nvPr/>
          </p:nvSpPr>
          <p:spPr>
            <a:xfrm>
              <a:off x="7560670" y="97745"/>
              <a:ext cx="4498371" cy="417707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5000"/>
                </a:lnSpc>
              </a:pPr>
              <a:r>
                <a:rPr lang="en-US" sz="1590" dirty="0">
                  <a:solidFill>
                    <a:srgbClr val="FF99CC"/>
                  </a:solidFill>
                  <a:latin typeface="Arial" panose="020B0604020202020204" pitchFamily="34" charset="0"/>
                  <a:cs typeface="Arial" panose="020B0604020202020204" pitchFamily="34" charset="0"/>
                </a:rPr>
                <a:t>$ cat likeTheCExample.py</a:t>
              </a:r>
            </a:p>
            <a:p>
              <a:pPr>
                <a:lnSpc>
                  <a:spcPct val="105000"/>
                </a:lnSpc>
              </a:pPr>
              <a:r>
                <a:rPr lang="en-US" sz="1590" dirty="0">
                  <a:solidFill>
                    <a:srgbClr val="FF99CC"/>
                  </a:solidFill>
                  <a:latin typeface="Arial" panose="020B0604020202020204" pitchFamily="34" charset="0"/>
                  <a:cs typeface="Arial" panose="020B0604020202020204" pitchFamily="34" charset="0"/>
                </a:rPr>
                <a:t>X='A'</a:t>
              </a:r>
            </a:p>
            <a:p>
              <a:pPr>
                <a:lnSpc>
                  <a:spcPct val="105000"/>
                </a:lnSpc>
              </a:pPr>
              <a:r>
                <a:rPr lang="en-US" sz="1590" dirty="0">
                  <a:solidFill>
                    <a:srgbClr val="FF99CC"/>
                  </a:solidFill>
                  <a:latin typeface="Arial" panose="020B0604020202020204" pitchFamily="34" charset="0"/>
                  <a:cs typeface="Arial" panose="020B0604020202020204" pitchFamily="34" charset="0"/>
                </a:rPr>
                <a:t>Z=6.0</a:t>
              </a:r>
            </a:p>
            <a:p>
              <a:pPr>
                <a:lnSpc>
                  <a:spcPct val="105000"/>
                </a:lnSpc>
              </a:pPr>
              <a:r>
                <a:rPr lang="en-US" sz="1590" dirty="0">
                  <a:solidFill>
                    <a:srgbClr val="FF99CC"/>
                  </a:solidFill>
                  <a:latin typeface="Arial" panose="020B0604020202020204" pitchFamily="34" charset="0"/>
                  <a:cs typeface="Arial" panose="020B0604020202020204" pitchFamily="34" charset="0"/>
                </a:rPr>
                <a:t>Z='B'</a:t>
              </a:r>
            </a:p>
            <a:p>
              <a:pPr>
                <a:lnSpc>
                  <a:spcPct val="105000"/>
                </a:lnSpc>
              </a:pPr>
              <a:r>
                <a:rPr lang="en-US" sz="1590" dirty="0">
                  <a:solidFill>
                    <a:srgbClr val="FF99CC"/>
                  </a:solidFill>
                  <a:latin typeface="Arial" panose="020B0604020202020204" pitchFamily="34" charset="0"/>
                  <a:cs typeface="Arial" panose="020B0604020202020204" pitchFamily="34" charset="0"/>
                </a:rPr>
                <a:t>Z=6</a:t>
              </a:r>
            </a:p>
            <a:p>
              <a:pPr>
                <a:lnSpc>
                  <a:spcPct val="105000"/>
                </a:lnSpc>
              </a:pPr>
              <a:r>
                <a:rPr lang="en-US" sz="1590" dirty="0">
                  <a:solidFill>
                    <a:srgbClr val="FF99CC"/>
                  </a:solidFill>
                  <a:latin typeface="Arial" panose="020B0604020202020204" pitchFamily="34" charset="0"/>
                  <a:cs typeface="Arial" panose="020B0604020202020204" pitchFamily="34" charset="0"/>
                </a:rPr>
                <a:t>Y=Z</a:t>
              </a:r>
            </a:p>
            <a:p>
              <a:pPr>
                <a:lnSpc>
                  <a:spcPct val="105000"/>
                </a:lnSpc>
              </a:pPr>
              <a:r>
                <a:rPr lang="en-US" sz="1590" dirty="0">
                  <a:solidFill>
                    <a:srgbClr val="FF99CC"/>
                  </a:solidFill>
                  <a:latin typeface="Arial" panose="020B0604020202020204" pitchFamily="34" charset="0"/>
                  <a:cs typeface="Arial" panose="020B0604020202020204" pitchFamily="34" charset="0"/>
                </a:rPr>
                <a:t>Y=X</a:t>
              </a:r>
            </a:p>
            <a:p>
              <a:pPr>
                <a:lnSpc>
                  <a:spcPct val="105000"/>
                </a:lnSpc>
              </a:pPr>
              <a:r>
                <a:rPr lang="en-US" sz="1590" dirty="0">
                  <a:solidFill>
                    <a:srgbClr val="FF99CC"/>
                  </a:solidFill>
                  <a:latin typeface="Arial" panose="020B0604020202020204" pitchFamily="34" charset="0"/>
                  <a:cs typeface="Arial" panose="020B0604020202020204" pitchFamily="34" charset="0"/>
                </a:rPr>
                <a:t>Y=Z</a:t>
              </a:r>
            </a:p>
            <a:p>
              <a:pPr>
                <a:lnSpc>
                  <a:spcPct val="105000"/>
                </a:lnSpc>
              </a:pPr>
              <a:r>
                <a:rPr lang="en-US" sz="1590" dirty="0">
                  <a:solidFill>
                    <a:srgbClr val="FF99CC"/>
                  </a:solidFill>
                  <a:latin typeface="Arial" panose="020B0604020202020204" pitchFamily="34" charset="0"/>
                  <a:cs typeface="Arial" panose="020B0604020202020204" pitchFamily="34" charset="0"/>
                </a:rPr>
                <a:t>Y=Y</a:t>
              </a:r>
            </a:p>
            <a:p>
              <a:pPr>
                <a:lnSpc>
                  <a:spcPct val="105000"/>
                </a:lnSpc>
              </a:pPr>
              <a:r>
                <a:rPr lang="en-US" sz="1590" dirty="0">
                  <a:solidFill>
                    <a:srgbClr val="FF99CC"/>
                  </a:solidFill>
                  <a:latin typeface="Arial" panose="020B0604020202020204" pitchFamily="34" charset="0"/>
                  <a:cs typeface="Arial" panose="020B0604020202020204" pitchFamily="34" charset="0"/>
                </a:rPr>
                <a:t>print ("X=%c Y=%f Z</a:t>
              </a:r>
              <a:r>
                <a:rPr lang="en-US" sz="1590" dirty="0" smtClean="0">
                  <a:solidFill>
                    <a:srgbClr val="FF99CC"/>
                  </a:solidFill>
                  <a:latin typeface="Arial" panose="020B0604020202020204" pitchFamily="34" charset="0"/>
                  <a:cs typeface="Arial" panose="020B0604020202020204" pitchFamily="34" charset="0"/>
                </a:rPr>
                <a:t>=%d" </a:t>
              </a:r>
              <a:r>
                <a:rPr lang="en-US" sz="1590" dirty="0">
                  <a:solidFill>
                    <a:srgbClr val="FF99CC"/>
                  </a:solidFill>
                  <a:latin typeface="Arial" panose="020B0604020202020204" pitchFamily="34" charset="0"/>
                  <a:cs typeface="Arial" panose="020B0604020202020204" pitchFamily="34" charset="0"/>
                </a:rPr>
                <a:t>% (X,Y,Z))</a:t>
              </a:r>
            </a:p>
            <a:p>
              <a:pPr>
                <a:lnSpc>
                  <a:spcPct val="105000"/>
                </a:lnSpc>
              </a:pPr>
              <a:r>
                <a:rPr lang="en-US" sz="1590" dirty="0">
                  <a:solidFill>
                    <a:srgbClr val="FF99CC"/>
                  </a:solidFill>
                  <a:latin typeface="Arial" panose="020B0604020202020204" pitchFamily="34" charset="0"/>
                  <a:cs typeface="Arial" panose="020B0604020202020204" pitchFamily="34" charset="0"/>
                </a:rPr>
                <a:t>Z=Y</a:t>
              </a:r>
            </a:p>
            <a:p>
              <a:pPr>
                <a:lnSpc>
                  <a:spcPct val="105000"/>
                </a:lnSpc>
              </a:pPr>
              <a:r>
                <a:rPr lang="en-US" sz="1590" dirty="0">
                  <a:solidFill>
                    <a:srgbClr val="FF99CC"/>
                  </a:solidFill>
                  <a:latin typeface="Arial" panose="020B0604020202020204" pitchFamily="34" charset="0"/>
                  <a:cs typeface="Arial" panose="020B0604020202020204" pitchFamily="34" charset="0"/>
                </a:rPr>
                <a:t>print ("X=%c Y=%f Z</a:t>
              </a:r>
              <a:r>
                <a:rPr lang="en-US" sz="1590" dirty="0" smtClean="0">
                  <a:solidFill>
                    <a:srgbClr val="FF99CC"/>
                  </a:solidFill>
                  <a:latin typeface="Arial" panose="020B0604020202020204" pitchFamily="34" charset="0"/>
                  <a:cs typeface="Arial" panose="020B0604020202020204" pitchFamily="34" charset="0"/>
                </a:rPr>
                <a:t>=</a:t>
              </a:r>
              <a:r>
                <a:rPr lang="en-US" sz="1590" dirty="0" smtClean="0">
                  <a:solidFill>
                    <a:srgbClr val="00B0F0"/>
                  </a:solidFill>
                  <a:latin typeface="Arial" panose="020B0604020202020204" pitchFamily="34" charset="0"/>
                  <a:cs typeface="Arial" panose="020B0604020202020204" pitchFamily="34" charset="0"/>
                </a:rPr>
                <a:t>%d</a:t>
              </a:r>
              <a:r>
                <a:rPr lang="en-US" sz="1590" dirty="0" smtClean="0">
                  <a:solidFill>
                    <a:srgbClr val="FF99CC"/>
                  </a:solidFill>
                  <a:latin typeface="Arial" panose="020B0604020202020204" pitchFamily="34" charset="0"/>
                  <a:cs typeface="Arial" panose="020B0604020202020204" pitchFamily="34" charset="0"/>
                </a:rPr>
                <a:t>" </a:t>
              </a:r>
              <a:r>
                <a:rPr lang="en-US" sz="1590" dirty="0">
                  <a:solidFill>
                    <a:srgbClr val="FF99CC"/>
                  </a:solidFill>
                  <a:latin typeface="Arial" panose="020B0604020202020204" pitchFamily="34" charset="0"/>
                  <a:cs typeface="Arial" panose="020B0604020202020204" pitchFamily="34" charset="0"/>
                </a:rPr>
                <a:t>% (X,Y,Z))</a:t>
              </a:r>
            </a:p>
            <a:p>
              <a:pPr>
                <a:lnSpc>
                  <a:spcPct val="105000"/>
                </a:lnSpc>
              </a:pPr>
              <a:r>
                <a:rPr lang="en-US" sz="1590" dirty="0">
                  <a:solidFill>
                    <a:srgbClr val="FF99CC"/>
                  </a:solidFill>
                  <a:latin typeface="Arial" panose="020B0604020202020204" pitchFamily="34" charset="0"/>
                  <a:cs typeface="Arial" panose="020B0604020202020204" pitchFamily="34" charset="0"/>
                </a:rPr>
                <a:t>% python3 likeTheCExample.py</a:t>
              </a:r>
            </a:p>
            <a:p>
              <a:pPr>
                <a:lnSpc>
                  <a:spcPct val="105000"/>
                </a:lnSpc>
              </a:pPr>
              <a:r>
                <a:rPr lang="en-US" sz="1590" dirty="0">
                  <a:solidFill>
                    <a:srgbClr val="FF99CC"/>
                  </a:solidFill>
                  <a:latin typeface="Arial" panose="020B0604020202020204" pitchFamily="34" charset="0"/>
                  <a:cs typeface="Arial" panose="020B0604020202020204" pitchFamily="34" charset="0"/>
                </a:rPr>
                <a:t>X=A Y=6.000000 Z=6</a:t>
              </a:r>
            </a:p>
            <a:p>
              <a:pPr>
                <a:lnSpc>
                  <a:spcPct val="105000"/>
                </a:lnSpc>
              </a:pPr>
              <a:r>
                <a:rPr lang="en-US" sz="1590" dirty="0">
                  <a:solidFill>
                    <a:srgbClr val="FF99CC"/>
                  </a:solidFill>
                  <a:latin typeface="Arial" panose="020B0604020202020204" pitchFamily="34" charset="0"/>
                  <a:cs typeface="Arial" panose="020B0604020202020204" pitchFamily="34" charset="0"/>
                </a:rPr>
                <a:t>X=A Y=6.000000 </a:t>
              </a:r>
              <a:r>
                <a:rPr lang="en-US" sz="1590" dirty="0">
                  <a:solidFill>
                    <a:prstClr val="white"/>
                  </a:solidFill>
                  <a:latin typeface="Arial" panose="020B0604020202020204" pitchFamily="34" charset="0"/>
                  <a:cs typeface="Arial" panose="020B0604020202020204" pitchFamily="34" charset="0"/>
                </a:rPr>
                <a:t>Z=6</a:t>
              </a:r>
            </a:p>
            <a:p>
              <a:pPr>
                <a:lnSpc>
                  <a:spcPct val="105000"/>
                </a:lnSpc>
              </a:pPr>
              <a:r>
                <a:rPr lang="en-US" sz="1590" dirty="0">
                  <a:solidFill>
                    <a:srgbClr val="FF99CC"/>
                  </a:solidFill>
                  <a:latin typeface="Arial" panose="020B0604020202020204" pitchFamily="34" charset="0"/>
                  <a:cs typeface="Arial" panose="020B0604020202020204" pitchFamily="34" charset="0"/>
                </a:rPr>
                <a:t>%</a:t>
              </a:r>
            </a:p>
          </p:txBody>
        </p:sp>
      </p:grpSp>
      <p:sp>
        <p:nvSpPr>
          <p:cNvPr id="14" name="Rounded Rectangular Callout 13"/>
          <p:cNvSpPr/>
          <p:nvPr/>
        </p:nvSpPr>
        <p:spPr>
          <a:xfrm>
            <a:off x="200598" y="5362538"/>
            <a:ext cx="5368672" cy="754330"/>
          </a:xfrm>
          <a:prstGeom prst="wedgeRoundRectCallout">
            <a:avLst>
              <a:gd name="adj1" fmla="val 50031"/>
              <a:gd name="adj2" fmla="val -23297"/>
              <a:gd name="adj3" fmla="val 16667"/>
            </a:avLst>
          </a:prstGeom>
          <a:solidFill>
            <a:srgbClr val="FFD03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26" dirty="0">
                <a:solidFill>
                  <a:srgbClr val="0033CC"/>
                </a:solidFill>
              </a:rPr>
              <a:t>Notice: </a:t>
            </a:r>
            <a:r>
              <a:rPr lang="en-US" sz="2226" dirty="0">
                <a:solidFill>
                  <a:prstClr val="white"/>
                </a:solidFill>
                <a:effectLst>
                  <a:outerShdw blurRad="38100" dist="38100" dir="2700000" algn="tl">
                    <a:srgbClr val="000000">
                      <a:alpha val="43137"/>
                    </a:srgbClr>
                  </a:outerShdw>
                </a:effectLst>
              </a:rPr>
              <a:t>this</a:t>
            </a:r>
            <a:r>
              <a:rPr lang="en-US" sz="2226" dirty="0">
                <a:solidFill>
                  <a:srgbClr val="0033CC"/>
                </a:solidFill>
              </a:rPr>
              <a:t> is correct (unlike</a:t>
            </a:r>
            <a:r>
              <a:rPr lang="en-US" sz="2226" dirty="0">
                <a:solidFill>
                  <a:srgbClr val="C00000"/>
                </a:solidFill>
              </a:rPr>
              <a:t> this</a:t>
            </a:r>
            <a:r>
              <a:rPr lang="en-US" sz="2226" dirty="0">
                <a:solidFill>
                  <a:srgbClr val="0033CC"/>
                </a:solidFill>
              </a:rPr>
              <a:t>), because </a:t>
            </a:r>
            <a:r>
              <a:rPr lang="en-US" sz="2226" spc="-30" dirty="0">
                <a:solidFill>
                  <a:srgbClr val="0033CC"/>
                </a:solidFill>
              </a:rPr>
              <a:t>Z’s value </a:t>
            </a:r>
            <a:r>
              <a:rPr lang="en-US" sz="2226" b="1" i="1" spc="-30" dirty="0">
                <a:solidFill>
                  <a:srgbClr val="0033CC"/>
                </a:solidFill>
              </a:rPr>
              <a:t>properly converts </a:t>
            </a:r>
            <a:r>
              <a:rPr lang="en-US" sz="2226" spc="-30" dirty="0">
                <a:solidFill>
                  <a:srgbClr val="0033CC"/>
                </a:solidFill>
              </a:rPr>
              <a:t>to </a:t>
            </a:r>
            <a:r>
              <a:rPr lang="en-US" sz="2226" spc="-30" dirty="0" smtClean="0">
                <a:solidFill>
                  <a:srgbClr val="00B0F0"/>
                </a:solidFill>
              </a:rPr>
              <a:t>decimal integer</a:t>
            </a:r>
            <a:r>
              <a:rPr lang="en-US" sz="2226" spc="-30" dirty="0" smtClean="0">
                <a:solidFill>
                  <a:srgbClr val="0033CC"/>
                </a:solidFill>
              </a:rPr>
              <a:t>.</a:t>
            </a:r>
            <a:endParaRPr lang="en-US" sz="2226" spc="-30" dirty="0">
              <a:solidFill>
                <a:srgbClr val="0033CC"/>
              </a:solidFill>
            </a:endParaRPr>
          </a:p>
        </p:txBody>
      </p:sp>
      <p:cxnSp>
        <p:nvCxnSpPr>
          <p:cNvPr id="17" name="Straight Arrow Connector 16"/>
          <p:cNvCxnSpPr/>
          <p:nvPr/>
        </p:nvCxnSpPr>
        <p:spPr>
          <a:xfrm flipV="1">
            <a:off x="4667480" y="3033664"/>
            <a:ext cx="3449102" cy="278135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1947156" y="3763418"/>
            <a:ext cx="3279971" cy="1095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tabLst>
                <a:tab pos="1182702" algn="l"/>
              </a:tabLst>
            </a:pPr>
            <a:r>
              <a:rPr lang="en-US" sz="3816" b="1" dirty="0">
                <a:solidFill>
                  <a:srgbClr val="5B9BD5">
                    <a:lumMod val="75000"/>
                  </a:srgbClr>
                </a:solidFill>
                <a:latin typeface="Times New Roman" panose="02020603050405020304" pitchFamily="18" charset="0"/>
                <a:cs typeface="Times New Roman" panose="02020603050405020304" pitchFamily="18" charset="0"/>
              </a:rPr>
              <a:t>How unions work in C</a:t>
            </a:r>
          </a:p>
        </p:txBody>
      </p:sp>
      <p:cxnSp>
        <p:nvCxnSpPr>
          <p:cNvPr id="16" name="Straight Arrow Connector 15"/>
          <p:cNvCxnSpPr/>
          <p:nvPr/>
        </p:nvCxnSpPr>
        <p:spPr>
          <a:xfrm flipV="1">
            <a:off x="1644248" y="3798184"/>
            <a:ext cx="6029171" cy="1674112"/>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5852160" y="4937760"/>
            <a:ext cx="3756144" cy="1828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gcc</a:t>
            </a:r>
            <a:r>
              <a:rPr lang="en-US" sz="1749" dirty="0">
                <a:solidFill>
                  <a:srgbClr val="7FBF7F"/>
                </a:solidFill>
                <a:latin typeface="Arial Narrow" panose="020B0606020202030204" pitchFamily="34" charset="0"/>
                <a:cs typeface="Consolas" panose="020B0609020204030204" pitchFamily="49" charset="0"/>
              </a:rPr>
              <a:t> -o </a:t>
            </a:r>
            <a:r>
              <a:rPr lang="en-US" sz="1749" dirty="0" err="1">
                <a:solidFill>
                  <a:srgbClr val="7FBF7F"/>
                </a:solidFill>
                <a:latin typeface="Arial Narrow" panose="020B0606020202030204" pitchFamily="34" charset="0"/>
                <a:cs typeface="Consolas" panose="020B0609020204030204" pitchFamily="49" charset="0"/>
              </a:rPr>
              <a:t>union.x</a:t>
            </a:r>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union.c</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union.x</a:t>
            </a:r>
            <a:endParaRPr lang="en-US" sz="1749" dirty="0">
              <a:solidFill>
                <a:srgbClr val="7FBF7F"/>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generic=8</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(c=1</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s=8</a:t>
            </a:r>
            <a:r>
              <a:rPr lang="en-US" sz="1590" dirty="0">
                <a:solidFill>
                  <a:srgbClr val="7FBF7F"/>
                </a:solidFill>
                <a:latin typeface="Arial Narrow" panose="020B0606020202030204" pitchFamily="34" charset="0"/>
                <a:cs typeface="Consolas" panose="020B0609020204030204" pitchFamily="49" charset="0"/>
              </a:rPr>
              <a:t>  </a:t>
            </a:r>
            <a:r>
              <a:rPr lang="en-US" sz="1749" dirty="0" err="1">
                <a:solidFill>
                  <a:srgbClr val="7FBF7F"/>
                </a:solidFill>
                <a:latin typeface="Arial Narrow" panose="020B0606020202030204" pitchFamily="34" charset="0"/>
                <a:cs typeface="Consolas" panose="020B0609020204030204" pitchFamily="49" charset="0"/>
              </a:rPr>
              <a:t>i</a:t>
            </a:r>
            <a:r>
              <a:rPr lang="en-US" sz="1749" dirty="0">
                <a:solidFill>
                  <a:srgbClr val="7FBF7F"/>
                </a:solidFill>
                <a:latin typeface="Arial Narrow" panose="020B0606020202030204" pitchFamily="34" charset="0"/>
                <a:cs typeface="Consolas" panose="020B0609020204030204" pitchFamily="49" charset="0"/>
              </a:rPr>
              <a:t>=4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l=4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u=4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f=4</a:t>
            </a:r>
            <a:r>
              <a:rPr lang="en-US" sz="1590" dirty="0">
                <a:solidFill>
                  <a:srgbClr val="7FBF7F"/>
                </a:solidFill>
                <a:latin typeface="Arial Narrow" panose="020B0606020202030204" pitchFamily="34" charset="0"/>
                <a:cs typeface="Consolas" panose="020B0609020204030204" pitchFamily="49" charset="0"/>
              </a:rPr>
              <a:t>  </a:t>
            </a:r>
            <a:r>
              <a:rPr lang="en-US" sz="1749" dirty="0">
                <a:solidFill>
                  <a:srgbClr val="7FBF7F"/>
                </a:solidFill>
                <a:latin typeface="Arial Narrow" panose="020B0606020202030204" pitchFamily="34" charset="0"/>
                <a:cs typeface="Consolas" panose="020B0609020204030204" pitchFamily="49" charset="0"/>
              </a:rPr>
              <a:t>d=8)</a:t>
            </a:r>
          </a:p>
          <a:p>
            <a:r>
              <a:rPr lang="pl-PL" sz="1749" dirty="0">
                <a:solidFill>
                  <a:srgbClr val="7FBF7F"/>
                </a:solidFill>
                <a:latin typeface="Arial Narrow" panose="020B0606020202030204" pitchFamily="34" charset="0"/>
                <a:cs typeface="Consolas" panose="020B0609020204030204" pitchFamily="49" charset="0"/>
              </a:rPr>
              <a:t>X</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&gt;c=A   Y</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&gt;f=6.000000   Z</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&gt;i=6</a:t>
            </a:r>
          </a:p>
          <a:p>
            <a:r>
              <a:rPr lang="pl-PL" sz="1749" dirty="0">
                <a:solidFill>
                  <a:srgbClr val="7FBF7F"/>
                </a:solidFill>
                <a:latin typeface="Arial Narrow" panose="020B0606020202030204" pitchFamily="34" charset="0"/>
                <a:cs typeface="Consolas" panose="020B0609020204030204" pitchFamily="49" charset="0"/>
              </a:rPr>
              <a:t>X</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&gt;c=A   Y</a:t>
            </a:r>
            <a:r>
              <a:rPr lang="pl-PL" sz="1749" b="1" dirty="0">
                <a:solidFill>
                  <a:srgbClr val="7FBF7F"/>
                </a:solidFill>
                <a:latin typeface="Felix Titling" panose="04060505060202020A04" pitchFamily="82" charset="0"/>
                <a:cs typeface="Consolas" panose="020B0609020204030204" pitchFamily="49" charset="0"/>
              </a:rPr>
              <a:t>-</a:t>
            </a:r>
            <a:r>
              <a:rPr lang="pl-PL" sz="1749" dirty="0">
                <a:solidFill>
                  <a:srgbClr val="7FBF7F"/>
                </a:solidFill>
                <a:latin typeface="Arial Narrow" panose="020B0606020202030204" pitchFamily="34" charset="0"/>
                <a:cs typeface="Consolas" panose="020B0609020204030204" pitchFamily="49" charset="0"/>
              </a:rPr>
              <a:t>&gt;f=6.000000   </a:t>
            </a:r>
            <a:r>
              <a:rPr lang="pl-PL" sz="1749" dirty="0">
                <a:solidFill>
                  <a:srgbClr val="FF0000"/>
                </a:solidFill>
                <a:latin typeface="Arial Narrow" panose="020B0606020202030204" pitchFamily="34" charset="0"/>
                <a:cs typeface="Consolas" panose="020B0609020204030204" pitchFamily="49" charset="0"/>
              </a:rPr>
              <a:t>Z</a:t>
            </a:r>
            <a:r>
              <a:rPr lang="pl-PL" sz="1749" b="1" dirty="0">
                <a:solidFill>
                  <a:srgbClr val="FF0000"/>
                </a:solidFill>
                <a:latin typeface="Felix Titling" panose="04060505060202020A04" pitchFamily="82" charset="0"/>
                <a:cs typeface="Consolas" panose="020B0609020204030204" pitchFamily="49" charset="0"/>
              </a:rPr>
              <a:t>-</a:t>
            </a:r>
            <a:r>
              <a:rPr lang="pl-PL" sz="1749" dirty="0">
                <a:solidFill>
                  <a:srgbClr val="FF0000"/>
                </a:solidFill>
                <a:latin typeface="Arial Narrow" panose="020B0606020202030204" pitchFamily="34" charset="0"/>
                <a:cs typeface="Consolas" panose="020B0609020204030204" pitchFamily="49" charset="0"/>
              </a:rPr>
              <a:t>&gt;i=1086324736</a:t>
            </a:r>
            <a:endParaRPr lang="en-US" sz="1749" dirty="0">
              <a:solidFill>
                <a:srgbClr val="FF0000"/>
              </a:solidFill>
              <a:latin typeface="Arial Narrow" panose="020B0606020202030204" pitchFamily="34" charset="0"/>
              <a:cs typeface="Consolas" panose="020B0609020204030204" pitchFamily="49" charset="0"/>
            </a:endParaRPr>
          </a:p>
          <a:p>
            <a:r>
              <a:rPr lang="en-US" sz="1749" dirty="0">
                <a:solidFill>
                  <a:srgbClr val="7FBF7F"/>
                </a:solidFill>
                <a:latin typeface="Arial Narrow" panose="020B0606020202030204" pitchFamily="34" charset="0"/>
                <a:cs typeface="Consolas" panose="020B0609020204030204" pitchFamily="49" charset="0"/>
              </a:rPr>
              <a:t>%</a:t>
            </a:r>
          </a:p>
          <a:p>
            <a:endParaRPr lang="pl-PL" sz="1749" dirty="0">
              <a:solidFill>
                <a:srgbClr val="7FBF7F"/>
              </a:solidFill>
              <a:latin typeface="Arial Narrow" panose="020B0606020202030204" pitchFamily="34" charset="0"/>
              <a:cs typeface="Consolas" panose="020B0609020204030204" pitchFamily="49" charset="0"/>
            </a:endParaRPr>
          </a:p>
        </p:txBody>
      </p:sp>
      <p:cxnSp>
        <p:nvCxnSpPr>
          <p:cNvPr id="15" name="Straight Arrow Connector 14"/>
          <p:cNvCxnSpPr/>
          <p:nvPr/>
        </p:nvCxnSpPr>
        <p:spPr>
          <a:xfrm>
            <a:off x="4170968" y="5598406"/>
            <a:ext cx="3863650" cy="49311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393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par>
                                <p:cTn id="8" presetID="22" presetClass="entr" presetSubtype="8"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10465" y="3680460"/>
            <a:ext cx="4847503" cy="3177540"/>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2" name="Title 1"/>
          <p:cNvSpPr>
            <a:spLocks noGrp="1"/>
          </p:cNvSpPr>
          <p:nvPr>
            <p:ph type="title"/>
          </p:nvPr>
        </p:nvSpPr>
        <p:spPr>
          <a:xfrm>
            <a:off x="101339" y="228600"/>
            <a:ext cx="4628551" cy="3200400"/>
          </a:xfrm>
          <a:solidFill>
            <a:schemeClr val="bg1"/>
          </a:solidFill>
        </p:spPr>
        <p:txBody>
          <a:bodyPr>
            <a:normAutofit/>
          </a:bodyPr>
          <a:lstStyle/>
          <a:p>
            <a:pPr algn="ctr"/>
            <a:r>
              <a:rPr lang="en-US" sz="2862" b="1" dirty="0">
                <a:solidFill>
                  <a:schemeClr val="accent1">
                    <a:lumMod val="75000"/>
                  </a:schemeClr>
                </a:solidFill>
                <a:latin typeface="Times New Roman" panose="02020603050405020304" pitchFamily="18" charset="0"/>
                <a:cs typeface="Times New Roman" panose="02020603050405020304" pitchFamily="18" charset="0"/>
              </a:rPr>
              <a:t>Just to give you an idea of how much coding you would have to do to get “similar” strong typing in C…</a:t>
            </a:r>
          </a:p>
        </p:txBody>
      </p:sp>
      <p:sp>
        <p:nvSpPr>
          <p:cNvPr id="4" name="Rectangle 3"/>
          <p:cNvSpPr/>
          <p:nvPr/>
        </p:nvSpPr>
        <p:spPr>
          <a:xfrm>
            <a:off x="277030" y="3962400"/>
            <a:ext cx="4310911" cy="2667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bIns="0" rtlCol="0" anchor="ctr"/>
          <a:lstStyle/>
          <a:p>
            <a:pPr>
              <a:lnSpc>
                <a:spcPct val="80000"/>
              </a:lnSpc>
            </a:pPr>
            <a:r>
              <a:rPr lang="en-US" dirty="0">
                <a:solidFill>
                  <a:srgbClr val="FF99CC"/>
                </a:solidFill>
                <a:latin typeface="Arial Narrow" panose="020B0606020202030204" pitchFamily="34" charset="0"/>
                <a:cs typeface="Consolas" panose="020B0609020204030204" pitchFamily="49" charset="0"/>
              </a:rPr>
              <a:t>% cat stronglyTyped.py</a:t>
            </a:r>
          </a:p>
          <a:p>
            <a:pPr>
              <a:lnSpc>
                <a:spcPct val="80000"/>
              </a:lnSpc>
            </a:pPr>
            <a:r>
              <a:rPr lang="en-US" dirty="0" smtClean="0">
                <a:solidFill>
                  <a:srgbClr val="FF99CC"/>
                </a:solidFill>
                <a:latin typeface="Arial Narrow" panose="020B0606020202030204" pitchFamily="34" charset="0"/>
                <a:cs typeface="Consolas" panose="020B0609020204030204" pitchFamily="49" charset="0"/>
              </a:rPr>
              <a:t>x=5</a:t>
            </a:r>
          </a:p>
          <a:p>
            <a:pPr>
              <a:lnSpc>
                <a:spcPct val="80000"/>
              </a:lnSpc>
            </a:pPr>
            <a:r>
              <a:rPr lang="en-US" dirty="0" smtClean="0">
                <a:solidFill>
                  <a:srgbClr val="FF99CC"/>
                </a:solidFill>
                <a:latin typeface="Arial Narrow" panose="020B0606020202030204" pitchFamily="34" charset="0"/>
                <a:cs typeface="Consolas" panose="020B0609020204030204" pitchFamily="49" charset="0"/>
              </a:rPr>
              <a:t>print (x, x+1)</a:t>
            </a:r>
          </a:p>
          <a:p>
            <a:pPr>
              <a:lnSpc>
                <a:spcPct val="80000"/>
              </a:lnSpc>
            </a:pPr>
            <a:r>
              <a:rPr lang="en-US" dirty="0" smtClean="0">
                <a:solidFill>
                  <a:srgbClr val="FF99CC"/>
                </a:solidFill>
                <a:latin typeface="Arial Narrow" panose="020B0606020202030204" pitchFamily="34" charset="0"/>
                <a:cs typeface="Consolas" panose="020B0609020204030204" pitchFamily="49" charset="0"/>
              </a:rPr>
              <a:t>x="pineapple"</a:t>
            </a:r>
          </a:p>
          <a:p>
            <a:pPr>
              <a:lnSpc>
                <a:spcPct val="80000"/>
              </a:lnSpc>
            </a:pPr>
            <a:r>
              <a:rPr lang="en-US" dirty="0" smtClean="0">
                <a:solidFill>
                  <a:srgbClr val="FF99CC"/>
                </a:solidFill>
                <a:latin typeface="Arial Narrow" panose="020B0606020202030204" pitchFamily="34" charset="0"/>
                <a:cs typeface="Consolas" panose="020B0609020204030204" pitchFamily="49" charset="0"/>
              </a:rPr>
              <a:t>print (x, x+1)</a:t>
            </a:r>
          </a:p>
          <a:p>
            <a:pPr>
              <a:lnSpc>
                <a:spcPct val="80000"/>
              </a:lnSpc>
            </a:pPr>
            <a:r>
              <a:rPr lang="en-US" dirty="0" smtClean="0">
                <a:solidFill>
                  <a:srgbClr val="FF99CC"/>
                </a:solidFill>
                <a:latin typeface="Arial Narrow" panose="020B0606020202030204" pitchFamily="34" charset="0"/>
                <a:cs typeface="Consolas" panose="020B0609020204030204" pitchFamily="49" charset="0"/>
              </a:rPr>
              <a:t>% python3 stronglyTyped.py</a:t>
            </a:r>
          </a:p>
          <a:p>
            <a:pPr>
              <a:lnSpc>
                <a:spcPct val="80000"/>
              </a:lnSpc>
            </a:pPr>
            <a:r>
              <a:rPr lang="en-US" dirty="0" smtClean="0">
                <a:solidFill>
                  <a:srgbClr val="FF99CC"/>
                </a:solidFill>
                <a:latin typeface="Arial Narrow" panose="020B0606020202030204" pitchFamily="34" charset="0"/>
                <a:cs typeface="Consolas" panose="020B0609020204030204" pitchFamily="49" charset="0"/>
              </a:rPr>
              <a:t>5 6</a:t>
            </a:r>
          </a:p>
          <a:p>
            <a:pPr>
              <a:lnSpc>
                <a:spcPct val="80000"/>
              </a:lnSpc>
            </a:pPr>
            <a:r>
              <a:rPr lang="en-US" dirty="0" smtClean="0">
                <a:solidFill>
                  <a:srgbClr val="FF99CC"/>
                </a:solidFill>
                <a:latin typeface="Arial Narrow" panose="020B0606020202030204" pitchFamily="34" charset="0"/>
                <a:cs typeface="Consolas" panose="020B0609020204030204" pitchFamily="49" charset="0"/>
              </a:rPr>
              <a:t>pineapple</a:t>
            </a:r>
          </a:p>
          <a:p>
            <a:pPr>
              <a:lnSpc>
                <a:spcPct val="80000"/>
              </a:lnSpc>
            </a:pPr>
            <a:r>
              <a:rPr lang="en-US" dirty="0" err="1" smtClean="0">
                <a:solidFill>
                  <a:srgbClr val="FF99CC"/>
                </a:solidFill>
                <a:latin typeface="Arial Narrow" panose="020B0606020202030204" pitchFamily="34" charset="0"/>
                <a:cs typeface="Consolas" panose="020B0609020204030204" pitchFamily="49" charset="0"/>
              </a:rPr>
              <a:t>Traceback</a:t>
            </a:r>
            <a:r>
              <a:rPr lang="en-US" dirty="0" smtClean="0">
                <a:solidFill>
                  <a:srgbClr val="FF99CC"/>
                </a:solidFill>
                <a:latin typeface="Arial Narrow" panose="020B0606020202030204" pitchFamily="34" charset="0"/>
                <a:cs typeface="Consolas" panose="020B0609020204030204" pitchFamily="49" charset="0"/>
              </a:rPr>
              <a:t> (most recent call last):</a:t>
            </a:r>
          </a:p>
          <a:p>
            <a:pPr>
              <a:lnSpc>
                <a:spcPct val="80000"/>
              </a:lnSpc>
            </a:pPr>
            <a:r>
              <a:rPr lang="en-US" dirty="0" smtClean="0">
                <a:solidFill>
                  <a:srgbClr val="FF99CC"/>
                </a:solidFill>
                <a:latin typeface="Arial Narrow" panose="020B0606020202030204" pitchFamily="34" charset="0"/>
                <a:cs typeface="Consolas" panose="020B0609020204030204" pitchFamily="49" charset="0"/>
              </a:rPr>
              <a:t>  File "&lt;</a:t>
            </a:r>
            <a:r>
              <a:rPr lang="en-US" dirty="0" err="1" smtClean="0">
                <a:solidFill>
                  <a:srgbClr val="FF99CC"/>
                </a:solidFill>
                <a:latin typeface="Arial Narrow" panose="020B0606020202030204" pitchFamily="34" charset="0"/>
                <a:cs typeface="Consolas" panose="020B0609020204030204" pitchFamily="49" charset="0"/>
              </a:rPr>
              <a:t>stdin</a:t>
            </a:r>
            <a:r>
              <a:rPr lang="en-US" dirty="0" smtClean="0">
                <a:solidFill>
                  <a:srgbClr val="FF99CC"/>
                </a:solidFill>
                <a:latin typeface="Arial Narrow" panose="020B0606020202030204" pitchFamily="34" charset="0"/>
                <a:cs typeface="Consolas" panose="020B0609020204030204" pitchFamily="49" charset="0"/>
              </a:rPr>
              <a:t>&gt;", line 1, in &lt;module&gt;</a:t>
            </a:r>
          </a:p>
          <a:p>
            <a:pPr>
              <a:lnSpc>
                <a:spcPct val="80000"/>
              </a:lnSpc>
            </a:pPr>
            <a:r>
              <a:rPr lang="en-US" spc="-10" dirty="0" err="1" smtClean="0">
                <a:solidFill>
                  <a:srgbClr val="FF99CC"/>
                </a:solidFill>
                <a:latin typeface="Arial Narrow" panose="020B0606020202030204" pitchFamily="34" charset="0"/>
                <a:cs typeface="Consolas" panose="020B0609020204030204" pitchFamily="49" charset="0"/>
              </a:rPr>
              <a:t>TypeError</a:t>
            </a:r>
            <a:r>
              <a:rPr lang="en-US" spc="-10" dirty="0" smtClean="0">
                <a:solidFill>
                  <a:srgbClr val="FF99CC"/>
                </a:solidFill>
                <a:latin typeface="Arial Narrow" panose="020B0606020202030204" pitchFamily="34" charset="0"/>
                <a:cs typeface="Consolas" panose="020B0609020204030204" pitchFamily="49" charset="0"/>
              </a:rPr>
              <a:t>: cannot concatenate '</a:t>
            </a:r>
            <a:r>
              <a:rPr lang="en-US" spc="-10" dirty="0" err="1" smtClean="0">
                <a:solidFill>
                  <a:srgbClr val="FF99CC"/>
                </a:solidFill>
                <a:latin typeface="Arial Narrow" panose="020B0606020202030204" pitchFamily="34" charset="0"/>
                <a:cs typeface="Consolas" panose="020B0609020204030204" pitchFamily="49" charset="0"/>
              </a:rPr>
              <a:t>str</a:t>
            </a:r>
            <a:r>
              <a:rPr lang="en-US" spc="-10" dirty="0" smtClean="0">
                <a:solidFill>
                  <a:srgbClr val="FF99CC"/>
                </a:solidFill>
                <a:latin typeface="Arial Narrow" panose="020B0606020202030204" pitchFamily="34" charset="0"/>
                <a:cs typeface="Consolas" panose="020B0609020204030204" pitchFamily="49" charset="0"/>
              </a:rPr>
              <a:t>' and '</a:t>
            </a:r>
            <a:r>
              <a:rPr lang="en-US" spc="-10" dirty="0" err="1" smtClean="0">
                <a:solidFill>
                  <a:srgbClr val="FF99CC"/>
                </a:solidFill>
                <a:latin typeface="Arial Narrow" panose="020B0606020202030204" pitchFamily="34" charset="0"/>
                <a:cs typeface="Consolas" panose="020B0609020204030204" pitchFamily="49" charset="0"/>
              </a:rPr>
              <a:t>int</a:t>
            </a:r>
            <a:r>
              <a:rPr lang="en-US" spc="-10" dirty="0" smtClean="0">
                <a:solidFill>
                  <a:srgbClr val="FF99CC"/>
                </a:solidFill>
                <a:latin typeface="Arial Narrow" panose="020B0606020202030204" pitchFamily="34" charset="0"/>
                <a:cs typeface="Consolas" panose="020B0609020204030204" pitchFamily="49" charset="0"/>
              </a:rPr>
              <a:t>' objects</a:t>
            </a:r>
          </a:p>
          <a:p>
            <a:pPr>
              <a:lnSpc>
                <a:spcPct val="80000"/>
              </a:lnSpc>
            </a:pPr>
            <a:r>
              <a:rPr lang="en-US" dirty="0" smtClean="0">
                <a:solidFill>
                  <a:srgbClr val="FF99CC"/>
                </a:solidFill>
                <a:latin typeface="Arial Narrow" panose="020B0606020202030204" pitchFamily="34" charset="0"/>
                <a:cs typeface="Consolas" panose="020B0609020204030204" pitchFamily="49" charset="0"/>
              </a:rPr>
              <a:t>%</a:t>
            </a:r>
            <a:endParaRPr lang="en-US" dirty="0">
              <a:solidFill>
                <a:srgbClr val="FF99CC"/>
              </a:solidFill>
              <a:latin typeface="Arial Narrow" panose="020B0606020202030204" pitchFamily="34" charset="0"/>
              <a:cs typeface="Consolas" panose="020B0609020204030204" pitchFamily="49" charset="0"/>
            </a:endParaRPr>
          </a:p>
        </p:txBody>
      </p:sp>
      <p:sp>
        <p:nvSpPr>
          <p:cNvPr id="12" name="Rounded Rectangle 11"/>
          <p:cNvSpPr/>
          <p:nvPr/>
        </p:nvSpPr>
        <p:spPr>
          <a:xfrm>
            <a:off x="4909042" y="460436"/>
            <a:ext cx="4847503" cy="6397564"/>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 name="Rectangle 12"/>
          <p:cNvSpPr/>
          <p:nvPr/>
        </p:nvSpPr>
        <p:spPr>
          <a:xfrm>
            <a:off x="5175608" y="702766"/>
            <a:ext cx="4343042" cy="592663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bIns="0" rtlCol="0" anchor="ctr"/>
          <a:lstStyle/>
          <a:p>
            <a:pPr>
              <a:lnSpc>
                <a:spcPct val="80000"/>
              </a:lnSpc>
            </a:pPr>
            <a:r>
              <a:rPr lang="en-US" dirty="0">
                <a:solidFill>
                  <a:srgbClr val="7FBF7F"/>
                </a:solidFill>
                <a:latin typeface="Arial Narrow" panose="020B0606020202030204" pitchFamily="34" charset="0"/>
                <a:cs typeface="Consolas" panose="020B0609020204030204" pitchFamily="49" charset="0"/>
              </a:rPr>
              <a:t>% cat </a:t>
            </a:r>
            <a:r>
              <a:rPr lang="en-US" dirty="0" err="1">
                <a:solidFill>
                  <a:srgbClr val="7FBF7F"/>
                </a:solidFill>
                <a:latin typeface="Arial Narrow" panose="020B0606020202030204" pitchFamily="34" charset="0"/>
                <a:cs typeface="Consolas" panose="020B0609020204030204" pitchFamily="49" charset="0"/>
              </a:rPr>
              <a:t>stronglyTyped.c</a:t>
            </a:r>
            <a:endParaRPr lang="en-US" dirty="0">
              <a:solidFill>
                <a:srgbClr val="7FBF7F"/>
              </a:solidFill>
              <a:latin typeface="Arial Narrow" panose="020B0606020202030204" pitchFamily="34" charset="0"/>
              <a:cs typeface="Consolas" panose="020B0609020204030204" pitchFamily="49" charset="0"/>
            </a:endParaRPr>
          </a:p>
          <a:p>
            <a:pPr>
              <a:lnSpc>
                <a:spcPct val="80000"/>
              </a:lnSpc>
            </a:pPr>
            <a:r>
              <a:rPr lang="en-US" dirty="0">
                <a:solidFill>
                  <a:srgbClr val="7FBF7F"/>
                </a:solidFill>
                <a:latin typeface="Arial Narrow" panose="020B0606020202030204" pitchFamily="34" charset="0"/>
                <a:cs typeface="Consolas" panose="020B0609020204030204" pitchFamily="49" charset="0"/>
              </a:rPr>
              <a:t>#include &lt;</a:t>
            </a:r>
            <a:r>
              <a:rPr lang="en-US" dirty="0" err="1">
                <a:solidFill>
                  <a:srgbClr val="7FBF7F"/>
                </a:solidFill>
                <a:latin typeface="Arial Narrow" panose="020B0606020202030204" pitchFamily="34" charset="0"/>
                <a:cs typeface="Consolas" panose="020B0609020204030204" pitchFamily="49" charset="0"/>
              </a:rPr>
              <a:t>stdio.h</a:t>
            </a:r>
            <a:r>
              <a:rPr lang="en-US" dirty="0">
                <a:solidFill>
                  <a:srgbClr val="7FBF7F"/>
                </a:solidFill>
                <a:latin typeface="Arial Narrow" panose="020B0606020202030204" pitchFamily="34" charset="0"/>
                <a:cs typeface="Consolas" panose="020B0609020204030204" pitchFamily="49" charset="0"/>
              </a:rPr>
              <a:t>&gt;</a:t>
            </a:r>
          </a:p>
          <a:p>
            <a:pPr>
              <a:lnSpc>
                <a:spcPct val="80000"/>
              </a:lnSpc>
            </a:pPr>
            <a:r>
              <a:rPr lang="en-US" dirty="0">
                <a:solidFill>
                  <a:srgbClr val="7FBF7F"/>
                </a:solidFill>
                <a:latin typeface="Arial Narrow" panose="020B0606020202030204" pitchFamily="34" charset="0"/>
                <a:cs typeface="Consolas" panose="020B0609020204030204" pitchFamily="49" charset="0"/>
              </a:rPr>
              <a:t>#include &lt;</a:t>
            </a:r>
            <a:r>
              <a:rPr lang="en-US" dirty="0" err="1">
                <a:solidFill>
                  <a:srgbClr val="7FBF7F"/>
                </a:solidFill>
                <a:latin typeface="Arial Narrow" panose="020B0606020202030204" pitchFamily="34" charset="0"/>
                <a:cs typeface="Consolas" panose="020B0609020204030204" pitchFamily="49" charset="0"/>
              </a:rPr>
              <a:t>stdlib.h</a:t>
            </a:r>
            <a:r>
              <a:rPr lang="en-US" dirty="0">
                <a:solidFill>
                  <a:srgbClr val="7FBF7F"/>
                </a:solidFill>
                <a:latin typeface="Arial Narrow" panose="020B0606020202030204" pitchFamily="34" charset="0"/>
                <a:cs typeface="Consolas" panose="020B0609020204030204" pitchFamily="49" charset="0"/>
              </a:rPr>
              <a:t>&gt;</a:t>
            </a:r>
          </a:p>
          <a:p>
            <a:pPr>
              <a:lnSpc>
                <a:spcPct val="80000"/>
              </a:lnSpc>
            </a:pPr>
            <a:r>
              <a:rPr lang="en-US" dirty="0">
                <a:solidFill>
                  <a:srgbClr val="7FBF7F"/>
                </a:solidFill>
                <a:latin typeface="Arial Narrow" panose="020B0606020202030204" pitchFamily="34" charset="0"/>
                <a:cs typeface="Consolas" panose="020B0609020204030204" pitchFamily="49" charset="0"/>
              </a:rPr>
              <a:t>#include &lt;</a:t>
            </a:r>
            <a:r>
              <a:rPr lang="en-US" dirty="0" err="1">
                <a:solidFill>
                  <a:srgbClr val="7FBF7F"/>
                </a:solidFill>
                <a:latin typeface="Arial Narrow" panose="020B0606020202030204" pitchFamily="34" charset="0"/>
                <a:cs typeface="Consolas" panose="020B0609020204030204" pitchFamily="49" charset="0"/>
              </a:rPr>
              <a:t>string.h</a:t>
            </a:r>
            <a:r>
              <a:rPr lang="en-US" dirty="0">
                <a:solidFill>
                  <a:srgbClr val="7FBF7F"/>
                </a:solidFill>
                <a:latin typeface="Arial Narrow" panose="020B0606020202030204" pitchFamily="34" charset="0"/>
                <a:cs typeface="Consolas" panose="020B0609020204030204" pitchFamily="49" charset="0"/>
              </a:rPr>
              <a:t>&gt;</a:t>
            </a:r>
          </a:p>
          <a:p>
            <a:pPr>
              <a:lnSpc>
                <a:spcPct val="80000"/>
              </a:lnSpc>
            </a:pPr>
            <a:r>
              <a:rPr lang="en-US" dirty="0">
                <a:solidFill>
                  <a:srgbClr val="7FBF7F"/>
                </a:solidFill>
                <a:latin typeface="Arial Narrow" panose="020B0606020202030204" pitchFamily="34" charset="0"/>
                <a:cs typeface="Consolas" panose="020B0609020204030204" pitchFamily="49" charset="0"/>
              </a:rPr>
              <a:t>typedef </a:t>
            </a:r>
            <a:r>
              <a:rPr lang="en-US" dirty="0" err="1">
                <a:solidFill>
                  <a:srgbClr val="7FBF7F"/>
                </a:solidFill>
                <a:latin typeface="Arial Narrow" panose="020B0606020202030204" pitchFamily="34" charset="0"/>
                <a:cs typeface="Consolas" panose="020B0609020204030204" pitchFamily="49" charset="0"/>
              </a:rPr>
              <a:t>enum</a:t>
            </a:r>
            <a:r>
              <a:rPr lang="en-US" dirty="0">
                <a:solidFill>
                  <a:srgbClr val="7FBF7F"/>
                </a:solidFill>
                <a:latin typeface="Arial Narrow" panose="020B0606020202030204" pitchFamily="34" charset="0"/>
                <a:cs typeface="Consolas" panose="020B0609020204030204" pitchFamily="49" charset="0"/>
              </a:rPr>
              <a:t> type {Integer, String} type;</a:t>
            </a:r>
          </a:p>
          <a:p>
            <a:pPr>
              <a:lnSpc>
                <a:spcPct val="80000"/>
              </a:lnSpc>
            </a:pPr>
            <a:r>
              <a:rPr lang="en-US" dirty="0">
                <a:solidFill>
                  <a:srgbClr val="7FBF7F"/>
                </a:solidFill>
                <a:latin typeface="Arial Narrow" panose="020B0606020202030204" pitchFamily="34" charset="0"/>
                <a:cs typeface="Consolas" panose="020B0609020204030204" pitchFamily="49" charset="0"/>
              </a:rPr>
              <a:t>typedef union { char *s;  int </a:t>
            </a:r>
            <a:r>
              <a:rPr lang="en-US" dirty="0" err="1">
                <a:solidFill>
                  <a:srgbClr val="7FBF7F"/>
                </a:solidFill>
                <a:latin typeface="Arial Narrow" panose="020B0606020202030204" pitchFamily="34" charset="0"/>
                <a:cs typeface="Consolas" panose="020B0609020204030204" pitchFamily="49" charset="0"/>
              </a:rPr>
              <a:t>i</a:t>
            </a:r>
            <a:r>
              <a:rPr lang="en-US" dirty="0">
                <a:solidFill>
                  <a:srgbClr val="7FBF7F"/>
                </a:solidFill>
                <a:latin typeface="Arial Narrow" panose="020B0606020202030204" pitchFamily="34" charset="0"/>
                <a:cs typeface="Consolas" panose="020B0609020204030204" pitchFamily="49" charset="0"/>
              </a:rPr>
              <a:t>;} generic;</a:t>
            </a:r>
          </a:p>
          <a:p>
            <a:pPr>
              <a:lnSpc>
                <a:spcPct val="80000"/>
              </a:lnSpc>
            </a:pPr>
            <a:r>
              <a:rPr lang="en-US" dirty="0">
                <a:solidFill>
                  <a:srgbClr val="7FBF7F"/>
                </a:solidFill>
                <a:latin typeface="Arial Narrow" panose="020B0606020202030204" pitchFamily="34" charset="0"/>
                <a:cs typeface="Consolas" panose="020B0609020204030204" pitchFamily="49" charset="0"/>
              </a:rPr>
              <a:t>typedef </a:t>
            </a:r>
            <a:r>
              <a:rPr lang="en-US" dirty="0" err="1">
                <a:solidFill>
                  <a:srgbClr val="7FBF7F"/>
                </a:solidFill>
                <a:latin typeface="Arial Narrow" panose="020B0606020202030204" pitchFamily="34" charset="0"/>
                <a:cs typeface="Consolas" panose="020B0609020204030204" pitchFamily="49" charset="0"/>
              </a:rPr>
              <a:t>struct</a:t>
            </a:r>
            <a:r>
              <a:rPr lang="en-US" dirty="0">
                <a:solidFill>
                  <a:srgbClr val="7FBF7F"/>
                </a:solidFill>
                <a:latin typeface="Arial Narrow" panose="020B0606020202030204" pitchFamily="34" charset="0"/>
                <a:cs typeface="Consolas" panose="020B0609020204030204" pitchFamily="49" charset="0"/>
              </a:rPr>
              <a:t> {type determinant; generic *v</a:t>
            </a:r>
            <a:r>
              <a:rPr lang="en-US" dirty="0" smtClean="0">
                <a:solidFill>
                  <a:srgbClr val="7FBF7F"/>
                </a:solidFill>
                <a:latin typeface="Arial Narrow" panose="020B0606020202030204" pitchFamily="34" charset="0"/>
                <a:cs typeface="Consolas" panose="020B0609020204030204" pitchFamily="49" charset="0"/>
              </a:rPr>
              <a:t>;}either</a:t>
            </a:r>
            <a:r>
              <a:rPr lang="en-US" dirty="0">
                <a:solidFill>
                  <a:srgbClr val="7FBF7F"/>
                </a:solidFill>
                <a:latin typeface="Arial Narrow" panose="020B0606020202030204" pitchFamily="34" charset="0"/>
                <a:cs typeface="Consolas" panose="020B0609020204030204" pitchFamily="49" charset="0"/>
              </a:rPr>
              <a:t>;</a:t>
            </a:r>
          </a:p>
          <a:p>
            <a:pPr>
              <a:lnSpc>
                <a:spcPct val="80000"/>
              </a:lnSpc>
            </a:pPr>
            <a:r>
              <a:rPr lang="en-US" dirty="0">
                <a:solidFill>
                  <a:srgbClr val="7FBF7F"/>
                </a:solidFill>
                <a:latin typeface="Arial Narrow" panose="020B0606020202030204" pitchFamily="34" charset="0"/>
                <a:cs typeface="Consolas" panose="020B0609020204030204" pitchFamily="49" charset="0"/>
              </a:rPr>
              <a:t>void </a:t>
            </a:r>
            <a:r>
              <a:rPr lang="en-US" dirty="0" err="1">
                <a:solidFill>
                  <a:srgbClr val="7FBF7F"/>
                </a:solidFill>
                <a:latin typeface="Arial Narrow" panose="020B0606020202030204" pitchFamily="34" charset="0"/>
                <a:cs typeface="Consolas" panose="020B0609020204030204" pitchFamily="49" charset="0"/>
              </a:rPr>
              <a:t>updateString</a:t>
            </a:r>
            <a:r>
              <a:rPr lang="en-US" dirty="0">
                <a:solidFill>
                  <a:srgbClr val="7FBF7F"/>
                </a:solidFill>
                <a:latin typeface="Arial Narrow" panose="020B0606020202030204" pitchFamily="34" charset="0"/>
                <a:cs typeface="Consolas" panose="020B0609020204030204" pitchFamily="49" charset="0"/>
              </a:rPr>
              <a:t>(either *X, char* V)</a:t>
            </a:r>
          </a:p>
          <a:p>
            <a:pPr>
              <a:lnSpc>
                <a:spcPct val="80000"/>
              </a:lnSpc>
            </a:pPr>
            <a:r>
              <a:rPr lang="en-US" dirty="0">
                <a:solidFill>
                  <a:srgbClr val="7FBF7F"/>
                </a:solidFill>
                <a:latin typeface="Arial Narrow" panose="020B0606020202030204" pitchFamily="34" charset="0"/>
                <a:cs typeface="Consolas" panose="020B0609020204030204" pitchFamily="49" charset="0"/>
              </a:rPr>
              <a:t>{  if (X-&gt;determinant==String) free(X-&gt;v-&gt;s);</a:t>
            </a:r>
          </a:p>
          <a:p>
            <a:pPr>
              <a:lnSpc>
                <a:spcPct val="80000"/>
              </a:lnSpc>
            </a:pPr>
            <a:r>
              <a:rPr lang="en-US" dirty="0">
                <a:solidFill>
                  <a:srgbClr val="7FBF7F"/>
                </a:solidFill>
                <a:latin typeface="Arial Narrow" panose="020B0606020202030204" pitchFamily="34" charset="0"/>
                <a:cs typeface="Consolas" panose="020B0609020204030204" pitchFamily="49" charset="0"/>
              </a:rPr>
              <a:t>   X-&gt;determinant=String;   X-&gt;v-&gt;s = </a:t>
            </a:r>
            <a:r>
              <a:rPr lang="en-US" dirty="0" err="1">
                <a:solidFill>
                  <a:srgbClr val="7FBF7F"/>
                </a:solidFill>
                <a:latin typeface="Arial Narrow" panose="020B0606020202030204" pitchFamily="34" charset="0"/>
                <a:cs typeface="Consolas" panose="020B0609020204030204" pitchFamily="49" charset="0"/>
              </a:rPr>
              <a:t>strdup</a:t>
            </a:r>
            <a:r>
              <a:rPr lang="en-US" dirty="0">
                <a:solidFill>
                  <a:srgbClr val="7FBF7F"/>
                </a:solidFill>
                <a:latin typeface="Arial Narrow" panose="020B0606020202030204" pitchFamily="34" charset="0"/>
                <a:cs typeface="Consolas" panose="020B0609020204030204" pitchFamily="49" charset="0"/>
              </a:rPr>
              <a:t>(V); </a:t>
            </a:r>
            <a:r>
              <a:rPr lang="en-US" dirty="0" smtClean="0">
                <a:solidFill>
                  <a:srgbClr val="7FBF7F"/>
                </a:solidFill>
                <a:latin typeface="Arial Narrow" panose="020B0606020202030204" pitchFamily="34" charset="0"/>
                <a:cs typeface="Consolas" panose="020B0609020204030204" pitchFamily="49" charset="0"/>
              </a:rPr>
              <a:t>   }</a:t>
            </a:r>
            <a:endParaRPr lang="en-US" dirty="0">
              <a:solidFill>
                <a:srgbClr val="7FBF7F"/>
              </a:solidFill>
              <a:latin typeface="Arial Narrow" panose="020B0606020202030204" pitchFamily="34" charset="0"/>
              <a:cs typeface="Consolas" panose="020B0609020204030204" pitchFamily="49" charset="0"/>
            </a:endParaRPr>
          </a:p>
          <a:p>
            <a:pPr>
              <a:lnSpc>
                <a:spcPct val="80000"/>
              </a:lnSpc>
            </a:pPr>
            <a:r>
              <a:rPr lang="en-US" dirty="0">
                <a:solidFill>
                  <a:srgbClr val="7FBF7F"/>
                </a:solidFill>
                <a:latin typeface="Arial Narrow" panose="020B0606020202030204" pitchFamily="34" charset="0"/>
                <a:cs typeface="Consolas" panose="020B0609020204030204" pitchFamily="49" charset="0"/>
              </a:rPr>
              <a:t>void </a:t>
            </a:r>
            <a:r>
              <a:rPr lang="en-US" dirty="0" err="1">
                <a:solidFill>
                  <a:srgbClr val="7FBF7F"/>
                </a:solidFill>
                <a:latin typeface="Arial Narrow" panose="020B0606020202030204" pitchFamily="34" charset="0"/>
                <a:cs typeface="Consolas" panose="020B0609020204030204" pitchFamily="49" charset="0"/>
              </a:rPr>
              <a:t>updateInteger</a:t>
            </a:r>
            <a:r>
              <a:rPr lang="en-US" dirty="0">
                <a:solidFill>
                  <a:srgbClr val="7FBF7F"/>
                </a:solidFill>
                <a:latin typeface="Arial Narrow" panose="020B0606020202030204" pitchFamily="34" charset="0"/>
                <a:cs typeface="Consolas" panose="020B0609020204030204" pitchFamily="49" charset="0"/>
              </a:rPr>
              <a:t>(either *X, int V)</a:t>
            </a:r>
          </a:p>
          <a:p>
            <a:pPr>
              <a:lnSpc>
                <a:spcPct val="80000"/>
              </a:lnSpc>
            </a:pPr>
            <a:r>
              <a:rPr lang="en-US" dirty="0">
                <a:solidFill>
                  <a:srgbClr val="7FBF7F"/>
                </a:solidFill>
                <a:latin typeface="Arial Narrow" panose="020B0606020202030204" pitchFamily="34" charset="0"/>
                <a:cs typeface="Consolas" panose="020B0609020204030204" pitchFamily="49" charset="0"/>
              </a:rPr>
              <a:t>{  if (X-&gt;determinant==String) free(X-&gt;v-&gt;s);</a:t>
            </a:r>
          </a:p>
          <a:p>
            <a:pPr>
              <a:lnSpc>
                <a:spcPct val="80000"/>
              </a:lnSpc>
            </a:pPr>
            <a:r>
              <a:rPr lang="en-US" dirty="0">
                <a:solidFill>
                  <a:srgbClr val="7FBF7F"/>
                </a:solidFill>
                <a:latin typeface="Arial Narrow" panose="020B0606020202030204" pitchFamily="34" charset="0"/>
                <a:cs typeface="Consolas" panose="020B0609020204030204" pitchFamily="49" charset="0"/>
              </a:rPr>
              <a:t>   X-&gt;determinant=Integer;  X-&gt;v-&gt;</a:t>
            </a:r>
            <a:r>
              <a:rPr lang="en-US" dirty="0" err="1">
                <a:solidFill>
                  <a:srgbClr val="7FBF7F"/>
                </a:solidFill>
                <a:latin typeface="Arial Narrow" panose="020B0606020202030204" pitchFamily="34" charset="0"/>
                <a:cs typeface="Consolas" panose="020B0609020204030204" pitchFamily="49" charset="0"/>
              </a:rPr>
              <a:t>i</a:t>
            </a:r>
            <a:r>
              <a:rPr lang="en-US" dirty="0">
                <a:solidFill>
                  <a:srgbClr val="7FBF7F"/>
                </a:solidFill>
                <a:latin typeface="Arial Narrow" panose="020B0606020202030204" pitchFamily="34" charset="0"/>
                <a:cs typeface="Consolas" panose="020B0609020204030204" pitchFamily="49" charset="0"/>
              </a:rPr>
              <a:t> = V;   </a:t>
            </a:r>
            <a:r>
              <a:rPr lang="en-US" dirty="0" smtClean="0">
                <a:solidFill>
                  <a:srgbClr val="7FBF7F"/>
                </a:solidFill>
                <a:latin typeface="Arial Narrow" panose="020B0606020202030204" pitchFamily="34" charset="0"/>
                <a:cs typeface="Consolas" panose="020B0609020204030204" pitchFamily="49" charset="0"/>
              </a:rPr>
              <a:t>              </a:t>
            </a:r>
            <a:r>
              <a:rPr lang="en-US" dirty="0">
                <a:solidFill>
                  <a:srgbClr val="7FBF7F"/>
                </a:solidFill>
                <a:latin typeface="Arial Narrow" panose="020B0606020202030204" pitchFamily="34" charset="0"/>
                <a:cs typeface="Consolas" panose="020B0609020204030204" pitchFamily="49" charset="0"/>
              </a:rPr>
              <a:t>}</a:t>
            </a:r>
          </a:p>
          <a:p>
            <a:pPr>
              <a:lnSpc>
                <a:spcPct val="80000"/>
              </a:lnSpc>
            </a:pPr>
            <a:r>
              <a:rPr lang="en-US" dirty="0">
                <a:solidFill>
                  <a:srgbClr val="7FBF7F"/>
                </a:solidFill>
                <a:latin typeface="Arial Narrow" panose="020B0606020202030204" pitchFamily="34" charset="0"/>
                <a:cs typeface="Consolas" panose="020B0609020204030204" pitchFamily="49" charset="0"/>
              </a:rPr>
              <a:t>int </a:t>
            </a:r>
            <a:r>
              <a:rPr lang="en-US" dirty="0" err="1">
                <a:solidFill>
                  <a:srgbClr val="7FBF7F"/>
                </a:solidFill>
                <a:latin typeface="Arial Narrow" panose="020B0606020202030204" pitchFamily="34" charset="0"/>
                <a:cs typeface="Consolas" panose="020B0609020204030204" pitchFamily="49" charset="0"/>
              </a:rPr>
              <a:t>getInt</a:t>
            </a:r>
            <a:r>
              <a:rPr lang="en-US" dirty="0">
                <a:solidFill>
                  <a:srgbClr val="7FBF7F"/>
                </a:solidFill>
                <a:latin typeface="Arial Narrow" panose="020B0606020202030204" pitchFamily="34" charset="0"/>
                <a:cs typeface="Consolas" panose="020B0609020204030204" pitchFamily="49" charset="0"/>
              </a:rPr>
              <a:t>(either *X)</a:t>
            </a:r>
          </a:p>
          <a:p>
            <a:pPr>
              <a:lnSpc>
                <a:spcPct val="80000"/>
              </a:lnSpc>
            </a:pPr>
            <a:r>
              <a:rPr lang="en-US" dirty="0">
                <a:solidFill>
                  <a:srgbClr val="7FBF7F"/>
                </a:solidFill>
                <a:latin typeface="Arial Narrow" panose="020B0606020202030204" pitchFamily="34" charset="0"/>
                <a:cs typeface="Consolas" panose="020B0609020204030204" pitchFamily="49" charset="0"/>
              </a:rPr>
              <a:t>{  if (X-&gt;determinant==Integer) return X-&gt;v-&gt;</a:t>
            </a:r>
            <a:r>
              <a:rPr lang="en-US" dirty="0" err="1">
                <a:solidFill>
                  <a:srgbClr val="7FBF7F"/>
                </a:solidFill>
                <a:latin typeface="Arial Narrow" panose="020B0606020202030204" pitchFamily="34" charset="0"/>
                <a:cs typeface="Consolas" panose="020B0609020204030204" pitchFamily="49" charset="0"/>
              </a:rPr>
              <a:t>i</a:t>
            </a:r>
            <a:r>
              <a:rPr lang="en-US" dirty="0">
                <a:solidFill>
                  <a:srgbClr val="7FBF7F"/>
                </a:solidFill>
                <a:latin typeface="Arial Narrow" panose="020B0606020202030204" pitchFamily="34" charset="0"/>
                <a:cs typeface="Consolas" panose="020B0609020204030204" pitchFamily="49" charset="0"/>
              </a:rPr>
              <a:t>;</a:t>
            </a:r>
          </a:p>
          <a:p>
            <a:pPr>
              <a:lnSpc>
                <a:spcPct val="80000"/>
              </a:lnSpc>
            </a:pPr>
            <a:r>
              <a:rPr lang="en-US" dirty="0">
                <a:solidFill>
                  <a:srgbClr val="7FBF7F"/>
                </a:solidFill>
                <a:latin typeface="Arial Narrow" panose="020B0606020202030204" pitchFamily="34" charset="0"/>
                <a:cs typeface="Consolas" panose="020B0609020204030204" pitchFamily="49" charset="0"/>
              </a:rPr>
              <a:t>   </a:t>
            </a:r>
            <a:r>
              <a:rPr lang="en-US" dirty="0" err="1" smtClean="0">
                <a:solidFill>
                  <a:srgbClr val="7FBF7F"/>
                </a:solidFill>
                <a:latin typeface="Arial Narrow" panose="020B0606020202030204" pitchFamily="34" charset="0"/>
                <a:cs typeface="Consolas" panose="020B0609020204030204" pitchFamily="49" charset="0"/>
              </a:rPr>
              <a:t>printf</a:t>
            </a:r>
            <a:r>
              <a:rPr lang="en-US" dirty="0" smtClean="0">
                <a:solidFill>
                  <a:srgbClr val="7FBF7F"/>
                </a:solidFill>
                <a:latin typeface="Arial Narrow" panose="020B0606020202030204" pitchFamily="34" charset="0"/>
                <a:cs typeface="Consolas" panose="020B0609020204030204" pitchFamily="49" charset="0"/>
              </a:rPr>
              <a:t>("</a:t>
            </a:r>
            <a:r>
              <a:rPr lang="en-US" dirty="0" err="1">
                <a:solidFill>
                  <a:srgbClr val="7FBF7F"/>
                </a:solidFill>
                <a:latin typeface="Arial Narrow" panose="020B0606020202030204" pitchFamily="34" charset="0"/>
                <a:cs typeface="Consolas" panose="020B0609020204030204" pitchFamily="49" charset="0"/>
              </a:rPr>
              <a:t>TypeError</a:t>
            </a:r>
            <a:r>
              <a:rPr lang="en-US" dirty="0">
                <a:solidFill>
                  <a:srgbClr val="7FBF7F"/>
                </a:solidFill>
                <a:latin typeface="Arial Narrow" panose="020B0606020202030204" pitchFamily="34" charset="0"/>
                <a:cs typeface="Consolas" panose="020B0609020204030204" pitchFamily="49" charset="0"/>
              </a:rPr>
              <a:t>:</a:t>
            </a:r>
            <a:r>
              <a:rPr lang="en-US" sz="1600" dirty="0">
                <a:solidFill>
                  <a:srgbClr val="7FBF7F"/>
                </a:solidFill>
                <a:latin typeface="Arial Narrow" panose="020B0606020202030204" pitchFamily="34" charset="0"/>
                <a:cs typeface="Consolas" panose="020B0609020204030204" pitchFamily="49" charset="0"/>
              </a:rPr>
              <a:t> </a:t>
            </a:r>
            <a:r>
              <a:rPr lang="en-US" dirty="0">
                <a:solidFill>
                  <a:srgbClr val="7FBF7F"/>
                </a:solidFill>
                <a:latin typeface="Arial Narrow" panose="020B0606020202030204" pitchFamily="34" charset="0"/>
                <a:cs typeface="Consolas" panose="020B0609020204030204" pitchFamily="49" charset="0"/>
              </a:rPr>
              <a:t>variable</a:t>
            </a:r>
            <a:r>
              <a:rPr lang="en-US" sz="1600" dirty="0">
                <a:solidFill>
                  <a:srgbClr val="7FBF7F"/>
                </a:solidFill>
                <a:latin typeface="Arial Narrow" panose="020B0606020202030204" pitchFamily="34" charset="0"/>
                <a:cs typeface="Consolas" panose="020B0609020204030204" pitchFamily="49" charset="0"/>
              </a:rPr>
              <a:t> </a:t>
            </a:r>
            <a:r>
              <a:rPr lang="en-US" dirty="0">
                <a:solidFill>
                  <a:srgbClr val="7FBF7F"/>
                </a:solidFill>
                <a:latin typeface="Arial Narrow" panose="020B0606020202030204" pitchFamily="34" charset="0"/>
                <a:cs typeface="Consolas" panose="020B0609020204030204" pitchFamily="49" charset="0"/>
              </a:rPr>
              <a:t>not integer\n</a:t>
            </a:r>
            <a:r>
              <a:rPr lang="en-US" dirty="0" smtClean="0">
                <a:solidFill>
                  <a:srgbClr val="7FBF7F"/>
                </a:solidFill>
                <a:latin typeface="Arial Narrow" panose="020B0606020202030204" pitchFamily="34" charset="0"/>
                <a:cs typeface="Consolas" panose="020B0609020204030204" pitchFamily="49" charset="0"/>
              </a:rPr>
              <a:t>");exit(2);}</a:t>
            </a:r>
            <a:endParaRPr lang="en-US" dirty="0">
              <a:solidFill>
                <a:srgbClr val="7FBF7F"/>
              </a:solidFill>
              <a:latin typeface="Arial Narrow" panose="020B0606020202030204" pitchFamily="34" charset="0"/>
              <a:cs typeface="Consolas" panose="020B0609020204030204" pitchFamily="49" charset="0"/>
            </a:endParaRPr>
          </a:p>
          <a:p>
            <a:pPr>
              <a:lnSpc>
                <a:spcPct val="80000"/>
              </a:lnSpc>
            </a:pPr>
            <a:r>
              <a:rPr lang="en-US" dirty="0">
                <a:solidFill>
                  <a:srgbClr val="7FBF7F"/>
                </a:solidFill>
                <a:latin typeface="Arial Narrow" panose="020B0606020202030204" pitchFamily="34" charset="0"/>
                <a:cs typeface="Consolas" panose="020B0609020204030204" pitchFamily="49" charset="0"/>
              </a:rPr>
              <a:t>int main()</a:t>
            </a:r>
          </a:p>
          <a:p>
            <a:pPr>
              <a:lnSpc>
                <a:spcPct val="80000"/>
              </a:lnSpc>
            </a:pPr>
            <a:r>
              <a:rPr lang="en-US" dirty="0">
                <a:solidFill>
                  <a:srgbClr val="7FBF7F"/>
                </a:solidFill>
                <a:latin typeface="Arial Narrow" panose="020B0606020202030204" pitchFamily="34" charset="0"/>
                <a:cs typeface="Consolas" panose="020B0609020204030204" pitchFamily="49" charset="0"/>
              </a:rPr>
              <a:t>{  either x[1</a:t>
            </a:r>
            <a:r>
              <a:rPr lang="en-US" dirty="0" smtClean="0">
                <a:solidFill>
                  <a:srgbClr val="7FBF7F"/>
                </a:solidFill>
                <a:latin typeface="Arial Narrow" panose="020B0606020202030204" pitchFamily="34" charset="0"/>
                <a:cs typeface="Consolas" panose="020B0609020204030204" pitchFamily="49" charset="0"/>
              </a:rPr>
              <a:t>];x-&gt;</a:t>
            </a:r>
            <a:r>
              <a:rPr lang="en-US" dirty="0">
                <a:solidFill>
                  <a:srgbClr val="7FBF7F"/>
                </a:solidFill>
                <a:latin typeface="Arial Narrow" panose="020B0606020202030204" pitchFamily="34" charset="0"/>
                <a:cs typeface="Consolas" panose="020B0609020204030204" pitchFamily="49" charset="0"/>
              </a:rPr>
              <a:t>determinant=Integer;</a:t>
            </a:r>
          </a:p>
          <a:p>
            <a:pPr>
              <a:lnSpc>
                <a:spcPct val="80000"/>
              </a:lnSpc>
            </a:pPr>
            <a:r>
              <a:rPr lang="en-US" dirty="0">
                <a:solidFill>
                  <a:srgbClr val="7FBF7F"/>
                </a:solidFill>
                <a:latin typeface="Arial Narrow" panose="020B0606020202030204" pitchFamily="34" charset="0"/>
                <a:cs typeface="Consolas" panose="020B0609020204030204" pitchFamily="49" charset="0"/>
              </a:rPr>
              <a:t> </a:t>
            </a:r>
            <a:r>
              <a:rPr lang="en-US" dirty="0" smtClean="0">
                <a:solidFill>
                  <a:srgbClr val="7FBF7F"/>
                </a:solidFill>
                <a:latin typeface="Arial Narrow" panose="020B0606020202030204" pitchFamily="34" charset="0"/>
                <a:cs typeface="Consolas" panose="020B0609020204030204" pitchFamily="49" charset="0"/>
              </a:rPr>
              <a:t>                   x-&gt;v</a:t>
            </a:r>
            <a:r>
              <a:rPr lang="en-US" spc="-10" dirty="0" smtClean="0">
                <a:solidFill>
                  <a:srgbClr val="7FBF7F"/>
                </a:solidFill>
                <a:latin typeface="Arial Narrow" panose="020B0606020202030204" pitchFamily="34" charset="0"/>
                <a:cs typeface="Consolas" panose="020B0609020204030204" pitchFamily="49" charset="0"/>
              </a:rPr>
              <a:t>=(generic</a:t>
            </a:r>
            <a:r>
              <a:rPr lang="en-US" spc="-10" dirty="0">
                <a:solidFill>
                  <a:srgbClr val="7FBF7F"/>
                </a:solidFill>
                <a:latin typeface="Arial Narrow" panose="020B0606020202030204" pitchFamily="34" charset="0"/>
                <a:cs typeface="Consolas" panose="020B0609020204030204" pitchFamily="49" charset="0"/>
              </a:rPr>
              <a:t>*)</a:t>
            </a:r>
            <a:r>
              <a:rPr lang="en-US" spc="-10" dirty="0" err="1">
                <a:solidFill>
                  <a:srgbClr val="7FBF7F"/>
                </a:solidFill>
                <a:latin typeface="Arial Narrow" panose="020B0606020202030204" pitchFamily="34" charset="0"/>
                <a:cs typeface="Consolas" panose="020B0609020204030204" pitchFamily="49" charset="0"/>
              </a:rPr>
              <a:t>malloc</a:t>
            </a:r>
            <a:r>
              <a:rPr lang="en-US" spc="-10" dirty="0">
                <a:solidFill>
                  <a:srgbClr val="7FBF7F"/>
                </a:solidFill>
                <a:latin typeface="Arial Narrow" panose="020B0606020202030204" pitchFamily="34" charset="0"/>
                <a:cs typeface="Consolas" panose="020B0609020204030204" pitchFamily="49" charset="0"/>
              </a:rPr>
              <a:t>(</a:t>
            </a:r>
            <a:r>
              <a:rPr lang="en-US" spc="-10" dirty="0" err="1">
                <a:solidFill>
                  <a:srgbClr val="7FBF7F"/>
                </a:solidFill>
                <a:latin typeface="Arial Narrow" panose="020B0606020202030204" pitchFamily="34" charset="0"/>
                <a:cs typeface="Consolas" panose="020B0609020204030204" pitchFamily="49" charset="0"/>
              </a:rPr>
              <a:t>sizeof</a:t>
            </a:r>
            <a:r>
              <a:rPr lang="en-US" spc="-10" dirty="0">
                <a:solidFill>
                  <a:srgbClr val="7FBF7F"/>
                </a:solidFill>
                <a:latin typeface="Arial Narrow" panose="020B0606020202030204" pitchFamily="34" charset="0"/>
                <a:cs typeface="Consolas" panose="020B0609020204030204" pitchFamily="49" charset="0"/>
              </a:rPr>
              <a:t>(generic));</a:t>
            </a:r>
          </a:p>
          <a:p>
            <a:pPr>
              <a:lnSpc>
                <a:spcPct val="80000"/>
              </a:lnSpc>
            </a:pPr>
            <a:r>
              <a:rPr lang="en-US" dirty="0">
                <a:solidFill>
                  <a:srgbClr val="7FBF7F"/>
                </a:solidFill>
                <a:latin typeface="Arial Narrow" panose="020B0606020202030204" pitchFamily="34" charset="0"/>
                <a:cs typeface="Consolas" panose="020B0609020204030204" pitchFamily="49" charset="0"/>
              </a:rPr>
              <a:t>   </a:t>
            </a:r>
            <a:r>
              <a:rPr lang="en-US" dirty="0" err="1" smtClean="0">
                <a:solidFill>
                  <a:srgbClr val="7FBF7F"/>
                </a:solidFill>
                <a:latin typeface="Arial Narrow" panose="020B0606020202030204" pitchFamily="34" charset="0"/>
                <a:cs typeface="Consolas" panose="020B0609020204030204" pitchFamily="49" charset="0"/>
              </a:rPr>
              <a:t>updateInteger</a:t>
            </a:r>
            <a:r>
              <a:rPr lang="en-US" dirty="0" smtClean="0">
                <a:solidFill>
                  <a:srgbClr val="7FBF7F"/>
                </a:solidFill>
                <a:latin typeface="Arial Narrow" panose="020B0606020202030204" pitchFamily="34" charset="0"/>
                <a:cs typeface="Consolas" panose="020B0609020204030204" pitchFamily="49" charset="0"/>
              </a:rPr>
              <a:t>(x,5</a:t>
            </a:r>
            <a:r>
              <a:rPr lang="en-US" dirty="0">
                <a:solidFill>
                  <a:srgbClr val="7FBF7F"/>
                </a:solidFill>
                <a:latin typeface="Arial Narrow" panose="020B0606020202030204" pitchFamily="34" charset="0"/>
                <a:cs typeface="Consolas" panose="020B0609020204030204" pitchFamily="49" charset="0"/>
              </a:rPr>
              <a:t>);</a:t>
            </a:r>
          </a:p>
          <a:p>
            <a:pPr>
              <a:lnSpc>
                <a:spcPct val="80000"/>
              </a:lnSpc>
            </a:pPr>
            <a:r>
              <a:rPr lang="en-US" dirty="0">
                <a:solidFill>
                  <a:srgbClr val="7FBF7F"/>
                </a:solidFill>
                <a:latin typeface="Arial Narrow" panose="020B0606020202030204" pitchFamily="34" charset="0"/>
                <a:cs typeface="Consolas" panose="020B0609020204030204" pitchFamily="49" charset="0"/>
              </a:rPr>
              <a:t>   </a:t>
            </a:r>
            <a:r>
              <a:rPr lang="en-US" dirty="0" err="1">
                <a:solidFill>
                  <a:srgbClr val="7FBF7F"/>
                </a:solidFill>
                <a:latin typeface="Arial Narrow" panose="020B0606020202030204" pitchFamily="34" charset="0"/>
                <a:cs typeface="Consolas" panose="020B0609020204030204" pitchFamily="49" charset="0"/>
              </a:rPr>
              <a:t>printf</a:t>
            </a:r>
            <a:r>
              <a:rPr lang="en-US" dirty="0">
                <a:solidFill>
                  <a:srgbClr val="7FBF7F"/>
                </a:solidFill>
                <a:latin typeface="Arial Narrow" panose="020B0606020202030204" pitchFamily="34" charset="0"/>
                <a:cs typeface="Consolas" panose="020B0609020204030204" pitchFamily="49" charset="0"/>
              </a:rPr>
              <a:t>("%u %u\n",</a:t>
            </a:r>
            <a:r>
              <a:rPr lang="en-US" dirty="0" err="1">
                <a:solidFill>
                  <a:srgbClr val="7FBF7F"/>
                </a:solidFill>
                <a:latin typeface="Arial Narrow" panose="020B0606020202030204" pitchFamily="34" charset="0"/>
                <a:cs typeface="Consolas" panose="020B0609020204030204" pitchFamily="49" charset="0"/>
              </a:rPr>
              <a:t>getInt</a:t>
            </a:r>
            <a:r>
              <a:rPr lang="en-US" dirty="0">
                <a:solidFill>
                  <a:srgbClr val="7FBF7F"/>
                </a:solidFill>
                <a:latin typeface="Arial Narrow" panose="020B0606020202030204" pitchFamily="34" charset="0"/>
                <a:cs typeface="Consolas" panose="020B0609020204030204" pitchFamily="49" charset="0"/>
              </a:rPr>
              <a:t>(x),</a:t>
            </a:r>
            <a:r>
              <a:rPr lang="en-US" dirty="0" err="1">
                <a:solidFill>
                  <a:srgbClr val="7FBF7F"/>
                </a:solidFill>
                <a:latin typeface="Arial Narrow" panose="020B0606020202030204" pitchFamily="34" charset="0"/>
                <a:cs typeface="Consolas" panose="020B0609020204030204" pitchFamily="49" charset="0"/>
              </a:rPr>
              <a:t>getInt</a:t>
            </a:r>
            <a:r>
              <a:rPr lang="en-US" dirty="0">
                <a:solidFill>
                  <a:srgbClr val="7FBF7F"/>
                </a:solidFill>
                <a:latin typeface="Arial Narrow" panose="020B0606020202030204" pitchFamily="34" charset="0"/>
                <a:cs typeface="Consolas" panose="020B0609020204030204" pitchFamily="49" charset="0"/>
              </a:rPr>
              <a:t>(x)+1);</a:t>
            </a:r>
          </a:p>
          <a:p>
            <a:pPr>
              <a:lnSpc>
                <a:spcPct val="80000"/>
              </a:lnSpc>
            </a:pPr>
            <a:r>
              <a:rPr lang="en-US" dirty="0">
                <a:solidFill>
                  <a:srgbClr val="7FBF7F"/>
                </a:solidFill>
                <a:latin typeface="Arial Narrow" panose="020B0606020202030204" pitchFamily="34" charset="0"/>
                <a:cs typeface="Consolas" panose="020B0609020204030204" pitchFamily="49" charset="0"/>
              </a:rPr>
              <a:t>   </a:t>
            </a:r>
            <a:r>
              <a:rPr lang="en-US" dirty="0" err="1">
                <a:solidFill>
                  <a:srgbClr val="7FBF7F"/>
                </a:solidFill>
                <a:latin typeface="Arial Narrow" panose="020B0606020202030204" pitchFamily="34" charset="0"/>
                <a:cs typeface="Consolas" panose="020B0609020204030204" pitchFamily="49" charset="0"/>
              </a:rPr>
              <a:t>updateString</a:t>
            </a:r>
            <a:r>
              <a:rPr lang="en-US" dirty="0">
                <a:solidFill>
                  <a:srgbClr val="7FBF7F"/>
                </a:solidFill>
                <a:latin typeface="Arial Narrow" panose="020B0606020202030204" pitchFamily="34" charset="0"/>
                <a:cs typeface="Consolas" panose="020B0609020204030204" pitchFamily="49" charset="0"/>
              </a:rPr>
              <a:t>(</a:t>
            </a:r>
            <a:r>
              <a:rPr lang="en-US" dirty="0" err="1">
                <a:solidFill>
                  <a:srgbClr val="7FBF7F"/>
                </a:solidFill>
                <a:latin typeface="Arial Narrow" panose="020B0606020202030204" pitchFamily="34" charset="0"/>
                <a:cs typeface="Consolas" panose="020B0609020204030204" pitchFamily="49" charset="0"/>
              </a:rPr>
              <a:t>x,"pineapple</a:t>
            </a:r>
            <a:r>
              <a:rPr lang="en-US" dirty="0">
                <a:solidFill>
                  <a:srgbClr val="7FBF7F"/>
                </a:solidFill>
                <a:latin typeface="Arial Narrow" panose="020B0606020202030204" pitchFamily="34" charset="0"/>
                <a:cs typeface="Consolas" panose="020B0609020204030204" pitchFamily="49" charset="0"/>
              </a:rPr>
              <a:t>");</a:t>
            </a:r>
          </a:p>
          <a:p>
            <a:pPr>
              <a:lnSpc>
                <a:spcPct val="80000"/>
              </a:lnSpc>
            </a:pPr>
            <a:r>
              <a:rPr lang="en-US" dirty="0">
                <a:solidFill>
                  <a:srgbClr val="7FBF7F"/>
                </a:solidFill>
                <a:latin typeface="Arial Narrow" panose="020B0606020202030204" pitchFamily="34" charset="0"/>
                <a:cs typeface="Consolas" panose="020B0609020204030204" pitchFamily="49" charset="0"/>
              </a:rPr>
              <a:t>   </a:t>
            </a:r>
            <a:r>
              <a:rPr lang="en-US" dirty="0" err="1">
                <a:solidFill>
                  <a:srgbClr val="7FBF7F"/>
                </a:solidFill>
                <a:latin typeface="Arial Narrow" panose="020B0606020202030204" pitchFamily="34" charset="0"/>
                <a:cs typeface="Consolas" panose="020B0609020204030204" pitchFamily="49" charset="0"/>
              </a:rPr>
              <a:t>printf</a:t>
            </a:r>
            <a:r>
              <a:rPr lang="en-US" dirty="0">
                <a:solidFill>
                  <a:srgbClr val="7FBF7F"/>
                </a:solidFill>
                <a:latin typeface="Arial Narrow" panose="020B0606020202030204" pitchFamily="34" charset="0"/>
                <a:cs typeface="Consolas" panose="020B0609020204030204" pitchFamily="49" charset="0"/>
              </a:rPr>
              <a:t>("%u %u\n",</a:t>
            </a:r>
            <a:r>
              <a:rPr lang="en-US" dirty="0" err="1">
                <a:solidFill>
                  <a:srgbClr val="7FBF7F"/>
                </a:solidFill>
                <a:latin typeface="Arial Narrow" panose="020B0606020202030204" pitchFamily="34" charset="0"/>
                <a:cs typeface="Consolas" panose="020B0609020204030204" pitchFamily="49" charset="0"/>
              </a:rPr>
              <a:t>getInt</a:t>
            </a:r>
            <a:r>
              <a:rPr lang="en-US" dirty="0">
                <a:solidFill>
                  <a:srgbClr val="7FBF7F"/>
                </a:solidFill>
                <a:latin typeface="Arial Narrow" panose="020B0606020202030204" pitchFamily="34" charset="0"/>
                <a:cs typeface="Consolas" panose="020B0609020204030204" pitchFamily="49" charset="0"/>
              </a:rPr>
              <a:t>(x),</a:t>
            </a:r>
            <a:r>
              <a:rPr lang="en-US" dirty="0" err="1">
                <a:solidFill>
                  <a:srgbClr val="7FBF7F"/>
                </a:solidFill>
                <a:latin typeface="Arial Narrow" panose="020B0606020202030204" pitchFamily="34" charset="0"/>
                <a:cs typeface="Consolas" panose="020B0609020204030204" pitchFamily="49" charset="0"/>
              </a:rPr>
              <a:t>getInt</a:t>
            </a:r>
            <a:r>
              <a:rPr lang="en-US" dirty="0">
                <a:solidFill>
                  <a:srgbClr val="7FBF7F"/>
                </a:solidFill>
                <a:latin typeface="Arial Narrow" panose="020B0606020202030204" pitchFamily="34" charset="0"/>
                <a:cs typeface="Consolas" panose="020B0609020204030204" pitchFamily="49" charset="0"/>
              </a:rPr>
              <a:t>(x)+1);    </a:t>
            </a:r>
            <a:r>
              <a:rPr lang="en-US" dirty="0" smtClean="0">
                <a:solidFill>
                  <a:srgbClr val="7FBF7F"/>
                </a:solidFill>
                <a:latin typeface="Arial Narrow" panose="020B0606020202030204" pitchFamily="34" charset="0"/>
                <a:cs typeface="Consolas" panose="020B0609020204030204" pitchFamily="49" charset="0"/>
              </a:rPr>
              <a:t>            </a:t>
            </a:r>
            <a:r>
              <a:rPr lang="en-US" dirty="0">
                <a:solidFill>
                  <a:srgbClr val="7FBF7F"/>
                </a:solidFill>
                <a:latin typeface="Arial Narrow" panose="020B0606020202030204" pitchFamily="34" charset="0"/>
                <a:cs typeface="Consolas" panose="020B0609020204030204" pitchFamily="49" charset="0"/>
              </a:rPr>
              <a:t>}</a:t>
            </a:r>
          </a:p>
          <a:p>
            <a:pPr>
              <a:lnSpc>
                <a:spcPct val="80000"/>
              </a:lnSpc>
            </a:pPr>
            <a:r>
              <a:rPr lang="en-US" dirty="0">
                <a:solidFill>
                  <a:srgbClr val="7FBF7F"/>
                </a:solidFill>
                <a:latin typeface="Arial Narrow" panose="020B0606020202030204" pitchFamily="34" charset="0"/>
                <a:cs typeface="Consolas" panose="020B0609020204030204" pitchFamily="49" charset="0"/>
              </a:rPr>
              <a:t>% ./</a:t>
            </a:r>
            <a:r>
              <a:rPr lang="en-US" dirty="0" err="1">
                <a:solidFill>
                  <a:srgbClr val="7FBF7F"/>
                </a:solidFill>
                <a:latin typeface="Arial Narrow" panose="020B0606020202030204" pitchFamily="34" charset="0"/>
                <a:cs typeface="Consolas" panose="020B0609020204030204" pitchFamily="49" charset="0"/>
              </a:rPr>
              <a:t>stronglyTyped.x</a:t>
            </a:r>
            <a:endParaRPr lang="en-US" dirty="0">
              <a:solidFill>
                <a:srgbClr val="7FBF7F"/>
              </a:solidFill>
              <a:latin typeface="Arial Narrow" panose="020B0606020202030204" pitchFamily="34" charset="0"/>
              <a:cs typeface="Consolas" panose="020B0609020204030204" pitchFamily="49" charset="0"/>
            </a:endParaRPr>
          </a:p>
          <a:p>
            <a:pPr>
              <a:lnSpc>
                <a:spcPct val="80000"/>
              </a:lnSpc>
            </a:pPr>
            <a:r>
              <a:rPr lang="en-US" dirty="0">
                <a:solidFill>
                  <a:srgbClr val="7FBF7F"/>
                </a:solidFill>
                <a:latin typeface="Arial Narrow" panose="020B0606020202030204" pitchFamily="34" charset="0"/>
                <a:cs typeface="Consolas" panose="020B0609020204030204" pitchFamily="49" charset="0"/>
              </a:rPr>
              <a:t>5 6</a:t>
            </a:r>
          </a:p>
          <a:p>
            <a:pPr>
              <a:lnSpc>
                <a:spcPct val="80000"/>
              </a:lnSpc>
            </a:pPr>
            <a:r>
              <a:rPr lang="en-US" dirty="0" err="1">
                <a:solidFill>
                  <a:srgbClr val="7FBF7F"/>
                </a:solidFill>
                <a:latin typeface="Arial Narrow" panose="020B0606020202030204" pitchFamily="34" charset="0"/>
                <a:cs typeface="Consolas" panose="020B0609020204030204" pitchFamily="49" charset="0"/>
              </a:rPr>
              <a:t>TypeError</a:t>
            </a:r>
            <a:r>
              <a:rPr lang="en-US" dirty="0">
                <a:solidFill>
                  <a:srgbClr val="7FBF7F"/>
                </a:solidFill>
                <a:latin typeface="Arial Narrow" panose="020B0606020202030204" pitchFamily="34" charset="0"/>
                <a:cs typeface="Consolas" panose="020B0609020204030204" pitchFamily="49" charset="0"/>
              </a:rPr>
              <a:t>: variable not integer</a:t>
            </a:r>
          </a:p>
          <a:p>
            <a:pPr>
              <a:lnSpc>
                <a:spcPct val="80000"/>
              </a:lnSpc>
            </a:pPr>
            <a:r>
              <a:rPr lang="en-US" dirty="0">
                <a:solidFill>
                  <a:srgbClr val="7FBF7F"/>
                </a:solidFill>
                <a:latin typeface="Arial Narrow" panose="020B0606020202030204" pitchFamily="34" charset="0"/>
                <a:cs typeface="Consolas" panose="020B0609020204030204" pitchFamily="49" charset="0"/>
              </a:rPr>
              <a:t>%</a:t>
            </a:r>
          </a:p>
        </p:txBody>
      </p:sp>
      <p:cxnSp>
        <p:nvCxnSpPr>
          <p:cNvPr id="9" name="Straight Connector 8"/>
          <p:cNvCxnSpPr/>
          <p:nvPr/>
        </p:nvCxnSpPr>
        <p:spPr>
          <a:xfrm>
            <a:off x="625796" y="6409357"/>
            <a:ext cx="1101" cy="18174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485231" y="6428521"/>
            <a:ext cx="1101" cy="18174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375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9"/>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childTnLst>
                                    <p:anim calcmode="discrete" valueType="str">
                                      <p:cBhvr>
                                        <p:cTn id="8"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p:cNvSpPr/>
          <p:nvPr/>
        </p:nvSpPr>
        <p:spPr>
          <a:xfrm>
            <a:off x="10465" y="3680460"/>
            <a:ext cx="4847503" cy="3177540"/>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42" name="Title 1"/>
          <p:cNvSpPr>
            <a:spLocks noGrp="1"/>
          </p:cNvSpPr>
          <p:nvPr>
            <p:ph type="title"/>
          </p:nvPr>
        </p:nvSpPr>
        <p:spPr>
          <a:xfrm>
            <a:off x="101339" y="228600"/>
            <a:ext cx="4628551" cy="3200400"/>
          </a:xfrm>
          <a:solidFill>
            <a:schemeClr val="bg1"/>
          </a:solidFill>
        </p:spPr>
        <p:txBody>
          <a:bodyPr>
            <a:normAutofit/>
          </a:bodyPr>
          <a:lstStyle/>
          <a:p>
            <a:pPr algn="ctr"/>
            <a:r>
              <a:rPr lang="en-US" sz="2862" b="1" dirty="0">
                <a:solidFill>
                  <a:schemeClr val="accent1">
                    <a:lumMod val="75000"/>
                  </a:schemeClr>
                </a:solidFill>
                <a:latin typeface="Times New Roman" panose="02020603050405020304" pitchFamily="18" charset="0"/>
                <a:cs typeface="Times New Roman" panose="02020603050405020304" pitchFamily="18" charset="0"/>
              </a:rPr>
              <a:t>Just to give you an idea of how much coding you would have to do to get “similar” strong typing in C…</a:t>
            </a:r>
          </a:p>
        </p:txBody>
      </p:sp>
      <p:sp>
        <p:nvSpPr>
          <p:cNvPr id="4" name="Rectangle 3"/>
          <p:cNvSpPr/>
          <p:nvPr/>
        </p:nvSpPr>
        <p:spPr>
          <a:xfrm>
            <a:off x="277030" y="3962400"/>
            <a:ext cx="4310911" cy="2667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bIns="0" rtlCol="0" anchor="ctr"/>
          <a:lstStyle/>
          <a:p>
            <a:pPr>
              <a:lnSpc>
                <a:spcPct val="80000"/>
              </a:lnSpc>
            </a:pPr>
            <a:r>
              <a:rPr lang="en-US" dirty="0">
                <a:solidFill>
                  <a:schemeClr val="bg1"/>
                </a:solidFill>
                <a:latin typeface="Arial Narrow" panose="020B0606020202030204" pitchFamily="34" charset="0"/>
                <a:cs typeface="Consolas" panose="020B0609020204030204" pitchFamily="49" charset="0"/>
              </a:rPr>
              <a:t>% cat stronglyTyped.py</a:t>
            </a:r>
          </a:p>
          <a:p>
            <a:pPr>
              <a:lnSpc>
                <a:spcPct val="80000"/>
              </a:lnSpc>
            </a:pPr>
            <a:r>
              <a:rPr lang="en-US" dirty="0" smtClean="0">
                <a:solidFill>
                  <a:schemeClr val="bg1"/>
                </a:solidFill>
                <a:latin typeface="Arial Narrow" panose="020B0606020202030204" pitchFamily="34" charset="0"/>
                <a:cs typeface="Consolas" panose="020B0609020204030204" pitchFamily="49" charset="0"/>
              </a:rPr>
              <a:t>x=5</a:t>
            </a:r>
          </a:p>
          <a:p>
            <a:pPr>
              <a:lnSpc>
                <a:spcPct val="80000"/>
              </a:lnSpc>
            </a:pPr>
            <a:r>
              <a:rPr lang="en-US" dirty="0" smtClean="0">
                <a:solidFill>
                  <a:schemeClr val="bg1"/>
                </a:solidFill>
                <a:latin typeface="Arial Narrow" panose="020B0606020202030204" pitchFamily="34" charset="0"/>
                <a:cs typeface="Consolas" panose="020B0609020204030204" pitchFamily="49" charset="0"/>
              </a:rPr>
              <a:t>print (</a:t>
            </a:r>
            <a:r>
              <a:rPr lang="en-US" dirty="0" smtClean="0">
                <a:solidFill>
                  <a:srgbClr val="C55A11"/>
                </a:solidFill>
                <a:latin typeface="Arial Narrow" panose="020B0606020202030204" pitchFamily="34" charset="0"/>
                <a:cs typeface="Consolas" panose="020B0609020204030204" pitchFamily="49" charset="0"/>
              </a:rPr>
              <a:t>x</a:t>
            </a:r>
            <a:r>
              <a:rPr lang="en-US" dirty="0" smtClean="0">
                <a:solidFill>
                  <a:srgbClr val="FF99CC"/>
                </a:solidFill>
                <a:latin typeface="Arial Narrow" panose="020B0606020202030204" pitchFamily="34" charset="0"/>
                <a:cs typeface="Consolas" panose="020B0609020204030204" pitchFamily="49" charset="0"/>
              </a:rPr>
              <a:t>, </a:t>
            </a:r>
            <a:r>
              <a:rPr lang="en-US" dirty="0" smtClean="0">
                <a:solidFill>
                  <a:srgbClr val="C55A11"/>
                </a:solidFill>
                <a:latin typeface="Arial Narrow" panose="020B0606020202030204" pitchFamily="34" charset="0"/>
                <a:cs typeface="Consolas" panose="020B0609020204030204" pitchFamily="49" charset="0"/>
              </a:rPr>
              <a:t>x+1</a:t>
            </a:r>
            <a:r>
              <a:rPr lang="en-US" dirty="0" smtClean="0">
                <a:solidFill>
                  <a:schemeClr val="bg1"/>
                </a:solidFill>
                <a:latin typeface="Arial Narrow" panose="020B0606020202030204" pitchFamily="34" charset="0"/>
                <a:cs typeface="Consolas" panose="020B0609020204030204" pitchFamily="49" charset="0"/>
              </a:rPr>
              <a:t>)</a:t>
            </a:r>
          </a:p>
          <a:p>
            <a:pPr>
              <a:lnSpc>
                <a:spcPct val="80000"/>
              </a:lnSpc>
            </a:pPr>
            <a:r>
              <a:rPr lang="en-US" dirty="0" smtClean="0">
                <a:solidFill>
                  <a:schemeClr val="bg1"/>
                </a:solidFill>
                <a:latin typeface="Arial Narrow" panose="020B0606020202030204" pitchFamily="34" charset="0"/>
                <a:cs typeface="Consolas" panose="020B0609020204030204" pitchFamily="49" charset="0"/>
              </a:rPr>
              <a:t>x="pineapple"</a:t>
            </a:r>
          </a:p>
          <a:p>
            <a:pPr>
              <a:lnSpc>
                <a:spcPct val="80000"/>
              </a:lnSpc>
            </a:pPr>
            <a:r>
              <a:rPr lang="en-US" dirty="0" smtClean="0">
                <a:solidFill>
                  <a:srgbClr val="FF0000"/>
                </a:solidFill>
                <a:latin typeface="Arial Narrow" panose="020B0606020202030204" pitchFamily="34" charset="0"/>
                <a:cs typeface="Consolas" panose="020B0609020204030204" pitchFamily="49" charset="0"/>
              </a:rPr>
              <a:t>print</a:t>
            </a:r>
            <a:r>
              <a:rPr lang="en-US" dirty="0" smtClean="0">
                <a:solidFill>
                  <a:srgbClr val="FF99CC"/>
                </a:solidFill>
                <a:latin typeface="Arial Narrow" panose="020B0606020202030204" pitchFamily="34" charset="0"/>
                <a:cs typeface="Consolas" panose="020B0609020204030204" pitchFamily="49" charset="0"/>
              </a:rPr>
              <a:t> </a:t>
            </a:r>
            <a:r>
              <a:rPr lang="en-US" dirty="0" smtClean="0">
                <a:solidFill>
                  <a:schemeClr val="bg1"/>
                </a:solidFill>
                <a:latin typeface="Arial Narrow" panose="020B0606020202030204" pitchFamily="34" charset="0"/>
                <a:cs typeface="Consolas" panose="020B0609020204030204" pitchFamily="49" charset="0"/>
              </a:rPr>
              <a:t>(</a:t>
            </a:r>
            <a:r>
              <a:rPr lang="en-US" dirty="0" smtClean="0">
                <a:solidFill>
                  <a:srgbClr val="C55A11"/>
                </a:solidFill>
                <a:latin typeface="Arial Narrow" panose="020B0606020202030204" pitchFamily="34" charset="0"/>
                <a:cs typeface="Consolas" panose="020B0609020204030204" pitchFamily="49" charset="0"/>
              </a:rPr>
              <a:t>x</a:t>
            </a:r>
            <a:r>
              <a:rPr lang="en-US" dirty="0" smtClean="0">
                <a:solidFill>
                  <a:schemeClr val="bg1"/>
                </a:solidFill>
                <a:latin typeface="Arial Narrow" panose="020B0606020202030204" pitchFamily="34" charset="0"/>
                <a:cs typeface="Consolas" panose="020B0609020204030204" pitchFamily="49" charset="0"/>
              </a:rPr>
              <a:t>, </a:t>
            </a:r>
            <a:r>
              <a:rPr lang="en-US" dirty="0" smtClean="0">
                <a:solidFill>
                  <a:srgbClr val="C55A11"/>
                </a:solidFill>
                <a:latin typeface="Arial Narrow" panose="020B0606020202030204" pitchFamily="34" charset="0"/>
                <a:cs typeface="Consolas" panose="020B0609020204030204" pitchFamily="49" charset="0"/>
              </a:rPr>
              <a:t>x+1</a:t>
            </a:r>
            <a:r>
              <a:rPr lang="en-US" dirty="0" smtClean="0">
                <a:solidFill>
                  <a:schemeClr val="bg1"/>
                </a:solidFill>
                <a:latin typeface="Arial Narrow" panose="020B0606020202030204" pitchFamily="34" charset="0"/>
                <a:cs typeface="Consolas" panose="020B0609020204030204" pitchFamily="49" charset="0"/>
              </a:rPr>
              <a:t>)</a:t>
            </a:r>
          </a:p>
          <a:p>
            <a:pPr>
              <a:lnSpc>
                <a:spcPct val="80000"/>
              </a:lnSpc>
            </a:pPr>
            <a:r>
              <a:rPr lang="en-US" dirty="0" smtClean="0">
                <a:solidFill>
                  <a:schemeClr val="bg1"/>
                </a:solidFill>
                <a:latin typeface="Arial Narrow" panose="020B0606020202030204" pitchFamily="34" charset="0"/>
                <a:cs typeface="Consolas" panose="020B0609020204030204" pitchFamily="49" charset="0"/>
              </a:rPr>
              <a:t>% python3 stronglyTyped.py</a:t>
            </a:r>
          </a:p>
          <a:p>
            <a:pPr>
              <a:lnSpc>
                <a:spcPct val="80000"/>
              </a:lnSpc>
            </a:pPr>
            <a:r>
              <a:rPr lang="en-US" dirty="0" smtClean="0">
                <a:solidFill>
                  <a:srgbClr val="C55A11"/>
                </a:solidFill>
                <a:latin typeface="Arial Narrow" panose="020B0606020202030204" pitchFamily="34" charset="0"/>
                <a:cs typeface="Consolas" panose="020B0609020204030204" pitchFamily="49" charset="0"/>
              </a:rPr>
              <a:t>5 6</a:t>
            </a:r>
          </a:p>
          <a:p>
            <a:pPr>
              <a:lnSpc>
                <a:spcPct val="80000"/>
              </a:lnSpc>
            </a:pPr>
            <a:r>
              <a:rPr lang="en-US" dirty="0" smtClean="0">
                <a:solidFill>
                  <a:srgbClr val="C55A11"/>
                </a:solidFill>
                <a:latin typeface="Arial Narrow" panose="020B0606020202030204" pitchFamily="34" charset="0"/>
                <a:cs typeface="Consolas" panose="020B0609020204030204" pitchFamily="49" charset="0"/>
              </a:rPr>
              <a:t>pineapple</a:t>
            </a:r>
          </a:p>
          <a:p>
            <a:pPr>
              <a:lnSpc>
                <a:spcPct val="80000"/>
              </a:lnSpc>
            </a:pPr>
            <a:r>
              <a:rPr lang="en-US" dirty="0" err="1" smtClean="0">
                <a:solidFill>
                  <a:srgbClr val="FF0000"/>
                </a:solidFill>
                <a:latin typeface="Arial Narrow" panose="020B0606020202030204" pitchFamily="34" charset="0"/>
                <a:cs typeface="Consolas" panose="020B0609020204030204" pitchFamily="49" charset="0"/>
              </a:rPr>
              <a:t>Traceback</a:t>
            </a:r>
            <a:r>
              <a:rPr lang="en-US" dirty="0" smtClean="0">
                <a:solidFill>
                  <a:srgbClr val="FF0000"/>
                </a:solidFill>
                <a:latin typeface="Arial Narrow" panose="020B0606020202030204" pitchFamily="34" charset="0"/>
                <a:cs typeface="Consolas" panose="020B0609020204030204" pitchFamily="49" charset="0"/>
              </a:rPr>
              <a:t> (most recent call last):</a:t>
            </a:r>
          </a:p>
          <a:p>
            <a:pPr>
              <a:lnSpc>
                <a:spcPct val="80000"/>
              </a:lnSpc>
            </a:pPr>
            <a:r>
              <a:rPr lang="en-US" dirty="0" smtClean="0">
                <a:solidFill>
                  <a:srgbClr val="FF0000"/>
                </a:solidFill>
                <a:latin typeface="Arial Narrow" panose="020B0606020202030204" pitchFamily="34" charset="0"/>
                <a:cs typeface="Consolas" panose="020B0609020204030204" pitchFamily="49" charset="0"/>
              </a:rPr>
              <a:t>  File "&lt;</a:t>
            </a:r>
            <a:r>
              <a:rPr lang="en-US" dirty="0" err="1" smtClean="0">
                <a:solidFill>
                  <a:srgbClr val="FF0000"/>
                </a:solidFill>
                <a:latin typeface="Arial Narrow" panose="020B0606020202030204" pitchFamily="34" charset="0"/>
                <a:cs typeface="Consolas" panose="020B0609020204030204" pitchFamily="49" charset="0"/>
              </a:rPr>
              <a:t>stdin</a:t>
            </a:r>
            <a:r>
              <a:rPr lang="en-US" dirty="0" smtClean="0">
                <a:solidFill>
                  <a:srgbClr val="FF0000"/>
                </a:solidFill>
                <a:latin typeface="Arial Narrow" panose="020B0606020202030204" pitchFamily="34" charset="0"/>
                <a:cs typeface="Consolas" panose="020B0609020204030204" pitchFamily="49" charset="0"/>
              </a:rPr>
              <a:t>&gt;", line 1, in &lt;module&gt;</a:t>
            </a:r>
          </a:p>
          <a:p>
            <a:pPr>
              <a:lnSpc>
                <a:spcPct val="80000"/>
              </a:lnSpc>
            </a:pPr>
            <a:r>
              <a:rPr lang="en-US" spc="-10" dirty="0" err="1" smtClean="0">
                <a:solidFill>
                  <a:srgbClr val="FF0000"/>
                </a:solidFill>
                <a:latin typeface="Arial Narrow" panose="020B0606020202030204" pitchFamily="34" charset="0"/>
                <a:cs typeface="Consolas" panose="020B0609020204030204" pitchFamily="49" charset="0"/>
              </a:rPr>
              <a:t>TypeError</a:t>
            </a:r>
            <a:r>
              <a:rPr lang="en-US" spc="-10" dirty="0" smtClean="0">
                <a:solidFill>
                  <a:srgbClr val="FF0000"/>
                </a:solidFill>
                <a:latin typeface="Arial Narrow" panose="020B0606020202030204" pitchFamily="34" charset="0"/>
                <a:cs typeface="Consolas" panose="020B0609020204030204" pitchFamily="49" charset="0"/>
              </a:rPr>
              <a:t>: cannot concatenate '</a:t>
            </a:r>
            <a:r>
              <a:rPr lang="en-US" spc="-10" dirty="0" err="1" smtClean="0">
                <a:solidFill>
                  <a:srgbClr val="FF0000"/>
                </a:solidFill>
                <a:latin typeface="Arial Narrow" panose="020B0606020202030204" pitchFamily="34" charset="0"/>
                <a:cs typeface="Consolas" panose="020B0609020204030204" pitchFamily="49" charset="0"/>
              </a:rPr>
              <a:t>str</a:t>
            </a:r>
            <a:r>
              <a:rPr lang="en-US" spc="-10" dirty="0" smtClean="0">
                <a:solidFill>
                  <a:srgbClr val="FF0000"/>
                </a:solidFill>
                <a:latin typeface="Arial Narrow" panose="020B0606020202030204" pitchFamily="34" charset="0"/>
                <a:cs typeface="Consolas" panose="020B0609020204030204" pitchFamily="49" charset="0"/>
              </a:rPr>
              <a:t>' and '</a:t>
            </a:r>
            <a:r>
              <a:rPr lang="en-US" spc="-10" dirty="0" err="1" smtClean="0">
                <a:solidFill>
                  <a:srgbClr val="FF0000"/>
                </a:solidFill>
                <a:latin typeface="Arial Narrow" panose="020B0606020202030204" pitchFamily="34" charset="0"/>
                <a:cs typeface="Consolas" panose="020B0609020204030204" pitchFamily="49" charset="0"/>
              </a:rPr>
              <a:t>int</a:t>
            </a:r>
            <a:r>
              <a:rPr lang="en-US" spc="-10" dirty="0" smtClean="0">
                <a:solidFill>
                  <a:srgbClr val="FF0000"/>
                </a:solidFill>
                <a:latin typeface="Arial Narrow" panose="020B0606020202030204" pitchFamily="34" charset="0"/>
                <a:cs typeface="Consolas" panose="020B0609020204030204" pitchFamily="49" charset="0"/>
              </a:rPr>
              <a:t>' objects</a:t>
            </a:r>
          </a:p>
          <a:p>
            <a:pPr>
              <a:lnSpc>
                <a:spcPct val="80000"/>
              </a:lnSpc>
            </a:pPr>
            <a:r>
              <a:rPr lang="en-US" dirty="0" smtClean="0">
                <a:solidFill>
                  <a:srgbClr val="FF99CC"/>
                </a:solidFill>
                <a:latin typeface="Arial Narrow" panose="020B0606020202030204" pitchFamily="34" charset="0"/>
                <a:cs typeface="Consolas" panose="020B0609020204030204" pitchFamily="49" charset="0"/>
              </a:rPr>
              <a:t>%</a:t>
            </a:r>
            <a:endParaRPr lang="en-US" dirty="0">
              <a:solidFill>
                <a:srgbClr val="FF99CC"/>
              </a:solidFill>
              <a:latin typeface="Arial Narrow" panose="020B0606020202030204" pitchFamily="34" charset="0"/>
              <a:cs typeface="Consolas" panose="020B0609020204030204" pitchFamily="49" charset="0"/>
            </a:endParaRPr>
          </a:p>
        </p:txBody>
      </p:sp>
      <p:sp>
        <p:nvSpPr>
          <p:cNvPr id="12" name="Rounded Rectangle 11"/>
          <p:cNvSpPr/>
          <p:nvPr/>
        </p:nvSpPr>
        <p:spPr>
          <a:xfrm>
            <a:off x="4909042" y="460436"/>
            <a:ext cx="4847503" cy="6397564"/>
          </a:xfrm>
          <a:prstGeom prst="roundRect">
            <a:avLst>
              <a:gd name="adj" fmla="val 7557"/>
            </a:avLst>
          </a:prstGeom>
          <a:solidFill>
            <a:srgbClr val="A2CCD2"/>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1">
              <a:solidFill>
                <a:prstClr val="white"/>
              </a:solidFill>
            </a:endParaRPr>
          </a:p>
        </p:txBody>
      </p:sp>
      <p:sp>
        <p:nvSpPr>
          <p:cNvPr id="13" name="Rectangle 12"/>
          <p:cNvSpPr/>
          <p:nvPr/>
        </p:nvSpPr>
        <p:spPr>
          <a:xfrm>
            <a:off x="5175608" y="702766"/>
            <a:ext cx="4343042" cy="592663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Ins="0" bIns="0" rtlCol="0" anchor="ctr"/>
          <a:lstStyle/>
          <a:p>
            <a:pPr>
              <a:lnSpc>
                <a:spcPct val="80000"/>
              </a:lnSpc>
            </a:pPr>
            <a:r>
              <a:rPr lang="en-US" dirty="0">
                <a:solidFill>
                  <a:schemeClr val="bg1"/>
                </a:solidFill>
                <a:latin typeface="Arial Narrow" panose="020B0606020202030204" pitchFamily="34" charset="0"/>
                <a:cs typeface="Consolas" panose="020B0609020204030204" pitchFamily="49" charset="0"/>
              </a:rPr>
              <a:t>% cat </a:t>
            </a:r>
            <a:r>
              <a:rPr lang="en-US" dirty="0" err="1">
                <a:solidFill>
                  <a:schemeClr val="bg1"/>
                </a:solidFill>
                <a:latin typeface="Arial Narrow" panose="020B0606020202030204" pitchFamily="34" charset="0"/>
                <a:cs typeface="Consolas" panose="020B0609020204030204" pitchFamily="49" charset="0"/>
              </a:rPr>
              <a:t>stronglyTyped.c</a:t>
            </a:r>
            <a:endParaRPr lang="en-US" dirty="0">
              <a:solidFill>
                <a:schemeClr val="bg1"/>
              </a:solidFill>
              <a:latin typeface="Arial Narrow" panose="020B0606020202030204" pitchFamily="34" charset="0"/>
              <a:cs typeface="Consolas" panose="020B0609020204030204" pitchFamily="49" charset="0"/>
            </a:endParaRPr>
          </a:p>
          <a:p>
            <a:pPr>
              <a:lnSpc>
                <a:spcPct val="80000"/>
              </a:lnSpc>
            </a:pPr>
            <a:r>
              <a:rPr lang="en-US" dirty="0">
                <a:solidFill>
                  <a:schemeClr val="bg1"/>
                </a:solidFill>
                <a:latin typeface="Arial Narrow" panose="020B0606020202030204" pitchFamily="34" charset="0"/>
                <a:cs typeface="Consolas" panose="020B0609020204030204" pitchFamily="49" charset="0"/>
              </a:rPr>
              <a:t>#include &lt;</a:t>
            </a:r>
            <a:r>
              <a:rPr lang="en-US" dirty="0" err="1">
                <a:solidFill>
                  <a:schemeClr val="bg1"/>
                </a:solidFill>
                <a:latin typeface="Arial Narrow" panose="020B0606020202030204" pitchFamily="34" charset="0"/>
                <a:cs typeface="Consolas" panose="020B0609020204030204" pitchFamily="49" charset="0"/>
              </a:rPr>
              <a:t>stdio.h</a:t>
            </a:r>
            <a:r>
              <a:rPr lang="en-US" dirty="0">
                <a:solidFill>
                  <a:schemeClr val="bg1"/>
                </a:solidFill>
                <a:latin typeface="Arial Narrow" panose="020B0606020202030204" pitchFamily="34" charset="0"/>
                <a:cs typeface="Consolas" panose="020B0609020204030204" pitchFamily="49" charset="0"/>
              </a:rPr>
              <a:t>&gt;</a:t>
            </a:r>
          </a:p>
          <a:p>
            <a:pPr>
              <a:lnSpc>
                <a:spcPct val="80000"/>
              </a:lnSpc>
            </a:pPr>
            <a:r>
              <a:rPr lang="en-US" dirty="0">
                <a:solidFill>
                  <a:schemeClr val="bg1"/>
                </a:solidFill>
                <a:latin typeface="Arial Narrow" panose="020B0606020202030204" pitchFamily="34" charset="0"/>
                <a:cs typeface="Consolas" panose="020B0609020204030204" pitchFamily="49" charset="0"/>
              </a:rPr>
              <a:t>#include &lt;</a:t>
            </a:r>
            <a:r>
              <a:rPr lang="en-US" dirty="0" err="1">
                <a:solidFill>
                  <a:schemeClr val="bg1"/>
                </a:solidFill>
                <a:latin typeface="Arial Narrow" panose="020B0606020202030204" pitchFamily="34" charset="0"/>
                <a:cs typeface="Consolas" panose="020B0609020204030204" pitchFamily="49" charset="0"/>
              </a:rPr>
              <a:t>stdlib.h</a:t>
            </a:r>
            <a:r>
              <a:rPr lang="en-US" dirty="0">
                <a:solidFill>
                  <a:schemeClr val="bg1"/>
                </a:solidFill>
                <a:latin typeface="Arial Narrow" panose="020B0606020202030204" pitchFamily="34" charset="0"/>
                <a:cs typeface="Consolas" panose="020B0609020204030204" pitchFamily="49" charset="0"/>
              </a:rPr>
              <a:t>&gt;</a:t>
            </a:r>
          </a:p>
          <a:p>
            <a:pPr>
              <a:lnSpc>
                <a:spcPct val="80000"/>
              </a:lnSpc>
            </a:pPr>
            <a:r>
              <a:rPr lang="en-US" dirty="0">
                <a:solidFill>
                  <a:schemeClr val="bg1"/>
                </a:solidFill>
                <a:latin typeface="Arial Narrow" panose="020B0606020202030204" pitchFamily="34" charset="0"/>
                <a:cs typeface="Consolas" panose="020B0609020204030204" pitchFamily="49" charset="0"/>
              </a:rPr>
              <a:t>#include &lt;</a:t>
            </a:r>
            <a:r>
              <a:rPr lang="en-US" dirty="0" err="1">
                <a:solidFill>
                  <a:schemeClr val="bg1"/>
                </a:solidFill>
                <a:latin typeface="Arial Narrow" panose="020B0606020202030204" pitchFamily="34" charset="0"/>
                <a:cs typeface="Consolas" panose="020B0609020204030204" pitchFamily="49" charset="0"/>
              </a:rPr>
              <a:t>string.h</a:t>
            </a:r>
            <a:r>
              <a:rPr lang="en-US" dirty="0">
                <a:solidFill>
                  <a:schemeClr val="bg1"/>
                </a:solidFill>
                <a:latin typeface="Arial Narrow" panose="020B0606020202030204" pitchFamily="34" charset="0"/>
                <a:cs typeface="Consolas" panose="020B0609020204030204" pitchFamily="49" charset="0"/>
              </a:rPr>
              <a:t>&gt;</a:t>
            </a:r>
          </a:p>
          <a:p>
            <a:pPr>
              <a:lnSpc>
                <a:spcPct val="80000"/>
              </a:lnSpc>
            </a:pPr>
            <a:r>
              <a:rPr lang="en-US" dirty="0">
                <a:solidFill>
                  <a:srgbClr val="0099FF"/>
                </a:solidFill>
                <a:latin typeface="Arial Narrow" panose="020B0606020202030204" pitchFamily="34" charset="0"/>
                <a:cs typeface="Consolas" panose="020B0609020204030204" pitchFamily="49" charset="0"/>
              </a:rPr>
              <a:t>typedef </a:t>
            </a:r>
            <a:r>
              <a:rPr lang="en-US" dirty="0" err="1">
                <a:solidFill>
                  <a:srgbClr val="0099FF"/>
                </a:solidFill>
                <a:latin typeface="Arial Narrow" panose="020B0606020202030204" pitchFamily="34" charset="0"/>
                <a:cs typeface="Consolas" panose="020B0609020204030204" pitchFamily="49" charset="0"/>
              </a:rPr>
              <a:t>enum</a:t>
            </a:r>
            <a:r>
              <a:rPr lang="en-US" dirty="0">
                <a:solidFill>
                  <a:srgbClr val="0099FF"/>
                </a:solidFill>
                <a:latin typeface="Arial Narrow" panose="020B0606020202030204" pitchFamily="34" charset="0"/>
                <a:cs typeface="Consolas" panose="020B0609020204030204" pitchFamily="49" charset="0"/>
              </a:rPr>
              <a:t> type {Integer, String} type;</a:t>
            </a:r>
          </a:p>
          <a:p>
            <a:pPr>
              <a:lnSpc>
                <a:spcPct val="80000"/>
              </a:lnSpc>
            </a:pPr>
            <a:r>
              <a:rPr lang="en-US" dirty="0">
                <a:solidFill>
                  <a:schemeClr val="bg1"/>
                </a:solidFill>
                <a:latin typeface="Arial Narrow" panose="020B0606020202030204" pitchFamily="34" charset="0"/>
                <a:cs typeface="Consolas" panose="020B0609020204030204" pitchFamily="49" charset="0"/>
              </a:rPr>
              <a:t>typedef union { char *s;  int </a:t>
            </a:r>
            <a:r>
              <a:rPr lang="en-US" dirty="0" err="1">
                <a:solidFill>
                  <a:schemeClr val="bg1"/>
                </a:solidFill>
                <a:latin typeface="Arial Narrow" panose="020B0606020202030204" pitchFamily="34" charset="0"/>
                <a:cs typeface="Consolas" panose="020B0609020204030204" pitchFamily="49" charset="0"/>
              </a:rPr>
              <a:t>i</a:t>
            </a:r>
            <a:r>
              <a:rPr lang="en-US" dirty="0">
                <a:solidFill>
                  <a:schemeClr val="bg1"/>
                </a:solidFill>
                <a:latin typeface="Arial Narrow" panose="020B0606020202030204" pitchFamily="34" charset="0"/>
                <a:cs typeface="Consolas" panose="020B0609020204030204" pitchFamily="49" charset="0"/>
              </a:rPr>
              <a:t>;} generic;</a:t>
            </a:r>
          </a:p>
          <a:p>
            <a:pPr>
              <a:lnSpc>
                <a:spcPct val="80000"/>
              </a:lnSpc>
            </a:pPr>
            <a:r>
              <a:rPr lang="en-US" dirty="0">
                <a:solidFill>
                  <a:srgbClr val="FFFF00"/>
                </a:solidFill>
                <a:latin typeface="Arial Narrow" panose="020B0606020202030204" pitchFamily="34" charset="0"/>
                <a:cs typeface="Consolas" panose="020B0609020204030204" pitchFamily="49" charset="0"/>
              </a:rPr>
              <a:t>typedef </a:t>
            </a:r>
            <a:r>
              <a:rPr lang="en-US" dirty="0" err="1">
                <a:solidFill>
                  <a:srgbClr val="FFFF00"/>
                </a:solidFill>
                <a:latin typeface="Arial Narrow" panose="020B0606020202030204" pitchFamily="34" charset="0"/>
                <a:cs typeface="Consolas" panose="020B0609020204030204" pitchFamily="49" charset="0"/>
              </a:rPr>
              <a:t>struct</a:t>
            </a:r>
            <a:r>
              <a:rPr lang="en-US" dirty="0">
                <a:solidFill>
                  <a:srgbClr val="FFFF00"/>
                </a:solidFill>
                <a:latin typeface="Arial Narrow" panose="020B0606020202030204" pitchFamily="34" charset="0"/>
                <a:cs typeface="Consolas" panose="020B0609020204030204" pitchFamily="49" charset="0"/>
              </a:rPr>
              <a:t> {type</a:t>
            </a:r>
            <a:r>
              <a:rPr lang="en-US" dirty="0">
                <a:solidFill>
                  <a:schemeClr val="bg1"/>
                </a:solidFill>
                <a:latin typeface="Arial Narrow" panose="020B0606020202030204" pitchFamily="34" charset="0"/>
                <a:cs typeface="Consolas" panose="020B0609020204030204" pitchFamily="49" charset="0"/>
              </a:rPr>
              <a:t> </a:t>
            </a:r>
            <a:r>
              <a:rPr lang="en-US" dirty="0">
                <a:solidFill>
                  <a:srgbClr val="FF99FF"/>
                </a:solidFill>
                <a:latin typeface="Arial Narrow" panose="020B0606020202030204" pitchFamily="34" charset="0"/>
                <a:cs typeface="Consolas" panose="020B0609020204030204" pitchFamily="49" charset="0"/>
              </a:rPr>
              <a:t>determinant</a:t>
            </a:r>
            <a:r>
              <a:rPr lang="en-US" dirty="0">
                <a:solidFill>
                  <a:srgbClr val="FFFF00"/>
                </a:solidFill>
                <a:latin typeface="Arial Narrow" panose="020B0606020202030204" pitchFamily="34" charset="0"/>
                <a:cs typeface="Consolas" panose="020B0609020204030204" pitchFamily="49" charset="0"/>
              </a:rPr>
              <a:t>; generic *v</a:t>
            </a:r>
            <a:r>
              <a:rPr lang="en-US" dirty="0" smtClean="0">
                <a:solidFill>
                  <a:srgbClr val="FFFF00"/>
                </a:solidFill>
                <a:latin typeface="Arial Narrow" panose="020B0606020202030204" pitchFamily="34" charset="0"/>
                <a:cs typeface="Consolas" panose="020B0609020204030204" pitchFamily="49" charset="0"/>
              </a:rPr>
              <a:t>;}either</a:t>
            </a:r>
            <a:r>
              <a:rPr lang="en-US" dirty="0">
                <a:solidFill>
                  <a:srgbClr val="FFFF00"/>
                </a:solidFill>
                <a:latin typeface="Arial Narrow" panose="020B0606020202030204" pitchFamily="34" charset="0"/>
                <a:cs typeface="Consolas" panose="020B0609020204030204" pitchFamily="49" charset="0"/>
              </a:rPr>
              <a:t>;</a:t>
            </a:r>
          </a:p>
          <a:p>
            <a:pPr>
              <a:lnSpc>
                <a:spcPct val="80000"/>
              </a:lnSpc>
            </a:pPr>
            <a:r>
              <a:rPr lang="en-US" dirty="0">
                <a:solidFill>
                  <a:schemeClr val="bg1"/>
                </a:solidFill>
                <a:latin typeface="Arial Narrow" panose="020B0606020202030204" pitchFamily="34" charset="0"/>
                <a:cs typeface="Consolas" panose="020B0609020204030204" pitchFamily="49" charset="0"/>
              </a:rPr>
              <a:t>void </a:t>
            </a:r>
            <a:r>
              <a:rPr lang="en-US" dirty="0" err="1">
                <a:solidFill>
                  <a:srgbClr val="00FF00"/>
                </a:solidFill>
                <a:latin typeface="Arial Narrow" panose="020B0606020202030204" pitchFamily="34" charset="0"/>
                <a:cs typeface="Consolas" panose="020B0609020204030204" pitchFamily="49" charset="0"/>
              </a:rPr>
              <a:t>updateString</a:t>
            </a:r>
            <a:r>
              <a:rPr lang="en-US" dirty="0">
                <a:solidFill>
                  <a:schemeClr val="bg1"/>
                </a:solidFill>
                <a:latin typeface="Arial Narrow" panose="020B0606020202030204" pitchFamily="34" charset="0"/>
                <a:cs typeface="Consolas" panose="020B0609020204030204" pitchFamily="49" charset="0"/>
              </a:rPr>
              <a:t>(either *X, char* V)</a:t>
            </a:r>
          </a:p>
          <a:p>
            <a:pPr>
              <a:lnSpc>
                <a:spcPct val="80000"/>
              </a:lnSpc>
            </a:pPr>
            <a:r>
              <a:rPr lang="en-US" dirty="0">
                <a:solidFill>
                  <a:schemeClr val="bg1"/>
                </a:solidFill>
                <a:latin typeface="Arial Narrow" panose="020B0606020202030204" pitchFamily="34" charset="0"/>
                <a:cs typeface="Consolas" panose="020B0609020204030204" pitchFamily="49" charset="0"/>
              </a:rPr>
              <a:t>{  if (</a:t>
            </a:r>
            <a:r>
              <a:rPr lang="en-US" dirty="0">
                <a:solidFill>
                  <a:srgbClr val="FF99FF"/>
                </a:solidFill>
                <a:latin typeface="Arial Narrow" panose="020B0606020202030204" pitchFamily="34" charset="0"/>
                <a:cs typeface="Consolas" panose="020B0609020204030204" pitchFamily="49" charset="0"/>
              </a:rPr>
              <a:t>X-&gt;determinant</a:t>
            </a:r>
            <a:r>
              <a:rPr lang="en-US" dirty="0">
                <a:solidFill>
                  <a:schemeClr val="bg1"/>
                </a:solidFill>
                <a:latin typeface="Arial Narrow" panose="020B0606020202030204" pitchFamily="34" charset="0"/>
                <a:cs typeface="Consolas" panose="020B0609020204030204" pitchFamily="49" charset="0"/>
              </a:rPr>
              <a:t>==</a:t>
            </a:r>
            <a:r>
              <a:rPr lang="en-US" dirty="0">
                <a:solidFill>
                  <a:srgbClr val="0099FF"/>
                </a:solidFill>
                <a:latin typeface="Arial Narrow" panose="020B0606020202030204" pitchFamily="34" charset="0"/>
                <a:cs typeface="Consolas" panose="020B0609020204030204" pitchFamily="49" charset="0"/>
              </a:rPr>
              <a:t>String</a:t>
            </a:r>
            <a:r>
              <a:rPr lang="en-US" dirty="0">
                <a:solidFill>
                  <a:schemeClr val="bg1"/>
                </a:solidFill>
                <a:latin typeface="Arial Narrow" panose="020B0606020202030204" pitchFamily="34" charset="0"/>
                <a:cs typeface="Consolas" panose="020B0609020204030204" pitchFamily="49" charset="0"/>
              </a:rPr>
              <a:t>) free(X-&gt;v-&gt;s);</a:t>
            </a:r>
          </a:p>
          <a:p>
            <a:pPr>
              <a:lnSpc>
                <a:spcPct val="80000"/>
              </a:lnSpc>
            </a:pPr>
            <a:r>
              <a:rPr lang="en-US" dirty="0">
                <a:solidFill>
                  <a:schemeClr val="bg1"/>
                </a:solidFill>
                <a:latin typeface="Arial Narrow" panose="020B0606020202030204" pitchFamily="34" charset="0"/>
                <a:cs typeface="Consolas" panose="020B0609020204030204" pitchFamily="49" charset="0"/>
              </a:rPr>
              <a:t>   </a:t>
            </a:r>
            <a:r>
              <a:rPr lang="en-US" dirty="0">
                <a:solidFill>
                  <a:srgbClr val="FF99FF"/>
                </a:solidFill>
                <a:latin typeface="Arial Narrow" panose="020B0606020202030204" pitchFamily="34" charset="0"/>
                <a:cs typeface="Consolas" panose="020B0609020204030204" pitchFamily="49" charset="0"/>
              </a:rPr>
              <a:t>X-&gt;determinant</a:t>
            </a:r>
            <a:r>
              <a:rPr lang="en-US" dirty="0">
                <a:solidFill>
                  <a:schemeClr val="bg1"/>
                </a:solidFill>
                <a:latin typeface="Arial Narrow" panose="020B0606020202030204" pitchFamily="34" charset="0"/>
                <a:cs typeface="Consolas" panose="020B0609020204030204" pitchFamily="49" charset="0"/>
              </a:rPr>
              <a:t>=</a:t>
            </a:r>
            <a:r>
              <a:rPr lang="en-US" dirty="0">
                <a:solidFill>
                  <a:srgbClr val="0099FF"/>
                </a:solidFill>
                <a:latin typeface="Arial Narrow" panose="020B0606020202030204" pitchFamily="34" charset="0"/>
                <a:cs typeface="Consolas" panose="020B0609020204030204" pitchFamily="49" charset="0"/>
              </a:rPr>
              <a:t>String</a:t>
            </a:r>
            <a:r>
              <a:rPr lang="en-US" dirty="0">
                <a:solidFill>
                  <a:schemeClr val="bg1"/>
                </a:solidFill>
                <a:latin typeface="Arial Narrow" panose="020B0606020202030204" pitchFamily="34" charset="0"/>
                <a:cs typeface="Consolas" panose="020B0609020204030204" pitchFamily="49" charset="0"/>
              </a:rPr>
              <a:t>;   X-&gt;v-&gt;s = </a:t>
            </a:r>
            <a:r>
              <a:rPr lang="en-US" dirty="0" err="1">
                <a:solidFill>
                  <a:schemeClr val="bg1"/>
                </a:solidFill>
                <a:latin typeface="Arial Narrow" panose="020B0606020202030204" pitchFamily="34" charset="0"/>
                <a:cs typeface="Consolas" panose="020B0609020204030204" pitchFamily="49" charset="0"/>
              </a:rPr>
              <a:t>strdup</a:t>
            </a:r>
            <a:r>
              <a:rPr lang="en-US" dirty="0">
                <a:solidFill>
                  <a:schemeClr val="bg1"/>
                </a:solidFill>
                <a:latin typeface="Arial Narrow" panose="020B0606020202030204" pitchFamily="34" charset="0"/>
                <a:cs typeface="Consolas" panose="020B0609020204030204" pitchFamily="49" charset="0"/>
              </a:rPr>
              <a:t>(V); </a:t>
            </a:r>
            <a:r>
              <a:rPr lang="en-US" dirty="0" smtClean="0">
                <a:solidFill>
                  <a:schemeClr val="bg1"/>
                </a:solidFill>
                <a:latin typeface="Arial Narrow" panose="020B0606020202030204" pitchFamily="34" charset="0"/>
                <a:cs typeface="Consolas" panose="020B0609020204030204" pitchFamily="49" charset="0"/>
              </a:rPr>
              <a:t>   }</a:t>
            </a:r>
            <a:endParaRPr lang="en-US" dirty="0">
              <a:solidFill>
                <a:schemeClr val="bg1"/>
              </a:solidFill>
              <a:latin typeface="Arial Narrow" panose="020B0606020202030204" pitchFamily="34" charset="0"/>
              <a:cs typeface="Consolas" panose="020B0609020204030204" pitchFamily="49" charset="0"/>
            </a:endParaRPr>
          </a:p>
          <a:p>
            <a:pPr>
              <a:lnSpc>
                <a:spcPct val="80000"/>
              </a:lnSpc>
            </a:pPr>
            <a:r>
              <a:rPr lang="en-US" dirty="0">
                <a:solidFill>
                  <a:schemeClr val="bg1"/>
                </a:solidFill>
                <a:latin typeface="Arial Narrow" panose="020B0606020202030204" pitchFamily="34" charset="0"/>
                <a:cs typeface="Consolas" panose="020B0609020204030204" pitchFamily="49" charset="0"/>
              </a:rPr>
              <a:t>void </a:t>
            </a:r>
            <a:r>
              <a:rPr lang="en-US" dirty="0" err="1">
                <a:solidFill>
                  <a:srgbClr val="00FF00"/>
                </a:solidFill>
                <a:latin typeface="Arial Narrow" panose="020B0606020202030204" pitchFamily="34" charset="0"/>
                <a:cs typeface="Consolas" panose="020B0609020204030204" pitchFamily="49" charset="0"/>
              </a:rPr>
              <a:t>updateInteger</a:t>
            </a:r>
            <a:r>
              <a:rPr lang="en-US" dirty="0">
                <a:solidFill>
                  <a:schemeClr val="bg1"/>
                </a:solidFill>
                <a:latin typeface="Arial Narrow" panose="020B0606020202030204" pitchFamily="34" charset="0"/>
                <a:cs typeface="Consolas" panose="020B0609020204030204" pitchFamily="49" charset="0"/>
              </a:rPr>
              <a:t>(either *X, int V)</a:t>
            </a:r>
          </a:p>
          <a:p>
            <a:pPr>
              <a:lnSpc>
                <a:spcPct val="80000"/>
              </a:lnSpc>
            </a:pPr>
            <a:r>
              <a:rPr lang="en-US" dirty="0">
                <a:solidFill>
                  <a:schemeClr val="bg1"/>
                </a:solidFill>
                <a:latin typeface="Arial Narrow" panose="020B0606020202030204" pitchFamily="34" charset="0"/>
                <a:cs typeface="Consolas" panose="020B0609020204030204" pitchFamily="49" charset="0"/>
              </a:rPr>
              <a:t>{  if (</a:t>
            </a:r>
            <a:r>
              <a:rPr lang="en-US" dirty="0">
                <a:solidFill>
                  <a:srgbClr val="FF99FF"/>
                </a:solidFill>
                <a:latin typeface="Arial Narrow" panose="020B0606020202030204" pitchFamily="34" charset="0"/>
                <a:cs typeface="Consolas" panose="020B0609020204030204" pitchFamily="49" charset="0"/>
              </a:rPr>
              <a:t>X-&gt;determinant</a:t>
            </a:r>
            <a:r>
              <a:rPr lang="en-US" dirty="0">
                <a:solidFill>
                  <a:schemeClr val="bg1"/>
                </a:solidFill>
                <a:latin typeface="Arial Narrow" panose="020B0606020202030204" pitchFamily="34" charset="0"/>
                <a:cs typeface="Consolas" panose="020B0609020204030204" pitchFamily="49" charset="0"/>
              </a:rPr>
              <a:t>==</a:t>
            </a:r>
            <a:r>
              <a:rPr lang="en-US" dirty="0">
                <a:solidFill>
                  <a:srgbClr val="0099FF"/>
                </a:solidFill>
                <a:latin typeface="Arial Narrow" panose="020B0606020202030204" pitchFamily="34" charset="0"/>
                <a:cs typeface="Consolas" panose="020B0609020204030204" pitchFamily="49" charset="0"/>
              </a:rPr>
              <a:t>String</a:t>
            </a:r>
            <a:r>
              <a:rPr lang="en-US" dirty="0">
                <a:solidFill>
                  <a:schemeClr val="bg1"/>
                </a:solidFill>
                <a:latin typeface="Arial Narrow" panose="020B0606020202030204" pitchFamily="34" charset="0"/>
                <a:cs typeface="Consolas" panose="020B0609020204030204" pitchFamily="49" charset="0"/>
              </a:rPr>
              <a:t>) free(X-&gt;v-&gt;s);</a:t>
            </a:r>
          </a:p>
          <a:p>
            <a:pPr>
              <a:lnSpc>
                <a:spcPct val="80000"/>
              </a:lnSpc>
            </a:pPr>
            <a:r>
              <a:rPr lang="en-US" dirty="0">
                <a:solidFill>
                  <a:srgbClr val="0099FF"/>
                </a:solidFill>
                <a:latin typeface="Arial Narrow" panose="020B0606020202030204" pitchFamily="34" charset="0"/>
                <a:cs typeface="Consolas" panose="020B0609020204030204" pitchFamily="49" charset="0"/>
              </a:rPr>
              <a:t>   </a:t>
            </a:r>
            <a:r>
              <a:rPr lang="en-US" dirty="0">
                <a:solidFill>
                  <a:srgbClr val="FF99FF"/>
                </a:solidFill>
                <a:latin typeface="Arial Narrow" panose="020B0606020202030204" pitchFamily="34" charset="0"/>
                <a:cs typeface="Consolas" panose="020B0609020204030204" pitchFamily="49" charset="0"/>
              </a:rPr>
              <a:t>X-&gt;determinant</a:t>
            </a:r>
            <a:r>
              <a:rPr lang="en-US" dirty="0">
                <a:solidFill>
                  <a:schemeClr val="bg1"/>
                </a:solidFill>
                <a:latin typeface="Arial Narrow" panose="020B0606020202030204" pitchFamily="34" charset="0"/>
                <a:cs typeface="Consolas" panose="020B0609020204030204" pitchFamily="49" charset="0"/>
              </a:rPr>
              <a:t>=</a:t>
            </a:r>
            <a:r>
              <a:rPr lang="en-US" dirty="0">
                <a:solidFill>
                  <a:srgbClr val="0099FF"/>
                </a:solidFill>
                <a:latin typeface="Arial Narrow" panose="020B0606020202030204" pitchFamily="34" charset="0"/>
                <a:cs typeface="Consolas" panose="020B0609020204030204" pitchFamily="49" charset="0"/>
              </a:rPr>
              <a:t>Integer</a:t>
            </a:r>
            <a:r>
              <a:rPr lang="en-US" dirty="0">
                <a:solidFill>
                  <a:schemeClr val="bg1"/>
                </a:solidFill>
                <a:latin typeface="Arial Narrow" panose="020B0606020202030204" pitchFamily="34" charset="0"/>
                <a:cs typeface="Consolas" panose="020B0609020204030204" pitchFamily="49" charset="0"/>
              </a:rPr>
              <a:t>;  X-&gt;v-&gt;</a:t>
            </a:r>
            <a:r>
              <a:rPr lang="en-US" dirty="0" err="1">
                <a:solidFill>
                  <a:schemeClr val="bg1"/>
                </a:solidFill>
                <a:latin typeface="Arial Narrow" panose="020B0606020202030204" pitchFamily="34" charset="0"/>
                <a:cs typeface="Consolas" panose="020B0609020204030204" pitchFamily="49" charset="0"/>
              </a:rPr>
              <a:t>i</a:t>
            </a:r>
            <a:r>
              <a:rPr lang="en-US" dirty="0">
                <a:solidFill>
                  <a:schemeClr val="bg1"/>
                </a:solidFill>
                <a:latin typeface="Arial Narrow" panose="020B0606020202030204" pitchFamily="34" charset="0"/>
                <a:cs typeface="Consolas" panose="020B0609020204030204" pitchFamily="49" charset="0"/>
              </a:rPr>
              <a:t> = V;   </a:t>
            </a:r>
            <a:r>
              <a:rPr lang="en-US" dirty="0" smtClean="0">
                <a:solidFill>
                  <a:schemeClr val="bg1"/>
                </a:solidFill>
                <a:latin typeface="Arial Narrow" panose="020B0606020202030204" pitchFamily="34" charset="0"/>
                <a:cs typeface="Consolas" panose="020B0609020204030204" pitchFamily="49" charset="0"/>
              </a:rPr>
              <a:t>              </a:t>
            </a:r>
            <a:r>
              <a:rPr lang="en-US" dirty="0">
                <a:solidFill>
                  <a:schemeClr val="bg1"/>
                </a:solidFill>
                <a:latin typeface="Arial Narrow" panose="020B0606020202030204" pitchFamily="34" charset="0"/>
                <a:cs typeface="Consolas" panose="020B0609020204030204" pitchFamily="49" charset="0"/>
              </a:rPr>
              <a:t>}</a:t>
            </a:r>
          </a:p>
          <a:p>
            <a:pPr>
              <a:lnSpc>
                <a:spcPct val="80000"/>
              </a:lnSpc>
            </a:pPr>
            <a:r>
              <a:rPr lang="en-US" dirty="0">
                <a:solidFill>
                  <a:schemeClr val="bg1"/>
                </a:solidFill>
                <a:latin typeface="Arial Narrow" panose="020B0606020202030204" pitchFamily="34" charset="0"/>
                <a:cs typeface="Consolas" panose="020B0609020204030204" pitchFamily="49" charset="0"/>
              </a:rPr>
              <a:t>int </a:t>
            </a:r>
            <a:r>
              <a:rPr lang="en-US" dirty="0" err="1">
                <a:solidFill>
                  <a:srgbClr val="C55A11"/>
                </a:solidFill>
                <a:latin typeface="Arial Narrow" panose="020B0606020202030204" pitchFamily="34" charset="0"/>
                <a:cs typeface="Consolas" panose="020B0609020204030204" pitchFamily="49" charset="0"/>
              </a:rPr>
              <a:t>getInt</a:t>
            </a:r>
            <a:r>
              <a:rPr lang="en-US" dirty="0">
                <a:solidFill>
                  <a:schemeClr val="bg1"/>
                </a:solidFill>
                <a:latin typeface="Arial Narrow" panose="020B0606020202030204" pitchFamily="34" charset="0"/>
                <a:cs typeface="Consolas" panose="020B0609020204030204" pitchFamily="49" charset="0"/>
              </a:rPr>
              <a:t>(either *X)</a:t>
            </a:r>
          </a:p>
          <a:p>
            <a:pPr>
              <a:lnSpc>
                <a:spcPct val="80000"/>
              </a:lnSpc>
            </a:pPr>
            <a:r>
              <a:rPr lang="en-US" dirty="0">
                <a:solidFill>
                  <a:schemeClr val="bg1"/>
                </a:solidFill>
                <a:latin typeface="Arial Narrow" panose="020B0606020202030204" pitchFamily="34" charset="0"/>
                <a:cs typeface="Consolas" panose="020B0609020204030204" pitchFamily="49" charset="0"/>
              </a:rPr>
              <a:t>{  if (</a:t>
            </a:r>
            <a:r>
              <a:rPr lang="en-US" dirty="0">
                <a:solidFill>
                  <a:srgbClr val="FF99FF"/>
                </a:solidFill>
                <a:latin typeface="Arial Narrow" panose="020B0606020202030204" pitchFamily="34" charset="0"/>
                <a:cs typeface="Consolas" panose="020B0609020204030204" pitchFamily="49" charset="0"/>
              </a:rPr>
              <a:t>X-&gt;determinant</a:t>
            </a:r>
            <a:r>
              <a:rPr lang="en-US" dirty="0">
                <a:solidFill>
                  <a:schemeClr val="bg1"/>
                </a:solidFill>
                <a:latin typeface="Arial Narrow" panose="020B0606020202030204" pitchFamily="34" charset="0"/>
                <a:cs typeface="Consolas" panose="020B0609020204030204" pitchFamily="49" charset="0"/>
              </a:rPr>
              <a:t>==</a:t>
            </a:r>
            <a:r>
              <a:rPr lang="en-US" dirty="0">
                <a:solidFill>
                  <a:srgbClr val="0099FF"/>
                </a:solidFill>
                <a:latin typeface="Arial Narrow" panose="020B0606020202030204" pitchFamily="34" charset="0"/>
                <a:cs typeface="Consolas" panose="020B0609020204030204" pitchFamily="49" charset="0"/>
              </a:rPr>
              <a:t>Integer</a:t>
            </a:r>
            <a:r>
              <a:rPr lang="en-US" dirty="0">
                <a:solidFill>
                  <a:schemeClr val="bg1"/>
                </a:solidFill>
                <a:latin typeface="Arial Narrow" panose="020B0606020202030204" pitchFamily="34" charset="0"/>
                <a:cs typeface="Consolas" panose="020B0609020204030204" pitchFamily="49" charset="0"/>
              </a:rPr>
              <a:t>) return X-&gt;v-&gt;</a:t>
            </a:r>
            <a:r>
              <a:rPr lang="en-US" dirty="0" err="1">
                <a:solidFill>
                  <a:schemeClr val="bg1"/>
                </a:solidFill>
                <a:latin typeface="Arial Narrow" panose="020B0606020202030204" pitchFamily="34" charset="0"/>
                <a:cs typeface="Consolas" panose="020B0609020204030204" pitchFamily="49" charset="0"/>
              </a:rPr>
              <a:t>i</a:t>
            </a:r>
            <a:r>
              <a:rPr lang="en-US" dirty="0">
                <a:solidFill>
                  <a:schemeClr val="bg1"/>
                </a:solidFill>
                <a:latin typeface="Arial Narrow" panose="020B0606020202030204" pitchFamily="34" charset="0"/>
                <a:cs typeface="Consolas" panose="020B0609020204030204" pitchFamily="49" charset="0"/>
              </a:rPr>
              <a:t>;</a:t>
            </a:r>
          </a:p>
          <a:p>
            <a:pPr>
              <a:lnSpc>
                <a:spcPct val="80000"/>
              </a:lnSpc>
            </a:pPr>
            <a:r>
              <a:rPr lang="en-US" dirty="0">
                <a:solidFill>
                  <a:schemeClr val="bg1"/>
                </a:solidFill>
                <a:latin typeface="Arial Narrow" panose="020B0606020202030204" pitchFamily="34" charset="0"/>
                <a:cs typeface="Consolas" panose="020B0609020204030204" pitchFamily="49" charset="0"/>
              </a:rPr>
              <a:t>   </a:t>
            </a:r>
            <a:r>
              <a:rPr lang="en-US" dirty="0" err="1" smtClean="0">
                <a:solidFill>
                  <a:schemeClr val="bg1"/>
                </a:solidFill>
                <a:latin typeface="Arial Narrow" panose="020B0606020202030204" pitchFamily="34" charset="0"/>
                <a:cs typeface="Consolas" panose="020B0609020204030204" pitchFamily="49" charset="0"/>
              </a:rPr>
              <a:t>printf</a:t>
            </a:r>
            <a:r>
              <a:rPr lang="en-US" dirty="0" smtClean="0">
                <a:solidFill>
                  <a:schemeClr val="bg1"/>
                </a:solidFill>
                <a:latin typeface="Arial Narrow" panose="020B0606020202030204" pitchFamily="34" charset="0"/>
                <a:cs typeface="Consolas" panose="020B0609020204030204" pitchFamily="49" charset="0"/>
              </a:rPr>
              <a:t>(</a:t>
            </a:r>
            <a:r>
              <a:rPr lang="en-US" dirty="0" smtClean="0">
                <a:solidFill>
                  <a:srgbClr val="FF0000"/>
                </a:solidFill>
                <a:latin typeface="Arial Narrow" panose="020B0606020202030204" pitchFamily="34" charset="0"/>
                <a:cs typeface="Consolas" panose="020B0609020204030204" pitchFamily="49" charset="0"/>
              </a:rPr>
              <a:t>"</a:t>
            </a:r>
            <a:r>
              <a:rPr lang="en-US" dirty="0" err="1">
                <a:solidFill>
                  <a:srgbClr val="FF0000"/>
                </a:solidFill>
                <a:latin typeface="Arial Narrow" panose="020B0606020202030204" pitchFamily="34" charset="0"/>
                <a:cs typeface="Consolas" panose="020B0609020204030204" pitchFamily="49" charset="0"/>
              </a:rPr>
              <a:t>TypeError</a:t>
            </a:r>
            <a:r>
              <a:rPr lang="en-US" dirty="0">
                <a:solidFill>
                  <a:srgbClr val="FF0000"/>
                </a:solidFill>
                <a:latin typeface="Arial Narrow" panose="020B0606020202030204" pitchFamily="34" charset="0"/>
                <a:cs typeface="Consolas" panose="020B0609020204030204" pitchFamily="49" charset="0"/>
              </a:rPr>
              <a:t>:</a:t>
            </a:r>
            <a:r>
              <a:rPr lang="en-US" sz="1600" dirty="0">
                <a:solidFill>
                  <a:srgbClr val="FF0000"/>
                </a:solidFill>
                <a:latin typeface="Arial Narrow" panose="020B0606020202030204" pitchFamily="34" charset="0"/>
                <a:cs typeface="Consolas" panose="020B0609020204030204" pitchFamily="49" charset="0"/>
              </a:rPr>
              <a:t> </a:t>
            </a:r>
            <a:r>
              <a:rPr lang="en-US" dirty="0">
                <a:solidFill>
                  <a:srgbClr val="FF0000"/>
                </a:solidFill>
                <a:latin typeface="Arial Narrow" panose="020B0606020202030204" pitchFamily="34" charset="0"/>
                <a:cs typeface="Consolas" panose="020B0609020204030204" pitchFamily="49" charset="0"/>
              </a:rPr>
              <a:t>variable</a:t>
            </a:r>
            <a:r>
              <a:rPr lang="en-US" sz="1600" dirty="0">
                <a:solidFill>
                  <a:srgbClr val="FF0000"/>
                </a:solidFill>
                <a:latin typeface="Arial Narrow" panose="020B0606020202030204" pitchFamily="34" charset="0"/>
                <a:cs typeface="Consolas" panose="020B0609020204030204" pitchFamily="49" charset="0"/>
              </a:rPr>
              <a:t> </a:t>
            </a:r>
            <a:r>
              <a:rPr lang="en-US" dirty="0">
                <a:solidFill>
                  <a:srgbClr val="FF0000"/>
                </a:solidFill>
                <a:latin typeface="Arial Narrow" panose="020B0606020202030204" pitchFamily="34" charset="0"/>
                <a:cs typeface="Consolas" panose="020B0609020204030204" pitchFamily="49" charset="0"/>
              </a:rPr>
              <a:t>not integer\n</a:t>
            </a:r>
            <a:r>
              <a:rPr lang="en-US" dirty="0" smtClean="0">
                <a:solidFill>
                  <a:srgbClr val="FF0000"/>
                </a:solidFill>
                <a:latin typeface="Arial Narrow" panose="020B0606020202030204" pitchFamily="34" charset="0"/>
                <a:cs typeface="Consolas" panose="020B0609020204030204" pitchFamily="49" charset="0"/>
              </a:rPr>
              <a:t>"</a:t>
            </a:r>
            <a:r>
              <a:rPr lang="en-US" dirty="0" smtClean="0">
                <a:solidFill>
                  <a:schemeClr val="bg1"/>
                </a:solidFill>
                <a:latin typeface="Arial Narrow" panose="020B0606020202030204" pitchFamily="34" charset="0"/>
                <a:cs typeface="Consolas" panose="020B0609020204030204" pitchFamily="49" charset="0"/>
              </a:rPr>
              <a:t>);exit(2);}</a:t>
            </a:r>
            <a:endParaRPr lang="en-US" dirty="0">
              <a:solidFill>
                <a:schemeClr val="bg1"/>
              </a:solidFill>
              <a:latin typeface="Arial Narrow" panose="020B0606020202030204" pitchFamily="34" charset="0"/>
              <a:cs typeface="Consolas" panose="020B0609020204030204" pitchFamily="49" charset="0"/>
            </a:endParaRPr>
          </a:p>
          <a:p>
            <a:pPr>
              <a:lnSpc>
                <a:spcPct val="80000"/>
              </a:lnSpc>
            </a:pPr>
            <a:r>
              <a:rPr lang="en-US" dirty="0">
                <a:solidFill>
                  <a:schemeClr val="bg1"/>
                </a:solidFill>
                <a:latin typeface="Arial Narrow" panose="020B0606020202030204" pitchFamily="34" charset="0"/>
                <a:cs typeface="Consolas" panose="020B0609020204030204" pitchFamily="49" charset="0"/>
              </a:rPr>
              <a:t>int main()</a:t>
            </a:r>
          </a:p>
          <a:p>
            <a:pPr>
              <a:lnSpc>
                <a:spcPct val="80000"/>
              </a:lnSpc>
            </a:pPr>
            <a:r>
              <a:rPr lang="en-US" dirty="0">
                <a:solidFill>
                  <a:schemeClr val="bg1"/>
                </a:solidFill>
                <a:latin typeface="Arial Narrow" panose="020B0606020202030204" pitchFamily="34" charset="0"/>
                <a:cs typeface="Consolas" panose="020B0609020204030204" pitchFamily="49" charset="0"/>
              </a:rPr>
              <a:t>{  either x[1</a:t>
            </a:r>
            <a:r>
              <a:rPr lang="en-US" dirty="0" smtClean="0">
                <a:solidFill>
                  <a:schemeClr val="bg1"/>
                </a:solidFill>
                <a:latin typeface="Arial Narrow" panose="020B0606020202030204" pitchFamily="34" charset="0"/>
                <a:cs typeface="Consolas" panose="020B0609020204030204" pitchFamily="49" charset="0"/>
              </a:rPr>
              <a:t>];</a:t>
            </a:r>
            <a:r>
              <a:rPr lang="en-US" dirty="0" smtClean="0">
                <a:solidFill>
                  <a:srgbClr val="FF99FF"/>
                </a:solidFill>
                <a:latin typeface="Arial Narrow" panose="020B0606020202030204" pitchFamily="34" charset="0"/>
                <a:cs typeface="Consolas" panose="020B0609020204030204" pitchFamily="49" charset="0"/>
              </a:rPr>
              <a:t>x-&gt;</a:t>
            </a:r>
            <a:r>
              <a:rPr lang="en-US" dirty="0">
                <a:solidFill>
                  <a:srgbClr val="FF99FF"/>
                </a:solidFill>
                <a:latin typeface="Arial Narrow" panose="020B0606020202030204" pitchFamily="34" charset="0"/>
                <a:cs typeface="Consolas" panose="020B0609020204030204" pitchFamily="49" charset="0"/>
              </a:rPr>
              <a:t>determinant</a:t>
            </a:r>
            <a:r>
              <a:rPr lang="en-US" dirty="0">
                <a:solidFill>
                  <a:schemeClr val="bg1"/>
                </a:solidFill>
                <a:latin typeface="Arial Narrow" panose="020B0606020202030204" pitchFamily="34" charset="0"/>
                <a:cs typeface="Consolas" panose="020B0609020204030204" pitchFamily="49" charset="0"/>
              </a:rPr>
              <a:t>=</a:t>
            </a:r>
            <a:r>
              <a:rPr lang="en-US" dirty="0">
                <a:solidFill>
                  <a:srgbClr val="0099FF"/>
                </a:solidFill>
                <a:latin typeface="Arial Narrow" panose="020B0606020202030204" pitchFamily="34" charset="0"/>
                <a:cs typeface="Consolas" panose="020B0609020204030204" pitchFamily="49" charset="0"/>
              </a:rPr>
              <a:t>Integer</a:t>
            </a:r>
            <a:r>
              <a:rPr lang="en-US" dirty="0">
                <a:solidFill>
                  <a:schemeClr val="bg1"/>
                </a:solidFill>
                <a:latin typeface="Arial Narrow" panose="020B0606020202030204" pitchFamily="34" charset="0"/>
                <a:cs typeface="Consolas" panose="020B0609020204030204" pitchFamily="49" charset="0"/>
              </a:rPr>
              <a:t>;</a:t>
            </a:r>
          </a:p>
          <a:p>
            <a:pPr>
              <a:lnSpc>
                <a:spcPct val="80000"/>
              </a:lnSpc>
            </a:pPr>
            <a:r>
              <a:rPr lang="en-US" dirty="0">
                <a:solidFill>
                  <a:schemeClr val="bg1"/>
                </a:solidFill>
                <a:latin typeface="Arial Narrow" panose="020B0606020202030204" pitchFamily="34" charset="0"/>
                <a:cs typeface="Consolas" panose="020B0609020204030204" pitchFamily="49" charset="0"/>
              </a:rPr>
              <a:t>                    </a:t>
            </a:r>
            <a:r>
              <a:rPr lang="en-US" dirty="0" smtClean="0">
                <a:solidFill>
                  <a:schemeClr val="bg1"/>
                </a:solidFill>
                <a:latin typeface="Arial Narrow" panose="020B0606020202030204" pitchFamily="34" charset="0"/>
                <a:cs typeface="Consolas" panose="020B0609020204030204" pitchFamily="49" charset="0"/>
              </a:rPr>
              <a:t>x-&gt;v</a:t>
            </a:r>
            <a:r>
              <a:rPr lang="en-US" spc="-10" dirty="0" smtClean="0">
                <a:solidFill>
                  <a:schemeClr val="bg1"/>
                </a:solidFill>
                <a:latin typeface="Arial Narrow" panose="020B0606020202030204" pitchFamily="34" charset="0"/>
                <a:cs typeface="Consolas" panose="020B0609020204030204" pitchFamily="49" charset="0"/>
              </a:rPr>
              <a:t>=(generic</a:t>
            </a:r>
            <a:r>
              <a:rPr lang="en-US" spc="-10" dirty="0">
                <a:solidFill>
                  <a:schemeClr val="bg1"/>
                </a:solidFill>
                <a:latin typeface="Arial Narrow" panose="020B0606020202030204" pitchFamily="34" charset="0"/>
                <a:cs typeface="Consolas" panose="020B0609020204030204" pitchFamily="49" charset="0"/>
              </a:rPr>
              <a:t>*)</a:t>
            </a:r>
            <a:r>
              <a:rPr lang="en-US" spc="-10" dirty="0" err="1">
                <a:solidFill>
                  <a:schemeClr val="bg1"/>
                </a:solidFill>
                <a:latin typeface="Arial Narrow" panose="020B0606020202030204" pitchFamily="34" charset="0"/>
                <a:cs typeface="Consolas" panose="020B0609020204030204" pitchFamily="49" charset="0"/>
              </a:rPr>
              <a:t>malloc</a:t>
            </a:r>
            <a:r>
              <a:rPr lang="en-US" spc="-10" dirty="0">
                <a:solidFill>
                  <a:schemeClr val="bg1"/>
                </a:solidFill>
                <a:latin typeface="Arial Narrow" panose="020B0606020202030204" pitchFamily="34" charset="0"/>
                <a:cs typeface="Consolas" panose="020B0609020204030204" pitchFamily="49" charset="0"/>
              </a:rPr>
              <a:t>(</a:t>
            </a:r>
            <a:r>
              <a:rPr lang="en-US" spc="-10" dirty="0" err="1">
                <a:solidFill>
                  <a:schemeClr val="bg1"/>
                </a:solidFill>
                <a:latin typeface="Arial Narrow" panose="020B0606020202030204" pitchFamily="34" charset="0"/>
                <a:cs typeface="Consolas" panose="020B0609020204030204" pitchFamily="49" charset="0"/>
              </a:rPr>
              <a:t>sizeof</a:t>
            </a:r>
            <a:r>
              <a:rPr lang="en-US" spc="-10" dirty="0">
                <a:solidFill>
                  <a:schemeClr val="bg1"/>
                </a:solidFill>
                <a:latin typeface="Arial Narrow" panose="020B0606020202030204" pitchFamily="34" charset="0"/>
                <a:cs typeface="Consolas" panose="020B0609020204030204" pitchFamily="49" charset="0"/>
              </a:rPr>
              <a:t>(generic));</a:t>
            </a:r>
          </a:p>
          <a:p>
            <a:pPr>
              <a:lnSpc>
                <a:spcPct val="80000"/>
              </a:lnSpc>
            </a:pPr>
            <a:r>
              <a:rPr lang="en-US" dirty="0">
                <a:solidFill>
                  <a:schemeClr val="bg1"/>
                </a:solidFill>
                <a:latin typeface="Arial Narrow" panose="020B0606020202030204" pitchFamily="34" charset="0"/>
                <a:cs typeface="Consolas" panose="020B0609020204030204" pitchFamily="49" charset="0"/>
              </a:rPr>
              <a:t>  </a:t>
            </a:r>
            <a:r>
              <a:rPr lang="en-US" dirty="0">
                <a:solidFill>
                  <a:srgbClr val="00FF00"/>
                </a:solidFill>
                <a:latin typeface="Arial Narrow" panose="020B0606020202030204" pitchFamily="34" charset="0"/>
                <a:cs typeface="Consolas" panose="020B0609020204030204" pitchFamily="49" charset="0"/>
              </a:rPr>
              <a:t> </a:t>
            </a:r>
            <a:r>
              <a:rPr lang="en-US" dirty="0" err="1">
                <a:solidFill>
                  <a:srgbClr val="00FF00"/>
                </a:solidFill>
                <a:latin typeface="Arial Narrow" panose="020B0606020202030204" pitchFamily="34" charset="0"/>
                <a:cs typeface="Consolas" panose="020B0609020204030204" pitchFamily="49" charset="0"/>
              </a:rPr>
              <a:t>updateInteger</a:t>
            </a:r>
            <a:r>
              <a:rPr lang="en-US" dirty="0">
                <a:solidFill>
                  <a:srgbClr val="00FF00"/>
                </a:solidFill>
                <a:latin typeface="Arial Narrow" panose="020B0606020202030204" pitchFamily="34" charset="0"/>
                <a:cs typeface="Consolas" panose="020B0609020204030204" pitchFamily="49" charset="0"/>
              </a:rPr>
              <a:t>(x,5);</a:t>
            </a:r>
          </a:p>
          <a:p>
            <a:pPr>
              <a:lnSpc>
                <a:spcPct val="80000"/>
              </a:lnSpc>
            </a:pPr>
            <a:r>
              <a:rPr lang="en-US" dirty="0">
                <a:solidFill>
                  <a:schemeClr val="bg1"/>
                </a:solidFill>
                <a:latin typeface="Arial Narrow" panose="020B0606020202030204" pitchFamily="34" charset="0"/>
                <a:cs typeface="Consolas" panose="020B0609020204030204" pitchFamily="49" charset="0"/>
              </a:rPr>
              <a:t>   </a:t>
            </a:r>
            <a:r>
              <a:rPr lang="en-US" dirty="0" err="1">
                <a:solidFill>
                  <a:schemeClr val="bg1"/>
                </a:solidFill>
                <a:latin typeface="Arial Narrow" panose="020B0606020202030204" pitchFamily="34" charset="0"/>
                <a:cs typeface="Consolas" panose="020B0609020204030204" pitchFamily="49" charset="0"/>
              </a:rPr>
              <a:t>printf</a:t>
            </a:r>
            <a:r>
              <a:rPr lang="en-US" dirty="0">
                <a:solidFill>
                  <a:schemeClr val="bg1"/>
                </a:solidFill>
                <a:latin typeface="Arial Narrow" panose="020B0606020202030204" pitchFamily="34" charset="0"/>
                <a:cs typeface="Consolas" panose="020B0609020204030204" pitchFamily="49" charset="0"/>
              </a:rPr>
              <a:t>("%u %u\n",</a:t>
            </a:r>
            <a:r>
              <a:rPr lang="en-US" dirty="0" err="1">
                <a:solidFill>
                  <a:srgbClr val="C55A11"/>
                </a:solidFill>
                <a:latin typeface="Arial Narrow" panose="020B0606020202030204" pitchFamily="34" charset="0"/>
                <a:cs typeface="Consolas" panose="020B0609020204030204" pitchFamily="49" charset="0"/>
              </a:rPr>
              <a:t>getInt</a:t>
            </a:r>
            <a:r>
              <a:rPr lang="en-US" dirty="0">
                <a:solidFill>
                  <a:srgbClr val="C55A11"/>
                </a:solidFill>
                <a:latin typeface="Arial Narrow" panose="020B0606020202030204" pitchFamily="34" charset="0"/>
                <a:cs typeface="Consolas" panose="020B0609020204030204" pitchFamily="49" charset="0"/>
              </a:rPr>
              <a:t>(x)</a:t>
            </a:r>
            <a:r>
              <a:rPr lang="en-US" dirty="0">
                <a:solidFill>
                  <a:schemeClr val="bg1"/>
                </a:solidFill>
                <a:latin typeface="Arial Narrow" panose="020B0606020202030204" pitchFamily="34" charset="0"/>
                <a:cs typeface="Consolas" panose="020B0609020204030204" pitchFamily="49" charset="0"/>
              </a:rPr>
              <a:t>,</a:t>
            </a:r>
            <a:r>
              <a:rPr lang="en-US" dirty="0" err="1">
                <a:solidFill>
                  <a:srgbClr val="C55A11"/>
                </a:solidFill>
                <a:latin typeface="Arial Narrow" panose="020B0606020202030204" pitchFamily="34" charset="0"/>
                <a:cs typeface="Consolas" panose="020B0609020204030204" pitchFamily="49" charset="0"/>
              </a:rPr>
              <a:t>getInt</a:t>
            </a:r>
            <a:r>
              <a:rPr lang="en-US" dirty="0">
                <a:solidFill>
                  <a:srgbClr val="C55A11"/>
                </a:solidFill>
                <a:latin typeface="Arial Narrow" panose="020B0606020202030204" pitchFamily="34" charset="0"/>
                <a:cs typeface="Consolas" panose="020B0609020204030204" pitchFamily="49" charset="0"/>
              </a:rPr>
              <a:t>(x)+1</a:t>
            </a:r>
            <a:r>
              <a:rPr lang="en-US" dirty="0">
                <a:solidFill>
                  <a:schemeClr val="bg1"/>
                </a:solidFill>
                <a:latin typeface="Arial Narrow" panose="020B0606020202030204" pitchFamily="34" charset="0"/>
                <a:cs typeface="Consolas" panose="020B0609020204030204" pitchFamily="49" charset="0"/>
              </a:rPr>
              <a:t>);</a:t>
            </a:r>
          </a:p>
          <a:p>
            <a:pPr>
              <a:lnSpc>
                <a:spcPct val="80000"/>
              </a:lnSpc>
            </a:pPr>
            <a:r>
              <a:rPr lang="en-US" dirty="0">
                <a:solidFill>
                  <a:schemeClr val="bg1"/>
                </a:solidFill>
                <a:latin typeface="Arial Narrow" panose="020B0606020202030204" pitchFamily="34" charset="0"/>
                <a:cs typeface="Consolas" panose="020B0609020204030204" pitchFamily="49" charset="0"/>
              </a:rPr>
              <a:t>   </a:t>
            </a:r>
            <a:r>
              <a:rPr lang="en-US" dirty="0" err="1">
                <a:solidFill>
                  <a:srgbClr val="00FF00"/>
                </a:solidFill>
                <a:latin typeface="Arial Narrow" panose="020B0606020202030204" pitchFamily="34" charset="0"/>
                <a:cs typeface="Consolas" panose="020B0609020204030204" pitchFamily="49" charset="0"/>
              </a:rPr>
              <a:t>updateString</a:t>
            </a:r>
            <a:r>
              <a:rPr lang="en-US" dirty="0">
                <a:solidFill>
                  <a:srgbClr val="00FF00"/>
                </a:solidFill>
                <a:latin typeface="Arial Narrow" panose="020B0606020202030204" pitchFamily="34" charset="0"/>
                <a:cs typeface="Consolas" panose="020B0609020204030204" pitchFamily="49" charset="0"/>
              </a:rPr>
              <a:t>(</a:t>
            </a:r>
            <a:r>
              <a:rPr lang="en-US" dirty="0" err="1">
                <a:solidFill>
                  <a:srgbClr val="00FF00"/>
                </a:solidFill>
                <a:latin typeface="Arial Narrow" panose="020B0606020202030204" pitchFamily="34" charset="0"/>
                <a:cs typeface="Consolas" panose="020B0609020204030204" pitchFamily="49" charset="0"/>
              </a:rPr>
              <a:t>x,"pineapple</a:t>
            </a:r>
            <a:r>
              <a:rPr lang="en-US" dirty="0">
                <a:solidFill>
                  <a:srgbClr val="00FF00"/>
                </a:solidFill>
                <a:latin typeface="Arial Narrow" panose="020B0606020202030204" pitchFamily="34" charset="0"/>
                <a:cs typeface="Consolas" panose="020B0609020204030204" pitchFamily="49" charset="0"/>
              </a:rPr>
              <a:t>");</a:t>
            </a:r>
          </a:p>
          <a:p>
            <a:pPr>
              <a:lnSpc>
                <a:spcPct val="80000"/>
              </a:lnSpc>
            </a:pPr>
            <a:r>
              <a:rPr lang="en-US" dirty="0">
                <a:solidFill>
                  <a:schemeClr val="bg1"/>
                </a:solidFill>
                <a:latin typeface="Arial Narrow" panose="020B0606020202030204" pitchFamily="34" charset="0"/>
                <a:cs typeface="Consolas" panose="020B0609020204030204" pitchFamily="49" charset="0"/>
              </a:rPr>
              <a:t>   </a:t>
            </a:r>
            <a:r>
              <a:rPr lang="en-US" dirty="0" err="1">
                <a:solidFill>
                  <a:srgbClr val="FF0000"/>
                </a:solidFill>
                <a:latin typeface="Arial Narrow" panose="020B0606020202030204" pitchFamily="34" charset="0"/>
                <a:cs typeface="Consolas" panose="020B0609020204030204" pitchFamily="49" charset="0"/>
              </a:rPr>
              <a:t>printf</a:t>
            </a:r>
            <a:r>
              <a:rPr lang="en-US" dirty="0">
                <a:solidFill>
                  <a:schemeClr val="bg1"/>
                </a:solidFill>
                <a:latin typeface="Arial Narrow" panose="020B0606020202030204" pitchFamily="34" charset="0"/>
                <a:cs typeface="Consolas" panose="020B0609020204030204" pitchFamily="49" charset="0"/>
              </a:rPr>
              <a:t>("%u %u\n",</a:t>
            </a:r>
            <a:r>
              <a:rPr lang="en-US" dirty="0" err="1">
                <a:solidFill>
                  <a:srgbClr val="C55A11"/>
                </a:solidFill>
                <a:latin typeface="Arial Narrow" panose="020B0606020202030204" pitchFamily="34" charset="0"/>
                <a:cs typeface="Consolas" panose="020B0609020204030204" pitchFamily="49" charset="0"/>
              </a:rPr>
              <a:t>getInt</a:t>
            </a:r>
            <a:r>
              <a:rPr lang="en-US" dirty="0">
                <a:solidFill>
                  <a:srgbClr val="C55A11"/>
                </a:solidFill>
                <a:latin typeface="Arial Narrow" panose="020B0606020202030204" pitchFamily="34" charset="0"/>
                <a:cs typeface="Consolas" panose="020B0609020204030204" pitchFamily="49" charset="0"/>
              </a:rPr>
              <a:t>(x)</a:t>
            </a:r>
            <a:r>
              <a:rPr lang="en-US" dirty="0">
                <a:solidFill>
                  <a:schemeClr val="bg1"/>
                </a:solidFill>
                <a:latin typeface="Arial Narrow" panose="020B0606020202030204" pitchFamily="34" charset="0"/>
                <a:cs typeface="Consolas" panose="020B0609020204030204" pitchFamily="49" charset="0"/>
              </a:rPr>
              <a:t>,</a:t>
            </a:r>
            <a:r>
              <a:rPr lang="en-US" dirty="0" err="1">
                <a:solidFill>
                  <a:srgbClr val="C55A11"/>
                </a:solidFill>
                <a:latin typeface="Arial Narrow" panose="020B0606020202030204" pitchFamily="34" charset="0"/>
                <a:cs typeface="Consolas" panose="020B0609020204030204" pitchFamily="49" charset="0"/>
              </a:rPr>
              <a:t>getInt</a:t>
            </a:r>
            <a:r>
              <a:rPr lang="en-US" dirty="0">
                <a:solidFill>
                  <a:srgbClr val="C55A11"/>
                </a:solidFill>
                <a:latin typeface="Arial Narrow" panose="020B0606020202030204" pitchFamily="34" charset="0"/>
                <a:cs typeface="Consolas" panose="020B0609020204030204" pitchFamily="49" charset="0"/>
              </a:rPr>
              <a:t>(x)+1</a:t>
            </a:r>
            <a:r>
              <a:rPr lang="en-US" dirty="0">
                <a:solidFill>
                  <a:schemeClr val="bg1"/>
                </a:solidFill>
                <a:latin typeface="Arial Narrow" panose="020B0606020202030204" pitchFamily="34" charset="0"/>
                <a:cs typeface="Consolas" panose="020B0609020204030204" pitchFamily="49" charset="0"/>
              </a:rPr>
              <a:t>);    </a:t>
            </a:r>
            <a:r>
              <a:rPr lang="en-US" dirty="0" smtClean="0">
                <a:solidFill>
                  <a:schemeClr val="bg1"/>
                </a:solidFill>
                <a:latin typeface="Arial Narrow" panose="020B0606020202030204" pitchFamily="34" charset="0"/>
                <a:cs typeface="Consolas" panose="020B0609020204030204" pitchFamily="49" charset="0"/>
              </a:rPr>
              <a:t>            </a:t>
            </a:r>
            <a:r>
              <a:rPr lang="en-US" dirty="0">
                <a:solidFill>
                  <a:schemeClr val="bg1"/>
                </a:solidFill>
                <a:latin typeface="Arial Narrow" panose="020B0606020202030204" pitchFamily="34" charset="0"/>
                <a:cs typeface="Consolas" panose="020B0609020204030204" pitchFamily="49" charset="0"/>
              </a:rPr>
              <a:t>}</a:t>
            </a:r>
          </a:p>
          <a:p>
            <a:pPr>
              <a:lnSpc>
                <a:spcPct val="80000"/>
              </a:lnSpc>
            </a:pPr>
            <a:r>
              <a:rPr lang="en-US" dirty="0">
                <a:solidFill>
                  <a:schemeClr val="bg1"/>
                </a:solidFill>
                <a:latin typeface="Arial Narrow" panose="020B0606020202030204" pitchFamily="34" charset="0"/>
                <a:cs typeface="Consolas" panose="020B0609020204030204" pitchFamily="49" charset="0"/>
              </a:rPr>
              <a:t>% ./</a:t>
            </a:r>
            <a:r>
              <a:rPr lang="en-US" dirty="0" err="1">
                <a:solidFill>
                  <a:schemeClr val="bg1"/>
                </a:solidFill>
                <a:latin typeface="Arial Narrow" panose="020B0606020202030204" pitchFamily="34" charset="0"/>
                <a:cs typeface="Consolas" panose="020B0609020204030204" pitchFamily="49" charset="0"/>
              </a:rPr>
              <a:t>stronglyTyped.x</a:t>
            </a:r>
            <a:endParaRPr lang="en-US" dirty="0">
              <a:solidFill>
                <a:schemeClr val="bg1"/>
              </a:solidFill>
              <a:latin typeface="Arial Narrow" panose="020B0606020202030204" pitchFamily="34" charset="0"/>
              <a:cs typeface="Consolas" panose="020B0609020204030204" pitchFamily="49" charset="0"/>
            </a:endParaRPr>
          </a:p>
          <a:p>
            <a:pPr>
              <a:lnSpc>
                <a:spcPct val="80000"/>
              </a:lnSpc>
            </a:pPr>
            <a:r>
              <a:rPr lang="en-US" dirty="0">
                <a:solidFill>
                  <a:srgbClr val="C55A11"/>
                </a:solidFill>
                <a:latin typeface="Arial Narrow" panose="020B0606020202030204" pitchFamily="34" charset="0"/>
                <a:cs typeface="Consolas" panose="020B0609020204030204" pitchFamily="49" charset="0"/>
              </a:rPr>
              <a:t>5 6</a:t>
            </a:r>
          </a:p>
          <a:p>
            <a:pPr>
              <a:lnSpc>
                <a:spcPct val="80000"/>
              </a:lnSpc>
            </a:pPr>
            <a:r>
              <a:rPr lang="en-US" dirty="0" err="1">
                <a:solidFill>
                  <a:srgbClr val="FF0000"/>
                </a:solidFill>
                <a:latin typeface="Arial Narrow" panose="020B0606020202030204" pitchFamily="34" charset="0"/>
                <a:cs typeface="Consolas" panose="020B0609020204030204" pitchFamily="49" charset="0"/>
              </a:rPr>
              <a:t>TypeError</a:t>
            </a:r>
            <a:r>
              <a:rPr lang="en-US" dirty="0">
                <a:solidFill>
                  <a:srgbClr val="FF0000"/>
                </a:solidFill>
                <a:latin typeface="Arial Narrow" panose="020B0606020202030204" pitchFamily="34" charset="0"/>
                <a:cs typeface="Consolas" panose="020B0609020204030204" pitchFamily="49" charset="0"/>
              </a:rPr>
              <a:t>: variable not integer</a:t>
            </a:r>
          </a:p>
          <a:p>
            <a:pPr>
              <a:lnSpc>
                <a:spcPct val="80000"/>
              </a:lnSpc>
            </a:pPr>
            <a:r>
              <a:rPr lang="en-US" dirty="0">
                <a:solidFill>
                  <a:schemeClr val="bg1"/>
                </a:solidFill>
                <a:latin typeface="Arial Narrow" panose="020B0606020202030204" pitchFamily="34" charset="0"/>
                <a:cs typeface="Consolas" panose="020B0609020204030204" pitchFamily="49" charset="0"/>
              </a:rPr>
              <a:t>%</a:t>
            </a:r>
          </a:p>
        </p:txBody>
      </p:sp>
      <p:cxnSp>
        <p:nvCxnSpPr>
          <p:cNvPr id="16" name="Straight Connector 15"/>
          <p:cNvCxnSpPr/>
          <p:nvPr/>
        </p:nvCxnSpPr>
        <p:spPr>
          <a:xfrm>
            <a:off x="5485231" y="6428521"/>
            <a:ext cx="1101" cy="18174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25796" y="6409357"/>
            <a:ext cx="1101" cy="18174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2963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childTnLst>
                                    <p:anim calcmode="discrete" valueType="str">
                                      <p:cBhvr>
                                        <p:cTn id="6" dur="1000" fill="hold"/>
                                        <p:tgtEl>
                                          <p:spTgt spid="16"/>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childTnLst>
                                    <p:anim calcmode="discrete" valueType="str">
                                      <p:cBhvr>
                                        <p:cTn id="8"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391474" y="1257300"/>
            <a:ext cx="9127430" cy="5251689"/>
          </a:xfrm>
        </p:spPr>
        <p:txBody>
          <a:bodyPr>
            <a:normAutofit/>
          </a:bodyPr>
          <a:lstStyle/>
          <a:p>
            <a:pPr>
              <a:buFontTx/>
              <a:buNone/>
            </a:pPr>
            <a:r>
              <a:rPr lang="en-US" altLang="en-US" sz="3600" spc="200" dirty="0">
                <a:latin typeface="Times New Roman" panose="02020603050405020304" pitchFamily="18" charset="0"/>
                <a:cs typeface="Times New Roman" panose="02020603050405020304" pitchFamily="18" charset="0"/>
              </a:rPr>
              <a:t>Python has six standard data types:</a:t>
            </a:r>
          </a:p>
          <a:p>
            <a:pPr marL="651966" indent="-555276">
              <a:buFont typeface="+mj-lt"/>
              <a:buAutoNum type="arabicPeriod"/>
            </a:pPr>
            <a:r>
              <a:rPr lang="en-US" altLang="en-US" sz="2800" dirty="0" smtClean="0">
                <a:latin typeface="Elephant" panose="02020904090505020303" pitchFamily="18" charset="0"/>
              </a:rPr>
              <a:t>Number (integer/float/complex/bool)</a:t>
            </a:r>
            <a:endParaRPr lang="en-US" altLang="en-US" sz="2800" dirty="0">
              <a:latin typeface="Elephant" panose="02020904090505020303" pitchFamily="18" charset="0"/>
            </a:endParaRPr>
          </a:p>
          <a:p>
            <a:pPr marL="651966" indent="-555276">
              <a:buFont typeface="+mj-lt"/>
              <a:buAutoNum type="arabicPeriod"/>
            </a:pPr>
            <a:r>
              <a:rPr lang="en-US" altLang="en-US" sz="2800" dirty="0">
                <a:latin typeface="Elephant" panose="02020904090505020303" pitchFamily="18" charset="0"/>
              </a:rPr>
              <a:t>String</a:t>
            </a:r>
          </a:p>
          <a:p>
            <a:pPr marL="651966" indent="-555276">
              <a:buFont typeface="+mj-lt"/>
              <a:buAutoNum type="arabicPeriod"/>
            </a:pPr>
            <a:r>
              <a:rPr lang="en-US" altLang="en-US" sz="2800" dirty="0">
                <a:latin typeface="Elephant" panose="02020904090505020303" pitchFamily="18" charset="0"/>
              </a:rPr>
              <a:t>List</a:t>
            </a:r>
          </a:p>
          <a:p>
            <a:pPr marL="651966" indent="-555276">
              <a:buFont typeface="+mj-lt"/>
              <a:buAutoNum type="arabicPeriod"/>
            </a:pPr>
            <a:r>
              <a:rPr lang="en-US" altLang="en-US" sz="2800" dirty="0">
                <a:latin typeface="Elephant" panose="02020904090505020303" pitchFamily="18" charset="0"/>
              </a:rPr>
              <a:t>Tuple</a:t>
            </a:r>
          </a:p>
          <a:p>
            <a:pPr marL="651966" indent="-555276">
              <a:buFont typeface="+mj-lt"/>
              <a:buAutoNum type="arabicPeriod"/>
            </a:pPr>
            <a:r>
              <a:rPr lang="en-US" altLang="en-US" sz="2800" dirty="0">
                <a:latin typeface="Elephant" panose="02020904090505020303" pitchFamily="18" charset="0"/>
              </a:rPr>
              <a:t>Set</a:t>
            </a:r>
          </a:p>
          <a:p>
            <a:pPr marL="651966" indent="-555276">
              <a:buFont typeface="+mj-lt"/>
              <a:buAutoNum type="arabicPeriod"/>
            </a:pPr>
            <a:r>
              <a:rPr lang="en-US" altLang="en-US" sz="2800" dirty="0">
                <a:latin typeface="Elephant" panose="02020904090505020303" pitchFamily="18" charset="0"/>
              </a:rPr>
              <a:t>Dictionary</a:t>
            </a:r>
          </a:p>
          <a:p>
            <a:pPr marL="96690" indent="0">
              <a:buNone/>
            </a:pPr>
            <a:r>
              <a:rPr lang="en-US" altLang="en-US" sz="2800" dirty="0">
                <a:latin typeface="Elephant" panose="02020904090505020303" pitchFamily="18" charset="0"/>
              </a:rPr>
              <a:t>	… </a:t>
            </a:r>
          </a:p>
          <a:p>
            <a:pPr marL="96690" indent="0">
              <a:buNone/>
            </a:pPr>
            <a:r>
              <a:rPr lang="en-US" sz="2800" dirty="0">
                <a:solidFill>
                  <a:srgbClr val="FF0000"/>
                </a:solidFill>
                <a:latin typeface="Elephant" panose="02020904090505020303" pitchFamily="18" charset="0"/>
              </a:rPr>
              <a:t>	</a:t>
            </a:r>
            <a:r>
              <a:rPr lang="en-US" sz="2800" dirty="0" err="1">
                <a:solidFill>
                  <a:srgbClr val="FF0000"/>
                </a:solidFill>
              </a:rPr>
              <a:t>frozenset</a:t>
            </a:r>
            <a:r>
              <a:rPr lang="en-US" sz="2800" dirty="0">
                <a:solidFill>
                  <a:srgbClr val="FF0000"/>
                </a:solidFill>
              </a:rPr>
              <a:t>, byte sequence, byte array, range types, etc. </a:t>
            </a:r>
            <a:br>
              <a:rPr lang="en-US" sz="2800" dirty="0">
                <a:solidFill>
                  <a:srgbClr val="FF0000"/>
                </a:solidFill>
              </a:rPr>
            </a:br>
            <a:r>
              <a:rPr lang="en-US" sz="2800" dirty="0">
                <a:solidFill>
                  <a:srgbClr val="FF0000"/>
                </a:solidFill>
              </a:rPr>
              <a:t>	 will be covered later…</a:t>
            </a:r>
            <a:endParaRPr lang="en-US" altLang="en-US" sz="2800" dirty="0">
              <a:solidFill>
                <a:srgbClr val="FF0000"/>
              </a:solidFill>
              <a:latin typeface="Elephant" panose="02020904090505020303" pitchFamily="18" charset="0"/>
            </a:endParaRPr>
          </a:p>
          <a:p>
            <a:endParaRPr lang="en-US" altLang="en-US" sz="2800" dirty="0"/>
          </a:p>
        </p:txBody>
      </p:sp>
      <p:sp>
        <p:nvSpPr>
          <p:cNvPr id="7" name="Title 1"/>
          <p:cNvSpPr txBox="1">
            <a:spLocks/>
          </p:cNvSpPr>
          <p:nvPr/>
        </p:nvSpPr>
        <p:spPr>
          <a:xfrm>
            <a:off x="0" y="342781"/>
            <a:ext cx="9729788" cy="926646"/>
          </a:xfrm>
          <a:prstGeom prst="rect">
            <a:avLst/>
          </a:prstGeom>
        </p:spPr>
        <p:txBody>
          <a:bodyPr vert="horz" lIns="91440" tIns="45720" rIns="91440" bIns="45720" rtlCol="0" anchor="ctr">
            <a:normAutofit/>
          </a:bodyPr>
          <a:lstStyle>
            <a:lvl1pPr algn="ctr" defTabSz="729742" rtl="0" eaLnBrk="1" latinLnBrk="0" hangingPunct="1">
              <a:lnSpc>
                <a:spcPct val="90000"/>
              </a:lnSpc>
              <a:spcBef>
                <a:spcPct val="0"/>
              </a:spcBef>
              <a:buNone/>
              <a:defRPr sz="3511" kern="1200">
                <a:solidFill>
                  <a:srgbClr val="002060"/>
                </a:solidFill>
                <a:latin typeface="Elephant" panose="02020904090505020303" pitchFamily="18" charset="0"/>
                <a:ea typeface="+mj-ea"/>
                <a:cs typeface="+mj-cs"/>
              </a:defRPr>
            </a:lvl1pPr>
          </a:lstStyle>
          <a:p>
            <a:r>
              <a:rPr lang="en-US" altLang="en-US" sz="4400" dirty="0" smtClean="0">
                <a:solidFill>
                  <a:srgbClr val="0070C0"/>
                </a:solidFill>
              </a:rPr>
              <a:t>Data Types:</a:t>
            </a:r>
          </a:p>
        </p:txBody>
      </p:sp>
    </p:spTree>
    <p:extLst>
      <p:ext uri="{BB962C8B-B14F-4D97-AF65-F5344CB8AC3E}">
        <p14:creationId xmlns:p14="http://schemas.microsoft.com/office/powerpoint/2010/main" val="3079675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randombar(horizontal)">
                                      <p:cBhvr>
                                        <p:cTn id="7" dur="500"/>
                                        <p:tgtEl>
                                          <p:spTgt spid="4">
                                            <p:txEl>
                                              <p:pRg st="7" end="7"/>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8" end="8"/>
                                            </p:txEl>
                                          </p:spTgt>
                                        </p:tgtEl>
                                        <p:attrNameLst>
                                          <p:attrName>style.visibility</p:attrName>
                                        </p:attrNameLst>
                                      </p:cBhvr>
                                      <p:to>
                                        <p:strVal val="visible"/>
                                      </p:to>
                                    </p:set>
                                    <p:animEffect transition="in" filter="randombar(horizontal)">
                                      <p:cBhvr>
                                        <p:cTn id="10"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p:cNvSpPr>
            <a:spLocks noGrp="1"/>
          </p:cNvSpPr>
          <p:nvPr>
            <p:ph idx="1"/>
          </p:nvPr>
        </p:nvSpPr>
        <p:spPr>
          <a:xfrm>
            <a:off x="359076" y="1348830"/>
            <a:ext cx="9077818" cy="5225387"/>
          </a:xfrm>
        </p:spPr>
        <p:txBody>
          <a:bodyPr>
            <a:noAutofit/>
          </a:bodyPr>
          <a:lstStyle/>
          <a:p>
            <a:r>
              <a:rPr lang="en-US" altLang="en-US" sz="3200" dirty="0"/>
              <a:t>Assigning a </a:t>
            </a:r>
            <a:r>
              <a:rPr lang="en-US" altLang="en-US" sz="3200" dirty="0" smtClean="0"/>
              <a:t>new value </a:t>
            </a:r>
            <a:r>
              <a:rPr lang="en-US" altLang="en-US" sz="3200" dirty="0"/>
              <a:t>to </a:t>
            </a:r>
            <a:r>
              <a:rPr lang="en-US" altLang="en-US" sz="3200" dirty="0" smtClean="0"/>
              <a:t>an existing </a:t>
            </a:r>
            <a:r>
              <a:rPr lang="en-US" altLang="en-US" sz="3200" dirty="0"/>
              <a:t>variable does not update </a:t>
            </a:r>
            <a:r>
              <a:rPr lang="en-US" altLang="en-US" sz="3200" dirty="0" smtClean="0"/>
              <a:t>it; </a:t>
            </a:r>
            <a:r>
              <a:rPr lang="en-US" altLang="en-US" sz="3200" dirty="0"/>
              <a:t>instead it creates a new variable.</a:t>
            </a:r>
          </a:p>
          <a:p>
            <a:pPr lvl="1"/>
            <a:r>
              <a:rPr lang="en-US" altLang="en-US" sz="2800" dirty="0"/>
              <a:t>If </a:t>
            </a:r>
            <a:r>
              <a:rPr lang="en-US" altLang="en-US" sz="2800" dirty="0" smtClean="0"/>
              <a:t>its </a:t>
            </a:r>
            <a:r>
              <a:rPr lang="en-US" altLang="en-US" sz="2800" dirty="0"/>
              <a:t>the same type (or even if not</a:t>
            </a:r>
            <a:r>
              <a:rPr lang="en-US" altLang="en-US" sz="2800" dirty="0" smtClean="0"/>
              <a:t>) </a:t>
            </a:r>
            <a:r>
              <a:rPr lang="en-US" altLang="en-US" sz="2800" dirty="0"/>
              <a:t>it </a:t>
            </a:r>
            <a:r>
              <a:rPr lang="en-US" altLang="en-US" sz="2800" i="1" dirty="0" smtClean="0"/>
              <a:t>could</a:t>
            </a:r>
            <a:r>
              <a:rPr lang="en-US" altLang="en-US" sz="2800" dirty="0" smtClean="0"/>
              <a:t> end </a:t>
            </a:r>
            <a:r>
              <a:rPr lang="en-US" altLang="en-US" sz="2800" dirty="0"/>
              <a:t>up in the same memory location. Nonetheless, it is a new variable.</a:t>
            </a:r>
          </a:p>
          <a:p>
            <a:r>
              <a:rPr lang="en-US" altLang="en-US" sz="3200" dirty="0">
                <a:solidFill>
                  <a:srgbClr val="FF0000"/>
                </a:solidFill>
              </a:rPr>
              <a:t>But there are multi-value variables. A</a:t>
            </a:r>
            <a:r>
              <a:rPr lang="en-US" altLang="en-US" sz="3200" dirty="0" smtClean="0">
                <a:solidFill>
                  <a:srgbClr val="FF0000"/>
                </a:solidFill>
              </a:rPr>
              <a:t>ssigning to one </a:t>
            </a:r>
            <a:r>
              <a:rPr lang="en-US" altLang="en-US" sz="3200" spc="-30" dirty="0">
                <a:solidFill>
                  <a:srgbClr val="FF0000"/>
                </a:solidFill>
              </a:rPr>
              <a:t>value is different than assigning </a:t>
            </a:r>
            <a:r>
              <a:rPr lang="en-US" altLang="en-US" sz="3200" spc="-30" dirty="0" smtClean="0">
                <a:solidFill>
                  <a:srgbClr val="FF0000"/>
                </a:solidFill>
              </a:rPr>
              <a:t>to the whole variable</a:t>
            </a:r>
            <a:r>
              <a:rPr lang="en-US" altLang="en-US" sz="3200" spc="-30" dirty="0">
                <a:solidFill>
                  <a:srgbClr val="FF0000"/>
                </a:solidFill>
              </a:rPr>
              <a:t>.</a:t>
            </a:r>
          </a:p>
          <a:p>
            <a:r>
              <a:rPr lang="en-US" altLang="en-US" sz="3200" dirty="0">
                <a:solidFill>
                  <a:srgbClr val="FF0000"/>
                </a:solidFill>
              </a:rPr>
              <a:t>Python divides its types into two categories:</a:t>
            </a:r>
          </a:p>
          <a:p>
            <a:pPr marL="836633" lvl="1" indent="-471762">
              <a:buFont typeface="+mj-lt"/>
              <a:buAutoNum type="arabicPeriod"/>
            </a:pPr>
            <a:r>
              <a:rPr lang="en-US" altLang="en-US" sz="3200" dirty="0" smtClean="0">
                <a:solidFill>
                  <a:srgbClr val="FF0000"/>
                </a:solidFill>
              </a:rPr>
              <a:t>Numbers, strings, </a:t>
            </a:r>
            <a:r>
              <a:rPr lang="en-US" altLang="en-US" sz="3200" dirty="0">
                <a:solidFill>
                  <a:srgbClr val="FF0000"/>
                </a:solidFill>
              </a:rPr>
              <a:t>and tuples are </a:t>
            </a:r>
            <a:r>
              <a:rPr lang="en-US" altLang="en-US" sz="3200" b="1" dirty="0">
                <a:solidFill>
                  <a:srgbClr val="FF0000"/>
                </a:solidFill>
              </a:rPr>
              <a:t>immutable</a:t>
            </a:r>
            <a:r>
              <a:rPr lang="en-US" altLang="en-US" sz="3200" dirty="0" smtClean="0">
                <a:solidFill>
                  <a:srgbClr val="FF0000"/>
                </a:solidFill>
              </a:rPr>
              <a:t>.</a:t>
            </a:r>
            <a:endParaRPr lang="en-US" altLang="en-US" sz="3200" dirty="0">
              <a:solidFill>
                <a:srgbClr val="FF0000"/>
              </a:solidFill>
            </a:endParaRPr>
          </a:p>
        </p:txBody>
      </p:sp>
      <p:sp>
        <p:nvSpPr>
          <p:cNvPr id="9" name="Title 1"/>
          <p:cNvSpPr>
            <a:spLocks noGrp="1"/>
          </p:cNvSpPr>
          <p:nvPr>
            <p:ph type="title"/>
          </p:nvPr>
        </p:nvSpPr>
        <p:spPr>
          <a:xfrm>
            <a:off x="1" y="283784"/>
            <a:ext cx="9729788" cy="1065046"/>
          </a:xfrm>
        </p:spPr>
        <p:txBody>
          <a:bodyPr>
            <a:normAutofit/>
          </a:bodyPr>
          <a:lstStyle/>
          <a:p>
            <a:r>
              <a:rPr lang="en-US" altLang="en-US" sz="4400" dirty="0" smtClean="0">
                <a:solidFill>
                  <a:srgbClr val="0070C0"/>
                </a:solidFill>
              </a:rPr>
              <a:t>Updating the Values of Variables:</a:t>
            </a:r>
          </a:p>
        </p:txBody>
      </p:sp>
    </p:spTree>
    <p:extLst>
      <p:ext uri="{BB962C8B-B14F-4D97-AF65-F5344CB8AC3E}">
        <p14:creationId xmlns:p14="http://schemas.microsoft.com/office/powerpoint/2010/main" val="428837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randombar(horizontal)">
                                      <p:cBhvr>
                                        <p:cTn id="7" dur="500"/>
                                        <p:tgtEl>
                                          <p:spTgt spid="2253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531">
                                            <p:txEl>
                                              <p:pRg st="3" end="3"/>
                                            </p:txEl>
                                          </p:spTgt>
                                        </p:tgtEl>
                                        <p:attrNameLst>
                                          <p:attrName>style.visibility</p:attrName>
                                        </p:attrNameLst>
                                      </p:cBhvr>
                                      <p:to>
                                        <p:strVal val="visible"/>
                                      </p:to>
                                    </p:set>
                                    <p:animEffect transition="in" filter="randombar(horizontal)">
                                      <p:cBhvr>
                                        <p:cTn id="12" dur="500"/>
                                        <p:tgtEl>
                                          <p:spTgt spid="22531">
                                            <p:txEl>
                                              <p:pRg st="3" end="3"/>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2531">
                                            <p:txEl>
                                              <p:pRg st="4" end="4"/>
                                            </p:txEl>
                                          </p:spTgt>
                                        </p:tgtEl>
                                        <p:attrNameLst>
                                          <p:attrName>style.visibility</p:attrName>
                                        </p:attrNameLst>
                                      </p:cBhvr>
                                      <p:to>
                                        <p:strVal val="visible"/>
                                      </p:to>
                                    </p:set>
                                    <p:animEffect transition="in" filter="randombar(horizontal)">
                                      <p:cBhvr>
                                        <p:cTn id="15" dur="500"/>
                                        <p:tgtEl>
                                          <p:spTgt spid="22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p:cNvSpPr>
            <a:spLocks noGrp="1"/>
          </p:cNvSpPr>
          <p:nvPr>
            <p:ph idx="1"/>
          </p:nvPr>
        </p:nvSpPr>
        <p:spPr>
          <a:xfrm>
            <a:off x="359076" y="1348830"/>
            <a:ext cx="9077818" cy="5225387"/>
          </a:xfrm>
        </p:spPr>
        <p:txBody>
          <a:bodyPr>
            <a:noAutofit/>
          </a:bodyPr>
          <a:lstStyle/>
          <a:p>
            <a:r>
              <a:rPr lang="en-US" altLang="en-US" sz="3200" dirty="0"/>
              <a:t>Assigning a </a:t>
            </a:r>
            <a:r>
              <a:rPr lang="en-US" altLang="en-US" sz="3200" dirty="0" smtClean="0"/>
              <a:t>new value </a:t>
            </a:r>
            <a:r>
              <a:rPr lang="en-US" altLang="en-US" sz="3200" dirty="0"/>
              <a:t>to </a:t>
            </a:r>
            <a:r>
              <a:rPr lang="en-US" altLang="en-US" sz="3200" dirty="0" smtClean="0"/>
              <a:t>an existing </a:t>
            </a:r>
            <a:r>
              <a:rPr lang="en-US" altLang="en-US" sz="3200" dirty="0"/>
              <a:t>variable does not update </a:t>
            </a:r>
            <a:r>
              <a:rPr lang="en-US" altLang="en-US" sz="3200" dirty="0" smtClean="0"/>
              <a:t>it; </a:t>
            </a:r>
            <a:r>
              <a:rPr lang="en-US" altLang="en-US" sz="3200" dirty="0"/>
              <a:t>instead it creates a new variable.</a:t>
            </a:r>
          </a:p>
          <a:p>
            <a:pPr lvl="1"/>
            <a:r>
              <a:rPr lang="en-US" altLang="en-US" sz="2800" dirty="0"/>
              <a:t>If </a:t>
            </a:r>
            <a:r>
              <a:rPr lang="en-US" altLang="en-US" sz="2800" dirty="0" smtClean="0"/>
              <a:t>its </a:t>
            </a:r>
            <a:r>
              <a:rPr lang="en-US" altLang="en-US" sz="2800" dirty="0"/>
              <a:t>the same type (or even if not</a:t>
            </a:r>
            <a:r>
              <a:rPr lang="en-US" altLang="en-US" sz="2800" dirty="0" smtClean="0"/>
              <a:t>) </a:t>
            </a:r>
            <a:r>
              <a:rPr lang="en-US" altLang="en-US" sz="2800" dirty="0"/>
              <a:t>it </a:t>
            </a:r>
            <a:r>
              <a:rPr lang="en-US" altLang="en-US" sz="2800" i="1" dirty="0" smtClean="0"/>
              <a:t>could</a:t>
            </a:r>
            <a:r>
              <a:rPr lang="en-US" altLang="en-US" sz="2800" dirty="0" smtClean="0"/>
              <a:t> end </a:t>
            </a:r>
            <a:r>
              <a:rPr lang="en-US" altLang="en-US" sz="2800" dirty="0"/>
              <a:t>up in the same memory location. Nonetheless, it is a new variable.</a:t>
            </a:r>
          </a:p>
          <a:p>
            <a:r>
              <a:rPr lang="en-US" altLang="en-US" sz="3200" dirty="0"/>
              <a:t>But there are multi-value variables. A</a:t>
            </a:r>
            <a:r>
              <a:rPr lang="en-US" altLang="en-US" sz="3200" dirty="0" smtClean="0"/>
              <a:t>ssigning to one </a:t>
            </a:r>
            <a:r>
              <a:rPr lang="en-US" altLang="en-US" sz="3200" spc="-30" dirty="0"/>
              <a:t>value is different than assigning </a:t>
            </a:r>
            <a:r>
              <a:rPr lang="en-US" altLang="en-US" sz="3200" spc="-30" dirty="0" smtClean="0"/>
              <a:t>to the whole variable</a:t>
            </a:r>
            <a:r>
              <a:rPr lang="en-US" altLang="en-US" sz="3200" spc="-30" dirty="0"/>
              <a:t>.</a:t>
            </a:r>
          </a:p>
          <a:p>
            <a:r>
              <a:rPr lang="en-US" altLang="en-US" sz="3200" dirty="0"/>
              <a:t>Python divides its types into two categories:</a:t>
            </a:r>
          </a:p>
          <a:p>
            <a:pPr marL="836633" lvl="1" indent="-471762">
              <a:buFont typeface="+mj-lt"/>
              <a:buAutoNum type="arabicPeriod"/>
            </a:pPr>
            <a:r>
              <a:rPr lang="en-US" altLang="en-US" sz="3200" dirty="0" smtClean="0"/>
              <a:t>Numbers, strings, </a:t>
            </a:r>
            <a:r>
              <a:rPr lang="en-US" altLang="en-US" sz="3200" dirty="0"/>
              <a:t>and tuples are </a:t>
            </a:r>
            <a:r>
              <a:rPr lang="en-US" altLang="en-US" sz="3200" b="1" dirty="0">
                <a:solidFill>
                  <a:srgbClr val="00B050"/>
                </a:solidFill>
              </a:rPr>
              <a:t>im</a:t>
            </a:r>
            <a:r>
              <a:rPr lang="en-US" altLang="en-US" sz="3200" b="1" dirty="0">
                <a:solidFill>
                  <a:srgbClr val="FF0000"/>
                </a:solidFill>
              </a:rPr>
              <a:t>mut</a:t>
            </a:r>
            <a:r>
              <a:rPr lang="en-US" altLang="en-US" sz="3200" b="1" dirty="0">
                <a:solidFill>
                  <a:srgbClr val="0070C0"/>
                </a:solidFill>
              </a:rPr>
              <a:t>able</a:t>
            </a:r>
            <a:r>
              <a:rPr lang="en-US" altLang="en-US" sz="3200" dirty="0"/>
              <a:t>.</a:t>
            </a:r>
          </a:p>
          <a:p>
            <a:pPr marL="836633" lvl="1" indent="-471762">
              <a:buFont typeface="+mj-lt"/>
              <a:buAutoNum type="arabicPeriod"/>
            </a:pPr>
            <a:r>
              <a:rPr lang="en-US" altLang="en-US" sz="3200" dirty="0" smtClean="0">
                <a:solidFill>
                  <a:srgbClr val="FF0000"/>
                </a:solidFill>
              </a:rPr>
              <a:t>Lists, sets, </a:t>
            </a:r>
            <a:r>
              <a:rPr lang="en-US" altLang="en-US" sz="3200" dirty="0">
                <a:solidFill>
                  <a:srgbClr val="FF0000"/>
                </a:solidFill>
              </a:rPr>
              <a:t>and dictionaries are mutable.</a:t>
            </a:r>
          </a:p>
        </p:txBody>
      </p:sp>
      <p:sp>
        <p:nvSpPr>
          <p:cNvPr id="9" name="Title 1"/>
          <p:cNvSpPr>
            <a:spLocks noGrp="1"/>
          </p:cNvSpPr>
          <p:nvPr>
            <p:ph type="title"/>
          </p:nvPr>
        </p:nvSpPr>
        <p:spPr>
          <a:xfrm>
            <a:off x="1" y="283784"/>
            <a:ext cx="9729788" cy="1065046"/>
          </a:xfrm>
        </p:spPr>
        <p:txBody>
          <a:bodyPr>
            <a:normAutofit/>
          </a:bodyPr>
          <a:lstStyle/>
          <a:p>
            <a:r>
              <a:rPr lang="en-US" altLang="en-US" sz="4400" dirty="0" smtClean="0">
                <a:solidFill>
                  <a:srgbClr val="0070C0"/>
                </a:solidFill>
              </a:rPr>
              <a:t>Updating the Values of Variables:</a:t>
            </a:r>
          </a:p>
        </p:txBody>
      </p:sp>
      <p:sp>
        <p:nvSpPr>
          <p:cNvPr id="8" name="Rounded Rectangular Callout 7"/>
          <p:cNvSpPr/>
          <p:nvPr/>
        </p:nvSpPr>
        <p:spPr>
          <a:xfrm>
            <a:off x="4615174" y="5718036"/>
            <a:ext cx="1531582" cy="1039287"/>
          </a:xfrm>
          <a:prstGeom prst="wedgeRoundRectCallout">
            <a:avLst>
              <a:gd name="adj1" fmla="val 86656"/>
              <a:gd name="adj2" fmla="val -123332"/>
              <a:gd name="adj3" fmla="val 16667"/>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834" i="1" dirty="0" err="1">
                <a:solidFill>
                  <a:prstClr val="white"/>
                </a:solidFill>
              </a:rPr>
              <a:t>im</a:t>
            </a:r>
            <a:r>
              <a:rPr lang="en-US" altLang="zh-TW" sz="1834" i="1" dirty="0">
                <a:solidFill>
                  <a:prstClr val="white"/>
                </a:solidFill>
              </a:rPr>
              <a:t>:</a:t>
            </a:r>
            <a:r>
              <a:rPr lang="en-US" altLang="zh-TW" sz="1834" dirty="0">
                <a:solidFill>
                  <a:prstClr val="white"/>
                </a:solidFill>
              </a:rPr>
              <a:t> a prefix meaning “</a:t>
            </a:r>
            <a:r>
              <a:rPr lang="en-US" altLang="zh-TW" sz="2935" i="1" dirty="0">
                <a:solidFill>
                  <a:prstClr val="white"/>
                </a:solidFill>
              </a:rPr>
              <a:t>not</a:t>
            </a:r>
            <a:r>
              <a:rPr lang="en-US" altLang="zh-TW" sz="1834" dirty="0">
                <a:solidFill>
                  <a:prstClr val="white"/>
                </a:solidFill>
              </a:rPr>
              <a:t>”</a:t>
            </a:r>
            <a:endParaRPr lang="zh-TW" altLang="en-US" sz="1834" dirty="0">
              <a:solidFill>
                <a:prstClr val="white"/>
              </a:solidFill>
            </a:endParaRPr>
          </a:p>
        </p:txBody>
      </p:sp>
      <p:sp>
        <p:nvSpPr>
          <p:cNvPr id="10" name="Rounded Rectangular Callout 9"/>
          <p:cNvSpPr/>
          <p:nvPr/>
        </p:nvSpPr>
        <p:spPr>
          <a:xfrm>
            <a:off x="6177145" y="5721076"/>
            <a:ext cx="1531582" cy="1039287"/>
          </a:xfrm>
          <a:prstGeom prst="wedgeRoundRectCallout">
            <a:avLst>
              <a:gd name="adj1" fmla="val 32780"/>
              <a:gd name="adj2" fmla="val -115311"/>
              <a:gd name="adj3" fmla="val 16667"/>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834" i="1" dirty="0">
                <a:solidFill>
                  <a:prstClr val="white"/>
                </a:solidFill>
              </a:rPr>
              <a:t>mute:</a:t>
            </a:r>
            <a:r>
              <a:rPr lang="en-US" altLang="zh-TW" sz="1834" dirty="0">
                <a:solidFill>
                  <a:prstClr val="white"/>
                </a:solidFill>
              </a:rPr>
              <a:t> a root meaning “</a:t>
            </a:r>
            <a:r>
              <a:rPr lang="en-US" altLang="zh-TW" sz="2935" i="1" dirty="0">
                <a:solidFill>
                  <a:prstClr val="white"/>
                </a:solidFill>
              </a:rPr>
              <a:t>change</a:t>
            </a:r>
            <a:r>
              <a:rPr lang="en-US" altLang="zh-TW" sz="1834" dirty="0">
                <a:solidFill>
                  <a:prstClr val="white"/>
                </a:solidFill>
              </a:rPr>
              <a:t>”</a:t>
            </a:r>
            <a:endParaRPr lang="zh-TW" altLang="en-US" sz="1834" dirty="0">
              <a:solidFill>
                <a:prstClr val="white"/>
              </a:solidFill>
            </a:endParaRPr>
          </a:p>
        </p:txBody>
      </p:sp>
      <p:sp>
        <p:nvSpPr>
          <p:cNvPr id="11" name="Rounded Rectangular Callout 10"/>
          <p:cNvSpPr/>
          <p:nvPr/>
        </p:nvSpPr>
        <p:spPr>
          <a:xfrm>
            <a:off x="7740620" y="5715001"/>
            <a:ext cx="1531582" cy="1039287"/>
          </a:xfrm>
          <a:prstGeom prst="wedgeRoundRectCallout">
            <a:avLst>
              <a:gd name="adj1" fmla="val -23836"/>
              <a:gd name="adj2" fmla="val -117768"/>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834" i="1" dirty="0">
                <a:solidFill>
                  <a:prstClr val="white"/>
                </a:solidFill>
              </a:rPr>
              <a:t>able:</a:t>
            </a:r>
            <a:r>
              <a:rPr lang="en-US" altLang="zh-TW" sz="1834" dirty="0">
                <a:solidFill>
                  <a:prstClr val="white"/>
                </a:solidFill>
              </a:rPr>
              <a:t> a suffix meaning “</a:t>
            </a:r>
            <a:r>
              <a:rPr lang="en-US" altLang="zh-TW" sz="2935" i="1" dirty="0">
                <a:solidFill>
                  <a:prstClr val="white"/>
                </a:solidFill>
              </a:rPr>
              <a:t>able</a:t>
            </a:r>
            <a:r>
              <a:rPr lang="en-US" altLang="zh-TW" sz="1834" dirty="0">
                <a:solidFill>
                  <a:prstClr val="white"/>
                </a:solidFill>
              </a:rPr>
              <a:t>”</a:t>
            </a:r>
            <a:endParaRPr lang="zh-TW" altLang="en-US" sz="1834" dirty="0">
              <a:solidFill>
                <a:prstClr val="white"/>
              </a:solidFill>
            </a:endParaRPr>
          </a:p>
        </p:txBody>
      </p:sp>
      <p:sp>
        <p:nvSpPr>
          <p:cNvPr id="12" name="Rounded Rectangular Callout 11"/>
          <p:cNvSpPr/>
          <p:nvPr/>
        </p:nvSpPr>
        <p:spPr>
          <a:xfrm>
            <a:off x="1355522" y="5715000"/>
            <a:ext cx="2053410" cy="1039287"/>
          </a:xfrm>
          <a:prstGeom prst="wedgeRoundRectCallout">
            <a:avLst>
              <a:gd name="adj1" fmla="val 125040"/>
              <a:gd name="adj2" fmla="val 29027"/>
              <a:gd name="adj3" fmla="val 16667"/>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endParaRPr lang="en-US" altLang="zh-TW" sz="825" i="1" dirty="0">
              <a:solidFill>
                <a:prstClr val="white"/>
              </a:solidFill>
            </a:endParaRPr>
          </a:p>
          <a:p>
            <a:pPr algn="ctr">
              <a:lnSpc>
                <a:spcPct val="80000"/>
              </a:lnSpc>
            </a:pPr>
            <a:r>
              <a:rPr lang="en-US" altLang="zh-TW" sz="1834" i="1" dirty="0">
                <a:solidFill>
                  <a:prstClr val="white"/>
                </a:solidFill>
              </a:rPr>
              <a:t>not</a:t>
            </a:r>
            <a:r>
              <a:rPr lang="en-US" altLang="zh-TW" sz="1100" i="1" dirty="0">
                <a:solidFill>
                  <a:prstClr val="white"/>
                </a:solidFill>
              </a:rPr>
              <a:t> </a:t>
            </a:r>
            <a:r>
              <a:rPr lang="en-US" altLang="zh-TW" sz="1834" dirty="0">
                <a:solidFill>
                  <a:prstClr val="white"/>
                </a:solidFill>
                <a:sym typeface="Symbol" panose="05050102010706020507" pitchFamily="18" charset="2"/>
              </a:rPr>
              <a:t></a:t>
            </a:r>
            <a:r>
              <a:rPr lang="en-US" altLang="zh-TW" sz="800" dirty="0">
                <a:solidFill>
                  <a:prstClr val="white"/>
                </a:solidFill>
                <a:sym typeface="Symbol" panose="05050102010706020507" pitchFamily="18" charset="2"/>
              </a:rPr>
              <a:t> </a:t>
            </a:r>
            <a:r>
              <a:rPr lang="en-US" altLang="zh-TW" sz="1834" i="1" dirty="0">
                <a:solidFill>
                  <a:prstClr val="white"/>
                </a:solidFill>
                <a:sym typeface="Symbol" panose="05050102010706020507" pitchFamily="18" charset="2"/>
              </a:rPr>
              <a:t>change</a:t>
            </a:r>
            <a:r>
              <a:rPr lang="en-US" altLang="zh-TW" sz="1100" i="1" dirty="0">
                <a:solidFill>
                  <a:prstClr val="white"/>
                </a:solidFill>
                <a:sym typeface="Symbol" panose="05050102010706020507" pitchFamily="18" charset="2"/>
              </a:rPr>
              <a:t> </a:t>
            </a:r>
            <a:r>
              <a:rPr lang="en-US" altLang="zh-TW" sz="1834" dirty="0">
                <a:solidFill>
                  <a:prstClr val="white"/>
                </a:solidFill>
                <a:sym typeface="Symbol" panose="05050102010706020507" pitchFamily="18" charset="2"/>
              </a:rPr>
              <a:t></a:t>
            </a:r>
            <a:r>
              <a:rPr lang="en-US" altLang="zh-TW" sz="800" i="1" dirty="0">
                <a:solidFill>
                  <a:prstClr val="white"/>
                </a:solidFill>
                <a:sym typeface="Symbol" panose="05050102010706020507" pitchFamily="18" charset="2"/>
              </a:rPr>
              <a:t> </a:t>
            </a:r>
            <a:r>
              <a:rPr lang="en-US" altLang="zh-TW" sz="1834" i="1" dirty="0" smtClean="0">
                <a:solidFill>
                  <a:prstClr val="white"/>
                </a:solidFill>
              </a:rPr>
              <a:t>able:</a:t>
            </a:r>
            <a:r>
              <a:rPr lang="en-US" altLang="zh-TW" sz="1834" dirty="0" smtClean="0">
                <a:solidFill>
                  <a:prstClr val="white"/>
                </a:solidFill>
              </a:rPr>
              <a:t> </a:t>
            </a:r>
            <a:r>
              <a:rPr lang="en-US" altLang="zh-TW" sz="1834" dirty="0">
                <a:solidFill>
                  <a:prstClr val="white"/>
                </a:solidFill>
              </a:rPr>
              <a:t>“</a:t>
            </a:r>
            <a:r>
              <a:rPr lang="en-US" altLang="zh-TW" sz="2935" i="1" dirty="0">
                <a:solidFill>
                  <a:prstClr val="white"/>
                </a:solidFill>
              </a:rPr>
              <a:t>cannot be changed</a:t>
            </a:r>
            <a:r>
              <a:rPr lang="en-US" altLang="zh-TW" sz="1834" dirty="0">
                <a:solidFill>
                  <a:prstClr val="white"/>
                </a:solidFill>
              </a:rPr>
              <a:t>”</a:t>
            </a:r>
            <a:endParaRPr lang="zh-TW" altLang="en-US" sz="1834" dirty="0">
              <a:solidFill>
                <a:prstClr val="white"/>
              </a:solidFill>
            </a:endParaRPr>
          </a:p>
        </p:txBody>
      </p:sp>
    </p:spTree>
    <p:extLst>
      <p:ext uri="{BB962C8B-B14F-4D97-AF65-F5344CB8AC3E}">
        <p14:creationId xmlns:p14="http://schemas.microsoft.com/office/powerpoint/2010/main" val="158634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randombar(horizontal)">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randombar(horizontal)">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0"/>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1"/>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4" presetClass="entr" presetSubtype="10" fill="hold" nodeType="withEffect">
                                  <p:stCondLst>
                                    <p:cond delay="0"/>
                                  </p:stCondLst>
                                  <p:childTnLst>
                                    <p:set>
                                      <p:cBhvr>
                                        <p:cTn id="30" dur="1" fill="hold">
                                          <p:stCondLst>
                                            <p:cond delay="0"/>
                                          </p:stCondLst>
                                        </p:cTn>
                                        <p:tgtEl>
                                          <p:spTgt spid="22531">
                                            <p:txEl>
                                              <p:pRg st="5" end="5"/>
                                            </p:txEl>
                                          </p:spTgt>
                                        </p:tgtEl>
                                        <p:attrNameLst>
                                          <p:attrName>style.visibility</p:attrName>
                                        </p:attrNameLst>
                                      </p:cBhvr>
                                      <p:to>
                                        <p:strVal val="visible"/>
                                      </p:to>
                                    </p:set>
                                    <p:animEffect transition="in" filter="randombar(horizontal)">
                                      <p:cBhvr>
                                        <p:cTn id="31" dur="500"/>
                                        <p:tgtEl>
                                          <p:spTgt spid="22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0" grpId="0" animBg="1"/>
      <p:bldP spid="10" grpId="1" animBg="1"/>
      <p:bldP spid="11" grpId="0" animBg="1"/>
      <p:bldP spid="11" grpId="1" animBg="1"/>
      <p:bldP spid="12" grpId="0" animBg="1"/>
      <p:bldP spid="12" grpId="1"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a:spLocks noGrp="1"/>
          </p:cNvSpPr>
          <p:nvPr>
            <p:ph idx="1"/>
          </p:nvPr>
        </p:nvSpPr>
        <p:spPr>
          <a:xfrm>
            <a:off x="359076" y="1348830"/>
            <a:ext cx="9077818" cy="5225387"/>
          </a:xfrm>
        </p:spPr>
        <p:txBody>
          <a:bodyPr>
            <a:noAutofit/>
          </a:bodyPr>
          <a:lstStyle/>
          <a:p>
            <a:r>
              <a:rPr lang="en-US" altLang="en-US" sz="3200" dirty="0">
                <a:solidFill>
                  <a:schemeClr val="bg1">
                    <a:lumMod val="85000"/>
                  </a:schemeClr>
                </a:solidFill>
              </a:rPr>
              <a:t>Assigning a value to a variable does not update it, instead it creates a new variable.</a:t>
            </a:r>
          </a:p>
          <a:p>
            <a:pPr lvl="1"/>
            <a:r>
              <a:rPr lang="en-US" altLang="en-US" sz="2800" dirty="0">
                <a:solidFill>
                  <a:schemeClr val="bg1">
                    <a:lumMod val="85000"/>
                  </a:schemeClr>
                </a:solidFill>
              </a:rPr>
              <a:t>If </a:t>
            </a:r>
            <a:r>
              <a:rPr lang="en-US" altLang="en-US" sz="2800" dirty="0" smtClean="0">
                <a:solidFill>
                  <a:schemeClr val="bg1">
                    <a:lumMod val="85000"/>
                  </a:schemeClr>
                </a:solidFill>
              </a:rPr>
              <a:t>its </a:t>
            </a:r>
            <a:r>
              <a:rPr lang="en-US" altLang="en-US" sz="2800" dirty="0">
                <a:solidFill>
                  <a:schemeClr val="bg1">
                    <a:lumMod val="85000"/>
                  </a:schemeClr>
                </a:solidFill>
              </a:rPr>
              <a:t>the same type (or even if not</a:t>
            </a:r>
            <a:r>
              <a:rPr lang="en-US" altLang="en-US" sz="2800" dirty="0" smtClean="0">
                <a:solidFill>
                  <a:schemeClr val="bg1">
                    <a:lumMod val="85000"/>
                  </a:schemeClr>
                </a:solidFill>
              </a:rPr>
              <a:t>) </a:t>
            </a:r>
            <a:r>
              <a:rPr lang="en-US" altLang="en-US" sz="2800" dirty="0">
                <a:solidFill>
                  <a:schemeClr val="bg1">
                    <a:lumMod val="85000"/>
                  </a:schemeClr>
                </a:solidFill>
              </a:rPr>
              <a:t>it </a:t>
            </a:r>
            <a:r>
              <a:rPr lang="en-US" altLang="en-US" sz="2800" i="1" dirty="0" smtClean="0">
                <a:solidFill>
                  <a:schemeClr val="bg1">
                    <a:lumMod val="85000"/>
                  </a:schemeClr>
                </a:solidFill>
              </a:rPr>
              <a:t>could</a:t>
            </a:r>
            <a:r>
              <a:rPr lang="en-US" altLang="en-US" sz="2800" dirty="0" smtClean="0">
                <a:solidFill>
                  <a:schemeClr val="bg1">
                    <a:lumMod val="85000"/>
                  </a:schemeClr>
                </a:solidFill>
              </a:rPr>
              <a:t> end </a:t>
            </a:r>
            <a:r>
              <a:rPr lang="en-US" altLang="en-US" sz="2800" dirty="0">
                <a:solidFill>
                  <a:schemeClr val="bg1">
                    <a:lumMod val="85000"/>
                  </a:schemeClr>
                </a:solidFill>
              </a:rPr>
              <a:t>up in the same memory location. Nonetheless, it is a new variable.</a:t>
            </a:r>
          </a:p>
          <a:p>
            <a:r>
              <a:rPr lang="en-US" altLang="en-US" sz="3200" dirty="0">
                <a:solidFill>
                  <a:schemeClr val="bg1">
                    <a:lumMod val="85000"/>
                  </a:schemeClr>
                </a:solidFill>
              </a:rPr>
              <a:t>But there are multi-value variables. A</a:t>
            </a:r>
            <a:r>
              <a:rPr lang="en-US" altLang="en-US" sz="3200" dirty="0" smtClean="0">
                <a:solidFill>
                  <a:schemeClr val="bg1">
                    <a:lumMod val="85000"/>
                  </a:schemeClr>
                </a:solidFill>
              </a:rPr>
              <a:t>ssigning to one </a:t>
            </a:r>
            <a:r>
              <a:rPr lang="en-US" altLang="en-US" sz="3200" spc="-30" dirty="0">
                <a:solidFill>
                  <a:schemeClr val="bg1">
                    <a:lumMod val="85000"/>
                  </a:schemeClr>
                </a:solidFill>
              </a:rPr>
              <a:t>value is different than assigning </a:t>
            </a:r>
            <a:r>
              <a:rPr lang="en-US" altLang="en-US" sz="3200" spc="-30" dirty="0" smtClean="0">
                <a:solidFill>
                  <a:schemeClr val="bg1">
                    <a:lumMod val="85000"/>
                  </a:schemeClr>
                </a:solidFill>
              </a:rPr>
              <a:t>to the whole variable</a:t>
            </a:r>
            <a:r>
              <a:rPr lang="en-US" altLang="en-US" sz="3200" spc="-30" dirty="0">
                <a:solidFill>
                  <a:schemeClr val="bg1">
                    <a:lumMod val="85000"/>
                  </a:schemeClr>
                </a:solidFill>
              </a:rPr>
              <a:t>.</a:t>
            </a:r>
          </a:p>
          <a:p>
            <a:r>
              <a:rPr lang="en-US" altLang="en-US" sz="3200" dirty="0">
                <a:solidFill>
                  <a:schemeClr val="bg1">
                    <a:lumMod val="85000"/>
                  </a:schemeClr>
                </a:solidFill>
              </a:rPr>
              <a:t>Python divides its types into two categories:</a:t>
            </a:r>
          </a:p>
          <a:p>
            <a:pPr marL="836633" lvl="1" indent="-471762">
              <a:buClr>
                <a:schemeClr val="bg1">
                  <a:lumMod val="85000"/>
                </a:schemeClr>
              </a:buClr>
              <a:buFont typeface="+mj-lt"/>
              <a:buAutoNum type="arabicPeriod"/>
            </a:pPr>
            <a:r>
              <a:rPr lang="en-US" altLang="en-US" sz="3200" dirty="0" smtClean="0"/>
              <a:t>Numbers</a:t>
            </a:r>
            <a:r>
              <a:rPr lang="en-US" altLang="en-US" sz="3200" dirty="0" smtClean="0">
                <a:solidFill>
                  <a:schemeClr val="bg1">
                    <a:lumMod val="85000"/>
                  </a:schemeClr>
                </a:solidFill>
              </a:rPr>
              <a:t>, strings, </a:t>
            </a:r>
            <a:r>
              <a:rPr lang="en-US" altLang="en-US" sz="3200" dirty="0">
                <a:solidFill>
                  <a:schemeClr val="bg1">
                    <a:lumMod val="85000"/>
                  </a:schemeClr>
                </a:solidFill>
              </a:rPr>
              <a:t>and tuples </a:t>
            </a:r>
            <a:r>
              <a:rPr lang="en-US" altLang="en-US" sz="3200" dirty="0"/>
              <a:t>are </a:t>
            </a:r>
            <a:r>
              <a:rPr lang="en-US" altLang="en-US" sz="3200" b="1" dirty="0">
                <a:solidFill>
                  <a:srgbClr val="00B050"/>
                </a:solidFill>
              </a:rPr>
              <a:t>im</a:t>
            </a:r>
            <a:r>
              <a:rPr lang="en-US" altLang="en-US" sz="3200" b="1" dirty="0">
                <a:solidFill>
                  <a:srgbClr val="FF0000"/>
                </a:solidFill>
              </a:rPr>
              <a:t>mut</a:t>
            </a:r>
            <a:r>
              <a:rPr lang="en-US" altLang="en-US" sz="3200" b="1" dirty="0">
                <a:solidFill>
                  <a:srgbClr val="0070C0"/>
                </a:solidFill>
              </a:rPr>
              <a:t>able</a:t>
            </a:r>
            <a:r>
              <a:rPr lang="en-US" altLang="en-US" sz="3200" dirty="0"/>
              <a:t>.</a:t>
            </a:r>
          </a:p>
          <a:p>
            <a:pPr marL="836633" lvl="1" indent="-471762">
              <a:buFont typeface="+mj-lt"/>
              <a:buAutoNum type="arabicPeriod"/>
            </a:pPr>
            <a:r>
              <a:rPr lang="en-US" altLang="en-US" sz="3200" dirty="0" smtClean="0">
                <a:solidFill>
                  <a:schemeClr val="bg1">
                    <a:lumMod val="85000"/>
                  </a:schemeClr>
                </a:solidFill>
              </a:rPr>
              <a:t>Lists, sets, </a:t>
            </a:r>
            <a:r>
              <a:rPr lang="en-US" altLang="en-US" sz="3200" dirty="0">
                <a:solidFill>
                  <a:schemeClr val="bg1">
                    <a:lumMod val="85000"/>
                  </a:schemeClr>
                </a:solidFill>
              </a:rPr>
              <a:t>and dictionaries are mutable.</a:t>
            </a:r>
          </a:p>
        </p:txBody>
      </p:sp>
      <p:sp>
        <p:nvSpPr>
          <p:cNvPr id="9" name="Title 1"/>
          <p:cNvSpPr>
            <a:spLocks noGrp="1"/>
          </p:cNvSpPr>
          <p:nvPr>
            <p:ph type="title"/>
          </p:nvPr>
        </p:nvSpPr>
        <p:spPr>
          <a:xfrm>
            <a:off x="1" y="283784"/>
            <a:ext cx="9729788" cy="1065046"/>
          </a:xfrm>
        </p:spPr>
        <p:txBody>
          <a:bodyPr>
            <a:normAutofit/>
          </a:bodyPr>
          <a:lstStyle/>
          <a:p>
            <a:r>
              <a:rPr lang="en-US" altLang="en-US" sz="4400" dirty="0" smtClean="0">
                <a:solidFill>
                  <a:srgbClr val="0070C0"/>
                </a:solidFill>
              </a:rPr>
              <a:t>Updating the Values of Variables:</a:t>
            </a:r>
          </a:p>
        </p:txBody>
      </p:sp>
      <p:grpSp>
        <p:nvGrpSpPr>
          <p:cNvPr id="3" name="Group 2"/>
          <p:cNvGrpSpPr/>
          <p:nvPr/>
        </p:nvGrpSpPr>
        <p:grpSpPr>
          <a:xfrm>
            <a:off x="282876" y="1134713"/>
            <a:ext cx="5542294" cy="2826810"/>
            <a:chOff x="282876" y="1134713"/>
            <a:chExt cx="5542294" cy="2826810"/>
          </a:xfrm>
        </p:grpSpPr>
        <p:sp>
          <p:nvSpPr>
            <p:cNvPr id="14" name="Rounded Rectangular Callout 13"/>
            <p:cNvSpPr/>
            <p:nvPr/>
          </p:nvSpPr>
          <p:spPr>
            <a:xfrm>
              <a:off x="380847" y="1134713"/>
              <a:ext cx="5444323" cy="2826810"/>
            </a:xfrm>
            <a:prstGeom prst="wedgeRoundRectCallout">
              <a:avLst>
                <a:gd name="adj1" fmla="val -20609"/>
                <a:gd name="adj2" fmla="val 6895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33CC"/>
                </a:solidFill>
              </a:endParaRPr>
            </a:p>
          </p:txBody>
        </p:sp>
        <p:sp>
          <p:nvSpPr>
            <p:cNvPr id="15" name="Rounded Rectangular Callout 14"/>
            <p:cNvSpPr/>
            <p:nvPr/>
          </p:nvSpPr>
          <p:spPr>
            <a:xfrm>
              <a:off x="282876" y="1134713"/>
              <a:ext cx="2717452" cy="2826810"/>
            </a:xfrm>
            <a:prstGeom prst="wedgeRoundRectCallout">
              <a:avLst>
                <a:gd name="adj1" fmla="val -50002"/>
                <a:gd name="adj2" fmla="val -19233"/>
                <a:gd name="adj3"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2000"/>
                </a:lnSpc>
              </a:pPr>
              <a:r>
                <a:rPr lang="en-US" sz="2800" dirty="0" smtClean="0">
                  <a:solidFill>
                    <a:srgbClr val="0033CC"/>
                  </a:solidFill>
                </a:rPr>
                <a:t>Numbers cannot</a:t>
              </a:r>
              <a:br>
                <a:rPr lang="en-US" sz="2800" dirty="0" smtClean="0">
                  <a:solidFill>
                    <a:srgbClr val="0033CC"/>
                  </a:solidFill>
                </a:rPr>
              </a:br>
              <a:r>
                <a:rPr lang="en-US" sz="2800" dirty="0" smtClean="0">
                  <a:solidFill>
                    <a:srgbClr val="0033CC"/>
                  </a:solidFill>
                </a:rPr>
                <a:t> change?!? Then how do you explain this:</a:t>
              </a:r>
              <a:endParaRPr lang="en-US" sz="2800" dirty="0">
                <a:solidFill>
                  <a:srgbClr val="0033CC"/>
                </a:solidFill>
              </a:endParaRPr>
            </a:p>
          </p:txBody>
        </p:sp>
      </p:grpSp>
      <p:sp>
        <p:nvSpPr>
          <p:cNvPr id="13" name="Rectangle 12"/>
          <p:cNvSpPr/>
          <p:nvPr/>
        </p:nvSpPr>
        <p:spPr>
          <a:xfrm>
            <a:off x="2707040" y="1459982"/>
            <a:ext cx="2678744" cy="217627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&gt;&gt;&gt; </a:t>
            </a:r>
            <a:r>
              <a:rPr lang="en-US" sz="2200" dirty="0">
                <a:solidFill>
                  <a:schemeClr val="bg1"/>
                </a:solidFill>
                <a:latin typeface="Lucida Console" panose="020B0609040504020204" pitchFamily="49" charset="0"/>
                <a:cs typeface="Consolas" panose="020B0609020204030204" pitchFamily="49" charset="0"/>
              </a:rPr>
              <a:t>x=5</a:t>
            </a: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a:t>
            </a:r>
            <a:r>
              <a:rPr lang="en-US" sz="2200" dirty="0" smtClean="0">
                <a:solidFill>
                  <a:schemeClr val="bg1"/>
                </a:solidFill>
                <a:latin typeface="Lucida Console" panose="020B0609040504020204" pitchFamily="49" charset="0"/>
                <a:cs typeface="Consolas" panose="020B0609020204030204" pitchFamily="49" charset="0"/>
              </a:rPr>
              <a:t>x)</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5</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a:t>
            </a:r>
            <a:r>
              <a:rPr lang="en-US" sz="2200" dirty="0" smtClean="0">
                <a:solidFill>
                  <a:schemeClr val="bg1"/>
                </a:solidFill>
                <a:latin typeface="Lucida Console" panose="020B0609040504020204" pitchFamily="49" charset="0"/>
                <a:cs typeface="Consolas" panose="020B0609020204030204" pitchFamily="49" charset="0"/>
              </a:rPr>
              <a:t>x=6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(x)</a:t>
            </a: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lumMod val="95000"/>
                  </a:schemeClr>
                </a:solidFill>
                <a:latin typeface="Lucida Console" panose="020B0609040504020204" pitchFamily="49" charset="0"/>
                <a:cs typeface="Consolas" panose="020B0609020204030204" pitchFamily="49" charset="0"/>
              </a:rPr>
              <a:t>&gt;&gt;&gt;</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17" name="Rounded Rectangular Callout 16"/>
          <p:cNvSpPr/>
          <p:nvPr/>
        </p:nvSpPr>
        <p:spPr>
          <a:xfrm>
            <a:off x="6311900" y="1134714"/>
            <a:ext cx="3439660" cy="2826810"/>
          </a:xfrm>
          <a:prstGeom prst="wedgeRoundRectCallout">
            <a:avLst>
              <a:gd name="adj1" fmla="val -118531"/>
              <a:gd name="adj2" fmla="val -248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2000"/>
              </a:lnSpc>
            </a:pPr>
            <a:r>
              <a:rPr lang="en-US" sz="2800" dirty="0" smtClean="0">
                <a:solidFill>
                  <a:srgbClr val="0033CC"/>
                </a:solidFill>
              </a:rPr>
              <a:t>OK, I will explain it. The second assignment has created a new variable while </a:t>
            </a:r>
            <a:r>
              <a:rPr lang="en-US" sz="2800" i="1" dirty="0" smtClean="0">
                <a:solidFill>
                  <a:srgbClr val="FF0000"/>
                </a:solidFill>
              </a:rPr>
              <a:t>also</a:t>
            </a:r>
            <a:r>
              <a:rPr lang="en-US" sz="2800" dirty="0" smtClean="0">
                <a:solidFill>
                  <a:srgbClr val="0033CC"/>
                </a:solidFill>
              </a:rPr>
              <a:t> </a:t>
            </a:r>
            <a:r>
              <a:rPr lang="en-US" sz="2800" dirty="0" smtClean="0">
                <a:solidFill>
                  <a:srgbClr val="FF0000"/>
                </a:solidFill>
              </a:rPr>
              <a:t>causing the first variable to die</a:t>
            </a:r>
            <a:r>
              <a:rPr lang="en-US" sz="2800" dirty="0" smtClean="0">
                <a:solidFill>
                  <a:srgbClr val="0033CC"/>
                </a:solidFill>
              </a:rPr>
              <a:t>.</a:t>
            </a:r>
            <a:endParaRPr lang="en-US" sz="2800" dirty="0">
              <a:solidFill>
                <a:srgbClr val="0033CC"/>
              </a:solidFill>
            </a:endParaRPr>
          </a:p>
        </p:txBody>
      </p:sp>
      <p:sp>
        <p:nvSpPr>
          <p:cNvPr id="19" name="Rounded Rectangular Callout 18"/>
          <p:cNvSpPr/>
          <p:nvPr/>
        </p:nvSpPr>
        <p:spPr>
          <a:xfrm>
            <a:off x="6273454" y="4031190"/>
            <a:ext cx="3439660" cy="2826810"/>
          </a:xfrm>
          <a:prstGeom prst="wedgeRoundRectCallout">
            <a:avLst>
              <a:gd name="adj1" fmla="val 23620"/>
              <a:gd name="adj2" fmla="val -6358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bIns="0" rtlCol="0" anchor="ctr"/>
          <a:lstStyle/>
          <a:p>
            <a:pPr algn="ctr">
              <a:lnSpc>
                <a:spcPct val="82000"/>
              </a:lnSpc>
            </a:pPr>
            <a:r>
              <a:rPr lang="en-US" sz="2800" spc="-40" dirty="0" smtClean="0">
                <a:solidFill>
                  <a:srgbClr val="0033CC"/>
                </a:solidFill>
              </a:rPr>
              <a:t> It</a:t>
            </a:r>
            <a:r>
              <a:rPr lang="en-US" sz="2400" spc="-40" dirty="0" smtClean="0">
                <a:solidFill>
                  <a:srgbClr val="0033CC"/>
                </a:solidFill>
              </a:rPr>
              <a:t> </a:t>
            </a:r>
            <a:r>
              <a:rPr lang="en-US" sz="2800" spc="-60" dirty="0" smtClean="0">
                <a:solidFill>
                  <a:srgbClr val="0033CC"/>
                </a:solidFill>
              </a:rPr>
              <a:t>dies</a:t>
            </a:r>
            <a:r>
              <a:rPr lang="en-US" sz="2400" spc="-60" dirty="0" smtClean="0">
                <a:solidFill>
                  <a:srgbClr val="0033CC"/>
                </a:solidFill>
              </a:rPr>
              <a:t> </a:t>
            </a:r>
            <a:r>
              <a:rPr lang="en-US" sz="2800" spc="-60" dirty="0" smtClean="0">
                <a:solidFill>
                  <a:srgbClr val="0033CC"/>
                </a:solidFill>
              </a:rPr>
              <a:t>be</a:t>
            </a:r>
            <a:r>
              <a:rPr lang="en-US" sz="2800" spc="-40" dirty="0" smtClean="0">
                <a:solidFill>
                  <a:srgbClr val="0033CC"/>
                </a:solidFill>
              </a:rPr>
              <a:t>c</a:t>
            </a:r>
            <a:r>
              <a:rPr lang="en-US" sz="2800" spc="-120" dirty="0" smtClean="0">
                <a:solidFill>
                  <a:srgbClr val="0033CC"/>
                </a:solidFill>
              </a:rPr>
              <a:t>a</a:t>
            </a:r>
            <a:r>
              <a:rPr lang="en-US" sz="2800" spc="-80" dirty="0" smtClean="0">
                <a:solidFill>
                  <a:srgbClr val="0033CC"/>
                </a:solidFill>
              </a:rPr>
              <a:t>us</a:t>
            </a:r>
            <a:r>
              <a:rPr lang="en-US" sz="2800" spc="-40" dirty="0" smtClean="0">
                <a:solidFill>
                  <a:srgbClr val="0033CC"/>
                </a:solidFill>
              </a:rPr>
              <a:t>e Pyt</a:t>
            </a:r>
            <a:r>
              <a:rPr lang="en-US" sz="2800" spc="-90" dirty="0" smtClean="0">
                <a:solidFill>
                  <a:srgbClr val="0033CC"/>
                </a:solidFill>
              </a:rPr>
              <a:t>ho</a:t>
            </a:r>
            <a:r>
              <a:rPr lang="en-US" sz="2800" spc="-40" dirty="0" smtClean="0">
                <a:solidFill>
                  <a:srgbClr val="0033CC"/>
                </a:solidFill>
              </a:rPr>
              <a:t>n</a:t>
            </a:r>
            <a:endParaRPr lang="en-US" sz="2800" dirty="0">
              <a:solidFill>
                <a:srgbClr val="0033CC"/>
              </a:solidFill>
            </a:endParaRPr>
          </a:p>
          <a:p>
            <a:pPr algn="ctr">
              <a:lnSpc>
                <a:spcPct val="82000"/>
              </a:lnSpc>
            </a:pPr>
            <a:r>
              <a:rPr lang="en-US" sz="2800" dirty="0" smtClean="0">
                <a:solidFill>
                  <a:srgbClr val="0033CC"/>
                </a:solidFill>
              </a:rPr>
              <a:t>knows</a:t>
            </a:r>
            <a:r>
              <a:rPr lang="en-US" sz="2800" dirty="0" smtClean="0">
                <a:solidFill>
                  <a:srgbClr val="FF0000"/>
                </a:solidFill>
              </a:rPr>
              <a:t> it can</a:t>
            </a:r>
            <a:r>
              <a:rPr lang="en-US" sz="2800" dirty="0" smtClean="0">
                <a:solidFill>
                  <a:srgbClr val="0033CC"/>
                </a:solidFill>
              </a:rPr>
              <a:t> </a:t>
            </a:r>
            <a:r>
              <a:rPr lang="en-US" sz="2800" dirty="0" smtClean="0">
                <a:solidFill>
                  <a:srgbClr val="FF0000"/>
                </a:solidFill>
              </a:rPr>
              <a:t>never</a:t>
            </a:r>
          </a:p>
          <a:p>
            <a:pPr algn="ctr">
              <a:lnSpc>
                <a:spcPct val="82000"/>
              </a:lnSpc>
            </a:pPr>
            <a:r>
              <a:rPr lang="en-US" sz="2800" dirty="0" smtClean="0">
                <a:solidFill>
                  <a:srgbClr val="FF0000"/>
                </a:solidFill>
              </a:rPr>
              <a:t>again be accessed</a:t>
            </a:r>
          </a:p>
          <a:p>
            <a:pPr algn="ctr">
              <a:lnSpc>
                <a:spcPct val="82000"/>
              </a:lnSpc>
            </a:pPr>
            <a:r>
              <a:rPr lang="en-US" sz="2800" dirty="0" smtClean="0">
                <a:solidFill>
                  <a:srgbClr val="0033CC"/>
                </a:solidFill>
              </a:rPr>
              <a:t>(since the name that</a:t>
            </a:r>
          </a:p>
          <a:p>
            <a:pPr algn="ctr">
              <a:lnSpc>
                <a:spcPct val="82000"/>
              </a:lnSpc>
            </a:pPr>
            <a:r>
              <a:rPr lang="en-US" sz="2800" dirty="0" smtClean="0">
                <a:solidFill>
                  <a:srgbClr val="0033CC"/>
                </a:solidFill>
              </a:rPr>
              <a:t>had been used to</a:t>
            </a:r>
          </a:p>
          <a:p>
            <a:pPr algn="ctr">
              <a:lnSpc>
                <a:spcPct val="82000"/>
              </a:lnSpc>
            </a:pPr>
            <a:r>
              <a:rPr lang="en-US" sz="2800" spc="-30" dirty="0" smtClean="0">
                <a:solidFill>
                  <a:srgbClr val="0033CC"/>
                </a:solidFill>
              </a:rPr>
              <a:t>access it has now</a:t>
            </a:r>
          </a:p>
          <a:p>
            <a:pPr algn="ctr">
              <a:lnSpc>
                <a:spcPct val="82000"/>
              </a:lnSpc>
            </a:pPr>
            <a:r>
              <a:rPr lang="en-US" sz="2800" spc="-30" dirty="0" smtClean="0">
                <a:solidFill>
                  <a:srgbClr val="0033CC"/>
                </a:solidFill>
              </a:rPr>
              <a:t>been </a:t>
            </a:r>
            <a:r>
              <a:rPr lang="en-US" sz="2800" dirty="0" smtClean="0">
                <a:solidFill>
                  <a:srgbClr val="0033CC"/>
                </a:solidFill>
              </a:rPr>
              <a:t>reused to access</a:t>
            </a:r>
          </a:p>
          <a:p>
            <a:pPr algn="ctr">
              <a:lnSpc>
                <a:spcPct val="82000"/>
              </a:lnSpc>
            </a:pPr>
            <a:r>
              <a:rPr lang="en-US" sz="2800" dirty="0" smtClean="0">
                <a:solidFill>
                  <a:srgbClr val="0033CC"/>
                </a:solidFill>
              </a:rPr>
              <a:t>something else).</a:t>
            </a:r>
            <a:endParaRPr lang="en-US" sz="2800" dirty="0">
              <a:solidFill>
                <a:srgbClr val="0033CC"/>
              </a:solidFill>
            </a:endParaRPr>
          </a:p>
        </p:txBody>
      </p:sp>
      <p:sp>
        <p:nvSpPr>
          <p:cNvPr id="20" name="Rounded Rectangular Callout 19"/>
          <p:cNvSpPr/>
          <p:nvPr/>
        </p:nvSpPr>
        <p:spPr>
          <a:xfrm>
            <a:off x="3555999" y="4041260"/>
            <a:ext cx="2398219" cy="2826810"/>
          </a:xfrm>
          <a:prstGeom prst="wedgeRoundRectCallout">
            <a:avLst>
              <a:gd name="adj1" fmla="val 72727"/>
              <a:gd name="adj2" fmla="val -22699"/>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2000"/>
              </a:lnSpc>
            </a:pPr>
            <a:r>
              <a:rPr lang="en-US" sz="2800" spc="-40" dirty="0">
                <a:solidFill>
                  <a:srgbClr val="0033CC"/>
                </a:solidFill>
              </a:rPr>
              <a:t>T</a:t>
            </a:r>
            <a:r>
              <a:rPr lang="en-US" sz="2800" spc="-40" dirty="0" smtClean="0">
                <a:solidFill>
                  <a:srgbClr val="0033CC"/>
                </a:solidFill>
              </a:rPr>
              <a:t>he memory location holding ‘5’ </a:t>
            </a:r>
            <a:br>
              <a:rPr lang="en-US" sz="2800" spc="-40" dirty="0" smtClean="0">
                <a:solidFill>
                  <a:srgbClr val="0033CC"/>
                </a:solidFill>
              </a:rPr>
            </a:br>
            <a:r>
              <a:rPr lang="en-US" sz="2800" spc="-40" dirty="0" smtClean="0">
                <a:solidFill>
                  <a:srgbClr val="0033CC"/>
                </a:solidFill>
              </a:rPr>
              <a:t>has become </a:t>
            </a:r>
            <a:r>
              <a:rPr lang="en-US" sz="2800" spc="-40" dirty="0" smtClean="0">
                <a:solidFill>
                  <a:srgbClr val="FF0000"/>
                </a:solidFill>
              </a:rPr>
              <a:t>garbage</a:t>
            </a:r>
            <a:r>
              <a:rPr lang="en-US" sz="2800" spc="-40" dirty="0">
                <a:solidFill>
                  <a:srgbClr val="0033CC"/>
                </a:solidFill>
              </a:rPr>
              <a:t> </a:t>
            </a:r>
            <a:r>
              <a:rPr lang="en-US" sz="2800" spc="-40" dirty="0" smtClean="0">
                <a:solidFill>
                  <a:srgbClr val="0033CC"/>
                </a:solidFill>
              </a:rPr>
              <a:t/>
            </a:r>
            <a:br>
              <a:rPr lang="en-US" sz="2800" spc="-40" dirty="0" smtClean="0">
                <a:solidFill>
                  <a:srgbClr val="0033CC"/>
                </a:solidFill>
              </a:rPr>
            </a:br>
            <a:r>
              <a:rPr lang="en-US" sz="2800" spc="-40" dirty="0" smtClean="0">
                <a:solidFill>
                  <a:srgbClr val="0033CC"/>
                </a:solidFill>
              </a:rPr>
              <a:t>which can be collected and thrown away.</a:t>
            </a:r>
            <a:endParaRPr lang="en-US" sz="2800" dirty="0">
              <a:solidFill>
                <a:srgbClr val="0033CC"/>
              </a:solidFill>
            </a:endParaRPr>
          </a:p>
        </p:txBody>
      </p:sp>
      <p:sp>
        <p:nvSpPr>
          <p:cNvPr id="21" name="Rounded Rectangular Callout 20"/>
          <p:cNvSpPr/>
          <p:nvPr/>
        </p:nvSpPr>
        <p:spPr>
          <a:xfrm>
            <a:off x="1188695" y="46577"/>
            <a:ext cx="7472705" cy="804353"/>
          </a:xfrm>
          <a:prstGeom prst="wedgeRoundRectCallout">
            <a:avLst>
              <a:gd name="adj1" fmla="val 49911"/>
              <a:gd name="adj2" fmla="val -22798"/>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2000"/>
              </a:lnSpc>
            </a:pPr>
            <a:r>
              <a:rPr lang="en-US" sz="2800" spc="-40" dirty="0" smtClean="0">
                <a:solidFill>
                  <a:srgbClr val="FFD966"/>
                </a:solidFill>
              </a:rPr>
              <a:t>..</a:t>
            </a:r>
            <a:r>
              <a:rPr lang="en-US" sz="2800" spc="-40" dirty="0" smtClean="0">
                <a:solidFill>
                  <a:srgbClr val="0033CC"/>
                </a:solidFill>
              </a:rPr>
              <a:t>Some C-style pseudocode might help explain this...</a:t>
            </a:r>
            <a:endParaRPr lang="en-US" sz="2800" dirty="0">
              <a:solidFill>
                <a:srgbClr val="0033CC"/>
              </a:solidFill>
            </a:endParaRPr>
          </a:p>
        </p:txBody>
      </p:sp>
    </p:spTree>
    <p:extLst>
      <p:ext uri="{BB962C8B-B14F-4D97-AF65-F5344CB8AC3E}">
        <p14:creationId xmlns:p14="http://schemas.microsoft.com/office/powerpoint/2010/main" val="420736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randombar(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randombar(horizontal)">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randombar(horizontal)">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1"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ppt_x"/>
                                          </p:val>
                                        </p:tav>
                                        <p:tav tm="100000">
                                          <p:val>
                                            <p:strVal val="#ppt_x"/>
                                          </p:val>
                                        </p:tav>
                                      </p:tavLst>
                                    </p:anim>
                                    <p:anim calcmode="lin" valueType="num">
                                      <p:cBhvr additive="base">
                                        <p:cTn id="33" dur="500" fill="hold"/>
                                        <p:tgtEl>
                                          <p:spTgt spid="21"/>
                                        </p:tgtEl>
                                        <p:attrNameLst>
                                          <p:attrName>ppt_y</p:attrName>
                                        </p:attrNameLst>
                                      </p:cBhvr>
                                      <p:tavLst>
                                        <p:tav tm="0">
                                          <p:val>
                                            <p:strVal val="0-#ppt_h/2"/>
                                          </p:val>
                                        </p:tav>
                                        <p:tav tm="100000">
                                          <p:val>
                                            <p:strVal val="#ppt_y"/>
                                          </p:val>
                                        </p:tav>
                                      </p:tavLst>
                                    </p:anim>
                                  </p:childTnLst>
                                </p:cTn>
                              </p:par>
                              <p:par>
                                <p:cTn id="34" presetID="38" presetClass="exit" presetSubtype="0" accel="50000" fill="hold" grpId="1" nodeType="withEffect">
                                  <p:stCondLst>
                                    <p:cond delay="0"/>
                                  </p:stCondLst>
                                  <p:childTnLst>
                                    <p:anim calcmode="lin" valueType="num">
                                      <p:cBhvr>
                                        <p:cTn id="35" dur="1000">
                                          <p:stCondLst>
                                            <p:cond delay="0"/>
                                          </p:stCondLst>
                                        </p:cTn>
                                        <p:tgtEl>
                                          <p:spTgt spid="17"/>
                                        </p:tgtEl>
                                        <p:attrNameLst>
                                          <p:attrName>style.rotation</p:attrName>
                                        </p:attrNameLst>
                                      </p:cBhvr>
                                      <p:tavLst>
                                        <p:tav tm="0">
                                          <p:val>
                                            <p:fltVal val="0"/>
                                          </p:val>
                                        </p:tav>
                                        <p:tav tm="100000">
                                          <p:val>
                                            <p:fltVal val="45"/>
                                          </p:val>
                                        </p:tav>
                                      </p:tavLst>
                                    </p:anim>
                                    <p:anim calcmode="lin" valueType="num">
                                      <p:cBhvr>
                                        <p:cTn id="36" dur="1000">
                                          <p:stCondLst>
                                            <p:cond delay="0"/>
                                          </p:stCondLst>
                                        </p:cTn>
                                        <p:tgtEl>
                                          <p:spTgt spid="17"/>
                                        </p:tgtEl>
                                        <p:attrNameLst>
                                          <p:attrName>ppt_y</p:attrName>
                                        </p:attrNameLst>
                                      </p:cBhvr>
                                      <p:tavLst>
                                        <p:tav tm="0">
                                          <p:val>
                                            <p:strVal val="ppt_y"/>
                                          </p:val>
                                        </p:tav>
                                        <p:tav tm="100000">
                                          <p:val>
                                            <p:strVal val="ppt_y+1"/>
                                          </p:val>
                                        </p:tav>
                                      </p:tavLst>
                                    </p:anim>
                                    <p:set>
                                      <p:cBhvr>
                                        <p:cTn id="37" dur="1" fill="hold">
                                          <p:stCondLst>
                                            <p:cond delay="999"/>
                                          </p:stCondLst>
                                        </p:cTn>
                                        <p:tgtEl>
                                          <p:spTgt spid="17"/>
                                        </p:tgtEl>
                                        <p:attrNameLst>
                                          <p:attrName>style.visibility</p:attrName>
                                        </p:attrNameLst>
                                      </p:cBhvr>
                                      <p:to>
                                        <p:strVal val="hidden"/>
                                      </p:to>
                                    </p:set>
                                  </p:childTnLst>
                                </p:cTn>
                              </p:par>
                              <p:par>
                                <p:cTn id="38" presetID="38" presetClass="exit" presetSubtype="0" accel="50000" fill="hold" grpId="1" nodeType="withEffect">
                                  <p:stCondLst>
                                    <p:cond delay="0"/>
                                  </p:stCondLst>
                                  <p:childTnLst>
                                    <p:anim calcmode="lin" valueType="num">
                                      <p:cBhvr>
                                        <p:cTn id="39" dur="1000">
                                          <p:stCondLst>
                                            <p:cond delay="0"/>
                                          </p:stCondLst>
                                        </p:cTn>
                                        <p:tgtEl>
                                          <p:spTgt spid="19"/>
                                        </p:tgtEl>
                                        <p:attrNameLst>
                                          <p:attrName>style.rotation</p:attrName>
                                        </p:attrNameLst>
                                      </p:cBhvr>
                                      <p:tavLst>
                                        <p:tav tm="0">
                                          <p:val>
                                            <p:fltVal val="0"/>
                                          </p:val>
                                        </p:tav>
                                        <p:tav tm="100000">
                                          <p:val>
                                            <p:fltVal val="45"/>
                                          </p:val>
                                        </p:tav>
                                      </p:tavLst>
                                    </p:anim>
                                    <p:anim calcmode="lin" valueType="num">
                                      <p:cBhvr>
                                        <p:cTn id="40" dur="1000">
                                          <p:stCondLst>
                                            <p:cond delay="0"/>
                                          </p:stCondLst>
                                        </p:cTn>
                                        <p:tgtEl>
                                          <p:spTgt spid="19"/>
                                        </p:tgtEl>
                                        <p:attrNameLst>
                                          <p:attrName>ppt_y</p:attrName>
                                        </p:attrNameLst>
                                      </p:cBhvr>
                                      <p:tavLst>
                                        <p:tav tm="0">
                                          <p:val>
                                            <p:strVal val="ppt_y"/>
                                          </p:val>
                                        </p:tav>
                                        <p:tav tm="100000">
                                          <p:val>
                                            <p:strVal val="ppt_y+1"/>
                                          </p:val>
                                        </p:tav>
                                      </p:tavLst>
                                    </p:anim>
                                    <p:set>
                                      <p:cBhvr>
                                        <p:cTn id="41" dur="1" fill="hold">
                                          <p:stCondLst>
                                            <p:cond delay="999"/>
                                          </p:stCondLst>
                                        </p:cTn>
                                        <p:tgtEl>
                                          <p:spTgt spid="19"/>
                                        </p:tgtEl>
                                        <p:attrNameLst>
                                          <p:attrName>style.visibility</p:attrName>
                                        </p:attrNameLst>
                                      </p:cBhvr>
                                      <p:to>
                                        <p:strVal val="hidden"/>
                                      </p:to>
                                    </p:set>
                                  </p:childTnLst>
                                </p:cTn>
                              </p:par>
                              <p:par>
                                <p:cTn id="42" presetID="38" presetClass="exit" presetSubtype="0" accel="50000" fill="hold" grpId="1" nodeType="withEffect">
                                  <p:stCondLst>
                                    <p:cond delay="0"/>
                                  </p:stCondLst>
                                  <p:childTnLst>
                                    <p:anim calcmode="lin" valueType="num">
                                      <p:cBhvr>
                                        <p:cTn id="43" dur="1000">
                                          <p:stCondLst>
                                            <p:cond delay="0"/>
                                          </p:stCondLst>
                                        </p:cTn>
                                        <p:tgtEl>
                                          <p:spTgt spid="20"/>
                                        </p:tgtEl>
                                        <p:attrNameLst>
                                          <p:attrName>style.rotation</p:attrName>
                                        </p:attrNameLst>
                                      </p:cBhvr>
                                      <p:tavLst>
                                        <p:tav tm="0">
                                          <p:val>
                                            <p:fltVal val="0"/>
                                          </p:val>
                                        </p:tav>
                                        <p:tav tm="100000">
                                          <p:val>
                                            <p:fltVal val="45"/>
                                          </p:val>
                                        </p:tav>
                                      </p:tavLst>
                                    </p:anim>
                                    <p:anim calcmode="lin" valueType="num">
                                      <p:cBhvr>
                                        <p:cTn id="44" dur="1000">
                                          <p:stCondLst>
                                            <p:cond delay="0"/>
                                          </p:stCondLst>
                                        </p:cTn>
                                        <p:tgtEl>
                                          <p:spTgt spid="20"/>
                                        </p:tgtEl>
                                        <p:attrNameLst>
                                          <p:attrName>ppt_y</p:attrName>
                                        </p:attrNameLst>
                                      </p:cBhvr>
                                      <p:tavLst>
                                        <p:tav tm="0">
                                          <p:val>
                                            <p:strVal val="ppt_y"/>
                                          </p:val>
                                        </p:tav>
                                        <p:tav tm="100000">
                                          <p:val>
                                            <p:strVal val="ppt_y+1"/>
                                          </p:val>
                                        </p:tav>
                                      </p:tavLst>
                                    </p:anim>
                                    <p:set>
                                      <p:cBhvr>
                                        <p:cTn id="45" dur="1" fill="hold">
                                          <p:stCondLst>
                                            <p:cond delay="9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17" grpId="1" animBg="1"/>
      <p:bldP spid="19" grpId="0" animBg="1"/>
      <p:bldP spid="19" grpId="1" animBg="1"/>
      <p:bldP spid="20" grpId="0" animBg="1"/>
      <p:bldP spid="20" grpId="1" animBg="1"/>
      <p:bldP spid="21"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ntent Placeholder 2"/>
          <p:cNvSpPr>
            <a:spLocks noGrp="1"/>
          </p:cNvSpPr>
          <p:nvPr>
            <p:ph idx="1"/>
          </p:nvPr>
        </p:nvSpPr>
        <p:spPr>
          <a:xfrm>
            <a:off x="359076" y="1348830"/>
            <a:ext cx="9077818" cy="5225387"/>
          </a:xfrm>
        </p:spPr>
        <p:txBody>
          <a:bodyPr>
            <a:noAutofit/>
          </a:bodyPr>
          <a:lstStyle/>
          <a:p>
            <a:r>
              <a:rPr lang="en-US" altLang="en-US" sz="3200" dirty="0">
                <a:solidFill>
                  <a:schemeClr val="bg1">
                    <a:lumMod val="85000"/>
                  </a:schemeClr>
                </a:solidFill>
              </a:rPr>
              <a:t>Assigning a value to a variable does not update it, instead it creates a new variable.</a:t>
            </a:r>
          </a:p>
          <a:p>
            <a:pPr lvl="1"/>
            <a:r>
              <a:rPr lang="en-US" altLang="en-US" sz="2800" dirty="0">
                <a:solidFill>
                  <a:schemeClr val="bg1">
                    <a:lumMod val="85000"/>
                  </a:schemeClr>
                </a:solidFill>
              </a:rPr>
              <a:t>If </a:t>
            </a:r>
            <a:r>
              <a:rPr lang="en-US" altLang="en-US" sz="2800" dirty="0" smtClean="0">
                <a:solidFill>
                  <a:schemeClr val="bg1">
                    <a:lumMod val="85000"/>
                  </a:schemeClr>
                </a:solidFill>
              </a:rPr>
              <a:t>its </a:t>
            </a:r>
            <a:r>
              <a:rPr lang="en-US" altLang="en-US" sz="2800" dirty="0">
                <a:solidFill>
                  <a:schemeClr val="bg1">
                    <a:lumMod val="85000"/>
                  </a:schemeClr>
                </a:solidFill>
              </a:rPr>
              <a:t>the same type (or even if not</a:t>
            </a:r>
            <a:r>
              <a:rPr lang="en-US" altLang="en-US" sz="2800" dirty="0" smtClean="0">
                <a:solidFill>
                  <a:schemeClr val="bg1">
                    <a:lumMod val="85000"/>
                  </a:schemeClr>
                </a:solidFill>
              </a:rPr>
              <a:t>) </a:t>
            </a:r>
            <a:r>
              <a:rPr lang="en-US" altLang="en-US" sz="2800" dirty="0">
                <a:solidFill>
                  <a:schemeClr val="bg1">
                    <a:lumMod val="85000"/>
                  </a:schemeClr>
                </a:solidFill>
              </a:rPr>
              <a:t>it </a:t>
            </a:r>
            <a:r>
              <a:rPr lang="en-US" altLang="en-US" sz="2800" i="1" dirty="0" smtClean="0">
                <a:solidFill>
                  <a:schemeClr val="bg1">
                    <a:lumMod val="85000"/>
                  </a:schemeClr>
                </a:solidFill>
              </a:rPr>
              <a:t>could</a:t>
            </a:r>
            <a:r>
              <a:rPr lang="en-US" altLang="en-US" sz="2800" dirty="0" smtClean="0">
                <a:solidFill>
                  <a:schemeClr val="bg1">
                    <a:lumMod val="85000"/>
                  </a:schemeClr>
                </a:solidFill>
              </a:rPr>
              <a:t> end </a:t>
            </a:r>
            <a:r>
              <a:rPr lang="en-US" altLang="en-US" sz="2800" dirty="0">
                <a:solidFill>
                  <a:schemeClr val="bg1">
                    <a:lumMod val="85000"/>
                  </a:schemeClr>
                </a:solidFill>
              </a:rPr>
              <a:t>up in the same memory location. Nonetheless, it is a new variable.</a:t>
            </a:r>
          </a:p>
          <a:p>
            <a:r>
              <a:rPr lang="en-US" altLang="en-US" sz="3200" dirty="0">
                <a:solidFill>
                  <a:schemeClr val="bg1">
                    <a:lumMod val="85000"/>
                  </a:schemeClr>
                </a:solidFill>
              </a:rPr>
              <a:t>But there are multi-value variables. A</a:t>
            </a:r>
            <a:r>
              <a:rPr lang="en-US" altLang="en-US" sz="3200" dirty="0" smtClean="0">
                <a:solidFill>
                  <a:schemeClr val="bg1">
                    <a:lumMod val="85000"/>
                  </a:schemeClr>
                </a:solidFill>
              </a:rPr>
              <a:t>ssigning to one </a:t>
            </a:r>
            <a:r>
              <a:rPr lang="en-US" altLang="en-US" sz="3200" spc="-30" dirty="0">
                <a:solidFill>
                  <a:schemeClr val="bg1">
                    <a:lumMod val="85000"/>
                  </a:schemeClr>
                </a:solidFill>
              </a:rPr>
              <a:t>value is different than assigning </a:t>
            </a:r>
            <a:r>
              <a:rPr lang="en-US" altLang="en-US" sz="3200" spc="-30" dirty="0" smtClean="0">
                <a:solidFill>
                  <a:schemeClr val="bg1">
                    <a:lumMod val="85000"/>
                  </a:schemeClr>
                </a:solidFill>
              </a:rPr>
              <a:t>to the whole variable</a:t>
            </a:r>
            <a:r>
              <a:rPr lang="en-US" altLang="en-US" sz="3200" spc="-30" dirty="0">
                <a:solidFill>
                  <a:schemeClr val="bg1">
                    <a:lumMod val="85000"/>
                  </a:schemeClr>
                </a:solidFill>
              </a:rPr>
              <a:t>.</a:t>
            </a:r>
          </a:p>
          <a:p>
            <a:r>
              <a:rPr lang="en-US" altLang="en-US" sz="3200" dirty="0">
                <a:solidFill>
                  <a:schemeClr val="bg1">
                    <a:lumMod val="85000"/>
                  </a:schemeClr>
                </a:solidFill>
              </a:rPr>
              <a:t>Python divides its types into two categories:</a:t>
            </a:r>
          </a:p>
          <a:p>
            <a:pPr marL="836633" lvl="1" indent="-471762">
              <a:buClr>
                <a:schemeClr val="bg1">
                  <a:lumMod val="85000"/>
                </a:schemeClr>
              </a:buClr>
              <a:buFont typeface="+mj-lt"/>
              <a:buAutoNum type="arabicPeriod"/>
            </a:pPr>
            <a:r>
              <a:rPr lang="en-US" altLang="en-US" sz="3200" dirty="0" smtClean="0"/>
              <a:t>Numbers</a:t>
            </a:r>
            <a:r>
              <a:rPr lang="en-US" altLang="en-US" sz="3200" dirty="0" smtClean="0">
                <a:solidFill>
                  <a:schemeClr val="bg1">
                    <a:lumMod val="85000"/>
                  </a:schemeClr>
                </a:solidFill>
              </a:rPr>
              <a:t>, strings, </a:t>
            </a:r>
            <a:r>
              <a:rPr lang="en-US" altLang="en-US" sz="3200" dirty="0">
                <a:solidFill>
                  <a:schemeClr val="bg1">
                    <a:lumMod val="85000"/>
                  </a:schemeClr>
                </a:solidFill>
              </a:rPr>
              <a:t>and tuples </a:t>
            </a:r>
            <a:r>
              <a:rPr lang="en-US" altLang="en-US" sz="3200" dirty="0"/>
              <a:t>are </a:t>
            </a:r>
            <a:r>
              <a:rPr lang="en-US" altLang="en-US" sz="3200" b="1" dirty="0">
                <a:solidFill>
                  <a:srgbClr val="00B050"/>
                </a:solidFill>
              </a:rPr>
              <a:t>im</a:t>
            </a:r>
            <a:r>
              <a:rPr lang="en-US" altLang="en-US" sz="3200" b="1" dirty="0">
                <a:solidFill>
                  <a:srgbClr val="FF0000"/>
                </a:solidFill>
              </a:rPr>
              <a:t>mut</a:t>
            </a:r>
            <a:r>
              <a:rPr lang="en-US" altLang="en-US" sz="3200" b="1" dirty="0">
                <a:solidFill>
                  <a:srgbClr val="0070C0"/>
                </a:solidFill>
              </a:rPr>
              <a:t>able</a:t>
            </a:r>
            <a:r>
              <a:rPr lang="en-US" altLang="en-US" sz="3200" dirty="0"/>
              <a:t>.</a:t>
            </a:r>
          </a:p>
          <a:p>
            <a:pPr marL="836633" lvl="1" indent="-471762">
              <a:buFont typeface="+mj-lt"/>
              <a:buAutoNum type="arabicPeriod"/>
            </a:pPr>
            <a:r>
              <a:rPr lang="en-US" altLang="en-US" sz="3200" dirty="0" smtClean="0">
                <a:solidFill>
                  <a:schemeClr val="bg1">
                    <a:lumMod val="85000"/>
                  </a:schemeClr>
                </a:solidFill>
              </a:rPr>
              <a:t>Lists, sets, </a:t>
            </a:r>
            <a:r>
              <a:rPr lang="en-US" altLang="en-US" sz="3200" dirty="0">
                <a:solidFill>
                  <a:schemeClr val="bg1">
                    <a:lumMod val="85000"/>
                  </a:schemeClr>
                </a:solidFill>
              </a:rPr>
              <a:t>and dictionaries are mutable.</a:t>
            </a:r>
          </a:p>
        </p:txBody>
      </p:sp>
      <p:sp>
        <p:nvSpPr>
          <p:cNvPr id="9" name="Title 1"/>
          <p:cNvSpPr>
            <a:spLocks noGrp="1"/>
          </p:cNvSpPr>
          <p:nvPr>
            <p:ph type="title"/>
          </p:nvPr>
        </p:nvSpPr>
        <p:spPr>
          <a:xfrm>
            <a:off x="1" y="283784"/>
            <a:ext cx="9729788" cy="1065046"/>
          </a:xfrm>
        </p:spPr>
        <p:txBody>
          <a:bodyPr>
            <a:normAutofit/>
          </a:bodyPr>
          <a:lstStyle/>
          <a:p>
            <a:r>
              <a:rPr lang="en-US" altLang="en-US" sz="4400" dirty="0" smtClean="0">
                <a:solidFill>
                  <a:srgbClr val="0070C0"/>
                </a:solidFill>
              </a:rPr>
              <a:t>Updating the Values of Variables:</a:t>
            </a:r>
          </a:p>
        </p:txBody>
      </p:sp>
      <p:grpSp>
        <p:nvGrpSpPr>
          <p:cNvPr id="3" name="Group 2"/>
          <p:cNvGrpSpPr/>
          <p:nvPr/>
        </p:nvGrpSpPr>
        <p:grpSpPr>
          <a:xfrm>
            <a:off x="282876" y="1134713"/>
            <a:ext cx="5542294" cy="2826810"/>
            <a:chOff x="282876" y="1134713"/>
            <a:chExt cx="5542294" cy="2826810"/>
          </a:xfrm>
        </p:grpSpPr>
        <p:sp>
          <p:nvSpPr>
            <p:cNvPr id="14" name="Rounded Rectangular Callout 13"/>
            <p:cNvSpPr/>
            <p:nvPr/>
          </p:nvSpPr>
          <p:spPr>
            <a:xfrm>
              <a:off x="380847" y="1134713"/>
              <a:ext cx="5444323" cy="2826810"/>
            </a:xfrm>
            <a:prstGeom prst="wedgeRoundRectCallout">
              <a:avLst>
                <a:gd name="adj1" fmla="val -20609"/>
                <a:gd name="adj2" fmla="val 6895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33CC"/>
                </a:solidFill>
              </a:endParaRPr>
            </a:p>
          </p:txBody>
        </p:sp>
        <p:sp>
          <p:nvSpPr>
            <p:cNvPr id="15" name="Rounded Rectangular Callout 14"/>
            <p:cNvSpPr/>
            <p:nvPr/>
          </p:nvSpPr>
          <p:spPr>
            <a:xfrm>
              <a:off x="282876" y="1134713"/>
              <a:ext cx="2717452" cy="2826810"/>
            </a:xfrm>
            <a:prstGeom prst="wedgeRoundRectCallout">
              <a:avLst>
                <a:gd name="adj1" fmla="val -50002"/>
                <a:gd name="adj2" fmla="val -19233"/>
                <a:gd name="adj3"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2000"/>
                </a:lnSpc>
              </a:pPr>
              <a:r>
                <a:rPr lang="en-US" sz="2800" dirty="0" smtClean="0">
                  <a:solidFill>
                    <a:srgbClr val="0033CC"/>
                  </a:solidFill>
                </a:rPr>
                <a:t>Numbers cannot</a:t>
              </a:r>
              <a:br>
                <a:rPr lang="en-US" sz="2800" dirty="0" smtClean="0">
                  <a:solidFill>
                    <a:srgbClr val="0033CC"/>
                  </a:solidFill>
                </a:rPr>
              </a:br>
              <a:r>
                <a:rPr lang="en-US" sz="2800" dirty="0" smtClean="0">
                  <a:solidFill>
                    <a:srgbClr val="0033CC"/>
                  </a:solidFill>
                </a:rPr>
                <a:t> change?!? Then how do you explain this:</a:t>
              </a:r>
              <a:endParaRPr lang="en-US" sz="2800" dirty="0">
                <a:solidFill>
                  <a:srgbClr val="0033CC"/>
                </a:solidFill>
              </a:endParaRPr>
            </a:p>
          </p:txBody>
        </p:sp>
      </p:grpSp>
      <p:sp>
        <p:nvSpPr>
          <p:cNvPr id="13" name="Rectangle 12"/>
          <p:cNvSpPr/>
          <p:nvPr/>
        </p:nvSpPr>
        <p:spPr>
          <a:xfrm>
            <a:off x="2707040" y="1459982"/>
            <a:ext cx="2678744" cy="217627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&gt;&gt;&gt; </a:t>
            </a:r>
            <a:r>
              <a:rPr lang="en-US" sz="2200" dirty="0">
                <a:solidFill>
                  <a:schemeClr val="bg1"/>
                </a:solidFill>
                <a:latin typeface="Lucida Console" panose="020B0609040504020204" pitchFamily="49" charset="0"/>
                <a:cs typeface="Consolas" panose="020B0609020204030204" pitchFamily="49" charset="0"/>
              </a:rPr>
              <a:t>x=5</a:t>
            </a: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a:t>
            </a:r>
            <a:r>
              <a:rPr lang="en-US" sz="2200" dirty="0" smtClean="0">
                <a:solidFill>
                  <a:schemeClr val="bg1"/>
                </a:solidFill>
                <a:latin typeface="Lucida Console" panose="020B0609040504020204" pitchFamily="49" charset="0"/>
                <a:cs typeface="Consolas" panose="020B0609020204030204" pitchFamily="49" charset="0"/>
              </a:rPr>
              <a:t>x)</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5</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a:t>
            </a:r>
            <a:r>
              <a:rPr lang="en-US" sz="2200" dirty="0" smtClean="0">
                <a:solidFill>
                  <a:schemeClr val="bg1"/>
                </a:solidFill>
                <a:latin typeface="Lucida Console" panose="020B0609040504020204" pitchFamily="49" charset="0"/>
                <a:cs typeface="Consolas" panose="020B0609020204030204" pitchFamily="49" charset="0"/>
              </a:rPr>
              <a:t>x=6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(x)</a:t>
            </a: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lumMod val="95000"/>
                  </a:schemeClr>
                </a:solidFill>
                <a:latin typeface="Lucida Console" panose="020B0609040504020204" pitchFamily="49" charset="0"/>
                <a:cs typeface="Consolas" panose="020B0609020204030204" pitchFamily="49" charset="0"/>
              </a:rPr>
              <a:t>&gt;&gt;&gt;</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17" name="Rounded Rectangular Callout 16"/>
          <p:cNvSpPr/>
          <p:nvPr/>
        </p:nvSpPr>
        <p:spPr>
          <a:xfrm>
            <a:off x="6311900" y="1134714"/>
            <a:ext cx="3439660" cy="2826810"/>
          </a:xfrm>
          <a:prstGeom prst="wedgeRoundRectCallout">
            <a:avLst>
              <a:gd name="adj1" fmla="val -116246"/>
              <a:gd name="adj2" fmla="val -2977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i</a:t>
            </a:r>
            <a:r>
              <a:rPr lang="en-US" sz="2800" spc="-20" dirty="0" smtClean="0">
                <a:solidFill>
                  <a:srgbClr val="0033CC"/>
                </a:solidFill>
                <a:latin typeface="Calibri Light" panose="020F0302020204030204" pitchFamily="34" charset="0"/>
                <a:cs typeface="Calibri Light" panose="020F0302020204030204" pitchFamily="34" charset="0"/>
              </a:rPr>
              <a:t>f (</a:t>
            </a:r>
            <a:r>
              <a:rPr lang="en-US" sz="2800" spc="-20" dirty="0" err="1" smtClean="0">
                <a:solidFill>
                  <a:srgbClr val="0033CC"/>
                </a:solidFill>
                <a:latin typeface="Calibri Light" panose="020F0302020204030204" pitchFamily="34" charset="0"/>
                <a:cs typeface="Calibri Light" panose="020F0302020204030204" pitchFamily="34" charset="0"/>
              </a:rPr>
              <a:t>ItIsAnAssignment</a:t>
            </a:r>
            <a:r>
              <a:rPr lang="en-US" sz="2800" spc="-20" dirty="0" smtClean="0">
                <a:solidFill>
                  <a:srgbClr val="0033CC"/>
                </a:solidFill>
                <a:latin typeface="Calibri Light" panose="020F0302020204030204" pitchFamily="34" charset="0"/>
                <a:cs typeface="Calibri Light" panose="020F0302020204030204" pitchFamily="34" charset="0"/>
              </a:rPr>
              <a:t>)</a:t>
            </a:r>
            <a:br>
              <a:rPr lang="en-US" sz="2800" spc="-20" dirty="0" smtClean="0">
                <a:solidFill>
                  <a:srgbClr val="0033CC"/>
                </a:solidFill>
                <a:latin typeface="Calibri Light" panose="020F0302020204030204" pitchFamily="34" charset="0"/>
                <a:cs typeface="Calibri Light" panose="020F0302020204030204" pitchFamily="34" charset="0"/>
              </a:rPr>
            </a:br>
            <a:r>
              <a:rPr lang="en-US" sz="2800" spc="-20" dirty="0" smtClean="0">
                <a:solidFill>
                  <a:srgbClr val="0033CC"/>
                </a:solidFill>
                <a:latin typeface="Calibri Light" panose="020F0302020204030204" pitchFamily="34" charset="0"/>
                <a:cs typeface="Calibri Light" panose="020F0302020204030204" pitchFamily="34" charset="0"/>
              </a:rPr>
              <a:t>{   v</a:t>
            </a:r>
            <a:r>
              <a:rPr lang="en-US" sz="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getNameOnLHS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a:t>
            </a:r>
            <a:r>
              <a:rPr lang="en-US" sz="20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t</a:t>
            </a:r>
            <a:r>
              <a:rPr lang="en-US" sz="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inferTypeOnRHS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smtClean="0">
                <a:solidFill>
                  <a:srgbClr val="0033CC"/>
                </a:solidFill>
                <a:latin typeface="Calibri Light" panose="020F0302020204030204" pitchFamily="34" charset="0"/>
                <a:cs typeface="Calibri Light" panose="020F0302020204030204" pitchFamily="34" charset="0"/>
              </a:rPr>
              <a:t>    </a:t>
            </a:r>
            <a:r>
              <a:rPr lang="en-US" sz="24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if</a:t>
            </a:r>
            <a:r>
              <a:rPr lang="en-US" sz="20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400" spc="-20" dirty="0" smtClean="0">
                <a:solidFill>
                  <a:srgbClr val="0033CC"/>
                </a:solidFill>
                <a:latin typeface="Calibri Light" panose="020F0302020204030204" pitchFamily="34" charset="0"/>
                <a:cs typeface="Calibri Light" panose="020F0302020204030204" pitchFamily="34" charset="0"/>
              </a:rPr>
              <a:t> </a:t>
            </a:r>
            <a:r>
              <a:rPr lang="en-US" sz="2800" spc="-20" dirty="0" err="1" smtClean="0">
                <a:solidFill>
                  <a:srgbClr val="0033CC"/>
                </a:solidFill>
                <a:latin typeface="Calibri Light" panose="020F0302020204030204" pitchFamily="34" charset="0"/>
                <a:cs typeface="Calibri Light" panose="020F0302020204030204" pitchFamily="34" charset="0"/>
              </a:rPr>
              <a:t>ItExistsAlready</a:t>
            </a:r>
            <a:r>
              <a:rPr lang="en-US" sz="2800" spc="-20" dirty="0" smtClean="0">
                <a:solidFill>
                  <a:srgbClr val="0033CC"/>
                </a:solidFill>
                <a:latin typeface="Calibri Light" panose="020F0302020204030204" pitchFamily="34" charset="0"/>
                <a:cs typeface="Calibri Light" panose="020F0302020204030204" pitchFamily="34" charset="0"/>
              </a:rPr>
              <a:t>(v))</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a:t>
            </a: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free(&amp;v)</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v</a:t>
            </a:r>
            <a:r>
              <a:rPr lang="en-US" sz="4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malloc</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sizeof</a:t>
            </a:r>
            <a:r>
              <a:rPr lang="en-US" sz="2800" spc="-20" dirty="0" smtClean="0">
                <a:solidFill>
                  <a:srgbClr val="0033CC"/>
                </a:solidFill>
                <a:latin typeface="Calibri Light" panose="020F0302020204030204" pitchFamily="34" charset="0"/>
                <a:cs typeface="Calibri Light" panose="020F0302020204030204" pitchFamily="34" charset="0"/>
              </a:rPr>
              <a:t>(t))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*v=</a:t>
            </a:r>
            <a:r>
              <a:rPr lang="en-US" sz="2800" spc="-20" dirty="0" err="1" smtClean="0">
                <a:solidFill>
                  <a:srgbClr val="0033CC"/>
                </a:solidFill>
                <a:latin typeface="Calibri Light" panose="020F0302020204030204" pitchFamily="34" charset="0"/>
                <a:cs typeface="Calibri Light" panose="020F0302020204030204" pitchFamily="34" charset="0"/>
              </a:rPr>
              <a:t>getValueOfRHS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a:t>
            </a:r>
            <a:r>
              <a:rPr lang="en-US" sz="2800" spc="-20" dirty="0" smtClean="0">
                <a:solidFill>
                  <a:srgbClr val="0033CC"/>
                </a:solidFill>
                <a:latin typeface="Calibri Light" panose="020F0302020204030204" pitchFamily="34" charset="0"/>
                <a:cs typeface="Calibri Light" panose="020F0302020204030204" pitchFamily="34" charset="0"/>
              </a:rPr>
              <a:t> </a:t>
            </a:r>
            <a:endParaRPr lang="en-US" sz="2800" spc="-20" dirty="0">
              <a:solidFill>
                <a:srgbClr val="0033CC"/>
              </a:solidFill>
              <a:latin typeface="Calibri Light" panose="020F0302020204030204" pitchFamily="34" charset="0"/>
              <a:cs typeface="Calibri Light" panose="020F0302020204030204" pitchFamily="34" charset="0"/>
            </a:endParaRPr>
          </a:p>
        </p:txBody>
      </p:sp>
      <p:sp>
        <p:nvSpPr>
          <p:cNvPr id="2" name="Rectangle 1"/>
          <p:cNvSpPr/>
          <p:nvPr/>
        </p:nvSpPr>
        <p:spPr>
          <a:xfrm>
            <a:off x="7136605" y="1585913"/>
            <a:ext cx="2543175" cy="307388"/>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73152" rtlCol="0" anchor="ctr" anchorCtr="0"/>
          <a:lstStyle/>
          <a:p>
            <a:r>
              <a:rPr lang="en-US" sz="2800" dirty="0" smtClean="0">
                <a:solidFill>
                  <a:srgbClr val="FF0000"/>
                </a:solidFill>
                <a:latin typeface="Calibri Light" panose="020F0302020204030204" pitchFamily="34" charset="0"/>
                <a:cs typeface="Calibri Light" panose="020F0302020204030204" pitchFamily="34" charset="0"/>
              </a:rPr>
              <a:t>x</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16" name="Rectangle 15"/>
          <p:cNvSpPr/>
          <p:nvPr/>
        </p:nvSpPr>
        <p:spPr>
          <a:xfrm>
            <a:off x="7136605" y="1893300"/>
            <a:ext cx="2543175" cy="315207"/>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73152" rtlCol="0" anchor="ctr" anchorCtr="0"/>
          <a:lstStyle/>
          <a:p>
            <a:r>
              <a:rPr lang="en-US" sz="2800" dirty="0" err="1" smtClean="0">
                <a:solidFill>
                  <a:srgbClr val="FF0000"/>
                </a:solidFill>
                <a:latin typeface="Calibri Light" panose="020F0302020204030204" pitchFamily="34" charset="0"/>
                <a:cs typeface="Calibri Light" panose="020F0302020204030204" pitchFamily="34" charset="0"/>
              </a:rPr>
              <a:t>int</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18" name="Rectangle 17"/>
          <p:cNvSpPr/>
          <p:nvPr/>
        </p:nvSpPr>
        <p:spPr>
          <a:xfrm>
            <a:off x="9322594" y="2208509"/>
            <a:ext cx="139458" cy="341832"/>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3152" rtlCol="0" anchor="ctr" anchorCtr="0"/>
          <a:lstStyle/>
          <a:p>
            <a:pPr algn="ctr"/>
            <a:r>
              <a:rPr lang="en-US" sz="2800" dirty="0">
                <a:solidFill>
                  <a:srgbClr val="FF0000"/>
                </a:solidFill>
                <a:latin typeface="Calibri Light" panose="020F0302020204030204" pitchFamily="34" charset="0"/>
                <a:cs typeface="Calibri Light" panose="020F0302020204030204" pitchFamily="34" charset="0"/>
              </a:rPr>
              <a:t>x</a:t>
            </a:r>
          </a:p>
        </p:txBody>
      </p:sp>
      <p:sp>
        <p:nvSpPr>
          <p:cNvPr id="29" name="Rectangle 28"/>
          <p:cNvSpPr/>
          <p:nvPr/>
        </p:nvSpPr>
        <p:spPr>
          <a:xfrm>
            <a:off x="7198963" y="2208509"/>
            <a:ext cx="2371240" cy="341832"/>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73152" rtlCol="0" anchor="ctr" anchorCtr="0"/>
          <a:lstStyle/>
          <a:p>
            <a:pPr algn="ctr"/>
            <a:r>
              <a:rPr lang="en-US" sz="2800" dirty="0" smtClean="0">
                <a:solidFill>
                  <a:srgbClr val="FF0000"/>
                </a:solidFill>
                <a:latin typeface="Calibri Light" panose="020F0302020204030204" pitchFamily="34" charset="0"/>
                <a:cs typeface="Calibri Light" panose="020F0302020204030204" pitchFamily="34" charset="0"/>
              </a:rPr>
              <a:t>False</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2" name="Rectangle 21"/>
          <p:cNvSpPr/>
          <p:nvPr/>
        </p:nvSpPr>
        <p:spPr>
          <a:xfrm>
            <a:off x="6846376" y="2177085"/>
            <a:ext cx="2833404" cy="675561"/>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73152" rtlCol="0" anchor="ctr" anchorCtr="0"/>
          <a:lstStyle/>
          <a:p>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19" name="Rectangle 18"/>
          <p:cNvSpPr/>
          <p:nvPr/>
        </p:nvSpPr>
        <p:spPr>
          <a:xfrm>
            <a:off x="9020313" y="2819274"/>
            <a:ext cx="530881" cy="354003"/>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bIns="0" rtlCol="0" anchor="ctr" anchorCtr="0"/>
          <a:lstStyle/>
          <a:p>
            <a:r>
              <a:rPr lang="en-US" sz="2800" dirty="0" err="1" smtClean="0">
                <a:solidFill>
                  <a:srgbClr val="FF0000"/>
                </a:solidFill>
                <a:latin typeface="Calibri Light" panose="020F0302020204030204" pitchFamily="34" charset="0"/>
                <a:cs typeface="Calibri Light" panose="020F0302020204030204" pitchFamily="34" charset="0"/>
              </a:rPr>
              <a:t>int</a:t>
            </a:r>
            <a:r>
              <a:rPr lang="en-US" sz="2800" dirty="0" smtClean="0">
                <a:solidFill>
                  <a:srgbClr val="0033CC"/>
                </a:solidFill>
                <a:latin typeface="Calibri Light" panose="020F0302020204030204" pitchFamily="34" charset="0"/>
                <a:cs typeface="Calibri Light" panose="020F0302020204030204" pitchFamily="34" charset="0"/>
              </a:rPr>
              <a:t>))</a:t>
            </a:r>
            <a:endParaRPr lang="en-US" sz="2800" dirty="0">
              <a:solidFill>
                <a:srgbClr val="0033CC"/>
              </a:solidFill>
              <a:latin typeface="Calibri Light" panose="020F0302020204030204" pitchFamily="34" charset="0"/>
              <a:cs typeface="Calibri Light" panose="020F0302020204030204" pitchFamily="34" charset="0"/>
            </a:endParaRPr>
          </a:p>
        </p:txBody>
      </p:sp>
      <p:sp>
        <p:nvSpPr>
          <p:cNvPr id="23" name="Rectangle 22"/>
          <p:cNvSpPr/>
          <p:nvPr/>
        </p:nvSpPr>
        <p:spPr>
          <a:xfrm>
            <a:off x="8128861" y="2819274"/>
            <a:ext cx="1364659" cy="354003"/>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0" rtlCol="0" anchor="ctr" anchorCtr="0"/>
          <a:lstStyle/>
          <a:p>
            <a:pPr algn="ctr"/>
            <a:r>
              <a:rPr lang="en-US" sz="2800" dirty="0" smtClean="0">
                <a:solidFill>
                  <a:srgbClr val="FF0000"/>
                </a:solidFill>
                <a:latin typeface="Calibri Light" panose="020F0302020204030204" pitchFamily="34" charset="0"/>
                <a:cs typeface="Calibri Light" panose="020F0302020204030204" pitchFamily="34" charset="0"/>
              </a:rPr>
              <a:t>4</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4" name="Rectangle 23"/>
          <p:cNvSpPr/>
          <p:nvPr/>
        </p:nvSpPr>
        <p:spPr>
          <a:xfrm>
            <a:off x="7268705" y="3160850"/>
            <a:ext cx="2363492" cy="354003"/>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0" rtlCol="0" anchor="ctr" anchorCtr="0"/>
          <a:lstStyle/>
          <a:p>
            <a:r>
              <a:rPr lang="en-US" sz="1200" dirty="0" smtClean="0">
                <a:solidFill>
                  <a:srgbClr val="FF0000"/>
                </a:solidFill>
                <a:latin typeface="Calibri Light" panose="020F0302020204030204" pitchFamily="34" charset="0"/>
                <a:cs typeface="Calibri Light" panose="020F0302020204030204" pitchFamily="34" charset="0"/>
              </a:rPr>
              <a:t> </a:t>
            </a:r>
            <a:r>
              <a:rPr lang="en-US" sz="2800" dirty="0" smtClean="0">
                <a:solidFill>
                  <a:srgbClr val="FF0000"/>
                </a:solidFill>
                <a:latin typeface="Calibri Light" panose="020F0302020204030204" pitchFamily="34" charset="0"/>
                <a:cs typeface="Calibri Light" panose="020F0302020204030204" pitchFamily="34" charset="0"/>
              </a:rPr>
              <a:t>5</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5" name="Rectangle 24"/>
          <p:cNvSpPr/>
          <p:nvPr/>
        </p:nvSpPr>
        <p:spPr>
          <a:xfrm>
            <a:off x="7113722" y="2806847"/>
            <a:ext cx="2616066" cy="354003"/>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r>
              <a:rPr lang="en-US" sz="2800" spc="-40" dirty="0" smtClean="0">
                <a:solidFill>
                  <a:srgbClr val="FF0000"/>
                </a:solidFill>
                <a:latin typeface="Calibri Light" panose="020F0302020204030204" pitchFamily="34" charset="0"/>
                <a:cs typeface="Calibri Light" panose="020F0302020204030204" pitchFamily="34" charset="0"/>
              </a:rPr>
              <a:t>Some</a:t>
            </a:r>
            <a:r>
              <a:rPr lang="en-US" sz="2400" spc="-40" dirty="0" smtClean="0">
                <a:solidFill>
                  <a:srgbClr val="FF0000"/>
                </a:solidFill>
                <a:latin typeface="Calibri Light" panose="020F0302020204030204" pitchFamily="34" charset="0"/>
                <a:cs typeface="Calibri Light" panose="020F0302020204030204" pitchFamily="34" charset="0"/>
              </a:rPr>
              <a:t> </a:t>
            </a:r>
            <a:r>
              <a:rPr lang="en-US" sz="2800" spc="-40" dirty="0" smtClean="0">
                <a:solidFill>
                  <a:srgbClr val="FF0000"/>
                </a:solidFill>
                <a:latin typeface="Calibri Light" panose="020F0302020204030204" pitchFamily="34" charset="0"/>
                <a:cs typeface="Calibri Light" panose="020F0302020204030204" pitchFamily="34" charset="0"/>
              </a:rPr>
              <a:t>new</a:t>
            </a:r>
            <a:r>
              <a:rPr lang="en-US" sz="2400" spc="-40" dirty="0" smtClean="0">
                <a:solidFill>
                  <a:srgbClr val="FF0000"/>
                </a:solidFill>
                <a:latin typeface="Calibri Light" panose="020F0302020204030204" pitchFamily="34" charset="0"/>
                <a:cs typeface="Calibri Light" panose="020F0302020204030204" pitchFamily="34" charset="0"/>
              </a:rPr>
              <a:t> </a:t>
            </a:r>
            <a:r>
              <a:rPr lang="en-US" sz="2800" spc="-40" dirty="0" smtClean="0">
                <a:solidFill>
                  <a:srgbClr val="FF0000"/>
                </a:solidFill>
                <a:latin typeface="Calibri Light" panose="020F0302020204030204" pitchFamily="34" charset="0"/>
                <a:cs typeface="Calibri Light" panose="020F0302020204030204" pitchFamily="34" charset="0"/>
              </a:rPr>
              <a:t>address</a:t>
            </a:r>
            <a:endParaRPr lang="en-US" sz="2800" spc="-40" dirty="0">
              <a:solidFill>
                <a:srgbClr val="FF0000"/>
              </a:solidFill>
              <a:latin typeface="Calibri Light" panose="020F0302020204030204" pitchFamily="34" charset="0"/>
              <a:cs typeface="Calibri Light" panose="020F0302020204030204" pitchFamily="34" charset="0"/>
            </a:endParaRPr>
          </a:p>
        </p:txBody>
      </p:sp>
      <p:sp>
        <p:nvSpPr>
          <p:cNvPr id="26" name="Rectangle 25"/>
          <p:cNvSpPr/>
          <p:nvPr/>
        </p:nvSpPr>
        <p:spPr>
          <a:xfrm>
            <a:off x="6823129" y="1252858"/>
            <a:ext cx="2413861" cy="341832"/>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73152" rtlCol="0" anchor="ctr" anchorCtr="0"/>
          <a:lstStyle/>
          <a:p>
            <a:pPr algn="ctr"/>
            <a:r>
              <a:rPr lang="en-US" sz="2800" dirty="0" smtClean="0">
                <a:solidFill>
                  <a:srgbClr val="FF0000"/>
                </a:solidFill>
                <a:latin typeface="Calibri Light" panose="020F0302020204030204" pitchFamily="34" charset="0"/>
                <a:cs typeface="Calibri Light" panose="020F0302020204030204" pitchFamily="34" charset="0"/>
              </a:rPr>
              <a:t>True</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0" name="Oval 19"/>
          <p:cNvSpPr/>
          <p:nvPr/>
        </p:nvSpPr>
        <p:spPr>
          <a:xfrm>
            <a:off x="8979694" y="1224140"/>
            <a:ext cx="319884" cy="336303"/>
          </a:xfrm>
          <a:prstGeom prst="ellipse">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346390" y="1407230"/>
            <a:ext cx="304800" cy="192970"/>
          </a:xfrm>
          <a:prstGeom prst="ellipse">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ular Callout 20"/>
          <p:cNvSpPr/>
          <p:nvPr/>
        </p:nvSpPr>
        <p:spPr>
          <a:xfrm>
            <a:off x="1188695" y="46577"/>
            <a:ext cx="7472705" cy="804353"/>
          </a:xfrm>
          <a:prstGeom prst="wedgeRoundRectCallout">
            <a:avLst>
              <a:gd name="adj1" fmla="val 33277"/>
              <a:gd name="adj2" fmla="val 10420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2000"/>
              </a:lnSpc>
            </a:pPr>
            <a:r>
              <a:rPr lang="en-US" sz="2800" spc="-40" dirty="0" smtClean="0">
                <a:solidFill>
                  <a:srgbClr val="FFD966"/>
                </a:solidFill>
              </a:rPr>
              <a:t>..</a:t>
            </a:r>
            <a:r>
              <a:rPr lang="en-US" sz="2800" spc="-40" dirty="0" smtClean="0">
                <a:solidFill>
                  <a:srgbClr val="0033CC"/>
                </a:solidFill>
              </a:rPr>
              <a:t>Some C-style pseudocode might help explain this.</a:t>
            </a:r>
            <a:r>
              <a:rPr lang="en-US" sz="2800" spc="-40" dirty="0" smtClean="0">
                <a:solidFill>
                  <a:srgbClr val="FFD966"/>
                </a:solidFill>
              </a:rPr>
              <a:t>..</a:t>
            </a:r>
            <a:endParaRPr lang="en-US" sz="2800" dirty="0">
              <a:solidFill>
                <a:srgbClr val="FFD966"/>
              </a:solidFill>
            </a:endParaRPr>
          </a:p>
        </p:txBody>
      </p:sp>
    </p:spTree>
    <p:extLst>
      <p:ext uri="{BB962C8B-B14F-4D97-AF65-F5344CB8AC3E}">
        <p14:creationId xmlns:p14="http://schemas.microsoft.com/office/powerpoint/2010/main" val="1492006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randombar(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1+#ppt_w/2"/>
                                          </p:val>
                                        </p:tav>
                                        <p:tav tm="100000">
                                          <p:val>
                                            <p:strVal val="#ppt_x"/>
                                          </p:val>
                                        </p:tav>
                                      </p:tavLst>
                                    </p:anim>
                                    <p:anim calcmode="lin" valueType="num">
                                      <p:cBhvr additive="base">
                                        <p:cTn id="13" dur="500" fill="hold"/>
                                        <p:tgtEl>
                                          <p:spTgt spid="26"/>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1+#ppt_w/2"/>
                                          </p:val>
                                        </p:tav>
                                        <p:tav tm="100000">
                                          <p:val>
                                            <p:strVal val="#ppt_x"/>
                                          </p:val>
                                        </p:tav>
                                      </p:tavLst>
                                    </p:anim>
                                    <p:anim calcmode="lin" valueType="num">
                                      <p:cBhvr additive="base">
                                        <p:cTn id="22" dur="500" fill="hold"/>
                                        <p:tgtEl>
                                          <p:spTgt spid="2"/>
                                        </p:tgtEl>
                                        <p:attrNameLst>
                                          <p:attrName>ppt_y</p:attrName>
                                        </p:attrNameLst>
                                      </p:cBhvr>
                                      <p:tavLst>
                                        <p:tav tm="0">
                                          <p:val>
                                            <p:strVal val="#ppt_y"/>
                                          </p:val>
                                        </p:tav>
                                        <p:tav tm="100000">
                                          <p:val>
                                            <p:strVal val="#ppt_y"/>
                                          </p:val>
                                        </p:tav>
                                      </p:tavLst>
                                    </p:anim>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1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fill="hold"/>
                                        <p:tgtEl>
                                          <p:spTgt spid="16"/>
                                        </p:tgtEl>
                                        <p:attrNameLst>
                                          <p:attrName>ppt_x</p:attrName>
                                        </p:attrNameLst>
                                      </p:cBhvr>
                                      <p:tavLst>
                                        <p:tav tm="0">
                                          <p:val>
                                            <p:strVal val="1+#ppt_w/2"/>
                                          </p:val>
                                        </p:tav>
                                        <p:tav tm="100000">
                                          <p:val>
                                            <p:strVal val="#ppt_x"/>
                                          </p:val>
                                        </p:tav>
                                      </p:tavLst>
                                    </p:anim>
                                    <p:anim calcmode="lin" valueType="num">
                                      <p:cBhvr additive="base">
                                        <p:cTn id="31"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1+#ppt_w/2"/>
                                          </p:val>
                                        </p:tav>
                                        <p:tav tm="100000">
                                          <p:val>
                                            <p:strVal val="#ppt_x"/>
                                          </p:val>
                                        </p:tav>
                                      </p:tavLst>
                                    </p:anim>
                                    <p:anim calcmode="lin" valueType="num">
                                      <p:cBhvr additive="base">
                                        <p:cTn id="37"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additive="base">
                                        <p:cTn id="42" dur="500" fill="hold"/>
                                        <p:tgtEl>
                                          <p:spTgt spid="29"/>
                                        </p:tgtEl>
                                        <p:attrNameLst>
                                          <p:attrName>ppt_x</p:attrName>
                                        </p:attrNameLst>
                                      </p:cBhvr>
                                      <p:tavLst>
                                        <p:tav tm="0">
                                          <p:val>
                                            <p:strVal val="1+#ppt_w/2"/>
                                          </p:val>
                                        </p:tav>
                                        <p:tav tm="100000">
                                          <p:val>
                                            <p:strVal val="#ppt_x"/>
                                          </p:val>
                                        </p:tav>
                                      </p:tavLst>
                                    </p:anim>
                                    <p:anim calcmode="lin" valueType="num">
                                      <p:cBhvr additive="base">
                                        <p:cTn id="43"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additive="base">
                                        <p:cTn id="48" dur="500" fill="hold"/>
                                        <p:tgtEl>
                                          <p:spTgt spid="22"/>
                                        </p:tgtEl>
                                        <p:attrNameLst>
                                          <p:attrName>ppt_x</p:attrName>
                                        </p:attrNameLst>
                                      </p:cBhvr>
                                      <p:tavLst>
                                        <p:tav tm="0">
                                          <p:val>
                                            <p:strVal val="1+#ppt_w/2"/>
                                          </p:val>
                                        </p:tav>
                                        <p:tav tm="100000">
                                          <p:val>
                                            <p:strVal val="#ppt_x"/>
                                          </p:val>
                                        </p:tav>
                                      </p:tavLst>
                                    </p:anim>
                                    <p:anim calcmode="lin" valueType="num">
                                      <p:cBhvr additive="base">
                                        <p:cTn id="49"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500" fill="hold"/>
                                        <p:tgtEl>
                                          <p:spTgt spid="19"/>
                                        </p:tgtEl>
                                        <p:attrNameLst>
                                          <p:attrName>ppt_x</p:attrName>
                                        </p:attrNameLst>
                                      </p:cBhvr>
                                      <p:tavLst>
                                        <p:tav tm="0">
                                          <p:val>
                                            <p:strVal val="1+#ppt_w/2"/>
                                          </p:val>
                                        </p:tav>
                                        <p:tav tm="100000">
                                          <p:val>
                                            <p:strVal val="#ppt_x"/>
                                          </p:val>
                                        </p:tav>
                                      </p:tavLst>
                                    </p:anim>
                                    <p:anim calcmode="lin" valueType="num">
                                      <p:cBhvr additive="base">
                                        <p:cTn id="55"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2" fill="hold" grpId="0" nodeType="clickEffect">
                                  <p:stCondLst>
                                    <p:cond delay="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fill="hold"/>
                                        <p:tgtEl>
                                          <p:spTgt spid="23"/>
                                        </p:tgtEl>
                                        <p:attrNameLst>
                                          <p:attrName>ppt_x</p:attrName>
                                        </p:attrNameLst>
                                      </p:cBhvr>
                                      <p:tavLst>
                                        <p:tav tm="0">
                                          <p:val>
                                            <p:strVal val="1+#ppt_w/2"/>
                                          </p:val>
                                        </p:tav>
                                        <p:tav tm="100000">
                                          <p:val>
                                            <p:strVal val="#ppt_x"/>
                                          </p:val>
                                        </p:tav>
                                      </p:tavLst>
                                    </p:anim>
                                    <p:anim calcmode="lin" valueType="num">
                                      <p:cBhvr additive="base">
                                        <p:cTn id="61"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 calcmode="lin" valueType="num">
                                      <p:cBhvr additive="base">
                                        <p:cTn id="66" dur="500" fill="hold"/>
                                        <p:tgtEl>
                                          <p:spTgt spid="25"/>
                                        </p:tgtEl>
                                        <p:attrNameLst>
                                          <p:attrName>ppt_x</p:attrName>
                                        </p:attrNameLst>
                                      </p:cBhvr>
                                      <p:tavLst>
                                        <p:tav tm="0">
                                          <p:val>
                                            <p:strVal val="1+#ppt_w/2"/>
                                          </p:val>
                                        </p:tav>
                                        <p:tav tm="100000">
                                          <p:val>
                                            <p:strVal val="#ppt_x"/>
                                          </p:val>
                                        </p:tav>
                                      </p:tavLst>
                                    </p:anim>
                                    <p:anim calcmode="lin" valueType="num">
                                      <p:cBhvr additive="base">
                                        <p:cTn id="67"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2" fill="hold" grpId="0" nodeType="clickEffect">
                                  <p:stCondLst>
                                    <p:cond delay="0"/>
                                  </p:stCondLst>
                                  <p:childTnLst>
                                    <p:set>
                                      <p:cBhvr>
                                        <p:cTn id="71" dur="1" fill="hold">
                                          <p:stCondLst>
                                            <p:cond delay="0"/>
                                          </p:stCondLst>
                                        </p:cTn>
                                        <p:tgtEl>
                                          <p:spTgt spid="24"/>
                                        </p:tgtEl>
                                        <p:attrNameLst>
                                          <p:attrName>style.visibility</p:attrName>
                                        </p:attrNameLst>
                                      </p:cBhvr>
                                      <p:to>
                                        <p:strVal val="visible"/>
                                      </p:to>
                                    </p:set>
                                    <p:anim calcmode="lin" valueType="num">
                                      <p:cBhvr additive="base">
                                        <p:cTn id="72" dur="500" fill="hold"/>
                                        <p:tgtEl>
                                          <p:spTgt spid="24"/>
                                        </p:tgtEl>
                                        <p:attrNameLst>
                                          <p:attrName>ppt_x</p:attrName>
                                        </p:attrNameLst>
                                      </p:cBhvr>
                                      <p:tavLst>
                                        <p:tav tm="0">
                                          <p:val>
                                            <p:strVal val="1+#ppt_w/2"/>
                                          </p:val>
                                        </p:tav>
                                        <p:tav tm="100000">
                                          <p:val>
                                            <p:strVal val="#ppt_x"/>
                                          </p:val>
                                        </p:tav>
                                      </p:tavLst>
                                    </p:anim>
                                    <p:anim calcmode="lin" valueType="num">
                                      <p:cBhvr additive="base">
                                        <p:cTn id="73"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16" grpId="0" animBg="1"/>
      <p:bldP spid="18" grpId="0" animBg="1"/>
      <p:bldP spid="29" grpId="0" animBg="1"/>
      <p:bldP spid="22" grpId="0" animBg="1"/>
      <p:bldP spid="19" grpId="0" animBg="1"/>
      <p:bldP spid="23" grpId="0" animBg="1"/>
      <p:bldP spid="24" grpId="0" animBg="1"/>
      <p:bldP spid="25" grpId="0" animBg="1"/>
      <p:bldP spid="26" grpId="0" animBg="1"/>
      <p:bldP spid="20" grpId="0" animBg="1"/>
      <p:bldP spid="27"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p:cNvSpPr>
            <a:spLocks noGrp="1"/>
          </p:cNvSpPr>
          <p:nvPr>
            <p:ph idx="1"/>
          </p:nvPr>
        </p:nvSpPr>
        <p:spPr>
          <a:xfrm>
            <a:off x="359076" y="1348830"/>
            <a:ext cx="9077818" cy="5225387"/>
          </a:xfrm>
        </p:spPr>
        <p:txBody>
          <a:bodyPr>
            <a:noAutofit/>
          </a:bodyPr>
          <a:lstStyle/>
          <a:p>
            <a:r>
              <a:rPr lang="en-US" altLang="en-US" sz="3200" dirty="0">
                <a:solidFill>
                  <a:schemeClr val="bg1">
                    <a:lumMod val="85000"/>
                  </a:schemeClr>
                </a:solidFill>
              </a:rPr>
              <a:t>Assigning a value to a variable does not update it, instead it creates a new variable.</a:t>
            </a:r>
          </a:p>
          <a:p>
            <a:pPr lvl="1"/>
            <a:r>
              <a:rPr lang="en-US" altLang="en-US" sz="2800" dirty="0">
                <a:solidFill>
                  <a:schemeClr val="bg1">
                    <a:lumMod val="85000"/>
                  </a:schemeClr>
                </a:solidFill>
              </a:rPr>
              <a:t>If </a:t>
            </a:r>
            <a:r>
              <a:rPr lang="en-US" altLang="en-US" sz="2800" dirty="0" smtClean="0">
                <a:solidFill>
                  <a:schemeClr val="bg1">
                    <a:lumMod val="85000"/>
                  </a:schemeClr>
                </a:solidFill>
              </a:rPr>
              <a:t>its </a:t>
            </a:r>
            <a:r>
              <a:rPr lang="en-US" altLang="en-US" sz="2800" dirty="0">
                <a:solidFill>
                  <a:schemeClr val="bg1">
                    <a:lumMod val="85000"/>
                  </a:schemeClr>
                </a:solidFill>
              </a:rPr>
              <a:t>the same type (or even if not</a:t>
            </a:r>
            <a:r>
              <a:rPr lang="en-US" altLang="en-US" sz="2800" dirty="0" smtClean="0">
                <a:solidFill>
                  <a:schemeClr val="bg1">
                    <a:lumMod val="85000"/>
                  </a:schemeClr>
                </a:solidFill>
              </a:rPr>
              <a:t>) </a:t>
            </a:r>
            <a:r>
              <a:rPr lang="en-US" altLang="en-US" sz="2800" dirty="0">
                <a:solidFill>
                  <a:schemeClr val="bg1">
                    <a:lumMod val="85000"/>
                  </a:schemeClr>
                </a:solidFill>
              </a:rPr>
              <a:t>it </a:t>
            </a:r>
            <a:r>
              <a:rPr lang="en-US" altLang="en-US" sz="2800" i="1" dirty="0" smtClean="0">
                <a:solidFill>
                  <a:schemeClr val="bg1">
                    <a:lumMod val="85000"/>
                  </a:schemeClr>
                </a:solidFill>
              </a:rPr>
              <a:t>could</a:t>
            </a:r>
            <a:r>
              <a:rPr lang="en-US" altLang="en-US" sz="2800" dirty="0" smtClean="0">
                <a:solidFill>
                  <a:schemeClr val="bg1">
                    <a:lumMod val="85000"/>
                  </a:schemeClr>
                </a:solidFill>
              </a:rPr>
              <a:t> end </a:t>
            </a:r>
            <a:r>
              <a:rPr lang="en-US" altLang="en-US" sz="2800" dirty="0">
                <a:solidFill>
                  <a:schemeClr val="bg1">
                    <a:lumMod val="85000"/>
                  </a:schemeClr>
                </a:solidFill>
              </a:rPr>
              <a:t>up in the same memory location. Nonetheless, it is a new variable.</a:t>
            </a:r>
          </a:p>
          <a:p>
            <a:r>
              <a:rPr lang="en-US" altLang="en-US" sz="3200" dirty="0">
                <a:solidFill>
                  <a:schemeClr val="bg1">
                    <a:lumMod val="85000"/>
                  </a:schemeClr>
                </a:solidFill>
              </a:rPr>
              <a:t>But there are multi-value variables. A</a:t>
            </a:r>
            <a:r>
              <a:rPr lang="en-US" altLang="en-US" sz="3200" dirty="0" smtClean="0">
                <a:solidFill>
                  <a:schemeClr val="bg1">
                    <a:lumMod val="85000"/>
                  </a:schemeClr>
                </a:solidFill>
              </a:rPr>
              <a:t>ssigning to one </a:t>
            </a:r>
            <a:r>
              <a:rPr lang="en-US" altLang="en-US" sz="3200" spc="-30" dirty="0">
                <a:solidFill>
                  <a:schemeClr val="bg1">
                    <a:lumMod val="85000"/>
                  </a:schemeClr>
                </a:solidFill>
              </a:rPr>
              <a:t>value is different than assigning </a:t>
            </a:r>
            <a:r>
              <a:rPr lang="en-US" altLang="en-US" sz="3200" spc="-30" dirty="0" smtClean="0">
                <a:solidFill>
                  <a:schemeClr val="bg1">
                    <a:lumMod val="85000"/>
                  </a:schemeClr>
                </a:solidFill>
              </a:rPr>
              <a:t>to the whole variable</a:t>
            </a:r>
            <a:r>
              <a:rPr lang="en-US" altLang="en-US" sz="3200" spc="-30" dirty="0">
                <a:solidFill>
                  <a:schemeClr val="bg1">
                    <a:lumMod val="85000"/>
                  </a:schemeClr>
                </a:solidFill>
              </a:rPr>
              <a:t>.</a:t>
            </a:r>
          </a:p>
          <a:p>
            <a:r>
              <a:rPr lang="en-US" altLang="en-US" sz="3200" dirty="0">
                <a:solidFill>
                  <a:schemeClr val="bg1">
                    <a:lumMod val="85000"/>
                  </a:schemeClr>
                </a:solidFill>
              </a:rPr>
              <a:t>Python divides its types into two categories:</a:t>
            </a:r>
          </a:p>
          <a:p>
            <a:pPr marL="836633" lvl="1" indent="-471762">
              <a:buClr>
                <a:schemeClr val="bg1">
                  <a:lumMod val="85000"/>
                </a:schemeClr>
              </a:buClr>
              <a:buFont typeface="+mj-lt"/>
              <a:buAutoNum type="arabicPeriod"/>
            </a:pPr>
            <a:r>
              <a:rPr lang="en-US" altLang="en-US" sz="3200" dirty="0" smtClean="0"/>
              <a:t>Numbers</a:t>
            </a:r>
            <a:r>
              <a:rPr lang="en-US" altLang="en-US" sz="3200" dirty="0" smtClean="0">
                <a:solidFill>
                  <a:schemeClr val="bg1">
                    <a:lumMod val="85000"/>
                  </a:schemeClr>
                </a:solidFill>
              </a:rPr>
              <a:t>, strings, </a:t>
            </a:r>
            <a:r>
              <a:rPr lang="en-US" altLang="en-US" sz="3200" dirty="0">
                <a:solidFill>
                  <a:schemeClr val="bg1">
                    <a:lumMod val="85000"/>
                  </a:schemeClr>
                </a:solidFill>
              </a:rPr>
              <a:t>and tuples </a:t>
            </a:r>
            <a:r>
              <a:rPr lang="en-US" altLang="en-US" sz="3200" dirty="0"/>
              <a:t>are </a:t>
            </a:r>
            <a:r>
              <a:rPr lang="en-US" altLang="en-US" sz="3200" b="1" dirty="0">
                <a:solidFill>
                  <a:srgbClr val="00B050"/>
                </a:solidFill>
              </a:rPr>
              <a:t>im</a:t>
            </a:r>
            <a:r>
              <a:rPr lang="en-US" altLang="en-US" sz="3200" b="1" dirty="0">
                <a:solidFill>
                  <a:srgbClr val="FF0000"/>
                </a:solidFill>
              </a:rPr>
              <a:t>mut</a:t>
            </a:r>
            <a:r>
              <a:rPr lang="en-US" altLang="en-US" sz="3200" b="1" dirty="0">
                <a:solidFill>
                  <a:srgbClr val="0070C0"/>
                </a:solidFill>
              </a:rPr>
              <a:t>able</a:t>
            </a:r>
            <a:r>
              <a:rPr lang="en-US" altLang="en-US" sz="3200" dirty="0"/>
              <a:t>.</a:t>
            </a:r>
          </a:p>
          <a:p>
            <a:pPr marL="836633" lvl="1" indent="-471762">
              <a:buFont typeface="+mj-lt"/>
              <a:buAutoNum type="arabicPeriod"/>
            </a:pPr>
            <a:r>
              <a:rPr lang="en-US" altLang="en-US" sz="3200" dirty="0" smtClean="0">
                <a:solidFill>
                  <a:schemeClr val="bg1">
                    <a:lumMod val="85000"/>
                  </a:schemeClr>
                </a:solidFill>
              </a:rPr>
              <a:t>Lists, sets, </a:t>
            </a:r>
            <a:r>
              <a:rPr lang="en-US" altLang="en-US" sz="3200" dirty="0">
                <a:solidFill>
                  <a:schemeClr val="bg1">
                    <a:lumMod val="85000"/>
                  </a:schemeClr>
                </a:solidFill>
              </a:rPr>
              <a:t>and dictionaries are mutable.</a:t>
            </a:r>
          </a:p>
        </p:txBody>
      </p:sp>
      <p:sp>
        <p:nvSpPr>
          <p:cNvPr id="9" name="Title 1"/>
          <p:cNvSpPr>
            <a:spLocks noGrp="1"/>
          </p:cNvSpPr>
          <p:nvPr>
            <p:ph type="title"/>
          </p:nvPr>
        </p:nvSpPr>
        <p:spPr>
          <a:xfrm>
            <a:off x="1" y="283784"/>
            <a:ext cx="9729788" cy="1065046"/>
          </a:xfrm>
        </p:spPr>
        <p:txBody>
          <a:bodyPr>
            <a:normAutofit/>
          </a:bodyPr>
          <a:lstStyle/>
          <a:p>
            <a:r>
              <a:rPr lang="en-US" altLang="en-US" sz="4400" dirty="0" smtClean="0">
                <a:solidFill>
                  <a:srgbClr val="0070C0"/>
                </a:solidFill>
              </a:rPr>
              <a:t>Updating the Values of Variables:</a:t>
            </a:r>
          </a:p>
        </p:txBody>
      </p:sp>
      <p:grpSp>
        <p:nvGrpSpPr>
          <p:cNvPr id="3" name="Group 2"/>
          <p:cNvGrpSpPr/>
          <p:nvPr/>
        </p:nvGrpSpPr>
        <p:grpSpPr>
          <a:xfrm>
            <a:off x="282876" y="1134713"/>
            <a:ext cx="5542294" cy="2826810"/>
            <a:chOff x="282876" y="1134713"/>
            <a:chExt cx="5542294" cy="2826810"/>
          </a:xfrm>
        </p:grpSpPr>
        <p:sp>
          <p:nvSpPr>
            <p:cNvPr id="14" name="Rounded Rectangular Callout 13"/>
            <p:cNvSpPr/>
            <p:nvPr/>
          </p:nvSpPr>
          <p:spPr>
            <a:xfrm>
              <a:off x="380847" y="1134713"/>
              <a:ext cx="5444323" cy="2826810"/>
            </a:xfrm>
            <a:prstGeom prst="wedgeRoundRectCallout">
              <a:avLst>
                <a:gd name="adj1" fmla="val -20609"/>
                <a:gd name="adj2" fmla="val 6895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33CC"/>
                </a:solidFill>
              </a:endParaRPr>
            </a:p>
          </p:txBody>
        </p:sp>
        <p:sp>
          <p:nvSpPr>
            <p:cNvPr id="15" name="Rounded Rectangular Callout 14"/>
            <p:cNvSpPr/>
            <p:nvPr/>
          </p:nvSpPr>
          <p:spPr>
            <a:xfrm>
              <a:off x="282876" y="1134713"/>
              <a:ext cx="2717452" cy="2826810"/>
            </a:xfrm>
            <a:prstGeom prst="wedgeRoundRectCallout">
              <a:avLst>
                <a:gd name="adj1" fmla="val -50002"/>
                <a:gd name="adj2" fmla="val -19233"/>
                <a:gd name="adj3"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2000"/>
                </a:lnSpc>
              </a:pPr>
              <a:r>
                <a:rPr lang="en-US" sz="2800" dirty="0" smtClean="0">
                  <a:solidFill>
                    <a:srgbClr val="0033CC"/>
                  </a:solidFill>
                </a:rPr>
                <a:t>Numbers cannot</a:t>
              </a:r>
              <a:br>
                <a:rPr lang="en-US" sz="2800" dirty="0" smtClean="0">
                  <a:solidFill>
                    <a:srgbClr val="0033CC"/>
                  </a:solidFill>
                </a:rPr>
              </a:br>
              <a:r>
                <a:rPr lang="en-US" sz="2800" dirty="0" smtClean="0">
                  <a:solidFill>
                    <a:srgbClr val="0033CC"/>
                  </a:solidFill>
                </a:rPr>
                <a:t> change?!? Then how do you explain this:</a:t>
              </a:r>
              <a:endParaRPr lang="en-US" sz="2800" dirty="0">
                <a:solidFill>
                  <a:srgbClr val="0033CC"/>
                </a:solidFill>
              </a:endParaRPr>
            </a:p>
          </p:txBody>
        </p:sp>
      </p:grpSp>
      <p:sp>
        <p:nvSpPr>
          <p:cNvPr id="13" name="Rectangle 12"/>
          <p:cNvSpPr/>
          <p:nvPr/>
        </p:nvSpPr>
        <p:spPr>
          <a:xfrm>
            <a:off x="2707040" y="1459982"/>
            <a:ext cx="2678744" cy="217627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&gt;&gt;&gt; </a:t>
            </a:r>
            <a:r>
              <a:rPr lang="en-US" sz="2200" dirty="0">
                <a:solidFill>
                  <a:schemeClr val="bg1"/>
                </a:solidFill>
                <a:latin typeface="Lucida Console" panose="020B0609040504020204" pitchFamily="49" charset="0"/>
                <a:cs typeface="Consolas" panose="020B0609020204030204" pitchFamily="49" charset="0"/>
              </a:rPr>
              <a:t>x=5</a:t>
            </a: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a:t>
            </a:r>
            <a:r>
              <a:rPr lang="en-US" sz="2200" dirty="0" smtClean="0">
                <a:solidFill>
                  <a:schemeClr val="bg1"/>
                </a:solidFill>
                <a:latin typeface="Lucida Console" panose="020B0609040504020204" pitchFamily="49" charset="0"/>
                <a:cs typeface="Consolas" panose="020B0609020204030204" pitchFamily="49" charset="0"/>
              </a:rPr>
              <a:t>x)</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5</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a:t>
            </a:r>
            <a:r>
              <a:rPr lang="en-US" sz="2200" dirty="0" smtClean="0">
                <a:solidFill>
                  <a:schemeClr val="bg1"/>
                </a:solidFill>
                <a:latin typeface="Lucida Console" panose="020B0609040504020204" pitchFamily="49" charset="0"/>
                <a:cs typeface="Consolas" panose="020B0609020204030204" pitchFamily="49" charset="0"/>
              </a:rPr>
              <a:t>x=6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(x)</a:t>
            </a: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lumMod val="95000"/>
                  </a:schemeClr>
                </a:solidFill>
                <a:latin typeface="Lucida Console" panose="020B0609040504020204" pitchFamily="49" charset="0"/>
                <a:cs typeface="Consolas" panose="020B0609020204030204" pitchFamily="49" charset="0"/>
              </a:rPr>
              <a:t>&gt;&gt;&gt;</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17" name="Rounded Rectangular Callout 16"/>
          <p:cNvSpPr/>
          <p:nvPr/>
        </p:nvSpPr>
        <p:spPr>
          <a:xfrm>
            <a:off x="6311900" y="1134714"/>
            <a:ext cx="3439660" cy="2826810"/>
          </a:xfrm>
          <a:prstGeom prst="wedgeRoundRectCallout">
            <a:avLst>
              <a:gd name="adj1" fmla="val -89899"/>
              <a:gd name="adj2" fmla="val -20244"/>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i</a:t>
            </a:r>
            <a:r>
              <a:rPr lang="en-US" sz="2800" spc="-20" dirty="0" smtClean="0">
                <a:solidFill>
                  <a:srgbClr val="0033CC"/>
                </a:solidFill>
                <a:latin typeface="Calibri Light" panose="020F0302020204030204" pitchFamily="34" charset="0"/>
                <a:cs typeface="Calibri Light" panose="020F0302020204030204" pitchFamily="34" charset="0"/>
              </a:rPr>
              <a:t>f (</a:t>
            </a:r>
            <a:r>
              <a:rPr lang="en-US" sz="2800" spc="-20" dirty="0" err="1" smtClean="0">
                <a:solidFill>
                  <a:srgbClr val="0033CC"/>
                </a:solidFill>
                <a:latin typeface="Calibri Light" panose="020F0302020204030204" pitchFamily="34" charset="0"/>
                <a:cs typeface="Calibri Light" panose="020F0302020204030204" pitchFamily="34" charset="0"/>
              </a:rPr>
              <a:t>ItIsAnAssignment</a:t>
            </a:r>
            <a:r>
              <a:rPr lang="en-US" sz="2800" spc="-20" dirty="0" smtClean="0">
                <a:solidFill>
                  <a:srgbClr val="0033CC"/>
                </a:solidFill>
                <a:latin typeface="Calibri Light" panose="020F0302020204030204" pitchFamily="34" charset="0"/>
                <a:cs typeface="Calibri Light" panose="020F0302020204030204" pitchFamily="34" charset="0"/>
              </a:rPr>
              <a:t>)</a:t>
            </a:r>
            <a:br>
              <a:rPr lang="en-US" sz="2800" spc="-20" dirty="0" smtClean="0">
                <a:solidFill>
                  <a:srgbClr val="0033CC"/>
                </a:solidFill>
                <a:latin typeface="Calibri Light" panose="020F0302020204030204" pitchFamily="34" charset="0"/>
                <a:cs typeface="Calibri Light" panose="020F0302020204030204" pitchFamily="34" charset="0"/>
              </a:rPr>
            </a:br>
            <a:r>
              <a:rPr lang="en-US" sz="2800" spc="-20" dirty="0" smtClean="0">
                <a:solidFill>
                  <a:srgbClr val="0033CC"/>
                </a:solidFill>
                <a:latin typeface="Calibri Light" panose="020F0302020204030204" pitchFamily="34" charset="0"/>
                <a:cs typeface="Calibri Light" panose="020F0302020204030204" pitchFamily="34" charset="0"/>
              </a:rPr>
              <a:t>{   v</a:t>
            </a:r>
            <a:r>
              <a:rPr lang="en-US" sz="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getNameOnLHS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a:t>
            </a:r>
            <a:r>
              <a:rPr lang="en-US" sz="20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t</a:t>
            </a:r>
            <a:r>
              <a:rPr lang="en-US" sz="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inferTypeOnRHS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smtClean="0">
                <a:solidFill>
                  <a:srgbClr val="0033CC"/>
                </a:solidFill>
                <a:latin typeface="Calibri Light" panose="020F0302020204030204" pitchFamily="34" charset="0"/>
                <a:cs typeface="Calibri Light" panose="020F0302020204030204" pitchFamily="34" charset="0"/>
              </a:rPr>
              <a:t>    </a:t>
            </a:r>
            <a:r>
              <a:rPr lang="en-US" sz="24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if</a:t>
            </a:r>
            <a:r>
              <a:rPr lang="en-US" sz="20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400" spc="-20" dirty="0" smtClean="0">
                <a:solidFill>
                  <a:srgbClr val="0033CC"/>
                </a:solidFill>
                <a:latin typeface="Calibri Light" panose="020F0302020204030204" pitchFamily="34" charset="0"/>
                <a:cs typeface="Calibri Light" panose="020F0302020204030204" pitchFamily="34" charset="0"/>
              </a:rPr>
              <a:t> </a:t>
            </a:r>
            <a:r>
              <a:rPr lang="en-US" sz="2800" spc="-20" dirty="0" err="1" smtClean="0">
                <a:solidFill>
                  <a:srgbClr val="0033CC"/>
                </a:solidFill>
                <a:latin typeface="Calibri Light" panose="020F0302020204030204" pitchFamily="34" charset="0"/>
                <a:cs typeface="Calibri Light" panose="020F0302020204030204" pitchFamily="34" charset="0"/>
              </a:rPr>
              <a:t>ItExistsAlready</a:t>
            </a:r>
            <a:r>
              <a:rPr lang="en-US" sz="2800" spc="-20" dirty="0" smtClean="0">
                <a:solidFill>
                  <a:srgbClr val="0033CC"/>
                </a:solidFill>
                <a:latin typeface="Calibri Light" panose="020F0302020204030204" pitchFamily="34" charset="0"/>
                <a:cs typeface="Calibri Light" panose="020F0302020204030204" pitchFamily="34" charset="0"/>
              </a:rPr>
              <a:t>(v))</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a:t>
            </a: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free(&amp;v)</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v</a:t>
            </a:r>
            <a:r>
              <a:rPr lang="en-US" sz="4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malloc</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sizeof</a:t>
            </a:r>
            <a:r>
              <a:rPr lang="en-US" sz="2800" spc="-20" dirty="0" smtClean="0">
                <a:solidFill>
                  <a:srgbClr val="0033CC"/>
                </a:solidFill>
                <a:latin typeface="Calibri Light" panose="020F0302020204030204" pitchFamily="34" charset="0"/>
                <a:cs typeface="Calibri Light" panose="020F0302020204030204" pitchFamily="34" charset="0"/>
              </a:rPr>
              <a:t>(t))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*v=</a:t>
            </a:r>
            <a:r>
              <a:rPr lang="en-US" sz="2800" spc="-20" dirty="0" err="1" smtClean="0">
                <a:solidFill>
                  <a:srgbClr val="0033CC"/>
                </a:solidFill>
                <a:latin typeface="Calibri Light" panose="020F0302020204030204" pitchFamily="34" charset="0"/>
                <a:cs typeface="Calibri Light" panose="020F0302020204030204" pitchFamily="34" charset="0"/>
              </a:rPr>
              <a:t>getValueOfRHS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a:t>
            </a:r>
            <a:r>
              <a:rPr lang="en-US" sz="2800" spc="-20" dirty="0" smtClean="0">
                <a:solidFill>
                  <a:srgbClr val="0033CC"/>
                </a:solidFill>
                <a:latin typeface="Calibri Light" panose="020F0302020204030204" pitchFamily="34" charset="0"/>
                <a:cs typeface="Calibri Light" panose="020F0302020204030204" pitchFamily="34" charset="0"/>
              </a:rPr>
              <a:t> </a:t>
            </a:r>
            <a:endParaRPr lang="en-US" sz="2800" spc="-20" dirty="0">
              <a:solidFill>
                <a:srgbClr val="0033CC"/>
              </a:solidFill>
              <a:latin typeface="Calibri Light" panose="020F0302020204030204" pitchFamily="34" charset="0"/>
              <a:cs typeface="Calibri Light" panose="020F0302020204030204" pitchFamily="34" charset="0"/>
            </a:endParaRPr>
          </a:p>
        </p:txBody>
      </p:sp>
      <p:sp>
        <p:nvSpPr>
          <p:cNvPr id="22" name="Rectangle 21"/>
          <p:cNvSpPr/>
          <p:nvPr/>
        </p:nvSpPr>
        <p:spPr>
          <a:xfrm>
            <a:off x="6626123" y="1594690"/>
            <a:ext cx="3040392" cy="1939533"/>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73152" rtlCol="0" anchor="ctr" anchorCtr="0"/>
          <a:lstStyle/>
          <a:p>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6" name="Rectangle 25"/>
          <p:cNvSpPr/>
          <p:nvPr/>
        </p:nvSpPr>
        <p:spPr>
          <a:xfrm>
            <a:off x="6823129" y="1252858"/>
            <a:ext cx="2413861" cy="341832"/>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73152" rtlCol="0" anchor="ctr" anchorCtr="0"/>
          <a:lstStyle/>
          <a:p>
            <a:pPr algn="ctr"/>
            <a:r>
              <a:rPr lang="en-US" sz="2800" dirty="0" smtClean="0">
                <a:solidFill>
                  <a:srgbClr val="FF0000"/>
                </a:solidFill>
                <a:latin typeface="Calibri Light" panose="020F0302020204030204" pitchFamily="34" charset="0"/>
                <a:cs typeface="Calibri Light" panose="020F0302020204030204" pitchFamily="34" charset="0"/>
              </a:rPr>
              <a:t>False</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 name="Oval 1"/>
          <p:cNvSpPr/>
          <p:nvPr/>
        </p:nvSpPr>
        <p:spPr>
          <a:xfrm>
            <a:off x="8979694" y="1183570"/>
            <a:ext cx="319884" cy="400065"/>
          </a:xfrm>
          <a:prstGeom prst="ellipse">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9346390" y="1550267"/>
            <a:ext cx="304800" cy="192970"/>
          </a:xfrm>
          <a:prstGeom prst="ellipse">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ular Callout 20"/>
          <p:cNvSpPr/>
          <p:nvPr/>
        </p:nvSpPr>
        <p:spPr>
          <a:xfrm>
            <a:off x="1188695" y="46577"/>
            <a:ext cx="7472705" cy="804353"/>
          </a:xfrm>
          <a:prstGeom prst="wedgeRoundRectCallout">
            <a:avLst>
              <a:gd name="adj1" fmla="val 33277"/>
              <a:gd name="adj2" fmla="val 10420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2000"/>
              </a:lnSpc>
            </a:pPr>
            <a:r>
              <a:rPr lang="en-US" sz="2800" spc="-40" dirty="0" smtClean="0">
                <a:solidFill>
                  <a:srgbClr val="FFD966"/>
                </a:solidFill>
              </a:rPr>
              <a:t>..</a:t>
            </a:r>
            <a:r>
              <a:rPr lang="en-US" sz="2800" spc="-40" dirty="0" smtClean="0">
                <a:solidFill>
                  <a:srgbClr val="0033CC"/>
                </a:solidFill>
              </a:rPr>
              <a:t>Some C-style pseudocode might help explain this.</a:t>
            </a:r>
            <a:r>
              <a:rPr lang="en-US" sz="2800" spc="-40" dirty="0" smtClean="0">
                <a:solidFill>
                  <a:srgbClr val="FFD966"/>
                </a:solidFill>
              </a:rPr>
              <a:t>..</a:t>
            </a:r>
            <a:endParaRPr lang="en-US" sz="2800" dirty="0">
              <a:solidFill>
                <a:srgbClr val="FFD966"/>
              </a:solidFill>
            </a:endParaRPr>
          </a:p>
        </p:txBody>
      </p:sp>
    </p:spTree>
    <p:extLst>
      <p:ext uri="{BB962C8B-B14F-4D97-AF65-F5344CB8AC3E}">
        <p14:creationId xmlns:p14="http://schemas.microsoft.com/office/powerpoint/2010/main" val="322277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1+#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1+#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1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6" grpId="0" animBg="1"/>
      <p:bldP spid="2" grpId="0" animBg="1"/>
      <p:bldP spid="16"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ontent Placeholder 2"/>
          <p:cNvSpPr>
            <a:spLocks noGrp="1"/>
          </p:cNvSpPr>
          <p:nvPr>
            <p:ph idx="1"/>
          </p:nvPr>
        </p:nvSpPr>
        <p:spPr>
          <a:xfrm>
            <a:off x="359076" y="1348830"/>
            <a:ext cx="9077818" cy="5225387"/>
          </a:xfrm>
        </p:spPr>
        <p:txBody>
          <a:bodyPr>
            <a:noAutofit/>
          </a:bodyPr>
          <a:lstStyle/>
          <a:p>
            <a:r>
              <a:rPr lang="en-US" altLang="en-US" sz="3200" dirty="0">
                <a:solidFill>
                  <a:schemeClr val="bg1">
                    <a:lumMod val="85000"/>
                  </a:schemeClr>
                </a:solidFill>
              </a:rPr>
              <a:t>Assigning a value to a variable does not update it, instead it creates a new variable.</a:t>
            </a:r>
          </a:p>
          <a:p>
            <a:pPr lvl="1"/>
            <a:r>
              <a:rPr lang="en-US" altLang="en-US" sz="2800" dirty="0">
                <a:solidFill>
                  <a:schemeClr val="bg1">
                    <a:lumMod val="85000"/>
                  </a:schemeClr>
                </a:solidFill>
              </a:rPr>
              <a:t>If </a:t>
            </a:r>
            <a:r>
              <a:rPr lang="en-US" altLang="en-US" sz="2800" dirty="0" smtClean="0">
                <a:solidFill>
                  <a:schemeClr val="bg1">
                    <a:lumMod val="85000"/>
                  </a:schemeClr>
                </a:solidFill>
              </a:rPr>
              <a:t>its </a:t>
            </a:r>
            <a:r>
              <a:rPr lang="en-US" altLang="en-US" sz="2800" dirty="0">
                <a:solidFill>
                  <a:schemeClr val="bg1">
                    <a:lumMod val="85000"/>
                  </a:schemeClr>
                </a:solidFill>
              </a:rPr>
              <a:t>the same type (or even if not</a:t>
            </a:r>
            <a:r>
              <a:rPr lang="en-US" altLang="en-US" sz="2800" dirty="0" smtClean="0">
                <a:solidFill>
                  <a:schemeClr val="bg1">
                    <a:lumMod val="85000"/>
                  </a:schemeClr>
                </a:solidFill>
              </a:rPr>
              <a:t>) </a:t>
            </a:r>
            <a:r>
              <a:rPr lang="en-US" altLang="en-US" sz="2800" dirty="0">
                <a:solidFill>
                  <a:schemeClr val="bg1">
                    <a:lumMod val="85000"/>
                  </a:schemeClr>
                </a:solidFill>
              </a:rPr>
              <a:t>it </a:t>
            </a:r>
            <a:r>
              <a:rPr lang="en-US" altLang="en-US" sz="2800" i="1" dirty="0" smtClean="0">
                <a:solidFill>
                  <a:schemeClr val="bg1">
                    <a:lumMod val="85000"/>
                  </a:schemeClr>
                </a:solidFill>
              </a:rPr>
              <a:t>could</a:t>
            </a:r>
            <a:r>
              <a:rPr lang="en-US" altLang="en-US" sz="2800" dirty="0" smtClean="0">
                <a:solidFill>
                  <a:schemeClr val="bg1">
                    <a:lumMod val="85000"/>
                  </a:schemeClr>
                </a:solidFill>
              </a:rPr>
              <a:t> end </a:t>
            </a:r>
            <a:r>
              <a:rPr lang="en-US" altLang="en-US" sz="2800" dirty="0">
                <a:solidFill>
                  <a:schemeClr val="bg1">
                    <a:lumMod val="85000"/>
                  </a:schemeClr>
                </a:solidFill>
              </a:rPr>
              <a:t>up in the same memory location. Nonetheless, it is a new variable.</a:t>
            </a:r>
          </a:p>
          <a:p>
            <a:r>
              <a:rPr lang="en-US" altLang="en-US" sz="3200" dirty="0">
                <a:solidFill>
                  <a:schemeClr val="bg1">
                    <a:lumMod val="85000"/>
                  </a:schemeClr>
                </a:solidFill>
              </a:rPr>
              <a:t>But there are multi-value variables. A</a:t>
            </a:r>
            <a:r>
              <a:rPr lang="en-US" altLang="en-US" sz="3200" dirty="0" smtClean="0">
                <a:solidFill>
                  <a:schemeClr val="bg1">
                    <a:lumMod val="85000"/>
                  </a:schemeClr>
                </a:solidFill>
              </a:rPr>
              <a:t>ssigning to one </a:t>
            </a:r>
            <a:r>
              <a:rPr lang="en-US" altLang="en-US" sz="3200" spc="-30" dirty="0">
                <a:solidFill>
                  <a:schemeClr val="bg1">
                    <a:lumMod val="85000"/>
                  </a:schemeClr>
                </a:solidFill>
              </a:rPr>
              <a:t>value is different than assigning </a:t>
            </a:r>
            <a:r>
              <a:rPr lang="en-US" altLang="en-US" sz="3200" spc="-30" dirty="0" smtClean="0">
                <a:solidFill>
                  <a:schemeClr val="bg1">
                    <a:lumMod val="85000"/>
                  </a:schemeClr>
                </a:solidFill>
              </a:rPr>
              <a:t>to the whole variable</a:t>
            </a:r>
            <a:r>
              <a:rPr lang="en-US" altLang="en-US" sz="3200" spc="-30" dirty="0">
                <a:solidFill>
                  <a:schemeClr val="bg1">
                    <a:lumMod val="85000"/>
                  </a:schemeClr>
                </a:solidFill>
              </a:rPr>
              <a:t>.</a:t>
            </a:r>
          </a:p>
          <a:p>
            <a:r>
              <a:rPr lang="en-US" altLang="en-US" sz="3200" dirty="0">
                <a:solidFill>
                  <a:schemeClr val="bg1">
                    <a:lumMod val="85000"/>
                  </a:schemeClr>
                </a:solidFill>
              </a:rPr>
              <a:t>Python divides its types into two categories:</a:t>
            </a:r>
          </a:p>
          <a:p>
            <a:pPr marL="836633" lvl="1" indent="-471762">
              <a:buClr>
                <a:schemeClr val="bg1">
                  <a:lumMod val="85000"/>
                </a:schemeClr>
              </a:buClr>
              <a:buFont typeface="+mj-lt"/>
              <a:buAutoNum type="arabicPeriod"/>
            </a:pPr>
            <a:r>
              <a:rPr lang="en-US" altLang="en-US" sz="3200" dirty="0" smtClean="0"/>
              <a:t>Numbers</a:t>
            </a:r>
            <a:r>
              <a:rPr lang="en-US" altLang="en-US" sz="3200" dirty="0" smtClean="0">
                <a:solidFill>
                  <a:schemeClr val="bg1">
                    <a:lumMod val="85000"/>
                  </a:schemeClr>
                </a:solidFill>
              </a:rPr>
              <a:t>, strings, </a:t>
            </a:r>
            <a:r>
              <a:rPr lang="en-US" altLang="en-US" sz="3200" dirty="0">
                <a:solidFill>
                  <a:schemeClr val="bg1">
                    <a:lumMod val="85000"/>
                  </a:schemeClr>
                </a:solidFill>
              </a:rPr>
              <a:t>and tuples </a:t>
            </a:r>
            <a:r>
              <a:rPr lang="en-US" altLang="en-US" sz="3200" dirty="0"/>
              <a:t>are </a:t>
            </a:r>
            <a:r>
              <a:rPr lang="en-US" altLang="en-US" sz="3200" b="1" dirty="0">
                <a:solidFill>
                  <a:srgbClr val="00B050"/>
                </a:solidFill>
              </a:rPr>
              <a:t>im</a:t>
            </a:r>
            <a:r>
              <a:rPr lang="en-US" altLang="en-US" sz="3200" b="1" dirty="0">
                <a:solidFill>
                  <a:srgbClr val="FF0000"/>
                </a:solidFill>
              </a:rPr>
              <a:t>mut</a:t>
            </a:r>
            <a:r>
              <a:rPr lang="en-US" altLang="en-US" sz="3200" b="1" dirty="0">
                <a:solidFill>
                  <a:srgbClr val="0070C0"/>
                </a:solidFill>
              </a:rPr>
              <a:t>able</a:t>
            </a:r>
            <a:r>
              <a:rPr lang="en-US" altLang="en-US" sz="3200" dirty="0"/>
              <a:t>.</a:t>
            </a:r>
          </a:p>
          <a:p>
            <a:pPr marL="836633" lvl="1" indent="-471762">
              <a:buFont typeface="+mj-lt"/>
              <a:buAutoNum type="arabicPeriod"/>
            </a:pPr>
            <a:r>
              <a:rPr lang="en-US" altLang="en-US" sz="3200" dirty="0" smtClean="0">
                <a:solidFill>
                  <a:schemeClr val="bg1">
                    <a:lumMod val="85000"/>
                  </a:schemeClr>
                </a:solidFill>
              </a:rPr>
              <a:t>Lists, sets, </a:t>
            </a:r>
            <a:r>
              <a:rPr lang="en-US" altLang="en-US" sz="3200" dirty="0">
                <a:solidFill>
                  <a:schemeClr val="bg1">
                    <a:lumMod val="85000"/>
                  </a:schemeClr>
                </a:solidFill>
              </a:rPr>
              <a:t>and dictionaries are mutable.</a:t>
            </a:r>
          </a:p>
        </p:txBody>
      </p:sp>
      <p:sp>
        <p:nvSpPr>
          <p:cNvPr id="9" name="Title 1"/>
          <p:cNvSpPr>
            <a:spLocks noGrp="1"/>
          </p:cNvSpPr>
          <p:nvPr>
            <p:ph type="title"/>
          </p:nvPr>
        </p:nvSpPr>
        <p:spPr>
          <a:xfrm>
            <a:off x="1" y="283784"/>
            <a:ext cx="9729788" cy="1065046"/>
          </a:xfrm>
        </p:spPr>
        <p:txBody>
          <a:bodyPr>
            <a:normAutofit/>
          </a:bodyPr>
          <a:lstStyle/>
          <a:p>
            <a:r>
              <a:rPr lang="en-US" altLang="en-US" sz="4400" dirty="0" smtClean="0">
                <a:solidFill>
                  <a:srgbClr val="0070C0"/>
                </a:solidFill>
              </a:rPr>
              <a:t>Updating the Values of Variables:</a:t>
            </a:r>
          </a:p>
        </p:txBody>
      </p:sp>
      <p:grpSp>
        <p:nvGrpSpPr>
          <p:cNvPr id="3" name="Group 2"/>
          <p:cNvGrpSpPr/>
          <p:nvPr/>
        </p:nvGrpSpPr>
        <p:grpSpPr>
          <a:xfrm>
            <a:off x="282876" y="1134713"/>
            <a:ext cx="5542294" cy="2826810"/>
            <a:chOff x="282876" y="1134713"/>
            <a:chExt cx="5542294" cy="2826810"/>
          </a:xfrm>
        </p:grpSpPr>
        <p:sp>
          <p:nvSpPr>
            <p:cNvPr id="14" name="Rounded Rectangular Callout 13"/>
            <p:cNvSpPr/>
            <p:nvPr/>
          </p:nvSpPr>
          <p:spPr>
            <a:xfrm>
              <a:off x="380847" y="1134713"/>
              <a:ext cx="5444323" cy="2826810"/>
            </a:xfrm>
            <a:prstGeom prst="wedgeRoundRectCallout">
              <a:avLst>
                <a:gd name="adj1" fmla="val -20609"/>
                <a:gd name="adj2" fmla="val 6895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33CC"/>
                </a:solidFill>
              </a:endParaRPr>
            </a:p>
          </p:txBody>
        </p:sp>
        <p:sp>
          <p:nvSpPr>
            <p:cNvPr id="15" name="Rounded Rectangular Callout 14"/>
            <p:cNvSpPr/>
            <p:nvPr/>
          </p:nvSpPr>
          <p:spPr>
            <a:xfrm>
              <a:off x="282876" y="1134713"/>
              <a:ext cx="2717452" cy="2826810"/>
            </a:xfrm>
            <a:prstGeom prst="wedgeRoundRectCallout">
              <a:avLst>
                <a:gd name="adj1" fmla="val -50002"/>
                <a:gd name="adj2" fmla="val -19233"/>
                <a:gd name="adj3"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2000"/>
                </a:lnSpc>
              </a:pPr>
              <a:r>
                <a:rPr lang="en-US" sz="2800" dirty="0" smtClean="0">
                  <a:solidFill>
                    <a:srgbClr val="0033CC"/>
                  </a:solidFill>
                </a:rPr>
                <a:t>Numbers cannot</a:t>
              </a:r>
              <a:br>
                <a:rPr lang="en-US" sz="2800" dirty="0" smtClean="0">
                  <a:solidFill>
                    <a:srgbClr val="0033CC"/>
                  </a:solidFill>
                </a:rPr>
              </a:br>
              <a:r>
                <a:rPr lang="en-US" sz="2800" dirty="0" smtClean="0">
                  <a:solidFill>
                    <a:srgbClr val="0033CC"/>
                  </a:solidFill>
                </a:rPr>
                <a:t> change?!? Then how do you explain this:</a:t>
              </a:r>
              <a:endParaRPr lang="en-US" sz="2800" dirty="0">
                <a:solidFill>
                  <a:srgbClr val="0033CC"/>
                </a:solidFill>
              </a:endParaRPr>
            </a:p>
          </p:txBody>
        </p:sp>
      </p:grpSp>
      <p:sp>
        <p:nvSpPr>
          <p:cNvPr id="13" name="Rectangle 12"/>
          <p:cNvSpPr/>
          <p:nvPr/>
        </p:nvSpPr>
        <p:spPr>
          <a:xfrm>
            <a:off x="2707040" y="1459982"/>
            <a:ext cx="2678744" cy="217627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&gt;&gt;&gt; </a:t>
            </a:r>
            <a:r>
              <a:rPr lang="en-US" sz="2200" dirty="0">
                <a:solidFill>
                  <a:schemeClr val="bg1"/>
                </a:solidFill>
                <a:latin typeface="Lucida Console" panose="020B0609040504020204" pitchFamily="49" charset="0"/>
                <a:cs typeface="Consolas" panose="020B0609020204030204" pitchFamily="49" charset="0"/>
              </a:rPr>
              <a:t>x=5</a:t>
            </a: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a:t>
            </a:r>
            <a:r>
              <a:rPr lang="en-US" sz="2200" dirty="0" smtClean="0">
                <a:solidFill>
                  <a:schemeClr val="bg1"/>
                </a:solidFill>
                <a:latin typeface="Lucida Console" panose="020B0609040504020204" pitchFamily="49" charset="0"/>
                <a:cs typeface="Consolas" panose="020B0609020204030204" pitchFamily="49" charset="0"/>
              </a:rPr>
              <a:t>x)</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5</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a:t>
            </a:r>
            <a:r>
              <a:rPr lang="en-US" sz="2200" dirty="0" smtClean="0">
                <a:solidFill>
                  <a:schemeClr val="bg1"/>
                </a:solidFill>
                <a:latin typeface="Lucida Console" panose="020B0609040504020204" pitchFamily="49" charset="0"/>
                <a:cs typeface="Consolas" panose="020B0609020204030204" pitchFamily="49" charset="0"/>
              </a:rPr>
              <a:t>x=6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(x)</a:t>
            </a: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lumMod val="95000"/>
                  </a:schemeClr>
                </a:solidFill>
                <a:latin typeface="Lucida Console" panose="020B0609040504020204" pitchFamily="49" charset="0"/>
                <a:cs typeface="Consolas" panose="020B0609020204030204" pitchFamily="49" charset="0"/>
              </a:rPr>
              <a:t>&gt;&gt;&gt;</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17" name="Rounded Rectangular Callout 16"/>
          <p:cNvSpPr/>
          <p:nvPr/>
        </p:nvSpPr>
        <p:spPr>
          <a:xfrm>
            <a:off x="6311900" y="1134714"/>
            <a:ext cx="3439660" cy="2826810"/>
          </a:xfrm>
          <a:prstGeom prst="wedgeRoundRectCallout">
            <a:avLst>
              <a:gd name="adj1" fmla="val -116721"/>
              <a:gd name="adj2" fmla="val -1471"/>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i</a:t>
            </a:r>
            <a:r>
              <a:rPr lang="en-US" sz="2800" spc="-20" dirty="0" smtClean="0">
                <a:solidFill>
                  <a:srgbClr val="0033CC"/>
                </a:solidFill>
                <a:latin typeface="Calibri Light" panose="020F0302020204030204" pitchFamily="34" charset="0"/>
                <a:cs typeface="Calibri Light" panose="020F0302020204030204" pitchFamily="34" charset="0"/>
              </a:rPr>
              <a:t>f (</a:t>
            </a:r>
            <a:r>
              <a:rPr lang="en-US" sz="2800" spc="-20" dirty="0" err="1" smtClean="0">
                <a:solidFill>
                  <a:srgbClr val="0033CC"/>
                </a:solidFill>
                <a:latin typeface="Calibri Light" panose="020F0302020204030204" pitchFamily="34" charset="0"/>
                <a:cs typeface="Calibri Light" panose="020F0302020204030204" pitchFamily="34" charset="0"/>
              </a:rPr>
              <a:t>ItIsAnAssignment</a:t>
            </a:r>
            <a:r>
              <a:rPr lang="en-US" sz="2800" spc="-20" dirty="0" smtClean="0">
                <a:solidFill>
                  <a:srgbClr val="0033CC"/>
                </a:solidFill>
                <a:latin typeface="Calibri Light" panose="020F0302020204030204" pitchFamily="34" charset="0"/>
                <a:cs typeface="Calibri Light" panose="020F0302020204030204" pitchFamily="34" charset="0"/>
              </a:rPr>
              <a:t>)</a:t>
            </a:r>
            <a:br>
              <a:rPr lang="en-US" sz="2800" spc="-20" dirty="0" smtClean="0">
                <a:solidFill>
                  <a:srgbClr val="0033CC"/>
                </a:solidFill>
                <a:latin typeface="Calibri Light" panose="020F0302020204030204" pitchFamily="34" charset="0"/>
                <a:cs typeface="Calibri Light" panose="020F0302020204030204" pitchFamily="34" charset="0"/>
              </a:rPr>
            </a:br>
            <a:r>
              <a:rPr lang="en-US" sz="2800" spc="-20" dirty="0" smtClean="0">
                <a:solidFill>
                  <a:srgbClr val="0033CC"/>
                </a:solidFill>
                <a:latin typeface="Calibri Light" panose="020F0302020204030204" pitchFamily="34" charset="0"/>
                <a:cs typeface="Calibri Light" panose="020F0302020204030204" pitchFamily="34" charset="0"/>
              </a:rPr>
              <a:t>{   v</a:t>
            </a:r>
            <a:r>
              <a:rPr lang="en-US" sz="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getNameOnLHS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a:t>
            </a:r>
            <a:r>
              <a:rPr lang="en-US" sz="20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t</a:t>
            </a:r>
            <a:r>
              <a:rPr lang="en-US" sz="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inferTypeOnRHS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smtClean="0">
                <a:solidFill>
                  <a:srgbClr val="0033CC"/>
                </a:solidFill>
                <a:latin typeface="Calibri Light" panose="020F0302020204030204" pitchFamily="34" charset="0"/>
                <a:cs typeface="Calibri Light" panose="020F0302020204030204" pitchFamily="34" charset="0"/>
              </a:rPr>
              <a:t>    </a:t>
            </a:r>
            <a:r>
              <a:rPr lang="en-US" sz="24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if</a:t>
            </a:r>
            <a:r>
              <a:rPr lang="en-US" sz="20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400" spc="-20" dirty="0" smtClean="0">
                <a:solidFill>
                  <a:srgbClr val="0033CC"/>
                </a:solidFill>
                <a:latin typeface="Calibri Light" panose="020F0302020204030204" pitchFamily="34" charset="0"/>
                <a:cs typeface="Calibri Light" panose="020F0302020204030204" pitchFamily="34" charset="0"/>
              </a:rPr>
              <a:t> </a:t>
            </a:r>
            <a:r>
              <a:rPr lang="en-US" sz="2800" spc="-20" dirty="0" err="1" smtClean="0">
                <a:solidFill>
                  <a:srgbClr val="0033CC"/>
                </a:solidFill>
                <a:latin typeface="Calibri Light" panose="020F0302020204030204" pitchFamily="34" charset="0"/>
                <a:cs typeface="Calibri Light" panose="020F0302020204030204" pitchFamily="34" charset="0"/>
              </a:rPr>
              <a:t>ItExistsAlready</a:t>
            </a:r>
            <a:r>
              <a:rPr lang="en-US" sz="2800" spc="-20" dirty="0" smtClean="0">
                <a:solidFill>
                  <a:srgbClr val="0033CC"/>
                </a:solidFill>
                <a:latin typeface="Calibri Light" panose="020F0302020204030204" pitchFamily="34" charset="0"/>
                <a:cs typeface="Calibri Light" panose="020F0302020204030204" pitchFamily="34" charset="0"/>
              </a:rPr>
              <a:t>(v))</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a:t>
            </a: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free(&amp;v)</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v</a:t>
            </a:r>
            <a:r>
              <a:rPr lang="en-US" sz="4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malloc</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sizeof</a:t>
            </a:r>
            <a:r>
              <a:rPr lang="en-US" sz="2800" spc="-20" dirty="0" smtClean="0">
                <a:solidFill>
                  <a:srgbClr val="0033CC"/>
                </a:solidFill>
                <a:latin typeface="Calibri Light" panose="020F0302020204030204" pitchFamily="34" charset="0"/>
                <a:cs typeface="Calibri Light" panose="020F0302020204030204" pitchFamily="34" charset="0"/>
              </a:rPr>
              <a:t>(t))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*v=</a:t>
            </a:r>
            <a:r>
              <a:rPr lang="en-US" sz="2800" spc="-20" dirty="0" err="1" smtClean="0">
                <a:solidFill>
                  <a:srgbClr val="0033CC"/>
                </a:solidFill>
                <a:latin typeface="Calibri Light" panose="020F0302020204030204" pitchFamily="34" charset="0"/>
                <a:cs typeface="Calibri Light" panose="020F0302020204030204" pitchFamily="34" charset="0"/>
              </a:rPr>
              <a:t>getValueOfRHS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a:t>
            </a:r>
            <a:r>
              <a:rPr lang="en-US" sz="2800" spc="-20" dirty="0" smtClean="0">
                <a:solidFill>
                  <a:srgbClr val="0033CC"/>
                </a:solidFill>
                <a:latin typeface="Calibri Light" panose="020F0302020204030204" pitchFamily="34" charset="0"/>
                <a:cs typeface="Calibri Light" panose="020F0302020204030204" pitchFamily="34" charset="0"/>
              </a:rPr>
              <a:t> </a:t>
            </a:r>
            <a:endParaRPr lang="en-US" sz="2800" spc="-20" dirty="0">
              <a:solidFill>
                <a:srgbClr val="0033CC"/>
              </a:solidFill>
              <a:latin typeface="Calibri Light" panose="020F0302020204030204" pitchFamily="34" charset="0"/>
              <a:cs typeface="Calibri Light" panose="020F0302020204030204" pitchFamily="34" charset="0"/>
            </a:endParaRPr>
          </a:p>
        </p:txBody>
      </p:sp>
      <p:sp>
        <p:nvSpPr>
          <p:cNvPr id="2" name="Rectangle 1"/>
          <p:cNvSpPr/>
          <p:nvPr/>
        </p:nvSpPr>
        <p:spPr>
          <a:xfrm>
            <a:off x="7136605" y="1560482"/>
            <a:ext cx="2543175" cy="332819"/>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73152" rtlCol="0" anchor="ctr" anchorCtr="0"/>
          <a:lstStyle/>
          <a:p>
            <a:r>
              <a:rPr lang="en-US" sz="2800" dirty="0" smtClean="0">
                <a:solidFill>
                  <a:srgbClr val="FF0000"/>
                </a:solidFill>
                <a:latin typeface="Calibri Light" panose="020F0302020204030204" pitchFamily="34" charset="0"/>
                <a:cs typeface="Calibri Light" panose="020F0302020204030204" pitchFamily="34" charset="0"/>
              </a:rPr>
              <a:t>x</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16" name="Rectangle 15"/>
          <p:cNvSpPr/>
          <p:nvPr/>
        </p:nvSpPr>
        <p:spPr>
          <a:xfrm>
            <a:off x="7136605" y="1893300"/>
            <a:ext cx="2543175" cy="315207"/>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73152" rtlCol="0" anchor="ctr" anchorCtr="0"/>
          <a:lstStyle/>
          <a:p>
            <a:r>
              <a:rPr lang="en-US" sz="2800" dirty="0" err="1" smtClean="0">
                <a:solidFill>
                  <a:srgbClr val="FF0000"/>
                </a:solidFill>
                <a:latin typeface="Calibri Light" panose="020F0302020204030204" pitchFamily="34" charset="0"/>
                <a:cs typeface="Calibri Light" panose="020F0302020204030204" pitchFamily="34" charset="0"/>
              </a:rPr>
              <a:t>int</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2" name="Rectangle 21"/>
          <p:cNvSpPr/>
          <p:nvPr/>
        </p:nvSpPr>
        <p:spPr>
          <a:xfrm>
            <a:off x="7091950" y="2531370"/>
            <a:ext cx="2587830" cy="314216"/>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73152" rtlCol="0" anchor="ctr" anchorCtr="0"/>
          <a:lstStyle/>
          <a:p>
            <a:r>
              <a:rPr lang="en-US" sz="2800" dirty="0" smtClean="0">
                <a:solidFill>
                  <a:srgbClr val="FF0000"/>
                </a:solidFill>
                <a:latin typeface="Calibri Light" panose="020F0302020204030204" pitchFamily="34" charset="0"/>
                <a:cs typeface="Calibri Light" panose="020F0302020204030204" pitchFamily="34" charset="0"/>
              </a:rPr>
              <a:t>Old address dies</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0" name="Rectangle 19"/>
          <p:cNvSpPr/>
          <p:nvPr/>
        </p:nvSpPr>
        <p:spPr>
          <a:xfrm>
            <a:off x="9020313" y="2819274"/>
            <a:ext cx="530881" cy="354003"/>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bIns="0" rtlCol="0" anchor="ctr" anchorCtr="0"/>
          <a:lstStyle/>
          <a:p>
            <a:r>
              <a:rPr lang="en-US" sz="2800" dirty="0" err="1" smtClean="0">
                <a:solidFill>
                  <a:srgbClr val="FF0000"/>
                </a:solidFill>
                <a:latin typeface="Calibri Light" panose="020F0302020204030204" pitchFamily="34" charset="0"/>
                <a:cs typeface="Calibri Light" panose="020F0302020204030204" pitchFamily="34" charset="0"/>
              </a:rPr>
              <a:t>int</a:t>
            </a:r>
            <a:r>
              <a:rPr lang="en-US" sz="2800" dirty="0" smtClean="0">
                <a:solidFill>
                  <a:srgbClr val="0033CC"/>
                </a:solidFill>
                <a:latin typeface="Calibri Light" panose="020F0302020204030204" pitchFamily="34" charset="0"/>
                <a:cs typeface="Calibri Light" panose="020F0302020204030204" pitchFamily="34" charset="0"/>
              </a:rPr>
              <a:t>))</a:t>
            </a:r>
            <a:endParaRPr lang="en-US" sz="2800" dirty="0">
              <a:solidFill>
                <a:srgbClr val="0033CC"/>
              </a:solidFill>
              <a:latin typeface="Calibri Light" panose="020F0302020204030204" pitchFamily="34" charset="0"/>
              <a:cs typeface="Calibri Light" panose="020F0302020204030204" pitchFamily="34" charset="0"/>
            </a:endParaRPr>
          </a:p>
        </p:txBody>
      </p:sp>
      <p:sp>
        <p:nvSpPr>
          <p:cNvPr id="23" name="Rectangle 22"/>
          <p:cNvSpPr/>
          <p:nvPr/>
        </p:nvSpPr>
        <p:spPr>
          <a:xfrm>
            <a:off x="8128861" y="2819274"/>
            <a:ext cx="1367725" cy="354003"/>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0" rtlCol="0" anchor="ctr" anchorCtr="0"/>
          <a:lstStyle/>
          <a:p>
            <a:pPr algn="ctr"/>
            <a:r>
              <a:rPr lang="en-US" sz="2800" dirty="0" smtClean="0">
                <a:solidFill>
                  <a:srgbClr val="FF0000"/>
                </a:solidFill>
                <a:latin typeface="Calibri Light" panose="020F0302020204030204" pitchFamily="34" charset="0"/>
                <a:cs typeface="Calibri Light" panose="020F0302020204030204" pitchFamily="34" charset="0"/>
              </a:rPr>
              <a:t>4</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4" name="Rectangle 23"/>
          <p:cNvSpPr/>
          <p:nvPr/>
        </p:nvSpPr>
        <p:spPr>
          <a:xfrm>
            <a:off x="7268705" y="3160850"/>
            <a:ext cx="2363492" cy="354003"/>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0" rtlCol="0" anchor="ctr" anchorCtr="0"/>
          <a:lstStyle/>
          <a:p>
            <a:r>
              <a:rPr lang="en-US" sz="1200" dirty="0" smtClean="0">
                <a:solidFill>
                  <a:srgbClr val="FF0000"/>
                </a:solidFill>
                <a:latin typeface="Calibri Light" panose="020F0302020204030204" pitchFamily="34" charset="0"/>
                <a:cs typeface="Calibri Light" panose="020F0302020204030204" pitchFamily="34" charset="0"/>
              </a:rPr>
              <a:t> </a:t>
            </a:r>
            <a:r>
              <a:rPr lang="en-US" sz="2800" dirty="0" smtClean="0">
                <a:solidFill>
                  <a:srgbClr val="FF0000"/>
                </a:solidFill>
                <a:latin typeface="Calibri Light" panose="020F0302020204030204" pitchFamily="34" charset="0"/>
                <a:cs typeface="Calibri Light" panose="020F0302020204030204" pitchFamily="34" charset="0"/>
              </a:rPr>
              <a:t>6</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5" name="Rectangle 24"/>
          <p:cNvSpPr/>
          <p:nvPr/>
        </p:nvSpPr>
        <p:spPr>
          <a:xfrm>
            <a:off x="7113722" y="2806847"/>
            <a:ext cx="2616066" cy="354003"/>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bIns="0" rtlCol="0" anchor="ctr" anchorCtr="0"/>
          <a:lstStyle/>
          <a:p>
            <a:r>
              <a:rPr lang="en-US" sz="2800" spc="-40" dirty="0" smtClean="0">
                <a:solidFill>
                  <a:srgbClr val="FF0000"/>
                </a:solidFill>
                <a:latin typeface="Calibri Light" panose="020F0302020204030204" pitchFamily="34" charset="0"/>
                <a:cs typeface="Calibri Light" panose="020F0302020204030204" pitchFamily="34" charset="0"/>
              </a:rPr>
              <a:t>Some</a:t>
            </a:r>
            <a:r>
              <a:rPr lang="en-US" sz="2400" spc="-40" dirty="0" smtClean="0">
                <a:solidFill>
                  <a:srgbClr val="FF0000"/>
                </a:solidFill>
                <a:latin typeface="Calibri Light" panose="020F0302020204030204" pitchFamily="34" charset="0"/>
                <a:cs typeface="Calibri Light" panose="020F0302020204030204" pitchFamily="34" charset="0"/>
              </a:rPr>
              <a:t> </a:t>
            </a:r>
            <a:r>
              <a:rPr lang="en-US" sz="2800" spc="-40" dirty="0" smtClean="0">
                <a:solidFill>
                  <a:srgbClr val="FF0000"/>
                </a:solidFill>
                <a:latin typeface="Calibri Light" panose="020F0302020204030204" pitchFamily="34" charset="0"/>
                <a:cs typeface="Calibri Light" panose="020F0302020204030204" pitchFamily="34" charset="0"/>
              </a:rPr>
              <a:t>new</a:t>
            </a:r>
            <a:r>
              <a:rPr lang="en-US" sz="2400" spc="-40" dirty="0" smtClean="0">
                <a:solidFill>
                  <a:srgbClr val="FF0000"/>
                </a:solidFill>
                <a:latin typeface="Calibri Light" panose="020F0302020204030204" pitchFamily="34" charset="0"/>
                <a:cs typeface="Calibri Light" panose="020F0302020204030204" pitchFamily="34" charset="0"/>
              </a:rPr>
              <a:t> </a:t>
            </a:r>
            <a:r>
              <a:rPr lang="en-US" sz="2800" spc="-40" dirty="0" smtClean="0">
                <a:solidFill>
                  <a:srgbClr val="FF0000"/>
                </a:solidFill>
                <a:latin typeface="Calibri Light" panose="020F0302020204030204" pitchFamily="34" charset="0"/>
                <a:cs typeface="Calibri Light" panose="020F0302020204030204" pitchFamily="34" charset="0"/>
              </a:rPr>
              <a:t>address</a:t>
            </a:r>
            <a:endParaRPr lang="en-US" sz="2800" spc="-40" dirty="0">
              <a:solidFill>
                <a:srgbClr val="FF0000"/>
              </a:solidFill>
              <a:latin typeface="Calibri Light" panose="020F0302020204030204" pitchFamily="34" charset="0"/>
              <a:cs typeface="Calibri Light" panose="020F0302020204030204" pitchFamily="34" charset="0"/>
            </a:endParaRPr>
          </a:p>
        </p:txBody>
      </p:sp>
      <p:sp>
        <p:nvSpPr>
          <p:cNvPr id="26" name="Rectangle 25"/>
          <p:cNvSpPr/>
          <p:nvPr/>
        </p:nvSpPr>
        <p:spPr>
          <a:xfrm>
            <a:off x="6823129" y="1252858"/>
            <a:ext cx="2413861" cy="341832"/>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73152" rtlCol="0" anchor="ctr" anchorCtr="0"/>
          <a:lstStyle/>
          <a:p>
            <a:pPr algn="ctr"/>
            <a:r>
              <a:rPr lang="en-US" sz="2800" dirty="0" smtClean="0">
                <a:solidFill>
                  <a:srgbClr val="FF0000"/>
                </a:solidFill>
                <a:latin typeface="Calibri Light" panose="020F0302020204030204" pitchFamily="34" charset="0"/>
                <a:cs typeface="Calibri Light" panose="020F0302020204030204" pitchFamily="34" charset="0"/>
              </a:rPr>
              <a:t>True</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8" name="Oval 27"/>
          <p:cNvSpPr/>
          <p:nvPr/>
        </p:nvSpPr>
        <p:spPr>
          <a:xfrm>
            <a:off x="8979694" y="1183570"/>
            <a:ext cx="319884" cy="400065"/>
          </a:xfrm>
          <a:prstGeom prst="ellipse">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346390" y="1550267"/>
            <a:ext cx="304800" cy="192970"/>
          </a:xfrm>
          <a:prstGeom prst="ellipse">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9322594" y="2208509"/>
            <a:ext cx="139458" cy="341832"/>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3152" rtlCol="0" anchor="ctr" anchorCtr="0"/>
          <a:lstStyle/>
          <a:p>
            <a:pPr algn="ctr"/>
            <a:r>
              <a:rPr lang="en-US" sz="2800" dirty="0">
                <a:solidFill>
                  <a:srgbClr val="FF0000"/>
                </a:solidFill>
                <a:latin typeface="Calibri Light" panose="020F0302020204030204" pitchFamily="34" charset="0"/>
                <a:cs typeface="Calibri Light" panose="020F0302020204030204" pitchFamily="34" charset="0"/>
              </a:rPr>
              <a:t>x</a:t>
            </a:r>
          </a:p>
        </p:txBody>
      </p:sp>
      <p:sp>
        <p:nvSpPr>
          <p:cNvPr id="18" name="Rectangle 17"/>
          <p:cNvSpPr/>
          <p:nvPr/>
        </p:nvSpPr>
        <p:spPr>
          <a:xfrm>
            <a:off x="7198963" y="2208509"/>
            <a:ext cx="2371240" cy="341832"/>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73152" rtlCol="0" anchor="ctr" anchorCtr="0"/>
          <a:lstStyle/>
          <a:p>
            <a:pPr algn="ctr"/>
            <a:r>
              <a:rPr lang="en-US" sz="2800" dirty="0" smtClean="0">
                <a:solidFill>
                  <a:srgbClr val="FF0000"/>
                </a:solidFill>
                <a:latin typeface="Calibri Light" panose="020F0302020204030204" pitchFamily="34" charset="0"/>
                <a:cs typeface="Calibri Light" panose="020F0302020204030204" pitchFamily="34" charset="0"/>
              </a:rPr>
              <a:t>True</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1" name="Rounded Rectangular Callout 20"/>
          <p:cNvSpPr/>
          <p:nvPr/>
        </p:nvSpPr>
        <p:spPr>
          <a:xfrm>
            <a:off x="1188695" y="46577"/>
            <a:ext cx="7472705" cy="804353"/>
          </a:xfrm>
          <a:prstGeom prst="wedgeRoundRectCallout">
            <a:avLst>
              <a:gd name="adj1" fmla="val 33277"/>
              <a:gd name="adj2" fmla="val 10420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2000"/>
              </a:lnSpc>
            </a:pPr>
            <a:r>
              <a:rPr lang="en-US" sz="2800" spc="-40" dirty="0" smtClean="0">
                <a:solidFill>
                  <a:srgbClr val="FFD966"/>
                </a:solidFill>
              </a:rPr>
              <a:t>..</a:t>
            </a:r>
            <a:r>
              <a:rPr lang="en-US" sz="2800" spc="-40" dirty="0" smtClean="0">
                <a:solidFill>
                  <a:srgbClr val="0033CC"/>
                </a:solidFill>
              </a:rPr>
              <a:t>Some C-style pseudocode might help explain this.</a:t>
            </a:r>
            <a:r>
              <a:rPr lang="en-US" sz="2800" spc="-40" dirty="0" smtClean="0">
                <a:solidFill>
                  <a:srgbClr val="FFD966"/>
                </a:solidFill>
              </a:rPr>
              <a:t>..</a:t>
            </a:r>
            <a:endParaRPr lang="en-US" sz="2800" dirty="0">
              <a:solidFill>
                <a:srgbClr val="FFD966"/>
              </a:solidFill>
            </a:endParaRPr>
          </a:p>
        </p:txBody>
      </p:sp>
      <p:sp>
        <p:nvSpPr>
          <p:cNvPr id="31" name="Rounded Rectangular Callout 30"/>
          <p:cNvSpPr/>
          <p:nvPr/>
        </p:nvSpPr>
        <p:spPr>
          <a:xfrm>
            <a:off x="3264694" y="4114800"/>
            <a:ext cx="6465094" cy="2743200"/>
          </a:xfrm>
          <a:prstGeom prst="wedgeRoundRectCallout">
            <a:avLst>
              <a:gd name="adj1" fmla="val 26921"/>
              <a:gd name="adj2" fmla="val -8563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lnSpc>
                <a:spcPct val="95000"/>
              </a:lnSpc>
            </a:pPr>
            <a:r>
              <a:rPr lang="en-US" sz="3200" dirty="0">
                <a:solidFill>
                  <a:srgbClr val="FF0000"/>
                </a:solidFill>
              </a:rPr>
              <a:t>W</a:t>
            </a:r>
            <a:r>
              <a:rPr lang="en-US" sz="3200" dirty="0" smtClean="0">
                <a:solidFill>
                  <a:srgbClr val="FF0000"/>
                </a:solidFill>
              </a:rPr>
              <a:t>e </a:t>
            </a:r>
            <a:r>
              <a:rPr lang="en-US" sz="3200" dirty="0">
                <a:solidFill>
                  <a:srgbClr val="FF0000"/>
                </a:solidFill>
              </a:rPr>
              <a:t>choose to </a:t>
            </a:r>
            <a:r>
              <a:rPr lang="en-US" sz="3200" i="1" dirty="0" smtClean="0">
                <a:solidFill>
                  <a:srgbClr val="FF0000"/>
                </a:solidFill>
              </a:rPr>
              <a:t>think </a:t>
            </a:r>
            <a:r>
              <a:rPr lang="en-US" sz="3200" dirty="0" smtClean="0">
                <a:solidFill>
                  <a:srgbClr val="FF0000"/>
                </a:solidFill>
              </a:rPr>
              <a:t>of </a:t>
            </a:r>
            <a:r>
              <a:rPr lang="en-US" sz="3200" dirty="0">
                <a:solidFill>
                  <a:srgbClr val="FF0000"/>
                </a:solidFill>
              </a:rPr>
              <a:t>it this way. </a:t>
            </a:r>
            <a:br>
              <a:rPr lang="en-US" sz="3200" dirty="0">
                <a:solidFill>
                  <a:srgbClr val="FF0000"/>
                </a:solidFill>
              </a:rPr>
            </a:br>
            <a:r>
              <a:rPr lang="en-US" sz="3200" dirty="0">
                <a:solidFill>
                  <a:srgbClr val="0033CC"/>
                </a:solidFill>
              </a:rPr>
              <a:t>If we </a:t>
            </a:r>
            <a:r>
              <a:rPr lang="en-US" sz="3200" dirty="0" smtClean="0">
                <a:solidFill>
                  <a:srgbClr val="0033CC"/>
                </a:solidFill>
              </a:rPr>
              <a:t>looked </a:t>
            </a:r>
            <a:r>
              <a:rPr lang="en-US" sz="3200" dirty="0">
                <a:solidFill>
                  <a:srgbClr val="0033CC"/>
                </a:solidFill>
              </a:rPr>
              <a:t>at the technical </a:t>
            </a:r>
            <a:r>
              <a:rPr lang="en-US" sz="3200" dirty="0" smtClean="0">
                <a:solidFill>
                  <a:srgbClr val="0033CC"/>
                </a:solidFill>
              </a:rPr>
              <a:t>details,</a:t>
            </a:r>
          </a:p>
          <a:p>
            <a:pPr algn="ctr">
              <a:lnSpc>
                <a:spcPct val="95000"/>
              </a:lnSpc>
            </a:pPr>
            <a:r>
              <a:rPr lang="en-US" sz="3200" dirty="0" smtClean="0">
                <a:solidFill>
                  <a:srgbClr val="0033CC"/>
                </a:solidFill>
              </a:rPr>
              <a:t> </a:t>
            </a:r>
            <a:r>
              <a:rPr lang="en-US" sz="3200" dirty="0">
                <a:solidFill>
                  <a:srgbClr val="0033CC"/>
                </a:solidFill>
              </a:rPr>
              <a:t>we </a:t>
            </a:r>
            <a:r>
              <a:rPr lang="en-US" sz="3200" i="1" dirty="0">
                <a:solidFill>
                  <a:srgbClr val="0033CC"/>
                </a:solidFill>
              </a:rPr>
              <a:t>might</a:t>
            </a:r>
            <a:r>
              <a:rPr lang="en-US" sz="3200" dirty="0">
                <a:solidFill>
                  <a:srgbClr val="0033CC"/>
                </a:solidFill>
              </a:rPr>
              <a:t> find </a:t>
            </a:r>
            <a:r>
              <a:rPr lang="en-US" sz="3200" dirty="0" smtClean="0">
                <a:solidFill>
                  <a:srgbClr val="0033CC"/>
                </a:solidFill>
              </a:rPr>
              <a:t>the Python interpreter </a:t>
            </a:r>
          </a:p>
          <a:p>
            <a:pPr algn="ctr">
              <a:lnSpc>
                <a:spcPct val="95000"/>
              </a:lnSpc>
            </a:pPr>
            <a:r>
              <a:rPr lang="en-US" sz="3200" dirty="0" smtClean="0">
                <a:solidFill>
                  <a:srgbClr val="0033CC"/>
                </a:solidFill>
              </a:rPr>
              <a:t>saves</a:t>
            </a:r>
            <a:r>
              <a:rPr lang="en-US" sz="3200" dirty="0" smtClean="0">
                <a:solidFill>
                  <a:srgbClr val="3858B5"/>
                </a:solidFill>
              </a:rPr>
              <a:t> </a:t>
            </a:r>
            <a:r>
              <a:rPr lang="en-US" sz="3200" dirty="0" smtClean="0">
                <a:solidFill>
                  <a:srgbClr val="FF0000"/>
                </a:solidFill>
              </a:rPr>
              <a:t>time</a:t>
            </a:r>
            <a:r>
              <a:rPr lang="en-US" sz="3200" dirty="0" smtClean="0">
                <a:solidFill>
                  <a:srgbClr val="3858B5"/>
                </a:solidFill>
              </a:rPr>
              <a:t> </a:t>
            </a:r>
            <a:r>
              <a:rPr lang="en-US" sz="3200" dirty="0" smtClean="0">
                <a:solidFill>
                  <a:srgbClr val="0033CC"/>
                </a:solidFill>
              </a:rPr>
              <a:t>by </a:t>
            </a:r>
            <a:r>
              <a:rPr lang="en-US" sz="3200" i="1" dirty="0">
                <a:solidFill>
                  <a:srgbClr val="FF0000"/>
                </a:solidFill>
              </a:rPr>
              <a:t>reusing</a:t>
            </a:r>
            <a:r>
              <a:rPr lang="en-US" sz="3200" dirty="0">
                <a:solidFill>
                  <a:srgbClr val="FF0000"/>
                </a:solidFill>
              </a:rPr>
              <a:t> </a:t>
            </a:r>
            <a:r>
              <a:rPr lang="en-US" sz="3200" dirty="0" smtClean="0">
                <a:solidFill>
                  <a:srgbClr val="FF0000"/>
                </a:solidFill>
              </a:rPr>
              <a:t>the </a:t>
            </a:r>
            <a:r>
              <a:rPr lang="en-US" sz="3200" dirty="0">
                <a:solidFill>
                  <a:srgbClr val="FF0000"/>
                </a:solidFill>
              </a:rPr>
              <a:t>memory </a:t>
            </a:r>
            <a:endParaRPr lang="en-US" sz="3200" dirty="0" smtClean="0">
              <a:solidFill>
                <a:srgbClr val="FF0000"/>
              </a:solidFill>
            </a:endParaRPr>
          </a:p>
          <a:p>
            <a:pPr algn="ctr">
              <a:lnSpc>
                <a:spcPct val="95000"/>
              </a:lnSpc>
            </a:pPr>
            <a:r>
              <a:rPr lang="en-US" sz="3200" dirty="0" smtClean="0">
                <a:solidFill>
                  <a:srgbClr val="0033CC"/>
                </a:solidFill>
              </a:rPr>
              <a:t>space the </a:t>
            </a:r>
            <a:r>
              <a:rPr lang="en-US" sz="3200" dirty="0">
                <a:solidFill>
                  <a:srgbClr val="0033CC"/>
                </a:solidFill>
              </a:rPr>
              <a:t>variable</a:t>
            </a:r>
            <a:r>
              <a:rPr lang="en-US" sz="3200" dirty="0">
                <a:solidFill>
                  <a:srgbClr val="FF0000"/>
                </a:solidFill>
              </a:rPr>
              <a:t> previously </a:t>
            </a:r>
            <a:r>
              <a:rPr lang="en-US" sz="3200" dirty="0" smtClean="0">
                <a:solidFill>
                  <a:srgbClr val="FF0000"/>
                </a:solidFill>
              </a:rPr>
              <a:t>had.</a:t>
            </a:r>
            <a:endParaRPr lang="en-US" sz="3200" dirty="0">
              <a:solidFill>
                <a:srgbClr val="FF0000"/>
              </a:solidFill>
            </a:endParaRPr>
          </a:p>
        </p:txBody>
      </p:sp>
    </p:spTree>
    <p:extLst>
      <p:ext uri="{BB962C8B-B14F-4D97-AF65-F5344CB8AC3E}">
        <p14:creationId xmlns:p14="http://schemas.microsoft.com/office/powerpoint/2010/main" val="50869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randombar(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1+#ppt_w/2"/>
                                          </p:val>
                                        </p:tav>
                                        <p:tav tm="100000">
                                          <p:val>
                                            <p:strVal val="#ppt_x"/>
                                          </p:val>
                                        </p:tav>
                                      </p:tavLst>
                                    </p:anim>
                                    <p:anim calcmode="lin" valueType="num">
                                      <p:cBhvr additive="base">
                                        <p:cTn id="13" dur="500" fill="hold"/>
                                        <p:tgtEl>
                                          <p:spTgt spid="26"/>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1+#ppt_w/2"/>
                                          </p:val>
                                        </p:tav>
                                        <p:tav tm="100000">
                                          <p:val>
                                            <p:strVal val="#ppt_x"/>
                                          </p:val>
                                        </p:tav>
                                      </p:tavLst>
                                    </p:anim>
                                    <p:anim calcmode="lin" valueType="num">
                                      <p:cBhvr additive="base">
                                        <p:cTn id="22" dur="500" fill="hold"/>
                                        <p:tgtEl>
                                          <p:spTgt spid="2"/>
                                        </p:tgtEl>
                                        <p:attrNameLst>
                                          <p:attrName>ppt_y</p:attrName>
                                        </p:attrNameLst>
                                      </p:cBhvr>
                                      <p:tavLst>
                                        <p:tav tm="0">
                                          <p:val>
                                            <p:strVal val="#ppt_y"/>
                                          </p:val>
                                        </p:tav>
                                        <p:tav tm="100000">
                                          <p:val>
                                            <p:strVal val="#ppt_y"/>
                                          </p:val>
                                        </p:tav>
                                      </p:tavLst>
                                    </p:anim>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1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fill="hold"/>
                                        <p:tgtEl>
                                          <p:spTgt spid="16"/>
                                        </p:tgtEl>
                                        <p:attrNameLst>
                                          <p:attrName>ppt_x</p:attrName>
                                        </p:attrNameLst>
                                      </p:cBhvr>
                                      <p:tavLst>
                                        <p:tav tm="0">
                                          <p:val>
                                            <p:strVal val="1+#ppt_w/2"/>
                                          </p:val>
                                        </p:tav>
                                        <p:tav tm="100000">
                                          <p:val>
                                            <p:strVal val="#ppt_x"/>
                                          </p:val>
                                        </p:tav>
                                      </p:tavLst>
                                    </p:anim>
                                    <p:anim calcmode="lin" valueType="num">
                                      <p:cBhvr additive="base">
                                        <p:cTn id="31"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500" fill="hold"/>
                                        <p:tgtEl>
                                          <p:spTgt spid="30"/>
                                        </p:tgtEl>
                                        <p:attrNameLst>
                                          <p:attrName>ppt_x</p:attrName>
                                        </p:attrNameLst>
                                      </p:cBhvr>
                                      <p:tavLst>
                                        <p:tav tm="0">
                                          <p:val>
                                            <p:strVal val="1+#ppt_w/2"/>
                                          </p:val>
                                        </p:tav>
                                        <p:tav tm="100000">
                                          <p:val>
                                            <p:strVal val="#ppt_x"/>
                                          </p:val>
                                        </p:tav>
                                      </p:tavLst>
                                    </p:anim>
                                    <p:anim calcmode="lin" valueType="num">
                                      <p:cBhvr additive="base">
                                        <p:cTn id="37"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500" fill="hold"/>
                                        <p:tgtEl>
                                          <p:spTgt spid="18"/>
                                        </p:tgtEl>
                                        <p:attrNameLst>
                                          <p:attrName>ppt_x</p:attrName>
                                        </p:attrNameLst>
                                      </p:cBhvr>
                                      <p:tavLst>
                                        <p:tav tm="0">
                                          <p:val>
                                            <p:strVal val="1+#ppt_w/2"/>
                                          </p:val>
                                        </p:tav>
                                        <p:tav tm="100000">
                                          <p:val>
                                            <p:strVal val="#ppt_x"/>
                                          </p:val>
                                        </p:tav>
                                      </p:tavLst>
                                    </p:anim>
                                    <p:anim calcmode="lin" valueType="num">
                                      <p:cBhvr additive="base">
                                        <p:cTn id="43"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additive="base">
                                        <p:cTn id="48" dur="500" fill="hold"/>
                                        <p:tgtEl>
                                          <p:spTgt spid="22"/>
                                        </p:tgtEl>
                                        <p:attrNameLst>
                                          <p:attrName>ppt_x</p:attrName>
                                        </p:attrNameLst>
                                      </p:cBhvr>
                                      <p:tavLst>
                                        <p:tav tm="0">
                                          <p:val>
                                            <p:strVal val="1+#ppt_w/2"/>
                                          </p:val>
                                        </p:tav>
                                        <p:tav tm="100000">
                                          <p:val>
                                            <p:strVal val="#ppt_x"/>
                                          </p:val>
                                        </p:tav>
                                      </p:tavLst>
                                    </p:anim>
                                    <p:anim calcmode="lin" valueType="num">
                                      <p:cBhvr additive="base">
                                        <p:cTn id="49"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anim calcmode="lin" valueType="num">
                                      <p:cBhvr additive="base">
                                        <p:cTn id="54" dur="500" fill="hold"/>
                                        <p:tgtEl>
                                          <p:spTgt spid="20"/>
                                        </p:tgtEl>
                                        <p:attrNameLst>
                                          <p:attrName>ppt_x</p:attrName>
                                        </p:attrNameLst>
                                      </p:cBhvr>
                                      <p:tavLst>
                                        <p:tav tm="0">
                                          <p:val>
                                            <p:strVal val="1+#ppt_w/2"/>
                                          </p:val>
                                        </p:tav>
                                        <p:tav tm="100000">
                                          <p:val>
                                            <p:strVal val="#ppt_x"/>
                                          </p:val>
                                        </p:tav>
                                      </p:tavLst>
                                    </p:anim>
                                    <p:anim calcmode="lin" valueType="num">
                                      <p:cBhvr additive="base">
                                        <p:cTn id="55"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2" fill="hold" grpId="0" nodeType="clickEffect">
                                  <p:stCondLst>
                                    <p:cond delay="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fill="hold"/>
                                        <p:tgtEl>
                                          <p:spTgt spid="23"/>
                                        </p:tgtEl>
                                        <p:attrNameLst>
                                          <p:attrName>ppt_x</p:attrName>
                                        </p:attrNameLst>
                                      </p:cBhvr>
                                      <p:tavLst>
                                        <p:tav tm="0">
                                          <p:val>
                                            <p:strVal val="1+#ppt_w/2"/>
                                          </p:val>
                                        </p:tav>
                                        <p:tav tm="100000">
                                          <p:val>
                                            <p:strVal val="#ppt_x"/>
                                          </p:val>
                                        </p:tav>
                                      </p:tavLst>
                                    </p:anim>
                                    <p:anim calcmode="lin" valueType="num">
                                      <p:cBhvr additive="base">
                                        <p:cTn id="61"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 calcmode="lin" valueType="num">
                                      <p:cBhvr additive="base">
                                        <p:cTn id="66" dur="500" fill="hold"/>
                                        <p:tgtEl>
                                          <p:spTgt spid="25"/>
                                        </p:tgtEl>
                                        <p:attrNameLst>
                                          <p:attrName>ppt_x</p:attrName>
                                        </p:attrNameLst>
                                      </p:cBhvr>
                                      <p:tavLst>
                                        <p:tav tm="0">
                                          <p:val>
                                            <p:strVal val="1+#ppt_w/2"/>
                                          </p:val>
                                        </p:tav>
                                        <p:tav tm="100000">
                                          <p:val>
                                            <p:strVal val="#ppt_x"/>
                                          </p:val>
                                        </p:tav>
                                      </p:tavLst>
                                    </p:anim>
                                    <p:anim calcmode="lin" valueType="num">
                                      <p:cBhvr additive="base">
                                        <p:cTn id="67"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wipe(up)">
                                      <p:cBhvr>
                                        <p:cTn id="72" dur="500"/>
                                        <p:tgtEl>
                                          <p:spTgt spid="31"/>
                                        </p:tgtEl>
                                      </p:cBhvr>
                                    </p:animEffect>
                                  </p:childTnLst>
                                </p:cTn>
                              </p:par>
                            </p:childTnLst>
                          </p:cTn>
                        </p:par>
                      </p:childTnLst>
                    </p:cTn>
                  </p:par>
                  <p:par>
                    <p:cTn id="73" fill="hold">
                      <p:stCondLst>
                        <p:cond delay="indefinite"/>
                      </p:stCondLst>
                      <p:childTnLst>
                        <p:par>
                          <p:cTn id="74" fill="hold">
                            <p:stCondLst>
                              <p:cond delay="0"/>
                            </p:stCondLst>
                            <p:childTnLst>
                              <p:par>
                                <p:cTn id="75" presetID="37" presetClass="exit" presetSubtype="0" fill="hold" grpId="1" nodeType="clickEffect">
                                  <p:stCondLst>
                                    <p:cond delay="0"/>
                                  </p:stCondLst>
                                  <p:childTnLst>
                                    <p:animEffect transition="out" filter="fade">
                                      <p:cBhvr>
                                        <p:cTn id="76" dur="1000"/>
                                        <p:tgtEl>
                                          <p:spTgt spid="31"/>
                                        </p:tgtEl>
                                      </p:cBhvr>
                                    </p:animEffect>
                                    <p:anim calcmode="lin" valueType="num">
                                      <p:cBhvr>
                                        <p:cTn id="77" dur="1000"/>
                                        <p:tgtEl>
                                          <p:spTgt spid="31"/>
                                        </p:tgtEl>
                                        <p:attrNameLst>
                                          <p:attrName>ppt_x</p:attrName>
                                        </p:attrNameLst>
                                      </p:cBhvr>
                                      <p:tavLst>
                                        <p:tav tm="0">
                                          <p:val>
                                            <p:strVal val="ppt_x"/>
                                          </p:val>
                                        </p:tav>
                                        <p:tav tm="100000">
                                          <p:val>
                                            <p:strVal val="ppt_x"/>
                                          </p:val>
                                        </p:tav>
                                      </p:tavLst>
                                    </p:anim>
                                    <p:anim calcmode="lin" valueType="num">
                                      <p:cBhvr>
                                        <p:cTn id="78" dur="100" decel="100000"/>
                                        <p:tgtEl>
                                          <p:spTgt spid="31"/>
                                        </p:tgtEl>
                                        <p:attrNameLst>
                                          <p:attrName>ppt_y</p:attrName>
                                        </p:attrNameLst>
                                      </p:cBhvr>
                                      <p:tavLst>
                                        <p:tav tm="0">
                                          <p:val>
                                            <p:strVal val="ppt_y"/>
                                          </p:val>
                                        </p:tav>
                                        <p:tav tm="100000">
                                          <p:val>
                                            <p:strVal val="ppt_y-.03"/>
                                          </p:val>
                                        </p:tav>
                                      </p:tavLst>
                                    </p:anim>
                                    <p:anim calcmode="lin" valueType="num">
                                      <p:cBhvr>
                                        <p:cTn id="79" dur="900" accel="100000">
                                          <p:stCondLst>
                                            <p:cond delay="100"/>
                                          </p:stCondLst>
                                        </p:cTn>
                                        <p:tgtEl>
                                          <p:spTgt spid="31"/>
                                        </p:tgtEl>
                                        <p:attrNameLst>
                                          <p:attrName>ppt_y</p:attrName>
                                        </p:attrNameLst>
                                      </p:cBhvr>
                                      <p:tavLst>
                                        <p:tav tm="0">
                                          <p:val>
                                            <p:strVal val="ppt_y"/>
                                          </p:val>
                                        </p:tav>
                                        <p:tav tm="100000">
                                          <p:val>
                                            <p:strVal val="ppt_y+1"/>
                                          </p:val>
                                        </p:tav>
                                      </p:tavLst>
                                    </p:anim>
                                    <p:set>
                                      <p:cBhvr>
                                        <p:cTn id="80" dur="1" fill="hold">
                                          <p:stCondLst>
                                            <p:cond delay="999"/>
                                          </p:stCondLst>
                                        </p:cTn>
                                        <p:tgtEl>
                                          <p:spTgt spid="31"/>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additive="base">
                                        <p:cTn id="85" dur="500" fill="hold"/>
                                        <p:tgtEl>
                                          <p:spTgt spid="24"/>
                                        </p:tgtEl>
                                        <p:attrNameLst>
                                          <p:attrName>ppt_x</p:attrName>
                                        </p:attrNameLst>
                                      </p:cBhvr>
                                      <p:tavLst>
                                        <p:tav tm="0">
                                          <p:val>
                                            <p:strVal val="1+#ppt_w/2"/>
                                          </p:val>
                                        </p:tav>
                                        <p:tav tm="100000">
                                          <p:val>
                                            <p:strVal val="#ppt_x"/>
                                          </p:val>
                                        </p:tav>
                                      </p:tavLst>
                                    </p:anim>
                                    <p:anim calcmode="lin" valueType="num">
                                      <p:cBhvr additive="base">
                                        <p:cTn id="86"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16" grpId="0" animBg="1"/>
      <p:bldP spid="22" grpId="0" animBg="1"/>
      <p:bldP spid="20" grpId="0" animBg="1"/>
      <p:bldP spid="23" grpId="0" animBg="1"/>
      <p:bldP spid="24" grpId="0" animBg="1"/>
      <p:bldP spid="25" grpId="0" animBg="1"/>
      <p:bldP spid="26" grpId="0" animBg="1"/>
      <p:bldP spid="28" grpId="0" animBg="1"/>
      <p:bldP spid="29" grpId="0" animBg="1"/>
      <p:bldP spid="30" grpId="0" animBg="1"/>
      <p:bldP spid="18" grpId="0" animBg="1"/>
      <p:bldP spid="31" grpId="0" animBg="1"/>
      <p:bldP spid="31" grpId="1"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p:cNvSpPr>
            <a:spLocks noGrp="1"/>
          </p:cNvSpPr>
          <p:nvPr>
            <p:ph idx="1"/>
          </p:nvPr>
        </p:nvSpPr>
        <p:spPr>
          <a:xfrm>
            <a:off x="359076" y="1348830"/>
            <a:ext cx="9077818" cy="5225387"/>
          </a:xfrm>
        </p:spPr>
        <p:txBody>
          <a:bodyPr>
            <a:noAutofit/>
          </a:bodyPr>
          <a:lstStyle/>
          <a:p>
            <a:r>
              <a:rPr lang="en-US" altLang="en-US" sz="3200" dirty="0">
                <a:solidFill>
                  <a:schemeClr val="bg1">
                    <a:lumMod val="85000"/>
                  </a:schemeClr>
                </a:solidFill>
              </a:rPr>
              <a:t>Assigning a value to a variable does not update it, instead it creates a new variable.</a:t>
            </a:r>
          </a:p>
          <a:p>
            <a:pPr lvl="1"/>
            <a:r>
              <a:rPr lang="en-US" altLang="en-US" sz="2800" dirty="0">
                <a:solidFill>
                  <a:schemeClr val="bg1">
                    <a:lumMod val="85000"/>
                  </a:schemeClr>
                </a:solidFill>
              </a:rPr>
              <a:t>If </a:t>
            </a:r>
            <a:r>
              <a:rPr lang="en-US" altLang="en-US" sz="2800" dirty="0" smtClean="0">
                <a:solidFill>
                  <a:schemeClr val="bg1">
                    <a:lumMod val="85000"/>
                  </a:schemeClr>
                </a:solidFill>
              </a:rPr>
              <a:t>its </a:t>
            </a:r>
            <a:r>
              <a:rPr lang="en-US" altLang="en-US" sz="2800" dirty="0">
                <a:solidFill>
                  <a:schemeClr val="bg1">
                    <a:lumMod val="85000"/>
                  </a:schemeClr>
                </a:solidFill>
              </a:rPr>
              <a:t>the same type (or even if not</a:t>
            </a:r>
            <a:r>
              <a:rPr lang="en-US" altLang="en-US" sz="2800" dirty="0" smtClean="0">
                <a:solidFill>
                  <a:schemeClr val="bg1">
                    <a:lumMod val="85000"/>
                  </a:schemeClr>
                </a:solidFill>
              </a:rPr>
              <a:t>) </a:t>
            </a:r>
            <a:r>
              <a:rPr lang="en-US" altLang="en-US" sz="2800" dirty="0">
                <a:solidFill>
                  <a:schemeClr val="bg1">
                    <a:lumMod val="85000"/>
                  </a:schemeClr>
                </a:solidFill>
              </a:rPr>
              <a:t>it </a:t>
            </a:r>
            <a:r>
              <a:rPr lang="en-US" altLang="en-US" sz="2800" i="1" dirty="0" smtClean="0">
                <a:solidFill>
                  <a:schemeClr val="bg1">
                    <a:lumMod val="85000"/>
                  </a:schemeClr>
                </a:solidFill>
              </a:rPr>
              <a:t>could</a:t>
            </a:r>
            <a:r>
              <a:rPr lang="en-US" altLang="en-US" sz="2800" dirty="0" smtClean="0">
                <a:solidFill>
                  <a:schemeClr val="bg1">
                    <a:lumMod val="85000"/>
                  </a:schemeClr>
                </a:solidFill>
              </a:rPr>
              <a:t> end </a:t>
            </a:r>
            <a:r>
              <a:rPr lang="en-US" altLang="en-US" sz="2800" dirty="0">
                <a:solidFill>
                  <a:schemeClr val="bg1">
                    <a:lumMod val="85000"/>
                  </a:schemeClr>
                </a:solidFill>
              </a:rPr>
              <a:t>up in the same memory location. Nonetheless, it is a new variable.</a:t>
            </a:r>
          </a:p>
          <a:p>
            <a:r>
              <a:rPr lang="en-US" altLang="en-US" sz="3200" dirty="0">
                <a:solidFill>
                  <a:schemeClr val="bg1">
                    <a:lumMod val="85000"/>
                  </a:schemeClr>
                </a:solidFill>
              </a:rPr>
              <a:t>But there are multi-value variables. A</a:t>
            </a:r>
            <a:r>
              <a:rPr lang="en-US" altLang="en-US" sz="3200" dirty="0" smtClean="0">
                <a:solidFill>
                  <a:schemeClr val="bg1">
                    <a:lumMod val="85000"/>
                  </a:schemeClr>
                </a:solidFill>
              </a:rPr>
              <a:t>ssigning to one </a:t>
            </a:r>
            <a:r>
              <a:rPr lang="en-US" altLang="en-US" sz="3200" spc="-30" dirty="0">
                <a:solidFill>
                  <a:schemeClr val="bg1">
                    <a:lumMod val="85000"/>
                  </a:schemeClr>
                </a:solidFill>
              </a:rPr>
              <a:t>value is different than assigning </a:t>
            </a:r>
            <a:r>
              <a:rPr lang="en-US" altLang="en-US" sz="3200" spc="-30" dirty="0" smtClean="0">
                <a:solidFill>
                  <a:schemeClr val="bg1">
                    <a:lumMod val="85000"/>
                  </a:schemeClr>
                </a:solidFill>
              </a:rPr>
              <a:t>to the whole variable</a:t>
            </a:r>
            <a:r>
              <a:rPr lang="en-US" altLang="en-US" sz="3200" spc="-30" dirty="0">
                <a:solidFill>
                  <a:schemeClr val="bg1">
                    <a:lumMod val="85000"/>
                  </a:schemeClr>
                </a:solidFill>
              </a:rPr>
              <a:t>.</a:t>
            </a:r>
          </a:p>
          <a:p>
            <a:r>
              <a:rPr lang="en-US" altLang="en-US" sz="3200" dirty="0">
                <a:solidFill>
                  <a:schemeClr val="bg1">
                    <a:lumMod val="85000"/>
                  </a:schemeClr>
                </a:solidFill>
              </a:rPr>
              <a:t>Python divides its types into two categories:</a:t>
            </a:r>
          </a:p>
          <a:p>
            <a:pPr marL="836633" lvl="1" indent="-471762">
              <a:buClr>
                <a:schemeClr val="bg1">
                  <a:lumMod val="85000"/>
                </a:schemeClr>
              </a:buClr>
              <a:buFont typeface="+mj-lt"/>
              <a:buAutoNum type="arabicPeriod"/>
            </a:pPr>
            <a:r>
              <a:rPr lang="en-US" altLang="en-US" sz="3200" dirty="0" smtClean="0"/>
              <a:t>Numbers</a:t>
            </a:r>
            <a:r>
              <a:rPr lang="en-US" altLang="en-US" sz="3200" dirty="0" smtClean="0">
                <a:solidFill>
                  <a:schemeClr val="bg1">
                    <a:lumMod val="85000"/>
                  </a:schemeClr>
                </a:solidFill>
              </a:rPr>
              <a:t>, strings, </a:t>
            </a:r>
            <a:r>
              <a:rPr lang="en-US" altLang="en-US" sz="3200" dirty="0">
                <a:solidFill>
                  <a:schemeClr val="bg1">
                    <a:lumMod val="85000"/>
                  </a:schemeClr>
                </a:solidFill>
              </a:rPr>
              <a:t>and tuples </a:t>
            </a:r>
            <a:r>
              <a:rPr lang="en-US" altLang="en-US" sz="3200" dirty="0"/>
              <a:t>are </a:t>
            </a:r>
            <a:r>
              <a:rPr lang="en-US" altLang="en-US" sz="3200" b="1" dirty="0">
                <a:solidFill>
                  <a:srgbClr val="00B050"/>
                </a:solidFill>
              </a:rPr>
              <a:t>im</a:t>
            </a:r>
            <a:r>
              <a:rPr lang="en-US" altLang="en-US" sz="3200" b="1" dirty="0">
                <a:solidFill>
                  <a:srgbClr val="FF0000"/>
                </a:solidFill>
              </a:rPr>
              <a:t>mut</a:t>
            </a:r>
            <a:r>
              <a:rPr lang="en-US" altLang="en-US" sz="3200" b="1" dirty="0">
                <a:solidFill>
                  <a:srgbClr val="0070C0"/>
                </a:solidFill>
              </a:rPr>
              <a:t>able</a:t>
            </a:r>
            <a:r>
              <a:rPr lang="en-US" altLang="en-US" sz="3200" dirty="0"/>
              <a:t>.</a:t>
            </a:r>
          </a:p>
          <a:p>
            <a:pPr marL="836633" lvl="1" indent="-471762">
              <a:buFont typeface="+mj-lt"/>
              <a:buAutoNum type="arabicPeriod"/>
            </a:pPr>
            <a:r>
              <a:rPr lang="en-US" altLang="en-US" sz="3200" dirty="0" smtClean="0">
                <a:solidFill>
                  <a:schemeClr val="bg1">
                    <a:lumMod val="85000"/>
                  </a:schemeClr>
                </a:solidFill>
              </a:rPr>
              <a:t>Lists, sets, </a:t>
            </a:r>
            <a:r>
              <a:rPr lang="en-US" altLang="en-US" sz="3200" dirty="0">
                <a:solidFill>
                  <a:schemeClr val="bg1">
                    <a:lumMod val="85000"/>
                  </a:schemeClr>
                </a:solidFill>
              </a:rPr>
              <a:t>and dictionaries are mutable.</a:t>
            </a:r>
          </a:p>
        </p:txBody>
      </p:sp>
      <p:sp>
        <p:nvSpPr>
          <p:cNvPr id="9" name="Title 1"/>
          <p:cNvSpPr>
            <a:spLocks noGrp="1"/>
          </p:cNvSpPr>
          <p:nvPr>
            <p:ph type="title"/>
          </p:nvPr>
        </p:nvSpPr>
        <p:spPr>
          <a:xfrm>
            <a:off x="1" y="283784"/>
            <a:ext cx="9729788" cy="1065046"/>
          </a:xfrm>
        </p:spPr>
        <p:txBody>
          <a:bodyPr>
            <a:normAutofit/>
          </a:bodyPr>
          <a:lstStyle/>
          <a:p>
            <a:r>
              <a:rPr lang="en-US" altLang="en-US" sz="4400" dirty="0" smtClean="0">
                <a:solidFill>
                  <a:srgbClr val="0070C0"/>
                </a:solidFill>
              </a:rPr>
              <a:t>Updating the Values of Variables:</a:t>
            </a:r>
          </a:p>
        </p:txBody>
      </p:sp>
      <p:grpSp>
        <p:nvGrpSpPr>
          <p:cNvPr id="3" name="Group 2"/>
          <p:cNvGrpSpPr/>
          <p:nvPr/>
        </p:nvGrpSpPr>
        <p:grpSpPr>
          <a:xfrm>
            <a:off x="282876" y="1134713"/>
            <a:ext cx="5542294" cy="2826810"/>
            <a:chOff x="282876" y="1134713"/>
            <a:chExt cx="5542294" cy="2826810"/>
          </a:xfrm>
        </p:grpSpPr>
        <p:sp>
          <p:nvSpPr>
            <p:cNvPr id="14" name="Rounded Rectangular Callout 13"/>
            <p:cNvSpPr/>
            <p:nvPr/>
          </p:nvSpPr>
          <p:spPr>
            <a:xfrm>
              <a:off x="380847" y="1134713"/>
              <a:ext cx="5444323" cy="2826810"/>
            </a:xfrm>
            <a:prstGeom prst="wedgeRoundRectCallout">
              <a:avLst>
                <a:gd name="adj1" fmla="val -20609"/>
                <a:gd name="adj2" fmla="val 6895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33CC"/>
                </a:solidFill>
              </a:endParaRPr>
            </a:p>
          </p:txBody>
        </p:sp>
        <p:sp>
          <p:nvSpPr>
            <p:cNvPr id="15" name="Rounded Rectangular Callout 14"/>
            <p:cNvSpPr/>
            <p:nvPr/>
          </p:nvSpPr>
          <p:spPr>
            <a:xfrm>
              <a:off x="282876" y="1134713"/>
              <a:ext cx="2717452" cy="2826810"/>
            </a:xfrm>
            <a:prstGeom prst="wedgeRoundRectCallout">
              <a:avLst>
                <a:gd name="adj1" fmla="val -50002"/>
                <a:gd name="adj2" fmla="val -19233"/>
                <a:gd name="adj3"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2000"/>
                </a:lnSpc>
              </a:pPr>
              <a:r>
                <a:rPr lang="en-US" sz="2800" dirty="0" smtClean="0">
                  <a:solidFill>
                    <a:srgbClr val="0033CC"/>
                  </a:solidFill>
                </a:rPr>
                <a:t>Numbers cannot</a:t>
              </a:r>
              <a:br>
                <a:rPr lang="en-US" sz="2800" dirty="0" smtClean="0">
                  <a:solidFill>
                    <a:srgbClr val="0033CC"/>
                  </a:solidFill>
                </a:rPr>
              </a:br>
              <a:r>
                <a:rPr lang="en-US" sz="2800" dirty="0" smtClean="0">
                  <a:solidFill>
                    <a:srgbClr val="0033CC"/>
                  </a:solidFill>
                </a:rPr>
                <a:t> change?!? Then how do you explain this:</a:t>
              </a:r>
              <a:endParaRPr lang="en-US" sz="2800" dirty="0">
                <a:solidFill>
                  <a:srgbClr val="0033CC"/>
                </a:solidFill>
              </a:endParaRPr>
            </a:p>
          </p:txBody>
        </p:sp>
      </p:grpSp>
      <p:sp>
        <p:nvSpPr>
          <p:cNvPr id="13" name="Rectangle 12"/>
          <p:cNvSpPr/>
          <p:nvPr/>
        </p:nvSpPr>
        <p:spPr>
          <a:xfrm>
            <a:off x="2707040" y="1459982"/>
            <a:ext cx="2678744" cy="217627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&gt;&gt;&gt; </a:t>
            </a:r>
            <a:r>
              <a:rPr lang="en-US" sz="2200" dirty="0">
                <a:solidFill>
                  <a:schemeClr val="bg1"/>
                </a:solidFill>
                <a:latin typeface="Lucida Console" panose="020B0609040504020204" pitchFamily="49" charset="0"/>
                <a:cs typeface="Consolas" panose="020B0609020204030204" pitchFamily="49" charset="0"/>
              </a:rPr>
              <a:t>x=5</a:t>
            </a: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a:t>
            </a:r>
            <a:r>
              <a:rPr lang="en-US" sz="2200" dirty="0" smtClean="0">
                <a:solidFill>
                  <a:schemeClr val="bg1"/>
                </a:solidFill>
                <a:latin typeface="Lucida Console" panose="020B0609040504020204" pitchFamily="49" charset="0"/>
                <a:cs typeface="Consolas" panose="020B0609020204030204" pitchFamily="49" charset="0"/>
              </a:rPr>
              <a:t>x)</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5</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a:t>
            </a:r>
            <a:r>
              <a:rPr lang="en-US" sz="2200" dirty="0" smtClean="0">
                <a:solidFill>
                  <a:schemeClr val="bg1"/>
                </a:solidFill>
                <a:latin typeface="Lucida Console" panose="020B0609040504020204" pitchFamily="49" charset="0"/>
                <a:cs typeface="Consolas" panose="020B0609020204030204" pitchFamily="49" charset="0"/>
              </a:rPr>
              <a:t>x=6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(x)</a:t>
            </a: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lumMod val="95000"/>
                  </a:schemeClr>
                </a:solidFill>
                <a:latin typeface="Lucida Console" panose="020B0609040504020204" pitchFamily="49" charset="0"/>
                <a:cs typeface="Consolas" panose="020B0609020204030204" pitchFamily="49" charset="0"/>
              </a:rPr>
              <a:t>&gt;&gt;&gt;</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17" name="Rounded Rectangular Callout 16"/>
          <p:cNvSpPr/>
          <p:nvPr/>
        </p:nvSpPr>
        <p:spPr>
          <a:xfrm>
            <a:off x="6311900" y="1134714"/>
            <a:ext cx="3439660" cy="2826810"/>
          </a:xfrm>
          <a:prstGeom prst="wedgeRoundRectCallout">
            <a:avLst>
              <a:gd name="adj1" fmla="val -87763"/>
              <a:gd name="adj2" fmla="val 921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i</a:t>
            </a:r>
            <a:r>
              <a:rPr lang="en-US" sz="2800" spc="-20" dirty="0" smtClean="0">
                <a:solidFill>
                  <a:srgbClr val="0033CC"/>
                </a:solidFill>
                <a:latin typeface="Calibri Light" panose="020F0302020204030204" pitchFamily="34" charset="0"/>
                <a:cs typeface="Calibri Light" panose="020F0302020204030204" pitchFamily="34" charset="0"/>
              </a:rPr>
              <a:t>f (</a:t>
            </a:r>
            <a:r>
              <a:rPr lang="en-US" sz="2800" spc="-20" dirty="0" err="1" smtClean="0">
                <a:solidFill>
                  <a:srgbClr val="0033CC"/>
                </a:solidFill>
                <a:latin typeface="Calibri Light" panose="020F0302020204030204" pitchFamily="34" charset="0"/>
                <a:cs typeface="Calibri Light" panose="020F0302020204030204" pitchFamily="34" charset="0"/>
              </a:rPr>
              <a:t>ItIsAnAssignment</a:t>
            </a:r>
            <a:r>
              <a:rPr lang="en-US" sz="2800" spc="-20" dirty="0" smtClean="0">
                <a:solidFill>
                  <a:srgbClr val="0033CC"/>
                </a:solidFill>
                <a:latin typeface="Calibri Light" panose="020F0302020204030204" pitchFamily="34" charset="0"/>
                <a:cs typeface="Calibri Light" panose="020F0302020204030204" pitchFamily="34" charset="0"/>
              </a:rPr>
              <a:t>)</a:t>
            </a:r>
            <a:br>
              <a:rPr lang="en-US" sz="2800" spc="-20" dirty="0" smtClean="0">
                <a:solidFill>
                  <a:srgbClr val="0033CC"/>
                </a:solidFill>
                <a:latin typeface="Calibri Light" panose="020F0302020204030204" pitchFamily="34" charset="0"/>
                <a:cs typeface="Calibri Light" panose="020F0302020204030204" pitchFamily="34" charset="0"/>
              </a:rPr>
            </a:br>
            <a:r>
              <a:rPr lang="en-US" sz="2800" spc="-20" dirty="0" smtClean="0">
                <a:solidFill>
                  <a:srgbClr val="0033CC"/>
                </a:solidFill>
                <a:latin typeface="Calibri Light" panose="020F0302020204030204" pitchFamily="34" charset="0"/>
                <a:cs typeface="Calibri Light" panose="020F0302020204030204" pitchFamily="34" charset="0"/>
              </a:rPr>
              <a:t>{   v</a:t>
            </a:r>
            <a:r>
              <a:rPr lang="en-US" sz="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getNameOnLHS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a:t>
            </a:r>
            <a:r>
              <a:rPr lang="en-US" sz="20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t</a:t>
            </a:r>
            <a:r>
              <a:rPr lang="en-US" sz="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inferTypeOnRHS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smtClean="0">
                <a:solidFill>
                  <a:srgbClr val="0033CC"/>
                </a:solidFill>
                <a:latin typeface="Calibri Light" panose="020F0302020204030204" pitchFamily="34" charset="0"/>
                <a:cs typeface="Calibri Light" panose="020F0302020204030204" pitchFamily="34" charset="0"/>
              </a:rPr>
              <a:t>    </a:t>
            </a:r>
            <a:r>
              <a:rPr lang="en-US" sz="24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if</a:t>
            </a:r>
            <a:r>
              <a:rPr lang="en-US" sz="2000" spc="-20" dirty="0" smtClean="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400" spc="-20" dirty="0" smtClean="0">
                <a:solidFill>
                  <a:srgbClr val="0033CC"/>
                </a:solidFill>
                <a:latin typeface="Calibri Light" panose="020F0302020204030204" pitchFamily="34" charset="0"/>
                <a:cs typeface="Calibri Light" panose="020F0302020204030204" pitchFamily="34" charset="0"/>
              </a:rPr>
              <a:t> </a:t>
            </a:r>
            <a:r>
              <a:rPr lang="en-US" sz="2800" spc="-20" dirty="0" err="1" smtClean="0">
                <a:solidFill>
                  <a:srgbClr val="0033CC"/>
                </a:solidFill>
                <a:latin typeface="Calibri Light" panose="020F0302020204030204" pitchFamily="34" charset="0"/>
                <a:cs typeface="Calibri Light" panose="020F0302020204030204" pitchFamily="34" charset="0"/>
              </a:rPr>
              <a:t>ItExistsAlready</a:t>
            </a:r>
            <a:r>
              <a:rPr lang="en-US" sz="2800" spc="-20" dirty="0" smtClean="0">
                <a:solidFill>
                  <a:srgbClr val="0033CC"/>
                </a:solidFill>
                <a:latin typeface="Calibri Light" panose="020F0302020204030204" pitchFamily="34" charset="0"/>
                <a:cs typeface="Calibri Light" panose="020F0302020204030204" pitchFamily="34" charset="0"/>
              </a:rPr>
              <a:t>(v))</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a:t>
            </a: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free(&amp;v)</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v</a:t>
            </a:r>
            <a:r>
              <a:rPr lang="en-US" sz="4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malloc</a:t>
            </a:r>
            <a:r>
              <a:rPr lang="en-US" sz="2800" spc="-20" dirty="0" smtClean="0">
                <a:solidFill>
                  <a:srgbClr val="0033CC"/>
                </a:solidFill>
                <a:latin typeface="Calibri Light" panose="020F0302020204030204" pitchFamily="34" charset="0"/>
                <a:cs typeface="Calibri Light" panose="020F0302020204030204" pitchFamily="34" charset="0"/>
              </a:rPr>
              <a:t>(</a:t>
            </a:r>
            <a:r>
              <a:rPr lang="en-US" sz="2800" spc="-20" dirty="0" err="1" smtClean="0">
                <a:solidFill>
                  <a:srgbClr val="0033CC"/>
                </a:solidFill>
                <a:latin typeface="Calibri Light" panose="020F0302020204030204" pitchFamily="34" charset="0"/>
                <a:cs typeface="Calibri Light" panose="020F0302020204030204" pitchFamily="34" charset="0"/>
              </a:rPr>
              <a:t>sizeof</a:t>
            </a:r>
            <a:r>
              <a:rPr lang="en-US" sz="2800" spc="-20" dirty="0" smtClean="0">
                <a:solidFill>
                  <a:srgbClr val="0033CC"/>
                </a:solidFill>
                <a:latin typeface="Calibri Light" panose="020F0302020204030204" pitchFamily="34" charset="0"/>
                <a:cs typeface="Calibri Light" panose="020F0302020204030204" pitchFamily="34" charset="0"/>
              </a:rPr>
              <a:t>(t))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 </a:t>
            </a:r>
            <a:r>
              <a:rPr lang="en-US" sz="2800" spc="-20" dirty="0" smtClean="0">
                <a:solidFill>
                  <a:srgbClr val="0033CC"/>
                </a:solidFill>
                <a:latin typeface="Calibri Light" panose="020F0302020204030204" pitchFamily="34" charset="0"/>
                <a:cs typeface="Calibri Light" panose="020F0302020204030204" pitchFamily="34" charset="0"/>
              </a:rPr>
              <a:t>   *v=</a:t>
            </a:r>
            <a:r>
              <a:rPr lang="en-US" sz="2800" spc="-20" dirty="0" err="1" smtClean="0">
                <a:solidFill>
                  <a:srgbClr val="0033CC"/>
                </a:solidFill>
                <a:latin typeface="Calibri Light" panose="020F0302020204030204" pitchFamily="34" charset="0"/>
                <a:cs typeface="Calibri Light" panose="020F0302020204030204" pitchFamily="34" charset="0"/>
              </a:rPr>
              <a:t>getValueOfRHS</a:t>
            </a:r>
            <a:r>
              <a:rPr lang="en-US" sz="2800" spc="-20" dirty="0" smtClean="0">
                <a:solidFill>
                  <a:srgbClr val="0033CC"/>
                </a:solidFill>
                <a:latin typeface="Calibri Light" panose="020F0302020204030204" pitchFamily="34" charset="0"/>
                <a:cs typeface="Calibri Light" panose="020F0302020204030204" pitchFamily="34" charset="0"/>
              </a:rPr>
              <a:t>()</a:t>
            </a:r>
          </a:p>
          <a:p>
            <a:pPr>
              <a:lnSpc>
                <a:spcPct val="75000"/>
              </a:lnSpc>
            </a:pPr>
            <a:r>
              <a:rPr lang="en-US" sz="2800" spc="-20" dirty="0">
                <a:solidFill>
                  <a:srgbClr val="0033CC"/>
                </a:solidFill>
                <a:latin typeface="Calibri Light" panose="020F0302020204030204" pitchFamily="34" charset="0"/>
                <a:cs typeface="Calibri Light" panose="020F0302020204030204" pitchFamily="34" charset="0"/>
              </a:rPr>
              <a:t>}</a:t>
            </a:r>
            <a:r>
              <a:rPr lang="en-US" sz="2800" spc="-20" dirty="0" smtClean="0">
                <a:solidFill>
                  <a:srgbClr val="0033CC"/>
                </a:solidFill>
                <a:latin typeface="Calibri Light" panose="020F0302020204030204" pitchFamily="34" charset="0"/>
                <a:cs typeface="Calibri Light" panose="020F0302020204030204" pitchFamily="34" charset="0"/>
              </a:rPr>
              <a:t> </a:t>
            </a:r>
            <a:endParaRPr lang="en-US" sz="2800" spc="-20" dirty="0">
              <a:solidFill>
                <a:srgbClr val="0033CC"/>
              </a:solidFill>
              <a:latin typeface="Calibri Light" panose="020F0302020204030204" pitchFamily="34" charset="0"/>
              <a:cs typeface="Calibri Light" panose="020F0302020204030204" pitchFamily="34" charset="0"/>
            </a:endParaRPr>
          </a:p>
        </p:txBody>
      </p:sp>
      <p:sp>
        <p:nvSpPr>
          <p:cNvPr id="22" name="Rectangle 21"/>
          <p:cNvSpPr/>
          <p:nvPr/>
        </p:nvSpPr>
        <p:spPr>
          <a:xfrm>
            <a:off x="6626123" y="1571074"/>
            <a:ext cx="3040392" cy="1963150"/>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73152" rtlCol="0" anchor="ctr" anchorCtr="0"/>
          <a:lstStyle/>
          <a:p>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26" name="Rectangle 25"/>
          <p:cNvSpPr/>
          <p:nvPr/>
        </p:nvSpPr>
        <p:spPr>
          <a:xfrm>
            <a:off x="6823129" y="1252858"/>
            <a:ext cx="2413861" cy="341832"/>
          </a:xfrm>
          <a:prstGeom prst="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73152" rtlCol="0" anchor="ctr" anchorCtr="0"/>
          <a:lstStyle/>
          <a:p>
            <a:pPr algn="ctr"/>
            <a:r>
              <a:rPr lang="en-US" sz="2800" dirty="0" smtClean="0">
                <a:solidFill>
                  <a:srgbClr val="FF0000"/>
                </a:solidFill>
                <a:latin typeface="Calibri Light" panose="020F0302020204030204" pitchFamily="34" charset="0"/>
                <a:cs typeface="Calibri Light" panose="020F0302020204030204" pitchFamily="34" charset="0"/>
              </a:rPr>
              <a:t>False</a:t>
            </a:r>
            <a:endParaRPr lang="en-US" sz="2800" dirty="0">
              <a:solidFill>
                <a:srgbClr val="FF0000"/>
              </a:solidFill>
              <a:latin typeface="Calibri Light" panose="020F0302020204030204" pitchFamily="34" charset="0"/>
              <a:cs typeface="Calibri Light" panose="020F0302020204030204" pitchFamily="34" charset="0"/>
            </a:endParaRPr>
          </a:p>
        </p:txBody>
      </p:sp>
      <p:sp>
        <p:nvSpPr>
          <p:cNvPr id="19" name="Oval 18"/>
          <p:cNvSpPr/>
          <p:nvPr/>
        </p:nvSpPr>
        <p:spPr>
          <a:xfrm>
            <a:off x="8979694" y="1183570"/>
            <a:ext cx="319884" cy="400065"/>
          </a:xfrm>
          <a:prstGeom prst="ellipse">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9346390" y="1550267"/>
            <a:ext cx="304800" cy="192970"/>
          </a:xfrm>
          <a:prstGeom prst="ellipse">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ular Callout 20"/>
          <p:cNvSpPr/>
          <p:nvPr/>
        </p:nvSpPr>
        <p:spPr>
          <a:xfrm>
            <a:off x="1188695" y="46577"/>
            <a:ext cx="7472705" cy="804353"/>
          </a:xfrm>
          <a:prstGeom prst="wedgeRoundRectCallout">
            <a:avLst>
              <a:gd name="adj1" fmla="val 33277"/>
              <a:gd name="adj2" fmla="val 10420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82000"/>
              </a:lnSpc>
            </a:pPr>
            <a:r>
              <a:rPr lang="en-US" sz="2800" spc="-40" dirty="0" smtClean="0">
                <a:solidFill>
                  <a:srgbClr val="FFD966"/>
                </a:solidFill>
              </a:rPr>
              <a:t>..</a:t>
            </a:r>
            <a:r>
              <a:rPr lang="en-US" sz="2800" spc="-40" dirty="0" smtClean="0">
                <a:solidFill>
                  <a:srgbClr val="0033CC"/>
                </a:solidFill>
              </a:rPr>
              <a:t>Some C-style pseudocode might help explain this.</a:t>
            </a:r>
            <a:r>
              <a:rPr lang="en-US" sz="2800" spc="-40" dirty="0" smtClean="0">
                <a:solidFill>
                  <a:srgbClr val="FFD966"/>
                </a:solidFill>
              </a:rPr>
              <a:t>..</a:t>
            </a:r>
            <a:endParaRPr lang="en-US" sz="2800" dirty="0">
              <a:solidFill>
                <a:srgbClr val="FFD966"/>
              </a:solidFill>
            </a:endParaRPr>
          </a:p>
        </p:txBody>
      </p:sp>
    </p:spTree>
    <p:extLst>
      <p:ext uri="{BB962C8B-B14F-4D97-AF65-F5344CB8AC3E}">
        <p14:creationId xmlns:p14="http://schemas.microsoft.com/office/powerpoint/2010/main" val="3630621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1+#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1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1+#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cTn>
                              </p:par>
                              <p:par>
                                <p:cTn id="18" presetID="10" presetClass="entr" presetSubtype="0"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1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6" grpId="0" animBg="1"/>
      <p:bldP spid="19" grpId="0" animBg="1"/>
      <p:bldP spid="20"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p:cNvSpPr>
            <a:spLocks noGrp="1"/>
          </p:cNvSpPr>
          <p:nvPr>
            <p:ph idx="1"/>
          </p:nvPr>
        </p:nvSpPr>
        <p:spPr>
          <a:xfrm>
            <a:off x="359076" y="1348830"/>
            <a:ext cx="9077818" cy="5225387"/>
          </a:xfrm>
        </p:spPr>
        <p:txBody>
          <a:bodyPr>
            <a:noAutofit/>
          </a:bodyPr>
          <a:lstStyle/>
          <a:p>
            <a:r>
              <a:rPr lang="en-US" altLang="en-US" sz="3200" dirty="0">
                <a:solidFill>
                  <a:schemeClr val="bg1">
                    <a:lumMod val="85000"/>
                  </a:schemeClr>
                </a:solidFill>
              </a:rPr>
              <a:t>Assigning a value to a variable does not update it, instead it creates a new variable.</a:t>
            </a:r>
          </a:p>
          <a:p>
            <a:pPr lvl="1"/>
            <a:r>
              <a:rPr lang="en-US" altLang="en-US" sz="2800" dirty="0">
                <a:solidFill>
                  <a:schemeClr val="bg1">
                    <a:lumMod val="85000"/>
                  </a:schemeClr>
                </a:solidFill>
              </a:rPr>
              <a:t>If </a:t>
            </a:r>
            <a:r>
              <a:rPr lang="en-US" altLang="en-US" sz="2800" dirty="0" smtClean="0">
                <a:solidFill>
                  <a:schemeClr val="bg1">
                    <a:lumMod val="85000"/>
                  </a:schemeClr>
                </a:solidFill>
              </a:rPr>
              <a:t>its </a:t>
            </a:r>
            <a:r>
              <a:rPr lang="en-US" altLang="en-US" sz="2800" dirty="0">
                <a:solidFill>
                  <a:schemeClr val="bg1">
                    <a:lumMod val="85000"/>
                  </a:schemeClr>
                </a:solidFill>
              </a:rPr>
              <a:t>the same type (or even if not</a:t>
            </a:r>
            <a:r>
              <a:rPr lang="en-US" altLang="en-US" sz="2800" dirty="0" smtClean="0">
                <a:solidFill>
                  <a:schemeClr val="bg1">
                    <a:lumMod val="85000"/>
                  </a:schemeClr>
                </a:solidFill>
              </a:rPr>
              <a:t>) </a:t>
            </a:r>
            <a:r>
              <a:rPr lang="en-US" altLang="en-US" sz="2800" dirty="0">
                <a:solidFill>
                  <a:schemeClr val="bg1">
                    <a:lumMod val="85000"/>
                  </a:schemeClr>
                </a:solidFill>
              </a:rPr>
              <a:t>it </a:t>
            </a:r>
            <a:r>
              <a:rPr lang="en-US" altLang="en-US" sz="2800" i="1" dirty="0" smtClean="0">
                <a:solidFill>
                  <a:schemeClr val="bg1">
                    <a:lumMod val="85000"/>
                  </a:schemeClr>
                </a:solidFill>
              </a:rPr>
              <a:t>could</a:t>
            </a:r>
            <a:r>
              <a:rPr lang="en-US" altLang="en-US" sz="2800" dirty="0" smtClean="0">
                <a:solidFill>
                  <a:schemeClr val="bg1">
                    <a:lumMod val="85000"/>
                  </a:schemeClr>
                </a:solidFill>
              </a:rPr>
              <a:t> end </a:t>
            </a:r>
            <a:r>
              <a:rPr lang="en-US" altLang="en-US" sz="2800" dirty="0">
                <a:solidFill>
                  <a:schemeClr val="bg1">
                    <a:lumMod val="85000"/>
                  </a:schemeClr>
                </a:solidFill>
              </a:rPr>
              <a:t>up in the same memory location. Nonetheless, it is a new variable.</a:t>
            </a:r>
          </a:p>
          <a:p>
            <a:r>
              <a:rPr lang="en-US" altLang="en-US" sz="3200" dirty="0">
                <a:solidFill>
                  <a:schemeClr val="bg1">
                    <a:lumMod val="85000"/>
                  </a:schemeClr>
                </a:solidFill>
              </a:rPr>
              <a:t>But there are multi-value variables. A</a:t>
            </a:r>
            <a:r>
              <a:rPr lang="en-US" altLang="en-US" sz="3200" dirty="0" smtClean="0">
                <a:solidFill>
                  <a:schemeClr val="bg1">
                    <a:lumMod val="85000"/>
                  </a:schemeClr>
                </a:solidFill>
              </a:rPr>
              <a:t>ssigning to one </a:t>
            </a:r>
            <a:r>
              <a:rPr lang="en-US" altLang="en-US" sz="3200" spc="-30" dirty="0">
                <a:solidFill>
                  <a:schemeClr val="bg1">
                    <a:lumMod val="85000"/>
                  </a:schemeClr>
                </a:solidFill>
              </a:rPr>
              <a:t>value is different than assigning </a:t>
            </a:r>
            <a:r>
              <a:rPr lang="en-US" altLang="en-US" sz="3200" spc="-30" dirty="0" smtClean="0">
                <a:solidFill>
                  <a:schemeClr val="bg1">
                    <a:lumMod val="85000"/>
                  </a:schemeClr>
                </a:solidFill>
              </a:rPr>
              <a:t>to the whole variable</a:t>
            </a:r>
            <a:r>
              <a:rPr lang="en-US" altLang="en-US" sz="3200" spc="-30" dirty="0">
                <a:solidFill>
                  <a:schemeClr val="bg1">
                    <a:lumMod val="85000"/>
                  </a:schemeClr>
                </a:solidFill>
              </a:rPr>
              <a:t>.</a:t>
            </a:r>
          </a:p>
          <a:p>
            <a:r>
              <a:rPr lang="en-US" altLang="en-US" sz="3200" dirty="0">
                <a:solidFill>
                  <a:schemeClr val="bg1">
                    <a:lumMod val="85000"/>
                  </a:schemeClr>
                </a:solidFill>
              </a:rPr>
              <a:t>Python divides its types into two categories:</a:t>
            </a:r>
          </a:p>
          <a:p>
            <a:pPr marL="836633" lvl="1" indent="-471762">
              <a:buClr>
                <a:schemeClr val="bg1">
                  <a:lumMod val="85000"/>
                </a:schemeClr>
              </a:buClr>
              <a:buFont typeface="+mj-lt"/>
              <a:buAutoNum type="arabicPeriod"/>
            </a:pPr>
            <a:r>
              <a:rPr lang="en-US" altLang="en-US" sz="3200" dirty="0" smtClean="0"/>
              <a:t>Numbers</a:t>
            </a:r>
            <a:r>
              <a:rPr lang="en-US" altLang="en-US" sz="3200" dirty="0" smtClean="0">
                <a:solidFill>
                  <a:schemeClr val="bg1">
                    <a:lumMod val="85000"/>
                  </a:schemeClr>
                </a:solidFill>
              </a:rPr>
              <a:t>, strings, </a:t>
            </a:r>
            <a:r>
              <a:rPr lang="en-US" altLang="en-US" sz="3200" dirty="0">
                <a:solidFill>
                  <a:schemeClr val="bg1">
                    <a:lumMod val="85000"/>
                  </a:schemeClr>
                </a:solidFill>
              </a:rPr>
              <a:t>and tuples </a:t>
            </a:r>
            <a:r>
              <a:rPr lang="en-US" altLang="en-US" sz="3200" dirty="0"/>
              <a:t>are </a:t>
            </a:r>
            <a:r>
              <a:rPr lang="en-US" altLang="en-US" sz="3200" b="1" dirty="0">
                <a:solidFill>
                  <a:srgbClr val="00B050"/>
                </a:solidFill>
              </a:rPr>
              <a:t>im</a:t>
            </a:r>
            <a:r>
              <a:rPr lang="en-US" altLang="en-US" sz="3200" b="1" dirty="0">
                <a:solidFill>
                  <a:srgbClr val="FF0000"/>
                </a:solidFill>
              </a:rPr>
              <a:t>mut</a:t>
            </a:r>
            <a:r>
              <a:rPr lang="en-US" altLang="en-US" sz="3200" b="1" dirty="0">
                <a:solidFill>
                  <a:srgbClr val="0070C0"/>
                </a:solidFill>
              </a:rPr>
              <a:t>able</a:t>
            </a:r>
            <a:r>
              <a:rPr lang="en-US" altLang="en-US" sz="3200" dirty="0"/>
              <a:t>.</a:t>
            </a:r>
          </a:p>
          <a:p>
            <a:pPr marL="836633" lvl="1" indent="-471762">
              <a:buFont typeface="+mj-lt"/>
              <a:buAutoNum type="arabicPeriod"/>
            </a:pPr>
            <a:r>
              <a:rPr lang="en-US" altLang="en-US" sz="3200" dirty="0" smtClean="0">
                <a:solidFill>
                  <a:schemeClr val="bg1">
                    <a:lumMod val="85000"/>
                  </a:schemeClr>
                </a:solidFill>
              </a:rPr>
              <a:t>Lists, sets, </a:t>
            </a:r>
            <a:r>
              <a:rPr lang="en-US" altLang="en-US" sz="3200" dirty="0">
                <a:solidFill>
                  <a:schemeClr val="bg1">
                    <a:lumMod val="85000"/>
                  </a:schemeClr>
                </a:solidFill>
              </a:rPr>
              <a:t>and dictionaries are mutable.</a:t>
            </a:r>
          </a:p>
        </p:txBody>
      </p:sp>
      <p:sp>
        <p:nvSpPr>
          <p:cNvPr id="9" name="Title 1"/>
          <p:cNvSpPr>
            <a:spLocks noGrp="1"/>
          </p:cNvSpPr>
          <p:nvPr>
            <p:ph type="title"/>
          </p:nvPr>
        </p:nvSpPr>
        <p:spPr>
          <a:xfrm>
            <a:off x="1" y="283784"/>
            <a:ext cx="9729788" cy="1065046"/>
          </a:xfrm>
        </p:spPr>
        <p:txBody>
          <a:bodyPr>
            <a:normAutofit/>
          </a:bodyPr>
          <a:lstStyle/>
          <a:p>
            <a:r>
              <a:rPr lang="en-US" altLang="en-US" sz="4400" dirty="0" smtClean="0">
                <a:solidFill>
                  <a:srgbClr val="0070C0"/>
                </a:solidFill>
              </a:rPr>
              <a:t>Updating the Values of Variables:</a:t>
            </a:r>
          </a:p>
        </p:txBody>
      </p:sp>
      <p:grpSp>
        <p:nvGrpSpPr>
          <p:cNvPr id="3" name="Group 2"/>
          <p:cNvGrpSpPr/>
          <p:nvPr/>
        </p:nvGrpSpPr>
        <p:grpSpPr>
          <a:xfrm>
            <a:off x="282876" y="1134713"/>
            <a:ext cx="5542294" cy="2826810"/>
            <a:chOff x="282876" y="1134713"/>
            <a:chExt cx="5542294" cy="2826810"/>
          </a:xfrm>
        </p:grpSpPr>
        <p:sp>
          <p:nvSpPr>
            <p:cNvPr id="14" name="Rounded Rectangular Callout 13"/>
            <p:cNvSpPr/>
            <p:nvPr/>
          </p:nvSpPr>
          <p:spPr>
            <a:xfrm>
              <a:off x="380847" y="1134713"/>
              <a:ext cx="5444323" cy="2826810"/>
            </a:xfrm>
            <a:prstGeom prst="wedgeRoundRectCallout">
              <a:avLst>
                <a:gd name="adj1" fmla="val -20609"/>
                <a:gd name="adj2" fmla="val 68952"/>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33CC"/>
                </a:solidFill>
              </a:endParaRPr>
            </a:p>
          </p:txBody>
        </p:sp>
        <p:sp>
          <p:nvSpPr>
            <p:cNvPr id="15" name="Rounded Rectangular Callout 14"/>
            <p:cNvSpPr/>
            <p:nvPr/>
          </p:nvSpPr>
          <p:spPr>
            <a:xfrm>
              <a:off x="282876" y="1134713"/>
              <a:ext cx="2717452" cy="2826810"/>
            </a:xfrm>
            <a:prstGeom prst="wedgeRoundRectCallout">
              <a:avLst>
                <a:gd name="adj1" fmla="val -50002"/>
                <a:gd name="adj2" fmla="val -19233"/>
                <a:gd name="adj3"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2000"/>
                </a:lnSpc>
              </a:pPr>
              <a:r>
                <a:rPr lang="en-US" sz="2800" dirty="0" smtClean="0">
                  <a:solidFill>
                    <a:srgbClr val="0033CC"/>
                  </a:solidFill>
                </a:rPr>
                <a:t>Numbers cannot</a:t>
              </a:r>
              <a:br>
                <a:rPr lang="en-US" sz="2800" dirty="0" smtClean="0">
                  <a:solidFill>
                    <a:srgbClr val="0033CC"/>
                  </a:solidFill>
                </a:rPr>
              </a:br>
              <a:r>
                <a:rPr lang="en-US" sz="2800" dirty="0" smtClean="0">
                  <a:solidFill>
                    <a:srgbClr val="0033CC"/>
                  </a:solidFill>
                </a:rPr>
                <a:t> change?!? Then how do you explain this:</a:t>
              </a:r>
              <a:endParaRPr lang="en-US" sz="2800" dirty="0">
                <a:solidFill>
                  <a:srgbClr val="0033CC"/>
                </a:solidFill>
              </a:endParaRPr>
            </a:p>
          </p:txBody>
        </p:sp>
      </p:grpSp>
      <p:sp>
        <p:nvSpPr>
          <p:cNvPr id="13" name="Rectangle 12"/>
          <p:cNvSpPr/>
          <p:nvPr/>
        </p:nvSpPr>
        <p:spPr>
          <a:xfrm>
            <a:off x="2707040" y="1459982"/>
            <a:ext cx="2678744" cy="217627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&gt;&gt;&gt; </a:t>
            </a:r>
            <a:r>
              <a:rPr lang="en-US" sz="2200" dirty="0">
                <a:solidFill>
                  <a:schemeClr val="bg1"/>
                </a:solidFill>
                <a:latin typeface="Lucida Console" panose="020B0609040504020204" pitchFamily="49" charset="0"/>
                <a:cs typeface="Consolas" panose="020B0609020204030204" pitchFamily="49" charset="0"/>
              </a:rPr>
              <a:t>x=5</a:t>
            </a: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a:t>
            </a:r>
            <a:r>
              <a:rPr lang="en-US" sz="2200" dirty="0" smtClean="0">
                <a:solidFill>
                  <a:schemeClr val="bg1"/>
                </a:solidFill>
                <a:latin typeface="Lucida Console" panose="020B0609040504020204" pitchFamily="49" charset="0"/>
                <a:cs typeface="Consolas" panose="020B0609020204030204" pitchFamily="49" charset="0"/>
              </a:rPr>
              <a:t>x)</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5</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a:t>
            </a:r>
            <a:r>
              <a:rPr lang="en-US" sz="2200" dirty="0" smtClean="0">
                <a:solidFill>
                  <a:schemeClr val="bg1"/>
                </a:solidFill>
                <a:latin typeface="Lucida Console" panose="020B0609040504020204" pitchFamily="49" charset="0"/>
                <a:cs typeface="Consolas" panose="020B0609020204030204" pitchFamily="49" charset="0"/>
              </a:rPr>
              <a:t>x=6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a:solidFill>
                  <a:schemeClr val="bg1"/>
                </a:solidFill>
                <a:latin typeface="Lucida Console" panose="020B0609040504020204" pitchFamily="49" charset="0"/>
                <a:cs typeface="Consolas" panose="020B0609020204030204" pitchFamily="49" charset="0"/>
              </a:rPr>
              <a:t>&gt;&gt;&gt; print (x)</a:t>
            </a:r>
          </a:p>
          <a:p>
            <a:pPr>
              <a:lnSpc>
                <a:spcPct val="82000"/>
              </a:lnSpc>
            </a:pPr>
            <a:r>
              <a:rPr lang="en-US" sz="2200" dirty="0" smtClean="0">
                <a:solidFill>
                  <a:schemeClr val="bg1"/>
                </a:solidFill>
                <a:latin typeface="Lucida Console" panose="020B0609040504020204" pitchFamily="49" charset="0"/>
                <a:cs typeface="Consolas" panose="020B0609020204030204" pitchFamily="49" charset="0"/>
              </a:rPr>
              <a:t>6</a:t>
            </a:r>
            <a:endParaRPr lang="en-US" sz="2200" dirty="0">
              <a:solidFill>
                <a:schemeClr val="bg1"/>
              </a:solidFill>
              <a:latin typeface="Lucida Console" panose="020B0609040504020204" pitchFamily="49" charset="0"/>
              <a:cs typeface="Consolas" panose="020B0609020204030204" pitchFamily="49" charset="0"/>
            </a:endParaRPr>
          </a:p>
          <a:p>
            <a:pPr>
              <a:lnSpc>
                <a:spcPct val="82000"/>
              </a:lnSpc>
            </a:pPr>
            <a:r>
              <a:rPr lang="en-US" sz="2200" dirty="0" smtClean="0">
                <a:solidFill>
                  <a:schemeClr val="bg1">
                    <a:lumMod val="95000"/>
                  </a:schemeClr>
                </a:solidFill>
                <a:latin typeface="Lucida Console" panose="020B0609040504020204" pitchFamily="49" charset="0"/>
                <a:cs typeface="Consolas" panose="020B0609020204030204" pitchFamily="49" charset="0"/>
              </a:rPr>
              <a:t>&gt;&gt;&gt;</a:t>
            </a:r>
            <a:endParaRPr lang="en-US" sz="2200" dirty="0">
              <a:solidFill>
                <a:schemeClr val="tx1"/>
              </a:solidFill>
              <a:latin typeface="Lucida Console" panose="020B0609040504020204" pitchFamily="49" charset="0"/>
              <a:cs typeface="Consolas" panose="020B0609020204030204" pitchFamily="49" charset="0"/>
            </a:endParaRPr>
          </a:p>
        </p:txBody>
      </p:sp>
      <p:sp>
        <p:nvSpPr>
          <p:cNvPr id="17" name="Rounded Rectangular Callout 16"/>
          <p:cNvSpPr/>
          <p:nvPr/>
        </p:nvSpPr>
        <p:spPr>
          <a:xfrm>
            <a:off x="6311900" y="1134714"/>
            <a:ext cx="3439660" cy="2826810"/>
          </a:xfrm>
          <a:prstGeom prst="wedgeRoundRectCallout">
            <a:avLst>
              <a:gd name="adj1" fmla="val -135985"/>
              <a:gd name="adj2" fmla="val 28398"/>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nSpc>
                <a:spcPct val="75000"/>
              </a:lnSpc>
            </a:pPr>
            <a:endParaRPr lang="en-US" sz="2800" spc="-20" dirty="0">
              <a:solidFill>
                <a:srgbClr val="0033CC"/>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302090675"/>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p:cNvSpPr>
            <a:spLocks noGrp="1"/>
          </p:cNvSpPr>
          <p:nvPr>
            <p:ph idx="1"/>
          </p:nvPr>
        </p:nvSpPr>
        <p:spPr>
          <a:xfrm>
            <a:off x="359076" y="1348830"/>
            <a:ext cx="9077818" cy="5225387"/>
          </a:xfrm>
        </p:spPr>
        <p:txBody>
          <a:bodyPr>
            <a:noAutofit/>
          </a:bodyPr>
          <a:lstStyle/>
          <a:p>
            <a:r>
              <a:rPr lang="en-US" altLang="en-US" sz="3200" dirty="0"/>
              <a:t>Assigning a </a:t>
            </a:r>
            <a:r>
              <a:rPr lang="en-US" altLang="en-US" sz="3200" dirty="0" smtClean="0"/>
              <a:t>new value </a:t>
            </a:r>
            <a:r>
              <a:rPr lang="en-US" altLang="en-US" sz="3200" dirty="0"/>
              <a:t>to </a:t>
            </a:r>
            <a:r>
              <a:rPr lang="en-US" altLang="en-US" sz="3200" dirty="0" smtClean="0"/>
              <a:t>an existing </a:t>
            </a:r>
            <a:r>
              <a:rPr lang="en-US" altLang="en-US" sz="3200" dirty="0"/>
              <a:t>variable does not update </a:t>
            </a:r>
            <a:r>
              <a:rPr lang="en-US" altLang="en-US" sz="3200" dirty="0" smtClean="0"/>
              <a:t>it; </a:t>
            </a:r>
            <a:r>
              <a:rPr lang="en-US" altLang="en-US" sz="3200" dirty="0"/>
              <a:t>instead it creates a new variable.</a:t>
            </a:r>
          </a:p>
          <a:p>
            <a:pPr lvl="1"/>
            <a:r>
              <a:rPr lang="en-US" altLang="en-US" sz="2800" dirty="0"/>
              <a:t>If </a:t>
            </a:r>
            <a:r>
              <a:rPr lang="en-US" altLang="en-US" sz="2800" dirty="0" smtClean="0"/>
              <a:t>its </a:t>
            </a:r>
            <a:r>
              <a:rPr lang="en-US" altLang="en-US" sz="2800" dirty="0"/>
              <a:t>the same type (or even if not</a:t>
            </a:r>
            <a:r>
              <a:rPr lang="en-US" altLang="en-US" sz="2800" dirty="0" smtClean="0"/>
              <a:t>) </a:t>
            </a:r>
            <a:r>
              <a:rPr lang="en-US" altLang="en-US" sz="2800" dirty="0"/>
              <a:t>it </a:t>
            </a:r>
            <a:r>
              <a:rPr lang="en-US" altLang="en-US" sz="2800" i="1" dirty="0" smtClean="0"/>
              <a:t>could</a:t>
            </a:r>
            <a:r>
              <a:rPr lang="en-US" altLang="en-US" sz="2800" dirty="0" smtClean="0"/>
              <a:t> end </a:t>
            </a:r>
            <a:r>
              <a:rPr lang="en-US" altLang="en-US" sz="2800" dirty="0"/>
              <a:t>up in the same memory location. Nonetheless, it is a new variable.</a:t>
            </a:r>
          </a:p>
          <a:p>
            <a:r>
              <a:rPr lang="en-US" altLang="en-US" sz="3200" dirty="0"/>
              <a:t>But there are multi-value variables. A</a:t>
            </a:r>
            <a:r>
              <a:rPr lang="en-US" altLang="en-US" sz="3200" dirty="0" smtClean="0"/>
              <a:t>ssigning to one </a:t>
            </a:r>
            <a:r>
              <a:rPr lang="en-US" altLang="en-US" sz="3200" spc="-30" dirty="0"/>
              <a:t>value is different than assigning </a:t>
            </a:r>
            <a:r>
              <a:rPr lang="en-US" altLang="en-US" sz="3200" spc="-30" dirty="0" smtClean="0"/>
              <a:t>to the whole variable</a:t>
            </a:r>
            <a:r>
              <a:rPr lang="en-US" altLang="en-US" sz="3200" spc="-30" dirty="0"/>
              <a:t>.</a:t>
            </a:r>
          </a:p>
          <a:p>
            <a:r>
              <a:rPr lang="en-US" altLang="en-US" sz="3200" dirty="0"/>
              <a:t>Python divides its types into two categories:</a:t>
            </a:r>
          </a:p>
          <a:p>
            <a:pPr marL="836633" lvl="1" indent="-471762">
              <a:buFont typeface="+mj-lt"/>
              <a:buAutoNum type="arabicPeriod"/>
            </a:pPr>
            <a:r>
              <a:rPr lang="en-US" altLang="en-US" sz="3200" dirty="0" smtClean="0"/>
              <a:t>Numbers, strings, </a:t>
            </a:r>
            <a:r>
              <a:rPr lang="en-US" altLang="en-US" sz="3200" dirty="0"/>
              <a:t>and tuples are </a:t>
            </a:r>
            <a:r>
              <a:rPr lang="en-US" altLang="en-US" sz="3200" b="1" dirty="0"/>
              <a:t>immutable</a:t>
            </a:r>
            <a:r>
              <a:rPr lang="en-US" altLang="en-US" sz="3200" dirty="0"/>
              <a:t>.</a:t>
            </a:r>
          </a:p>
          <a:p>
            <a:pPr marL="836633" lvl="1" indent="-471762">
              <a:buFont typeface="+mj-lt"/>
              <a:buAutoNum type="arabicPeriod"/>
            </a:pPr>
            <a:r>
              <a:rPr lang="en-US" altLang="en-US" sz="3200" dirty="0" smtClean="0"/>
              <a:t>Lists, sets, </a:t>
            </a:r>
            <a:r>
              <a:rPr lang="en-US" altLang="en-US" sz="3200" dirty="0"/>
              <a:t>and dictionaries are mutable.</a:t>
            </a:r>
          </a:p>
        </p:txBody>
      </p:sp>
      <p:sp>
        <p:nvSpPr>
          <p:cNvPr id="9" name="Title 1"/>
          <p:cNvSpPr>
            <a:spLocks noGrp="1"/>
          </p:cNvSpPr>
          <p:nvPr>
            <p:ph type="title"/>
          </p:nvPr>
        </p:nvSpPr>
        <p:spPr>
          <a:xfrm>
            <a:off x="1" y="283784"/>
            <a:ext cx="9729788" cy="1065046"/>
          </a:xfrm>
        </p:spPr>
        <p:txBody>
          <a:bodyPr>
            <a:normAutofit/>
          </a:bodyPr>
          <a:lstStyle/>
          <a:p>
            <a:r>
              <a:rPr lang="en-US" altLang="en-US" sz="4400" dirty="0" smtClean="0">
                <a:solidFill>
                  <a:srgbClr val="0070C0"/>
                </a:solidFill>
              </a:rPr>
              <a:t>Updating the Values of Variables:</a:t>
            </a:r>
          </a:p>
        </p:txBody>
      </p:sp>
    </p:spTree>
    <p:extLst>
      <p:ext uri="{BB962C8B-B14F-4D97-AF65-F5344CB8AC3E}">
        <p14:creationId xmlns:p14="http://schemas.microsoft.com/office/powerpoint/2010/main" val="3400814756"/>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a:bodyPr>
          <a:lstStyle/>
          <a:p>
            <a:r>
              <a:rPr lang="en-US" altLang="en-US" sz="4400" dirty="0" smtClean="0">
                <a:solidFill>
                  <a:srgbClr val="0070C0"/>
                </a:solidFill>
              </a:rPr>
              <a:t>How Variables Are Stored</a:t>
            </a:r>
          </a:p>
        </p:txBody>
      </p:sp>
      <p:sp>
        <p:nvSpPr>
          <p:cNvPr id="16387" name="Content Placeholder 2"/>
          <p:cNvSpPr>
            <a:spLocks noGrp="1"/>
          </p:cNvSpPr>
          <p:nvPr>
            <p:ph idx="1"/>
          </p:nvPr>
        </p:nvSpPr>
        <p:spPr>
          <a:xfrm>
            <a:off x="196066" y="1166699"/>
            <a:ext cx="9324003" cy="5410335"/>
          </a:xfrm>
        </p:spPr>
        <p:txBody>
          <a:bodyPr>
            <a:noAutofit/>
          </a:bodyPr>
          <a:lstStyle/>
          <a:p>
            <a:r>
              <a:rPr lang="en-US" altLang="en-US" sz="3600" dirty="0">
                <a:solidFill>
                  <a:srgbClr val="FF0000"/>
                </a:solidFill>
              </a:rPr>
              <a:t>Variables are nothing more than reserved memory locations to store values. </a:t>
            </a:r>
          </a:p>
          <a:p>
            <a:pPr marL="0" indent="0">
              <a:spcBef>
                <a:spcPts val="1651"/>
              </a:spcBef>
              <a:buNone/>
            </a:pPr>
            <a:r>
              <a:rPr lang="en-US" altLang="en-US" sz="3027" dirty="0" smtClean="0">
                <a:solidFill>
                  <a:schemeClr val="bg1">
                    <a:lumMod val="95000"/>
                  </a:schemeClr>
                </a:solidFill>
              </a:rPr>
              <a:t> </a:t>
            </a:r>
            <a:endParaRPr lang="en-US" altLang="en-US" sz="3027" dirty="0">
              <a:solidFill>
                <a:schemeClr val="bg1">
                  <a:lumMod val="95000"/>
                </a:schemeClr>
              </a:solidFill>
            </a:endParaRPr>
          </a:p>
        </p:txBody>
      </p:sp>
    </p:spTree>
    <p:extLst>
      <p:ext uri="{BB962C8B-B14F-4D97-AF65-F5344CB8AC3E}">
        <p14:creationId xmlns:p14="http://schemas.microsoft.com/office/powerpoint/2010/main" val="276158541"/>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a:bodyPr>
          <a:lstStyle/>
          <a:p>
            <a:r>
              <a:rPr lang="en-US" altLang="en-US" sz="4400" dirty="0">
                <a:solidFill>
                  <a:srgbClr val="0070C0"/>
                </a:solidFill>
              </a:rPr>
              <a:t>How Variables Are Stored</a:t>
            </a:r>
            <a:endParaRPr lang="en-US" altLang="en-US" sz="4400" dirty="0" smtClean="0">
              <a:solidFill>
                <a:srgbClr val="0070C0"/>
              </a:solidFill>
            </a:endParaRPr>
          </a:p>
        </p:txBody>
      </p:sp>
      <p:sp>
        <p:nvSpPr>
          <p:cNvPr id="16387" name="Content Placeholder 2"/>
          <p:cNvSpPr>
            <a:spLocks noGrp="1"/>
          </p:cNvSpPr>
          <p:nvPr>
            <p:ph idx="1"/>
          </p:nvPr>
        </p:nvSpPr>
        <p:spPr>
          <a:xfrm>
            <a:off x="196066" y="1166699"/>
            <a:ext cx="9324003" cy="5410335"/>
          </a:xfrm>
        </p:spPr>
        <p:txBody>
          <a:bodyPr>
            <a:noAutofit/>
          </a:bodyPr>
          <a:lstStyle/>
          <a:p>
            <a:r>
              <a:rPr lang="en-US" altLang="en-US" sz="3600" dirty="0">
                <a:solidFill>
                  <a:schemeClr val="bg1">
                    <a:lumMod val="75000"/>
                  </a:schemeClr>
                </a:solidFill>
              </a:rPr>
              <a:t>Variables are nothing more than reserved memory locations to store values. </a:t>
            </a:r>
          </a:p>
          <a:p>
            <a:pPr>
              <a:spcBef>
                <a:spcPts val="1651"/>
              </a:spcBef>
            </a:pPr>
            <a:r>
              <a:rPr lang="en-US" altLang="en-US" sz="3600" dirty="0">
                <a:solidFill>
                  <a:srgbClr val="00B050"/>
                </a:solidFill>
              </a:rPr>
              <a:t>In languages that use declarations (</a:t>
            </a:r>
            <a:r>
              <a:rPr lang="en-US" altLang="en-US" sz="3600" dirty="0" err="1">
                <a:solidFill>
                  <a:srgbClr val="00B050"/>
                </a:solidFill>
              </a:rPr>
              <a:t>eg</a:t>
            </a:r>
            <a:r>
              <a:rPr lang="en-US" altLang="en-US" sz="3600" dirty="0">
                <a:solidFill>
                  <a:srgbClr val="00B050"/>
                </a:solidFill>
              </a:rPr>
              <a:t>, C++):</a:t>
            </a:r>
            <a:endParaRPr lang="en-US" altLang="en-US" sz="3302" dirty="0">
              <a:solidFill>
                <a:srgbClr val="00B050"/>
              </a:solidFill>
            </a:endParaRPr>
          </a:p>
          <a:p>
            <a:pPr lvl="1">
              <a:spcBef>
                <a:spcPts val="0"/>
              </a:spcBef>
            </a:pPr>
            <a:r>
              <a:rPr lang="en-US" altLang="en-US" sz="3200" b="1" u="sng" dirty="0">
                <a:solidFill>
                  <a:srgbClr val="FF0000"/>
                </a:solidFill>
              </a:rPr>
              <a:t>Declaring</a:t>
            </a:r>
            <a:r>
              <a:rPr lang="en-US" altLang="en-US" sz="3027" dirty="0">
                <a:solidFill>
                  <a:srgbClr val="FF0000"/>
                </a:solidFill>
              </a:rPr>
              <a:t> a variable reserves a space in memory.</a:t>
            </a:r>
          </a:p>
          <a:p>
            <a:pPr lvl="1"/>
            <a:r>
              <a:rPr lang="en-US" altLang="en-US" sz="3027" dirty="0">
                <a:solidFill>
                  <a:schemeClr val="bg1"/>
                </a:solidFill>
              </a:rPr>
              <a:t>The declared data type of the variable determines how much memory will be allocated. </a:t>
            </a:r>
          </a:p>
          <a:p>
            <a:pPr>
              <a:spcBef>
                <a:spcPts val="1651"/>
              </a:spcBef>
            </a:pPr>
            <a:r>
              <a:rPr lang="en-US" altLang="en-US" sz="3600" dirty="0">
                <a:solidFill>
                  <a:srgbClr val="00B050"/>
                </a:solidFill>
              </a:rPr>
              <a:t>In languages without declarations (</a:t>
            </a:r>
            <a:r>
              <a:rPr lang="en-US" altLang="en-US" sz="3600" dirty="0" err="1">
                <a:solidFill>
                  <a:srgbClr val="00B050"/>
                </a:solidFill>
              </a:rPr>
              <a:t>eg</a:t>
            </a:r>
            <a:r>
              <a:rPr lang="en-US" altLang="en-US" sz="3600" dirty="0">
                <a:solidFill>
                  <a:srgbClr val="00B050"/>
                </a:solidFill>
              </a:rPr>
              <a:t>, Python):</a:t>
            </a:r>
          </a:p>
          <a:p>
            <a:pPr lvl="1">
              <a:spcBef>
                <a:spcPts val="0"/>
              </a:spcBef>
            </a:pPr>
            <a:r>
              <a:rPr lang="en-US" altLang="en-US" sz="3200" b="1" u="sng" dirty="0" smtClean="0">
                <a:solidFill>
                  <a:srgbClr val="FF0000"/>
                </a:solidFill>
              </a:rPr>
              <a:t>Assigning</a:t>
            </a:r>
            <a:r>
              <a:rPr lang="en-US" altLang="en-US" sz="3027" dirty="0" smtClean="0">
                <a:solidFill>
                  <a:srgbClr val="FF0000"/>
                </a:solidFill>
              </a:rPr>
              <a:t> </a:t>
            </a:r>
            <a:r>
              <a:rPr lang="en-US" altLang="en-US" sz="3027" dirty="0">
                <a:solidFill>
                  <a:srgbClr val="FF0000"/>
                </a:solidFill>
              </a:rPr>
              <a:t>to a variable reserves </a:t>
            </a:r>
            <a:r>
              <a:rPr lang="en-US" altLang="en-US" sz="3027" dirty="0" smtClean="0">
                <a:solidFill>
                  <a:srgbClr val="FF0000"/>
                </a:solidFill>
              </a:rPr>
              <a:t>its </a:t>
            </a:r>
            <a:r>
              <a:rPr lang="en-US" altLang="en-US" sz="3027" dirty="0">
                <a:solidFill>
                  <a:srgbClr val="FF0000"/>
                </a:solidFill>
              </a:rPr>
              <a:t>space in memory.</a:t>
            </a:r>
          </a:p>
          <a:p>
            <a:pPr lvl="1"/>
            <a:r>
              <a:rPr lang="en-US" altLang="en-US" sz="3027" dirty="0" smtClean="0">
                <a:solidFill>
                  <a:schemeClr val="bg1"/>
                </a:solidFill>
              </a:rPr>
              <a:t>What is being assigned </a:t>
            </a:r>
            <a:r>
              <a:rPr lang="en-US" altLang="en-US" sz="3027" dirty="0">
                <a:solidFill>
                  <a:schemeClr val="bg1"/>
                </a:solidFill>
              </a:rPr>
              <a:t>determines </a:t>
            </a:r>
            <a:r>
              <a:rPr lang="en-US" altLang="en-US" sz="3027" dirty="0" smtClean="0">
                <a:solidFill>
                  <a:schemeClr val="bg1"/>
                </a:solidFill>
              </a:rPr>
              <a:t>its type and size.</a:t>
            </a:r>
            <a:endParaRPr lang="en-US" altLang="en-US" sz="3027" dirty="0">
              <a:solidFill>
                <a:schemeClr val="bg1"/>
              </a:solidFill>
            </a:endParaRPr>
          </a:p>
        </p:txBody>
      </p:sp>
      <p:sp>
        <p:nvSpPr>
          <p:cNvPr id="4" name="Rounded Rectangular Callout 3"/>
          <p:cNvSpPr/>
          <p:nvPr/>
        </p:nvSpPr>
        <p:spPr>
          <a:xfrm>
            <a:off x="1205182" y="1128666"/>
            <a:ext cx="7305769" cy="2743200"/>
          </a:xfrm>
          <a:prstGeom prst="wedgeRoundRectCallout">
            <a:avLst>
              <a:gd name="adj1" fmla="val 25902"/>
              <a:gd name="adj2" fmla="val 9033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lnSpc>
                <a:spcPct val="95000"/>
              </a:lnSpc>
            </a:pPr>
            <a:r>
              <a:rPr lang="en-US" sz="3200" dirty="0">
                <a:solidFill>
                  <a:srgbClr val="0033CC"/>
                </a:solidFill>
              </a:rPr>
              <a:t>At least we choose to </a:t>
            </a:r>
            <a:r>
              <a:rPr lang="en-US" sz="3200" i="1" dirty="0" smtClean="0">
                <a:solidFill>
                  <a:srgbClr val="0033CC"/>
                </a:solidFill>
              </a:rPr>
              <a:t>think </a:t>
            </a:r>
            <a:r>
              <a:rPr lang="en-US" sz="3200" dirty="0" smtClean="0">
                <a:solidFill>
                  <a:srgbClr val="0033CC"/>
                </a:solidFill>
              </a:rPr>
              <a:t>of </a:t>
            </a:r>
            <a:r>
              <a:rPr lang="en-US" sz="3200" dirty="0">
                <a:solidFill>
                  <a:srgbClr val="0033CC"/>
                </a:solidFill>
              </a:rPr>
              <a:t>it this way. </a:t>
            </a:r>
            <a:br>
              <a:rPr lang="en-US" sz="3200" dirty="0">
                <a:solidFill>
                  <a:srgbClr val="0033CC"/>
                </a:solidFill>
              </a:rPr>
            </a:br>
            <a:r>
              <a:rPr lang="en-US" sz="3200" dirty="0">
                <a:solidFill>
                  <a:srgbClr val="0033CC"/>
                </a:solidFill>
              </a:rPr>
              <a:t>If we </a:t>
            </a:r>
            <a:r>
              <a:rPr lang="en-US" sz="3200" dirty="0" smtClean="0">
                <a:solidFill>
                  <a:srgbClr val="0033CC"/>
                </a:solidFill>
              </a:rPr>
              <a:t>looked </a:t>
            </a:r>
            <a:r>
              <a:rPr lang="en-US" sz="3200" dirty="0">
                <a:solidFill>
                  <a:srgbClr val="0033CC"/>
                </a:solidFill>
              </a:rPr>
              <a:t>at the technical </a:t>
            </a:r>
            <a:r>
              <a:rPr lang="en-US" sz="3200" dirty="0" smtClean="0">
                <a:solidFill>
                  <a:srgbClr val="0033CC"/>
                </a:solidFill>
              </a:rPr>
              <a:t>details,</a:t>
            </a:r>
          </a:p>
          <a:p>
            <a:pPr algn="ctr">
              <a:lnSpc>
                <a:spcPct val="95000"/>
              </a:lnSpc>
            </a:pPr>
            <a:r>
              <a:rPr lang="en-US" sz="3200" dirty="0" smtClean="0">
                <a:solidFill>
                  <a:srgbClr val="0033CC"/>
                </a:solidFill>
              </a:rPr>
              <a:t> </a:t>
            </a:r>
            <a:r>
              <a:rPr lang="en-US" sz="3200" dirty="0">
                <a:solidFill>
                  <a:srgbClr val="0033CC"/>
                </a:solidFill>
              </a:rPr>
              <a:t>we </a:t>
            </a:r>
            <a:r>
              <a:rPr lang="en-US" sz="3200" i="1" dirty="0">
                <a:solidFill>
                  <a:srgbClr val="0033CC"/>
                </a:solidFill>
              </a:rPr>
              <a:t>might</a:t>
            </a:r>
            <a:r>
              <a:rPr lang="en-US" sz="3200" dirty="0">
                <a:solidFill>
                  <a:srgbClr val="0033CC"/>
                </a:solidFill>
              </a:rPr>
              <a:t> find that </a:t>
            </a:r>
            <a:r>
              <a:rPr lang="en-US" sz="3200" dirty="0" smtClean="0">
                <a:solidFill>
                  <a:srgbClr val="0033CC"/>
                </a:solidFill>
              </a:rPr>
              <a:t>the </a:t>
            </a:r>
            <a:r>
              <a:rPr lang="en-US" sz="3200" dirty="0">
                <a:solidFill>
                  <a:srgbClr val="0033CC"/>
                </a:solidFill>
              </a:rPr>
              <a:t>interpreter </a:t>
            </a:r>
            <a:endParaRPr lang="en-US" sz="3200" dirty="0" smtClean="0">
              <a:solidFill>
                <a:srgbClr val="0033CC"/>
              </a:solidFill>
            </a:endParaRPr>
          </a:p>
          <a:p>
            <a:pPr algn="ctr">
              <a:lnSpc>
                <a:spcPct val="95000"/>
              </a:lnSpc>
            </a:pPr>
            <a:r>
              <a:rPr lang="en-US" sz="3200" dirty="0" smtClean="0">
                <a:solidFill>
                  <a:srgbClr val="0033CC"/>
                </a:solidFill>
              </a:rPr>
              <a:t>saves time by </a:t>
            </a:r>
            <a:r>
              <a:rPr lang="en-US" sz="3200" i="1" dirty="0">
                <a:solidFill>
                  <a:srgbClr val="0033CC"/>
                </a:solidFill>
              </a:rPr>
              <a:t>reusing</a:t>
            </a:r>
            <a:r>
              <a:rPr lang="en-US" sz="3200" dirty="0">
                <a:solidFill>
                  <a:srgbClr val="0033CC"/>
                </a:solidFill>
              </a:rPr>
              <a:t> </a:t>
            </a:r>
            <a:r>
              <a:rPr lang="en-US" sz="3200" dirty="0" smtClean="0">
                <a:solidFill>
                  <a:srgbClr val="0033CC"/>
                </a:solidFill>
              </a:rPr>
              <a:t>the </a:t>
            </a:r>
            <a:r>
              <a:rPr lang="en-US" sz="3200" dirty="0">
                <a:solidFill>
                  <a:srgbClr val="0033CC"/>
                </a:solidFill>
              </a:rPr>
              <a:t>memory </a:t>
            </a:r>
            <a:endParaRPr lang="en-US" sz="3200" dirty="0" smtClean="0">
              <a:solidFill>
                <a:srgbClr val="0033CC"/>
              </a:solidFill>
            </a:endParaRPr>
          </a:p>
          <a:p>
            <a:pPr algn="ctr">
              <a:lnSpc>
                <a:spcPct val="95000"/>
              </a:lnSpc>
            </a:pPr>
            <a:r>
              <a:rPr lang="en-US" sz="3200" dirty="0" smtClean="0">
                <a:solidFill>
                  <a:srgbClr val="0033CC"/>
                </a:solidFill>
              </a:rPr>
              <a:t>space that a </a:t>
            </a:r>
            <a:r>
              <a:rPr lang="en-US" sz="3200" dirty="0">
                <a:solidFill>
                  <a:srgbClr val="0033CC"/>
                </a:solidFill>
              </a:rPr>
              <a:t>variable previously </a:t>
            </a:r>
            <a:r>
              <a:rPr lang="en-US" sz="3200" dirty="0" smtClean="0">
                <a:solidFill>
                  <a:srgbClr val="0033CC"/>
                </a:solidFill>
              </a:rPr>
              <a:t>had.</a:t>
            </a:r>
            <a:endParaRPr lang="en-US" sz="3200" dirty="0">
              <a:solidFill>
                <a:srgbClr val="0033CC"/>
              </a:solidFill>
            </a:endParaRPr>
          </a:p>
        </p:txBody>
      </p:sp>
    </p:spTree>
    <p:extLst>
      <p:ext uri="{BB962C8B-B14F-4D97-AF65-F5344CB8AC3E}">
        <p14:creationId xmlns:p14="http://schemas.microsoft.com/office/powerpoint/2010/main" val="1343779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a:bodyPr>
          <a:lstStyle/>
          <a:p>
            <a:r>
              <a:rPr lang="en-US" altLang="en-US" sz="4400" dirty="0">
                <a:solidFill>
                  <a:srgbClr val="0070C0"/>
                </a:solidFill>
              </a:rPr>
              <a:t>How Variables Are Stored</a:t>
            </a:r>
            <a:endParaRPr lang="en-US" altLang="en-US" sz="4400" dirty="0" smtClean="0">
              <a:solidFill>
                <a:srgbClr val="0070C0"/>
              </a:solidFill>
            </a:endParaRPr>
          </a:p>
        </p:txBody>
      </p:sp>
      <p:sp>
        <p:nvSpPr>
          <p:cNvPr id="16387" name="Content Placeholder 2"/>
          <p:cNvSpPr>
            <a:spLocks noGrp="1"/>
          </p:cNvSpPr>
          <p:nvPr>
            <p:ph idx="1"/>
          </p:nvPr>
        </p:nvSpPr>
        <p:spPr>
          <a:xfrm>
            <a:off x="196066" y="1166699"/>
            <a:ext cx="9324003" cy="5410335"/>
          </a:xfrm>
        </p:spPr>
        <p:txBody>
          <a:bodyPr>
            <a:noAutofit/>
          </a:bodyPr>
          <a:lstStyle/>
          <a:p>
            <a:r>
              <a:rPr lang="en-US" altLang="en-US" sz="3600" dirty="0">
                <a:solidFill>
                  <a:schemeClr val="bg1">
                    <a:lumMod val="75000"/>
                  </a:schemeClr>
                </a:solidFill>
              </a:rPr>
              <a:t>Variables are nothing more than reserved memory locations to store values. </a:t>
            </a:r>
          </a:p>
          <a:p>
            <a:pPr>
              <a:spcBef>
                <a:spcPts val="1651"/>
              </a:spcBef>
            </a:pPr>
            <a:r>
              <a:rPr lang="en-US" altLang="en-US" sz="3600" dirty="0">
                <a:solidFill>
                  <a:srgbClr val="00B050"/>
                </a:solidFill>
              </a:rPr>
              <a:t>In languages that use declarations (</a:t>
            </a:r>
            <a:r>
              <a:rPr lang="en-US" altLang="en-US" sz="3600" dirty="0" err="1">
                <a:solidFill>
                  <a:srgbClr val="00B050"/>
                </a:solidFill>
              </a:rPr>
              <a:t>eg</a:t>
            </a:r>
            <a:r>
              <a:rPr lang="en-US" altLang="en-US" sz="3600" dirty="0">
                <a:solidFill>
                  <a:srgbClr val="00B050"/>
                </a:solidFill>
              </a:rPr>
              <a:t>, C++):</a:t>
            </a:r>
            <a:endParaRPr lang="en-US" altLang="en-US" sz="3302" dirty="0">
              <a:solidFill>
                <a:srgbClr val="00B050"/>
              </a:solidFill>
            </a:endParaRPr>
          </a:p>
          <a:p>
            <a:pPr lvl="1">
              <a:spcBef>
                <a:spcPts val="0"/>
              </a:spcBef>
            </a:pPr>
            <a:r>
              <a:rPr lang="en-US" altLang="en-US" sz="3200" b="1" u="sng" dirty="0">
                <a:solidFill>
                  <a:srgbClr val="FF0000"/>
                </a:solidFill>
              </a:rPr>
              <a:t>Declaring</a:t>
            </a:r>
            <a:r>
              <a:rPr lang="en-US" altLang="en-US" sz="3027" dirty="0">
                <a:solidFill>
                  <a:srgbClr val="FF0000"/>
                </a:solidFill>
              </a:rPr>
              <a:t> a variable reserves a space in memory.</a:t>
            </a:r>
          </a:p>
          <a:p>
            <a:pPr lvl="1"/>
            <a:r>
              <a:rPr lang="en-US" altLang="en-US" sz="3027" dirty="0">
                <a:solidFill>
                  <a:schemeClr val="bg1"/>
                </a:solidFill>
              </a:rPr>
              <a:t>The declared data type of the variable determines how much memory will be allocated. </a:t>
            </a:r>
          </a:p>
          <a:p>
            <a:pPr>
              <a:spcBef>
                <a:spcPts val="1651"/>
              </a:spcBef>
            </a:pPr>
            <a:r>
              <a:rPr lang="en-US" altLang="en-US" sz="3600" dirty="0">
                <a:solidFill>
                  <a:srgbClr val="00B050"/>
                </a:solidFill>
              </a:rPr>
              <a:t>In languages without declarations (</a:t>
            </a:r>
            <a:r>
              <a:rPr lang="en-US" altLang="en-US" sz="3600" dirty="0" err="1">
                <a:solidFill>
                  <a:srgbClr val="00B050"/>
                </a:solidFill>
              </a:rPr>
              <a:t>eg</a:t>
            </a:r>
            <a:r>
              <a:rPr lang="en-US" altLang="en-US" sz="3600" dirty="0">
                <a:solidFill>
                  <a:srgbClr val="00B050"/>
                </a:solidFill>
              </a:rPr>
              <a:t>, Python):</a:t>
            </a:r>
          </a:p>
          <a:p>
            <a:pPr lvl="1">
              <a:spcBef>
                <a:spcPts val="0"/>
              </a:spcBef>
            </a:pPr>
            <a:r>
              <a:rPr lang="en-US" altLang="en-US" sz="3200" b="1" u="sng" dirty="0" smtClean="0">
                <a:solidFill>
                  <a:srgbClr val="FF0000"/>
                </a:solidFill>
              </a:rPr>
              <a:t>Assigning</a:t>
            </a:r>
            <a:r>
              <a:rPr lang="en-US" altLang="en-US" sz="3027" dirty="0" smtClean="0">
                <a:solidFill>
                  <a:srgbClr val="FF0000"/>
                </a:solidFill>
              </a:rPr>
              <a:t> </a:t>
            </a:r>
            <a:r>
              <a:rPr lang="en-US" altLang="en-US" sz="3027" dirty="0">
                <a:solidFill>
                  <a:srgbClr val="FF0000"/>
                </a:solidFill>
              </a:rPr>
              <a:t>to a variable reserves </a:t>
            </a:r>
            <a:r>
              <a:rPr lang="en-US" altLang="en-US" sz="3027" dirty="0" smtClean="0">
                <a:solidFill>
                  <a:srgbClr val="FF0000"/>
                </a:solidFill>
              </a:rPr>
              <a:t>its </a:t>
            </a:r>
            <a:r>
              <a:rPr lang="en-US" altLang="en-US" sz="3027" dirty="0">
                <a:solidFill>
                  <a:srgbClr val="FF0000"/>
                </a:solidFill>
              </a:rPr>
              <a:t>space in memory.</a:t>
            </a:r>
          </a:p>
          <a:p>
            <a:pPr lvl="1"/>
            <a:r>
              <a:rPr lang="en-US" altLang="en-US" sz="3027" dirty="0" smtClean="0">
                <a:solidFill>
                  <a:schemeClr val="bg1"/>
                </a:solidFill>
              </a:rPr>
              <a:t>What is being assigned </a:t>
            </a:r>
            <a:r>
              <a:rPr lang="en-US" altLang="en-US" sz="3027" dirty="0">
                <a:solidFill>
                  <a:schemeClr val="bg1"/>
                </a:solidFill>
              </a:rPr>
              <a:t>determines </a:t>
            </a:r>
            <a:r>
              <a:rPr lang="en-US" altLang="en-US" sz="3027" dirty="0" smtClean="0">
                <a:solidFill>
                  <a:schemeClr val="bg1"/>
                </a:solidFill>
              </a:rPr>
              <a:t>its type and size.</a:t>
            </a:r>
            <a:endParaRPr lang="en-US" altLang="en-US" sz="3027" dirty="0">
              <a:solidFill>
                <a:schemeClr val="bg1"/>
              </a:solidFill>
            </a:endParaRPr>
          </a:p>
        </p:txBody>
      </p:sp>
      <p:sp>
        <p:nvSpPr>
          <p:cNvPr id="4" name="Rounded Rectangular Callout 3"/>
          <p:cNvSpPr/>
          <p:nvPr/>
        </p:nvSpPr>
        <p:spPr>
          <a:xfrm>
            <a:off x="1205182" y="1128666"/>
            <a:ext cx="7305769" cy="2743200"/>
          </a:xfrm>
          <a:prstGeom prst="wedgeRoundRectCallout">
            <a:avLst>
              <a:gd name="adj1" fmla="val 25902"/>
              <a:gd name="adj2" fmla="val 9033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lnSpc>
                <a:spcPct val="95000"/>
              </a:lnSpc>
            </a:pPr>
            <a:r>
              <a:rPr lang="en-US" sz="3200" dirty="0">
                <a:solidFill>
                  <a:srgbClr val="0033CC"/>
                </a:solidFill>
              </a:rPr>
              <a:t>At least we choose to </a:t>
            </a:r>
            <a:r>
              <a:rPr lang="en-US" sz="3200" i="1" dirty="0" smtClean="0">
                <a:solidFill>
                  <a:srgbClr val="0033CC"/>
                </a:solidFill>
              </a:rPr>
              <a:t>think </a:t>
            </a:r>
            <a:r>
              <a:rPr lang="en-US" sz="3200" dirty="0" smtClean="0">
                <a:solidFill>
                  <a:srgbClr val="0033CC"/>
                </a:solidFill>
              </a:rPr>
              <a:t>of </a:t>
            </a:r>
            <a:r>
              <a:rPr lang="en-US" sz="3200" dirty="0">
                <a:solidFill>
                  <a:srgbClr val="0033CC"/>
                </a:solidFill>
              </a:rPr>
              <a:t>it this way. </a:t>
            </a:r>
            <a:br>
              <a:rPr lang="en-US" sz="3200" dirty="0">
                <a:solidFill>
                  <a:srgbClr val="0033CC"/>
                </a:solidFill>
              </a:rPr>
            </a:br>
            <a:r>
              <a:rPr lang="en-US" sz="3200" strike="sngStrike" dirty="0">
                <a:solidFill>
                  <a:srgbClr val="C3B17C"/>
                </a:solidFill>
              </a:rPr>
              <a:t>If we </a:t>
            </a:r>
            <a:r>
              <a:rPr lang="en-US" sz="3200" strike="sngStrike" dirty="0" smtClean="0">
                <a:solidFill>
                  <a:srgbClr val="C3B17C"/>
                </a:solidFill>
              </a:rPr>
              <a:t>looked </a:t>
            </a:r>
            <a:r>
              <a:rPr lang="en-US" sz="3200" strike="sngStrike" dirty="0">
                <a:solidFill>
                  <a:srgbClr val="C3B17C"/>
                </a:solidFill>
              </a:rPr>
              <a:t>at the technical </a:t>
            </a:r>
            <a:r>
              <a:rPr lang="en-US" sz="3200" strike="sngStrike" dirty="0" smtClean="0">
                <a:solidFill>
                  <a:srgbClr val="C3B17C"/>
                </a:solidFill>
              </a:rPr>
              <a:t>details,</a:t>
            </a:r>
          </a:p>
          <a:p>
            <a:pPr algn="ctr">
              <a:lnSpc>
                <a:spcPct val="95000"/>
              </a:lnSpc>
            </a:pPr>
            <a:r>
              <a:rPr lang="en-US" sz="3200" strike="sngStrike" dirty="0" smtClean="0">
                <a:solidFill>
                  <a:srgbClr val="C3B17C"/>
                </a:solidFill>
              </a:rPr>
              <a:t> </a:t>
            </a:r>
            <a:r>
              <a:rPr lang="en-US" sz="3200" strike="sngStrike" dirty="0">
                <a:solidFill>
                  <a:srgbClr val="C3B17C"/>
                </a:solidFill>
              </a:rPr>
              <a:t>we </a:t>
            </a:r>
            <a:r>
              <a:rPr lang="en-US" sz="3200" i="1" strike="sngStrike" dirty="0">
                <a:solidFill>
                  <a:srgbClr val="C3B17C"/>
                </a:solidFill>
              </a:rPr>
              <a:t>might</a:t>
            </a:r>
            <a:r>
              <a:rPr lang="en-US" sz="3200" strike="sngStrike" dirty="0">
                <a:solidFill>
                  <a:srgbClr val="C3B17C"/>
                </a:solidFill>
              </a:rPr>
              <a:t> find that </a:t>
            </a:r>
            <a:r>
              <a:rPr lang="en-US" sz="3200" strike="sngStrike" dirty="0" smtClean="0">
                <a:solidFill>
                  <a:srgbClr val="C3B17C"/>
                </a:solidFill>
              </a:rPr>
              <a:t>the </a:t>
            </a:r>
            <a:r>
              <a:rPr lang="en-US" sz="3200" strike="sngStrike" dirty="0">
                <a:solidFill>
                  <a:srgbClr val="C3B17C"/>
                </a:solidFill>
              </a:rPr>
              <a:t>interpreter </a:t>
            </a:r>
            <a:endParaRPr lang="en-US" sz="3200" strike="sngStrike" dirty="0" smtClean="0">
              <a:solidFill>
                <a:srgbClr val="C3B17C"/>
              </a:solidFill>
            </a:endParaRPr>
          </a:p>
          <a:p>
            <a:pPr algn="ctr">
              <a:lnSpc>
                <a:spcPct val="95000"/>
              </a:lnSpc>
            </a:pPr>
            <a:r>
              <a:rPr lang="en-US" sz="3200" strike="sngStrike" dirty="0" smtClean="0">
                <a:solidFill>
                  <a:srgbClr val="808699"/>
                </a:solidFill>
              </a:rPr>
              <a:t>saves time by </a:t>
            </a:r>
            <a:r>
              <a:rPr lang="en-US" sz="3200" i="1" strike="sngStrike" dirty="0">
                <a:solidFill>
                  <a:srgbClr val="808699"/>
                </a:solidFill>
              </a:rPr>
              <a:t>reusing</a:t>
            </a:r>
            <a:r>
              <a:rPr lang="en-US" sz="3200" strike="sngStrike" dirty="0">
                <a:solidFill>
                  <a:srgbClr val="808699"/>
                </a:solidFill>
              </a:rPr>
              <a:t> </a:t>
            </a:r>
            <a:r>
              <a:rPr lang="en-US" sz="3200" strike="sngStrike" dirty="0" smtClean="0">
                <a:solidFill>
                  <a:srgbClr val="C3B17C"/>
                </a:solidFill>
              </a:rPr>
              <a:t>the </a:t>
            </a:r>
            <a:r>
              <a:rPr lang="en-US" sz="3200" strike="sngStrike" dirty="0">
                <a:solidFill>
                  <a:srgbClr val="C3B17C"/>
                </a:solidFill>
              </a:rPr>
              <a:t>memory </a:t>
            </a:r>
            <a:endParaRPr lang="en-US" sz="3200" strike="sngStrike" dirty="0" smtClean="0">
              <a:solidFill>
                <a:srgbClr val="C3B17C"/>
              </a:solidFill>
            </a:endParaRPr>
          </a:p>
          <a:p>
            <a:pPr algn="ctr">
              <a:lnSpc>
                <a:spcPct val="95000"/>
              </a:lnSpc>
            </a:pPr>
            <a:r>
              <a:rPr lang="en-US" sz="3200" strike="sngStrike" dirty="0" smtClean="0">
                <a:solidFill>
                  <a:srgbClr val="C3B17C"/>
                </a:solidFill>
              </a:rPr>
              <a:t>space that a </a:t>
            </a:r>
            <a:r>
              <a:rPr lang="en-US" sz="3200" strike="sngStrike" dirty="0">
                <a:solidFill>
                  <a:srgbClr val="C3B17C"/>
                </a:solidFill>
              </a:rPr>
              <a:t>variable previously </a:t>
            </a:r>
            <a:r>
              <a:rPr lang="en-US" sz="3200" strike="sngStrike" dirty="0" smtClean="0">
                <a:solidFill>
                  <a:srgbClr val="C3B17C"/>
                </a:solidFill>
              </a:rPr>
              <a:t>had.</a:t>
            </a:r>
            <a:endParaRPr lang="en-US" sz="3200" strike="sngStrike" dirty="0">
              <a:solidFill>
                <a:srgbClr val="C3B17C"/>
              </a:solidFill>
            </a:endParaRPr>
          </a:p>
        </p:txBody>
      </p:sp>
      <p:sp>
        <p:nvSpPr>
          <p:cNvPr id="6" name="Rounded Rectangular Callout 5"/>
          <p:cNvSpPr/>
          <p:nvPr/>
        </p:nvSpPr>
        <p:spPr>
          <a:xfrm>
            <a:off x="1207294" y="3581400"/>
            <a:ext cx="7305769" cy="1447800"/>
          </a:xfrm>
          <a:prstGeom prst="wedgeRoundRectCallout">
            <a:avLst>
              <a:gd name="adj1" fmla="val -25078"/>
              <a:gd name="adj2" fmla="val -89868"/>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lnSpc>
                <a:spcPct val="95000"/>
              </a:lnSpc>
            </a:pPr>
            <a:r>
              <a:rPr lang="en-US" sz="3200" dirty="0" smtClean="0">
                <a:solidFill>
                  <a:srgbClr val="0033CC"/>
                </a:solidFill>
              </a:rPr>
              <a:t>Maybe the </a:t>
            </a:r>
            <a:r>
              <a:rPr lang="en-US" sz="3200" dirty="0">
                <a:solidFill>
                  <a:srgbClr val="0033CC"/>
                </a:solidFill>
              </a:rPr>
              <a:t>interpreter </a:t>
            </a:r>
            <a:r>
              <a:rPr lang="en-US" sz="3200" dirty="0" smtClean="0">
                <a:solidFill>
                  <a:srgbClr val="0033CC"/>
                </a:solidFill>
              </a:rPr>
              <a:t>saves time this way.</a:t>
            </a:r>
            <a:br>
              <a:rPr lang="en-US" sz="3200" dirty="0" smtClean="0">
                <a:solidFill>
                  <a:srgbClr val="0033CC"/>
                </a:solidFill>
              </a:rPr>
            </a:br>
            <a:r>
              <a:rPr lang="en-US" sz="3200" dirty="0" smtClean="0">
                <a:solidFill>
                  <a:srgbClr val="0033CC"/>
                </a:solidFill>
              </a:rPr>
              <a:t>But we choose to think of each assignment</a:t>
            </a:r>
            <a:br>
              <a:rPr lang="en-US" sz="3200" dirty="0" smtClean="0">
                <a:solidFill>
                  <a:srgbClr val="0033CC"/>
                </a:solidFill>
              </a:rPr>
            </a:br>
            <a:r>
              <a:rPr lang="en-US" sz="3200" dirty="0" smtClean="0">
                <a:solidFill>
                  <a:srgbClr val="0033CC"/>
                </a:solidFill>
              </a:rPr>
              <a:t>as reserving a </a:t>
            </a:r>
            <a:r>
              <a:rPr lang="en-US" sz="3200" dirty="0">
                <a:solidFill>
                  <a:srgbClr val="0033CC"/>
                </a:solidFill>
              </a:rPr>
              <a:t>new </a:t>
            </a:r>
            <a:r>
              <a:rPr lang="en-US" sz="3200" dirty="0" smtClean="0">
                <a:solidFill>
                  <a:srgbClr val="0033CC"/>
                </a:solidFill>
              </a:rPr>
              <a:t>space in memory</a:t>
            </a:r>
            <a:r>
              <a:rPr lang="en-US" sz="3200" dirty="0">
                <a:solidFill>
                  <a:srgbClr val="0033CC"/>
                </a:solidFill>
              </a:rPr>
              <a:t>.</a:t>
            </a:r>
          </a:p>
        </p:txBody>
      </p:sp>
    </p:spTree>
    <p:extLst>
      <p:ext uri="{BB962C8B-B14F-4D97-AF65-F5344CB8AC3E}">
        <p14:creationId xmlns:p14="http://schemas.microsoft.com/office/powerpoint/2010/main" val="838904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par>
                                <p:cTn id="13" presetID="14" presetClass="exit" presetSubtype="10" fill="hold" grpId="1" nodeType="withEffect">
                                  <p:stCondLst>
                                    <p:cond delay="0"/>
                                  </p:stCondLst>
                                  <p:childTnLst>
                                    <p:animEffect transition="out" filter="randombar(horizontal)">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6" grpId="1"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a:bodyPr>
          <a:lstStyle/>
          <a:p>
            <a:r>
              <a:rPr lang="en-US" altLang="en-US" sz="4400" dirty="0">
                <a:solidFill>
                  <a:srgbClr val="0070C0"/>
                </a:solidFill>
              </a:rPr>
              <a:t>How Variables Are Stored</a:t>
            </a:r>
            <a:endParaRPr lang="en-US" altLang="en-US" sz="4400" dirty="0" smtClean="0">
              <a:solidFill>
                <a:srgbClr val="0070C0"/>
              </a:solidFill>
            </a:endParaRPr>
          </a:p>
        </p:txBody>
      </p:sp>
      <p:sp>
        <p:nvSpPr>
          <p:cNvPr id="16387" name="Content Placeholder 2"/>
          <p:cNvSpPr>
            <a:spLocks noGrp="1"/>
          </p:cNvSpPr>
          <p:nvPr>
            <p:ph idx="1"/>
          </p:nvPr>
        </p:nvSpPr>
        <p:spPr>
          <a:xfrm>
            <a:off x="196066" y="1166699"/>
            <a:ext cx="9324003" cy="5410335"/>
          </a:xfrm>
        </p:spPr>
        <p:txBody>
          <a:bodyPr>
            <a:noAutofit/>
          </a:bodyPr>
          <a:lstStyle/>
          <a:p>
            <a:r>
              <a:rPr lang="en-US" altLang="en-US" sz="3600" dirty="0">
                <a:solidFill>
                  <a:schemeClr val="bg1">
                    <a:lumMod val="75000"/>
                  </a:schemeClr>
                </a:solidFill>
              </a:rPr>
              <a:t>Variables are nothing more than reserved memory locations to store values. </a:t>
            </a:r>
          </a:p>
          <a:p>
            <a:pPr>
              <a:spcBef>
                <a:spcPts val="1651"/>
              </a:spcBef>
            </a:pPr>
            <a:r>
              <a:rPr lang="en-US" altLang="en-US" sz="3600" dirty="0">
                <a:solidFill>
                  <a:srgbClr val="00B050"/>
                </a:solidFill>
              </a:rPr>
              <a:t>In languages that use declarations (</a:t>
            </a:r>
            <a:r>
              <a:rPr lang="en-US" altLang="en-US" sz="3600" dirty="0" err="1">
                <a:solidFill>
                  <a:srgbClr val="00B050"/>
                </a:solidFill>
              </a:rPr>
              <a:t>eg</a:t>
            </a:r>
            <a:r>
              <a:rPr lang="en-US" altLang="en-US" sz="3600" dirty="0">
                <a:solidFill>
                  <a:srgbClr val="00B050"/>
                </a:solidFill>
              </a:rPr>
              <a:t>, C++):</a:t>
            </a:r>
            <a:endParaRPr lang="en-US" altLang="en-US" sz="3302" dirty="0">
              <a:solidFill>
                <a:srgbClr val="00B050"/>
              </a:solidFill>
            </a:endParaRPr>
          </a:p>
          <a:p>
            <a:pPr lvl="1">
              <a:spcBef>
                <a:spcPts val="0"/>
              </a:spcBef>
            </a:pPr>
            <a:r>
              <a:rPr lang="en-US" altLang="en-US" sz="3200" b="1" u="sng" dirty="0">
                <a:solidFill>
                  <a:schemeClr val="bg1">
                    <a:lumMod val="50000"/>
                  </a:schemeClr>
                </a:solidFill>
              </a:rPr>
              <a:t>Declaring</a:t>
            </a:r>
            <a:r>
              <a:rPr lang="en-US" altLang="en-US" sz="3027" dirty="0">
                <a:solidFill>
                  <a:schemeClr val="bg1">
                    <a:lumMod val="50000"/>
                  </a:schemeClr>
                </a:solidFill>
              </a:rPr>
              <a:t> a variable reserves a space in memory.</a:t>
            </a:r>
          </a:p>
          <a:p>
            <a:pPr lvl="1"/>
            <a:r>
              <a:rPr lang="en-US" altLang="en-US" sz="3027" dirty="0">
                <a:solidFill>
                  <a:srgbClr val="FF0000"/>
                </a:solidFill>
              </a:rPr>
              <a:t>The declared data type of the variable determines how much memory will be allocated. </a:t>
            </a:r>
          </a:p>
          <a:p>
            <a:pPr>
              <a:spcBef>
                <a:spcPts val="1651"/>
              </a:spcBef>
            </a:pPr>
            <a:r>
              <a:rPr lang="en-US" altLang="en-US" sz="3600" dirty="0">
                <a:solidFill>
                  <a:srgbClr val="00B050"/>
                </a:solidFill>
              </a:rPr>
              <a:t>In languages without declarations (</a:t>
            </a:r>
            <a:r>
              <a:rPr lang="en-US" altLang="en-US" sz="3600" dirty="0" err="1">
                <a:solidFill>
                  <a:srgbClr val="00B050"/>
                </a:solidFill>
              </a:rPr>
              <a:t>eg</a:t>
            </a:r>
            <a:r>
              <a:rPr lang="en-US" altLang="en-US" sz="3600" dirty="0">
                <a:solidFill>
                  <a:srgbClr val="00B050"/>
                </a:solidFill>
              </a:rPr>
              <a:t>, Python):</a:t>
            </a:r>
          </a:p>
          <a:p>
            <a:pPr lvl="1">
              <a:spcBef>
                <a:spcPts val="0"/>
              </a:spcBef>
            </a:pPr>
            <a:r>
              <a:rPr lang="en-US" altLang="en-US" sz="3200" b="1" u="sng" dirty="0" smtClean="0">
                <a:solidFill>
                  <a:schemeClr val="bg1">
                    <a:lumMod val="50000"/>
                  </a:schemeClr>
                </a:solidFill>
              </a:rPr>
              <a:t>Assigning</a:t>
            </a:r>
            <a:r>
              <a:rPr lang="en-US" altLang="en-US" sz="3027" dirty="0" smtClean="0">
                <a:solidFill>
                  <a:schemeClr val="bg1">
                    <a:lumMod val="50000"/>
                  </a:schemeClr>
                </a:solidFill>
              </a:rPr>
              <a:t> </a:t>
            </a:r>
            <a:r>
              <a:rPr lang="en-US" altLang="en-US" sz="3027" dirty="0">
                <a:solidFill>
                  <a:schemeClr val="bg1">
                    <a:lumMod val="50000"/>
                  </a:schemeClr>
                </a:solidFill>
              </a:rPr>
              <a:t>to a variable reserves </a:t>
            </a:r>
            <a:r>
              <a:rPr lang="en-US" altLang="en-US" sz="3027" dirty="0" smtClean="0">
                <a:solidFill>
                  <a:schemeClr val="bg1">
                    <a:lumMod val="50000"/>
                  </a:schemeClr>
                </a:solidFill>
              </a:rPr>
              <a:t>its </a:t>
            </a:r>
            <a:r>
              <a:rPr lang="en-US" altLang="en-US" sz="3027" dirty="0">
                <a:solidFill>
                  <a:schemeClr val="bg1">
                    <a:lumMod val="50000"/>
                  </a:schemeClr>
                </a:solidFill>
              </a:rPr>
              <a:t>space in memory.</a:t>
            </a:r>
          </a:p>
          <a:p>
            <a:pPr lvl="1"/>
            <a:r>
              <a:rPr lang="en-US" altLang="en-US" sz="3027" dirty="0" smtClean="0">
                <a:solidFill>
                  <a:srgbClr val="FF0000"/>
                </a:solidFill>
              </a:rPr>
              <a:t>W</a:t>
            </a:r>
            <a:r>
              <a:rPr lang="en-US" altLang="en-US" sz="3027" spc="-100" dirty="0" smtClean="0">
                <a:solidFill>
                  <a:srgbClr val="FF0000"/>
                </a:solidFill>
              </a:rPr>
              <a:t>h</a:t>
            </a:r>
            <a:r>
              <a:rPr lang="en-US" altLang="en-US" sz="3027" dirty="0" smtClean="0">
                <a:solidFill>
                  <a:srgbClr val="FF0000"/>
                </a:solidFill>
              </a:rPr>
              <a:t>a</a:t>
            </a:r>
            <a:r>
              <a:rPr lang="en-US" altLang="en-US" sz="3027" spc="-100" dirty="0" smtClean="0">
                <a:solidFill>
                  <a:srgbClr val="FF0000"/>
                </a:solidFill>
              </a:rPr>
              <a:t>t’</a:t>
            </a:r>
            <a:r>
              <a:rPr lang="en-US" altLang="en-US" sz="3027" dirty="0" smtClean="0">
                <a:solidFill>
                  <a:srgbClr val="FF0000"/>
                </a:solidFill>
              </a:rPr>
              <a:t>s</a:t>
            </a:r>
            <a:r>
              <a:rPr lang="en-US" altLang="en-US" sz="2800" dirty="0" smtClean="0">
                <a:solidFill>
                  <a:srgbClr val="FF0000"/>
                </a:solidFill>
              </a:rPr>
              <a:t> </a:t>
            </a:r>
            <a:r>
              <a:rPr lang="en-US" altLang="en-US" sz="3027" spc="-70" dirty="0" smtClean="0">
                <a:solidFill>
                  <a:srgbClr val="FF0000"/>
                </a:solidFill>
              </a:rPr>
              <a:t>bein</a:t>
            </a:r>
            <a:r>
              <a:rPr lang="en-US" altLang="en-US" sz="3027" dirty="0" smtClean="0">
                <a:solidFill>
                  <a:srgbClr val="FF0000"/>
                </a:solidFill>
              </a:rPr>
              <a:t>g</a:t>
            </a:r>
            <a:r>
              <a:rPr lang="en-US" altLang="en-US" sz="2800" dirty="0" smtClean="0">
                <a:solidFill>
                  <a:srgbClr val="FF0000"/>
                </a:solidFill>
              </a:rPr>
              <a:t> </a:t>
            </a:r>
            <a:r>
              <a:rPr lang="en-US" altLang="en-US" sz="3027" dirty="0" smtClean="0">
                <a:solidFill>
                  <a:srgbClr val="FF0000"/>
                </a:solidFill>
              </a:rPr>
              <a:t>assi</a:t>
            </a:r>
            <a:r>
              <a:rPr lang="en-US" altLang="en-US" sz="3027" spc="-40" dirty="0" smtClean="0">
                <a:solidFill>
                  <a:srgbClr val="FF0000"/>
                </a:solidFill>
              </a:rPr>
              <a:t>gned</a:t>
            </a:r>
            <a:r>
              <a:rPr lang="en-US" altLang="en-US" sz="2800" spc="-40" dirty="0" smtClean="0">
                <a:solidFill>
                  <a:srgbClr val="FF0000"/>
                </a:solidFill>
              </a:rPr>
              <a:t> </a:t>
            </a:r>
            <a:r>
              <a:rPr lang="en-US" altLang="en-US" sz="3027" spc="-40" dirty="0">
                <a:solidFill>
                  <a:srgbClr val="FF0000"/>
                </a:solidFill>
              </a:rPr>
              <a:t>d</a:t>
            </a:r>
            <a:r>
              <a:rPr lang="en-US" altLang="en-US" sz="3027" dirty="0">
                <a:solidFill>
                  <a:srgbClr val="FF0000"/>
                </a:solidFill>
              </a:rPr>
              <a:t>et</a:t>
            </a:r>
            <a:r>
              <a:rPr lang="en-US" altLang="en-US" sz="3027" spc="-40" dirty="0">
                <a:solidFill>
                  <a:srgbClr val="FF0000"/>
                </a:solidFill>
              </a:rPr>
              <a:t>e</a:t>
            </a:r>
            <a:r>
              <a:rPr lang="en-US" altLang="en-US" sz="3027" dirty="0">
                <a:solidFill>
                  <a:srgbClr val="FF0000"/>
                </a:solidFill>
              </a:rPr>
              <a:t>r</a:t>
            </a:r>
            <a:r>
              <a:rPr lang="en-US" altLang="en-US" sz="3027" spc="-40" dirty="0">
                <a:solidFill>
                  <a:srgbClr val="FF0000"/>
                </a:solidFill>
              </a:rPr>
              <a:t>min</a:t>
            </a:r>
            <a:r>
              <a:rPr lang="en-US" altLang="en-US" sz="3027" dirty="0">
                <a:solidFill>
                  <a:srgbClr val="FF0000"/>
                </a:solidFill>
              </a:rPr>
              <a:t>es</a:t>
            </a:r>
            <a:r>
              <a:rPr lang="en-US" altLang="en-US" sz="2800" dirty="0">
                <a:solidFill>
                  <a:srgbClr val="FF0000"/>
                </a:solidFill>
              </a:rPr>
              <a:t> </a:t>
            </a:r>
            <a:r>
              <a:rPr lang="en-US" altLang="en-US" sz="3027" dirty="0" smtClean="0">
                <a:solidFill>
                  <a:srgbClr val="FF0000"/>
                </a:solidFill>
              </a:rPr>
              <a:t>its</a:t>
            </a:r>
            <a:r>
              <a:rPr lang="en-US" altLang="en-US" sz="2800" dirty="0" smtClean="0">
                <a:solidFill>
                  <a:srgbClr val="FF0000"/>
                </a:solidFill>
              </a:rPr>
              <a:t> </a:t>
            </a:r>
            <a:r>
              <a:rPr lang="en-US" altLang="en-US" sz="3027" dirty="0" smtClean="0">
                <a:solidFill>
                  <a:srgbClr val="FF0000"/>
                </a:solidFill>
              </a:rPr>
              <a:t>t</a:t>
            </a:r>
            <a:r>
              <a:rPr lang="en-US" altLang="en-US" sz="3027" spc="-40" dirty="0" smtClean="0">
                <a:solidFill>
                  <a:srgbClr val="FF0000"/>
                </a:solidFill>
              </a:rPr>
              <a:t>ype</a:t>
            </a:r>
            <a:r>
              <a:rPr lang="en-US" altLang="en-US" sz="2800" spc="-40" dirty="0" smtClean="0">
                <a:solidFill>
                  <a:srgbClr val="FF0000"/>
                </a:solidFill>
              </a:rPr>
              <a:t> </a:t>
            </a:r>
            <a:r>
              <a:rPr lang="en-US" altLang="en-US" sz="3027" spc="-40" dirty="0" smtClean="0">
                <a:solidFill>
                  <a:srgbClr val="FF0000"/>
                </a:solidFill>
              </a:rPr>
              <a:t>an</a:t>
            </a:r>
            <a:r>
              <a:rPr lang="en-US" altLang="en-US" sz="3027" dirty="0" smtClean="0">
                <a:solidFill>
                  <a:srgbClr val="FF0000"/>
                </a:solidFill>
              </a:rPr>
              <a:t>d</a:t>
            </a:r>
            <a:r>
              <a:rPr lang="en-US" altLang="en-US" sz="2800" dirty="0" smtClean="0">
                <a:solidFill>
                  <a:srgbClr val="FF0000"/>
                </a:solidFill>
              </a:rPr>
              <a:t> </a:t>
            </a:r>
            <a:r>
              <a:rPr lang="en-US" altLang="en-US" sz="3027" dirty="0" smtClean="0">
                <a:solidFill>
                  <a:srgbClr val="FF0000"/>
                </a:solidFill>
              </a:rPr>
              <a:t>t</a:t>
            </a:r>
            <a:r>
              <a:rPr lang="en-US" altLang="en-US" sz="3027" spc="-100" dirty="0" smtClean="0">
                <a:solidFill>
                  <a:srgbClr val="FF0000"/>
                </a:solidFill>
              </a:rPr>
              <a:t>h</a:t>
            </a:r>
            <a:r>
              <a:rPr lang="en-US" altLang="en-US" sz="3027" dirty="0" smtClean="0">
                <a:solidFill>
                  <a:srgbClr val="FF0000"/>
                </a:solidFill>
              </a:rPr>
              <a:t>u</a:t>
            </a:r>
            <a:r>
              <a:rPr lang="en-US" altLang="en-US" sz="3027" spc="-200" dirty="0" smtClean="0">
                <a:solidFill>
                  <a:srgbClr val="FF0000"/>
                </a:solidFill>
              </a:rPr>
              <a:t>s</a:t>
            </a:r>
            <a:r>
              <a:rPr lang="en-US" altLang="en-US" sz="3027" dirty="0" smtClean="0">
                <a:solidFill>
                  <a:srgbClr val="FF0000"/>
                </a:solidFill>
              </a:rPr>
              <a:t>,</a:t>
            </a:r>
            <a:r>
              <a:rPr lang="en-US" altLang="en-US" sz="2400" dirty="0" smtClean="0">
                <a:solidFill>
                  <a:srgbClr val="FF0000"/>
                </a:solidFill>
              </a:rPr>
              <a:t> </a:t>
            </a:r>
            <a:r>
              <a:rPr lang="en-US" altLang="en-US" sz="3027" dirty="0" smtClean="0">
                <a:solidFill>
                  <a:srgbClr val="FF0000"/>
                </a:solidFill>
              </a:rPr>
              <a:t>siz</a:t>
            </a:r>
            <a:r>
              <a:rPr lang="en-US" altLang="en-US" sz="3027" spc="-200" dirty="0" smtClean="0">
                <a:solidFill>
                  <a:srgbClr val="FF0000"/>
                </a:solidFill>
              </a:rPr>
              <a:t>e.</a:t>
            </a:r>
            <a:endParaRPr lang="en-US" altLang="en-US" sz="3027" spc="-200" dirty="0">
              <a:solidFill>
                <a:srgbClr val="FF0000"/>
              </a:solidFill>
            </a:endParaRPr>
          </a:p>
        </p:txBody>
      </p:sp>
    </p:spTree>
    <p:extLst>
      <p:ext uri="{BB962C8B-B14F-4D97-AF65-F5344CB8AC3E}">
        <p14:creationId xmlns:p14="http://schemas.microsoft.com/office/powerpoint/2010/main" val="406744782"/>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a:bodyPr>
          <a:lstStyle/>
          <a:p>
            <a:r>
              <a:rPr lang="en-US" altLang="en-US" sz="4400" dirty="0">
                <a:solidFill>
                  <a:srgbClr val="0070C0"/>
                </a:solidFill>
              </a:rPr>
              <a:t>How Variables Are Stored</a:t>
            </a:r>
            <a:endParaRPr lang="en-US" altLang="en-US" sz="4400" dirty="0" smtClean="0">
              <a:solidFill>
                <a:srgbClr val="0070C0"/>
              </a:solidFill>
            </a:endParaRPr>
          </a:p>
        </p:txBody>
      </p:sp>
      <p:sp>
        <p:nvSpPr>
          <p:cNvPr id="16387" name="Content Placeholder 2"/>
          <p:cNvSpPr>
            <a:spLocks noGrp="1"/>
          </p:cNvSpPr>
          <p:nvPr>
            <p:ph idx="1"/>
          </p:nvPr>
        </p:nvSpPr>
        <p:spPr>
          <a:xfrm>
            <a:off x="196066" y="1166699"/>
            <a:ext cx="9324003" cy="5410335"/>
          </a:xfrm>
        </p:spPr>
        <p:txBody>
          <a:bodyPr>
            <a:noAutofit/>
          </a:bodyPr>
          <a:lstStyle/>
          <a:p>
            <a:r>
              <a:rPr lang="en-US" altLang="en-US" sz="3600" dirty="0">
                <a:solidFill>
                  <a:schemeClr val="bg1">
                    <a:lumMod val="75000"/>
                  </a:schemeClr>
                </a:solidFill>
              </a:rPr>
              <a:t>Variables are nothing more than reserved memory locations to store values. </a:t>
            </a:r>
          </a:p>
          <a:p>
            <a:pPr>
              <a:spcBef>
                <a:spcPts val="1651"/>
              </a:spcBef>
            </a:pPr>
            <a:r>
              <a:rPr lang="en-US" altLang="en-US" sz="3600" dirty="0">
                <a:solidFill>
                  <a:schemeClr val="bg1">
                    <a:lumMod val="75000"/>
                  </a:schemeClr>
                </a:solidFill>
              </a:rPr>
              <a:t>In languages that use declarations (</a:t>
            </a:r>
            <a:r>
              <a:rPr lang="en-US" altLang="en-US" sz="3600" dirty="0" err="1">
                <a:solidFill>
                  <a:schemeClr val="bg1">
                    <a:lumMod val="75000"/>
                  </a:schemeClr>
                </a:solidFill>
              </a:rPr>
              <a:t>eg</a:t>
            </a:r>
            <a:r>
              <a:rPr lang="en-US" altLang="en-US" sz="3600" dirty="0">
                <a:solidFill>
                  <a:schemeClr val="bg1">
                    <a:lumMod val="75000"/>
                  </a:schemeClr>
                </a:solidFill>
              </a:rPr>
              <a:t>, C++):</a:t>
            </a:r>
            <a:endParaRPr lang="en-US" altLang="en-US" sz="3302" dirty="0">
              <a:solidFill>
                <a:schemeClr val="bg1">
                  <a:lumMod val="75000"/>
                </a:schemeClr>
              </a:solidFill>
            </a:endParaRPr>
          </a:p>
          <a:p>
            <a:pPr lvl="1">
              <a:spcBef>
                <a:spcPts val="0"/>
              </a:spcBef>
            </a:pPr>
            <a:r>
              <a:rPr lang="en-US" altLang="en-US" sz="3200" b="1" u="sng" dirty="0">
                <a:solidFill>
                  <a:schemeClr val="bg1">
                    <a:lumMod val="75000"/>
                  </a:schemeClr>
                </a:solidFill>
              </a:rPr>
              <a:t>Declaring</a:t>
            </a:r>
            <a:r>
              <a:rPr lang="en-US" altLang="en-US" sz="3027" dirty="0">
                <a:solidFill>
                  <a:schemeClr val="bg1">
                    <a:lumMod val="75000"/>
                  </a:schemeClr>
                </a:solidFill>
              </a:rPr>
              <a:t> a variable reserves a space in memory.</a:t>
            </a:r>
          </a:p>
          <a:p>
            <a:pPr lvl="1"/>
            <a:r>
              <a:rPr lang="en-US" altLang="en-US" sz="3027" dirty="0">
                <a:solidFill>
                  <a:schemeClr val="bg1">
                    <a:lumMod val="75000"/>
                  </a:schemeClr>
                </a:solidFill>
              </a:rPr>
              <a:t>The declared data type of the variable determines how much memory will be allocated. </a:t>
            </a:r>
          </a:p>
          <a:p>
            <a:pPr>
              <a:spcBef>
                <a:spcPts val="1651"/>
              </a:spcBef>
            </a:pPr>
            <a:r>
              <a:rPr lang="en-US" altLang="en-US" sz="3600" dirty="0">
                <a:solidFill>
                  <a:srgbClr val="00B050"/>
                </a:solidFill>
              </a:rPr>
              <a:t>In languages without declarations (</a:t>
            </a:r>
            <a:r>
              <a:rPr lang="en-US" altLang="en-US" sz="3600" dirty="0" err="1">
                <a:solidFill>
                  <a:srgbClr val="00B050"/>
                </a:solidFill>
              </a:rPr>
              <a:t>eg</a:t>
            </a:r>
            <a:r>
              <a:rPr lang="en-US" altLang="en-US" sz="3600" dirty="0">
                <a:solidFill>
                  <a:srgbClr val="00B050"/>
                </a:solidFill>
              </a:rPr>
              <a:t>, Python):</a:t>
            </a:r>
          </a:p>
          <a:p>
            <a:pPr lvl="1">
              <a:spcBef>
                <a:spcPts val="0"/>
              </a:spcBef>
            </a:pPr>
            <a:r>
              <a:rPr lang="en-US" altLang="en-US" sz="3200" b="1" u="sng" dirty="0" smtClean="0">
                <a:solidFill>
                  <a:schemeClr val="bg1">
                    <a:lumMod val="50000"/>
                  </a:schemeClr>
                </a:solidFill>
              </a:rPr>
              <a:t>Assigning</a:t>
            </a:r>
            <a:r>
              <a:rPr lang="en-US" altLang="en-US" sz="3027" dirty="0" smtClean="0">
                <a:solidFill>
                  <a:schemeClr val="bg1">
                    <a:lumMod val="50000"/>
                  </a:schemeClr>
                </a:solidFill>
              </a:rPr>
              <a:t> </a:t>
            </a:r>
            <a:r>
              <a:rPr lang="en-US" altLang="en-US" sz="3027" dirty="0">
                <a:solidFill>
                  <a:schemeClr val="bg1">
                    <a:lumMod val="50000"/>
                  </a:schemeClr>
                </a:solidFill>
              </a:rPr>
              <a:t>to a variable reserves </a:t>
            </a:r>
            <a:r>
              <a:rPr lang="en-US" altLang="en-US" sz="3027" dirty="0" smtClean="0">
                <a:solidFill>
                  <a:schemeClr val="bg1">
                    <a:lumMod val="50000"/>
                  </a:schemeClr>
                </a:solidFill>
              </a:rPr>
              <a:t>its </a:t>
            </a:r>
            <a:r>
              <a:rPr lang="en-US" altLang="en-US" sz="3027" dirty="0">
                <a:solidFill>
                  <a:schemeClr val="bg1">
                    <a:lumMod val="50000"/>
                  </a:schemeClr>
                </a:solidFill>
              </a:rPr>
              <a:t>space in memory.</a:t>
            </a:r>
          </a:p>
          <a:p>
            <a:pPr lvl="1"/>
            <a:r>
              <a:rPr lang="en-US" altLang="en-US" sz="3027" dirty="0">
                <a:solidFill>
                  <a:srgbClr val="FF0000"/>
                </a:solidFill>
              </a:rPr>
              <a:t>W</a:t>
            </a:r>
            <a:r>
              <a:rPr lang="en-US" altLang="en-US" sz="3027" spc="-100" dirty="0">
                <a:solidFill>
                  <a:srgbClr val="FF0000"/>
                </a:solidFill>
              </a:rPr>
              <a:t>h</a:t>
            </a:r>
            <a:r>
              <a:rPr lang="en-US" altLang="en-US" sz="3027" dirty="0">
                <a:solidFill>
                  <a:srgbClr val="FF0000"/>
                </a:solidFill>
              </a:rPr>
              <a:t>a</a:t>
            </a:r>
            <a:r>
              <a:rPr lang="en-US" altLang="en-US" sz="3027" spc="-100" dirty="0">
                <a:solidFill>
                  <a:srgbClr val="FF0000"/>
                </a:solidFill>
              </a:rPr>
              <a:t>t’</a:t>
            </a:r>
            <a:r>
              <a:rPr lang="en-US" altLang="en-US" sz="3027" dirty="0">
                <a:solidFill>
                  <a:srgbClr val="FF0000"/>
                </a:solidFill>
              </a:rPr>
              <a:t>s</a:t>
            </a:r>
            <a:r>
              <a:rPr lang="en-US" altLang="en-US" sz="2800" dirty="0">
                <a:solidFill>
                  <a:srgbClr val="FF0000"/>
                </a:solidFill>
              </a:rPr>
              <a:t> </a:t>
            </a:r>
            <a:r>
              <a:rPr lang="en-US" altLang="en-US" sz="3027" spc="-70" dirty="0">
                <a:solidFill>
                  <a:srgbClr val="FF0000"/>
                </a:solidFill>
              </a:rPr>
              <a:t>bein</a:t>
            </a:r>
            <a:r>
              <a:rPr lang="en-US" altLang="en-US" sz="3027" dirty="0">
                <a:solidFill>
                  <a:srgbClr val="FF0000"/>
                </a:solidFill>
              </a:rPr>
              <a:t>g</a:t>
            </a:r>
            <a:r>
              <a:rPr lang="en-US" altLang="en-US" sz="2800" dirty="0">
                <a:solidFill>
                  <a:srgbClr val="FF0000"/>
                </a:solidFill>
              </a:rPr>
              <a:t> </a:t>
            </a:r>
            <a:r>
              <a:rPr lang="en-US" altLang="en-US" sz="3027" dirty="0">
                <a:solidFill>
                  <a:srgbClr val="FF0000"/>
                </a:solidFill>
              </a:rPr>
              <a:t>assi</a:t>
            </a:r>
            <a:r>
              <a:rPr lang="en-US" altLang="en-US" sz="3027" spc="-40" dirty="0">
                <a:solidFill>
                  <a:srgbClr val="FF0000"/>
                </a:solidFill>
              </a:rPr>
              <a:t>gned</a:t>
            </a:r>
            <a:r>
              <a:rPr lang="en-US" altLang="en-US" sz="2800" spc="-40" dirty="0">
                <a:solidFill>
                  <a:srgbClr val="FF0000"/>
                </a:solidFill>
              </a:rPr>
              <a:t> </a:t>
            </a:r>
            <a:r>
              <a:rPr lang="en-US" altLang="en-US" sz="3027" spc="-40" dirty="0">
                <a:solidFill>
                  <a:srgbClr val="FF0000"/>
                </a:solidFill>
              </a:rPr>
              <a:t>d</a:t>
            </a:r>
            <a:r>
              <a:rPr lang="en-US" altLang="en-US" sz="3027" dirty="0">
                <a:solidFill>
                  <a:srgbClr val="FF0000"/>
                </a:solidFill>
              </a:rPr>
              <a:t>et</a:t>
            </a:r>
            <a:r>
              <a:rPr lang="en-US" altLang="en-US" sz="3027" spc="-40" dirty="0">
                <a:solidFill>
                  <a:srgbClr val="FF0000"/>
                </a:solidFill>
              </a:rPr>
              <a:t>e</a:t>
            </a:r>
            <a:r>
              <a:rPr lang="en-US" altLang="en-US" sz="3027" dirty="0">
                <a:solidFill>
                  <a:srgbClr val="FF0000"/>
                </a:solidFill>
              </a:rPr>
              <a:t>r</a:t>
            </a:r>
            <a:r>
              <a:rPr lang="en-US" altLang="en-US" sz="3027" spc="-40" dirty="0">
                <a:solidFill>
                  <a:srgbClr val="FF0000"/>
                </a:solidFill>
              </a:rPr>
              <a:t>min</a:t>
            </a:r>
            <a:r>
              <a:rPr lang="en-US" altLang="en-US" sz="3027" dirty="0">
                <a:solidFill>
                  <a:srgbClr val="FF0000"/>
                </a:solidFill>
              </a:rPr>
              <a:t>es</a:t>
            </a:r>
            <a:r>
              <a:rPr lang="en-US" altLang="en-US" sz="2800" dirty="0">
                <a:solidFill>
                  <a:srgbClr val="FF0000"/>
                </a:solidFill>
              </a:rPr>
              <a:t> </a:t>
            </a:r>
            <a:r>
              <a:rPr lang="en-US" altLang="en-US" sz="3027" dirty="0">
                <a:solidFill>
                  <a:srgbClr val="FF0000"/>
                </a:solidFill>
              </a:rPr>
              <a:t>its</a:t>
            </a:r>
            <a:r>
              <a:rPr lang="en-US" altLang="en-US" sz="2800" dirty="0">
                <a:solidFill>
                  <a:srgbClr val="FF0000"/>
                </a:solidFill>
              </a:rPr>
              <a:t> </a:t>
            </a:r>
            <a:r>
              <a:rPr lang="en-US" altLang="en-US" sz="3027" dirty="0">
                <a:solidFill>
                  <a:srgbClr val="FF0000"/>
                </a:solidFill>
              </a:rPr>
              <a:t>t</a:t>
            </a:r>
            <a:r>
              <a:rPr lang="en-US" altLang="en-US" sz="3027" spc="-40" dirty="0">
                <a:solidFill>
                  <a:srgbClr val="FF0000"/>
                </a:solidFill>
              </a:rPr>
              <a:t>ype</a:t>
            </a:r>
            <a:r>
              <a:rPr lang="en-US" altLang="en-US" sz="2800" spc="-40" dirty="0">
                <a:solidFill>
                  <a:srgbClr val="FF0000"/>
                </a:solidFill>
              </a:rPr>
              <a:t> </a:t>
            </a:r>
            <a:r>
              <a:rPr lang="en-US" altLang="en-US" sz="3027" spc="-40" dirty="0">
                <a:solidFill>
                  <a:srgbClr val="FF0000"/>
                </a:solidFill>
              </a:rPr>
              <a:t>an</a:t>
            </a:r>
            <a:r>
              <a:rPr lang="en-US" altLang="en-US" sz="3027" dirty="0">
                <a:solidFill>
                  <a:srgbClr val="FF0000"/>
                </a:solidFill>
              </a:rPr>
              <a:t>d</a:t>
            </a:r>
            <a:r>
              <a:rPr lang="en-US" altLang="en-US" sz="2800" dirty="0">
                <a:solidFill>
                  <a:srgbClr val="FF0000"/>
                </a:solidFill>
              </a:rPr>
              <a:t> </a:t>
            </a:r>
            <a:r>
              <a:rPr lang="en-US" altLang="en-US" sz="3027" dirty="0">
                <a:solidFill>
                  <a:srgbClr val="FF0000"/>
                </a:solidFill>
              </a:rPr>
              <a:t>t</a:t>
            </a:r>
            <a:r>
              <a:rPr lang="en-US" altLang="en-US" sz="3027" spc="-100" dirty="0">
                <a:solidFill>
                  <a:srgbClr val="FF0000"/>
                </a:solidFill>
              </a:rPr>
              <a:t>h</a:t>
            </a:r>
            <a:r>
              <a:rPr lang="en-US" altLang="en-US" sz="3027" dirty="0">
                <a:solidFill>
                  <a:srgbClr val="FF0000"/>
                </a:solidFill>
              </a:rPr>
              <a:t>u</a:t>
            </a:r>
            <a:r>
              <a:rPr lang="en-US" altLang="en-US" sz="3027" spc="-200" dirty="0">
                <a:solidFill>
                  <a:srgbClr val="FF0000"/>
                </a:solidFill>
              </a:rPr>
              <a:t>s</a:t>
            </a:r>
            <a:r>
              <a:rPr lang="en-US" altLang="en-US" sz="3027" dirty="0">
                <a:solidFill>
                  <a:srgbClr val="FF0000"/>
                </a:solidFill>
              </a:rPr>
              <a:t>,</a:t>
            </a:r>
            <a:r>
              <a:rPr lang="en-US" altLang="en-US" sz="2400" dirty="0">
                <a:solidFill>
                  <a:srgbClr val="FF0000"/>
                </a:solidFill>
              </a:rPr>
              <a:t> </a:t>
            </a:r>
            <a:r>
              <a:rPr lang="en-US" altLang="en-US" sz="3027" dirty="0">
                <a:solidFill>
                  <a:srgbClr val="FF0000"/>
                </a:solidFill>
              </a:rPr>
              <a:t>siz</a:t>
            </a:r>
            <a:r>
              <a:rPr lang="en-US" altLang="en-US" sz="3027" spc="-200" dirty="0">
                <a:solidFill>
                  <a:srgbClr val="FF0000"/>
                </a:solidFill>
              </a:rPr>
              <a:t>e</a:t>
            </a:r>
            <a:r>
              <a:rPr lang="en-US" altLang="en-US" sz="3027" spc="-200" dirty="0" smtClean="0">
                <a:solidFill>
                  <a:srgbClr val="FF0000"/>
                </a:solidFill>
              </a:rPr>
              <a:t>.</a:t>
            </a:r>
            <a:endParaRPr lang="en-US" altLang="en-US" sz="3027" dirty="0">
              <a:solidFill>
                <a:srgbClr val="FF0000"/>
              </a:solidFill>
            </a:endParaRPr>
          </a:p>
          <a:p>
            <a:pPr lvl="2"/>
            <a:r>
              <a:rPr lang="en-US" altLang="en-US" sz="3000" dirty="0">
                <a:solidFill>
                  <a:srgbClr val="7030A0"/>
                </a:solidFill>
              </a:rPr>
              <a:t>This means the interpreter analyzes the right-hand side (RHS) of the equals sign to determine the type.</a:t>
            </a:r>
          </a:p>
        </p:txBody>
      </p:sp>
    </p:spTree>
    <p:extLst>
      <p:ext uri="{BB962C8B-B14F-4D97-AF65-F5344CB8AC3E}">
        <p14:creationId xmlns:p14="http://schemas.microsoft.com/office/powerpoint/2010/main" val="1186867421"/>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normAutofit/>
          </a:bodyPr>
          <a:lstStyle/>
          <a:p>
            <a:r>
              <a:rPr lang="en-US" altLang="en-US" sz="4400" dirty="0" smtClean="0">
                <a:solidFill>
                  <a:srgbClr val="00B0F0"/>
                </a:solidFill>
              </a:rPr>
              <a:t>Assigning </a:t>
            </a:r>
            <a:r>
              <a:rPr lang="en-US" altLang="en-US" sz="4400" dirty="0" smtClean="0">
                <a:solidFill>
                  <a:srgbClr val="0070C0"/>
                </a:solidFill>
              </a:rPr>
              <a:t>Values to Variables</a:t>
            </a:r>
          </a:p>
        </p:txBody>
      </p:sp>
      <p:sp>
        <p:nvSpPr>
          <p:cNvPr id="17411" name="Content Placeholder 2"/>
          <p:cNvSpPr>
            <a:spLocks noGrp="1"/>
          </p:cNvSpPr>
          <p:nvPr>
            <p:ph idx="1"/>
          </p:nvPr>
        </p:nvSpPr>
        <p:spPr>
          <a:xfrm>
            <a:off x="292608" y="1161143"/>
            <a:ext cx="9345168" cy="5015820"/>
          </a:xfrm>
        </p:spPr>
        <p:txBody>
          <a:bodyPr>
            <a:noAutofit/>
          </a:bodyPr>
          <a:lstStyle/>
          <a:p>
            <a:pPr>
              <a:buClr>
                <a:schemeClr val="bg1"/>
              </a:buClr>
            </a:pPr>
            <a:r>
              <a:rPr lang="en-US" altLang="en-US" sz="3200" dirty="0"/>
              <a:t>Python variables do not have to be explicitly declared to reserve memory space. </a:t>
            </a:r>
            <a:r>
              <a:rPr lang="en-US" altLang="en-US" sz="3200" dirty="0" smtClean="0"/>
              <a:t/>
            </a:r>
            <a:br>
              <a:rPr lang="en-US" altLang="en-US" sz="3200" dirty="0" smtClean="0"/>
            </a:br>
            <a:r>
              <a:rPr lang="en-US" altLang="en-US" sz="3200" dirty="0" smtClean="0"/>
              <a:t>The </a:t>
            </a:r>
            <a:r>
              <a:rPr lang="en-US" altLang="en-US" sz="3200" dirty="0"/>
              <a:t>declaration happens automatically when you assign a value to a variable. </a:t>
            </a:r>
            <a:r>
              <a:rPr lang="en-US" altLang="en-US" sz="3200" dirty="0" smtClean="0"/>
              <a:t/>
            </a:r>
            <a:br>
              <a:rPr lang="en-US" altLang="en-US" sz="3200" dirty="0" smtClean="0"/>
            </a:br>
            <a:r>
              <a:rPr lang="en-US" altLang="en-US" sz="3200" dirty="0" smtClean="0"/>
              <a:t>The </a:t>
            </a:r>
            <a:r>
              <a:rPr lang="en-US" altLang="en-US" sz="3200" dirty="0"/>
              <a:t>equal sign (</a:t>
            </a:r>
            <a:r>
              <a:rPr lang="en-US" altLang="en-US" sz="3200" dirty="0">
                <a:solidFill>
                  <a:srgbClr val="00B0F0"/>
                </a:solidFill>
              </a:rPr>
              <a:t>=</a:t>
            </a:r>
            <a:r>
              <a:rPr lang="en-US" altLang="en-US" sz="3200" dirty="0"/>
              <a:t>) is used to assign values to </a:t>
            </a:r>
            <a:r>
              <a:rPr lang="en-US" altLang="en-US" sz="3200" dirty="0" smtClean="0"/>
              <a:t>variables:</a:t>
            </a:r>
            <a:endParaRPr lang="en-US" altLang="en-US" sz="3200" dirty="0"/>
          </a:p>
          <a:p>
            <a:pPr lvl="1">
              <a:buFontTx/>
              <a:buNone/>
            </a:pPr>
            <a:endParaRPr lang="en-US" altLang="en-US" sz="1400" b="1" dirty="0" smtClean="0">
              <a:latin typeface="Courier New" panose="02070309020205020404" pitchFamily="49" charset="0"/>
              <a:cs typeface="Courier New" panose="02070309020205020404" pitchFamily="49" charset="0"/>
            </a:endParaRPr>
          </a:p>
          <a:p>
            <a:pPr lvl="1">
              <a:buFontTx/>
              <a:buNone/>
            </a:pPr>
            <a:r>
              <a:rPr lang="en-US" altLang="en-US" sz="2800" b="1" dirty="0" smtClean="0">
                <a:latin typeface="Lucida Console" panose="020B0609040504020204" pitchFamily="49" charset="0"/>
                <a:cs typeface="Courier New" panose="02070309020205020404" pitchFamily="49" charset="0"/>
              </a:rPr>
              <a:t>counter </a:t>
            </a:r>
            <a:r>
              <a:rPr lang="en-US" altLang="en-US" sz="2800" b="1" dirty="0">
                <a:solidFill>
                  <a:srgbClr val="00B0F0"/>
                </a:solidFill>
                <a:latin typeface="Lucida Console" panose="020B0609040504020204" pitchFamily="49" charset="0"/>
                <a:cs typeface="Courier New" panose="02070309020205020404" pitchFamily="49" charset="0"/>
              </a:rPr>
              <a:t>=</a:t>
            </a:r>
            <a:r>
              <a:rPr lang="en-US" altLang="en-US" sz="2800" b="1" dirty="0">
                <a:latin typeface="Lucida Console" panose="020B0609040504020204" pitchFamily="49" charset="0"/>
                <a:cs typeface="Courier New" panose="02070309020205020404" pitchFamily="49" charset="0"/>
              </a:rPr>
              <a:t> 100 </a:t>
            </a:r>
            <a:r>
              <a:rPr lang="en-US" altLang="en-US" sz="2800" b="1" dirty="0" smtClean="0">
                <a:latin typeface="Lucida Console" panose="020B0609040504020204" pitchFamily="49" charset="0"/>
                <a:cs typeface="Courier New" panose="02070309020205020404" pitchFamily="49" charset="0"/>
              </a:rPr>
              <a:t> # </a:t>
            </a:r>
            <a:r>
              <a:rPr lang="en-US" altLang="en-US" sz="2800" b="1" dirty="0">
                <a:latin typeface="Lucida Console" panose="020B0609040504020204" pitchFamily="49" charset="0"/>
                <a:cs typeface="Courier New" panose="02070309020205020404" pitchFamily="49" charset="0"/>
              </a:rPr>
              <a:t>An integer assignment </a:t>
            </a:r>
          </a:p>
          <a:p>
            <a:pPr lvl="1">
              <a:buFontTx/>
              <a:buNone/>
            </a:pPr>
            <a:r>
              <a:rPr lang="en-US" altLang="en-US" sz="2800" b="1" dirty="0">
                <a:latin typeface="Lucida Console" panose="020B0609040504020204" pitchFamily="49" charset="0"/>
                <a:cs typeface="Courier New" panose="02070309020205020404" pitchFamily="49" charset="0"/>
              </a:rPr>
              <a:t>miles </a:t>
            </a:r>
            <a:r>
              <a:rPr lang="en-US" altLang="en-US" sz="2800" b="1" dirty="0">
                <a:solidFill>
                  <a:srgbClr val="00B0F0"/>
                </a:solidFill>
                <a:latin typeface="Lucida Console" panose="020B0609040504020204" pitchFamily="49" charset="0"/>
                <a:cs typeface="Courier New" panose="02070309020205020404" pitchFamily="49" charset="0"/>
              </a:rPr>
              <a:t>=</a:t>
            </a:r>
            <a:r>
              <a:rPr lang="en-US" altLang="en-US" sz="2800" b="1" dirty="0">
                <a:latin typeface="Lucida Console" panose="020B0609040504020204" pitchFamily="49" charset="0"/>
                <a:cs typeface="Courier New" panose="02070309020205020404" pitchFamily="49" charset="0"/>
              </a:rPr>
              <a:t> 1000.0 # A floating point </a:t>
            </a:r>
          </a:p>
          <a:p>
            <a:pPr lvl="1">
              <a:buFontTx/>
              <a:buNone/>
            </a:pPr>
            <a:r>
              <a:rPr lang="en-US" altLang="en-US" sz="2800" b="1" dirty="0">
                <a:latin typeface="Lucida Console" panose="020B0609040504020204" pitchFamily="49" charset="0"/>
                <a:cs typeface="Courier New" panose="02070309020205020404" pitchFamily="49" charset="0"/>
              </a:rPr>
              <a:t>name </a:t>
            </a:r>
            <a:r>
              <a:rPr lang="en-US" altLang="en-US" sz="2800" b="1" dirty="0">
                <a:solidFill>
                  <a:srgbClr val="00B0F0"/>
                </a:solidFill>
                <a:latin typeface="Lucida Console" panose="020B0609040504020204" pitchFamily="49" charset="0"/>
                <a:cs typeface="Courier New" panose="02070309020205020404" pitchFamily="49" charset="0"/>
              </a:rPr>
              <a:t>=</a:t>
            </a:r>
            <a:r>
              <a:rPr lang="en-US" altLang="en-US" sz="2800" b="1" dirty="0">
                <a:latin typeface="Lucida Console" panose="020B0609040504020204" pitchFamily="49" charset="0"/>
                <a:cs typeface="Courier New" panose="02070309020205020404" pitchFamily="49" charset="0"/>
              </a:rPr>
              <a:t> "John" </a:t>
            </a:r>
            <a:r>
              <a:rPr lang="en-US" altLang="en-US" sz="2800" b="1" dirty="0" smtClean="0">
                <a:latin typeface="Lucida Console" panose="020B0609040504020204" pitchFamily="49" charset="0"/>
                <a:cs typeface="Courier New" panose="02070309020205020404" pitchFamily="49" charset="0"/>
              </a:rPr>
              <a:t> # </a:t>
            </a:r>
            <a:r>
              <a:rPr lang="en-US" altLang="en-US" sz="2800" b="1" dirty="0">
                <a:latin typeface="Lucida Console" panose="020B0609040504020204" pitchFamily="49" charset="0"/>
                <a:cs typeface="Courier New" panose="02070309020205020404" pitchFamily="49" charset="0"/>
              </a:rPr>
              <a:t>A string </a:t>
            </a:r>
          </a:p>
          <a:p>
            <a:pPr lvl="1">
              <a:buFontTx/>
              <a:buNone/>
            </a:pPr>
            <a:r>
              <a:rPr lang="en-US" altLang="en-US" sz="2800" b="1" dirty="0">
                <a:latin typeface="Lucida Console" panose="020B0609040504020204" pitchFamily="49" charset="0"/>
                <a:cs typeface="Courier New" panose="02070309020205020404" pitchFamily="49" charset="0"/>
              </a:rPr>
              <a:t>print (counter) </a:t>
            </a:r>
          </a:p>
          <a:p>
            <a:pPr lvl="1">
              <a:buFontTx/>
              <a:buNone/>
            </a:pPr>
            <a:r>
              <a:rPr lang="en-US" altLang="en-US" sz="2800" b="1" dirty="0">
                <a:latin typeface="Lucida Console" panose="020B0609040504020204" pitchFamily="49" charset="0"/>
                <a:cs typeface="Courier New" panose="02070309020205020404" pitchFamily="49" charset="0"/>
              </a:rPr>
              <a:t>print (miles) </a:t>
            </a:r>
          </a:p>
          <a:p>
            <a:pPr lvl="1">
              <a:buFontTx/>
              <a:buNone/>
            </a:pPr>
            <a:r>
              <a:rPr lang="en-US" altLang="en-US" sz="2800" b="1" dirty="0">
                <a:latin typeface="Lucida Console" panose="020B0609040504020204" pitchFamily="49" charset="0"/>
                <a:cs typeface="Courier New" panose="02070309020205020404" pitchFamily="49" charset="0"/>
              </a:rPr>
              <a:t>print (name) </a:t>
            </a:r>
          </a:p>
        </p:txBody>
      </p:sp>
    </p:spTree>
    <p:extLst>
      <p:ext uri="{BB962C8B-B14F-4D97-AF65-F5344CB8AC3E}">
        <p14:creationId xmlns:p14="http://schemas.microsoft.com/office/powerpoint/2010/main" val="3170019997"/>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
            <a:ext cx="9729788" cy="1161142"/>
          </a:xfrm>
          <a:prstGeom prst="rect">
            <a:avLst/>
          </a:prstGeom>
        </p:spPr>
        <p:txBody>
          <a:bodyPr vert="horz" lIns="91440" tIns="45720" rIns="91440" bIns="45720" rtlCol="0" anchor="ctr">
            <a:normAutofit/>
          </a:bodyPr>
          <a:lstStyle>
            <a:lvl1pPr algn="ctr" defTabSz="729742" rtl="0" eaLnBrk="1" latinLnBrk="0" hangingPunct="1">
              <a:lnSpc>
                <a:spcPct val="90000"/>
              </a:lnSpc>
              <a:spcBef>
                <a:spcPct val="0"/>
              </a:spcBef>
              <a:buNone/>
              <a:defRPr sz="3511" kern="1200">
                <a:solidFill>
                  <a:srgbClr val="002060"/>
                </a:solidFill>
                <a:latin typeface="Elephant" panose="02020904090505020303" pitchFamily="18" charset="0"/>
                <a:ea typeface="+mj-ea"/>
                <a:cs typeface="+mj-cs"/>
              </a:defRPr>
            </a:lvl1pPr>
          </a:lstStyle>
          <a:p>
            <a:r>
              <a:rPr lang="en-US" altLang="en-US" sz="4400" dirty="0">
                <a:solidFill>
                  <a:srgbClr val="00B0F0"/>
                </a:solidFill>
              </a:rPr>
              <a:t>Updating</a:t>
            </a:r>
            <a:r>
              <a:rPr lang="en-US" altLang="en-US" sz="4400" dirty="0">
                <a:solidFill>
                  <a:srgbClr val="0070C0"/>
                </a:solidFill>
              </a:rPr>
              <a:t> the Values of </a:t>
            </a:r>
            <a:r>
              <a:rPr lang="en-US" altLang="en-US" sz="4400" dirty="0" smtClean="0">
                <a:solidFill>
                  <a:srgbClr val="0070C0"/>
                </a:solidFill>
              </a:rPr>
              <a:t>Variables</a:t>
            </a:r>
          </a:p>
        </p:txBody>
      </p:sp>
      <p:sp>
        <p:nvSpPr>
          <p:cNvPr id="22531" name="Content Placeholder 2"/>
          <p:cNvSpPr>
            <a:spLocks noGrp="1"/>
          </p:cNvSpPr>
          <p:nvPr>
            <p:ph idx="1"/>
          </p:nvPr>
        </p:nvSpPr>
        <p:spPr>
          <a:xfrm>
            <a:off x="359076" y="1143000"/>
            <a:ext cx="9077818" cy="5225387"/>
          </a:xfrm>
        </p:spPr>
        <p:txBody>
          <a:bodyPr>
            <a:noAutofit/>
          </a:bodyPr>
          <a:lstStyle/>
          <a:p>
            <a:r>
              <a:rPr lang="en-US" altLang="en-US" sz="3200" dirty="0"/>
              <a:t>Assigning a </a:t>
            </a:r>
            <a:r>
              <a:rPr lang="en-US" altLang="en-US" sz="3200" dirty="0" smtClean="0"/>
              <a:t>new value </a:t>
            </a:r>
            <a:r>
              <a:rPr lang="en-US" altLang="en-US" sz="3200" dirty="0"/>
              <a:t>to </a:t>
            </a:r>
            <a:r>
              <a:rPr lang="en-US" altLang="en-US" sz="3200" dirty="0" smtClean="0"/>
              <a:t>an existing </a:t>
            </a:r>
            <a:r>
              <a:rPr lang="en-US" altLang="en-US" sz="3200" dirty="0"/>
              <a:t>variable does not update it, instead it creates a new variable.</a:t>
            </a:r>
          </a:p>
          <a:p>
            <a:pPr lvl="1"/>
            <a:r>
              <a:rPr lang="en-US" altLang="en-US" sz="2800" dirty="0" smtClean="0"/>
              <a:t>Even if it is </a:t>
            </a:r>
            <a:r>
              <a:rPr lang="en-US" altLang="en-US" sz="2800" dirty="0"/>
              <a:t>the same </a:t>
            </a:r>
            <a:r>
              <a:rPr lang="en-US" altLang="en-US" sz="2800" dirty="0" smtClean="0"/>
              <a:t>type, </a:t>
            </a:r>
            <a:r>
              <a:rPr lang="en-US" altLang="en-US" sz="2800" dirty="0"/>
              <a:t>it is a new variable.</a:t>
            </a:r>
          </a:p>
          <a:p>
            <a:pPr>
              <a:spcBef>
                <a:spcPts val="2400"/>
              </a:spcBef>
            </a:pPr>
            <a:r>
              <a:rPr lang="en-US" altLang="en-US" sz="3200" dirty="0" smtClean="0">
                <a:solidFill>
                  <a:srgbClr val="FF0000"/>
                </a:solidFill>
              </a:rPr>
              <a:t>But, </a:t>
            </a:r>
            <a:r>
              <a:rPr lang="en-US" altLang="en-US" sz="3200" i="1" dirty="0" smtClean="0">
                <a:solidFill>
                  <a:srgbClr val="FF0000"/>
                </a:solidFill>
              </a:rPr>
              <a:t>for</a:t>
            </a:r>
            <a:r>
              <a:rPr lang="en-US" altLang="en-US" sz="3200" dirty="0" smtClean="0">
                <a:solidFill>
                  <a:srgbClr val="FF0000"/>
                </a:solidFill>
              </a:rPr>
              <a:t> </a:t>
            </a:r>
            <a:r>
              <a:rPr lang="en-US" altLang="en-US" sz="3200" i="1" dirty="0">
                <a:solidFill>
                  <a:srgbClr val="FF0000"/>
                </a:solidFill>
              </a:rPr>
              <a:t>multi-value </a:t>
            </a:r>
            <a:r>
              <a:rPr lang="en-US" altLang="en-US" sz="3200" dirty="0" smtClean="0">
                <a:solidFill>
                  <a:srgbClr val="FF0000"/>
                </a:solidFill>
              </a:rPr>
              <a:t>variables, assigning to </a:t>
            </a:r>
            <a:r>
              <a:rPr lang="en-US" altLang="en-US" sz="3200" i="1" dirty="0" smtClean="0">
                <a:solidFill>
                  <a:srgbClr val="00B0F0"/>
                </a:solidFill>
              </a:rPr>
              <a:t>one </a:t>
            </a:r>
            <a:r>
              <a:rPr lang="en-US" altLang="en-US" sz="3200" i="1" dirty="0">
                <a:solidFill>
                  <a:srgbClr val="00B0F0"/>
                </a:solidFill>
              </a:rPr>
              <a:t>value</a:t>
            </a:r>
            <a:r>
              <a:rPr lang="en-US" altLang="en-US" sz="3200" dirty="0">
                <a:solidFill>
                  <a:srgbClr val="FF0000"/>
                </a:solidFill>
              </a:rPr>
              <a:t> is </a:t>
            </a:r>
            <a:r>
              <a:rPr lang="en-US" altLang="en-US" sz="3200" i="1" dirty="0">
                <a:solidFill>
                  <a:srgbClr val="FF0000"/>
                </a:solidFill>
              </a:rPr>
              <a:t>different</a:t>
            </a:r>
            <a:r>
              <a:rPr lang="en-US" altLang="en-US" sz="3200" dirty="0">
                <a:solidFill>
                  <a:srgbClr val="FF0000"/>
                </a:solidFill>
              </a:rPr>
              <a:t> than assigning </a:t>
            </a:r>
            <a:r>
              <a:rPr lang="en-US" altLang="en-US" sz="3200" dirty="0" smtClean="0">
                <a:solidFill>
                  <a:srgbClr val="FF0000"/>
                </a:solidFill>
              </a:rPr>
              <a:t>to the </a:t>
            </a:r>
            <a:r>
              <a:rPr lang="en-US" altLang="en-US" sz="3200" b="1" i="1" dirty="0" smtClean="0">
                <a:solidFill>
                  <a:srgbClr val="FF0000"/>
                </a:solidFill>
              </a:rPr>
              <a:t>whole variable</a:t>
            </a:r>
            <a:r>
              <a:rPr lang="en-US" altLang="en-US" sz="3200" dirty="0">
                <a:solidFill>
                  <a:srgbClr val="FF0000"/>
                </a:solidFill>
              </a:rPr>
              <a:t>.</a:t>
            </a:r>
          </a:p>
          <a:p>
            <a:pPr>
              <a:spcBef>
                <a:spcPts val="2400"/>
              </a:spcBef>
            </a:pPr>
            <a:r>
              <a:rPr lang="en-US" altLang="en-US" sz="3200" dirty="0">
                <a:solidFill>
                  <a:srgbClr val="FF0000"/>
                </a:solidFill>
              </a:rPr>
              <a:t>Python divides its types into two categories:</a:t>
            </a:r>
          </a:p>
          <a:p>
            <a:pPr marL="836633" lvl="1" indent="-471762">
              <a:buFont typeface="+mj-lt"/>
              <a:buAutoNum type="arabicPeriod"/>
            </a:pPr>
            <a:r>
              <a:rPr lang="en-US" altLang="en-US" sz="3200" dirty="0" smtClean="0">
                <a:solidFill>
                  <a:srgbClr val="FF0000"/>
                </a:solidFill>
              </a:rPr>
              <a:t>Numbers, strings, </a:t>
            </a:r>
            <a:r>
              <a:rPr lang="en-US" altLang="en-US" sz="3200" dirty="0">
                <a:solidFill>
                  <a:srgbClr val="FF0000"/>
                </a:solidFill>
              </a:rPr>
              <a:t>and tuples are </a:t>
            </a:r>
            <a:r>
              <a:rPr lang="en-US" altLang="en-US" sz="3200" b="1" dirty="0">
                <a:solidFill>
                  <a:srgbClr val="FF0000"/>
                </a:solidFill>
              </a:rPr>
              <a:t>immutable</a:t>
            </a:r>
            <a:r>
              <a:rPr lang="en-US" altLang="en-US" sz="3200" dirty="0" smtClean="0">
                <a:solidFill>
                  <a:srgbClr val="FF0000"/>
                </a:solidFill>
              </a:rPr>
              <a:t>.</a:t>
            </a:r>
            <a:endParaRPr lang="en-US" altLang="en-US" sz="3200" dirty="0">
              <a:solidFill>
                <a:srgbClr val="FF0000"/>
              </a:solidFill>
            </a:endParaRPr>
          </a:p>
        </p:txBody>
      </p:sp>
    </p:spTree>
    <p:extLst>
      <p:ext uri="{BB962C8B-B14F-4D97-AF65-F5344CB8AC3E}">
        <p14:creationId xmlns:p14="http://schemas.microsoft.com/office/powerpoint/2010/main" val="142562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randombar(horizontal)">
                                      <p:cBhvr>
                                        <p:cTn id="7" dur="500"/>
                                        <p:tgtEl>
                                          <p:spTgt spid="2253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531">
                                            <p:txEl>
                                              <p:pRg st="3" end="3"/>
                                            </p:txEl>
                                          </p:spTgt>
                                        </p:tgtEl>
                                        <p:attrNameLst>
                                          <p:attrName>style.visibility</p:attrName>
                                        </p:attrNameLst>
                                      </p:cBhvr>
                                      <p:to>
                                        <p:strVal val="visible"/>
                                      </p:to>
                                    </p:set>
                                    <p:animEffect transition="in" filter="randombar(horizontal)">
                                      <p:cBhvr>
                                        <p:cTn id="12" dur="500"/>
                                        <p:tgtEl>
                                          <p:spTgt spid="22531">
                                            <p:txEl>
                                              <p:pRg st="3" end="3"/>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2531">
                                            <p:txEl>
                                              <p:pRg st="4" end="4"/>
                                            </p:txEl>
                                          </p:spTgt>
                                        </p:tgtEl>
                                        <p:attrNameLst>
                                          <p:attrName>style.visibility</p:attrName>
                                        </p:attrNameLst>
                                      </p:cBhvr>
                                      <p:to>
                                        <p:strVal val="visible"/>
                                      </p:to>
                                    </p:set>
                                    <p:animEffect transition="in" filter="randombar(horizontal)">
                                      <p:cBhvr>
                                        <p:cTn id="15" dur="500"/>
                                        <p:tgtEl>
                                          <p:spTgt spid="22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
            <a:ext cx="9729788" cy="1161142"/>
          </a:xfrm>
          <a:prstGeom prst="rect">
            <a:avLst/>
          </a:prstGeom>
        </p:spPr>
        <p:txBody>
          <a:bodyPr vert="horz" lIns="91440" tIns="45720" rIns="91440" bIns="45720" rtlCol="0" anchor="ctr">
            <a:normAutofit/>
          </a:bodyPr>
          <a:lstStyle>
            <a:lvl1pPr algn="ctr" defTabSz="729742" rtl="0" eaLnBrk="1" latinLnBrk="0" hangingPunct="1">
              <a:lnSpc>
                <a:spcPct val="90000"/>
              </a:lnSpc>
              <a:spcBef>
                <a:spcPct val="0"/>
              </a:spcBef>
              <a:buNone/>
              <a:defRPr sz="3511" kern="1200">
                <a:solidFill>
                  <a:srgbClr val="002060"/>
                </a:solidFill>
                <a:latin typeface="Elephant" panose="02020904090505020303" pitchFamily="18" charset="0"/>
                <a:ea typeface="+mj-ea"/>
                <a:cs typeface="+mj-cs"/>
              </a:defRPr>
            </a:lvl1pPr>
          </a:lstStyle>
          <a:p>
            <a:r>
              <a:rPr lang="en-US" altLang="en-US" sz="4400" dirty="0">
                <a:solidFill>
                  <a:srgbClr val="00B0F0"/>
                </a:solidFill>
              </a:rPr>
              <a:t>Updating</a:t>
            </a:r>
            <a:r>
              <a:rPr lang="en-US" altLang="en-US" sz="4400" dirty="0">
                <a:solidFill>
                  <a:srgbClr val="0070C0"/>
                </a:solidFill>
              </a:rPr>
              <a:t> the Values of </a:t>
            </a:r>
            <a:r>
              <a:rPr lang="en-US" altLang="en-US" sz="4400" dirty="0" smtClean="0">
                <a:solidFill>
                  <a:srgbClr val="0070C0"/>
                </a:solidFill>
              </a:rPr>
              <a:t>Variables</a:t>
            </a:r>
          </a:p>
        </p:txBody>
      </p:sp>
      <p:sp>
        <p:nvSpPr>
          <p:cNvPr id="22531" name="Content Placeholder 2"/>
          <p:cNvSpPr>
            <a:spLocks noGrp="1"/>
          </p:cNvSpPr>
          <p:nvPr>
            <p:ph idx="1"/>
          </p:nvPr>
        </p:nvSpPr>
        <p:spPr>
          <a:xfrm>
            <a:off x="359076" y="1143000"/>
            <a:ext cx="9077818" cy="5225387"/>
          </a:xfrm>
        </p:spPr>
        <p:txBody>
          <a:bodyPr>
            <a:noAutofit/>
          </a:bodyPr>
          <a:lstStyle/>
          <a:p>
            <a:r>
              <a:rPr lang="en-US" altLang="en-US" sz="3200" dirty="0"/>
              <a:t>Assigning a </a:t>
            </a:r>
            <a:r>
              <a:rPr lang="en-US" altLang="en-US" sz="3200" dirty="0" smtClean="0"/>
              <a:t>new value </a:t>
            </a:r>
            <a:r>
              <a:rPr lang="en-US" altLang="en-US" sz="3200" dirty="0"/>
              <a:t>to </a:t>
            </a:r>
            <a:r>
              <a:rPr lang="en-US" altLang="en-US" sz="3200" dirty="0" smtClean="0"/>
              <a:t>an existing </a:t>
            </a:r>
            <a:r>
              <a:rPr lang="en-US" altLang="en-US" sz="3200" dirty="0"/>
              <a:t>variable does not update it, instead it creates a new variable.</a:t>
            </a:r>
          </a:p>
          <a:p>
            <a:pPr lvl="1"/>
            <a:r>
              <a:rPr lang="en-US" altLang="en-US" sz="2800" dirty="0" smtClean="0"/>
              <a:t>Even if it is </a:t>
            </a:r>
            <a:r>
              <a:rPr lang="en-US" altLang="en-US" sz="2800" dirty="0"/>
              <a:t>the same </a:t>
            </a:r>
            <a:r>
              <a:rPr lang="en-US" altLang="en-US" sz="2800" dirty="0" smtClean="0"/>
              <a:t>type, </a:t>
            </a:r>
            <a:r>
              <a:rPr lang="en-US" altLang="en-US" sz="2800" dirty="0"/>
              <a:t>it is a new variable.</a:t>
            </a:r>
          </a:p>
          <a:p>
            <a:pPr>
              <a:spcBef>
                <a:spcPts val="2400"/>
              </a:spcBef>
            </a:pPr>
            <a:r>
              <a:rPr lang="en-US" altLang="en-US" sz="3200" dirty="0" smtClean="0">
                <a:solidFill>
                  <a:srgbClr val="FF0000"/>
                </a:solidFill>
              </a:rPr>
              <a:t>But, </a:t>
            </a:r>
            <a:r>
              <a:rPr lang="en-US" altLang="en-US" sz="3200" i="1" dirty="0" smtClean="0">
                <a:solidFill>
                  <a:srgbClr val="FF0000"/>
                </a:solidFill>
              </a:rPr>
              <a:t>for</a:t>
            </a:r>
            <a:r>
              <a:rPr lang="en-US" altLang="en-US" sz="3200" dirty="0" smtClean="0">
                <a:solidFill>
                  <a:srgbClr val="FF0000"/>
                </a:solidFill>
              </a:rPr>
              <a:t> </a:t>
            </a:r>
            <a:r>
              <a:rPr lang="en-US" altLang="en-US" sz="3200" i="1" dirty="0">
                <a:solidFill>
                  <a:srgbClr val="FF0000"/>
                </a:solidFill>
              </a:rPr>
              <a:t>multi-value </a:t>
            </a:r>
            <a:r>
              <a:rPr lang="en-US" altLang="en-US" sz="3200" dirty="0" smtClean="0">
                <a:solidFill>
                  <a:srgbClr val="FF0000"/>
                </a:solidFill>
              </a:rPr>
              <a:t>variables, assigning to </a:t>
            </a:r>
            <a:r>
              <a:rPr lang="en-US" altLang="en-US" sz="3200" i="1" dirty="0" smtClean="0">
                <a:solidFill>
                  <a:srgbClr val="00B0F0"/>
                </a:solidFill>
              </a:rPr>
              <a:t>one </a:t>
            </a:r>
            <a:r>
              <a:rPr lang="en-US" altLang="en-US" sz="3200" i="1" dirty="0">
                <a:solidFill>
                  <a:srgbClr val="00B0F0"/>
                </a:solidFill>
              </a:rPr>
              <a:t>value</a:t>
            </a:r>
            <a:r>
              <a:rPr lang="en-US" altLang="en-US" sz="3200" dirty="0">
                <a:solidFill>
                  <a:srgbClr val="FF0000"/>
                </a:solidFill>
              </a:rPr>
              <a:t> is </a:t>
            </a:r>
            <a:r>
              <a:rPr lang="en-US" altLang="en-US" sz="3200" i="1" dirty="0">
                <a:solidFill>
                  <a:srgbClr val="FF0000"/>
                </a:solidFill>
              </a:rPr>
              <a:t>different</a:t>
            </a:r>
            <a:r>
              <a:rPr lang="en-US" altLang="en-US" sz="3200" dirty="0">
                <a:solidFill>
                  <a:srgbClr val="FF0000"/>
                </a:solidFill>
              </a:rPr>
              <a:t> than assigning </a:t>
            </a:r>
            <a:r>
              <a:rPr lang="en-US" altLang="en-US" sz="3200" dirty="0" smtClean="0">
                <a:solidFill>
                  <a:srgbClr val="FF0000"/>
                </a:solidFill>
              </a:rPr>
              <a:t>to the </a:t>
            </a:r>
            <a:r>
              <a:rPr lang="en-US" altLang="en-US" sz="3200" b="1" i="1" dirty="0" smtClean="0">
                <a:solidFill>
                  <a:srgbClr val="FF0000"/>
                </a:solidFill>
              </a:rPr>
              <a:t>whole variable</a:t>
            </a:r>
            <a:r>
              <a:rPr lang="en-US" altLang="en-US" sz="3200" dirty="0">
                <a:solidFill>
                  <a:srgbClr val="FF0000"/>
                </a:solidFill>
              </a:rPr>
              <a:t>.</a:t>
            </a:r>
          </a:p>
          <a:p>
            <a:pPr>
              <a:spcBef>
                <a:spcPts val="2400"/>
              </a:spcBef>
            </a:pPr>
            <a:r>
              <a:rPr lang="en-US" altLang="en-US" sz="3200" dirty="0">
                <a:solidFill>
                  <a:srgbClr val="FF0000"/>
                </a:solidFill>
              </a:rPr>
              <a:t>Python divides its types into two categories:</a:t>
            </a:r>
          </a:p>
          <a:p>
            <a:pPr marL="836633" lvl="1" indent="-471762">
              <a:buFont typeface="+mj-lt"/>
              <a:buAutoNum type="arabicPeriod"/>
            </a:pPr>
            <a:r>
              <a:rPr lang="en-US" altLang="en-US" sz="3200" dirty="0"/>
              <a:t>Numbers, strings, and tuples are </a:t>
            </a:r>
            <a:r>
              <a:rPr lang="en-US" altLang="en-US" sz="3200" b="1" dirty="0">
                <a:solidFill>
                  <a:srgbClr val="00B050"/>
                </a:solidFill>
              </a:rPr>
              <a:t>im</a:t>
            </a:r>
            <a:r>
              <a:rPr lang="en-US" altLang="en-US" sz="3200" b="1" dirty="0">
                <a:solidFill>
                  <a:srgbClr val="FF0000"/>
                </a:solidFill>
              </a:rPr>
              <a:t>mut</a:t>
            </a:r>
            <a:r>
              <a:rPr lang="en-US" altLang="en-US" sz="3200" b="1" dirty="0">
                <a:solidFill>
                  <a:srgbClr val="0070C0"/>
                </a:solidFill>
              </a:rPr>
              <a:t>able</a:t>
            </a:r>
            <a:r>
              <a:rPr lang="en-US" altLang="en-US" sz="3200" dirty="0"/>
              <a:t>.</a:t>
            </a:r>
          </a:p>
          <a:p>
            <a:pPr marL="836633" lvl="1" indent="-471762">
              <a:buFont typeface="+mj-lt"/>
              <a:buAutoNum type="arabicPeriod"/>
            </a:pPr>
            <a:r>
              <a:rPr lang="en-US" altLang="en-US" sz="3200" dirty="0"/>
              <a:t>Lists, sets, and dictionaries are </a:t>
            </a:r>
            <a:r>
              <a:rPr lang="en-US" altLang="en-US" sz="3200" b="1" dirty="0">
                <a:solidFill>
                  <a:srgbClr val="FF0000"/>
                </a:solidFill>
              </a:rPr>
              <a:t>mut</a:t>
            </a:r>
            <a:r>
              <a:rPr lang="en-US" altLang="en-US" sz="3200" b="1" dirty="0">
                <a:solidFill>
                  <a:srgbClr val="0070C0"/>
                </a:solidFill>
              </a:rPr>
              <a:t>able</a:t>
            </a:r>
            <a:r>
              <a:rPr lang="en-US" altLang="en-US" sz="3200" dirty="0"/>
              <a:t>.</a:t>
            </a:r>
          </a:p>
        </p:txBody>
      </p:sp>
      <p:sp>
        <p:nvSpPr>
          <p:cNvPr id="5" name="Rounded Rectangular Callout 4"/>
          <p:cNvSpPr/>
          <p:nvPr/>
        </p:nvSpPr>
        <p:spPr>
          <a:xfrm>
            <a:off x="4615174" y="5512206"/>
            <a:ext cx="1531582" cy="1039287"/>
          </a:xfrm>
          <a:prstGeom prst="wedgeRoundRectCallout">
            <a:avLst>
              <a:gd name="adj1" fmla="val 86656"/>
              <a:gd name="adj2" fmla="val -123332"/>
              <a:gd name="adj3" fmla="val 16667"/>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834" i="1" dirty="0" err="1">
                <a:solidFill>
                  <a:prstClr val="white"/>
                </a:solidFill>
              </a:rPr>
              <a:t>im</a:t>
            </a:r>
            <a:r>
              <a:rPr lang="en-US" altLang="zh-TW" sz="1834" i="1" dirty="0">
                <a:solidFill>
                  <a:prstClr val="white"/>
                </a:solidFill>
              </a:rPr>
              <a:t>:</a:t>
            </a:r>
            <a:r>
              <a:rPr lang="en-US" altLang="zh-TW" sz="1834" dirty="0">
                <a:solidFill>
                  <a:prstClr val="white"/>
                </a:solidFill>
              </a:rPr>
              <a:t> a prefix meaning “</a:t>
            </a:r>
            <a:r>
              <a:rPr lang="en-US" altLang="zh-TW" sz="2935" i="1" dirty="0">
                <a:solidFill>
                  <a:prstClr val="white"/>
                </a:solidFill>
              </a:rPr>
              <a:t>not</a:t>
            </a:r>
            <a:r>
              <a:rPr lang="en-US" altLang="zh-TW" sz="1834" dirty="0">
                <a:solidFill>
                  <a:prstClr val="white"/>
                </a:solidFill>
              </a:rPr>
              <a:t>”</a:t>
            </a:r>
            <a:endParaRPr lang="zh-TW" altLang="en-US" sz="1834" dirty="0">
              <a:solidFill>
                <a:prstClr val="white"/>
              </a:solidFill>
            </a:endParaRPr>
          </a:p>
        </p:txBody>
      </p:sp>
      <p:sp>
        <p:nvSpPr>
          <p:cNvPr id="6" name="Rounded Rectangular Callout 5"/>
          <p:cNvSpPr/>
          <p:nvPr/>
        </p:nvSpPr>
        <p:spPr>
          <a:xfrm>
            <a:off x="6177145" y="5515246"/>
            <a:ext cx="1531582" cy="1039287"/>
          </a:xfrm>
          <a:prstGeom prst="wedgeRoundRectCallout">
            <a:avLst>
              <a:gd name="adj1" fmla="val 32780"/>
              <a:gd name="adj2" fmla="val -115311"/>
              <a:gd name="adj3" fmla="val 16667"/>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834" i="1" dirty="0">
                <a:solidFill>
                  <a:prstClr val="white"/>
                </a:solidFill>
              </a:rPr>
              <a:t>mute:</a:t>
            </a:r>
            <a:r>
              <a:rPr lang="en-US" altLang="zh-TW" sz="1834" dirty="0">
                <a:solidFill>
                  <a:prstClr val="white"/>
                </a:solidFill>
              </a:rPr>
              <a:t> a root meaning “</a:t>
            </a:r>
            <a:r>
              <a:rPr lang="en-US" altLang="zh-TW" sz="2935" i="1" dirty="0">
                <a:solidFill>
                  <a:prstClr val="white"/>
                </a:solidFill>
              </a:rPr>
              <a:t>change</a:t>
            </a:r>
            <a:r>
              <a:rPr lang="en-US" altLang="zh-TW" sz="1834" dirty="0">
                <a:solidFill>
                  <a:prstClr val="white"/>
                </a:solidFill>
              </a:rPr>
              <a:t>”</a:t>
            </a:r>
            <a:endParaRPr lang="zh-TW" altLang="en-US" sz="1834" dirty="0">
              <a:solidFill>
                <a:prstClr val="white"/>
              </a:solidFill>
            </a:endParaRPr>
          </a:p>
        </p:txBody>
      </p:sp>
      <p:sp>
        <p:nvSpPr>
          <p:cNvPr id="7" name="Rounded Rectangular Callout 6"/>
          <p:cNvSpPr/>
          <p:nvPr/>
        </p:nvSpPr>
        <p:spPr>
          <a:xfrm>
            <a:off x="7740620" y="5509171"/>
            <a:ext cx="1531582" cy="1039287"/>
          </a:xfrm>
          <a:prstGeom prst="wedgeRoundRectCallout">
            <a:avLst>
              <a:gd name="adj1" fmla="val -23836"/>
              <a:gd name="adj2" fmla="val -117768"/>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834" i="1" dirty="0">
                <a:solidFill>
                  <a:prstClr val="white"/>
                </a:solidFill>
              </a:rPr>
              <a:t>able:</a:t>
            </a:r>
            <a:r>
              <a:rPr lang="en-US" altLang="zh-TW" sz="1834" dirty="0">
                <a:solidFill>
                  <a:prstClr val="white"/>
                </a:solidFill>
              </a:rPr>
              <a:t> a suffix meaning “</a:t>
            </a:r>
            <a:r>
              <a:rPr lang="en-US" altLang="zh-TW" sz="2935" i="1" dirty="0">
                <a:solidFill>
                  <a:prstClr val="white"/>
                </a:solidFill>
              </a:rPr>
              <a:t>able</a:t>
            </a:r>
            <a:r>
              <a:rPr lang="en-US" altLang="zh-TW" sz="1834" dirty="0">
                <a:solidFill>
                  <a:prstClr val="white"/>
                </a:solidFill>
              </a:rPr>
              <a:t>”</a:t>
            </a:r>
            <a:endParaRPr lang="zh-TW" altLang="en-US" sz="1834" dirty="0">
              <a:solidFill>
                <a:prstClr val="white"/>
              </a:solidFill>
            </a:endParaRPr>
          </a:p>
        </p:txBody>
      </p:sp>
      <p:sp>
        <p:nvSpPr>
          <p:cNvPr id="8" name="Rounded Rectangular Callout 7"/>
          <p:cNvSpPr/>
          <p:nvPr/>
        </p:nvSpPr>
        <p:spPr>
          <a:xfrm>
            <a:off x="1355522" y="5509170"/>
            <a:ext cx="2053410" cy="1039287"/>
          </a:xfrm>
          <a:prstGeom prst="wedgeRoundRectCallout">
            <a:avLst>
              <a:gd name="adj1" fmla="val 125040"/>
              <a:gd name="adj2" fmla="val 29027"/>
              <a:gd name="adj3" fmla="val 16667"/>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endParaRPr lang="en-US" altLang="zh-TW" sz="825" i="1" dirty="0">
              <a:solidFill>
                <a:prstClr val="white"/>
              </a:solidFill>
            </a:endParaRPr>
          </a:p>
          <a:p>
            <a:pPr algn="ctr">
              <a:lnSpc>
                <a:spcPct val="80000"/>
              </a:lnSpc>
            </a:pPr>
            <a:r>
              <a:rPr lang="en-US" altLang="zh-TW" sz="1834" i="1" dirty="0">
                <a:solidFill>
                  <a:prstClr val="white"/>
                </a:solidFill>
              </a:rPr>
              <a:t>not</a:t>
            </a:r>
            <a:r>
              <a:rPr lang="en-US" altLang="zh-TW" sz="1100" i="1" dirty="0">
                <a:solidFill>
                  <a:prstClr val="white"/>
                </a:solidFill>
              </a:rPr>
              <a:t> </a:t>
            </a:r>
            <a:r>
              <a:rPr lang="en-US" altLang="zh-TW" sz="1834" dirty="0">
                <a:solidFill>
                  <a:prstClr val="white"/>
                </a:solidFill>
                <a:sym typeface="Symbol" panose="05050102010706020507" pitchFamily="18" charset="2"/>
              </a:rPr>
              <a:t></a:t>
            </a:r>
            <a:r>
              <a:rPr lang="en-US" altLang="zh-TW" sz="800" dirty="0">
                <a:solidFill>
                  <a:prstClr val="white"/>
                </a:solidFill>
                <a:sym typeface="Symbol" panose="05050102010706020507" pitchFamily="18" charset="2"/>
              </a:rPr>
              <a:t> </a:t>
            </a:r>
            <a:r>
              <a:rPr lang="en-US" altLang="zh-TW" sz="1834" i="1" dirty="0">
                <a:solidFill>
                  <a:prstClr val="white"/>
                </a:solidFill>
                <a:sym typeface="Symbol" panose="05050102010706020507" pitchFamily="18" charset="2"/>
              </a:rPr>
              <a:t>change</a:t>
            </a:r>
            <a:r>
              <a:rPr lang="en-US" altLang="zh-TW" sz="1100" i="1" dirty="0">
                <a:solidFill>
                  <a:prstClr val="white"/>
                </a:solidFill>
                <a:sym typeface="Symbol" panose="05050102010706020507" pitchFamily="18" charset="2"/>
              </a:rPr>
              <a:t> </a:t>
            </a:r>
            <a:r>
              <a:rPr lang="en-US" altLang="zh-TW" sz="1834" dirty="0">
                <a:solidFill>
                  <a:prstClr val="white"/>
                </a:solidFill>
                <a:sym typeface="Symbol" panose="05050102010706020507" pitchFamily="18" charset="2"/>
              </a:rPr>
              <a:t></a:t>
            </a:r>
            <a:r>
              <a:rPr lang="en-US" altLang="zh-TW" sz="800" i="1" dirty="0">
                <a:solidFill>
                  <a:prstClr val="white"/>
                </a:solidFill>
                <a:sym typeface="Symbol" panose="05050102010706020507" pitchFamily="18" charset="2"/>
              </a:rPr>
              <a:t> </a:t>
            </a:r>
            <a:r>
              <a:rPr lang="en-US" altLang="zh-TW" sz="1834" i="1" dirty="0" smtClean="0">
                <a:solidFill>
                  <a:prstClr val="white"/>
                </a:solidFill>
              </a:rPr>
              <a:t>able:</a:t>
            </a:r>
            <a:r>
              <a:rPr lang="en-US" altLang="zh-TW" sz="1834" dirty="0" smtClean="0">
                <a:solidFill>
                  <a:prstClr val="white"/>
                </a:solidFill>
              </a:rPr>
              <a:t> </a:t>
            </a:r>
            <a:r>
              <a:rPr lang="en-US" altLang="zh-TW" sz="1834" dirty="0">
                <a:solidFill>
                  <a:prstClr val="white"/>
                </a:solidFill>
              </a:rPr>
              <a:t>“</a:t>
            </a:r>
            <a:r>
              <a:rPr lang="en-US" altLang="zh-TW" sz="2935" i="1" dirty="0">
                <a:solidFill>
                  <a:prstClr val="white"/>
                </a:solidFill>
              </a:rPr>
              <a:t>cannot be changed</a:t>
            </a:r>
            <a:r>
              <a:rPr lang="en-US" altLang="zh-TW" sz="1834" dirty="0">
                <a:solidFill>
                  <a:prstClr val="white"/>
                </a:solidFill>
              </a:rPr>
              <a:t>”</a:t>
            </a:r>
            <a:endParaRPr lang="zh-TW" altLang="en-US" sz="1834" dirty="0">
              <a:solidFill>
                <a:prstClr val="white"/>
              </a:solidFill>
            </a:endParaRPr>
          </a:p>
        </p:txBody>
      </p:sp>
    </p:spTree>
    <p:extLst>
      <p:ext uri="{BB962C8B-B14F-4D97-AF65-F5344CB8AC3E}">
        <p14:creationId xmlns:p14="http://schemas.microsoft.com/office/powerpoint/2010/main" val="2218488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6"/>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7"/>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8"/>
                                        </p:tgtEl>
                                        <p:attrNameLst>
                                          <p:attrName>style.visibility</p:attrName>
                                        </p:attrNameLst>
                                      </p:cBhvr>
                                      <p:to>
                                        <p:strVal val="hidden"/>
                                      </p:to>
                                    </p:set>
                                  </p:childTnLst>
                                </p:cTn>
                              </p:par>
                            </p:childTnLst>
                          </p:cTn>
                        </p:par>
                        <p:par>
                          <p:cTn id="29" fill="hold">
                            <p:stCondLst>
                              <p:cond delay="0"/>
                            </p:stCondLst>
                            <p:childTnLst>
                              <p:par>
                                <p:cTn id="30" presetID="14" presetClass="entr" presetSubtype="10" fill="hold" nodeType="afterEffect">
                                  <p:stCondLst>
                                    <p:cond delay="0"/>
                                  </p:stCondLst>
                                  <p:childTnLst>
                                    <p:set>
                                      <p:cBhvr>
                                        <p:cTn id="31" dur="1" fill="hold">
                                          <p:stCondLst>
                                            <p:cond delay="0"/>
                                          </p:stCondLst>
                                        </p:cTn>
                                        <p:tgtEl>
                                          <p:spTgt spid="22531">
                                            <p:txEl>
                                              <p:pRg st="5" end="5"/>
                                            </p:txEl>
                                          </p:spTgt>
                                        </p:tgtEl>
                                        <p:attrNameLst>
                                          <p:attrName>style.visibility</p:attrName>
                                        </p:attrNameLst>
                                      </p:cBhvr>
                                      <p:to>
                                        <p:strVal val="visible"/>
                                      </p:to>
                                    </p:set>
                                    <p:animEffect transition="in" filter="randombar(horizontal)">
                                      <p:cBhvr>
                                        <p:cTn id="32" dur="500"/>
                                        <p:tgtEl>
                                          <p:spTgt spid="22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391474" y="1066800"/>
            <a:ext cx="9127430" cy="5715000"/>
          </a:xfrm>
        </p:spPr>
        <p:txBody>
          <a:bodyPr>
            <a:normAutofit/>
          </a:bodyPr>
          <a:lstStyle/>
          <a:p>
            <a:pPr>
              <a:buFontTx/>
              <a:buNone/>
            </a:pPr>
            <a:r>
              <a:rPr lang="en-US" altLang="en-US" sz="4000" dirty="0">
                <a:latin typeface="Times New Roman" panose="02020603050405020304" pitchFamily="18" charset="0"/>
                <a:cs typeface="Times New Roman" panose="02020603050405020304" pitchFamily="18" charset="0"/>
              </a:rPr>
              <a:t>Python has six standard data types:</a:t>
            </a:r>
          </a:p>
          <a:p>
            <a:pPr marL="651966" indent="-555276">
              <a:buFont typeface="+mj-lt"/>
              <a:buAutoNum type="arabicPeriod"/>
            </a:pPr>
            <a:r>
              <a:rPr lang="en-US" altLang="en-US" sz="2800" dirty="0" smtClean="0">
                <a:latin typeface="Elephant" panose="02020904090505020303" pitchFamily="18" charset="0"/>
              </a:rPr>
              <a:t>Number (integer/float/complex/bool)</a:t>
            </a:r>
            <a:endParaRPr lang="en-US" altLang="en-US" sz="2800" dirty="0">
              <a:latin typeface="Elephant" panose="02020904090505020303" pitchFamily="18" charset="0"/>
            </a:endParaRPr>
          </a:p>
          <a:p>
            <a:pPr marL="651966" indent="-555276">
              <a:buFont typeface="+mj-lt"/>
              <a:buAutoNum type="arabicPeriod"/>
            </a:pPr>
            <a:r>
              <a:rPr lang="en-US" altLang="en-US" sz="2800" dirty="0">
                <a:latin typeface="Elephant" panose="02020904090505020303" pitchFamily="18" charset="0"/>
              </a:rPr>
              <a:t>String</a:t>
            </a:r>
          </a:p>
          <a:p>
            <a:pPr marL="651966" indent="-555276">
              <a:buFont typeface="+mj-lt"/>
              <a:buAutoNum type="arabicPeriod"/>
            </a:pPr>
            <a:r>
              <a:rPr lang="en-US" altLang="en-US" sz="2800" dirty="0">
                <a:latin typeface="Elephant" panose="02020904090505020303" pitchFamily="18" charset="0"/>
              </a:rPr>
              <a:t>List</a:t>
            </a:r>
          </a:p>
          <a:p>
            <a:pPr marL="651966" indent="-555276">
              <a:buFont typeface="+mj-lt"/>
              <a:buAutoNum type="arabicPeriod"/>
            </a:pPr>
            <a:r>
              <a:rPr lang="en-US" altLang="en-US" sz="2800" dirty="0">
                <a:latin typeface="Elephant" panose="02020904090505020303" pitchFamily="18" charset="0"/>
              </a:rPr>
              <a:t>Tuple</a:t>
            </a:r>
          </a:p>
          <a:p>
            <a:pPr marL="651966" indent="-555276">
              <a:buFont typeface="+mj-lt"/>
              <a:buAutoNum type="arabicPeriod"/>
            </a:pPr>
            <a:r>
              <a:rPr lang="en-US" altLang="en-US" sz="2800" dirty="0">
                <a:latin typeface="Elephant" panose="02020904090505020303" pitchFamily="18" charset="0"/>
              </a:rPr>
              <a:t>Set</a:t>
            </a:r>
          </a:p>
          <a:p>
            <a:pPr marL="651966" indent="-555276">
              <a:buFont typeface="+mj-lt"/>
              <a:buAutoNum type="arabicPeriod"/>
            </a:pPr>
            <a:r>
              <a:rPr lang="en-US" altLang="en-US" sz="2800" dirty="0">
                <a:latin typeface="Elephant" panose="02020904090505020303" pitchFamily="18" charset="0"/>
              </a:rPr>
              <a:t>Dictionary</a:t>
            </a:r>
          </a:p>
          <a:p>
            <a:pPr marL="96690" indent="0">
              <a:buNone/>
            </a:pPr>
            <a:endParaRPr lang="en-US" altLang="en-US" sz="1400" dirty="0" smtClean="0">
              <a:latin typeface="Elephant" panose="02020904090505020303" pitchFamily="18" charset="0"/>
            </a:endParaRPr>
          </a:p>
          <a:p>
            <a:pPr marL="96690" indent="0">
              <a:buNone/>
            </a:pPr>
            <a:r>
              <a:rPr lang="en-US" altLang="en-US" sz="2800" dirty="0">
                <a:latin typeface="Elephant" panose="02020904090505020303" pitchFamily="18" charset="0"/>
              </a:rPr>
              <a:t>	</a:t>
            </a:r>
            <a:r>
              <a:rPr lang="en-US" altLang="en-US" sz="2800" dirty="0" smtClean="0">
                <a:latin typeface="Elephant" panose="02020904090505020303" pitchFamily="18" charset="0"/>
              </a:rPr>
              <a:t>.  .  . </a:t>
            </a:r>
            <a:endParaRPr lang="en-US" altLang="en-US" sz="2800" dirty="0">
              <a:latin typeface="Elephant" panose="02020904090505020303" pitchFamily="18" charset="0"/>
            </a:endParaRPr>
          </a:p>
          <a:p>
            <a:pPr marL="96690" indent="0">
              <a:buNone/>
            </a:pPr>
            <a:endParaRPr lang="en-US" sz="1600" dirty="0" smtClean="0">
              <a:solidFill>
                <a:srgbClr val="FF0000"/>
              </a:solidFill>
              <a:latin typeface="Elephant" panose="02020904090505020303" pitchFamily="18" charset="0"/>
            </a:endParaRPr>
          </a:p>
          <a:p>
            <a:pPr marL="96690" indent="0">
              <a:buNone/>
            </a:pPr>
            <a:r>
              <a:rPr lang="en-US" sz="2800" dirty="0">
                <a:solidFill>
                  <a:srgbClr val="FF0000"/>
                </a:solidFill>
                <a:latin typeface="Elephant" panose="02020904090505020303" pitchFamily="18" charset="0"/>
              </a:rPr>
              <a:t>	</a:t>
            </a:r>
            <a:r>
              <a:rPr lang="en-US" sz="2800" dirty="0" err="1" smtClean="0">
                <a:solidFill>
                  <a:srgbClr val="FF0000"/>
                </a:solidFill>
              </a:rPr>
              <a:t>frozenset</a:t>
            </a:r>
            <a:r>
              <a:rPr lang="en-US" sz="2800" dirty="0">
                <a:solidFill>
                  <a:srgbClr val="FF0000"/>
                </a:solidFill>
              </a:rPr>
              <a:t>, byte sequence, byte array, range types, etc. </a:t>
            </a:r>
            <a:br>
              <a:rPr lang="en-US" sz="2800" dirty="0">
                <a:solidFill>
                  <a:srgbClr val="FF0000"/>
                </a:solidFill>
              </a:rPr>
            </a:br>
            <a:r>
              <a:rPr lang="en-US" sz="2800" dirty="0">
                <a:solidFill>
                  <a:srgbClr val="FF0000"/>
                </a:solidFill>
              </a:rPr>
              <a:t>	 will be covered later</a:t>
            </a:r>
            <a:r>
              <a:rPr lang="en-US" sz="2800" dirty="0" smtClean="0">
                <a:solidFill>
                  <a:srgbClr val="FF0000"/>
                </a:solidFill>
              </a:rPr>
              <a:t>…</a:t>
            </a:r>
            <a:endParaRPr lang="en-US" altLang="en-US" sz="2800" dirty="0">
              <a:solidFill>
                <a:srgbClr val="FF0000"/>
              </a:solidFill>
              <a:latin typeface="Elephant" panose="02020904090505020303" pitchFamily="18" charset="0"/>
            </a:endParaRPr>
          </a:p>
        </p:txBody>
      </p:sp>
      <p:sp>
        <p:nvSpPr>
          <p:cNvPr id="7" name="Title 1"/>
          <p:cNvSpPr txBox="1">
            <a:spLocks/>
          </p:cNvSpPr>
          <p:nvPr/>
        </p:nvSpPr>
        <p:spPr>
          <a:xfrm>
            <a:off x="0" y="76200"/>
            <a:ext cx="9729788" cy="1002846"/>
          </a:xfrm>
          <a:prstGeom prst="rect">
            <a:avLst/>
          </a:prstGeom>
        </p:spPr>
        <p:txBody>
          <a:bodyPr vert="horz" lIns="91440" tIns="45720" rIns="91440" bIns="45720" rtlCol="0" anchor="ctr">
            <a:normAutofit/>
          </a:bodyPr>
          <a:lstStyle>
            <a:lvl1pPr algn="ctr" defTabSz="729742" rtl="0" eaLnBrk="1" latinLnBrk="0" hangingPunct="1">
              <a:lnSpc>
                <a:spcPct val="90000"/>
              </a:lnSpc>
              <a:spcBef>
                <a:spcPct val="0"/>
              </a:spcBef>
              <a:buNone/>
              <a:defRPr sz="3511" kern="1200">
                <a:solidFill>
                  <a:srgbClr val="002060"/>
                </a:solidFill>
                <a:latin typeface="Elephant" panose="02020904090505020303" pitchFamily="18" charset="0"/>
                <a:ea typeface="+mj-ea"/>
                <a:cs typeface="+mj-cs"/>
              </a:defRPr>
            </a:lvl1pPr>
          </a:lstStyle>
          <a:p>
            <a:r>
              <a:rPr lang="en-US" altLang="en-US" sz="4400" dirty="0" smtClean="0">
                <a:solidFill>
                  <a:srgbClr val="0070C0"/>
                </a:solidFill>
              </a:rPr>
              <a:t>Data Types:</a:t>
            </a:r>
          </a:p>
        </p:txBody>
      </p:sp>
    </p:spTree>
    <p:extLst>
      <p:ext uri="{BB962C8B-B14F-4D97-AF65-F5344CB8AC3E}">
        <p14:creationId xmlns:p14="http://schemas.microsoft.com/office/powerpoint/2010/main" val="962565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randombar(horizontal)">
                                      <p:cBhvr>
                                        <p:cTn id="7" dur="500"/>
                                        <p:tgtEl>
                                          <p:spTgt spid="4">
                                            <p:txEl>
                                              <p:pRg st="8" end="8"/>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10" end="10"/>
                                            </p:txEl>
                                          </p:spTgt>
                                        </p:tgtEl>
                                        <p:attrNameLst>
                                          <p:attrName>style.visibility</p:attrName>
                                        </p:attrNameLst>
                                      </p:cBhvr>
                                      <p:to>
                                        <p:strVal val="visible"/>
                                      </p:to>
                                    </p:set>
                                    <p:animEffect transition="in" filter="randombar(horizontal)">
                                      <p:cBhvr>
                                        <p:cTn id="10"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391474" y="1066800"/>
            <a:ext cx="9127430" cy="5715000"/>
          </a:xfrm>
        </p:spPr>
        <p:txBody>
          <a:bodyPr>
            <a:normAutofit/>
          </a:bodyPr>
          <a:lstStyle/>
          <a:p>
            <a:pPr>
              <a:buFontTx/>
              <a:buNone/>
            </a:pPr>
            <a:r>
              <a:rPr lang="en-US" altLang="en-US" sz="4000" dirty="0">
                <a:latin typeface="Times New Roman" panose="02020603050405020304" pitchFamily="18" charset="0"/>
                <a:cs typeface="Times New Roman" panose="02020603050405020304" pitchFamily="18" charset="0"/>
              </a:rPr>
              <a:t>Python has six standard data types:</a:t>
            </a:r>
          </a:p>
          <a:p>
            <a:pPr marL="651966" indent="-555276">
              <a:buFont typeface="+mj-lt"/>
              <a:buAutoNum type="arabicPeriod"/>
            </a:pPr>
            <a:r>
              <a:rPr lang="en-US" altLang="en-US" sz="2800" dirty="0" smtClean="0">
                <a:solidFill>
                  <a:srgbClr val="FF0000"/>
                </a:solidFill>
                <a:latin typeface="Elephant" panose="02020904090505020303" pitchFamily="18" charset="0"/>
              </a:rPr>
              <a:t>Number</a:t>
            </a:r>
            <a:r>
              <a:rPr lang="en-US" altLang="en-US" sz="2800" dirty="0" smtClean="0">
                <a:latin typeface="Elephant" panose="02020904090505020303" pitchFamily="18" charset="0"/>
              </a:rPr>
              <a:t> (integer/float/complex/bool)</a:t>
            </a:r>
            <a:endParaRPr lang="en-US" altLang="en-US" sz="2800" dirty="0">
              <a:latin typeface="Elephant" panose="02020904090505020303" pitchFamily="18" charset="0"/>
            </a:endParaRPr>
          </a:p>
          <a:p>
            <a:pPr marL="651966" indent="-555276">
              <a:buFont typeface="+mj-lt"/>
              <a:buAutoNum type="arabicPeriod"/>
            </a:pPr>
            <a:r>
              <a:rPr lang="en-US" altLang="en-US" sz="2800" dirty="0">
                <a:solidFill>
                  <a:srgbClr val="B2B2B2"/>
                </a:solidFill>
                <a:latin typeface="Elephant" panose="02020904090505020303" pitchFamily="18" charset="0"/>
              </a:rPr>
              <a:t>String</a:t>
            </a:r>
          </a:p>
          <a:p>
            <a:pPr marL="651966" indent="-555276">
              <a:buFont typeface="+mj-lt"/>
              <a:buAutoNum type="arabicPeriod"/>
            </a:pPr>
            <a:r>
              <a:rPr lang="en-US" altLang="en-US" sz="2800" dirty="0">
                <a:solidFill>
                  <a:srgbClr val="B2B2B2"/>
                </a:solidFill>
                <a:latin typeface="Elephant" panose="02020904090505020303" pitchFamily="18" charset="0"/>
              </a:rPr>
              <a:t>List</a:t>
            </a:r>
          </a:p>
          <a:p>
            <a:pPr marL="651966" indent="-555276">
              <a:buFont typeface="+mj-lt"/>
              <a:buAutoNum type="arabicPeriod"/>
            </a:pPr>
            <a:r>
              <a:rPr lang="en-US" altLang="en-US" sz="2800" dirty="0">
                <a:solidFill>
                  <a:srgbClr val="B2B2B2"/>
                </a:solidFill>
                <a:latin typeface="Elephant" panose="02020904090505020303" pitchFamily="18" charset="0"/>
              </a:rPr>
              <a:t>Tuple</a:t>
            </a:r>
          </a:p>
          <a:p>
            <a:pPr marL="651966" indent="-555276">
              <a:buFont typeface="+mj-lt"/>
              <a:buAutoNum type="arabicPeriod"/>
            </a:pPr>
            <a:r>
              <a:rPr lang="en-US" altLang="en-US" sz="2800" dirty="0">
                <a:solidFill>
                  <a:srgbClr val="B2B2B2"/>
                </a:solidFill>
                <a:latin typeface="Elephant" panose="02020904090505020303" pitchFamily="18" charset="0"/>
              </a:rPr>
              <a:t>Set</a:t>
            </a:r>
          </a:p>
          <a:p>
            <a:pPr marL="651966" indent="-555276">
              <a:buFont typeface="+mj-lt"/>
              <a:buAutoNum type="arabicPeriod"/>
            </a:pPr>
            <a:r>
              <a:rPr lang="en-US" altLang="en-US" sz="2800" dirty="0">
                <a:solidFill>
                  <a:srgbClr val="B2B2B2"/>
                </a:solidFill>
                <a:latin typeface="Elephant" panose="02020904090505020303" pitchFamily="18" charset="0"/>
              </a:rPr>
              <a:t>Dictionary</a:t>
            </a:r>
          </a:p>
          <a:p>
            <a:pPr marL="96690" indent="0">
              <a:buNone/>
            </a:pPr>
            <a:endParaRPr lang="en-US" altLang="en-US" sz="1400" dirty="0" smtClean="0">
              <a:latin typeface="Elephant" panose="02020904090505020303" pitchFamily="18" charset="0"/>
            </a:endParaRPr>
          </a:p>
          <a:p>
            <a:pPr marL="96690" indent="0">
              <a:buNone/>
            </a:pPr>
            <a:r>
              <a:rPr lang="en-US" altLang="en-US" sz="2800" dirty="0">
                <a:latin typeface="Elephant" panose="02020904090505020303" pitchFamily="18" charset="0"/>
              </a:rPr>
              <a:t>	</a:t>
            </a:r>
            <a:r>
              <a:rPr lang="en-US" altLang="en-US" sz="2800" dirty="0" smtClean="0">
                <a:latin typeface="Elephant" panose="02020904090505020303" pitchFamily="18" charset="0"/>
              </a:rPr>
              <a:t>.  .  . </a:t>
            </a:r>
            <a:endParaRPr lang="en-US" altLang="en-US" sz="2800" dirty="0">
              <a:latin typeface="Elephant" panose="02020904090505020303" pitchFamily="18" charset="0"/>
            </a:endParaRPr>
          </a:p>
          <a:p>
            <a:pPr marL="96690" indent="0">
              <a:buNone/>
            </a:pPr>
            <a:endParaRPr lang="en-US" sz="1600" dirty="0" smtClean="0">
              <a:solidFill>
                <a:srgbClr val="FF0000"/>
              </a:solidFill>
              <a:latin typeface="Elephant" panose="02020904090505020303" pitchFamily="18" charset="0"/>
            </a:endParaRPr>
          </a:p>
          <a:p>
            <a:pPr marL="96690" indent="0">
              <a:buNone/>
            </a:pPr>
            <a:r>
              <a:rPr lang="en-US" sz="2800" dirty="0">
                <a:solidFill>
                  <a:srgbClr val="FF0000"/>
                </a:solidFill>
                <a:latin typeface="Elephant" panose="02020904090505020303" pitchFamily="18" charset="0"/>
              </a:rPr>
              <a:t>	</a:t>
            </a:r>
            <a:r>
              <a:rPr lang="en-US" sz="2800" dirty="0" err="1" smtClean="0">
                <a:solidFill>
                  <a:srgbClr val="FF0000"/>
                </a:solidFill>
              </a:rPr>
              <a:t>frozenset</a:t>
            </a:r>
            <a:r>
              <a:rPr lang="en-US" sz="2800" dirty="0">
                <a:solidFill>
                  <a:srgbClr val="FF0000"/>
                </a:solidFill>
              </a:rPr>
              <a:t>, byte sequence, byte array, range types, etc. </a:t>
            </a:r>
            <a:br>
              <a:rPr lang="en-US" sz="2800" dirty="0">
                <a:solidFill>
                  <a:srgbClr val="FF0000"/>
                </a:solidFill>
              </a:rPr>
            </a:br>
            <a:r>
              <a:rPr lang="en-US" sz="2800" dirty="0">
                <a:solidFill>
                  <a:srgbClr val="FF0000"/>
                </a:solidFill>
              </a:rPr>
              <a:t>	 will be covered later</a:t>
            </a:r>
            <a:r>
              <a:rPr lang="en-US" sz="2800" dirty="0" smtClean="0">
                <a:solidFill>
                  <a:srgbClr val="FF0000"/>
                </a:solidFill>
              </a:rPr>
              <a:t>…</a:t>
            </a:r>
            <a:endParaRPr lang="en-US" altLang="en-US" sz="2800" dirty="0">
              <a:solidFill>
                <a:srgbClr val="FF0000"/>
              </a:solidFill>
              <a:latin typeface="Elephant" panose="02020904090505020303" pitchFamily="18" charset="0"/>
            </a:endParaRPr>
          </a:p>
        </p:txBody>
      </p:sp>
      <p:sp>
        <p:nvSpPr>
          <p:cNvPr id="7" name="Title 1"/>
          <p:cNvSpPr txBox="1">
            <a:spLocks/>
          </p:cNvSpPr>
          <p:nvPr/>
        </p:nvSpPr>
        <p:spPr>
          <a:xfrm>
            <a:off x="0" y="76200"/>
            <a:ext cx="9729788" cy="1002846"/>
          </a:xfrm>
          <a:prstGeom prst="rect">
            <a:avLst/>
          </a:prstGeom>
        </p:spPr>
        <p:txBody>
          <a:bodyPr vert="horz" lIns="91440" tIns="45720" rIns="91440" bIns="45720" rtlCol="0" anchor="ctr">
            <a:normAutofit/>
          </a:bodyPr>
          <a:lstStyle>
            <a:lvl1pPr algn="ctr" defTabSz="729742" rtl="0" eaLnBrk="1" latinLnBrk="0" hangingPunct="1">
              <a:lnSpc>
                <a:spcPct val="90000"/>
              </a:lnSpc>
              <a:spcBef>
                <a:spcPct val="0"/>
              </a:spcBef>
              <a:buNone/>
              <a:defRPr sz="3511" kern="1200">
                <a:solidFill>
                  <a:srgbClr val="002060"/>
                </a:solidFill>
                <a:latin typeface="Elephant" panose="02020904090505020303" pitchFamily="18" charset="0"/>
                <a:ea typeface="+mj-ea"/>
                <a:cs typeface="+mj-cs"/>
              </a:defRPr>
            </a:lvl1pPr>
          </a:lstStyle>
          <a:p>
            <a:r>
              <a:rPr lang="en-US" altLang="en-US" sz="4400" dirty="0" smtClean="0">
                <a:solidFill>
                  <a:srgbClr val="0070C0"/>
                </a:solidFill>
              </a:rPr>
              <a:t>Data Types:</a:t>
            </a:r>
          </a:p>
        </p:txBody>
      </p:sp>
    </p:spTree>
    <p:extLst>
      <p:ext uri="{BB962C8B-B14F-4D97-AF65-F5344CB8AC3E}">
        <p14:creationId xmlns:p14="http://schemas.microsoft.com/office/powerpoint/2010/main" val="24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xit" presetSubtype="10" fill="hold" nodeType="withEffect">
                                  <p:stCondLst>
                                    <p:cond delay="0"/>
                                  </p:stCondLst>
                                  <p:childTnLst>
                                    <p:animEffect transition="out" filter="randombar(horizontal)">
                                      <p:cBhvr>
                                        <p:cTn id="6" dur="500"/>
                                        <p:tgtEl>
                                          <p:spTgt spid="4">
                                            <p:txEl>
                                              <p:pRg st="8" end="8"/>
                                            </p:txEl>
                                          </p:spTgt>
                                        </p:tgtEl>
                                      </p:cBhvr>
                                    </p:animEffect>
                                    <p:set>
                                      <p:cBhvr>
                                        <p:cTn id="7" dur="1" fill="hold">
                                          <p:stCondLst>
                                            <p:cond delay="499"/>
                                          </p:stCondLst>
                                        </p:cTn>
                                        <p:tgtEl>
                                          <p:spTgt spid="4">
                                            <p:txEl>
                                              <p:pRg st="8" end="8"/>
                                            </p:txEl>
                                          </p:spTgt>
                                        </p:tgtEl>
                                        <p:attrNameLst>
                                          <p:attrName>style.visibility</p:attrName>
                                        </p:attrNameLst>
                                      </p:cBhvr>
                                      <p:to>
                                        <p:strVal val="hidden"/>
                                      </p:to>
                                    </p:set>
                                  </p:childTnLst>
                                </p:cTn>
                              </p:par>
                              <p:par>
                                <p:cTn id="8" presetID="14" presetClass="exit" presetSubtype="10" fill="hold" nodeType="withEffect">
                                  <p:stCondLst>
                                    <p:cond delay="0"/>
                                  </p:stCondLst>
                                  <p:childTnLst>
                                    <p:animEffect transition="out" filter="randombar(horizontal)">
                                      <p:cBhvr>
                                        <p:cTn id="9" dur="500"/>
                                        <p:tgtEl>
                                          <p:spTgt spid="4">
                                            <p:txEl>
                                              <p:pRg st="10" end="10"/>
                                            </p:txEl>
                                          </p:spTgt>
                                        </p:tgtEl>
                                      </p:cBhvr>
                                    </p:animEffect>
                                    <p:set>
                                      <p:cBhvr>
                                        <p:cTn id="10" dur="1" fill="hold">
                                          <p:stCondLst>
                                            <p:cond delay="499"/>
                                          </p:stCondLst>
                                        </p:cTn>
                                        <p:tgtEl>
                                          <p:spTgt spid="4">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 y="1"/>
            <a:ext cx="9729788" cy="1161142"/>
          </a:xfrm>
        </p:spPr>
        <p:txBody>
          <a:bodyPr>
            <a:normAutofit/>
          </a:bodyPr>
          <a:lstStyle/>
          <a:p>
            <a:r>
              <a:rPr lang="en-US" altLang="en-US" sz="4400" dirty="0" smtClean="0">
                <a:solidFill>
                  <a:srgbClr val="0070C0"/>
                </a:solidFill>
              </a:rPr>
              <a:t>1. Numbers</a:t>
            </a:r>
            <a:endParaRPr lang="en-US" altLang="en-US" sz="4400" dirty="0">
              <a:solidFill>
                <a:srgbClr val="0070C0"/>
              </a:solidFill>
            </a:endParaRPr>
          </a:p>
        </p:txBody>
      </p:sp>
      <p:sp>
        <p:nvSpPr>
          <p:cNvPr id="7" name="Content Placeholder 2"/>
          <p:cNvSpPr>
            <a:spLocks noGrp="1"/>
          </p:cNvSpPr>
          <p:nvPr>
            <p:ph idx="1"/>
          </p:nvPr>
        </p:nvSpPr>
        <p:spPr>
          <a:xfrm>
            <a:off x="201168" y="1050324"/>
            <a:ext cx="9400032" cy="5594316"/>
          </a:xfrm>
        </p:spPr>
        <p:txBody>
          <a:bodyPr>
            <a:noAutofit/>
          </a:bodyPr>
          <a:lstStyle/>
          <a:p>
            <a:pPr marL="346075" indent="-346075"/>
            <a:r>
              <a:rPr lang="en-US" altLang="en-US" sz="3200" dirty="0" smtClean="0"/>
              <a:t>Numbers are </a:t>
            </a:r>
            <a:r>
              <a:rPr lang="en-US" altLang="en-US" sz="3200" b="1" i="1" dirty="0" smtClean="0">
                <a:solidFill>
                  <a:srgbClr val="008000"/>
                </a:solidFill>
              </a:rPr>
              <a:t>immutable</a:t>
            </a:r>
            <a:r>
              <a:rPr lang="en-US" altLang="en-US" sz="3200" dirty="0" smtClean="0"/>
              <a:t>, </a:t>
            </a:r>
            <a:r>
              <a:rPr lang="en-US" altLang="en-US" sz="3200" dirty="0"/>
              <a:t>which means that changing the </a:t>
            </a:r>
            <a:r>
              <a:rPr lang="en-US" altLang="en-US" sz="3200" dirty="0" smtClean="0"/>
              <a:t>value </a:t>
            </a:r>
            <a:r>
              <a:rPr lang="en-US" altLang="en-US" sz="3200" dirty="0"/>
              <a:t>results in </a:t>
            </a:r>
            <a:r>
              <a:rPr lang="en-US" altLang="en-US" sz="3200" dirty="0" smtClean="0"/>
              <a:t>the allocation of a new </a:t>
            </a:r>
            <a:r>
              <a:rPr lang="en-US" altLang="en-US" sz="3200" dirty="0"/>
              <a:t>object</a:t>
            </a:r>
            <a:r>
              <a:rPr lang="en-US" altLang="en-US" sz="3200" dirty="0" smtClean="0"/>
              <a:t>.</a:t>
            </a:r>
            <a:br>
              <a:rPr lang="en-US" altLang="en-US" sz="3200" dirty="0" smtClean="0"/>
            </a:br>
            <a:endParaRPr lang="en-US" altLang="en-US" sz="1200" dirty="0"/>
          </a:p>
          <a:p>
            <a:pPr marL="346075" indent="-346075">
              <a:spcBef>
                <a:spcPts val="1800"/>
              </a:spcBef>
            </a:pPr>
            <a:r>
              <a:rPr lang="en-US" altLang="en-US" sz="3200" dirty="0"/>
              <a:t>Number objects are created </a:t>
            </a:r>
            <a:r>
              <a:rPr lang="en-US" altLang="en-US" sz="3200" dirty="0" smtClean="0"/>
              <a:t>when they are assigned:</a:t>
            </a:r>
            <a:endParaRPr lang="en-US" altLang="en-US" sz="3200" dirty="0"/>
          </a:p>
          <a:p>
            <a:pPr marL="346075" indent="-346075">
              <a:spcBef>
                <a:spcPts val="1200"/>
              </a:spcBef>
              <a:buFontTx/>
              <a:buNone/>
            </a:pPr>
            <a:r>
              <a:rPr lang="en-US" altLang="en-US" sz="2800" dirty="0">
                <a:latin typeface="Lucida Sans Typewriter" panose="020B0509030504030204" pitchFamily="49" charset="0"/>
              </a:rPr>
              <a:t>	</a:t>
            </a:r>
            <a:r>
              <a:rPr lang="en-US" altLang="en-US" sz="2800" dirty="0" smtClean="0">
                <a:latin typeface="Lucida Sans Typewriter" panose="020B0509030504030204" pitchFamily="49" charset="0"/>
              </a:rPr>
              <a:t> </a:t>
            </a:r>
            <a:r>
              <a:rPr lang="en-US" altLang="en-US" sz="2800" dirty="0" smtClean="0">
                <a:solidFill>
                  <a:schemeClr val="bg1">
                    <a:lumMod val="75000"/>
                  </a:schemeClr>
                </a:solidFill>
                <a:latin typeface="Lucida Sans Typewriter" panose="020B0509030504030204" pitchFamily="49" charset="0"/>
              </a:rPr>
              <a:t>&gt;&gt;&gt;</a:t>
            </a:r>
            <a:r>
              <a:rPr lang="en-US" altLang="en-US" sz="2800" dirty="0" smtClean="0">
                <a:latin typeface="Lucida Sans Typewriter" panose="020B0509030504030204" pitchFamily="49" charset="0"/>
              </a:rPr>
              <a:t> </a:t>
            </a:r>
            <a:r>
              <a:rPr lang="en-US" altLang="en-US" sz="2800" dirty="0" smtClean="0">
                <a:latin typeface="Lucida Sans Typewriter" panose="020B0509030504030204" pitchFamily="49" charset="0"/>
                <a:cs typeface="Courier New" panose="02070309020205020404" pitchFamily="49" charset="0"/>
              </a:rPr>
              <a:t>var1 </a:t>
            </a:r>
            <a:r>
              <a:rPr lang="en-US" altLang="en-US" sz="2800" dirty="0">
                <a:latin typeface="Lucida Sans Typewriter" panose="020B0509030504030204" pitchFamily="49" charset="0"/>
                <a:cs typeface="Courier New" panose="02070309020205020404" pitchFamily="49" charset="0"/>
              </a:rPr>
              <a:t>= 1 </a:t>
            </a:r>
          </a:p>
          <a:p>
            <a:pPr marL="346075" indent="-346075">
              <a:spcBef>
                <a:spcPts val="0"/>
              </a:spcBef>
              <a:buFontTx/>
              <a:buNone/>
            </a:pPr>
            <a:r>
              <a:rPr lang="en-US" altLang="en-US" sz="2800" dirty="0">
                <a:latin typeface="Lucida Sans Typewriter" panose="020B0509030504030204" pitchFamily="49" charset="0"/>
                <a:cs typeface="Courier New" panose="02070309020205020404" pitchFamily="49" charset="0"/>
              </a:rPr>
              <a:t>	</a:t>
            </a:r>
            <a:r>
              <a:rPr lang="en-US" altLang="en-US" sz="2800" dirty="0" smtClean="0">
                <a:latin typeface="Lucida Sans Typewriter" panose="020B0509030504030204" pitchFamily="49" charset="0"/>
                <a:cs typeface="Courier New" panose="02070309020205020404" pitchFamily="49" charset="0"/>
              </a:rPr>
              <a:t> </a:t>
            </a:r>
            <a:r>
              <a:rPr lang="en-US" altLang="en-US" sz="2800" dirty="0" smtClean="0">
                <a:solidFill>
                  <a:schemeClr val="bg1">
                    <a:lumMod val="75000"/>
                  </a:schemeClr>
                </a:solidFill>
                <a:latin typeface="Lucida Sans Typewriter" panose="020B0509030504030204" pitchFamily="49" charset="0"/>
                <a:cs typeface="Courier New" panose="02070309020205020404" pitchFamily="49" charset="0"/>
              </a:rPr>
              <a:t>&gt;&gt;&gt;</a:t>
            </a:r>
            <a:r>
              <a:rPr lang="en-US" altLang="en-US" sz="2800" dirty="0" smtClean="0">
                <a:latin typeface="Lucida Sans Typewriter" panose="020B0509030504030204" pitchFamily="49" charset="0"/>
                <a:cs typeface="Courier New" panose="02070309020205020404" pitchFamily="49" charset="0"/>
              </a:rPr>
              <a:t> var2 </a:t>
            </a:r>
            <a:r>
              <a:rPr lang="en-US" altLang="en-US" sz="2800" dirty="0">
                <a:latin typeface="Lucida Sans Typewriter" panose="020B0509030504030204" pitchFamily="49" charset="0"/>
                <a:cs typeface="Courier New" panose="02070309020205020404" pitchFamily="49" charset="0"/>
              </a:rPr>
              <a:t>= </a:t>
            </a:r>
            <a:r>
              <a:rPr lang="en-US" altLang="en-US" sz="2800" dirty="0" smtClean="0">
                <a:latin typeface="Lucida Sans Typewriter" panose="020B0509030504030204" pitchFamily="49" charset="0"/>
                <a:cs typeface="Courier New" panose="02070309020205020404" pitchFamily="49" charset="0"/>
              </a:rPr>
              <a:t>10.5</a:t>
            </a:r>
          </a:p>
          <a:p>
            <a:pPr marL="346075" indent="-346075">
              <a:spcBef>
                <a:spcPts val="0"/>
              </a:spcBef>
              <a:buFontTx/>
              <a:buNone/>
            </a:pPr>
            <a:r>
              <a:rPr lang="en-US" altLang="en-US" sz="2800" dirty="0">
                <a:latin typeface="Lucida Sans Typewriter" panose="020B0509030504030204" pitchFamily="49" charset="0"/>
                <a:cs typeface="Courier New" panose="02070309020205020404" pitchFamily="49" charset="0"/>
              </a:rPr>
              <a:t>	</a:t>
            </a:r>
            <a:r>
              <a:rPr lang="en-US" altLang="en-US" sz="2800" dirty="0" smtClean="0">
                <a:latin typeface="Lucida Sans Typewriter" panose="020B0509030504030204" pitchFamily="49" charset="0"/>
                <a:cs typeface="Courier New" panose="02070309020205020404" pitchFamily="49" charset="0"/>
              </a:rPr>
              <a:t> </a:t>
            </a:r>
            <a:r>
              <a:rPr lang="en-US" altLang="en-US" sz="2800" dirty="0" smtClean="0">
                <a:solidFill>
                  <a:schemeClr val="bg1">
                    <a:lumMod val="75000"/>
                  </a:schemeClr>
                </a:solidFill>
                <a:latin typeface="Lucida Sans Typewriter" panose="020B0509030504030204" pitchFamily="49" charset="0"/>
                <a:cs typeface="Courier New" panose="02070309020205020404" pitchFamily="49" charset="0"/>
              </a:rPr>
              <a:t>&gt;&gt;&gt; </a:t>
            </a:r>
            <a:r>
              <a:rPr lang="en-US" altLang="en-US" sz="2800" dirty="0" smtClean="0">
                <a:latin typeface="Lucida Sans Typewriter" panose="020B0509030504030204" pitchFamily="49" charset="0"/>
                <a:cs typeface="Courier New" panose="02070309020205020404" pitchFamily="49" charset="0"/>
              </a:rPr>
              <a:t>var1 = 5+3j</a:t>
            </a:r>
          </a:p>
          <a:p>
            <a:pPr marL="346075" indent="-346075">
              <a:spcBef>
                <a:spcPts val="0"/>
              </a:spcBef>
              <a:buFontTx/>
              <a:buNone/>
            </a:pPr>
            <a:endParaRPr lang="en-US" altLang="en-US" sz="3200" dirty="0" smtClean="0">
              <a:latin typeface="Lucida Sans Typewriter" panose="020B0509030504030204" pitchFamily="49" charset="0"/>
              <a:cs typeface="Courier New" panose="02070309020205020404" pitchFamily="49" charset="0"/>
            </a:endParaRPr>
          </a:p>
          <a:p>
            <a:pPr marL="346075" indent="-346075">
              <a:spcBef>
                <a:spcPts val="0"/>
              </a:spcBef>
            </a:pPr>
            <a:r>
              <a:rPr lang="en-US" altLang="en-US" sz="3200" dirty="0" smtClean="0">
                <a:cs typeface="Courier New" panose="02070309020205020404" pitchFamily="49" charset="0"/>
              </a:rPr>
              <a:t>You </a:t>
            </a:r>
            <a:r>
              <a:rPr lang="en-US" altLang="en-US" sz="3200" dirty="0">
                <a:cs typeface="Courier New" panose="02070309020205020404" pitchFamily="49" charset="0"/>
              </a:rPr>
              <a:t>can also delete the reference to a number object </a:t>
            </a:r>
            <a:r>
              <a:rPr lang="en-US" altLang="en-US" sz="3200" dirty="0" smtClean="0">
                <a:cs typeface="Courier New" panose="02070309020205020404" pitchFamily="49" charset="0"/>
              </a:rPr>
              <a:t>or objects by </a:t>
            </a:r>
            <a:r>
              <a:rPr lang="en-US" altLang="en-US" sz="3200" dirty="0">
                <a:cs typeface="Courier New" panose="02070309020205020404" pitchFamily="49" charset="0"/>
              </a:rPr>
              <a:t>using the del </a:t>
            </a:r>
            <a:r>
              <a:rPr lang="en-US" altLang="en-US" sz="3200" dirty="0" smtClean="0">
                <a:cs typeface="Courier New" panose="02070309020205020404" pitchFamily="49" charset="0"/>
              </a:rPr>
              <a:t>statement:</a:t>
            </a:r>
            <a:endParaRPr lang="en-US" altLang="en-US" sz="3200" dirty="0">
              <a:cs typeface="Courier New" panose="02070309020205020404" pitchFamily="49" charset="0"/>
            </a:endParaRPr>
          </a:p>
          <a:p>
            <a:pPr marL="346075" indent="-346075">
              <a:spcBef>
                <a:spcPts val="1200"/>
              </a:spcBef>
              <a:buFontTx/>
              <a:buNone/>
            </a:pPr>
            <a:r>
              <a:rPr lang="en-US" altLang="en-US" sz="2800" dirty="0">
                <a:latin typeface="Lucida Sans Typewriter" panose="020B0509030504030204" pitchFamily="49" charset="0"/>
                <a:cs typeface="Courier New" panose="02070309020205020404" pitchFamily="49" charset="0"/>
              </a:rPr>
              <a:t>	</a:t>
            </a:r>
            <a:r>
              <a:rPr lang="en-US" altLang="en-US" sz="2800" dirty="0">
                <a:solidFill>
                  <a:schemeClr val="bg1">
                    <a:lumMod val="75000"/>
                  </a:schemeClr>
                </a:solidFill>
                <a:latin typeface="Lucida Sans Typewriter" panose="020B0509030504030204" pitchFamily="49" charset="0"/>
                <a:cs typeface="Courier New" panose="02070309020205020404" pitchFamily="49" charset="0"/>
              </a:rPr>
              <a:t> &gt;&gt;&gt; </a:t>
            </a:r>
            <a:r>
              <a:rPr lang="en-US" altLang="en-US" sz="2800" dirty="0" smtClean="0">
                <a:latin typeface="Lucida Sans Typewriter" panose="020B0509030504030204" pitchFamily="49" charset="0"/>
                <a:cs typeface="Courier New" panose="02070309020205020404" pitchFamily="49" charset="0"/>
              </a:rPr>
              <a:t>del var1</a:t>
            </a:r>
            <a:endParaRPr lang="en-US" altLang="en-US" sz="2800" dirty="0">
              <a:latin typeface="Lucida Sans Typewriter" panose="020B0509030504030204" pitchFamily="49" charset="0"/>
              <a:cs typeface="Courier New" panose="02070309020205020404" pitchFamily="49" charset="0"/>
            </a:endParaRPr>
          </a:p>
          <a:p>
            <a:pPr marL="346075" indent="-346075">
              <a:spcBef>
                <a:spcPts val="0"/>
              </a:spcBef>
              <a:buFontTx/>
              <a:buNone/>
            </a:pPr>
            <a:r>
              <a:rPr lang="en-US" altLang="en-US" sz="2800" dirty="0">
                <a:latin typeface="Lucida Sans Typewriter" panose="020B0509030504030204" pitchFamily="49" charset="0"/>
                <a:cs typeface="Courier New" panose="02070309020205020404" pitchFamily="49" charset="0"/>
              </a:rPr>
              <a:t>	</a:t>
            </a:r>
            <a:r>
              <a:rPr lang="en-US" altLang="en-US" sz="2800" dirty="0">
                <a:solidFill>
                  <a:schemeClr val="bg1">
                    <a:lumMod val="75000"/>
                  </a:schemeClr>
                </a:solidFill>
                <a:latin typeface="Lucida Sans Typewriter" panose="020B0509030504030204" pitchFamily="49" charset="0"/>
                <a:cs typeface="Courier New" panose="02070309020205020404" pitchFamily="49" charset="0"/>
              </a:rPr>
              <a:t> &gt;&gt;&gt; </a:t>
            </a:r>
            <a:r>
              <a:rPr lang="en-US" altLang="en-US" sz="2800" dirty="0" smtClean="0">
                <a:latin typeface="Lucida Sans Typewriter" panose="020B0509030504030204" pitchFamily="49" charset="0"/>
                <a:cs typeface="Courier New" panose="02070309020205020404" pitchFamily="49" charset="0"/>
              </a:rPr>
              <a:t>del </a:t>
            </a:r>
            <a:r>
              <a:rPr lang="en-US" altLang="en-US" sz="2800" dirty="0" err="1">
                <a:latin typeface="Lucida Sans Typewriter" panose="020B0509030504030204" pitchFamily="49" charset="0"/>
                <a:cs typeface="Courier New" panose="02070309020205020404" pitchFamily="49" charset="0"/>
              </a:rPr>
              <a:t>var_a</a:t>
            </a:r>
            <a:r>
              <a:rPr lang="en-US" altLang="en-US" sz="2800" dirty="0">
                <a:latin typeface="Lucida Sans Typewriter" panose="020B0509030504030204" pitchFamily="49" charset="0"/>
                <a:cs typeface="Courier New" panose="02070309020205020404" pitchFamily="49" charset="0"/>
              </a:rPr>
              <a:t>, </a:t>
            </a:r>
            <a:r>
              <a:rPr lang="en-US" altLang="en-US" sz="2800" dirty="0" err="1">
                <a:latin typeface="Lucida Sans Typewriter" panose="020B0509030504030204" pitchFamily="49" charset="0"/>
                <a:cs typeface="Courier New" panose="02070309020205020404" pitchFamily="49" charset="0"/>
              </a:rPr>
              <a:t>var_b</a:t>
            </a:r>
            <a:r>
              <a:rPr lang="en-US" altLang="en-US" sz="2800" dirty="0">
                <a:latin typeface="Lucida Sans Typewriter" panose="020B0509030504030204" pitchFamily="49" charset="0"/>
                <a:cs typeface="Courier New" panose="02070309020205020404" pitchFamily="49" charset="0"/>
              </a:rPr>
              <a:t> </a:t>
            </a:r>
          </a:p>
        </p:txBody>
      </p:sp>
    </p:spTree>
    <p:extLst>
      <p:ext uri="{BB962C8B-B14F-4D97-AF65-F5344CB8AC3E}">
        <p14:creationId xmlns:p14="http://schemas.microsoft.com/office/powerpoint/2010/main" val="236444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randombar(horizontal)">
                                      <p:cBhvr>
                                        <p:cTn id="7" dur="500"/>
                                        <p:tgtEl>
                                          <p:spTgt spid="7">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randombar(horizontal)">
                                      <p:cBhvr>
                                        <p:cTn id="10" dur="500"/>
                                        <p:tgtEl>
                                          <p:spTgt spid="7">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randombar(horizontal)">
                                      <p:cBhvr>
                                        <p:cTn id="13" dur="500"/>
                                        <p:tgtEl>
                                          <p:spTgt spid="7">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randombar(horizontal)">
                                      <p:cBhvr>
                                        <p:cTn id="16" dur="500"/>
                                        <p:tgtEl>
                                          <p:spTgt spid="7">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animEffect transition="in" filter="randombar(horizontal)">
                                      <p:cBhvr>
                                        <p:cTn id="21" dur="500"/>
                                        <p:tgtEl>
                                          <p:spTgt spid="7">
                                            <p:txEl>
                                              <p:pRg st="6" end="6"/>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7">
                                            <p:txEl>
                                              <p:pRg st="7" end="7"/>
                                            </p:txEl>
                                          </p:spTgt>
                                        </p:tgtEl>
                                        <p:attrNameLst>
                                          <p:attrName>style.visibility</p:attrName>
                                        </p:attrNameLst>
                                      </p:cBhvr>
                                      <p:to>
                                        <p:strVal val="visible"/>
                                      </p:to>
                                    </p:set>
                                    <p:animEffect transition="in" filter="randombar(horizontal)">
                                      <p:cBhvr>
                                        <p:cTn id="24" dur="500"/>
                                        <p:tgtEl>
                                          <p:spTgt spid="7">
                                            <p:txEl>
                                              <p:pRg st="7" end="7"/>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animEffect transition="in" filter="randombar(horizontal)">
                                      <p:cBhvr>
                                        <p:cTn id="2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Number Examples:</a:t>
            </a:r>
          </a:p>
        </p:txBody>
      </p:sp>
      <p:graphicFrame>
        <p:nvGraphicFramePr>
          <p:cNvPr id="5" name="Content Placeholder 4"/>
          <p:cNvGraphicFramePr>
            <a:graphicFrameLocks noGrp="1"/>
          </p:cNvGraphicFramePr>
          <p:nvPr>
            <p:ph idx="1"/>
            <p:extLst/>
          </p:nvPr>
        </p:nvGraphicFramePr>
        <p:xfrm>
          <a:off x="521494" y="3775032"/>
          <a:ext cx="8428734" cy="2971800"/>
        </p:xfrm>
        <a:graphic>
          <a:graphicData uri="http://schemas.openxmlformats.org/drawingml/2006/table">
            <a:tbl>
              <a:tblPr/>
              <a:tblGrid>
                <a:gridCol w="990600">
                  <a:extLst>
                    <a:ext uri="{9D8B030D-6E8A-4147-A177-3AD203B41FA5}">
                      <a16:colId xmlns:a16="http://schemas.microsoft.com/office/drawing/2014/main" xmlns="" val="20000"/>
                    </a:ext>
                  </a:extLst>
                </a:gridCol>
                <a:gridCol w="838200"/>
                <a:gridCol w="3347422">
                  <a:extLst>
                    <a:ext uri="{9D8B030D-6E8A-4147-A177-3AD203B41FA5}">
                      <a16:colId xmlns:a16="http://schemas.microsoft.com/office/drawing/2014/main" xmlns="" val="20001"/>
                    </a:ext>
                  </a:extLst>
                </a:gridCol>
                <a:gridCol w="1676804">
                  <a:extLst>
                    <a:ext uri="{9D8B030D-6E8A-4147-A177-3AD203B41FA5}">
                      <a16:colId xmlns:a16="http://schemas.microsoft.com/office/drawing/2014/main" xmlns="" val="20002"/>
                    </a:ext>
                  </a:extLst>
                </a:gridCol>
                <a:gridCol w="1575708">
                  <a:extLst>
                    <a:ext uri="{9D8B030D-6E8A-4147-A177-3AD203B41FA5}">
                      <a16:colId xmlns:a16="http://schemas.microsoft.com/office/drawing/2014/main" xmlns="" val="20003"/>
                    </a:ext>
                  </a:extLst>
                </a:gridCol>
              </a:tblGrid>
              <a:tr h="37147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800" b="1" i="0" u="none" strike="noStrike" cap="none" normalizeH="0" baseline="0" dirty="0" err="1">
                          <a:ln>
                            <a:noFill/>
                          </a:ln>
                          <a:solidFill>
                            <a:srgbClr val="000000"/>
                          </a:solidFill>
                          <a:effectLst/>
                          <a:latin typeface="Verdana" pitchFamily="34" charset="0"/>
                          <a:cs typeface="Lucida Sans Unicode" pitchFamily="34" charset="0"/>
                        </a:rPr>
                        <a:t>int</a:t>
                      </a:r>
                      <a:endParaRPr kumimoji="0" lang="en-US" sz="1800" b="1"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000000"/>
                          </a:solidFill>
                          <a:effectLst/>
                          <a:latin typeface="Verdana" pitchFamily="34" charset="0"/>
                          <a:cs typeface="Lucida Sans Unicode" pitchFamily="34" charset="0"/>
                        </a:rPr>
                        <a:t>bool</a:t>
                      </a:r>
                      <a:endParaRPr kumimoji="0" lang="en-US" sz="1800" b="1"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800" b="1" i="0" u="none" strike="sngStrike" cap="none" normalizeH="0" baseline="0" dirty="0">
                          <a:ln>
                            <a:noFill/>
                          </a:ln>
                          <a:solidFill>
                            <a:schemeClr val="tx1">
                              <a:lumMod val="50000"/>
                              <a:lumOff val="50000"/>
                            </a:schemeClr>
                          </a:solidFill>
                          <a:effectLst/>
                          <a:latin typeface="Verdana" pitchFamily="34" charset="0"/>
                          <a:cs typeface="Lucida Sans Unicode" pitchFamily="34" charset="0"/>
                        </a:rPr>
                        <a:t>long</a:t>
                      </a:r>
                    </a:p>
                  </a:txBody>
                  <a:tcPr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000000"/>
                          </a:solidFill>
                          <a:effectLst/>
                          <a:latin typeface="Verdana" pitchFamily="34" charset="0"/>
                          <a:cs typeface="Lucida Sans Unicode" pitchFamily="34" charset="0"/>
                        </a:rPr>
                        <a:t>float</a:t>
                      </a:r>
                    </a:p>
                  </a:txBody>
                  <a:tcPr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000000"/>
                          </a:solidFill>
                          <a:effectLst/>
                          <a:latin typeface="Verdana" pitchFamily="34" charset="0"/>
                          <a:cs typeface="Lucida Sans Unicode" pitchFamily="34" charset="0"/>
                        </a:rPr>
                        <a:t>complex</a:t>
                      </a:r>
                    </a:p>
                  </a:txBody>
                  <a:tcPr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371475">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Verdana" pitchFamily="34" charset="0"/>
                          <a:cs typeface="Lucida Sans Unicode" pitchFamily="34" charset="0"/>
                        </a:rPr>
                        <a:t>0</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False</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sngStrike" cap="none" normalizeH="0" baseline="0" dirty="0">
                          <a:ln>
                            <a:noFill/>
                          </a:ln>
                          <a:solidFill>
                            <a:schemeClr val="tx1">
                              <a:lumMod val="50000"/>
                              <a:lumOff val="50000"/>
                            </a:schemeClr>
                          </a:solidFill>
                          <a:effectLst/>
                          <a:latin typeface="Verdana" pitchFamily="34" charset="0"/>
                          <a:cs typeface="Lucida Sans Unicode" pitchFamily="34" charset="0"/>
                        </a:rPr>
                        <a:t>51924361L</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.0</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Verdana" pitchFamily="34" charset="0"/>
                          <a:cs typeface="Lucida Sans Unicode" pitchFamily="34" charset="0"/>
                        </a:rPr>
                        <a:t>3.14j</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371475">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100</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True</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sngStrike" cap="none" normalizeH="0" baseline="0" dirty="0">
                          <a:ln>
                            <a:noFill/>
                          </a:ln>
                          <a:solidFill>
                            <a:schemeClr val="tx1">
                              <a:lumMod val="50000"/>
                              <a:lumOff val="50000"/>
                            </a:schemeClr>
                          </a:solidFill>
                          <a:effectLst/>
                          <a:latin typeface="Verdana" pitchFamily="34" charset="0"/>
                          <a:cs typeface="Lucida Sans Unicode" pitchFamily="34" charset="0"/>
                        </a:rPr>
                        <a:t>-0x19323L</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Verdana" pitchFamily="34" charset="0"/>
                          <a:cs typeface="Lucida Sans Unicode" pitchFamily="34" charset="0"/>
                        </a:rPr>
                        <a:t>15.2</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Verdana" pitchFamily="34" charset="0"/>
                          <a:cs typeface="Lucida Sans Unicode" pitchFamily="34" charset="0"/>
                        </a:rPr>
                        <a:t>45.j</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371475">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a:t>
                      </a:r>
                      <a:r>
                        <a:rPr kumimoji="0" lang="en-US" sz="1800" b="0" i="0" u="none" strike="noStrike" cap="none" normalizeH="0" baseline="0" dirty="0">
                          <a:ln>
                            <a:noFill/>
                          </a:ln>
                          <a:solidFill>
                            <a:srgbClr val="000000"/>
                          </a:solidFill>
                          <a:effectLst/>
                          <a:latin typeface="Verdana" pitchFamily="34" charset="0"/>
                          <a:cs typeface="Lucida Sans Unicode" pitchFamily="34" charset="0"/>
                        </a:rPr>
                        <a:t>786</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sngStrike" cap="none" normalizeH="0" baseline="0" dirty="0">
                          <a:ln>
                            <a:noFill/>
                          </a:ln>
                          <a:solidFill>
                            <a:schemeClr val="tx1">
                              <a:lumMod val="50000"/>
                              <a:lumOff val="50000"/>
                            </a:schemeClr>
                          </a:solidFill>
                          <a:effectLst/>
                          <a:latin typeface="Verdana" pitchFamily="34" charset="0"/>
                          <a:cs typeface="Lucida Sans Unicode" pitchFamily="34" charset="0"/>
                        </a:rPr>
                        <a:t>0122L</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Verdana" pitchFamily="34" charset="0"/>
                          <a:cs typeface="Lucida Sans Unicode" pitchFamily="34" charset="0"/>
                        </a:rPr>
                        <a:t>-21.9</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Verdana" pitchFamily="34" charset="0"/>
                          <a:cs typeface="Lucida Sans Unicode" pitchFamily="34" charset="0"/>
                        </a:rPr>
                        <a:t>9.322e-36j</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r h="371475">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80</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sngStrike" cap="none" normalizeH="0" baseline="0" dirty="0">
                          <a:ln>
                            <a:noFill/>
                          </a:ln>
                          <a:solidFill>
                            <a:schemeClr val="tx1">
                              <a:lumMod val="50000"/>
                              <a:lumOff val="50000"/>
                            </a:schemeClr>
                          </a:solidFill>
                          <a:effectLst/>
                          <a:latin typeface="Verdana" pitchFamily="34" charset="0"/>
                          <a:cs typeface="Lucida Sans Unicode" pitchFamily="34" charset="0"/>
                        </a:rPr>
                        <a:t>0xDEFABCECBDAECBFBAEl</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32.3e+18</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0.876j</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4"/>
                  </a:ext>
                </a:extLst>
              </a:tr>
              <a:tr h="371475">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a:t>
                      </a:r>
                      <a:r>
                        <a:rPr kumimoji="0" lang="en-US" sz="1800" b="0" i="0" u="none" strike="noStrike" cap="none" normalizeH="0" baseline="0" dirty="0">
                          <a:ln>
                            <a:noFill/>
                          </a:ln>
                          <a:solidFill>
                            <a:srgbClr val="000000"/>
                          </a:solidFill>
                          <a:effectLst/>
                          <a:latin typeface="Verdana" pitchFamily="34" charset="0"/>
                          <a:cs typeface="Lucida Sans Unicode" pitchFamily="34" charset="0"/>
                        </a:rPr>
                        <a:t>490</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sngStrike" cap="none" normalizeH="0" baseline="0" dirty="0">
                          <a:ln>
                            <a:noFill/>
                          </a:ln>
                          <a:solidFill>
                            <a:schemeClr val="tx1">
                              <a:lumMod val="50000"/>
                              <a:lumOff val="50000"/>
                            </a:schemeClr>
                          </a:solidFill>
                          <a:effectLst/>
                          <a:latin typeface="Verdana" pitchFamily="34" charset="0"/>
                          <a:cs typeface="Lucida Sans Unicode" pitchFamily="34" charset="0"/>
                        </a:rPr>
                        <a:t>535633629843L</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Verdana" pitchFamily="34" charset="0"/>
                          <a:cs typeface="Lucida Sans Unicode" pitchFamily="34" charset="0"/>
                        </a:rPr>
                        <a:t>+90.0</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Verdana" pitchFamily="34" charset="0"/>
                          <a:cs typeface="Lucida Sans Unicode" pitchFamily="34" charset="0"/>
                        </a:rPr>
                        <a:t>-.6545+0J</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5"/>
                  </a:ext>
                </a:extLst>
              </a:tr>
              <a:tr h="371475">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a:t>
                      </a:r>
                      <a:r>
                        <a:rPr kumimoji="0" lang="en-US" sz="1800" b="0" i="0" u="none" strike="noStrike" cap="none" normalizeH="0" baseline="0" dirty="0">
                          <a:ln>
                            <a:noFill/>
                          </a:ln>
                          <a:solidFill>
                            <a:srgbClr val="000000"/>
                          </a:solidFill>
                          <a:effectLst/>
                          <a:latin typeface="Verdana" pitchFamily="34" charset="0"/>
                          <a:cs typeface="Lucida Sans Unicode" pitchFamily="34" charset="0"/>
                        </a:rPr>
                        <a:t>0x260</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sngStrike" cap="none" normalizeH="0" baseline="0" dirty="0">
                          <a:ln>
                            <a:noFill/>
                          </a:ln>
                          <a:solidFill>
                            <a:schemeClr val="tx1">
                              <a:lumMod val="50000"/>
                              <a:lumOff val="50000"/>
                            </a:schemeClr>
                          </a:solidFill>
                          <a:effectLst/>
                          <a:latin typeface="Verdana" pitchFamily="34" charset="0"/>
                          <a:cs typeface="Lucida Sans Unicode" pitchFamily="34" charset="0"/>
                        </a:rPr>
                        <a:t>-052318172735L</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Verdana" pitchFamily="34" charset="0"/>
                          <a:cs typeface="Lucida Sans Unicode" pitchFamily="34" charset="0"/>
                        </a:rPr>
                        <a:t>-</a:t>
                      </a:r>
                      <a:r>
                        <a:rPr kumimoji="0" lang="en-US" sz="1800" b="0" i="0" u="none" strike="noStrike" cap="none" normalizeH="0" baseline="0" smtClean="0">
                          <a:ln>
                            <a:noFill/>
                          </a:ln>
                          <a:solidFill>
                            <a:srgbClr val="000000"/>
                          </a:solidFill>
                          <a:effectLst/>
                          <a:latin typeface="Verdana" pitchFamily="34" charset="0"/>
                          <a:cs typeface="Lucida Sans Unicode" pitchFamily="34" charset="0"/>
                        </a:rPr>
                        <a:t>3.25E101</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Verdana" pitchFamily="34" charset="0"/>
                          <a:cs typeface="Lucida Sans Unicode" pitchFamily="34" charset="0"/>
                        </a:rPr>
                        <a:t>3e+26J</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6"/>
                  </a:ext>
                </a:extLst>
              </a:tr>
              <a:tr h="371475">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0x69</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sngStrike" cap="none" normalizeH="0" baseline="0" dirty="0">
                          <a:ln>
                            <a:noFill/>
                          </a:ln>
                          <a:solidFill>
                            <a:schemeClr val="tx1">
                              <a:lumMod val="50000"/>
                              <a:lumOff val="50000"/>
                            </a:schemeClr>
                          </a:solidFill>
                          <a:effectLst/>
                          <a:latin typeface="Verdana" pitchFamily="34" charset="0"/>
                          <a:cs typeface="Lucida Sans Unicode" pitchFamily="34" charset="0"/>
                        </a:rPr>
                        <a:t>-4721885298529L</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cs typeface="Lucida Sans Unicode" pitchFamily="34" charset="0"/>
                        </a:rPr>
                        <a:t>70.2E-12</a:t>
                      </a:r>
                      <a:endParaRPr kumimoji="0" lang="en-US" sz="1800" b="0" i="0" u="none" strike="noStrike" cap="none" normalizeH="0" baseline="0" dirty="0">
                        <a:ln>
                          <a:noFill/>
                        </a:ln>
                        <a:solidFill>
                          <a:srgbClr val="000000"/>
                        </a:solidFill>
                        <a:effectLst/>
                        <a:latin typeface="Verdana" pitchFamily="34" charset="0"/>
                        <a:cs typeface="Lucida Sans Unicode" pitchFamily="34" charset="0"/>
                      </a:endParaRP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Verdana" pitchFamily="34" charset="0"/>
                          <a:cs typeface="Lucida Sans Unicode" pitchFamily="34" charset="0"/>
                        </a:rPr>
                        <a:t>4.53e-7j</a:t>
                      </a:r>
                    </a:p>
                  </a:txBody>
                  <a:tcPr marR="8287"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7"/>
                  </a:ext>
                </a:extLst>
              </a:tr>
            </a:tbl>
          </a:graphicData>
        </a:graphic>
      </p:graphicFrame>
      <p:sp>
        <p:nvSpPr>
          <p:cNvPr id="6" name="Content Placeholder 2"/>
          <p:cNvSpPr txBox="1">
            <a:spLocks/>
          </p:cNvSpPr>
          <p:nvPr/>
        </p:nvSpPr>
        <p:spPr>
          <a:xfrm>
            <a:off x="296562" y="1050324"/>
            <a:ext cx="10021330" cy="27308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6075" indent="-346075">
              <a:spcBef>
                <a:spcPts val="1800"/>
              </a:spcBef>
              <a:buNone/>
            </a:pPr>
            <a:r>
              <a:rPr lang="en-US" altLang="en-US" sz="3200" dirty="0"/>
              <a:t>Python supports </a:t>
            </a:r>
            <a:r>
              <a:rPr lang="en-US" altLang="en-US" sz="3200" dirty="0" smtClean="0"/>
              <a:t>four </a:t>
            </a:r>
            <a:r>
              <a:rPr lang="en-US" altLang="en-US" sz="3200" strike="sngStrike" dirty="0">
                <a:solidFill>
                  <a:schemeClr val="tx1">
                    <a:lumMod val="50000"/>
                    <a:lumOff val="50000"/>
                  </a:schemeClr>
                </a:solidFill>
              </a:rPr>
              <a:t>(</a:t>
            </a:r>
            <a:r>
              <a:rPr lang="en-US" altLang="en-US" sz="3200" strike="sngStrike" dirty="0" smtClean="0">
                <a:solidFill>
                  <a:schemeClr val="tx1">
                    <a:lumMod val="50000"/>
                    <a:lumOff val="50000"/>
                  </a:schemeClr>
                </a:solidFill>
              </a:rPr>
              <a:t>five)</a:t>
            </a:r>
            <a:r>
              <a:rPr lang="en-US" altLang="en-US" sz="3200" dirty="0" smtClean="0">
                <a:solidFill>
                  <a:schemeClr val="tx1">
                    <a:lumMod val="50000"/>
                    <a:lumOff val="50000"/>
                  </a:schemeClr>
                </a:solidFill>
              </a:rPr>
              <a:t> </a:t>
            </a:r>
            <a:r>
              <a:rPr lang="en-US" altLang="en-US" sz="3200" dirty="0"/>
              <a:t>kinds of numbers:</a:t>
            </a:r>
          </a:p>
          <a:p>
            <a:pPr marL="346075" indent="-346075">
              <a:spcBef>
                <a:spcPts val="0"/>
              </a:spcBef>
            </a:pPr>
            <a:r>
              <a:rPr lang="en-US" altLang="en-US" sz="3200" dirty="0" err="1"/>
              <a:t>int</a:t>
            </a:r>
            <a:r>
              <a:rPr lang="en-US" altLang="en-US" sz="3200" dirty="0"/>
              <a:t> (signed integers</a:t>
            </a:r>
            <a:r>
              <a:rPr lang="en-US" altLang="en-US" sz="3200" dirty="0" smtClean="0"/>
              <a:t>)</a:t>
            </a:r>
          </a:p>
          <a:p>
            <a:pPr marL="346075" indent="-346075">
              <a:spcBef>
                <a:spcPts val="0"/>
              </a:spcBef>
            </a:pPr>
            <a:r>
              <a:rPr lang="en-US" altLang="en-US" sz="3200" dirty="0" smtClean="0"/>
              <a:t>bool (a binary number)</a:t>
            </a:r>
            <a:endParaRPr lang="en-US" altLang="en-US" sz="3200" dirty="0"/>
          </a:p>
          <a:p>
            <a:pPr marL="346075" indent="-346075">
              <a:spcBef>
                <a:spcPts val="0"/>
              </a:spcBef>
            </a:pPr>
            <a:r>
              <a:rPr lang="en-US" altLang="en-US" sz="3200" strike="sngStrike" dirty="0">
                <a:solidFill>
                  <a:schemeClr val="tx1">
                    <a:lumMod val="50000"/>
                    <a:lumOff val="50000"/>
                  </a:schemeClr>
                </a:solidFill>
              </a:rPr>
              <a:t>long (long </a:t>
            </a:r>
            <a:r>
              <a:rPr lang="en-US" altLang="en-US" sz="3200" strike="sngStrike" dirty="0" smtClean="0">
                <a:solidFill>
                  <a:schemeClr val="tx1">
                    <a:lumMod val="50000"/>
                    <a:lumOff val="50000"/>
                  </a:schemeClr>
                </a:solidFill>
              </a:rPr>
              <a:t>integers)</a:t>
            </a:r>
            <a:endParaRPr lang="en-US" altLang="en-US" sz="3200" strike="sngStrike" dirty="0">
              <a:solidFill>
                <a:schemeClr val="tx1">
                  <a:lumMod val="50000"/>
                  <a:lumOff val="50000"/>
                </a:schemeClr>
              </a:solidFill>
            </a:endParaRPr>
          </a:p>
          <a:p>
            <a:pPr marL="346075" indent="-346075">
              <a:spcBef>
                <a:spcPts val="0"/>
              </a:spcBef>
            </a:pPr>
            <a:r>
              <a:rPr lang="en-US" altLang="en-US" sz="3200" dirty="0"/>
              <a:t>float (floating point real values)</a:t>
            </a:r>
          </a:p>
          <a:p>
            <a:pPr marL="346075" indent="-346075">
              <a:spcBef>
                <a:spcPts val="0"/>
              </a:spcBef>
            </a:pPr>
            <a:r>
              <a:rPr lang="en-US" altLang="en-US" sz="3200" dirty="0" smtClean="0"/>
              <a:t>complex (complex numbers</a:t>
            </a:r>
            <a:r>
              <a:rPr lang="en-US" altLang="en-US" sz="2800" dirty="0" smtClean="0"/>
              <a:t>)</a:t>
            </a:r>
            <a:endParaRPr lang="en-US" altLang="en-US" sz="2800" dirty="0"/>
          </a:p>
        </p:txBody>
      </p:sp>
      <p:sp>
        <p:nvSpPr>
          <p:cNvPr id="8" name="Rounded Rectangular Callout 7"/>
          <p:cNvSpPr/>
          <p:nvPr/>
        </p:nvSpPr>
        <p:spPr>
          <a:xfrm>
            <a:off x="2197894" y="0"/>
            <a:ext cx="7531894" cy="1752600"/>
          </a:xfrm>
          <a:prstGeom prst="wedgeRoundRectCallout">
            <a:avLst>
              <a:gd name="adj1" fmla="val -51101"/>
              <a:gd name="adj2" fmla="val 92410"/>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zh-TW" sz="2436" strike="sngStrike" dirty="0" smtClean="0">
                <a:solidFill>
                  <a:prstClr val="black"/>
                </a:solidFill>
              </a:rPr>
              <a:t>strikethrough</a:t>
            </a:r>
            <a:r>
              <a:rPr lang="en-US" altLang="zh-TW" sz="2436" dirty="0" smtClean="0">
                <a:solidFill>
                  <a:prstClr val="black"/>
                </a:solidFill>
              </a:rPr>
              <a:t> indicates a Python </a:t>
            </a:r>
            <a:r>
              <a:rPr lang="en-US" altLang="zh-TW" sz="2436" dirty="0">
                <a:solidFill>
                  <a:prstClr val="black"/>
                </a:solidFill>
              </a:rPr>
              <a:t>2.x-only </a:t>
            </a:r>
            <a:r>
              <a:rPr lang="en-US" altLang="zh-TW" sz="2436" dirty="0" smtClean="0">
                <a:solidFill>
                  <a:prstClr val="black"/>
                </a:solidFill>
              </a:rPr>
              <a:t>topic.</a:t>
            </a:r>
            <a:br>
              <a:rPr lang="en-US" altLang="zh-TW" sz="2436" dirty="0" smtClean="0">
                <a:solidFill>
                  <a:prstClr val="black"/>
                </a:solidFill>
              </a:rPr>
            </a:br>
            <a:r>
              <a:rPr lang="en-US" altLang="zh-TW" sz="3200" dirty="0" smtClean="0">
                <a:solidFill>
                  <a:prstClr val="black"/>
                </a:solidFill>
              </a:rPr>
              <a:t>(Python 3 no longer has the “long” type, since integers are now </a:t>
            </a:r>
            <a:r>
              <a:rPr lang="en-US" altLang="zh-TW" sz="3200" b="1" dirty="0" smtClean="0">
                <a:solidFill>
                  <a:srgbClr val="FF0000"/>
                </a:solidFill>
              </a:rPr>
              <a:t>unbounded</a:t>
            </a:r>
            <a:r>
              <a:rPr lang="en-US" altLang="zh-TW" sz="3200" dirty="0" smtClean="0">
                <a:solidFill>
                  <a:prstClr val="black"/>
                </a:solidFill>
              </a:rPr>
              <a:t> in size!)</a:t>
            </a:r>
            <a:br>
              <a:rPr lang="en-US" altLang="zh-TW" sz="3200" dirty="0" smtClean="0">
                <a:solidFill>
                  <a:prstClr val="black"/>
                </a:solidFill>
              </a:rPr>
            </a:br>
            <a:r>
              <a:rPr lang="en-US" altLang="zh-TW" sz="3200" dirty="0" smtClean="0">
                <a:solidFill>
                  <a:prstClr val="black"/>
                </a:solidFill>
              </a:rPr>
              <a:t>(Python3</a:t>
            </a:r>
            <a:r>
              <a:rPr lang="zh-TW" altLang="en-US" sz="3200" dirty="0" smtClean="0">
                <a:solidFill>
                  <a:prstClr val="black"/>
                </a:solidFill>
              </a:rPr>
              <a:t>整數不會有溢位的問題</a:t>
            </a:r>
            <a:r>
              <a:rPr lang="en-US" altLang="zh-TW" sz="3200" dirty="0" smtClean="0">
                <a:solidFill>
                  <a:prstClr val="black"/>
                </a:solidFill>
              </a:rPr>
              <a:t>)</a:t>
            </a:r>
            <a:endParaRPr lang="zh-TW" altLang="en-US" sz="2436" dirty="0">
              <a:solidFill>
                <a:prstClr val="black"/>
              </a:solidFill>
            </a:endParaRPr>
          </a:p>
        </p:txBody>
      </p:sp>
    </p:spTree>
    <p:extLst>
      <p:ext uri="{BB962C8B-B14F-4D97-AF65-F5344CB8AC3E}">
        <p14:creationId xmlns:p14="http://schemas.microsoft.com/office/powerpoint/2010/main" val="1457044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Python Arithmetic Operators:</a:t>
            </a:r>
          </a:p>
        </p:txBody>
      </p:sp>
      <p:graphicFrame>
        <p:nvGraphicFramePr>
          <p:cNvPr id="5" name="Content Placeholder 4"/>
          <p:cNvGraphicFramePr>
            <a:graphicFrameLocks noGrp="1"/>
          </p:cNvGraphicFramePr>
          <p:nvPr>
            <p:ph idx="1"/>
            <p:extLst/>
          </p:nvPr>
        </p:nvGraphicFramePr>
        <p:xfrm>
          <a:off x="239049" y="1179545"/>
          <a:ext cx="9248504" cy="4918337"/>
        </p:xfrm>
        <a:graphic>
          <a:graphicData uri="http://schemas.openxmlformats.org/drawingml/2006/table">
            <a:tbl>
              <a:tblPr/>
              <a:tblGrid>
                <a:gridCol w="1425445">
                  <a:extLst>
                    <a:ext uri="{9D8B030D-6E8A-4147-A177-3AD203B41FA5}">
                      <a16:colId xmlns:a16="http://schemas.microsoft.com/office/drawing/2014/main" xmlns="" val="20000"/>
                    </a:ext>
                  </a:extLst>
                </a:gridCol>
                <a:gridCol w="5943600">
                  <a:extLst>
                    <a:ext uri="{9D8B030D-6E8A-4147-A177-3AD203B41FA5}">
                      <a16:colId xmlns:a16="http://schemas.microsoft.com/office/drawing/2014/main" xmlns="" val="20001"/>
                    </a:ext>
                  </a:extLst>
                </a:gridCol>
                <a:gridCol w="18794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1"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add</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Adds the two operands</a:t>
                      </a:r>
                      <a:endParaRPr kumimoji="0" lang="en-US" altLang="en-US" sz="2400" b="0"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3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a:t>
                      </a:r>
                      <a:r>
                        <a:rPr kumimoji="0" lang="en-US" altLang="en-US" sz="1800" b="0" i="0" u="none" strike="noStrike" cap="none" spc="-3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3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r>
                        <a:rPr kumimoji="0" lang="en-US" altLang="en-US" sz="1800" b="0" i="0" u="none" strike="noStrike" cap="none" spc="-3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3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a:t>
                      </a:r>
                      <a:r>
                        <a:rPr kumimoji="0" lang="en-US" altLang="en-US" sz="1800" b="0" i="0" u="none" strike="noStrike" kern="1200" cap="none" spc="-30" normalizeH="0" baseline="0" dirty="0" smtClean="0">
                          <a:ln>
                            <a:noFill/>
                          </a:ln>
                          <a:solidFill>
                            <a:srgbClr val="FF3300"/>
                          </a:solidFill>
                          <a:effectLst/>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cap="none" spc="-30" normalizeH="0" baseline="0" dirty="0" smtClean="0">
                          <a:ln>
                            <a:noFill/>
                          </a:ln>
                          <a:solidFill>
                            <a:srgbClr val="FF3300"/>
                          </a:solidFill>
                          <a:effectLst/>
                          <a:latin typeface="Times New Roman"/>
                          <a:ea typeface="Lucida Sans Unicode" panose="020B0602030504020204" pitchFamily="34" charset="0"/>
                          <a:cs typeface="Times New Roman"/>
                        </a:rPr>
                        <a:t>⇒</a:t>
                      </a:r>
                      <a:r>
                        <a:rPr kumimoji="0" lang="en-US" altLang="en-US" sz="1800" b="0" i="0" u="none" strike="noStrike" cap="none" spc="-3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3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30</a:t>
                      </a:r>
                      <a:endParaRPr kumimoji="0" lang="en-US" altLang="en-US" sz="2400" b="0" i="0" u="none" strike="noStrike" cap="none" spc="-30"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1"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subtract</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Subtracts the right-hand operand </a:t>
                      </a:r>
                      <a:r>
                        <a:rPr kumimoji="0" lang="en-US" altLang="en-US" sz="2400" b="0"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from </a:t>
                      </a: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left-hand one</a:t>
                      </a:r>
                      <a:endParaRPr kumimoji="0" lang="en-US" altLang="en-US" sz="2400" b="0"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10</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20</a:t>
                      </a:r>
                      <a:r>
                        <a:rPr kumimoji="0" lang="en-US" altLang="en-US" sz="1800" b="0" i="0" u="none" strike="noStrike" kern="1200" cap="none" spc="-30" normalizeH="0" baseline="0" noProof="0" dirty="0" smtClean="0">
                          <a:ln>
                            <a:noFill/>
                          </a:ln>
                          <a:solidFill>
                            <a:srgbClr val="FF3300"/>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-10</a:t>
                      </a:r>
                      <a:endParaRPr kumimoji="0" lang="en-US" altLang="en-US" sz="2400" b="0" i="0" u="none" strike="noStrike" kern="1200" cap="none" spc="-30" normalizeH="0" baseline="0" noProof="0" dirty="0">
                        <a:ln>
                          <a:noFill/>
                        </a:ln>
                        <a:solidFill>
                          <a:srgbClr val="FF3300"/>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endParaRPr kumimoji="0" lang="en-US" altLang="en-US" sz="700" b="1"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endParaRPr>
                    </a:p>
                    <a:p>
                      <a:pPr marL="0" marR="0" lvl="0" indent="0" algn="ctr" defTabSz="914400" rtl="0" eaLnBrk="1" fontAlgn="t" latinLnBrk="0" hangingPunct="1">
                        <a:lnSpc>
                          <a:spcPct val="20000"/>
                        </a:lnSpc>
                        <a:spcBef>
                          <a:spcPts val="600"/>
                        </a:spcBef>
                        <a:spcAft>
                          <a:spcPct val="0"/>
                        </a:spcAft>
                        <a:buClrTx/>
                        <a:buSzTx/>
                        <a:buFontTx/>
                        <a:buNone/>
                        <a:tabLst/>
                      </a:pPr>
                      <a:r>
                        <a:rPr kumimoji="0" lang="en-US" altLang="en-US" sz="2400" b="1"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multiply</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Multiplies the two operands</a:t>
                      </a:r>
                      <a:endParaRPr kumimoji="0" lang="en-US" altLang="en-US" sz="2400" b="0"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10</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20</a:t>
                      </a:r>
                      <a:r>
                        <a:rPr kumimoji="0" lang="en-US" altLang="en-US" sz="1800" b="0" i="0" u="none" strike="noStrike" kern="1200" cap="none" spc="-30" normalizeH="0" baseline="0" noProof="0" dirty="0" smtClean="0">
                          <a:ln>
                            <a:noFill/>
                          </a:ln>
                          <a:solidFill>
                            <a:srgbClr val="FF3300"/>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200</a:t>
                      </a:r>
                      <a:endParaRPr kumimoji="0" lang="en-US" altLang="en-US" sz="2400" b="0" i="0" u="none" strike="noStrike" kern="1200" cap="none" spc="-30" normalizeH="0" baseline="0" noProof="0" dirty="0">
                        <a:ln>
                          <a:noFill/>
                        </a:ln>
                        <a:solidFill>
                          <a:srgbClr val="FF3300"/>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1"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divide</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Divides</a:t>
                      </a:r>
                      <a:r>
                        <a:rPr kumimoji="0" lang="en-US" altLang="en-US" sz="20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the</a:t>
                      </a:r>
                      <a:r>
                        <a:rPr kumimoji="0" lang="en-US" altLang="en-US" sz="20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first operand by</a:t>
                      </a:r>
                      <a:r>
                        <a:rPr kumimoji="0" lang="en-US" altLang="en-US" sz="20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the</a:t>
                      </a:r>
                      <a:r>
                        <a:rPr kumimoji="0" lang="en-US" altLang="en-US" sz="20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second on</a:t>
                      </a:r>
                      <a:r>
                        <a:rPr kumimoji="0" lang="en-US" altLang="en-US" sz="2400" b="0" i="0" u="none" strike="noStrike" cap="none" spc="-2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e</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a:t>
                      </a:r>
                      <a:r>
                        <a:rPr kumimoji="0" lang="en-US" altLang="en-US" sz="20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with </a:t>
                      </a: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the result being a float (or, possibly, complex)</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10</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20</a:t>
                      </a:r>
                      <a:r>
                        <a:rPr kumimoji="0" lang="en-US" altLang="en-US" sz="1800" b="0" i="0" u="none" strike="noStrike" kern="1200" cap="none" spc="-30" normalizeH="0" baseline="0" noProof="0" dirty="0" smtClean="0">
                          <a:ln>
                            <a:noFill/>
                          </a:ln>
                          <a:solidFill>
                            <a:srgbClr val="FF3300"/>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0.5</a:t>
                      </a:r>
                      <a:endParaRPr kumimoji="0" lang="en-US" altLang="en-US" sz="2400" b="0" i="0" u="none" strike="noStrike" kern="1200" cap="none" spc="-30" normalizeH="0" baseline="0" noProof="0" dirty="0">
                        <a:ln>
                          <a:noFill/>
                        </a:ln>
                        <a:solidFill>
                          <a:srgbClr val="FF3300"/>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4"/>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1"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modulus</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Yields the remainder resulting from dividing the first </a:t>
                      </a:r>
                      <a:r>
                        <a:rPr kumimoji="0" lang="en-US" altLang="en-US" sz="2400" b="0"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operand by </a:t>
                      </a: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the second one</a:t>
                      </a:r>
                      <a:endParaRPr kumimoji="0" lang="en-US" altLang="en-US" sz="2400" b="0"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10</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20</a:t>
                      </a:r>
                      <a:r>
                        <a:rPr kumimoji="0" lang="en-US" altLang="en-US" sz="1800" b="0" i="0" u="none" strike="noStrike" kern="1200" cap="none" spc="-30" normalizeH="0" baseline="0" noProof="0" dirty="0" smtClean="0">
                          <a:ln>
                            <a:noFill/>
                          </a:ln>
                          <a:solidFill>
                            <a:srgbClr val="FF3300"/>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10</a:t>
                      </a:r>
                      <a:endParaRPr kumimoji="0" lang="en-US" altLang="en-US" sz="2400" b="0" i="0" u="none" strike="noStrike" kern="1200" cap="none" spc="-30" normalizeH="0" baseline="0" noProof="0" dirty="0">
                        <a:ln>
                          <a:noFill/>
                        </a:ln>
                        <a:solidFill>
                          <a:srgbClr val="FF3300"/>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5"/>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defRPr/>
                      </a:pPr>
                      <a:endParaRPr kumimoji="0" lang="en-US" altLang="en-US" sz="700" b="1" i="0" u="none" strike="noStrike" kern="1200" cap="none" spc="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endParaRPr>
                    </a:p>
                    <a:p>
                      <a:pPr marL="0" marR="0" lvl="0" indent="0" algn="ctr" defTabSz="914400" rtl="0" eaLnBrk="1" fontAlgn="t" latinLnBrk="0" hangingPunct="1">
                        <a:lnSpc>
                          <a:spcPct val="20000"/>
                        </a:lnSpc>
                        <a:spcBef>
                          <a:spcPts val="600"/>
                        </a:spcBef>
                        <a:spcAft>
                          <a:spcPct val="0"/>
                        </a:spcAft>
                        <a:buClrTx/>
                        <a:buSzTx/>
                        <a:buFontTx/>
                        <a:buNone/>
                        <a:tabLst/>
                        <a:defRPr/>
                      </a:pPr>
                      <a:r>
                        <a:rPr kumimoji="0" lang="en-US" altLang="en-US" sz="2400" b="1" i="0" u="none" strike="noStrike" kern="1200" cap="none" spc="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40000"/>
                        </a:lnSpc>
                        <a:spcBef>
                          <a:spcPts val="600"/>
                        </a:spcBef>
                        <a:spcAft>
                          <a:spcPct val="0"/>
                        </a:spcAft>
                        <a:buClrTx/>
                        <a:buSzTx/>
                        <a:buFontTx/>
                        <a:buNone/>
                        <a:tabLst/>
                        <a:defRPr/>
                      </a:pPr>
                      <a:r>
                        <a:rPr kumimoji="0" lang="en-US" altLang="en-US" sz="2400" b="0" i="0" u="none" strike="noStrike" kern="1200" cap="none" spc="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exponent</a:t>
                      </a:r>
                      <a:endParaRPr kumimoji="0" lang="en-US" altLang="en-US" sz="2400" b="0" i="0" u="none" strike="noStrike" kern="1200" cap="none" spc="0" normalizeH="0" baseline="0" noProof="0" dirty="0">
                        <a:ln>
                          <a:noFill/>
                        </a:ln>
                        <a:solidFill>
                          <a:srgbClr val="FF3300"/>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Raises the first operand to the power of the second one</a:t>
                      </a:r>
                      <a:endParaRPr kumimoji="0" lang="en-US" altLang="en-US" sz="2400" b="0"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9**.5</a:t>
                      </a:r>
                      <a:r>
                        <a:rPr kumimoji="0" lang="en-US" altLang="en-US" sz="1800" b="0" i="0" u="none" strike="noStrike" kern="1200" cap="none" spc="-30" normalizeH="0" baseline="0" noProof="0" dirty="0" smtClean="0">
                          <a:ln>
                            <a:noFill/>
                          </a:ln>
                          <a:solidFill>
                            <a:srgbClr val="FF3300"/>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3.0</a:t>
                      </a:r>
                      <a:endParaRPr kumimoji="0" lang="en-US" altLang="en-US" sz="2400" b="0" i="0" u="none" strike="noStrike" kern="1200" cap="none" spc="-30" normalizeH="0" baseline="0" noProof="0" dirty="0">
                        <a:ln>
                          <a:noFill/>
                        </a:ln>
                        <a:solidFill>
                          <a:srgbClr val="FF3300"/>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6"/>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1"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floor divide</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Yields the whole-number portion of the result of dividing the first operand by the second one</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9//2</a:t>
                      </a:r>
                      <a:r>
                        <a:rPr kumimoji="0" lang="en-US" altLang="en-US" sz="1800" b="0" i="0" u="none" strike="noStrike" kern="1200" cap="none" spc="-30" normalizeH="0" baseline="0" noProof="0" dirty="0" smtClean="0">
                          <a:ln>
                            <a:noFill/>
                          </a:ln>
                          <a:solidFill>
                            <a:srgbClr val="FF3300"/>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4</a:t>
                      </a:r>
                    </a:p>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9.0//2.0</a:t>
                      </a:r>
                      <a:r>
                        <a:rPr kumimoji="0" lang="en-US" altLang="en-US" sz="1200" b="0" i="0" u="none" strike="noStrike" kern="1200" cap="none" spc="-30" normalizeH="0" baseline="0" noProof="0" dirty="0" smtClean="0">
                          <a:ln>
                            <a:noFill/>
                          </a:ln>
                          <a:solidFill>
                            <a:srgbClr val="FF3300"/>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a:t>
                      </a:r>
                      <a:r>
                        <a:rPr kumimoji="0" lang="en-US" altLang="en-US" sz="12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Calibri"/>
                          <a:ea typeface="Lucida Sans Unicode" panose="020B0602030504020204" pitchFamily="34" charset="0"/>
                          <a:cs typeface="Lucida Sans Unicode" panose="020B0602030504020204" pitchFamily="34" charset="0"/>
                        </a:rPr>
                        <a:t>4.0</a:t>
                      </a:r>
                      <a:endParaRPr kumimoji="0" lang="en-US" altLang="en-US" sz="2400" b="0" i="0" u="none" strike="noStrike" kern="1200" cap="none" spc="-30" normalizeH="0" baseline="0" noProof="0" dirty="0">
                        <a:ln>
                          <a:noFill/>
                        </a:ln>
                        <a:solidFill>
                          <a:srgbClr val="FF3300"/>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796135374"/>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Python Arithmetic Operators:</a:t>
            </a:r>
          </a:p>
        </p:txBody>
      </p:sp>
      <p:graphicFrame>
        <p:nvGraphicFramePr>
          <p:cNvPr id="5" name="Content Placeholder 4"/>
          <p:cNvGraphicFramePr>
            <a:graphicFrameLocks noGrp="1"/>
          </p:cNvGraphicFramePr>
          <p:nvPr>
            <p:ph idx="1"/>
            <p:extLst/>
          </p:nvPr>
        </p:nvGraphicFramePr>
        <p:xfrm>
          <a:off x="239049" y="1179545"/>
          <a:ext cx="9248504" cy="4918337"/>
        </p:xfrm>
        <a:graphic>
          <a:graphicData uri="http://schemas.openxmlformats.org/drawingml/2006/table">
            <a:tbl>
              <a:tblPr/>
              <a:tblGrid>
                <a:gridCol w="1425445">
                  <a:extLst>
                    <a:ext uri="{9D8B030D-6E8A-4147-A177-3AD203B41FA5}">
                      <a16:colId xmlns:a16="http://schemas.microsoft.com/office/drawing/2014/main" xmlns="" val="20000"/>
                    </a:ext>
                  </a:extLst>
                </a:gridCol>
                <a:gridCol w="5943600">
                  <a:extLst>
                    <a:ext uri="{9D8B030D-6E8A-4147-A177-3AD203B41FA5}">
                      <a16:colId xmlns:a16="http://schemas.microsoft.com/office/drawing/2014/main" xmlns="" val="20001"/>
                    </a:ext>
                  </a:extLst>
                </a:gridCol>
                <a:gridCol w="18794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1"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add</a:t>
                      </a:r>
                      <a:endParaRPr kumimoji="0" lang="en-US" altLang="en-US" sz="2400" b="0" i="0" u="none" strike="noStrike" cap="none" normalizeH="0" baseline="0" dirty="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Adds the two operands</a:t>
                      </a:r>
                      <a:endParaRPr kumimoji="0" lang="en-US" altLang="en-US" sz="2400" b="0" i="0" u="none" strike="noStrike" cap="none" normalizeH="0" baseline="0" dirty="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3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10</a:t>
                      </a:r>
                      <a:r>
                        <a:rPr kumimoji="0" lang="en-US" altLang="en-US" sz="1800" b="0" i="0" u="none" strike="noStrike" cap="none" spc="-3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3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a:t>
                      </a:r>
                      <a:r>
                        <a:rPr kumimoji="0" lang="en-US" altLang="en-US" sz="1800" b="0" i="0" u="none" strike="noStrike" cap="none" spc="-3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3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20</a:t>
                      </a:r>
                      <a:r>
                        <a:rPr kumimoji="0" lang="en-US" altLang="en-US" sz="1800" b="0" i="0" u="none" strike="noStrike" kern="1200" cap="none" spc="-30" normalizeH="0" baseline="0" dirty="0" smtClean="0">
                          <a:ln>
                            <a:noFill/>
                          </a:ln>
                          <a:solidFill>
                            <a:schemeClr val="bg1">
                              <a:lumMod val="85000"/>
                            </a:schemeClr>
                          </a:solidFill>
                          <a:effectLst/>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cap="none" spc="-30" normalizeH="0" baseline="0" dirty="0" smtClean="0">
                          <a:ln>
                            <a:noFill/>
                          </a:ln>
                          <a:solidFill>
                            <a:schemeClr val="bg1">
                              <a:lumMod val="85000"/>
                            </a:schemeClr>
                          </a:solidFill>
                          <a:effectLst/>
                          <a:latin typeface="Times New Roman"/>
                          <a:ea typeface="Lucida Sans Unicode" panose="020B0602030504020204" pitchFamily="34" charset="0"/>
                          <a:cs typeface="Times New Roman"/>
                        </a:rPr>
                        <a:t>⇒</a:t>
                      </a:r>
                      <a:r>
                        <a:rPr kumimoji="0" lang="en-US" altLang="en-US" sz="1800" b="0" i="0" u="none" strike="noStrike" cap="none" spc="-3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3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30</a:t>
                      </a:r>
                      <a:endParaRPr kumimoji="0" lang="en-US" altLang="en-US" sz="2400" b="0" i="0" u="none" strike="noStrike" cap="none" spc="-30" normalizeH="0" baseline="0" dirty="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1"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subtract</a:t>
                      </a:r>
                      <a:endParaRPr kumimoji="0" lang="en-US" altLang="en-US" sz="2400" b="0" i="0" u="none" strike="noStrike" cap="none" normalizeH="0" baseline="0" dirty="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Subtracts the right-hand operand </a:t>
                      </a:r>
                      <a:r>
                        <a:rPr kumimoji="0" lang="en-US" altLang="en-US" sz="2400" b="0" i="0" u="none" strike="noStrike" cap="none" normalizeH="0" baseline="0" dirty="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from </a:t>
                      </a: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left-hand one</a:t>
                      </a:r>
                      <a:endParaRPr kumimoji="0" lang="en-US" altLang="en-US" sz="2400" b="0" i="0" u="none" strike="noStrike" cap="none" normalizeH="0" baseline="0" dirty="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10</a:t>
                      </a:r>
                      <a:r>
                        <a:rPr kumimoji="0" lang="en-US" altLang="en-US" sz="18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a:t>
                      </a:r>
                      <a:r>
                        <a:rPr kumimoji="0" lang="en-US" altLang="en-US" sz="18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20</a:t>
                      </a:r>
                      <a:r>
                        <a:rPr kumimoji="0" lang="en-US" altLang="en-US" sz="1800" b="0" i="0" u="none" strike="noStrike" kern="1200" cap="none" spc="-30" normalizeH="0" baseline="0" noProof="0" dirty="0" smtClean="0">
                          <a:ln>
                            <a:noFill/>
                          </a:ln>
                          <a:solidFill>
                            <a:schemeClr val="bg1">
                              <a:lumMod val="85000"/>
                            </a:schemeClr>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-10</a:t>
                      </a:r>
                      <a:endParaRPr kumimoji="0" lang="en-US" altLang="en-US" sz="2400" b="0" i="0" u="none" strike="noStrike" kern="1200" cap="none" spc="-30" normalizeH="0" baseline="0" noProof="0" dirty="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endParaRPr kumimoji="0" lang="en-US" altLang="en-US" sz="700" b="1"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endParaRPr>
                    </a:p>
                    <a:p>
                      <a:pPr marL="0" marR="0" lvl="0" indent="0" algn="ctr" defTabSz="914400" rtl="0" eaLnBrk="1" fontAlgn="t" latinLnBrk="0" hangingPunct="1">
                        <a:lnSpc>
                          <a:spcPct val="20000"/>
                        </a:lnSpc>
                        <a:spcBef>
                          <a:spcPts val="600"/>
                        </a:spcBef>
                        <a:spcAft>
                          <a:spcPct val="0"/>
                        </a:spcAft>
                        <a:buClrTx/>
                        <a:buSzTx/>
                        <a:buFontTx/>
                        <a:buNone/>
                        <a:tabLst/>
                      </a:pPr>
                      <a:r>
                        <a:rPr kumimoji="0" lang="en-US" altLang="en-US" sz="2400" b="1"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multiply</a:t>
                      </a:r>
                      <a:endParaRPr kumimoji="0" lang="en-US" altLang="en-US" sz="2400" b="0" i="0" u="none" strike="noStrike" cap="none" normalizeH="0" baseline="0" dirty="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Multiplies the two operands</a:t>
                      </a:r>
                      <a:endParaRPr kumimoji="0" lang="en-US" altLang="en-US" sz="2400" b="0" i="0" u="none" strike="noStrike" cap="none" normalizeH="0" baseline="0" dirty="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10</a:t>
                      </a:r>
                      <a:r>
                        <a:rPr kumimoji="0" lang="en-US" altLang="en-US" sz="18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a:t>
                      </a:r>
                      <a:r>
                        <a:rPr kumimoji="0" lang="en-US" altLang="en-US" sz="18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20</a:t>
                      </a:r>
                      <a:r>
                        <a:rPr kumimoji="0" lang="en-US" altLang="en-US" sz="1800" b="0" i="0" u="none" strike="noStrike" kern="1200" cap="none" spc="-30" normalizeH="0" baseline="0" noProof="0" dirty="0" smtClean="0">
                          <a:ln>
                            <a:noFill/>
                          </a:ln>
                          <a:solidFill>
                            <a:schemeClr val="bg1">
                              <a:lumMod val="85000"/>
                            </a:schemeClr>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200</a:t>
                      </a:r>
                      <a:endParaRPr kumimoji="0" lang="en-US" altLang="en-US" sz="2400" b="0" i="0" u="none" strike="noStrike" kern="1200" cap="none" spc="-30" normalizeH="0" baseline="0" noProof="0" dirty="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1"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divide</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Divides</a:t>
                      </a:r>
                      <a:r>
                        <a:rPr kumimoji="0" lang="en-US" altLang="en-US" sz="20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the</a:t>
                      </a:r>
                      <a:r>
                        <a:rPr kumimoji="0" lang="en-US" altLang="en-US" sz="20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first operand by</a:t>
                      </a:r>
                      <a:r>
                        <a:rPr kumimoji="0" lang="en-US" altLang="en-US" sz="20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the</a:t>
                      </a:r>
                      <a:r>
                        <a:rPr kumimoji="0" lang="en-US" altLang="en-US" sz="20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second on</a:t>
                      </a:r>
                      <a:r>
                        <a:rPr kumimoji="0" lang="en-US" altLang="en-US" sz="2400" b="0" i="0" u="none" strike="noStrike" cap="none" spc="-2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e</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a:t>
                      </a:r>
                      <a:r>
                        <a:rPr kumimoji="0" lang="en-US" altLang="en-US" sz="20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with </a:t>
                      </a: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the result being a float (or, possibly, complex)</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10</a:t>
                      </a:r>
                      <a:r>
                        <a:rPr kumimoji="0" lang="en-US" altLang="en-US" sz="18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0000"/>
                          </a:solidFill>
                          <a:effectLst/>
                          <a:uLnTx/>
                          <a:uFillTx/>
                          <a:latin typeface="Calibri"/>
                          <a:ea typeface="Lucida Sans Unicode" panose="020B0602030504020204" pitchFamily="34" charset="0"/>
                          <a:cs typeface="Lucida Sans Unicode" panose="020B0602030504020204" pitchFamily="34" charset="0"/>
                        </a:rPr>
                        <a:t>/</a:t>
                      </a:r>
                      <a:r>
                        <a:rPr kumimoji="0" lang="en-US" altLang="en-US" sz="18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20</a:t>
                      </a:r>
                      <a:r>
                        <a:rPr kumimoji="0" lang="en-US" altLang="en-US" sz="1800" b="0" i="0" u="none" strike="noStrike" kern="1200" cap="none" spc="-30" normalizeH="0" baseline="0" noProof="0" dirty="0" smtClean="0">
                          <a:ln>
                            <a:noFill/>
                          </a:ln>
                          <a:solidFill>
                            <a:schemeClr val="tx1"/>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tx1"/>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0000"/>
                          </a:solidFill>
                          <a:effectLst/>
                          <a:uLnTx/>
                          <a:uFillTx/>
                          <a:latin typeface="Calibri"/>
                          <a:ea typeface="Lucida Sans Unicode" panose="020B0602030504020204" pitchFamily="34" charset="0"/>
                          <a:cs typeface="Lucida Sans Unicode" panose="020B0602030504020204" pitchFamily="34" charset="0"/>
                        </a:rPr>
                        <a:t>0.</a:t>
                      </a:r>
                      <a:r>
                        <a:rPr kumimoji="0" lang="en-US" altLang="en-US" sz="24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5</a:t>
                      </a:r>
                      <a:endParaRPr kumimoji="0" lang="en-US" altLang="en-US" sz="2400" b="0" i="0" u="none" strike="noStrike" kern="1200" cap="none" spc="-30" normalizeH="0" baseline="0" noProof="0" dirty="0">
                        <a:ln>
                          <a:noFill/>
                        </a:ln>
                        <a:solidFill>
                          <a:schemeClr val="tx1"/>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4"/>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1"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modulus</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Yields the remainder resulting from dividing the first </a:t>
                      </a:r>
                      <a:r>
                        <a:rPr kumimoji="0" lang="en-US" altLang="en-US" sz="2400" b="0" i="0" u="none" strike="noStrike" cap="none" normalizeH="0" baseline="0" dirty="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operand by </a:t>
                      </a: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the second one</a:t>
                      </a:r>
                      <a:endParaRPr kumimoji="0" lang="en-US" altLang="en-US" sz="2400" b="0" i="0" u="none" strike="noStrike" cap="none" normalizeH="0" baseline="0" dirty="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10</a:t>
                      </a:r>
                      <a:r>
                        <a:rPr kumimoji="0" lang="en-US" altLang="en-US" sz="18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a:t>
                      </a:r>
                      <a:r>
                        <a:rPr kumimoji="0" lang="en-US" altLang="en-US" sz="18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20</a:t>
                      </a:r>
                      <a:r>
                        <a:rPr kumimoji="0" lang="en-US" altLang="en-US" sz="1800" b="0" i="0" u="none" strike="noStrike" kern="1200" cap="none" spc="-30" normalizeH="0" baseline="0" noProof="0" dirty="0" smtClean="0">
                          <a:ln>
                            <a:noFill/>
                          </a:ln>
                          <a:solidFill>
                            <a:schemeClr val="bg1">
                              <a:lumMod val="85000"/>
                            </a:schemeClr>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rPr>
                        <a:t>10</a:t>
                      </a:r>
                      <a:endParaRPr kumimoji="0" lang="en-US" altLang="en-US" sz="2400" b="0" i="0" u="none" strike="noStrike" kern="1200" cap="none" spc="-30" normalizeH="0" baseline="0" noProof="0" dirty="0">
                        <a:ln>
                          <a:noFill/>
                        </a:ln>
                        <a:solidFill>
                          <a:schemeClr val="bg1">
                            <a:lumMod val="85000"/>
                          </a:schemeClr>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5"/>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defRPr/>
                      </a:pPr>
                      <a:endParaRPr kumimoji="0" lang="en-US" altLang="en-US" sz="700" b="1" i="0" u="none" strike="noStrike" kern="1200" cap="none" spc="0" normalizeH="0" baseline="0" noProof="0" dirty="0" smtClean="0">
                        <a:ln>
                          <a:noFill/>
                        </a:ln>
                        <a:solidFill>
                          <a:prstClr val="black"/>
                        </a:solidFill>
                        <a:effectLst/>
                        <a:uLnTx/>
                        <a:uFillTx/>
                        <a:latin typeface="Calibri"/>
                        <a:ea typeface="Lucida Sans Unicode" panose="020B0602030504020204" pitchFamily="34" charset="0"/>
                        <a:cs typeface="Lucida Sans Unicode" panose="020B0602030504020204" pitchFamily="34" charset="0"/>
                      </a:endParaRPr>
                    </a:p>
                    <a:p>
                      <a:pPr marL="0" marR="0" lvl="0" indent="0" algn="ctr" defTabSz="914400" rtl="0" eaLnBrk="1" fontAlgn="t" latinLnBrk="0" hangingPunct="1">
                        <a:lnSpc>
                          <a:spcPct val="20000"/>
                        </a:lnSpc>
                        <a:spcBef>
                          <a:spcPts val="600"/>
                        </a:spcBef>
                        <a:spcAft>
                          <a:spcPct val="0"/>
                        </a:spcAft>
                        <a:buClrTx/>
                        <a:buSzTx/>
                        <a:buFontTx/>
                        <a:buNone/>
                        <a:tabLst/>
                        <a:defRPr/>
                      </a:pPr>
                      <a:r>
                        <a:rPr kumimoji="0" lang="en-US" altLang="en-US" sz="2400" b="1" i="0" u="none" strike="noStrike" kern="1200" cap="none" spc="0" normalizeH="0" baseline="0" noProof="0" dirty="0" smtClean="0">
                          <a:ln>
                            <a:noFill/>
                          </a:ln>
                          <a:solidFill>
                            <a:srgbClr val="FF0000"/>
                          </a:solidFill>
                          <a:effectLst/>
                          <a:uLnTx/>
                          <a:uFillTx/>
                          <a:latin typeface="Calibri"/>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40000"/>
                        </a:lnSpc>
                        <a:spcBef>
                          <a:spcPts val="600"/>
                        </a:spcBef>
                        <a:spcAft>
                          <a:spcPct val="0"/>
                        </a:spcAft>
                        <a:buClrTx/>
                        <a:buSzTx/>
                        <a:buFontTx/>
                        <a:buNone/>
                        <a:tabLst/>
                        <a:defRPr/>
                      </a:pPr>
                      <a:r>
                        <a:rPr kumimoji="0" lang="en-US" altLang="en-US" sz="2400" b="0" i="0" u="none" strike="noStrike" kern="1200" cap="none" spc="0" normalizeH="0" baseline="0" noProof="0" dirty="0" smtClean="0">
                          <a:ln>
                            <a:noFill/>
                          </a:ln>
                          <a:solidFill>
                            <a:prstClr val="black"/>
                          </a:solidFill>
                          <a:effectLst/>
                          <a:uLnTx/>
                          <a:uFillTx/>
                          <a:latin typeface="Calibri"/>
                          <a:ea typeface="Lucida Sans Unicode" panose="020B0602030504020204" pitchFamily="34" charset="0"/>
                          <a:cs typeface="Lucida Sans Unicode" panose="020B0602030504020204" pitchFamily="34" charset="0"/>
                        </a:rPr>
                        <a:t>exponent</a:t>
                      </a:r>
                      <a:endParaRPr kumimoji="0" lang="en-US" altLang="en-US" sz="2400" b="0" i="0" u="none" strike="noStrike" kern="1200" cap="none" spc="0" normalizeH="0" baseline="0" noProof="0" dirty="0">
                        <a:ln>
                          <a:noFill/>
                        </a:ln>
                        <a:solidFill>
                          <a:prstClr val="black"/>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Raises the first operand to the power of the second one</a:t>
                      </a:r>
                      <a:endParaRPr kumimoji="0" lang="en-US" altLang="en-US" sz="2400" b="0"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9**.5</a:t>
                      </a:r>
                      <a:r>
                        <a:rPr kumimoji="0" lang="en-US" altLang="en-US" sz="1800" b="0" i="0" u="none" strike="noStrike" kern="1200" cap="none" spc="-30" normalizeH="0" baseline="0" noProof="0" dirty="0" smtClean="0">
                          <a:ln>
                            <a:noFill/>
                          </a:ln>
                          <a:solidFill>
                            <a:schemeClr val="tx1"/>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tx1"/>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3.0</a:t>
                      </a:r>
                      <a:endParaRPr kumimoji="0" lang="en-US" altLang="en-US" sz="2400" b="0" i="0" u="none" strike="noStrike" kern="1200" cap="none" spc="-30" normalizeH="0" baseline="0" noProof="0" dirty="0">
                        <a:ln>
                          <a:noFill/>
                        </a:ln>
                        <a:solidFill>
                          <a:schemeClr val="tx1"/>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6"/>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1" i="0" u="none" strike="noStrike" cap="none" normalizeH="0" baseline="0" dirty="0" smtClean="0">
                          <a:ln>
                            <a:noFill/>
                          </a:ln>
                          <a:solidFill>
                            <a:srgbClr val="FF0000"/>
                          </a:solidFill>
                          <a:effectLst/>
                          <a:latin typeface="+mn-lt"/>
                          <a:ea typeface="Lucida Sans Unicode" panose="020B0602030504020204" pitchFamily="34" charset="0"/>
                          <a:cs typeface="Lucida Sans Unicode" panose="020B0602030504020204" pitchFamily="34" charset="0"/>
                        </a:rPr>
                        <a:t>//</a:t>
                      </a:r>
                    </a:p>
                    <a:p>
                      <a:pPr marL="0"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floor divide</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Yields the whole-number portion of the result of dividing the first operand by the second one</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9//2</a:t>
                      </a:r>
                      <a:r>
                        <a:rPr kumimoji="0" lang="en-US" altLang="en-US" sz="1800" b="0" i="0" u="none" strike="noStrike" kern="1200" cap="none" spc="-30" normalizeH="0" baseline="0" noProof="0" dirty="0" smtClean="0">
                          <a:ln>
                            <a:noFill/>
                          </a:ln>
                          <a:solidFill>
                            <a:schemeClr val="tx1"/>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tx1"/>
                          </a:solidFill>
                          <a:effectLst/>
                          <a:uLnTx/>
                          <a:uFillTx/>
                          <a:latin typeface="Times New Roman"/>
                          <a:ea typeface="Lucida Sans Unicode" panose="020B0602030504020204" pitchFamily="34" charset="0"/>
                          <a:cs typeface="Times New Roman"/>
                        </a:rPr>
                        <a:t>⇒</a:t>
                      </a:r>
                      <a:r>
                        <a:rPr kumimoji="0" lang="en-US" altLang="en-US" sz="18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4</a:t>
                      </a:r>
                    </a:p>
                    <a:p>
                      <a:pPr marL="182563" marR="0" lvl="0" indent="0" algn="ctr" defTabSz="914400" rtl="0" eaLnBrk="1" fontAlgn="t" latinLnBrk="0" hangingPunct="1">
                        <a:lnSpc>
                          <a:spcPct val="80000"/>
                        </a:lnSpc>
                        <a:spcBef>
                          <a:spcPct val="0"/>
                        </a:spcBef>
                        <a:spcAft>
                          <a:spcPct val="0"/>
                        </a:spcAft>
                        <a:buClrTx/>
                        <a:buSzTx/>
                        <a:buFontTx/>
                        <a:buNone/>
                        <a:tabLst/>
                        <a:defRPr/>
                      </a:pPr>
                      <a:r>
                        <a:rPr kumimoji="0" lang="en-US" altLang="en-US" sz="24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9.0//2.0</a:t>
                      </a:r>
                      <a:r>
                        <a:rPr kumimoji="0" lang="en-US" altLang="en-US" sz="1200" b="0" i="0" u="none" strike="noStrike" kern="1200" cap="none" spc="-30" normalizeH="0" baseline="0" noProof="0" dirty="0" smtClean="0">
                          <a:ln>
                            <a:noFill/>
                          </a:ln>
                          <a:solidFill>
                            <a:schemeClr val="tx1"/>
                          </a:solidFill>
                          <a:effectLst/>
                          <a:uLnTx/>
                          <a:uFillTx/>
                          <a:latin typeface="Lucida Sans Unicode" panose="020B0602030504020204" pitchFamily="34" charset="0"/>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tx1"/>
                          </a:solidFill>
                          <a:effectLst/>
                          <a:uLnTx/>
                          <a:uFillTx/>
                          <a:latin typeface="Times New Roman"/>
                          <a:ea typeface="Lucida Sans Unicode" panose="020B0602030504020204" pitchFamily="34" charset="0"/>
                          <a:cs typeface="Times New Roman"/>
                        </a:rPr>
                        <a:t>⇒</a:t>
                      </a:r>
                      <a:r>
                        <a:rPr kumimoji="0" lang="en-US" altLang="en-US" sz="12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tx1"/>
                          </a:solidFill>
                          <a:effectLst/>
                          <a:uLnTx/>
                          <a:uFillTx/>
                          <a:latin typeface="Calibri"/>
                          <a:ea typeface="Lucida Sans Unicode" panose="020B0602030504020204" pitchFamily="34" charset="0"/>
                          <a:cs typeface="Lucida Sans Unicode" panose="020B0602030504020204" pitchFamily="34" charset="0"/>
                        </a:rPr>
                        <a:t>4.0</a:t>
                      </a:r>
                      <a:endParaRPr kumimoji="0" lang="en-US" altLang="en-US" sz="2400" b="0" i="0" u="none" strike="noStrike" kern="1200" cap="none" spc="-30" normalizeH="0" baseline="0" noProof="0" dirty="0">
                        <a:ln>
                          <a:noFill/>
                        </a:ln>
                        <a:solidFill>
                          <a:schemeClr val="tx1"/>
                        </a:solidFill>
                        <a:effectLst/>
                        <a:uLnTx/>
                        <a:uFillTx/>
                        <a:latin typeface="Calibri"/>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7"/>
                  </a:ext>
                </a:extLst>
              </a:tr>
            </a:tbl>
          </a:graphicData>
        </a:graphic>
      </p:graphicFrame>
      <p:sp>
        <p:nvSpPr>
          <p:cNvPr id="6" name="Rounded Rectangular Callout 5"/>
          <p:cNvSpPr/>
          <p:nvPr/>
        </p:nvSpPr>
        <p:spPr>
          <a:xfrm>
            <a:off x="5482723" y="2283938"/>
            <a:ext cx="3039771" cy="840262"/>
          </a:xfrm>
          <a:prstGeom prst="wedgeRoundRectCallout">
            <a:avLst>
              <a:gd name="adj1" fmla="val 39205"/>
              <a:gd name="adj2" fmla="val 12323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Present in C++, but behaves differently</a:t>
            </a:r>
          </a:p>
        </p:txBody>
      </p:sp>
      <p:sp>
        <p:nvSpPr>
          <p:cNvPr id="7" name="Rounded Rectangular Callout 6"/>
          <p:cNvSpPr/>
          <p:nvPr/>
        </p:nvSpPr>
        <p:spPr>
          <a:xfrm>
            <a:off x="1164778" y="6156962"/>
            <a:ext cx="1890585" cy="413952"/>
          </a:xfrm>
          <a:prstGeom prst="wedgeRoundRectCallout">
            <a:avLst>
              <a:gd name="adj1" fmla="val -55719"/>
              <a:gd name="adj2" fmla="val -16057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Not in C++</a:t>
            </a:r>
          </a:p>
        </p:txBody>
      </p:sp>
      <p:sp>
        <p:nvSpPr>
          <p:cNvPr id="8" name="Rounded Rectangular Callout 7"/>
          <p:cNvSpPr/>
          <p:nvPr/>
        </p:nvSpPr>
        <p:spPr>
          <a:xfrm>
            <a:off x="1159098" y="4038600"/>
            <a:ext cx="1890585" cy="413952"/>
          </a:xfrm>
          <a:prstGeom prst="wedgeRoundRectCallout">
            <a:avLst>
              <a:gd name="adj1" fmla="val -54994"/>
              <a:gd name="adj2" fmla="val 15517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Not in C++</a:t>
            </a:r>
          </a:p>
        </p:txBody>
      </p:sp>
    </p:spTree>
    <p:extLst>
      <p:ext uri="{BB962C8B-B14F-4D97-AF65-F5344CB8AC3E}">
        <p14:creationId xmlns:p14="http://schemas.microsoft.com/office/powerpoint/2010/main" val="535336391"/>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Python Arithmetic Operators:</a:t>
            </a:r>
          </a:p>
        </p:txBody>
      </p:sp>
      <p:graphicFrame>
        <p:nvGraphicFramePr>
          <p:cNvPr id="5" name="Content Placeholder 4"/>
          <p:cNvGraphicFramePr>
            <a:graphicFrameLocks noGrp="1"/>
          </p:cNvGraphicFramePr>
          <p:nvPr>
            <p:ph idx="1"/>
            <p:extLst/>
          </p:nvPr>
        </p:nvGraphicFramePr>
        <p:xfrm>
          <a:off x="239049" y="1179545"/>
          <a:ext cx="9248504" cy="4918337"/>
        </p:xfrm>
        <a:graphic>
          <a:graphicData uri="http://schemas.openxmlformats.org/drawingml/2006/table">
            <a:tbl>
              <a:tblPr/>
              <a:tblGrid>
                <a:gridCol w="1425445">
                  <a:extLst>
                    <a:ext uri="{9D8B030D-6E8A-4147-A177-3AD203B41FA5}">
                      <a16:colId xmlns:a16="http://schemas.microsoft.com/office/drawing/2014/main" xmlns="" val="20000"/>
                    </a:ext>
                  </a:extLst>
                </a:gridCol>
                <a:gridCol w="5943600">
                  <a:extLst>
                    <a:ext uri="{9D8B030D-6E8A-4147-A177-3AD203B41FA5}">
                      <a16:colId xmlns:a16="http://schemas.microsoft.com/office/drawing/2014/main" xmlns="" val="20001"/>
                    </a:ext>
                  </a:extLst>
                </a:gridCol>
                <a:gridCol w="18794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value of two operands are equal</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spc="-100"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kern="1200" cap="none" spc="-30" normalizeH="0" baseline="0" noProof="0" dirty="0" smtClean="0">
                          <a:ln>
                            <a:noFill/>
                          </a:ln>
                          <a:solidFill>
                            <a:srgbClr val="FF3300"/>
                          </a:solidFill>
                          <a:effectLst/>
                          <a:uLnTx/>
                          <a:uFillTx/>
                          <a:latin typeface="+mn-lt"/>
                          <a:ea typeface="Lucida Sans Unicode" panose="020B0602030504020204" pitchFamily="34" charset="0"/>
                          <a:cs typeface="Times New Roman"/>
                        </a:rPr>
                        <a:t>⇒</a:t>
                      </a:r>
                      <a:r>
                        <a:rPr kumimoji="0" lang="en-US" altLang="en-US" sz="2400" b="0" i="0" u="none" strike="noStrike" kern="1200"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False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value of two operands are </a:t>
                      </a:r>
                      <a:b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not equal</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 20) </a:t>
                      </a:r>
                      <a:r>
                        <a:rPr kumimoji="0" lang="en-US" altLang="en-US" sz="2400" b="0" i="0" u="none" strike="noStrike" kern="1200" cap="none" spc="-30" normalizeH="0" baseline="0" noProof="0" dirty="0" smtClean="0">
                          <a:ln>
                            <a:noFill/>
                          </a:ln>
                          <a:solidFill>
                            <a:srgbClr val="FF3300"/>
                          </a:solidFill>
                          <a:effectLst/>
                          <a:uLnTx/>
                          <a:uFillTx/>
                          <a:latin typeface="+mn-lt"/>
                          <a:ea typeface="Lucida Sans Unicode" panose="020B0602030504020204" pitchFamily="34" charset="0"/>
                          <a:cs typeface="Times New Roman"/>
                        </a:rPr>
                        <a:t>⇒</a:t>
                      </a:r>
                      <a:r>
                        <a:rPr kumimoji="0" lang="en-US" altLang="en-US" sz="2400" b="0" i="0" u="none" strike="noStrike" kern="1200"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True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E7F3F4"/>
                          </a:solidFill>
                          <a:effectLst/>
                          <a:latin typeface="+mn-lt"/>
                          <a:ea typeface="Lucida Sans Unicode" panose="020B0602030504020204" pitchFamily="34" charset="0"/>
                          <a:cs typeface="Lucida Sans Unicode" panose="020B0602030504020204" pitchFamily="34" charset="0"/>
                        </a:rPr>
                        <a:t>.</a:t>
                      </a:r>
                      <a:r>
                        <a:rPr kumimoji="0" lang="en-US" altLang="en-US" sz="2400" b="0" i="0" u="none" strike="sng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 &lt;&gt; </a:t>
                      </a:r>
                      <a:r>
                        <a:rPr kumimoji="0" lang="en-US" altLang="en-US" sz="2400" b="0" i="0" u="none" strike="noStrike" cap="none" normalizeH="0" baseline="0" dirty="0" smtClean="0">
                          <a:ln>
                            <a:noFill/>
                          </a:ln>
                          <a:solidFill>
                            <a:srgbClr val="E7F3F4"/>
                          </a:solidFill>
                          <a:effectLst/>
                          <a:latin typeface="+mn-lt"/>
                          <a:ea typeface="Lucida Sans Unicode" panose="020B0602030504020204" pitchFamily="34" charset="0"/>
                          <a:cs typeface="Lucida Sans Unicode" panose="020B0602030504020204" pitchFamily="34" charset="0"/>
                        </a:rPr>
                        <a:t>.</a:t>
                      </a:r>
                      <a:br>
                        <a:rPr kumimoji="0" lang="en-US" altLang="en-US" sz="2400" b="0" i="0" u="none" strike="noStrike" cap="none" normalizeH="0" baseline="0" dirty="0" smtClean="0">
                          <a:ln>
                            <a:noFill/>
                          </a:ln>
                          <a:solidFill>
                            <a:srgbClr val="E7F3F4"/>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spc="-100" normalizeH="0" baseline="0" dirty="0" smtClean="0">
                          <a:ln>
                            <a:noFill/>
                          </a:ln>
                          <a:solidFill>
                            <a:srgbClr val="B2B2B2"/>
                          </a:solidFill>
                          <a:effectLst/>
                          <a:latin typeface="+mn-lt"/>
                          <a:ea typeface="Verdana" panose="020B0604030504040204" pitchFamily="34" charset="0"/>
                          <a:cs typeface="Lucida Sans Unicode" panose="020B0602030504020204" pitchFamily="34" charset="0"/>
                        </a:rPr>
                        <a:t>(</a:t>
                      </a:r>
                      <a:r>
                        <a:rPr kumimoji="0" lang="en-US" altLang="en-US" sz="2400" b="0" i="0" u="none" strike="noStrike" cap="none" spc="0" normalizeH="0" baseline="0" dirty="0" smtClean="0">
                          <a:ln>
                            <a:noFill/>
                          </a:ln>
                          <a:solidFill>
                            <a:srgbClr val="B2B2B2"/>
                          </a:solidFill>
                          <a:effectLst/>
                          <a:latin typeface="+mn-lt"/>
                          <a:ea typeface="Verdana" panose="020B0604030504040204" pitchFamily="34" charset="0"/>
                          <a:cs typeface="Lucida Sans Unicode" panose="020B0602030504020204" pitchFamily="34" charset="0"/>
                        </a:rPr>
                        <a:t>Python</a:t>
                      </a:r>
                      <a:r>
                        <a:rPr kumimoji="0" lang="en-US" altLang="en-US" sz="2400" b="0" i="0" u="none" strike="noStrike" cap="none" spc="-100" normalizeH="0" baseline="0" dirty="0" smtClean="0">
                          <a:ln>
                            <a:noFill/>
                          </a:ln>
                          <a:solidFill>
                            <a:srgbClr val="B2B2B2"/>
                          </a:solidFill>
                          <a:effectLst/>
                          <a:latin typeface="+mn-lt"/>
                          <a:ea typeface="Verdana" panose="020B0604030504040204" pitchFamily="34" charset="0"/>
                          <a:cs typeface="Lucida Sans Unicode" panose="020B0602030504020204" pitchFamily="34" charset="0"/>
                        </a:rPr>
                        <a:t>2)</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sngStrike" cap="none" normalizeH="0" baseline="0" dirty="0" smtClean="0">
                          <a:ln>
                            <a:noFill/>
                          </a:ln>
                          <a:solidFill>
                            <a:srgbClr val="BFBFBF"/>
                          </a:solidFill>
                          <a:effectLst/>
                          <a:latin typeface="+mn-lt"/>
                          <a:ea typeface="Lucida Sans Unicode" panose="020B0602030504020204" pitchFamily="34" charset="0"/>
                          <a:cs typeface="Lucida Sans Unicode" panose="020B0602030504020204" pitchFamily="34" charset="0"/>
                        </a:rPr>
                        <a:t>Yields True if the value of two operands are </a:t>
                      </a:r>
                      <a:br>
                        <a:rPr kumimoji="0" lang="en-US" altLang="en-US" sz="2400" b="0" i="0" u="none" strike="sngStrike" cap="none" normalizeH="0" baseline="0" dirty="0" smtClean="0">
                          <a:ln>
                            <a:noFill/>
                          </a:ln>
                          <a:solidFill>
                            <a:srgbClr val="BFBFBF"/>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sngStrike" cap="none" normalizeH="0" baseline="0" dirty="0" smtClean="0">
                          <a:ln>
                            <a:noFill/>
                          </a:ln>
                          <a:solidFill>
                            <a:srgbClr val="BFBFBF"/>
                          </a:solidFill>
                          <a:effectLst/>
                          <a:latin typeface="+mn-lt"/>
                          <a:ea typeface="Lucida Sans Unicode" panose="020B0602030504020204" pitchFamily="34" charset="0"/>
                          <a:cs typeface="Lucida Sans Unicode" panose="020B0602030504020204" pitchFamily="34" charset="0"/>
                        </a:rPr>
                        <a:t>not equal</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sngStrike" cap="none" spc="-100"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sngStrike" cap="none" spc="-100" normalizeH="0" baseline="0" dirty="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&lt;&gt; </a:t>
                      </a:r>
                      <a:r>
                        <a:rPr kumimoji="0" lang="en-US" altLang="en-US" sz="2400" b="0" i="0" u="none" strike="sngStrike" cap="none" spc="-100"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sng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a:t>
                      </a:r>
                      <a:r>
                        <a:rPr kumimoji="0" lang="en-US" altLang="en-US" sz="2400" b="0" i="0" u="none" strike="sngStrike" kern="1200"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sng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 True</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&gt;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20"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greater than 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rPr>
                        <a:t>&gt;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kern="1200" cap="none" spc="-30" normalizeH="0" baseline="0" noProof="0" dirty="0" smtClean="0">
                          <a:ln>
                            <a:noFill/>
                          </a:ln>
                          <a:solidFill>
                            <a:srgbClr val="FF3300"/>
                          </a:solidFill>
                          <a:effectLst/>
                          <a:uLnTx/>
                          <a:uFillTx/>
                          <a:latin typeface="+mn-lt"/>
                          <a:ea typeface="Lucida Sans Unicode" panose="020B0602030504020204" pitchFamily="34" charset="0"/>
                          <a:cs typeface="Times New Roman"/>
                        </a:rPr>
                        <a:t>⇒</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False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4"/>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&lt;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less than 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rPr>
                        <a:t>&lt;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Times New Roman"/>
                        </a:rPr>
                        <a: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True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5"/>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&gt;=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sym typeface="Symbol" panose="05050102010706020507" pitchFamily="18" charset="2"/>
                        </a:rPr>
                        <a:t>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spc="-100"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rPr>
                        <a:t>&gt;= </a:t>
                      </a: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kern="1200" cap="none" spc="-30" normalizeH="0" baseline="0" noProof="0" dirty="0" smtClean="0">
                          <a:ln>
                            <a:noFill/>
                          </a:ln>
                          <a:solidFill>
                            <a:srgbClr val="FF3300"/>
                          </a:solidFill>
                          <a:effectLst/>
                          <a:uLnTx/>
                          <a:uFillTx/>
                          <a:latin typeface="+mn-lt"/>
                          <a:ea typeface="Lucida Sans Unicode" panose="020B0602030504020204" pitchFamily="34" charset="0"/>
                          <a:cs typeface="Times New Roman"/>
                        </a:rPr>
                        <a:t>⇒</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False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6"/>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&lt;=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sym typeface="Symbol" panose="05050102010706020507" pitchFamily="18" charset="2"/>
                        </a:rPr>
                        <a:t>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spc="-100"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rPr>
                        <a:t>&lt;= </a:t>
                      </a: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mn-lt"/>
                          <a:ea typeface="Lucida Sans Unicode" panose="020B0602030504020204" pitchFamily="34" charset="0"/>
                          <a:cs typeface="Times New Roman"/>
                        </a:rPr>
                        <a:t>⇒</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Times New Roman"/>
                        </a:rPr>
                        <a: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True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7"/>
                  </a:ext>
                </a:extLst>
              </a:tr>
            </a:tbl>
          </a:graphicData>
        </a:graphic>
      </p:graphicFrame>
      <p:sp>
        <p:nvSpPr>
          <p:cNvPr id="6" name="Rounded Rectangular Callout 5"/>
          <p:cNvSpPr/>
          <p:nvPr/>
        </p:nvSpPr>
        <p:spPr>
          <a:xfrm>
            <a:off x="978694" y="1295400"/>
            <a:ext cx="3363218" cy="968739"/>
          </a:xfrm>
          <a:prstGeom prst="wedgeRoundRectCallout">
            <a:avLst>
              <a:gd name="adj1" fmla="val -45770"/>
              <a:gd name="adj2" fmla="val 12343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36" strike="sngStrike" dirty="0" smtClean="0">
                <a:solidFill>
                  <a:prstClr val="black"/>
                </a:solidFill>
              </a:rPr>
              <a:t>strikethrough</a:t>
            </a:r>
            <a:r>
              <a:rPr lang="en-US" altLang="zh-TW" sz="2436" dirty="0" smtClean="0">
                <a:solidFill>
                  <a:prstClr val="black"/>
                </a:solidFill>
              </a:rPr>
              <a:t> indicates a Python </a:t>
            </a:r>
            <a:r>
              <a:rPr lang="en-US" altLang="zh-TW" sz="2436" dirty="0">
                <a:solidFill>
                  <a:prstClr val="black"/>
                </a:solidFill>
              </a:rPr>
              <a:t>2.x-only </a:t>
            </a:r>
            <a:r>
              <a:rPr lang="en-US" altLang="zh-TW" sz="2436" dirty="0" smtClean="0">
                <a:solidFill>
                  <a:prstClr val="black"/>
                </a:solidFill>
              </a:rPr>
              <a:t>topic.</a:t>
            </a:r>
            <a:endParaRPr lang="zh-TW" altLang="en-US" sz="2436" dirty="0">
              <a:solidFill>
                <a:prstClr val="black"/>
              </a:solidFill>
            </a:endParaRPr>
          </a:p>
        </p:txBody>
      </p:sp>
    </p:spTree>
    <p:extLst>
      <p:ext uri="{BB962C8B-B14F-4D97-AF65-F5344CB8AC3E}">
        <p14:creationId xmlns:p14="http://schemas.microsoft.com/office/powerpoint/2010/main" val="2415983338"/>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Python Arithmetic Operators:</a:t>
            </a:r>
          </a:p>
        </p:txBody>
      </p:sp>
      <p:graphicFrame>
        <p:nvGraphicFramePr>
          <p:cNvPr id="5" name="Content Placeholder 4"/>
          <p:cNvGraphicFramePr>
            <a:graphicFrameLocks noGrp="1"/>
          </p:cNvGraphicFramePr>
          <p:nvPr>
            <p:ph idx="1"/>
            <p:extLst/>
          </p:nvPr>
        </p:nvGraphicFramePr>
        <p:xfrm>
          <a:off x="239049" y="1179545"/>
          <a:ext cx="9248504" cy="4278257"/>
        </p:xfrm>
        <a:graphic>
          <a:graphicData uri="http://schemas.openxmlformats.org/drawingml/2006/table">
            <a:tbl>
              <a:tblPr/>
              <a:tblGrid>
                <a:gridCol w="1425445">
                  <a:extLst>
                    <a:ext uri="{9D8B030D-6E8A-4147-A177-3AD203B41FA5}">
                      <a16:colId xmlns:a16="http://schemas.microsoft.com/office/drawing/2014/main" xmlns="" val="20000"/>
                    </a:ext>
                  </a:extLst>
                </a:gridCol>
                <a:gridCol w="5943600">
                  <a:extLst>
                    <a:ext uri="{9D8B030D-6E8A-4147-A177-3AD203B41FA5}">
                      <a16:colId xmlns:a16="http://schemas.microsoft.com/office/drawing/2014/main" xmlns="" val="20001"/>
                    </a:ext>
                  </a:extLst>
                </a:gridCol>
                <a:gridCol w="18794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value of two operands are equal</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spc="-100"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kern="1200" cap="none" spc="-30" normalizeH="0" baseline="0" noProof="0" dirty="0" smtClean="0">
                          <a:ln>
                            <a:noFill/>
                          </a:ln>
                          <a:solidFill>
                            <a:srgbClr val="FF3300"/>
                          </a:solidFill>
                          <a:effectLst/>
                          <a:uLnTx/>
                          <a:uFillTx/>
                          <a:latin typeface="+mn-lt"/>
                          <a:ea typeface="Lucida Sans Unicode" panose="020B0602030504020204" pitchFamily="34" charset="0"/>
                          <a:cs typeface="Times New Roman"/>
                        </a:rPr>
                        <a:t>⇒</a:t>
                      </a:r>
                      <a:r>
                        <a:rPr kumimoji="0" lang="en-US" altLang="en-US" sz="2400" b="0" i="0" u="none" strike="noStrike" kern="1200"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False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value of two operands are </a:t>
                      </a:r>
                      <a:b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not equal</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 20) </a:t>
                      </a:r>
                      <a:r>
                        <a:rPr kumimoji="0" lang="en-US" altLang="en-US" sz="2400" b="0" i="0" u="none" strike="noStrike" kern="1200" cap="none" spc="-30" normalizeH="0" baseline="0" noProof="0" dirty="0" smtClean="0">
                          <a:ln>
                            <a:noFill/>
                          </a:ln>
                          <a:solidFill>
                            <a:srgbClr val="FF3300"/>
                          </a:solidFill>
                          <a:effectLst/>
                          <a:uLnTx/>
                          <a:uFillTx/>
                          <a:latin typeface="+mn-lt"/>
                          <a:ea typeface="Lucida Sans Unicode" panose="020B0602030504020204" pitchFamily="34" charset="0"/>
                          <a:cs typeface="Times New Roman"/>
                        </a:rPr>
                        <a:t>⇒</a:t>
                      </a:r>
                      <a:r>
                        <a:rPr kumimoji="0" lang="en-US" altLang="en-US" sz="2400" b="0" i="0" u="none" strike="noStrike" kern="1200"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True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&gt;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20"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greater than 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rPr>
                        <a:t>&gt;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kern="1200" cap="none" spc="-30" normalizeH="0" baseline="0" noProof="0" dirty="0" smtClean="0">
                          <a:ln>
                            <a:noFill/>
                          </a:ln>
                          <a:solidFill>
                            <a:srgbClr val="FF3300"/>
                          </a:solidFill>
                          <a:effectLst/>
                          <a:uLnTx/>
                          <a:uFillTx/>
                          <a:latin typeface="+mn-lt"/>
                          <a:ea typeface="Lucida Sans Unicode" panose="020B0602030504020204" pitchFamily="34" charset="0"/>
                          <a:cs typeface="Times New Roman"/>
                        </a:rPr>
                        <a:t>⇒</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False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&lt;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less than 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rPr>
                        <a:t>&lt;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Times New Roman"/>
                        </a:rPr>
                        <a: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True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5"/>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&gt;=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sym typeface="Symbol" panose="05050102010706020507" pitchFamily="18" charset="2"/>
                        </a:rPr>
                        <a:t>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spc="-100"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rPr>
                        <a:t>&gt;= </a:t>
                      </a: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kern="1200" cap="none" spc="-30" normalizeH="0" baseline="0" noProof="0" dirty="0" smtClean="0">
                          <a:ln>
                            <a:noFill/>
                          </a:ln>
                          <a:solidFill>
                            <a:srgbClr val="FF3300"/>
                          </a:solidFill>
                          <a:effectLst/>
                          <a:uLnTx/>
                          <a:uFillTx/>
                          <a:latin typeface="+mn-lt"/>
                          <a:ea typeface="Lucida Sans Unicode" panose="020B0602030504020204" pitchFamily="34" charset="0"/>
                          <a:cs typeface="Times New Roman"/>
                        </a:rPr>
                        <a:t>⇒</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False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6"/>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&lt;=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sym typeface="Symbol" panose="05050102010706020507" pitchFamily="18" charset="2"/>
                        </a:rPr>
                        <a:t>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spc="-100"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rPr>
                        <a:t>&lt;= </a:t>
                      </a: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20)</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rgbClr val="FF3300"/>
                          </a:solidFill>
                          <a:effectLst/>
                          <a:uLnTx/>
                          <a:uFillTx/>
                          <a:latin typeface="+mn-lt"/>
                          <a:ea typeface="Lucida Sans Unicode" panose="020B0602030504020204" pitchFamily="34" charset="0"/>
                          <a:cs typeface="Times New Roman"/>
                        </a:rPr>
                        <a:t>⇒</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Times New Roman"/>
                        </a:rPr>
                        <a:t>  </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True</a:t>
                      </a:r>
                      <a:endParaRPr kumimoji="0" lang="en-US" altLang="en-US" sz="2400" b="0" i="0" u="none" strike="noStrike" cap="none" normalizeH="0" baseline="0" dirty="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7"/>
                  </a:ext>
                </a:extLst>
              </a:tr>
            </a:tbl>
          </a:graphicData>
        </a:graphic>
      </p:graphicFrame>
      <p:sp>
        <p:nvSpPr>
          <p:cNvPr id="7" name="Rounded Rectangle 6"/>
          <p:cNvSpPr/>
          <p:nvPr/>
        </p:nvSpPr>
        <p:spPr>
          <a:xfrm>
            <a:off x="2959894" y="2565264"/>
            <a:ext cx="3838732" cy="16708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prstClr val="black"/>
                </a:solidFill>
              </a:rPr>
              <a:t>Conclusion: Python3’s comparison operators are the same as C++’s.</a:t>
            </a:r>
            <a:endParaRPr lang="zh-TW" altLang="en-US" sz="2800" dirty="0">
              <a:solidFill>
                <a:prstClr val="black"/>
              </a:solidFill>
            </a:endParaRPr>
          </a:p>
        </p:txBody>
      </p:sp>
      <p:sp>
        <p:nvSpPr>
          <p:cNvPr id="8" name="Rounded Rectangular Callout 7"/>
          <p:cNvSpPr/>
          <p:nvPr/>
        </p:nvSpPr>
        <p:spPr>
          <a:xfrm>
            <a:off x="978694" y="1295400"/>
            <a:ext cx="3363218" cy="968739"/>
          </a:xfrm>
          <a:prstGeom prst="wedgeRoundRectCallout">
            <a:avLst>
              <a:gd name="adj1" fmla="val -45770"/>
              <a:gd name="adj2" fmla="val 123433"/>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36" strike="sngStrike" dirty="0" smtClean="0">
                <a:solidFill>
                  <a:prstClr val="black"/>
                </a:solidFill>
              </a:rPr>
              <a:t>strikethrough</a:t>
            </a:r>
            <a:r>
              <a:rPr lang="en-US" altLang="zh-TW" sz="2436" dirty="0" smtClean="0">
                <a:solidFill>
                  <a:prstClr val="black"/>
                </a:solidFill>
              </a:rPr>
              <a:t> indicates a Python </a:t>
            </a:r>
            <a:r>
              <a:rPr lang="en-US" altLang="zh-TW" sz="2436" dirty="0">
                <a:solidFill>
                  <a:prstClr val="black"/>
                </a:solidFill>
              </a:rPr>
              <a:t>2.x-only </a:t>
            </a:r>
            <a:r>
              <a:rPr lang="en-US" altLang="zh-TW" sz="2436" dirty="0" smtClean="0">
                <a:solidFill>
                  <a:prstClr val="black"/>
                </a:solidFill>
              </a:rPr>
              <a:t>topic.</a:t>
            </a:r>
            <a:endParaRPr lang="zh-TW" altLang="en-US" sz="2436" dirty="0">
              <a:solidFill>
                <a:prstClr val="black"/>
              </a:solidFill>
            </a:endParaRPr>
          </a:p>
        </p:txBody>
      </p:sp>
    </p:spTree>
    <p:extLst>
      <p:ext uri="{BB962C8B-B14F-4D97-AF65-F5344CB8AC3E}">
        <p14:creationId xmlns:p14="http://schemas.microsoft.com/office/powerpoint/2010/main" val="286174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xit" presetSubtype="10" fill="hold" grpId="0" nodeType="withEffect">
                                  <p:stCondLst>
                                    <p:cond delay="0"/>
                                  </p:stCondLst>
                                  <p:childTnLst>
                                    <p:animEffect transition="out" filter="randombar(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7"/>
                                        </p:tgtEl>
                                        <p:attrNameLst>
                                          <p:attrName>ppt_y</p:attrName>
                                        </p:attrNameLst>
                                      </p:cBhvr>
                                      <p:tavLst>
                                        <p:tav tm="0">
                                          <p:val>
                                            <p:strVal val="#ppt_y"/>
                                          </p:val>
                                        </p:tav>
                                        <p:tav tm="100000">
                                          <p:val>
                                            <p:strVal val="#ppt_y"/>
                                          </p:val>
                                        </p:tav>
                                      </p:tavLst>
                                    </p:anim>
                                    <p:anim calcmode="lin" valueType="num">
                                      <p:cBhvr>
                                        <p:cTn id="14"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Python Arithmetic Operators:</a:t>
            </a:r>
          </a:p>
        </p:txBody>
      </p:sp>
      <p:graphicFrame>
        <p:nvGraphicFramePr>
          <p:cNvPr id="5" name="Content Placeholder 4"/>
          <p:cNvGraphicFramePr>
            <a:graphicFrameLocks noGrp="1"/>
          </p:cNvGraphicFramePr>
          <p:nvPr>
            <p:ph idx="1"/>
            <p:extLst/>
          </p:nvPr>
        </p:nvGraphicFramePr>
        <p:xfrm>
          <a:off x="239049" y="1179545"/>
          <a:ext cx="9248504" cy="4278257"/>
        </p:xfrm>
        <a:graphic>
          <a:graphicData uri="http://schemas.openxmlformats.org/drawingml/2006/table">
            <a:tbl>
              <a:tblPr/>
              <a:tblGrid>
                <a:gridCol w="1425445">
                  <a:extLst>
                    <a:ext uri="{9D8B030D-6E8A-4147-A177-3AD203B41FA5}">
                      <a16:colId xmlns:a16="http://schemas.microsoft.com/office/drawing/2014/main" xmlns="" val="20000"/>
                    </a:ext>
                  </a:extLst>
                </a:gridCol>
                <a:gridCol w="5943600">
                  <a:extLst>
                    <a:ext uri="{9D8B030D-6E8A-4147-A177-3AD203B41FA5}">
                      <a16:colId xmlns:a16="http://schemas.microsoft.com/office/drawing/2014/main" xmlns="" val="20001"/>
                    </a:ext>
                  </a:extLst>
                </a:gridCol>
                <a:gridCol w="18794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value of two operands are equal</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spc="-100"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spc="-10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kern="1200" cap="none" spc="-30" normalizeH="0" baseline="0" noProof="0" dirty="0" smtClean="0">
                          <a:ln>
                            <a:noFill/>
                          </a:ln>
                          <a:solidFill>
                            <a:schemeClr val="tx1"/>
                          </a:solidFill>
                          <a:effectLst/>
                          <a:uLnTx/>
                          <a:uFillTx/>
                          <a:latin typeface="+mn-lt"/>
                          <a:ea typeface="Lucida Sans Unicode" panose="020B0602030504020204" pitchFamily="34" charset="0"/>
                          <a:cs typeface="Times New Roman"/>
                        </a:rPr>
                        <a:t>⇒</a:t>
                      </a:r>
                      <a:r>
                        <a:rPr kumimoji="0" lang="en-US" altLang="en-US" sz="2400" b="0" i="0" u="none" strike="noStrike" kern="1200"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normalizeH="0" baseline="0" dirty="0" smtClean="0">
                          <a:ln>
                            <a:noFill/>
                          </a:ln>
                          <a:solidFill>
                            <a:srgbClr val="FF0000"/>
                          </a:solidFill>
                          <a:effectLst/>
                          <a:latin typeface="+mn-lt"/>
                          <a:ea typeface="Lucida Sans Unicode" panose="020B0602030504020204" pitchFamily="34" charset="0"/>
                          <a:cs typeface="Lucida Sans Unicode" panose="020B0602030504020204" pitchFamily="34" charset="0"/>
                        </a:rPr>
                        <a:t>False</a:t>
                      </a:r>
                      <a:endParaRPr kumimoji="0" lang="en-US" altLang="en-US" sz="2400" b="0" i="0" u="none" strike="noStrike" cap="none" normalizeH="0" baseline="0" dirty="0">
                        <a:ln>
                          <a:noFill/>
                        </a:ln>
                        <a:solidFill>
                          <a:srgbClr val="FF00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value of two operands are </a:t>
                      </a:r>
                      <a:b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not equal</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(10 != 20) </a:t>
                      </a:r>
                      <a:r>
                        <a:rPr kumimoji="0" lang="en-US" altLang="en-US" sz="2400" b="0" i="0" u="none" strike="noStrike" kern="1200" cap="none" spc="-30" normalizeH="0" baseline="0" noProof="0" dirty="0" smtClean="0">
                          <a:ln>
                            <a:noFill/>
                          </a:ln>
                          <a:solidFill>
                            <a:schemeClr val="tx1"/>
                          </a:solidFill>
                          <a:effectLst/>
                          <a:uLnTx/>
                          <a:uFillTx/>
                          <a:latin typeface="+mn-lt"/>
                          <a:ea typeface="Lucida Sans Unicode" panose="020B0602030504020204" pitchFamily="34" charset="0"/>
                          <a:cs typeface="Times New Roman"/>
                        </a:rPr>
                        <a:t>⇒</a:t>
                      </a:r>
                      <a:r>
                        <a:rPr kumimoji="0" lang="en-US" altLang="en-US" sz="2400" b="0" i="0" u="none" strike="noStrike" kern="1200"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cap="none" normalizeH="0" baseline="0" dirty="0" smtClean="0">
                          <a:ln>
                            <a:noFill/>
                          </a:ln>
                          <a:solidFill>
                            <a:srgbClr val="FF0000"/>
                          </a:solidFill>
                          <a:effectLst/>
                          <a:latin typeface="+mn-lt"/>
                          <a:ea typeface="Lucida Sans Unicode" panose="020B0602030504020204" pitchFamily="34" charset="0"/>
                          <a:cs typeface="Lucida Sans Unicode" panose="020B0602030504020204" pitchFamily="34" charset="0"/>
                        </a:rPr>
                        <a:t>True</a:t>
                      </a:r>
                      <a:endParaRPr kumimoji="0" lang="en-US" altLang="en-US" sz="2400" b="0" i="0" u="none" strike="noStrike" cap="none" normalizeH="0" baseline="0" dirty="0">
                        <a:ln>
                          <a:noFill/>
                        </a:ln>
                        <a:solidFill>
                          <a:srgbClr val="FF00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&gt;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20"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greater than 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normalizeH="0" baseline="0" dirty="0">
                          <a:ln>
                            <a:noFill/>
                          </a:ln>
                          <a:solidFill>
                            <a:srgbClr val="000000"/>
                          </a:solidFill>
                          <a:effectLst/>
                          <a:latin typeface="+mn-lt"/>
                          <a:ea typeface="Lucida Sans Unicode" panose="020B0602030504020204" pitchFamily="34" charset="0"/>
                          <a:cs typeface="Lucida Sans Unicode" panose="020B0602030504020204" pitchFamily="34" charset="0"/>
                        </a:rPr>
                        <a:t>&gt;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kern="1200" cap="none" spc="-30" normalizeH="0" baseline="0" noProof="0" dirty="0" smtClean="0">
                          <a:ln>
                            <a:noFill/>
                          </a:ln>
                          <a:solidFill>
                            <a:schemeClr val="tx1"/>
                          </a:solidFill>
                          <a:effectLst/>
                          <a:uLnTx/>
                          <a:uFillTx/>
                          <a:latin typeface="+mn-lt"/>
                          <a:ea typeface="Lucida Sans Unicode" panose="020B0602030504020204" pitchFamily="34" charset="0"/>
                          <a:cs typeface="Times New Roman"/>
                        </a:rPr>
                        <a:t>⇒</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  False</a:t>
                      </a:r>
                      <a:endParaRPr kumimoji="0" lang="en-US" altLang="en-US" sz="2400" b="0" i="0" u="none" strike="noStrike" cap="none" normalizeH="0" baseline="0" dirty="0">
                        <a:ln>
                          <a:noFill/>
                        </a:ln>
                        <a:solidFill>
                          <a:srgbClr val="0000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4"/>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&lt;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less than 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normalizeH="0" baseline="0" dirty="0">
                          <a:ln>
                            <a:noFill/>
                          </a:ln>
                          <a:solidFill>
                            <a:srgbClr val="000000"/>
                          </a:solidFill>
                          <a:effectLst/>
                          <a:latin typeface="+mn-lt"/>
                          <a:ea typeface="Lucida Sans Unicode" panose="020B0602030504020204" pitchFamily="34" charset="0"/>
                          <a:cs typeface="Lucida Sans Unicode" panose="020B0602030504020204" pitchFamily="34" charset="0"/>
                        </a:rPr>
                        <a:t>&lt;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Times New Roman"/>
                        </a:rPr>
                        <a:t>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 True</a:t>
                      </a:r>
                      <a:endParaRPr kumimoji="0" lang="en-US" altLang="en-US" sz="2400" b="0" i="0" u="none" strike="noStrike" cap="none" normalizeH="0" baseline="0" dirty="0">
                        <a:ln>
                          <a:noFill/>
                        </a:ln>
                        <a:solidFill>
                          <a:srgbClr val="0000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5"/>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&gt;=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sym typeface="Symbol" panose="05050102010706020507" pitchFamily="18" charset="2"/>
                        </a:rPr>
                        <a:t>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spc="-100" normalizeH="0" baseline="0" dirty="0">
                          <a:ln>
                            <a:noFill/>
                          </a:ln>
                          <a:solidFill>
                            <a:srgbClr val="000000"/>
                          </a:solidFill>
                          <a:effectLst/>
                          <a:latin typeface="+mn-lt"/>
                          <a:ea typeface="Lucida Sans Unicode" panose="020B0602030504020204" pitchFamily="34" charset="0"/>
                          <a:cs typeface="Lucida Sans Unicode" panose="020B0602030504020204" pitchFamily="34" charset="0"/>
                        </a:rPr>
                        <a:t>&gt;= </a:t>
                      </a:r>
                      <a:r>
                        <a:rPr kumimoji="0" lang="en-US" altLang="en-US" sz="2400" b="0" i="0" u="none" strike="noStrike" cap="none" spc="-100"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20) </a:t>
                      </a:r>
                      <a:r>
                        <a:rPr kumimoji="0" lang="en-US" altLang="en-US" sz="2400" b="0" i="0" u="none" strike="noStrike" kern="1200" cap="none" spc="-30" normalizeH="0" baseline="0" noProof="0" dirty="0" smtClean="0">
                          <a:ln>
                            <a:noFill/>
                          </a:ln>
                          <a:solidFill>
                            <a:schemeClr val="tx1"/>
                          </a:solidFill>
                          <a:effectLst/>
                          <a:uLnTx/>
                          <a:uFillTx/>
                          <a:latin typeface="+mn-lt"/>
                          <a:ea typeface="Lucida Sans Unicode" panose="020B0602030504020204" pitchFamily="34" charset="0"/>
                          <a:cs typeface="Times New Roman"/>
                        </a:rPr>
                        <a:t>⇒</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 False</a:t>
                      </a:r>
                      <a:endParaRPr kumimoji="0" lang="en-US" altLang="en-US" sz="2400" b="0" i="0" u="none" strike="noStrike" cap="none" normalizeH="0" baseline="0" dirty="0">
                        <a:ln>
                          <a:noFill/>
                        </a:ln>
                        <a:solidFill>
                          <a:srgbClr val="0000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6"/>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&lt;=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Yields True if the left operand’s value is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sym typeface="Symbol" panose="05050102010706020507" pitchFamily="18" charset="2"/>
                        </a:rPr>
                        <a:t>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the right operand’s value</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(10 </a:t>
                      </a:r>
                      <a:r>
                        <a:rPr kumimoji="0" lang="en-US" altLang="en-US" sz="2400" b="0" i="0" u="none" strike="noStrike" cap="none" spc="-100" normalizeH="0" baseline="0" dirty="0">
                          <a:ln>
                            <a:noFill/>
                          </a:ln>
                          <a:solidFill>
                            <a:srgbClr val="000000"/>
                          </a:solidFill>
                          <a:effectLst/>
                          <a:latin typeface="+mn-lt"/>
                          <a:ea typeface="Lucida Sans Unicode" panose="020B0602030504020204" pitchFamily="34" charset="0"/>
                          <a:cs typeface="Lucida Sans Unicode" panose="020B0602030504020204" pitchFamily="34" charset="0"/>
                        </a:rPr>
                        <a:t>&lt;= </a:t>
                      </a:r>
                      <a:r>
                        <a:rPr kumimoji="0" lang="en-US" altLang="en-US" sz="2400" b="0" i="0" u="none" strike="noStrike" cap="none" spc="-100"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20)</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 </a:t>
                      </a:r>
                      <a:r>
                        <a:rPr kumimoji="0" lang="en-US" altLang="en-US" sz="2400" b="0" i="0" u="none" strike="noStrike" kern="1200" cap="none" spc="-30" normalizeH="0" baseline="0" noProof="0" dirty="0" smtClean="0">
                          <a:ln>
                            <a:noFill/>
                          </a:ln>
                          <a:solidFill>
                            <a:schemeClr val="tx1"/>
                          </a:solidFill>
                          <a:effectLst/>
                          <a:uLnTx/>
                          <a:uFillTx/>
                          <a:latin typeface="+mn-lt"/>
                          <a:ea typeface="Lucida Sans Unicode" panose="020B0602030504020204" pitchFamily="34" charset="0"/>
                          <a:cs typeface="Times New Roman"/>
                        </a:rPr>
                        <a:t>⇒</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Times New Roman"/>
                        </a:rPr>
                        <a:t>  </a:t>
                      </a: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True</a:t>
                      </a:r>
                      <a:endParaRPr kumimoji="0" lang="en-US" altLang="en-US" sz="2400" b="0" i="0" u="none" strike="noStrike" cap="none" normalizeH="0" baseline="0" dirty="0">
                        <a:ln>
                          <a:noFill/>
                        </a:ln>
                        <a:solidFill>
                          <a:srgbClr val="0000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7"/>
                  </a:ext>
                </a:extLst>
              </a:tr>
            </a:tbl>
          </a:graphicData>
        </a:graphic>
      </p:graphicFrame>
      <p:sp>
        <p:nvSpPr>
          <p:cNvPr id="6" name="Rounded Rectangular Callout 5"/>
          <p:cNvSpPr/>
          <p:nvPr/>
        </p:nvSpPr>
        <p:spPr>
          <a:xfrm>
            <a:off x="1131094" y="2416784"/>
            <a:ext cx="6853003" cy="1259925"/>
          </a:xfrm>
          <a:prstGeom prst="wedgeRoundRectCallout">
            <a:avLst>
              <a:gd name="adj1" fmla="val 55623"/>
              <a:gd name="adj2" fmla="val -24220"/>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7" name="Rounded Rectangle 6"/>
          <p:cNvSpPr/>
          <p:nvPr/>
        </p:nvSpPr>
        <p:spPr>
          <a:xfrm>
            <a:off x="1131094" y="2221912"/>
            <a:ext cx="6853003" cy="4026488"/>
          </a:xfrm>
          <a:prstGeom prst="roundRect">
            <a:avLst>
              <a:gd name="adj" fmla="val 549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359694" y="3420526"/>
            <a:ext cx="6464574" cy="2446638"/>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rPr>
              <a:t>&gt;&gt;&gt; </a:t>
            </a:r>
            <a:r>
              <a:rPr lang="en-US" sz="2200" dirty="0">
                <a:solidFill>
                  <a:schemeClr val="tx1"/>
                </a:solidFill>
                <a:latin typeface="Lucida Console" panose="020B0609040504020204" pitchFamily="49" charset="0"/>
              </a:rPr>
              <a:t>print(True,False,True+0,False+0)</a:t>
            </a:r>
          </a:p>
          <a:p>
            <a:r>
              <a:rPr lang="en-US" sz="2200" dirty="0">
                <a:solidFill>
                  <a:schemeClr val="tx1"/>
                </a:solidFill>
                <a:latin typeface="Lucida Console" panose="020B0609040504020204" pitchFamily="49" charset="0"/>
              </a:rPr>
              <a:t>True False 1 0</a:t>
            </a:r>
          </a:p>
          <a:p>
            <a:r>
              <a:rPr lang="en-US" sz="2200" dirty="0">
                <a:solidFill>
                  <a:schemeClr val="tx1"/>
                </a:solidFill>
                <a:latin typeface="Lucida Console" panose="020B0609040504020204" pitchFamily="49" charset="0"/>
              </a:rPr>
              <a:t>&gt;&gt;&gt; print(true)</a:t>
            </a:r>
          </a:p>
          <a:p>
            <a:r>
              <a:rPr lang="en-US" sz="2200" dirty="0" err="1">
                <a:solidFill>
                  <a:schemeClr val="tx1"/>
                </a:solidFill>
                <a:latin typeface="Lucida Console" panose="020B0609040504020204" pitchFamily="49" charset="0"/>
              </a:rPr>
              <a:t>Traceback</a:t>
            </a:r>
            <a:r>
              <a:rPr lang="en-US" sz="2200" dirty="0">
                <a:solidFill>
                  <a:schemeClr val="tx1"/>
                </a:solidFill>
                <a:latin typeface="Lucida Console" panose="020B0609040504020204" pitchFamily="49" charset="0"/>
              </a:rPr>
              <a:t> (most recent call last):</a:t>
            </a:r>
          </a:p>
          <a:p>
            <a:r>
              <a:rPr lang="en-US" sz="2200" dirty="0">
                <a:solidFill>
                  <a:schemeClr val="tx1"/>
                </a:solidFill>
                <a:latin typeface="Lucida Console" panose="020B0609040504020204" pitchFamily="49" charset="0"/>
              </a:rPr>
              <a:t>  File "&lt;</a:t>
            </a:r>
            <a:r>
              <a:rPr lang="en-US" sz="2200" dirty="0" err="1">
                <a:solidFill>
                  <a:schemeClr val="tx1"/>
                </a:solidFill>
                <a:latin typeface="Lucida Console" panose="020B0609040504020204" pitchFamily="49" charset="0"/>
              </a:rPr>
              <a:t>stdin</a:t>
            </a:r>
            <a:r>
              <a:rPr lang="en-US" sz="2200" dirty="0">
                <a:solidFill>
                  <a:schemeClr val="tx1"/>
                </a:solidFill>
                <a:latin typeface="Lucida Console" panose="020B0609040504020204" pitchFamily="49" charset="0"/>
              </a:rPr>
              <a:t>&gt;", line 1, in &lt;module&gt;</a:t>
            </a:r>
          </a:p>
          <a:p>
            <a:r>
              <a:rPr lang="en-US" sz="2200" dirty="0" err="1">
                <a:solidFill>
                  <a:schemeClr val="tx1"/>
                </a:solidFill>
                <a:latin typeface="Lucida Console" panose="020B0609040504020204" pitchFamily="49" charset="0"/>
              </a:rPr>
              <a:t>NameError</a:t>
            </a:r>
            <a:r>
              <a:rPr lang="en-US" sz="2200" dirty="0">
                <a:solidFill>
                  <a:schemeClr val="tx1"/>
                </a:solidFill>
                <a:latin typeface="Lucida Console" panose="020B0609040504020204" pitchFamily="49" charset="0"/>
              </a:rPr>
              <a:t>: name 'true' is not defined</a:t>
            </a:r>
          </a:p>
          <a:p>
            <a:r>
              <a:rPr lang="en-US" sz="2200" dirty="0">
                <a:solidFill>
                  <a:schemeClr val="tx1"/>
                </a:solidFill>
                <a:latin typeface="Lucida Console" panose="020B0609040504020204" pitchFamily="49" charset="0"/>
              </a:rPr>
              <a:t>&gt;&gt;&gt;</a:t>
            </a:r>
          </a:p>
        </p:txBody>
      </p:sp>
      <p:sp>
        <p:nvSpPr>
          <p:cNvPr id="10" name="Rectangle 9"/>
          <p:cNvSpPr/>
          <p:nvPr/>
        </p:nvSpPr>
        <p:spPr>
          <a:xfrm>
            <a:off x="1359694" y="3420526"/>
            <a:ext cx="6464574" cy="2446638"/>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rPr>
              <a:t>&gt;&gt;&gt; print(</a:t>
            </a:r>
            <a:r>
              <a:rPr lang="en-US" sz="2200" b="1" dirty="0">
                <a:solidFill>
                  <a:schemeClr val="bg1">
                    <a:lumMod val="95000"/>
                  </a:schemeClr>
                </a:solidFill>
                <a:latin typeface="Lucida Console" panose="020B0609040504020204" pitchFamily="49" charset="0"/>
              </a:rPr>
              <a:t>True</a:t>
            </a:r>
            <a:r>
              <a:rPr lang="en-US" sz="2200" dirty="0">
                <a:solidFill>
                  <a:schemeClr val="bg1">
                    <a:lumMod val="95000"/>
                  </a:schemeClr>
                </a:solidFill>
                <a:latin typeface="Lucida Console" panose="020B0609040504020204" pitchFamily="49" charset="0"/>
              </a:rPr>
              <a:t>,</a:t>
            </a:r>
            <a:r>
              <a:rPr lang="en-US" sz="2200" b="1" dirty="0">
                <a:solidFill>
                  <a:schemeClr val="bg1">
                    <a:lumMod val="95000"/>
                  </a:schemeClr>
                </a:solidFill>
                <a:latin typeface="Lucida Console" panose="020B0609040504020204" pitchFamily="49" charset="0"/>
              </a:rPr>
              <a:t>False</a:t>
            </a:r>
            <a:r>
              <a:rPr lang="en-US" sz="2200" dirty="0">
                <a:solidFill>
                  <a:schemeClr val="bg1">
                    <a:lumMod val="95000"/>
                  </a:schemeClr>
                </a:solidFill>
                <a:latin typeface="Lucida Console" panose="020B0609040504020204" pitchFamily="49" charset="0"/>
              </a:rPr>
              <a:t>,</a:t>
            </a:r>
            <a:r>
              <a:rPr lang="en-US" sz="2200" b="1" dirty="0">
                <a:solidFill>
                  <a:srgbClr val="FFFF00"/>
                </a:solidFill>
                <a:latin typeface="Lucida Console" panose="020B0609040504020204" pitchFamily="49" charset="0"/>
              </a:rPr>
              <a:t>True+0</a:t>
            </a:r>
            <a:r>
              <a:rPr lang="en-US" sz="2200" dirty="0">
                <a:solidFill>
                  <a:schemeClr val="bg1">
                    <a:lumMod val="95000"/>
                  </a:schemeClr>
                </a:solidFill>
                <a:latin typeface="Lucida Console" panose="020B0609040504020204" pitchFamily="49" charset="0"/>
              </a:rPr>
              <a:t>,</a:t>
            </a:r>
            <a:r>
              <a:rPr lang="en-US" sz="2200" b="1" dirty="0">
                <a:solidFill>
                  <a:srgbClr val="FFAFAF"/>
                </a:solidFill>
                <a:latin typeface="Lucida Console" panose="020B0609040504020204" pitchFamily="49" charset="0"/>
              </a:rPr>
              <a:t>False+0</a:t>
            </a:r>
            <a:r>
              <a:rPr lang="en-US" sz="2200" dirty="0">
                <a:solidFill>
                  <a:schemeClr val="bg1">
                    <a:lumMod val="95000"/>
                  </a:schemeClr>
                </a:solidFill>
                <a:latin typeface="Lucida Console" panose="020B0609040504020204" pitchFamily="49" charset="0"/>
              </a:rPr>
              <a:t>)</a:t>
            </a:r>
          </a:p>
          <a:p>
            <a:r>
              <a:rPr lang="en-US" sz="2200" b="1" dirty="0">
                <a:solidFill>
                  <a:schemeClr val="bg1">
                    <a:lumMod val="95000"/>
                  </a:schemeClr>
                </a:solidFill>
                <a:latin typeface="Lucida Console" panose="020B0609040504020204" pitchFamily="49" charset="0"/>
              </a:rPr>
              <a:t>True False </a:t>
            </a:r>
            <a:r>
              <a:rPr lang="en-US" sz="2200" b="1" dirty="0">
                <a:solidFill>
                  <a:srgbClr val="FFFF00"/>
                </a:solidFill>
                <a:latin typeface="Lucida Console" panose="020B0609040504020204" pitchFamily="49" charset="0"/>
              </a:rPr>
              <a:t>1</a:t>
            </a:r>
            <a:r>
              <a:rPr lang="en-US" sz="2200" b="1" dirty="0">
                <a:solidFill>
                  <a:schemeClr val="bg1">
                    <a:lumMod val="95000"/>
                  </a:schemeClr>
                </a:solidFill>
                <a:latin typeface="Lucida Console" panose="020B0609040504020204" pitchFamily="49" charset="0"/>
              </a:rPr>
              <a:t> </a:t>
            </a:r>
            <a:r>
              <a:rPr lang="en-US" sz="2200" b="1" dirty="0">
                <a:solidFill>
                  <a:srgbClr val="FFAFAF"/>
                </a:solidFill>
                <a:latin typeface="Lucida Console" panose="020B0609040504020204" pitchFamily="49" charset="0"/>
              </a:rPr>
              <a:t>0</a:t>
            </a:r>
          </a:p>
          <a:p>
            <a:r>
              <a:rPr lang="en-US" sz="2200" dirty="0">
                <a:latin typeface="Lucida Console" panose="020B0609040504020204" pitchFamily="49" charset="0"/>
              </a:rPr>
              <a:t>&gt;&gt;&gt; </a:t>
            </a:r>
            <a:r>
              <a:rPr lang="en-US" sz="2200" dirty="0">
                <a:solidFill>
                  <a:schemeClr val="tx1"/>
                </a:solidFill>
                <a:latin typeface="Lucida Console" panose="020B0609040504020204" pitchFamily="49" charset="0"/>
              </a:rPr>
              <a:t>print(true)</a:t>
            </a:r>
          </a:p>
          <a:p>
            <a:r>
              <a:rPr lang="en-US" sz="2200" dirty="0" err="1">
                <a:solidFill>
                  <a:schemeClr val="tx1"/>
                </a:solidFill>
                <a:latin typeface="Lucida Console" panose="020B0609040504020204" pitchFamily="49" charset="0"/>
              </a:rPr>
              <a:t>Traceback</a:t>
            </a:r>
            <a:r>
              <a:rPr lang="en-US" sz="2200" dirty="0">
                <a:solidFill>
                  <a:schemeClr val="tx1"/>
                </a:solidFill>
                <a:latin typeface="Lucida Console" panose="020B0609040504020204" pitchFamily="49" charset="0"/>
              </a:rPr>
              <a:t> (most recent call last):</a:t>
            </a:r>
          </a:p>
          <a:p>
            <a:r>
              <a:rPr lang="en-US" sz="2200" dirty="0">
                <a:solidFill>
                  <a:schemeClr val="tx1"/>
                </a:solidFill>
                <a:latin typeface="Lucida Console" panose="020B0609040504020204" pitchFamily="49" charset="0"/>
              </a:rPr>
              <a:t>  File "&lt;</a:t>
            </a:r>
            <a:r>
              <a:rPr lang="en-US" sz="2200" dirty="0" err="1">
                <a:solidFill>
                  <a:schemeClr val="tx1"/>
                </a:solidFill>
                <a:latin typeface="Lucida Console" panose="020B0609040504020204" pitchFamily="49" charset="0"/>
              </a:rPr>
              <a:t>stdin</a:t>
            </a:r>
            <a:r>
              <a:rPr lang="en-US" sz="2200" dirty="0">
                <a:solidFill>
                  <a:schemeClr val="tx1"/>
                </a:solidFill>
                <a:latin typeface="Lucida Console" panose="020B0609040504020204" pitchFamily="49" charset="0"/>
              </a:rPr>
              <a:t>&gt;", line 1, in &lt;module&gt;</a:t>
            </a:r>
          </a:p>
          <a:p>
            <a:r>
              <a:rPr lang="en-US" sz="2200" dirty="0" err="1">
                <a:solidFill>
                  <a:schemeClr val="tx1"/>
                </a:solidFill>
                <a:latin typeface="Lucida Console" panose="020B0609040504020204" pitchFamily="49" charset="0"/>
              </a:rPr>
              <a:t>NameError</a:t>
            </a:r>
            <a:r>
              <a:rPr lang="en-US" sz="2200" dirty="0">
                <a:solidFill>
                  <a:schemeClr val="tx1"/>
                </a:solidFill>
                <a:latin typeface="Lucida Console" panose="020B0609040504020204" pitchFamily="49" charset="0"/>
              </a:rPr>
              <a:t>: name 'true' is not defined</a:t>
            </a:r>
          </a:p>
          <a:p>
            <a:r>
              <a:rPr lang="en-US" sz="2200" dirty="0">
                <a:solidFill>
                  <a:schemeClr val="tx1"/>
                </a:solidFill>
                <a:latin typeface="Lucida Console" panose="020B0609040504020204" pitchFamily="49" charset="0"/>
              </a:rPr>
              <a:t>&gt;&gt;&gt;</a:t>
            </a:r>
          </a:p>
        </p:txBody>
      </p:sp>
      <p:sp>
        <p:nvSpPr>
          <p:cNvPr id="11" name="Rectangle 10"/>
          <p:cNvSpPr/>
          <p:nvPr/>
        </p:nvSpPr>
        <p:spPr>
          <a:xfrm>
            <a:off x="1359694" y="3420526"/>
            <a:ext cx="6464574" cy="2446638"/>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bg1">
                    <a:lumMod val="95000"/>
                  </a:schemeClr>
                </a:solidFill>
                <a:latin typeface="Lucida Console" panose="020B0609040504020204" pitchFamily="49" charset="0"/>
              </a:rPr>
              <a:t>&gt;&gt;&gt; print(</a:t>
            </a:r>
            <a:r>
              <a:rPr lang="en-US" sz="2200" b="1" dirty="0">
                <a:solidFill>
                  <a:schemeClr val="bg1">
                    <a:lumMod val="95000"/>
                  </a:schemeClr>
                </a:solidFill>
                <a:latin typeface="Lucida Console" panose="020B0609040504020204" pitchFamily="49" charset="0"/>
              </a:rPr>
              <a:t>True</a:t>
            </a:r>
            <a:r>
              <a:rPr lang="en-US" sz="2200" dirty="0">
                <a:solidFill>
                  <a:schemeClr val="bg1">
                    <a:lumMod val="95000"/>
                  </a:schemeClr>
                </a:solidFill>
                <a:latin typeface="Lucida Console" panose="020B0609040504020204" pitchFamily="49" charset="0"/>
              </a:rPr>
              <a:t>,</a:t>
            </a:r>
            <a:r>
              <a:rPr lang="en-US" sz="2200" b="1" dirty="0">
                <a:solidFill>
                  <a:schemeClr val="bg1">
                    <a:lumMod val="95000"/>
                  </a:schemeClr>
                </a:solidFill>
                <a:latin typeface="Lucida Console" panose="020B0609040504020204" pitchFamily="49" charset="0"/>
              </a:rPr>
              <a:t>False</a:t>
            </a:r>
            <a:r>
              <a:rPr lang="en-US" sz="2200" dirty="0">
                <a:solidFill>
                  <a:schemeClr val="bg1">
                    <a:lumMod val="95000"/>
                  </a:schemeClr>
                </a:solidFill>
                <a:latin typeface="Lucida Console" panose="020B0609040504020204" pitchFamily="49" charset="0"/>
              </a:rPr>
              <a:t>,</a:t>
            </a:r>
            <a:r>
              <a:rPr lang="en-US" sz="2200" b="1" dirty="0">
                <a:solidFill>
                  <a:srgbClr val="FFFF00"/>
                </a:solidFill>
                <a:latin typeface="Lucida Console" panose="020B0609040504020204" pitchFamily="49" charset="0"/>
              </a:rPr>
              <a:t>True+0</a:t>
            </a:r>
            <a:r>
              <a:rPr lang="en-US" sz="2200" dirty="0">
                <a:solidFill>
                  <a:schemeClr val="bg1">
                    <a:lumMod val="95000"/>
                  </a:schemeClr>
                </a:solidFill>
                <a:latin typeface="Lucida Console" panose="020B0609040504020204" pitchFamily="49" charset="0"/>
              </a:rPr>
              <a:t>,</a:t>
            </a:r>
            <a:r>
              <a:rPr lang="en-US" sz="2200" b="1" dirty="0">
                <a:solidFill>
                  <a:srgbClr val="FFAFAF"/>
                </a:solidFill>
                <a:latin typeface="Lucida Console" panose="020B0609040504020204" pitchFamily="49" charset="0"/>
              </a:rPr>
              <a:t>False+0</a:t>
            </a:r>
            <a:r>
              <a:rPr lang="en-US" sz="2200" dirty="0">
                <a:solidFill>
                  <a:schemeClr val="bg1">
                    <a:lumMod val="95000"/>
                  </a:schemeClr>
                </a:solidFill>
                <a:latin typeface="Lucida Console" panose="020B0609040504020204" pitchFamily="49" charset="0"/>
              </a:rPr>
              <a:t>)</a:t>
            </a:r>
          </a:p>
          <a:p>
            <a:r>
              <a:rPr lang="en-US" sz="2200" b="1" dirty="0">
                <a:solidFill>
                  <a:schemeClr val="bg1">
                    <a:lumMod val="95000"/>
                  </a:schemeClr>
                </a:solidFill>
                <a:latin typeface="Lucida Console" panose="020B0609040504020204" pitchFamily="49" charset="0"/>
              </a:rPr>
              <a:t>True False </a:t>
            </a:r>
            <a:r>
              <a:rPr lang="en-US" sz="2200" b="1" dirty="0">
                <a:solidFill>
                  <a:srgbClr val="FFFF00"/>
                </a:solidFill>
                <a:latin typeface="Lucida Console" panose="020B0609040504020204" pitchFamily="49" charset="0"/>
              </a:rPr>
              <a:t>1</a:t>
            </a:r>
            <a:r>
              <a:rPr lang="en-US" sz="2200" dirty="0">
                <a:solidFill>
                  <a:schemeClr val="bg1">
                    <a:lumMod val="95000"/>
                  </a:schemeClr>
                </a:solidFill>
                <a:latin typeface="Lucida Console" panose="020B0609040504020204" pitchFamily="49" charset="0"/>
              </a:rPr>
              <a:t> </a:t>
            </a:r>
            <a:r>
              <a:rPr lang="en-US" sz="2200" b="1" dirty="0">
                <a:solidFill>
                  <a:srgbClr val="FFAFAF"/>
                </a:solidFill>
                <a:latin typeface="Lucida Console" panose="020B0609040504020204" pitchFamily="49" charset="0"/>
              </a:rPr>
              <a:t>0</a:t>
            </a:r>
          </a:p>
          <a:p>
            <a:r>
              <a:rPr lang="en-US" sz="2200" dirty="0">
                <a:latin typeface="Lucida Console" panose="020B0609040504020204" pitchFamily="49" charset="0"/>
              </a:rPr>
              <a:t>&gt;&gt;&gt; print(</a:t>
            </a:r>
            <a:r>
              <a:rPr lang="en-US" sz="2200" dirty="0">
                <a:solidFill>
                  <a:srgbClr val="92D050"/>
                </a:solidFill>
                <a:latin typeface="Lucida Console" panose="020B0609040504020204" pitchFamily="49" charset="0"/>
              </a:rPr>
              <a:t>true</a:t>
            </a:r>
            <a:r>
              <a:rPr lang="en-US" sz="2200" dirty="0">
                <a:latin typeface="Lucida Console" panose="020B0609040504020204" pitchFamily="49" charset="0"/>
              </a:rPr>
              <a:t>)</a:t>
            </a:r>
          </a:p>
          <a:p>
            <a:r>
              <a:rPr lang="en-US" sz="2200" dirty="0" err="1">
                <a:latin typeface="Lucida Console" panose="020B0609040504020204" pitchFamily="49" charset="0"/>
              </a:rPr>
              <a:t>Traceback</a:t>
            </a:r>
            <a:r>
              <a:rPr lang="en-US" sz="2200" dirty="0">
                <a:latin typeface="Lucida Console" panose="020B0609040504020204" pitchFamily="49" charset="0"/>
              </a:rPr>
              <a:t> (most recent call last):</a:t>
            </a:r>
          </a:p>
          <a:p>
            <a:r>
              <a:rPr lang="en-US" sz="2200" dirty="0">
                <a:latin typeface="Lucida Console" panose="020B0609040504020204" pitchFamily="49" charset="0"/>
              </a:rPr>
              <a:t>  File "&lt;</a:t>
            </a:r>
            <a:r>
              <a:rPr lang="en-US" sz="2200" dirty="0" err="1">
                <a:latin typeface="Lucida Console" panose="020B0609040504020204" pitchFamily="49" charset="0"/>
              </a:rPr>
              <a:t>stdin</a:t>
            </a:r>
            <a:r>
              <a:rPr lang="en-US" sz="2200" dirty="0">
                <a:latin typeface="Lucida Console" panose="020B0609040504020204" pitchFamily="49" charset="0"/>
              </a:rPr>
              <a:t>&gt;", line 1, in &lt;module&gt;</a:t>
            </a:r>
          </a:p>
          <a:p>
            <a:r>
              <a:rPr lang="en-US" sz="2200" dirty="0" err="1">
                <a:latin typeface="Lucida Console" panose="020B0609040504020204" pitchFamily="49" charset="0"/>
              </a:rPr>
              <a:t>NameError</a:t>
            </a:r>
            <a:r>
              <a:rPr lang="en-US" sz="2200" dirty="0">
                <a:latin typeface="Lucida Console" panose="020B0609040504020204" pitchFamily="49" charset="0"/>
              </a:rPr>
              <a:t>: name '</a:t>
            </a:r>
            <a:r>
              <a:rPr lang="en-US" sz="2200" dirty="0">
                <a:solidFill>
                  <a:srgbClr val="92D050"/>
                </a:solidFill>
                <a:latin typeface="Lucida Console" panose="020B0609040504020204" pitchFamily="49" charset="0"/>
              </a:rPr>
              <a:t>true</a:t>
            </a:r>
            <a:r>
              <a:rPr lang="en-US" sz="2200" dirty="0">
                <a:latin typeface="Lucida Console" panose="020B0609040504020204" pitchFamily="49" charset="0"/>
              </a:rPr>
              <a:t>' is not defined</a:t>
            </a:r>
          </a:p>
          <a:p>
            <a:r>
              <a:rPr lang="en-US" sz="2200" dirty="0">
                <a:solidFill>
                  <a:schemeClr val="bg1">
                    <a:lumMod val="95000"/>
                  </a:schemeClr>
                </a:solidFill>
                <a:latin typeface="Lucida Console" panose="020B0609040504020204" pitchFamily="49" charset="0"/>
              </a:rPr>
              <a:t>&gt;&gt;&gt;</a:t>
            </a:r>
          </a:p>
        </p:txBody>
      </p:sp>
      <p:sp>
        <p:nvSpPr>
          <p:cNvPr id="12" name="Rounded Rectangular Callout 11"/>
          <p:cNvSpPr/>
          <p:nvPr/>
        </p:nvSpPr>
        <p:spPr>
          <a:xfrm>
            <a:off x="1131094" y="2221914"/>
            <a:ext cx="6853003" cy="1259925"/>
          </a:xfrm>
          <a:prstGeom prst="wedgeRoundRectCallout">
            <a:avLst>
              <a:gd name="adj1" fmla="val 56804"/>
              <a:gd name="adj2" fmla="val -52429"/>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“False” and “True” are aliases for the integers “0” and “1”, respectively.</a:t>
            </a:r>
          </a:p>
        </p:txBody>
      </p:sp>
      <p:cxnSp>
        <p:nvCxnSpPr>
          <p:cNvPr id="9" name="Straight Connector 8"/>
          <p:cNvCxnSpPr/>
          <p:nvPr/>
        </p:nvCxnSpPr>
        <p:spPr>
          <a:xfrm>
            <a:off x="2045494" y="3481837"/>
            <a:ext cx="0" cy="32918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045494" y="4149573"/>
            <a:ext cx="0" cy="32918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045494" y="5463271"/>
            <a:ext cx="0" cy="32918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353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5" presetClass="entr" presetSubtype="1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checkerboard(across)">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500"/>
                            </p:stCondLst>
                            <p:childTnLst>
                              <p:par>
                                <p:cTn id="21" presetID="35" presetClass="emph" presetSubtype="0" repeatCount="indefinite" fill="hold" nodeType="afterEffect">
                                  <p:stCondLst>
                                    <p:cond delay="0"/>
                                  </p:stCondLst>
                                  <p:endCondLst>
                                    <p:cond evt="onNext" delay="0">
                                      <p:tgtEl>
                                        <p:sldTgt/>
                                      </p:tgtEl>
                                    </p:cond>
                                  </p:endCondLst>
                                  <p:childTnLst>
                                    <p:anim calcmode="discrete" valueType="str">
                                      <p:cBhvr>
                                        <p:cTn id="22"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9"/>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par>
                          <p:cTn id="31" fill="hold">
                            <p:stCondLst>
                              <p:cond delay="0"/>
                            </p:stCondLst>
                            <p:childTnLst>
                              <p:par>
                                <p:cTn id="32" presetID="35" presetClass="emph" presetSubtype="0" repeatCount="indefinite" fill="hold" nodeType="afterEffect">
                                  <p:stCondLst>
                                    <p:cond delay="0"/>
                                  </p:stCondLst>
                                  <p:endCondLst>
                                    <p:cond evt="onNext" delay="0">
                                      <p:tgtEl>
                                        <p:sldTgt/>
                                      </p:tgtEl>
                                    </p:cond>
                                  </p:endCondLst>
                                  <p:childTnLst>
                                    <p:anim calcmode="discrete" valueType="str">
                                      <p:cBhvr>
                                        <p:cTn id="33"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13"/>
                                        </p:tgtEl>
                                        <p:attrNameLst>
                                          <p:attrName>style.visibility</p:attrName>
                                        </p:attrNameLst>
                                      </p:cBhvr>
                                      <p:to>
                                        <p:strVal val="hidden"/>
                                      </p:to>
                                    </p:set>
                                  </p:childTnLst>
                                </p:cTn>
                              </p:par>
                              <p:par>
                                <p:cTn id="40" presetID="1"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childTnLst>
                                </p:cTn>
                              </p:par>
                            </p:childTnLst>
                          </p:cTn>
                        </p:par>
                        <p:par>
                          <p:cTn id="42" fill="hold">
                            <p:stCondLst>
                              <p:cond delay="0"/>
                            </p:stCondLst>
                            <p:childTnLst>
                              <p:par>
                                <p:cTn id="43" presetID="35" presetClass="emph" presetSubtype="0" repeatCount="indefinite" fill="hold" nodeType="afterEffect">
                                  <p:stCondLst>
                                    <p:cond delay="0"/>
                                  </p:stCondLst>
                                  <p:endCondLst>
                                    <p:cond evt="onNext" delay="0">
                                      <p:tgtEl>
                                        <p:sldTgt/>
                                      </p:tgtEl>
                                    </p:cond>
                                  </p:endCondLst>
                                  <p:childTnLst>
                                    <p:anim calcmode="discrete" valueType="str">
                                      <p:cBhvr>
                                        <p:cTn id="44"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par>
                    <p:cTn id="45" fill="hold">
                      <p:stCondLst>
                        <p:cond delay="indefinite"/>
                      </p:stCondLst>
                      <p:childTnLst>
                        <p:par>
                          <p:cTn id="46" fill="hold">
                            <p:stCondLst>
                              <p:cond delay="0"/>
                            </p:stCondLst>
                            <p:childTnLst>
                              <p:par>
                                <p:cTn id="47" presetID="5" presetClass="exit" presetSubtype="10" fill="hold" grpId="1" nodeType="clickEffect">
                                  <p:stCondLst>
                                    <p:cond delay="0"/>
                                  </p:stCondLst>
                                  <p:childTnLst>
                                    <p:animEffect transition="out" filter="checkerboard(across)">
                                      <p:cBhvr>
                                        <p:cTn id="48" dur="500"/>
                                        <p:tgtEl>
                                          <p:spTgt spid="6"/>
                                        </p:tgtEl>
                                      </p:cBhvr>
                                    </p:animEffect>
                                    <p:set>
                                      <p:cBhvr>
                                        <p:cTn id="49" dur="1" fill="hold">
                                          <p:stCondLst>
                                            <p:cond delay="499"/>
                                          </p:stCondLst>
                                        </p:cTn>
                                        <p:tgtEl>
                                          <p:spTgt spid="6"/>
                                        </p:tgtEl>
                                        <p:attrNameLst>
                                          <p:attrName>style.visibility</p:attrName>
                                        </p:attrNameLst>
                                      </p:cBhvr>
                                      <p:to>
                                        <p:strVal val="hidden"/>
                                      </p:to>
                                    </p:set>
                                  </p:childTnLst>
                                </p:cTn>
                              </p:par>
                              <p:par>
                                <p:cTn id="50" presetID="5" presetClass="exit" presetSubtype="10" fill="hold" grpId="1" nodeType="withEffect">
                                  <p:stCondLst>
                                    <p:cond delay="0"/>
                                  </p:stCondLst>
                                  <p:childTnLst>
                                    <p:animEffect transition="out" filter="checkerboard(across)">
                                      <p:cBhvr>
                                        <p:cTn id="51" dur="500"/>
                                        <p:tgtEl>
                                          <p:spTgt spid="7"/>
                                        </p:tgtEl>
                                      </p:cBhvr>
                                    </p:animEffect>
                                    <p:set>
                                      <p:cBhvr>
                                        <p:cTn id="52" dur="1" fill="hold">
                                          <p:stCondLst>
                                            <p:cond delay="499"/>
                                          </p:stCondLst>
                                        </p:cTn>
                                        <p:tgtEl>
                                          <p:spTgt spid="7"/>
                                        </p:tgtEl>
                                        <p:attrNameLst>
                                          <p:attrName>style.visibility</p:attrName>
                                        </p:attrNameLst>
                                      </p:cBhvr>
                                      <p:to>
                                        <p:strVal val="hidden"/>
                                      </p:to>
                                    </p:set>
                                  </p:childTnLst>
                                </p:cTn>
                              </p:par>
                              <p:par>
                                <p:cTn id="53" presetID="5" presetClass="exit" presetSubtype="10" fill="hold" grpId="1" nodeType="withEffect">
                                  <p:stCondLst>
                                    <p:cond delay="0"/>
                                  </p:stCondLst>
                                  <p:childTnLst>
                                    <p:animEffect transition="out" filter="checkerboard(across)">
                                      <p:cBhvr>
                                        <p:cTn id="54" dur="500"/>
                                        <p:tgtEl>
                                          <p:spTgt spid="12"/>
                                        </p:tgtEl>
                                      </p:cBhvr>
                                    </p:animEffect>
                                    <p:set>
                                      <p:cBhvr>
                                        <p:cTn id="55" dur="1" fill="hold">
                                          <p:stCondLst>
                                            <p:cond delay="499"/>
                                          </p:stCondLst>
                                        </p:cTn>
                                        <p:tgtEl>
                                          <p:spTgt spid="12"/>
                                        </p:tgtEl>
                                        <p:attrNameLst>
                                          <p:attrName>style.visibility</p:attrName>
                                        </p:attrNameLst>
                                      </p:cBhvr>
                                      <p:to>
                                        <p:strVal val="hidden"/>
                                      </p:to>
                                    </p:set>
                                  </p:childTnLst>
                                </p:cTn>
                              </p:par>
                              <p:par>
                                <p:cTn id="56" presetID="5" presetClass="exit" presetSubtype="10" fill="hold" grpId="1" nodeType="withEffect">
                                  <p:stCondLst>
                                    <p:cond delay="0"/>
                                  </p:stCondLst>
                                  <p:childTnLst>
                                    <p:animEffect transition="out" filter="checkerboard(across)">
                                      <p:cBhvr>
                                        <p:cTn id="57" dur="500"/>
                                        <p:tgtEl>
                                          <p:spTgt spid="8"/>
                                        </p:tgtEl>
                                      </p:cBhvr>
                                    </p:animEffect>
                                    <p:set>
                                      <p:cBhvr>
                                        <p:cTn id="58" dur="1" fill="hold">
                                          <p:stCondLst>
                                            <p:cond delay="499"/>
                                          </p:stCondLst>
                                        </p:cTn>
                                        <p:tgtEl>
                                          <p:spTgt spid="8"/>
                                        </p:tgtEl>
                                        <p:attrNameLst>
                                          <p:attrName>style.visibility</p:attrName>
                                        </p:attrNameLst>
                                      </p:cBhvr>
                                      <p:to>
                                        <p:strVal val="hidden"/>
                                      </p:to>
                                    </p:set>
                                  </p:childTnLst>
                                </p:cTn>
                              </p:par>
                              <p:par>
                                <p:cTn id="59" presetID="5" presetClass="exit" presetSubtype="10" fill="hold" nodeType="withEffect">
                                  <p:stCondLst>
                                    <p:cond delay="0"/>
                                  </p:stCondLst>
                                  <p:childTnLst>
                                    <p:animEffect transition="out" filter="checkerboard(across)">
                                      <p:cBhvr>
                                        <p:cTn id="60" dur="500"/>
                                        <p:tgtEl>
                                          <p:spTgt spid="9"/>
                                        </p:tgtEl>
                                      </p:cBhvr>
                                    </p:animEffect>
                                    <p:set>
                                      <p:cBhvr>
                                        <p:cTn id="61" dur="1" fill="hold">
                                          <p:stCondLst>
                                            <p:cond delay="499"/>
                                          </p:stCondLst>
                                        </p:cTn>
                                        <p:tgtEl>
                                          <p:spTgt spid="9"/>
                                        </p:tgtEl>
                                        <p:attrNameLst>
                                          <p:attrName>style.visibility</p:attrName>
                                        </p:attrNameLst>
                                      </p:cBhvr>
                                      <p:to>
                                        <p:strVal val="hidden"/>
                                      </p:to>
                                    </p:set>
                                  </p:childTnLst>
                                </p:cTn>
                              </p:par>
                              <p:par>
                                <p:cTn id="62" presetID="5" presetClass="exit" presetSubtype="10" fill="hold" grpId="1" nodeType="withEffect">
                                  <p:stCondLst>
                                    <p:cond delay="0"/>
                                  </p:stCondLst>
                                  <p:childTnLst>
                                    <p:animEffect transition="out" filter="checkerboard(across)">
                                      <p:cBhvr>
                                        <p:cTn id="63" dur="500"/>
                                        <p:tgtEl>
                                          <p:spTgt spid="10"/>
                                        </p:tgtEl>
                                      </p:cBhvr>
                                    </p:animEffect>
                                    <p:set>
                                      <p:cBhvr>
                                        <p:cTn id="64" dur="1" fill="hold">
                                          <p:stCondLst>
                                            <p:cond delay="499"/>
                                          </p:stCondLst>
                                        </p:cTn>
                                        <p:tgtEl>
                                          <p:spTgt spid="10"/>
                                        </p:tgtEl>
                                        <p:attrNameLst>
                                          <p:attrName>style.visibility</p:attrName>
                                        </p:attrNameLst>
                                      </p:cBhvr>
                                      <p:to>
                                        <p:strVal val="hidden"/>
                                      </p:to>
                                    </p:set>
                                  </p:childTnLst>
                                </p:cTn>
                              </p:par>
                              <p:par>
                                <p:cTn id="65" presetID="5" presetClass="exit" presetSubtype="10" fill="hold" nodeType="withEffect">
                                  <p:stCondLst>
                                    <p:cond delay="0"/>
                                  </p:stCondLst>
                                  <p:childTnLst>
                                    <p:animEffect transition="out" filter="checkerboard(across)">
                                      <p:cBhvr>
                                        <p:cTn id="66" dur="500"/>
                                        <p:tgtEl>
                                          <p:spTgt spid="13"/>
                                        </p:tgtEl>
                                      </p:cBhvr>
                                    </p:animEffect>
                                    <p:set>
                                      <p:cBhvr>
                                        <p:cTn id="67" dur="1" fill="hold">
                                          <p:stCondLst>
                                            <p:cond delay="499"/>
                                          </p:stCondLst>
                                        </p:cTn>
                                        <p:tgtEl>
                                          <p:spTgt spid="13"/>
                                        </p:tgtEl>
                                        <p:attrNameLst>
                                          <p:attrName>style.visibility</p:attrName>
                                        </p:attrNameLst>
                                      </p:cBhvr>
                                      <p:to>
                                        <p:strVal val="hidden"/>
                                      </p:to>
                                    </p:set>
                                  </p:childTnLst>
                                </p:cTn>
                              </p:par>
                              <p:par>
                                <p:cTn id="68" presetID="5" presetClass="exit" presetSubtype="10" fill="hold" grpId="1" nodeType="withEffect">
                                  <p:stCondLst>
                                    <p:cond delay="0"/>
                                  </p:stCondLst>
                                  <p:childTnLst>
                                    <p:animEffect transition="out" filter="checkerboard(across)">
                                      <p:cBhvr>
                                        <p:cTn id="69" dur="500"/>
                                        <p:tgtEl>
                                          <p:spTgt spid="11"/>
                                        </p:tgtEl>
                                      </p:cBhvr>
                                    </p:animEffect>
                                    <p:set>
                                      <p:cBhvr>
                                        <p:cTn id="70" dur="1" fill="hold">
                                          <p:stCondLst>
                                            <p:cond delay="499"/>
                                          </p:stCondLst>
                                        </p:cTn>
                                        <p:tgtEl>
                                          <p:spTgt spid="11"/>
                                        </p:tgtEl>
                                        <p:attrNameLst>
                                          <p:attrName>style.visibility</p:attrName>
                                        </p:attrNameLst>
                                      </p:cBhvr>
                                      <p:to>
                                        <p:strVal val="hidden"/>
                                      </p:to>
                                    </p:set>
                                  </p:childTnLst>
                                </p:cTn>
                              </p:par>
                              <p:par>
                                <p:cTn id="71" presetID="5" presetClass="exit" presetSubtype="10" fill="hold" nodeType="withEffect">
                                  <p:stCondLst>
                                    <p:cond delay="0"/>
                                  </p:stCondLst>
                                  <p:childTnLst>
                                    <p:animEffect transition="out" filter="checkerboard(across)">
                                      <p:cBhvr>
                                        <p:cTn id="72" dur="500"/>
                                        <p:tgtEl>
                                          <p:spTgt spid="14"/>
                                        </p:tgtEl>
                                      </p:cBhvr>
                                    </p:animEffect>
                                    <p:set>
                                      <p:cBhvr>
                                        <p:cTn id="73"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10" grpId="0" animBg="1"/>
      <p:bldP spid="10" grpId="1" animBg="1"/>
      <p:bldP spid="11" grpId="0" animBg="1"/>
      <p:bldP spid="11" grpId="1" animBg="1"/>
      <p:bldP spid="12" grpId="0" animBg="1"/>
      <p:bldP spid="12" grpId="1"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Python Arithmetic Operators:</a:t>
            </a:r>
          </a:p>
        </p:txBody>
      </p:sp>
      <p:graphicFrame>
        <p:nvGraphicFramePr>
          <p:cNvPr id="5" name="Content Placeholder 4"/>
          <p:cNvGraphicFramePr>
            <a:graphicFrameLocks noGrp="1"/>
          </p:cNvGraphicFramePr>
          <p:nvPr>
            <p:ph idx="1"/>
            <p:extLst/>
          </p:nvPr>
        </p:nvGraphicFramePr>
        <p:xfrm>
          <a:off x="239049" y="1179545"/>
          <a:ext cx="9248504" cy="5558417"/>
        </p:xfrm>
        <a:graphic>
          <a:graphicData uri="http://schemas.openxmlformats.org/drawingml/2006/table">
            <a:tbl>
              <a:tblPr/>
              <a:tblGrid>
                <a:gridCol w="1425445">
                  <a:extLst>
                    <a:ext uri="{9D8B030D-6E8A-4147-A177-3AD203B41FA5}">
                      <a16:colId xmlns:a16="http://schemas.microsoft.com/office/drawing/2014/main" xmlns="" val="20000"/>
                    </a:ext>
                  </a:extLst>
                </a:gridCol>
                <a:gridCol w="5943600">
                  <a:extLst>
                    <a:ext uri="{9D8B030D-6E8A-4147-A177-3AD203B41FA5}">
                      <a16:colId xmlns:a16="http://schemas.microsoft.com/office/drawing/2014/main" xmlns="" val="20001"/>
                    </a:ext>
                  </a:extLst>
                </a:gridCol>
                <a:gridCol w="18794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Assigns the value(s) from right side operand(s) to left side operand(s)</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 = a + b</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Adds the right operand to the left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t>
                      </a:r>
                      <a:r>
                        <a:rPr kumimoji="0" lang="en-US" altLang="en-US" sz="2400" b="0" i="0" u="none" strike="noStrike" cap="none" normalizeH="0" baseline="0" dirty="0" err="1" smtClean="0">
                          <a:ln>
                            <a:noFill/>
                          </a:ln>
                          <a:solidFill>
                            <a:srgbClr val="FF3300"/>
                          </a:solidFill>
                          <a:effectLst/>
                          <a:latin typeface="+mn-lt"/>
                          <a:ea typeface="Lucida Sans Unicode" panose="020B0602030504020204" pitchFamily="34" charset="0"/>
                          <a:cs typeface="Lucida Sans Unicode" panose="020B0602030504020204" pitchFamily="34" charset="0"/>
                        </a:rPr>
                        <a:t>c+a</a:t>
                      </a: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Subtracts the right operand from the left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c=c-a</a:t>
                      </a:r>
                      <a:endPar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2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Multiplies the right operand with the left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c=c*a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4"/>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Divides the left operand with the right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c=c/a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5"/>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Performs a modulus using the two operands and assigns the result to the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t>
                      </a:r>
                      <a:r>
                        <a:rPr kumimoji="0" lang="en-US" altLang="en-US" sz="2400" b="0" i="0" u="none" strike="noStrike" cap="none" spc="-100" normalizeH="0" baseline="0" dirty="0" err="1" smtClean="0">
                          <a:ln>
                            <a:noFill/>
                          </a:ln>
                          <a:solidFill>
                            <a:srgbClr val="FF3300"/>
                          </a:solidFill>
                          <a:effectLst/>
                          <a:latin typeface="+mn-lt"/>
                          <a:ea typeface="Lucida Sans Unicode" panose="020B0602030504020204" pitchFamily="34" charset="0"/>
                          <a:cs typeface="Lucida Sans Unicode" panose="020B0602030504020204" pitchFamily="34" charset="0"/>
                        </a:rPr>
                        <a:t>c%a</a:t>
                      </a: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6"/>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Raises the left operand with the right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c=c**a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7"/>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Divides the left operand with the right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c=c//a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r>
            </a:tbl>
          </a:graphicData>
        </a:graphic>
      </p:graphicFrame>
    </p:spTree>
    <p:extLst>
      <p:ext uri="{BB962C8B-B14F-4D97-AF65-F5344CB8AC3E}">
        <p14:creationId xmlns:p14="http://schemas.microsoft.com/office/powerpoint/2010/main" val="1181647845"/>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Python Arithmetic Operators:</a:t>
            </a:r>
          </a:p>
        </p:txBody>
      </p:sp>
      <p:graphicFrame>
        <p:nvGraphicFramePr>
          <p:cNvPr id="5" name="Content Placeholder 4"/>
          <p:cNvGraphicFramePr>
            <a:graphicFrameLocks noGrp="1"/>
          </p:cNvGraphicFramePr>
          <p:nvPr>
            <p:ph idx="1"/>
            <p:extLst/>
          </p:nvPr>
        </p:nvGraphicFramePr>
        <p:xfrm>
          <a:off x="239049" y="1179545"/>
          <a:ext cx="9248504" cy="5558417"/>
        </p:xfrm>
        <a:graphic>
          <a:graphicData uri="http://schemas.openxmlformats.org/drawingml/2006/table">
            <a:tbl>
              <a:tblPr/>
              <a:tblGrid>
                <a:gridCol w="1425445">
                  <a:extLst>
                    <a:ext uri="{9D8B030D-6E8A-4147-A177-3AD203B41FA5}">
                      <a16:colId xmlns:a16="http://schemas.microsoft.com/office/drawing/2014/main" xmlns="" val="20000"/>
                    </a:ext>
                  </a:extLst>
                </a:gridCol>
                <a:gridCol w="5943600">
                  <a:extLst>
                    <a:ext uri="{9D8B030D-6E8A-4147-A177-3AD203B41FA5}">
                      <a16:colId xmlns:a16="http://schemas.microsoft.com/office/drawing/2014/main" xmlns="" val="20001"/>
                    </a:ext>
                  </a:extLst>
                </a:gridCol>
                <a:gridCol w="18794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Assigns the value(s) from right side operand(s) to left side operand(s)</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c = a + b</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Adds the right operand to the left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c=</a:t>
                      </a:r>
                      <a:r>
                        <a:rPr kumimoji="0" lang="en-US" altLang="en-US" sz="2400" b="0" i="0" u="none" strike="noStrike" cap="none" normalizeH="0" baseline="0" dirty="0" err="1"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c+a</a:t>
                      </a: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Subtracts the right operand from the left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spc="-100"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spc="-100"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c=c-a</a:t>
                      </a:r>
                      <a:endPar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20"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Multiplies the right operand with the left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c=c*a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4"/>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Divides the left operand with the right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c=c/a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5"/>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Performs a modulus using the two operands and assigns the result to the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spc="-10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spc="-10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c=</a:t>
                      </a:r>
                      <a:r>
                        <a:rPr kumimoji="0" lang="en-US" altLang="en-US" sz="2400" b="0" i="0" u="none" strike="noStrike" cap="none" spc="-100" normalizeH="0" baseline="0" dirty="0" err="1"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c%a</a:t>
                      </a:r>
                      <a:r>
                        <a:rPr kumimoji="0" lang="en-US" altLang="en-US" sz="2400" b="0" i="0" u="none" strike="noStrike" cap="none" spc="-100" normalizeH="0" baseline="0" dirty="0" smtClean="0">
                          <a:ln>
                            <a:noFill/>
                          </a:ln>
                          <a:solidFill>
                            <a:schemeClr val="bg1">
                              <a:lumMod val="85000"/>
                            </a:schemeClr>
                          </a:solidFill>
                          <a:effectLst/>
                          <a:latin typeface="+mn-lt"/>
                          <a:ea typeface="Lucida Sans Unicode" panose="020B0602030504020204" pitchFamily="34" charset="0"/>
                          <a:cs typeface="Lucida Sans Unicode" panose="020B0602030504020204" pitchFamily="34" charset="0"/>
                        </a:rPr>
                        <a:t>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6"/>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Raises the left operand with the right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spc="-100"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c=c**a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7"/>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a:t>
                      </a: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Divides the left operand with the right operand and assigns the result to left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182563" marR="0" lvl="0" indent="0" algn="ctr"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c//=a  ⇒</a:t>
                      </a:r>
                      <a:b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br>
                      <a:r>
                        <a:rPr kumimoji="0" lang="en-US" altLang="en-US" sz="2400" b="0" i="0" u="none" strike="noStrike" cap="none" normalizeH="0" baseline="0" dirty="0" smtClean="0">
                          <a:ln>
                            <a:noFill/>
                          </a:ln>
                          <a:solidFill>
                            <a:srgbClr val="FF3300"/>
                          </a:solidFill>
                          <a:effectLst/>
                          <a:latin typeface="+mn-lt"/>
                          <a:ea typeface="Lucida Sans Unicode" panose="020B0602030504020204" pitchFamily="34" charset="0"/>
                          <a:cs typeface="Lucida Sans Unicode" panose="020B0602030504020204" pitchFamily="34" charset="0"/>
                        </a:rPr>
                        <a:t>c=c//a </a:t>
                      </a: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r>
            </a:tbl>
          </a:graphicData>
        </a:graphic>
      </p:graphicFrame>
      <p:sp>
        <p:nvSpPr>
          <p:cNvPr id="6" name="Rounded Rectangular Callout 5"/>
          <p:cNvSpPr/>
          <p:nvPr/>
        </p:nvSpPr>
        <p:spPr>
          <a:xfrm>
            <a:off x="1329118" y="1429795"/>
            <a:ext cx="5430267" cy="2211861"/>
          </a:xfrm>
          <a:prstGeom prst="wedgeRoundRectCallout">
            <a:avLst>
              <a:gd name="adj1" fmla="val -55164"/>
              <a:gd name="adj2" fmla="val 82238"/>
              <a:gd name="adj3" fmla="val 16667"/>
            </a:avLst>
          </a:prstGeom>
          <a:solidFill>
            <a:srgbClr val="76AB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 name="Rounded Rectangular Callout 6"/>
          <p:cNvSpPr/>
          <p:nvPr/>
        </p:nvSpPr>
        <p:spPr>
          <a:xfrm>
            <a:off x="1329118" y="1429795"/>
            <a:ext cx="6529863" cy="2211861"/>
          </a:xfrm>
          <a:prstGeom prst="wedgeRoundRectCallout">
            <a:avLst>
              <a:gd name="adj1" fmla="val -54877"/>
              <a:gd name="adj2" fmla="val 136591"/>
              <a:gd name="adj3" fmla="val 16667"/>
            </a:avLst>
          </a:prstGeom>
          <a:solidFill>
            <a:srgbClr val="76AB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8" name="Rounded Rectangular Callout 7"/>
          <p:cNvSpPr/>
          <p:nvPr/>
        </p:nvSpPr>
        <p:spPr>
          <a:xfrm>
            <a:off x="1329118" y="1429795"/>
            <a:ext cx="7611783" cy="2211861"/>
          </a:xfrm>
          <a:prstGeom prst="wedgeRoundRectCallout">
            <a:avLst>
              <a:gd name="adj1" fmla="val -54412"/>
              <a:gd name="adj2" fmla="val 168146"/>
              <a:gd name="adj3" fmla="val 16667"/>
            </a:avLst>
          </a:prstGeom>
          <a:solidFill>
            <a:srgbClr val="76AB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There is no difference to C</a:t>
            </a:r>
            <a:r>
              <a:rPr lang="en-US" sz="2800" dirty="0" smtClean="0">
                <a:solidFill>
                  <a:schemeClr val="tx1"/>
                </a:solidFill>
              </a:rPr>
              <a:t>++, except </a:t>
            </a:r>
            <a:r>
              <a:rPr lang="en-US" sz="2800" dirty="0">
                <a:solidFill>
                  <a:schemeClr val="tx1"/>
                </a:solidFill>
              </a:rPr>
              <a:t>for </a:t>
            </a:r>
            <a:r>
              <a:rPr lang="en-US" sz="2800" dirty="0" smtClean="0">
                <a:solidFill>
                  <a:schemeClr val="tx1"/>
                </a:solidFill>
              </a:rPr>
              <a:t>those </a:t>
            </a:r>
            <a:r>
              <a:rPr lang="en-US" sz="2800" dirty="0">
                <a:solidFill>
                  <a:schemeClr val="tx1"/>
                </a:solidFill>
              </a:rPr>
              <a:t>new </a:t>
            </a:r>
            <a:r>
              <a:rPr lang="en-US" sz="2800" dirty="0" smtClean="0">
                <a:solidFill>
                  <a:schemeClr val="tx1"/>
                </a:solidFill>
              </a:rPr>
              <a:t>or modified operators (**, //, and /): these </a:t>
            </a:r>
            <a:r>
              <a:rPr lang="en-US" sz="2800" dirty="0">
                <a:solidFill>
                  <a:schemeClr val="tx1"/>
                </a:solidFill>
              </a:rPr>
              <a:t>new/modified operators will, of course, have corresponding new assignment </a:t>
            </a:r>
            <a:r>
              <a:rPr lang="en-US" sz="2800" dirty="0" smtClean="0">
                <a:solidFill>
                  <a:schemeClr val="tx1"/>
                </a:solidFill>
              </a:rPr>
              <a:t>operators.</a:t>
            </a:r>
            <a:endParaRPr lang="en-US" sz="2800" dirty="0">
              <a:solidFill>
                <a:schemeClr val="tx1"/>
              </a:solidFill>
            </a:endParaRPr>
          </a:p>
        </p:txBody>
      </p:sp>
    </p:spTree>
    <p:extLst>
      <p:ext uri="{BB962C8B-B14F-4D97-AF65-F5344CB8AC3E}">
        <p14:creationId xmlns:p14="http://schemas.microsoft.com/office/powerpoint/2010/main" val="3007194579"/>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smtClean="0">
                <a:solidFill>
                  <a:srgbClr val="0070C0"/>
                </a:solidFill>
              </a:rPr>
              <a:t>Python Bitwise Logic </a:t>
            </a:r>
            <a:r>
              <a:rPr lang="en-US" altLang="en-US" sz="4400" dirty="0">
                <a:solidFill>
                  <a:srgbClr val="0070C0"/>
                </a:solidFill>
              </a:rPr>
              <a:t>Operators:</a:t>
            </a:r>
          </a:p>
        </p:txBody>
      </p:sp>
      <p:graphicFrame>
        <p:nvGraphicFramePr>
          <p:cNvPr id="5" name="Content Placeholder 4"/>
          <p:cNvGraphicFramePr>
            <a:graphicFrameLocks noGrp="1"/>
          </p:cNvGraphicFramePr>
          <p:nvPr>
            <p:ph idx="1"/>
            <p:extLst/>
          </p:nvPr>
        </p:nvGraphicFramePr>
        <p:xfrm>
          <a:off x="239049" y="1179545"/>
          <a:ext cx="9248504" cy="4278257"/>
        </p:xfrm>
        <a:graphic>
          <a:graphicData uri="http://schemas.openxmlformats.org/drawingml/2006/table">
            <a:tbl>
              <a:tblPr/>
              <a:tblGrid>
                <a:gridCol w="1425445">
                  <a:extLst>
                    <a:ext uri="{9D8B030D-6E8A-4147-A177-3AD203B41FA5}">
                      <a16:colId xmlns:a16="http://schemas.microsoft.com/office/drawing/2014/main" xmlns="" val="20000"/>
                    </a:ext>
                  </a:extLst>
                </a:gridCol>
                <a:gridCol w="5715000">
                  <a:extLst>
                    <a:ext uri="{9D8B030D-6E8A-4147-A177-3AD203B41FA5}">
                      <a16:colId xmlns:a16="http://schemas.microsoft.com/office/drawing/2014/main" xmlns="" val="20001"/>
                    </a:ext>
                  </a:extLst>
                </a:gridCol>
                <a:gridCol w="21080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&amp;</a:t>
                      </a:r>
                      <a:b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binary AND </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Places a bit in the result if it exists in both operands</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&amp; 13)  </a:t>
                      </a:r>
                      <a:r>
                        <a:rPr kumimoji="0" lang="en-US" altLang="en-US" sz="1600" b="0" i="0" u="none" strike="noStrike" kern="1200" cap="none" spc="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12 which is 0000 1100</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a:t>
                      </a:r>
                      <a:b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binary OR </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Places a bit in the result if it exists in either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 13)  </a:t>
                      </a:r>
                      <a:r>
                        <a:rPr kumimoji="0" lang="en-US" altLang="en-US" sz="1600" b="0" i="0" u="none" strike="noStrike" kern="1200" cap="none" spc="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61 which is 0011 1101</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a:t>
                      </a:r>
                      <a:b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binary XOR </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Places a bit in the result if it is set in one operand but not both</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 13)  </a:t>
                      </a:r>
                      <a:r>
                        <a:rPr kumimoji="0" lang="en-US" altLang="en-US" sz="1600" b="0" i="0" u="none" strike="noStrike" kern="1200" cap="none" spc="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49 which is 0011 0001</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a:t>
                      </a:r>
                      <a:b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binary FLIP </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20" normalizeH="0" baseline="0" dirty="0" smtClean="0">
                          <a:ln>
                            <a:noFill/>
                          </a:ln>
                          <a:solidFill>
                            <a:schemeClr val="tx1"/>
                          </a:solidFill>
                          <a:effectLst/>
                          <a:latin typeface="+mn-lt"/>
                          <a:ea typeface="Lucida Sans Unicode" panose="020B0602030504020204" pitchFamily="34" charset="0"/>
                          <a:cs typeface="Lucida Sans Unicode" panose="020B0602030504020204" pitchFamily="34" charset="0"/>
                        </a:rPr>
                        <a:t>Places a bit in the result if it is not set in the operand (on the right-hand)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  </a:t>
                      </a:r>
                      <a:r>
                        <a:rPr kumimoji="0" lang="en-US" altLang="en-US" sz="1600" b="0" i="0" u="none" strike="noStrike" kern="1200" cap="none" spc="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-61 </a:t>
                      </a:r>
                      <a:b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which is …</a:t>
                      </a:r>
                      <a:r>
                        <a:rPr kumimoji="0" lang="en-US" altLang="en-US" sz="1600" b="0" i="0" u="none" strike="noStrike" kern="1200" cap="none" spc="-10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1100 0011</a:t>
                      </a:r>
                      <a:endParaRPr kumimoji="0" lang="en-US" altLang="en-US" sz="1600" b="0" i="0" u="none" strike="noStrike" kern="1200" cap="none" spc="-10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4"/>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&lt;&lt;</a:t>
                      </a:r>
                      <a:b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left shift </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The left operand’s value moves left by the number of bits indicated by the right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&lt;&lt; 2  </a:t>
                      </a:r>
                      <a:r>
                        <a:rPr kumimoji="0" lang="en-US" altLang="en-US" sz="1600" b="0" i="0" u="none" strike="noStrike" kern="1200" cap="none" spc="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240 which is 1111 0000</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5"/>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&gt;&gt; </a:t>
                      </a:r>
                      <a:b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right shift </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mn-lt"/>
                          <a:ea typeface="Lucida Sans Unicode" panose="020B0602030504020204" pitchFamily="34" charset="0"/>
                          <a:cs typeface="Lucida Sans Unicode" panose="020B0602030504020204" pitchFamily="34" charset="0"/>
                        </a:rPr>
                        <a:t>The left operand’s value moves right by the number of bits indicated by the right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&gt;&gt; 2  </a:t>
                      </a:r>
                      <a:r>
                        <a:rPr kumimoji="0" lang="en-US" altLang="en-US" sz="1600" b="0" i="0" u="none" strike="noStrike" kern="1200" cap="none" spc="0" normalizeH="0" baseline="0" noProof="0" dirty="0" smtClean="0">
                          <a:ln>
                            <a:noFill/>
                          </a:ln>
                          <a:solidFill>
                            <a:srgbClr val="FF3300"/>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15 which is 0000 1111</a:t>
                      </a:r>
                      <a:endParaRPr kumimoji="0" lang="en-US" altLang="en-US" sz="1600" b="0" i="0" u="none" strike="noStrike" kern="1200" cap="none" spc="0" normalizeH="0" baseline="0" noProof="0" dirty="0">
                        <a:ln>
                          <a:noFill/>
                        </a:ln>
                        <a:solidFill>
                          <a:srgbClr val="FF3300"/>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2919719806"/>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Python </a:t>
            </a:r>
            <a:r>
              <a:rPr lang="en-US" altLang="en-US" sz="4400" dirty="0" smtClean="0">
                <a:solidFill>
                  <a:srgbClr val="0070C0"/>
                </a:solidFill>
              </a:rPr>
              <a:t>Bitwise Logic </a:t>
            </a:r>
            <a:r>
              <a:rPr lang="en-US" altLang="en-US" sz="4400" dirty="0">
                <a:solidFill>
                  <a:srgbClr val="0070C0"/>
                </a:solidFill>
              </a:rPr>
              <a:t>Operators:</a:t>
            </a:r>
          </a:p>
        </p:txBody>
      </p:sp>
      <p:graphicFrame>
        <p:nvGraphicFramePr>
          <p:cNvPr id="5" name="Content Placeholder 4"/>
          <p:cNvGraphicFramePr>
            <a:graphicFrameLocks noGrp="1"/>
          </p:cNvGraphicFramePr>
          <p:nvPr>
            <p:ph idx="1"/>
            <p:extLst/>
          </p:nvPr>
        </p:nvGraphicFramePr>
        <p:xfrm>
          <a:off x="239049" y="1179545"/>
          <a:ext cx="9248504" cy="4278257"/>
        </p:xfrm>
        <a:graphic>
          <a:graphicData uri="http://schemas.openxmlformats.org/drawingml/2006/table">
            <a:tbl>
              <a:tblPr/>
              <a:tblGrid>
                <a:gridCol w="1425445">
                  <a:extLst>
                    <a:ext uri="{9D8B030D-6E8A-4147-A177-3AD203B41FA5}">
                      <a16:colId xmlns:a16="http://schemas.microsoft.com/office/drawing/2014/main" xmlns="" val="20000"/>
                    </a:ext>
                  </a:extLst>
                </a:gridCol>
                <a:gridCol w="5715000">
                  <a:extLst>
                    <a:ext uri="{9D8B030D-6E8A-4147-A177-3AD203B41FA5}">
                      <a16:colId xmlns:a16="http://schemas.microsoft.com/office/drawing/2014/main" xmlns="" val="20001"/>
                    </a:ext>
                  </a:extLst>
                </a:gridCol>
                <a:gridCol w="21080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&amp;</a:t>
                      </a:r>
                      <a:b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binary AND </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Places a bit in the result if it exists in both operands</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&amp; 13)  </a:t>
                      </a:r>
                      <a:r>
                        <a:rPr kumimoji="0" lang="en-US" altLang="en-US" sz="1600" b="0" i="0" u="none" strike="noStrike" kern="1200" cap="none" spc="0" normalizeH="0" baseline="0" noProof="0" dirty="0" smtClean="0">
                          <a:ln>
                            <a:noFill/>
                          </a:ln>
                          <a:solidFill>
                            <a:schemeClr val="bg1">
                              <a:lumMod val="75000"/>
                            </a:schemeClr>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12 which is 0000 1100</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a:t>
                      </a:r>
                      <a:b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binary OR </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Places a bit in the result if it exists in either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 13)  </a:t>
                      </a:r>
                      <a:r>
                        <a:rPr kumimoji="0" lang="en-US" altLang="en-US" sz="1600" b="0" i="0" u="none" strike="noStrike" kern="1200" cap="none" spc="0" normalizeH="0" baseline="0" noProof="0" dirty="0" smtClean="0">
                          <a:ln>
                            <a:noFill/>
                          </a:ln>
                          <a:solidFill>
                            <a:schemeClr val="bg1">
                              <a:lumMod val="75000"/>
                            </a:schemeClr>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61 which is 0011 1101</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a:t>
                      </a:r>
                      <a:b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binary XOR </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Places a bit in the result if it is set in one operand but not both</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 13)  </a:t>
                      </a:r>
                      <a:r>
                        <a:rPr kumimoji="0" lang="en-US" altLang="en-US" sz="1600" b="0" i="0" u="none" strike="noStrike" kern="1200" cap="none" spc="0" normalizeH="0" baseline="0" noProof="0" dirty="0" smtClean="0">
                          <a:ln>
                            <a:noFill/>
                          </a:ln>
                          <a:solidFill>
                            <a:schemeClr val="bg1">
                              <a:lumMod val="75000"/>
                            </a:schemeClr>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49 which is 0011 0001</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a:t>
                      </a:r>
                      <a:b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binary FLIP </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spc="-20"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Places a bit in the result if it is not set in the operand (on the right-hand)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  </a:t>
                      </a:r>
                      <a:r>
                        <a:rPr kumimoji="0" lang="en-US" altLang="en-US" sz="1600" b="0" i="0" u="none" strike="noStrike" kern="1200" cap="none" spc="0" normalizeH="0" baseline="0" noProof="0" dirty="0" smtClean="0">
                          <a:ln>
                            <a:noFill/>
                          </a:ln>
                          <a:solidFill>
                            <a:schemeClr val="bg1">
                              <a:lumMod val="75000"/>
                            </a:schemeClr>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-61 </a:t>
                      </a:r>
                      <a:b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which is …</a:t>
                      </a:r>
                      <a:r>
                        <a:rPr kumimoji="0" lang="en-US" altLang="en-US" sz="1600" b="0" i="0" u="none" strike="noStrike" kern="1200" cap="none" spc="-10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1100 0011</a:t>
                      </a:r>
                      <a:endParaRPr kumimoji="0" lang="en-US" altLang="en-US" sz="1600" b="0" i="0" u="none" strike="noStrike" kern="1200" cap="none" spc="-10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4"/>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&lt;&lt;</a:t>
                      </a:r>
                      <a:b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left shift </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The left operand’s value moves left by the number of bits indicated by the right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&lt;&lt; 2  </a:t>
                      </a:r>
                      <a:r>
                        <a:rPr kumimoji="0" lang="en-US" altLang="en-US" sz="1600" b="0" i="0" u="none" strike="noStrike" kern="1200" cap="none" spc="0" normalizeH="0" baseline="0" noProof="0" dirty="0" smtClean="0">
                          <a:ln>
                            <a:noFill/>
                          </a:ln>
                          <a:solidFill>
                            <a:schemeClr val="bg1">
                              <a:lumMod val="75000"/>
                            </a:schemeClr>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240 which is 1111 0000</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5"/>
                  </a:ext>
                </a:extLst>
              </a:tr>
              <a:tr h="640080">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&gt;&gt; </a:t>
                      </a:r>
                      <a:b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right shift </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9525" marR="9525" marT="9144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80000"/>
                        </a:lnSpc>
                        <a:spcBef>
                          <a:spcPct val="0"/>
                        </a:spcBef>
                        <a:spcAft>
                          <a:spcPct val="0"/>
                        </a:spcAft>
                        <a:buClrTx/>
                        <a:buSzTx/>
                        <a:buFontTx/>
                        <a:buNone/>
                        <a:tabLst/>
                      </a:pPr>
                      <a:r>
                        <a:rPr kumimoji="0" lang="en-US" altLang="en-US" sz="24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Lucida Sans Unicode" panose="020B0602030504020204" pitchFamily="34" charset="0"/>
                        </a:rPr>
                        <a:t>The left operand’s value moves right by the number of bits indicated by the right operand</a:t>
                      </a:r>
                    </a:p>
                  </a:txBody>
                  <a:tcPr marL="9525" marR="9525"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marL="182563">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60 &gt;&gt; 2  </a:t>
                      </a:r>
                      <a:r>
                        <a:rPr kumimoji="0" lang="en-US" altLang="en-US" sz="1600" b="0" i="0" u="none" strike="noStrike" kern="1200" cap="none" spc="0" normalizeH="0" baseline="0" noProof="0" dirty="0" smtClean="0">
                          <a:ln>
                            <a:noFill/>
                          </a:ln>
                          <a:solidFill>
                            <a:schemeClr val="bg1">
                              <a:lumMod val="75000"/>
                            </a:schemeClr>
                          </a:solidFill>
                          <a:effectLst/>
                          <a:uLnTx/>
                          <a:uFillTx/>
                          <a:latin typeface="Times New Roman"/>
                          <a:ea typeface="Lucida Sans Unicode" panose="020B0602030504020204" pitchFamily="34" charset="0"/>
                          <a:cs typeface="Times New Roman"/>
                        </a:rPr>
                        <a:t>→  </a:t>
                      </a:r>
                      <a:r>
                        <a:rPr kumimoji="0" lang="en-US" altLang="en-US" sz="1600" b="0" i="0" u="none" strike="noStrike" kern="1200" cap="none" spc="0" normalizeH="0" baseline="0" noProof="0" dirty="0" smtClean="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rPr>
                        <a:t>15 which is 0000 1111</a:t>
                      </a:r>
                      <a:endParaRPr kumimoji="0" lang="en-US" altLang="en-US" sz="1600" b="0" i="0" u="none" strike="noStrike" kern="1200" cap="none" spc="0" normalizeH="0" baseline="0" noProof="0" dirty="0">
                        <a:ln>
                          <a:noFill/>
                        </a:ln>
                        <a:solidFill>
                          <a:schemeClr val="bg1">
                            <a:lumMod val="75000"/>
                          </a:schemeClr>
                        </a:solidFill>
                        <a:effectLst/>
                        <a:uLnTx/>
                        <a:uFillTx/>
                        <a:latin typeface="Verdana" panose="020B0604030504040204" pitchFamily="34" charset="0"/>
                        <a:ea typeface="Lucida Sans Unicode" panose="020B0602030504020204" pitchFamily="34" charset="0"/>
                        <a:cs typeface="Lucida Sans Unicode" panose="020B0602030504020204" pitchFamily="34" charset="0"/>
                      </a:endParaRPr>
                    </a:p>
                  </a:txBody>
                  <a:tcPr marL="8287" marR="828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6"/>
                  </a:ext>
                </a:extLst>
              </a:tr>
            </a:tbl>
          </a:graphicData>
        </a:graphic>
      </p:graphicFrame>
      <p:sp>
        <p:nvSpPr>
          <p:cNvPr id="6" name="Rounded Rectangle 5"/>
          <p:cNvSpPr/>
          <p:nvPr/>
        </p:nvSpPr>
        <p:spPr>
          <a:xfrm>
            <a:off x="3334461" y="2786609"/>
            <a:ext cx="3064476" cy="13221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These are all identical to C++</a:t>
            </a:r>
          </a:p>
        </p:txBody>
      </p:sp>
    </p:spTree>
    <p:extLst>
      <p:ext uri="{BB962C8B-B14F-4D97-AF65-F5344CB8AC3E}">
        <p14:creationId xmlns:p14="http://schemas.microsoft.com/office/powerpoint/2010/main" val="2638775322"/>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Python </a:t>
            </a:r>
            <a:r>
              <a:rPr lang="en-US" altLang="en-US" sz="4400" dirty="0" smtClean="0">
                <a:solidFill>
                  <a:srgbClr val="0070C0"/>
                </a:solidFill>
              </a:rPr>
              <a:t>Logic </a:t>
            </a:r>
            <a:r>
              <a:rPr lang="en-US" altLang="en-US" sz="4400" dirty="0">
                <a:solidFill>
                  <a:srgbClr val="0070C0"/>
                </a:solidFill>
              </a:rPr>
              <a:t>Operators:</a:t>
            </a:r>
          </a:p>
        </p:txBody>
      </p:sp>
      <p:graphicFrame>
        <p:nvGraphicFramePr>
          <p:cNvPr id="5" name="Content Placeholder 4"/>
          <p:cNvGraphicFramePr>
            <a:graphicFrameLocks noGrp="1"/>
          </p:cNvGraphicFramePr>
          <p:nvPr>
            <p:ph idx="1"/>
            <p:extLst/>
          </p:nvPr>
        </p:nvGraphicFramePr>
        <p:xfrm>
          <a:off x="239049" y="1179545"/>
          <a:ext cx="9248504" cy="3148589"/>
        </p:xfrm>
        <a:graphic>
          <a:graphicData uri="http://schemas.openxmlformats.org/drawingml/2006/table">
            <a:tbl>
              <a:tblPr/>
              <a:tblGrid>
                <a:gridCol w="1425445">
                  <a:extLst>
                    <a:ext uri="{9D8B030D-6E8A-4147-A177-3AD203B41FA5}">
                      <a16:colId xmlns:a16="http://schemas.microsoft.com/office/drawing/2014/main" xmlns="" val="20000"/>
                    </a:ext>
                  </a:extLst>
                </a:gridCol>
                <a:gridCol w="5715000">
                  <a:extLst>
                    <a:ext uri="{9D8B030D-6E8A-4147-A177-3AD203B41FA5}">
                      <a16:colId xmlns:a16="http://schemas.microsoft.com/office/drawing/2014/main" xmlns="" val="20001"/>
                    </a:ext>
                  </a:extLst>
                </a:gridCol>
                <a:gridCol w="21080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p>
                      <a:pPr algn="ctr" fontAlgn="t"/>
                      <a:r>
                        <a:rPr lang="en-US" sz="2400" b="1" i="0" u="none" strike="noStrike" dirty="0">
                          <a:solidFill>
                            <a:srgbClr val="FF3300"/>
                          </a:solidFill>
                          <a:latin typeface="+mn-lt"/>
                        </a:rPr>
                        <a:t>and</a:t>
                      </a: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algn="l" fontAlgn="t"/>
                      <a:r>
                        <a:rPr lang="en-US" sz="2400" b="0" i="0" u="none" strike="noStrike" dirty="0" smtClean="0">
                          <a:solidFill>
                            <a:schemeClr val="tx1"/>
                          </a:solidFill>
                          <a:latin typeface="+mn-lt"/>
                        </a:rPr>
                        <a:t>If </a:t>
                      </a:r>
                      <a:r>
                        <a:rPr lang="en-US" sz="2400" b="0" i="0" u="none" strike="noStrike" dirty="0">
                          <a:solidFill>
                            <a:schemeClr val="tx1"/>
                          </a:solidFill>
                          <a:latin typeface="+mn-lt"/>
                        </a:rPr>
                        <a:t>both the operands </a:t>
                      </a:r>
                      <a:r>
                        <a:rPr lang="en-US" sz="2400" b="0" i="0" u="none" strike="noStrike" dirty="0" smtClean="0">
                          <a:solidFill>
                            <a:schemeClr val="tx1"/>
                          </a:solidFill>
                          <a:latin typeface="+mn-lt"/>
                        </a:rPr>
                        <a:t>are nonzero then </a:t>
                      </a:r>
                      <a:r>
                        <a:rPr lang="en-US" sz="2400" b="0" i="0" u="none" strike="noStrike" dirty="0">
                          <a:solidFill>
                            <a:schemeClr val="tx1"/>
                          </a:solidFill>
                          <a:latin typeface="+mn-lt"/>
                        </a:rPr>
                        <a:t>then condition becomes </a:t>
                      </a:r>
                      <a:r>
                        <a:rPr lang="en-US" sz="2400" b="0" i="0" u="none" strike="noStrike" dirty="0" smtClean="0">
                          <a:solidFill>
                            <a:schemeClr val="tx1"/>
                          </a:solidFill>
                          <a:latin typeface="+mn-lt"/>
                        </a:rPr>
                        <a:t>True.</a:t>
                      </a:r>
                      <a:endParaRPr lang="en-US" sz="2400" b="0" i="0" u="none" strike="noStrike" dirty="0">
                        <a:solidFill>
                          <a:schemeClr val="tx1"/>
                        </a:solidFill>
                        <a:latin typeface="+mn-lt"/>
                      </a:endParaRPr>
                    </a:p>
                  </a:txBody>
                  <a:tcPr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182563" indent="-182563" algn="ctr" fontAlgn="t"/>
                      <a:r>
                        <a:rPr lang="en-US" sz="2000" b="0" i="0" u="none" strike="noStrike" dirty="0" smtClean="0">
                          <a:solidFill>
                            <a:srgbClr val="FF3300"/>
                          </a:solidFill>
                          <a:latin typeface="+mn-lt"/>
                        </a:rPr>
                        <a:t>(True </a:t>
                      </a:r>
                      <a:r>
                        <a:rPr lang="en-US" sz="2000" b="0" i="0" u="none" strike="noStrike" dirty="0">
                          <a:solidFill>
                            <a:srgbClr val="FF3300"/>
                          </a:solidFill>
                          <a:latin typeface="+mn-lt"/>
                        </a:rPr>
                        <a:t>and </a:t>
                      </a:r>
                      <a:r>
                        <a:rPr lang="en-US" sz="2000" b="0" i="0" u="none" strike="noStrike" dirty="0" smtClean="0">
                          <a:solidFill>
                            <a:srgbClr val="FF3300"/>
                          </a:solidFill>
                          <a:latin typeface="+mn-lt"/>
                        </a:rPr>
                        <a:t>0) </a:t>
                      </a:r>
                      <a:r>
                        <a:rPr kumimoji="0" lang="en-US" altLang="en-US" sz="2000" b="0" i="0" u="none" strike="noStrike" cap="none" normalizeH="0" baseline="0" dirty="0" smtClean="0">
                          <a:ln>
                            <a:noFill/>
                          </a:ln>
                          <a:solidFill>
                            <a:srgbClr val="FF3300"/>
                          </a:solidFill>
                          <a:effectLst/>
                          <a:latin typeface="+mn-lt"/>
                          <a:ea typeface="Lucida Sans Unicode" panose="020B0602030504020204" pitchFamily="34" charset="0"/>
                          <a:cs typeface="Times New Roman"/>
                        </a:rPr>
                        <a:t>→</a:t>
                      </a:r>
                      <a:r>
                        <a:rPr lang="en-US" sz="2000" b="0" i="0" u="none" strike="noStrike" dirty="0" smtClean="0">
                          <a:solidFill>
                            <a:srgbClr val="FF3300"/>
                          </a:solidFill>
                          <a:latin typeface="+mn-lt"/>
                        </a:rPr>
                        <a:t> False</a:t>
                      </a:r>
                      <a:endParaRPr lang="en-US" sz="2000" b="0" i="0" u="none" strike="noStrike" dirty="0">
                        <a:solidFill>
                          <a:srgbClr val="FF3300"/>
                        </a:solidFill>
                        <a:latin typeface="+mn-lt"/>
                      </a:endParaRP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p>
                      <a:pPr algn="ctr" fontAlgn="t"/>
                      <a:r>
                        <a:rPr lang="en-US" sz="2400" b="1" i="0" u="none" strike="noStrike" dirty="0">
                          <a:solidFill>
                            <a:srgbClr val="FF3300"/>
                          </a:solidFill>
                          <a:latin typeface="+mn-lt"/>
                        </a:rPr>
                        <a:t>or</a:t>
                      </a: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algn="l" fontAlgn="t"/>
                      <a:r>
                        <a:rPr lang="en-US" sz="2400" b="0" i="0" u="none" strike="noStrike" dirty="0" smtClean="0">
                          <a:solidFill>
                            <a:schemeClr val="tx1"/>
                          </a:solidFill>
                          <a:latin typeface="+mn-lt"/>
                        </a:rPr>
                        <a:t>If either </a:t>
                      </a:r>
                      <a:r>
                        <a:rPr lang="en-US" sz="2400" b="0" i="0" u="none" strike="noStrike" dirty="0">
                          <a:solidFill>
                            <a:schemeClr val="tx1"/>
                          </a:solidFill>
                          <a:latin typeface="+mn-lt"/>
                        </a:rPr>
                        <a:t>of the two operands are non zero then then condition becomes </a:t>
                      </a:r>
                      <a:r>
                        <a:rPr lang="en-US" sz="2400" b="0" i="0" u="none" strike="noStrike" dirty="0" smtClean="0">
                          <a:solidFill>
                            <a:schemeClr val="tx1"/>
                          </a:solidFill>
                          <a:latin typeface="+mn-lt"/>
                        </a:rPr>
                        <a:t>True.</a:t>
                      </a:r>
                      <a:endParaRPr lang="en-US" sz="2400" b="0" i="0" u="none" strike="noStrike" dirty="0">
                        <a:solidFill>
                          <a:schemeClr val="tx1"/>
                        </a:solidFill>
                        <a:latin typeface="+mn-lt"/>
                      </a:endParaRPr>
                    </a:p>
                  </a:txBody>
                  <a:tcPr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182563" indent="-182563" algn="ctr" fontAlgn="t"/>
                      <a:r>
                        <a:rPr lang="en-US" sz="2000" b="0" i="0" u="none" strike="noStrike" dirty="0" smtClean="0">
                          <a:solidFill>
                            <a:srgbClr val="FF3300"/>
                          </a:solidFill>
                          <a:latin typeface="+mn-lt"/>
                        </a:rPr>
                        <a:t>(True </a:t>
                      </a:r>
                      <a:r>
                        <a:rPr lang="en-US" sz="2000" b="0" i="0" u="none" strike="noStrike" dirty="0">
                          <a:solidFill>
                            <a:srgbClr val="FF3300"/>
                          </a:solidFill>
                          <a:latin typeface="+mn-lt"/>
                        </a:rPr>
                        <a:t>or </a:t>
                      </a:r>
                      <a:r>
                        <a:rPr lang="en-US" sz="2000" b="0" i="0" u="none" strike="noStrike" dirty="0" smtClean="0">
                          <a:solidFill>
                            <a:srgbClr val="FF3300"/>
                          </a:solidFill>
                          <a:latin typeface="+mn-lt"/>
                        </a:rPr>
                        <a:t>0) </a:t>
                      </a:r>
                      <a:r>
                        <a:rPr kumimoji="0" lang="en-US" altLang="en-US" sz="2000" b="0" i="0" u="none" strike="noStrike" cap="none" normalizeH="0" baseline="0" dirty="0" smtClean="0">
                          <a:ln>
                            <a:noFill/>
                          </a:ln>
                          <a:solidFill>
                            <a:srgbClr val="FF3300"/>
                          </a:solidFill>
                          <a:effectLst/>
                          <a:latin typeface="+mn-lt"/>
                          <a:ea typeface="Lucida Sans Unicode" panose="020B0602030504020204" pitchFamily="34" charset="0"/>
                          <a:cs typeface="Times New Roman"/>
                        </a:rPr>
                        <a:t>→</a:t>
                      </a:r>
                      <a:r>
                        <a:rPr lang="en-US" sz="2000" b="0" i="0" u="none" strike="noStrike" dirty="0" smtClean="0">
                          <a:solidFill>
                            <a:srgbClr val="FF3300"/>
                          </a:solidFill>
                          <a:latin typeface="+mn-lt"/>
                        </a:rPr>
                        <a:t> True</a:t>
                      </a:r>
                      <a:endParaRPr lang="en-US" sz="2000" b="0" i="0" u="none" strike="noStrike" dirty="0">
                        <a:solidFill>
                          <a:srgbClr val="FF3300"/>
                        </a:solidFill>
                        <a:latin typeface="+mn-lt"/>
                      </a:endParaRP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p>
                      <a:pPr algn="ctr" fontAlgn="t"/>
                      <a:r>
                        <a:rPr lang="en-US" sz="2400" b="1" i="0" u="none" strike="noStrike" dirty="0">
                          <a:solidFill>
                            <a:srgbClr val="FF3300"/>
                          </a:solidFill>
                          <a:latin typeface="+mn-lt"/>
                        </a:rPr>
                        <a:t>not</a:t>
                      </a: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algn="l" fontAlgn="t"/>
                      <a:r>
                        <a:rPr lang="en-US" sz="2400" b="0" i="0" u="none" strike="noStrike" dirty="0" smtClean="0">
                          <a:solidFill>
                            <a:schemeClr val="tx1"/>
                          </a:solidFill>
                          <a:latin typeface="+mn-lt"/>
                        </a:rPr>
                        <a:t>If the operand is nonzero, then the condition becomes False. Otherwise, it becomes True.</a:t>
                      </a:r>
                      <a:endParaRPr lang="en-US" sz="2400" b="0" i="0" u="none" strike="noStrike" dirty="0">
                        <a:solidFill>
                          <a:schemeClr val="tx1"/>
                        </a:solidFill>
                        <a:latin typeface="+mn-lt"/>
                      </a:endParaRPr>
                    </a:p>
                  </a:txBody>
                  <a:tcPr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indent="0" algn="ctr" fontAlgn="t"/>
                      <a:r>
                        <a:rPr lang="en-US" sz="2000" b="0" i="0" u="none" strike="noStrike" dirty="0" smtClean="0">
                          <a:solidFill>
                            <a:srgbClr val="FF3300"/>
                          </a:solidFill>
                          <a:latin typeface="+mn-lt"/>
                        </a:rPr>
                        <a:t>not</a:t>
                      </a:r>
                      <a:r>
                        <a:rPr lang="en-US" sz="2000" b="0" i="0" u="none" strike="noStrike" baseline="0" dirty="0" smtClean="0">
                          <a:solidFill>
                            <a:srgbClr val="FF3300"/>
                          </a:solidFill>
                          <a:latin typeface="+mn-lt"/>
                        </a:rPr>
                        <a:t> 7</a:t>
                      </a:r>
                      <a:r>
                        <a:rPr lang="en-US" sz="2000" b="0" i="0" u="none" strike="noStrike" dirty="0" smtClean="0">
                          <a:solidFill>
                            <a:srgbClr val="FF3300"/>
                          </a:solidFill>
                          <a:latin typeface="+mn-lt"/>
                        </a:rPr>
                        <a:t> </a:t>
                      </a:r>
                      <a:r>
                        <a:rPr kumimoji="0" lang="en-US" altLang="en-US" sz="2000" b="0" i="0" u="none" strike="noStrike" cap="none" normalizeH="0" baseline="0" dirty="0" smtClean="0">
                          <a:ln>
                            <a:noFill/>
                          </a:ln>
                          <a:solidFill>
                            <a:srgbClr val="FF3300"/>
                          </a:solidFill>
                          <a:effectLst/>
                          <a:latin typeface="+mn-lt"/>
                          <a:ea typeface="Lucida Sans Unicode" panose="020B0602030504020204" pitchFamily="34" charset="0"/>
                          <a:cs typeface="Times New Roman"/>
                        </a:rPr>
                        <a:t>→</a:t>
                      </a:r>
                      <a:r>
                        <a:rPr lang="en-US" sz="2000" b="0" i="0" u="none" strike="noStrike" dirty="0" smtClean="0">
                          <a:solidFill>
                            <a:srgbClr val="FF3300"/>
                          </a:solidFill>
                          <a:latin typeface="+mn-lt"/>
                        </a:rPr>
                        <a:t> False</a:t>
                      </a:r>
                    </a:p>
                    <a:p>
                      <a:pPr marL="0" indent="0" algn="ctr" fontAlgn="t"/>
                      <a:r>
                        <a:rPr lang="en-US" sz="2000" b="0" i="0" u="none" strike="noStrike" dirty="0" smtClean="0">
                          <a:solidFill>
                            <a:srgbClr val="FF3300"/>
                          </a:solidFill>
                          <a:latin typeface="+mn-lt"/>
                        </a:rPr>
                        <a:t>not 0 </a:t>
                      </a:r>
                      <a:r>
                        <a:rPr kumimoji="0" lang="en-US" altLang="en-US" sz="2000" b="0" i="0" u="none" strike="noStrike" cap="none" normalizeH="0" baseline="0" dirty="0" smtClean="0">
                          <a:ln>
                            <a:noFill/>
                          </a:ln>
                          <a:solidFill>
                            <a:srgbClr val="FF3300"/>
                          </a:solidFill>
                          <a:effectLst/>
                          <a:latin typeface="+mn-lt"/>
                          <a:ea typeface="Lucida Sans Unicode" panose="020B0602030504020204" pitchFamily="34" charset="0"/>
                          <a:cs typeface="Times New Roman"/>
                        </a:rPr>
                        <a:t>→</a:t>
                      </a:r>
                      <a:r>
                        <a:rPr lang="en-US" sz="2000" b="0" i="0" u="none" strike="noStrike" dirty="0" smtClean="0">
                          <a:solidFill>
                            <a:srgbClr val="FF3300"/>
                          </a:solidFill>
                          <a:latin typeface="+mn-lt"/>
                        </a:rPr>
                        <a:t> True</a:t>
                      </a:r>
                    </a:p>
                    <a:p>
                      <a:pPr marL="0" indent="0" algn="ctr" fontAlgn="t"/>
                      <a:r>
                        <a:rPr lang="en-US" sz="2000" b="0" i="0" u="none" strike="noStrike" dirty="0" smtClean="0">
                          <a:solidFill>
                            <a:srgbClr val="FF3300"/>
                          </a:solidFill>
                          <a:latin typeface="+mn-lt"/>
                        </a:rPr>
                        <a:t>not</a:t>
                      </a:r>
                      <a:r>
                        <a:rPr lang="en-US" sz="2000" b="0" i="0" u="none" strike="noStrike" baseline="0" dirty="0" smtClean="0">
                          <a:solidFill>
                            <a:srgbClr val="FF3300"/>
                          </a:solidFill>
                          <a:latin typeface="+mn-lt"/>
                        </a:rPr>
                        <a:t> "hello"</a:t>
                      </a:r>
                      <a:r>
                        <a:rPr lang="en-US" sz="2000" b="0" i="0" u="none" strike="noStrike" dirty="0" smtClean="0">
                          <a:solidFill>
                            <a:srgbClr val="FF3300"/>
                          </a:solidFill>
                          <a:latin typeface="+mn-lt"/>
                        </a:rPr>
                        <a:t> </a:t>
                      </a:r>
                      <a:r>
                        <a:rPr kumimoji="0" lang="en-US" altLang="en-US" sz="2000" b="0" i="0" u="none" strike="noStrike" cap="none" normalizeH="0" baseline="0" dirty="0" smtClean="0">
                          <a:ln>
                            <a:noFill/>
                          </a:ln>
                          <a:solidFill>
                            <a:srgbClr val="FF3300"/>
                          </a:solidFill>
                          <a:effectLst/>
                          <a:latin typeface="+mn-lt"/>
                          <a:ea typeface="Lucida Sans Unicode" panose="020B0602030504020204" pitchFamily="34" charset="0"/>
                          <a:cs typeface="Times New Roman"/>
                        </a:rPr>
                        <a:t>→</a:t>
                      </a:r>
                      <a:r>
                        <a:rPr lang="en-US" sz="2000" b="0" i="0" u="none" strike="noStrike" dirty="0" smtClean="0">
                          <a:solidFill>
                            <a:srgbClr val="FF3300"/>
                          </a:solidFill>
                          <a:latin typeface="+mn-lt"/>
                        </a:rPr>
                        <a:t> False</a:t>
                      </a:r>
                    </a:p>
                    <a:p>
                      <a:pPr marL="0" indent="0" algn="ctr" fontAlgn="t"/>
                      <a:r>
                        <a:rPr lang="en-US" sz="2000" b="0" i="0" u="none" strike="noStrike" dirty="0" smtClean="0">
                          <a:solidFill>
                            <a:srgbClr val="FF3300"/>
                          </a:solidFill>
                          <a:latin typeface="+mn-lt"/>
                        </a:rPr>
                        <a:t>not False </a:t>
                      </a:r>
                      <a:r>
                        <a:rPr kumimoji="0" lang="en-US" altLang="en-US" sz="2000" b="0" i="0" u="none" strike="noStrike" cap="none" normalizeH="0" baseline="0" dirty="0" smtClean="0">
                          <a:ln>
                            <a:noFill/>
                          </a:ln>
                          <a:solidFill>
                            <a:srgbClr val="FF3300"/>
                          </a:solidFill>
                          <a:effectLst/>
                          <a:latin typeface="+mn-lt"/>
                          <a:ea typeface="Lucida Sans Unicode" panose="020B0602030504020204" pitchFamily="34" charset="0"/>
                          <a:cs typeface="Times New Roman"/>
                        </a:rPr>
                        <a:t>→</a:t>
                      </a:r>
                      <a:r>
                        <a:rPr lang="en-US" sz="2000" b="0" i="0" u="none" strike="noStrike" dirty="0" smtClean="0">
                          <a:solidFill>
                            <a:srgbClr val="FF3300"/>
                          </a:solidFill>
                          <a:latin typeface="+mn-lt"/>
                        </a:rPr>
                        <a:t> True</a:t>
                      </a: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790898635"/>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 y="1"/>
            <a:ext cx="9729787" cy="1161142"/>
          </a:xfrm>
        </p:spPr>
        <p:txBody>
          <a:bodyPr>
            <a:normAutofit/>
          </a:bodyPr>
          <a:lstStyle/>
          <a:p>
            <a:r>
              <a:rPr lang="en-US" altLang="en-US" sz="4400" dirty="0">
                <a:solidFill>
                  <a:srgbClr val="0070C0"/>
                </a:solidFill>
              </a:rPr>
              <a:t>Python </a:t>
            </a:r>
            <a:r>
              <a:rPr lang="en-US" altLang="en-US" sz="4400" dirty="0" smtClean="0">
                <a:solidFill>
                  <a:srgbClr val="0070C0"/>
                </a:solidFill>
              </a:rPr>
              <a:t>Logic </a:t>
            </a:r>
            <a:r>
              <a:rPr lang="en-US" altLang="en-US" sz="4400" dirty="0">
                <a:solidFill>
                  <a:srgbClr val="0070C0"/>
                </a:solidFill>
              </a:rPr>
              <a:t>Operators:</a:t>
            </a:r>
          </a:p>
        </p:txBody>
      </p:sp>
      <p:graphicFrame>
        <p:nvGraphicFramePr>
          <p:cNvPr id="5" name="Content Placeholder 4"/>
          <p:cNvGraphicFramePr>
            <a:graphicFrameLocks noGrp="1"/>
          </p:cNvGraphicFramePr>
          <p:nvPr>
            <p:ph idx="1"/>
            <p:extLst/>
          </p:nvPr>
        </p:nvGraphicFramePr>
        <p:xfrm>
          <a:off x="239049" y="1179545"/>
          <a:ext cx="9248504" cy="3148589"/>
        </p:xfrm>
        <a:graphic>
          <a:graphicData uri="http://schemas.openxmlformats.org/drawingml/2006/table">
            <a:tbl>
              <a:tblPr/>
              <a:tblGrid>
                <a:gridCol w="1425445">
                  <a:extLst>
                    <a:ext uri="{9D8B030D-6E8A-4147-A177-3AD203B41FA5}">
                      <a16:colId xmlns:a16="http://schemas.microsoft.com/office/drawing/2014/main" xmlns="" val="20000"/>
                    </a:ext>
                  </a:extLst>
                </a:gridCol>
                <a:gridCol w="5715000">
                  <a:extLst>
                    <a:ext uri="{9D8B030D-6E8A-4147-A177-3AD203B41FA5}">
                      <a16:colId xmlns:a16="http://schemas.microsoft.com/office/drawing/2014/main" xmlns="" val="20001"/>
                    </a:ext>
                  </a:extLst>
                </a:gridCol>
                <a:gridCol w="2108059">
                  <a:extLst>
                    <a:ext uri="{9D8B030D-6E8A-4147-A177-3AD203B41FA5}">
                      <a16:colId xmlns:a16="http://schemas.microsoft.com/office/drawing/2014/main" xmlns="" val="20002"/>
                    </a:ext>
                  </a:extLst>
                </a:gridCol>
              </a:tblGrid>
              <a:tr h="437777">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mn-lt"/>
                          <a:ea typeface="Lucida Sans Unicode" panose="020B0602030504020204" pitchFamily="34" charset="0"/>
                          <a:cs typeface="Lucida Sans Unicode" panose="020B0602030504020204" pitchFamily="34" charset="0"/>
                        </a:rPr>
                        <a:t>Example</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40080">
                <a:tc>
                  <a:txBody>
                    <a:bodyPr/>
                    <a:lstStyle/>
                    <a:p>
                      <a:pPr algn="ctr" fontAlgn="t"/>
                      <a:r>
                        <a:rPr lang="en-US" sz="2400" b="1" i="0" u="none" strike="noStrike" dirty="0">
                          <a:solidFill>
                            <a:srgbClr val="FF3300"/>
                          </a:solidFill>
                          <a:latin typeface="+mn-lt"/>
                        </a:rPr>
                        <a:t>and</a:t>
                      </a: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algn="l" fontAlgn="t"/>
                      <a:r>
                        <a:rPr lang="en-US" sz="2400" b="0" i="0" u="none" strike="noStrike" dirty="0" smtClean="0">
                          <a:solidFill>
                            <a:schemeClr val="bg1">
                              <a:lumMod val="75000"/>
                            </a:schemeClr>
                          </a:solidFill>
                          <a:latin typeface="+mn-lt"/>
                        </a:rPr>
                        <a:t>If </a:t>
                      </a:r>
                      <a:r>
                        <a:rPr lang="en-US" sz="2400" b="0" i="0" u="none" strike="noStrike" dirty="0">
                          <a:solidFill>
                            <a:schemeClr val="bg1">
                              <a:lumMod val="75000"/>
                            </a:schemeClr>
                          </a:solidFill>
                          <a:latin typeface="+mn-lt"/>
                        </a:rPr>
                        <a:t>both the operands </a:t>
                      </a:r>
                      <a:r>
                        <a:rPr lang="en-US" sz="2400" b="0" i="0" u="none" strike="noStrike" dirty="0" smtClean="0">
                          <a:solidFill>
                            <a:schemeClr val="bg1">
                              <a:lumMod val="75000"/>
                            </a:schemeClr>
                          </a:solidFill>
                          <a:latin typeface="+mn-lt"/>
                        </a:rPr>
                        <a:t>are nonzero then </a:t>
                      </a:r>
                      <a:r>
                        <a:rPr lang="en-US" sz="2400" b="0" i="0" u="none" strike="noStrike" dirty="0">
                          <a:solidFill>
                            <a:schemeClr val="bg1">
                              <a:lumMod val="75000"/>
                            </a:schemeClr>
                          </a:solidFill>
                          <a:latin typeface="+mn-lt"/>
                        </a:rPr>
                        <a:t>then condition becomes </a:t>
                      </a:r>
                      <a:r>
                        <a:rPr lang="en-US" sz="2400" b="0" i="0" u="none" strike="noStrike" dirty="0" smtClean="0">
                          <a:solidFill>
                            <a:schemeClr val="bg1">
                              <a:lumMod val="75000"/>
                            </a:schemeClr>
                          </a:solidFill>
                          <a:latin typeface="+mn-lt"/>
                        </a:rPr>
                        <a:t>True.</a:t>
                      </a:r>
                      <a:endParaRPr lang="en-US" sz="2400" b="0" i="0" u="none" strike="noStrike" dirty="0">
                        <a:solidFill>
                          <a:schemeClr val="bg1">
                            <a:lumMod val="75000"/>
                          </a:schemeClr>
                        </a:solidFill>
                        <a:latin typeface="+mn-lt"/>
                      </a:endParaRPr>
                    </a:p>
                  </a:txBody>
                  <a:tcPr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182563" indent="-182563" algn="ctr" fontAlgn="t"/>
                      <a:r>
                        <a:rPr lang="en-US" sz="2000" b="0" i="0" u="none" strike="noStrike" dirty="0" smtClean="0">
                          <a:solidFill>
                            <a:schemeClr val="bg1">
                              <a:lumMod val="75000"/>
                            </a:schemeClr>
                          </a:solidFill>
                          <a:latin typeface="+mn-lt"/>
                        </a:rPr>
                        <a:t>(True </a:t>
                      </a:r>
                      <a:r>
                        <a:rPr lang="en-US" sz="2000" b="0" i="0" u="none" strike="noStrike" dirty="0">
                          <a:solidFill>
                            <a:schemeClr val="bg1">
                              <a:lumMod val="75000"/>
                            </a:schemeClr>
                          </a:solidFill>
                          <a:latin typeface="+mn-lt"/>
                        </a:rPr>
                        <a:t>and </a:t>
                      </a:r>
                      <a:r>
                        <a:rPr lang="en-US" sz="2000" b="0" i="0" u="none" strike="noStrike" dirty="0" smtClean="0">
                          <a:solidFill>
                            <a:schemeClr val="bg1">
                              <a:lumMod val="75000"/>
                            </a:schemeClr>
                          </a:solidFill>
                          <a:latin typeface="+mn-lt"/>
                        </a:rPr>
                        <a:t>0) </a:t>
                      </a:r>
                      <a:r>
                        <a:rPr kumimoji="0" lang="en-US" altLang="en-US" sz="20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Times New Roman"/>
                        </a:rPr>
                        <a:t>→</a:t>
                      </a:r>
                      <a:r>
                        <a:rPr lang="en-US" sz="2000" b="0" i="0" u="none" strike="noStrike" dirty="0" smtClean="0">
                          <a:solidFill>
                            <a:schemeClr val="bg1">
                              <a:lumMod val="75000"/>
                            </a:schemeClr>
                          </a:solidFill>
                          <a:latin typeface="+mn-lt"/>
                        </a:rPr>
                        <a:t> False</a:t>
                      </a:r>
                      <a:endParaRPr lang="en-US" sz="2000" b="0" i="0" u="none" strike="noStrike" dirty="0">
                        <a:solidFill>
                          <a:schemeClr val="bg1">
                            <a:lumMod val="75000"/>
                          </a:schemeClr>
                        </a:solidFill>
                        <a:latin typeface="+mn-lt"/>
                      </a:endParaRP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1"/>
                  </a:ext>
                </a:extLst>
              </a:tr>
              <a:tr h="640080">
                <a:tc>
                  <a:txBody>
                    <a:bodyPr/>
                    <a:lstStyle/>
                    <a:p>
                      <a:pPr algn="ctr" fontAlgn="t"/>
                      <a:r>
                        <a:rPr lang="en-US" sz="2400" b="1" i="0" u="none" strike="noStrike" dirty="0">
                          <a:solidFill>
                            <a:srgbClr val="FF3300"/>
                          </a:solidFill>
                          <a:latin typeface="+mn-lt"/>
                        </a:rPr>
                        <a:t>or</a:t>
                      </a: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algn="l" fontAlgn="t"/>
                      <a:r>
                        <a:rPr lang="en-US" sz="2400" b="0" i="0" u="none" strike="noStrike" dirty="0" smtClean="0">
                          <a:solidFill>
                            <a:schemeClr val="bg1">
                              <a:lumMod val="75000"/>
                            </a:schemeClr>
                          </a:solidFill>
                          <a:latin typeface="+mn-lt"/>
                        </a:rPr>
                        <a:t>If either </a:t>
                      </a:r>
                      <a:r>
                        <a:rPr lang="en-US" sz="2400" b="0" i="0" u="none" strike="noStrike" dirty="0">
                          <a:solidFill>
                            <a:schemeClr val="bg1">
                              <a:lumMod val="75000"/>
                            </a:schemeClr>
                          </a:solidFill>
                          <a:latin typeface="+mn-lt"/>
                        </a:rPr>
                        <a:t>of the two operands are non zero then then condition becomes </a:t>
                      </a:r>
                      <a:r>
                        <a:rPr lang="en-US" sz="2400" b="0" i="0" u="none" strike="noStrike" dirty="0" smtClean="0">
                          <a:solidFill>
                            <a:schemeClr val="bg1">
                              <a:lumMod val="75000"/>
                            </a:schemeClr>
                          </a:solidFill>
                          <a:latin typeface="+mn-lt"/>
                        </a:rPr>
                        <a:t>True.</a:t>
                      </a:r>
                      <a:endParaRPr lang="en-US" sz="2400" b="0" i="0" u="none" strike="noStrike" dirty="0">
                        <a:solidFill>
                          <a:schemeClr val="bg1">
                            <a:lumMod val="75000"/>
                          </a:schemeClr>
                        </a:solidFill>
                        <a:latin typeface="+mn-lt"/>
                      </a:endParaRPr>
                    </a:p>
                  </a:txBody>
                  <a:tcPr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182563" indent="-182563" algn="ctr" fontAlgn="t"/>
                      <a:r>
                        <a:rPr lang="en-US" sz="2000" b="0" i="0" u="none" strike="noStrike" dirty="0" smtClean="0">
                          <a:solidFill>
                            <a:schemeClr val="bg1">
                              <a:lumMod val="75000"/>
                            </a:schemeClr>
                          </a:solidFill>
                          <a:latin typeface="+mn-lt"/>
                        </a:rPr>
                        <a:t>(True </a:t>
                      </a:r>
                      <a:r>
                        <a:rPr lang="en-US" sz="2000" b="0" i="0" u="none" strike="noStrike" dirty="0">
                          <a:solidFill>
                            <a:schemeClr val="bg1">
                              <a:lumMod val="75000"/>
                            </a:schemeClr>
                          </a:solidFill>
                          <a:latin typeface="+mn-lt"/>
                        </a:rPr>
                        <a:t>or </a:t>
                      </a:r>
                      <a:r>
                        <a:rPr lang="en-US" sz="2000" b="0" i="0" u="none" strike="noStrike" dirty="0" smtClean="0">
                          <a:solidFill>
                            <a:schemeClr val="bg1">
                              <a:lumMod val="75000"/>
                            </a:schemeClr>
                          </a:solidFill>
                          <a:latin typeface="+mn-lt"/>
                        </a:rPr>
                        <a:t>0) </a:t>
                      </a:r>
                      <a:r>
                        <a:rPr kumimoji="0" lang="en-US" altLang="en-US" sz="20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Times New Roman"/>
                        </a:rPr>
                        <a:t>→</a:t>
                      </a:r>
                      <a:r>
                        <a:rPr lang="en-US" sz="2000" b="0" i="0" u="none" strike="noStrike" dirty="0" smtClean="0">
                          <a:solidFill>
                            <a:schemeClr val="bg1">
                              <a:lumMod val="75000"/>
                            </a:schemeClr>
                          </a:solidFill>
                          <a:latin typeface="+mn-lt"/>
                        </a:rPr>
                        <a:t> True</a:t>
                      </a:r>
                      <a:endParaRPr lang="en-US" sz="2000" b="0" i="0" u="none" strike="noStrike" dirty="0">
                        <a:solidFill>
                          <a:schemeClr val="bg1">
                            <a:lumMod val="75000"/>
                          </a:schemeClr>
                        </a:solidFill>
                        <a:latin typeface="+mn-lt"/>
                      </a:endParaRP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2"/>
                  </a:ext>
                </a:extLst>
              </a:tr>
              <a:tr h="640080">
                <a:tc>
                  <a:txBody>
                    <a:bodyPr/>
                    <a:lstStyle/>
                    <a:p>
                      <a:pPr algn="ctr" fontAlgn="t"/>
                      <a:r>
                        <a:rPr lang="en-US" sz="2400" b="1" i="0" u="none" strike="noStrike" dirty="0">
                          <a:solidFill>
                            <a:srgbClr val="FF3300"/>
                          </a:solidFill>
                          <a:latin typeface="+mn-lt"/>
                        </a:rPr>
                        <a:t>not</a:t>
                      </a: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algn="l" fontAlgn="t"/>
                      <a:r>
                        <a:rPr lang="en-US" sz="2400" b="0" i="0" u="none" strike="noStrike" dirty="0" smtClean="0">
                          <a:solidFill>
                            <a:schemeClr val="bg1">
                              <a:lumMod val="75000"/>
                            </a:schemeClr>
                          </a:solidFill>
                          <a:latin typeface="+mn-lt"/>
                        </a:rPr>
                        <a:t>If the operand is nonzero, then the condition becomes False. Otherwise, it becomes True.</a:t>
                      </a:r>
                      <a:endParaRPr lang="en-US" sz="2400" b="0" i="0" u="none" strike="noStrike" dirty="0">
                        <a:solidFill>
                          <a:schemeClr val="bg1">
                            <a:lumMod val="75000"/>
                          </a:schemeClr>
                        </a:solidFill>
                        <a:latin typeface="+mn-lt"/>
                      </a:endParaRPr>
                    </a:p>
                  </a:txBody>
                  <a:tcPr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indent="0" algn="ctr" fontAlgn="t"/>
                      <a:r>
                        <a:rPr lang="en-US" sz="2000" b="0" i="0" u="none" strike="noStrike" dirty="0" smtClean="0">
                          <a:solidFill>
                            <a:schemeClr val="bg1">
                              <a:lumMod val="75000"/>
                            </a:schemeClr>
                          </a:solidFill>
                          <a:latin typeface="+mn-lt"/>
                        </a:rPr>
                        <a:t>not</a:t>
                      </a:r>
                      <a:r>
                        <a:rPr lang="en-US" sz="2000" b="0" i="0" u="none" strike="noStrike" baseline="0" dirty="0" smtClean="0">
                          <a:solidFill>
                            <a:schemeClr val="bg1">
                              <a:lumMod val="75000"/>
                            </a:schemeClr>
                          </a:solidFill>
                          <a:latin typeface="+mn-lt"/>
                        </a:rPr>
                        <a:t> 7</a:t>
                      </a:r>
                      <a:r>
                        <a:rPr lang="en-US" sz="2000" b="0" i="0" u="none" strike="noStrike" dirty="0" smtClean="0">
                          <a:solidFill>
                            <a:schemeClr val="bg1">
                              <a:lumMod val="75000"/>
                            </a:schemeClr>
                          </a:solidFill>
                          <a:latin typeface="+mn-lt"/>
                        </a:rPr>
                        <a:t> </a:t>
                      </a:r>
                      <a:r>
                        <a:rPr kumimoji="0" lang="en-US" altLang="en-US" sz="20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Times New Roman"/>
                        </a:rPr>
                        <a:t>→</a:t>
                      </a:r>
                      <a:r>
                        <a:rPr lang="en-US" sz="2000" b="0" i="0" u="none" strike="noStrike" dirty="0" smtClean="0">
                          <a:solidFill>
                            <a:schemeClr val="bg1">
                              <a:lumMod val="75000"/>
                            </a:schemeClr>
                          </a:solidFill>
                          <a:latin typeface="+mn-lt"/>
                        </a:rPr>
                        <a:t> False</a:t>
                      </a:r>
                    </a:p>
                    <a:p>
                      <a:pPr marL="0" indent="0" algn="ctr" fontAlgn="t"/>
                      <a:r>
                        <a:rPr lang="en-US" sz="2000" b="0" i="0" u="none" strike="noStrike" dirty="0" smtClean="0">
                          <a:solidFill>
                            <a:schemeClr val="bg1">
                              <a:lumMod val="75000"/>
                            </a:schemeClr>
                          </a:solidFill>
                          <a:latin typeface="+mn-lt"/>
                        </a:rPr>
                        <a:t>not 0 </a:t>
                      </a:r>
                      <a:r>
                        <a:rPr kumimoji="0" lang="en-US" altLang="en-US" sz="20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Times New Roman"/>
                        </a:rPr>
                        <a:t>→</a:t>
                      </a:r>
                      <a:r>
                        <a:rPr lang="en-US" sz="2000" b="0" i="0" u="none" strike="noStrike" dirty="0" smtClean="0">
                          <a:solidFill>
                            <a:schemeClr val="bg1">
                              <a:lumMod val="75000"/>
                            </a:schemeClr>
                          </a:solidFill>
                          <a:latin typeface="+mn-lt"/>
                        </a:rPr>
                        <a:t> True</a:t>
                      </a:r>
                    </a:p>
                    <a:p>
                      <a:pPr marL="0" indent="0" algn="ctr" fontAlgn="t"/>
                      <a:r>
                        <a:rPr lang="en-US" sz="2000" b="0" i="0" u="none" strike="noStrike" dirty="0" smtClean="0">
                          <a:solidFill>
                            <a:schemeClr val="bg1">
                              <a:lumMod val="75000"/>
                            </a:schemeClr>
                          </a:solidFill>
                          <a:latin typeface="+mn-lt"/>
                        </a:rPr>
                        <a:t>not</a:t>
                      </a:r>
                      <a:r>
                        <a:rPr lang="en-US" sz="2000" b="0" i="0" u="none" strike="noStrike" baseline="0" dirty="0" smtClean="0">
                          <a:solidFill>
                            <a:schemeClr val="bg1">
                              <a:lumMod val="75000"/>
                            </a:schemeClr>
                          </a:solidFill>
                          <a:latin typeface="+mn-lt"/>
                        </a:rPr>
                        <a:t> "hello"</a:t>
                      </a:r>
                      <a:r>
                        <a:rPr lang="en-US" sz="2000" b="0" i="0" u="none" strike="noStrike" dirty="0" smtClean="0">
                          <a:solidFill>
                            <a:schemeClr val="bg1">
                              <a:lumMod val="75000"/>
                            </a:schemeClr>
                          </a:solidFill>
                          <a:latin typeface="+mn-lt"/>
                        </a:rPr>
                        <a:t> </a:t>
                      </a:r>
                      <a:r>
                        <a:rPr kumimoji="0" lang="en-US" altLang="en-US" sz="20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Times New Roman"/>
                        </a:rPr>
                        <a:t>→</a:t>
                      </a:r>
                      <a:r>
                        <a:rPr lang="en-US" sz="2000" b="0" i="0" u="none" strike="noStrike" dirty="0" smtClean="0">
                          <a:solidFill>
                            <a:schemeClr val="bg1">
                              <a:lumMod val="75000"/>
                            </a:schemeClr>
                          </a:solidFill>
                          <a:latin typeface="+mn-lt"/>
                        </a:rPr>
                        <a:t> False</a:t>
                      </a:r>
                    </a:p>
                    <a:p>
                      <a:pPr marL="0" indent="0" algn="ctr" fontAlgn="t"/>
                      <a:r>
                        <a:rPr lang="en-US" sz="2000" b="0" i="0" u="none" strike="noStrike" dirty="0" smtClean="0">
                          <a:solidFill>
                            <a:schemeClr val="bg1">
                              <a:lumMod val="75000"/>
                            </a:schemeClr>
                          </a:solidFill>
                          <a:latin typeface="+mn-lt"/>
                        </a:rPr>
                        <a:t>not False </a:t>
                      </a:r>
                      <a:r>
                        <a:rPr kumimoji="0" lang="en-US" altLang="en-US" sz="2000" b="0" i="0" u="none" strike="noStrike" cap="none" normalizeH="0" baseline="0" dirty="0" smtClean="0">
                          <a:ln>
                            <a:noFill/>
                          </a:ln>
                          <a:solidFill>
                            <a:schemeClr val="bg1">
                              <a:lumMod val="75000"/>
                            </a:schemeClr>
                          </a:solidFill>
                          <a:effectLst/>
                          <a:latin typeface="+mn-lt"/>
                          <a:ea typeface="Lucida Sans Unicode" panose="020B0602030504020204" pitchFamily="34" charset="0"/>
                          <a:cs typeface="Times New Roman"/>
                        </a:rPr>
                        <a:t>→</a:t>
                      </a:r>
                      <a:r>
                        <a:rPr lang="en-US" sz="2000" b="0" i="0" u="none" strike="noStrike" dirty="0" smtClean="0">
                          <a:solidFill>
                            <a:schemeClr val="bg1">
                              <a:lumMod val="75000"/>
                            </a:schemeClr>
                          </a:solidFill>
                          <a:latin typeface="+mn-lt"/>
                        </a:rPr>
                        <a:t> True</a:t>
                      </a:r>
                    </a:p>
                  </a:txBody>
                  <a:tcPr marL="8287" marR="8287" marT="9524"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3"/>
                  </a:ext>
                </a:extLst>
              </a:tr>
            </a:tbl>
          </a:graphicData>
        </a:graphic>
      </p:graphicFrame>
      <p:sp>
        <p:nvSpPr>
          <p:cNvPr id="6" name="Rounded Rectangle 5"/>
          <p:cNvSpPr/>
          <p:nvPr/>
        </p:nvSpPr>
        <p:spPr>
          <a:xfrm>
            <a:off x="3096096" y="1992461"/>
            <a:ext cx="3546393" cy="21130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r>
              <a:rPr lang="en-US" sz="2800" dirty="0" smtClean="0">
                <a:solidFill>
                  <a:schemeClr val="tx1"/>
                </a:solidFill>
              </a:rPr>
              <a:t>These </a:t>
            </a:r>
            <a:r>
              <a:rPr lang="en-US" sz="2800" i="1" dirty="0">
                <a:solidFill>
                  <a:schemeClr val="tx1"/>
                </a:solidFill>
              </a:rPr>
              <a:t>operations</a:t>
            </a:r>
            <a:r>
              <a:rPr lang="en-US" sz="2800" dirty="0">
                <a:solidFill>
                  <a:schemeClr val="tx1"/>
                </a:solidFill>
              </a:rPr>
              <a:t> are identical to C++, but Python </a:t>
            </a:r>
            <a:r>
              <a:rPr lang="en-US" sz="2800" i="1" dirty="0">
                <a:solidFill>
                  <a:schemeClr val="tx1"/>
                </a:solidFill>
              </a:rPr>
              <a:t>uses </a:t>
            </a:r>
            <a:r>
              <a:rPr lang="en-US" sz="2800" b="1" i="1" dirty="0">
                <a:solidFill>
                  <a:srgbClr val="FF3300"/>
                </a:solidFill>
              </a:rPr>
              <a:t>words</a:t>
            </a:r>
            <a:r>
              <a:rPr lang="en-US" sz="2800" dirty="0">
                <a:solidFill>
                  <a:schemeClr val="tx1"/>
                </a:solidFill>
              </a:rPr>
              <a:t>, rather than the </a:t>
            </a:r>
            <a:br>
              <a:rPr lang="en-US" sz="2800" dirty="0">
                <a:solidFill>
                  <a:schemeClr val="tx1"/>
                </a:solidFill>
              </a:rPr>
            </a:br>
            <a:r>
              <a:rPr lang="en-US" sz="2800" b="1" dirty="0">
                <a:solidFill>
                  <a:srgbClr val="FF0000"/>
                </a:solidFill>
              </a:rPr>
              <a:t>&amp;&amp;</a:t>
            </a:r>
            <a:r>
              <a:rPr lang="en-US" sz="2800" dirty="0">
                <a:solidFill>
                  <a:schemeClr val="tx1"/>
                </a:solidFill>
              </a:rPr>
              <a:t>, </a:t>
            </a:r>
            <a:r>
              <a:rPr lang="en-US" sz="2800" b="1" dirty="0">
                <a:solidFill>
                  <a:srgbClr val="FF0000"/>
                </a:solidFill>
              </a:rPr>
              <a:t>||</a:t>
            </a:r>
            <a:r>
              <a:rPr lang="en-US" sz="2800" dirty="0">
                <a:solidFill>
                  <a:schemeClr val="tx1"/>
                </a:solidFill>
              </a:rPr>
              <a:t>, </a:t>
            </a:r>
            <a:r>
              <a:rPr lang="en-US" sz="2800" b="1" dirty="0">
                <a:solidFill>
                  <a:srgbClr val="FF0000"/>
                </a:solidFill>
              </a:rPr>
              <a:t>!</a:t>
            </a:r>
            <a:r>
              <a:rPr lang="en-US" sz="2800" dirty="0">
                <a:solidFill>
                  <a:schemeClr val="tx1"/>
                </a:solidFill>
              </a:rPr>
              <a:t> symbols.</a:t>
            </a:r>
          </a:p>
        </p:txBody>
      </p:sp>
    </p:spTree>
    <p:extLst>
      <p:ext uri="{BB962C8B-B14F-4D97-AF65-F5344CB8AC3E}">
        <p14:creationId xmlns:p14="http://schemas.microsoft.com/office/powerpoint/2010/main" val="3608731959"/>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9729787" cy="1161142"/>
          </a:xfrm>
        </p:spPr>
        <p:txBody>
          <a:bodyPr>
            <a:normAutofit fontScale="90000"/>
          </a:bodyPr>
          <a:lstStyle/>
          <a:p>
            <a:r>
              <a:rPr lang="en-US" altLang="en-US" sz="4400" dirty="0">
                <a:solidFill>
                  <a:srgbClr val="0070C0"/>
                </a:solidFill>
              </a:rPr>
              <a:t>Python </a:t>
            </a:r>
            <a:r>
              <a:rPr lang="en-US" altLang="en-US" sz="4400" dirty="0" smtClean="0">
                <a:solidFill>
                  <a:srgbClr val="0070C0"/>
                </a:solidFill>
              </a:rPr>
              <a:t>Operator Precedence (</a:t>
            </a:r>
            <a:r>
              <a:rPr lang="zh-TW" altLang="en-US" sz="4000" dirty="0">
                <a:solidFill>
                  <a:srgbClr val="0070C0"/>
                </a:solidFill>
              </a:rPr>
              <a:t>优先权</a:t>
            </a:r>
            <a:r>
              <a:rPr lang="en-US" altLang="en-US" sz="4400" dirty="0" smtClean="0">
                <a:solidFill>
                  <a:srgbClr val="0070C0"/>
                </a:solidFill>
              </a:rPr>
              <a:t>)</a:t>
            </a:r>
            <a:endParaRPr lang="en-US" altLang="en-US" sz="4400" dirty="0">
              <a:solidFill>
                <a:srgbClr val="0070C0"/>
              </a:solidFill>
            </a:endParaRPr>
          </a:p>
        </p:txBody>
      </p:sp>
      <p:graphicFrame>
        <p:nvGraphicFramePr>
          <p:cNvPr id="3" name="Content Placeholder 4"/>
          <p:cNvGraphicFramePr>
            <a:graphicFrameLocks noGrp="1"/>
          </p:cNvGraphicFramePr>
          <p:nvPr>
            <p:ph idx="1"/>
            <p:extLst/>
          </p:nvPr>
        </p:nvGraphicFramePr>
        <p:xfrm>
          <a:off x="140494" y="990600"/>
          <a:ext cx="9448800" cy="5766816"/>
        </p:xfrm>
        <a:graphic>
          <a:graphicData uri="http://schemas.openxmlformats.org/drawingml/2006/table">
            <a:tbl>
              <a:tblPr/>
              <a:tblGrid>
                <a:gridCol w="2819400">
                  <a:extLst>
                    <a:ext uri="{9D8B030D-6E8A-4147-A177-3AD203B41FA5}">
                      <a16:colId xmlns:a16="http://schemas.microsoft.com/office/drawing/2014/main" xmlns="" val="20000"/>
                    </a:ext>
                  </a:extLst>
                </a:gridCol>
                <a:gridCol w="6629400">
                  <a:extLst>
                    <a:ext uri="{9D8B030D-6E8A-4147-A177-3AD203B41FA5}">
                      <a16:colId xmlns:a16="http://schemas.microsoft.com/office/drawing/2014/main" xmlns="" val="20001"/>
                    </a:ext>
                  </a:extLst>
                </a:gridCol>
              </a:tblGrid>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Exponentiation</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1"/>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endPar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Bitwise NOT, Positive (unary +), Negative (unary -) </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2"/>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  //</a:t>
                      </a:r>
                      <a:endPar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Multiply and divide-based operations</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3"/>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Addition and subtraction</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4"/>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&gt;&gt;  </a:t>
                      </a:r>
                      <a:r>
                        <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&lt;&lt;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Shifts</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5"/>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&amp;</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Bitwise </a:t>
                      </a: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AND</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6"/>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t>
                      </a:r>
                      <a:endPar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Bitwise XOR</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7"/>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t>
                      </a:r>
                      <a:endPar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Bitwise OR</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8"/>
                  </a:ext>
                </a:extLst>
              </a:tr>
              <a:tr h="493776">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spc="-20"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&lt;=  &lt;  &gt;  &gt;=  ==  !=</a:t>
                      </a: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r>
                      <a:b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20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in</a:t>
                      </a: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t>
                      </a:r>
                      <a:r>
                        <a:rPr kumimoji="0" lang="en-US" altLang="en-US" sz="14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not in</a:t>
                      </a: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t>
                      </a:r>
                      <a:r>
                        <a:rPr kumimoji="0" lang="en-US" altLang="en-US" sz="14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is</a:t>
                      </a: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t>
                      </a:r>
                      <a:r>
                        <a:rPr kumimoji="0" lang="en-US" altLang="en-US" sz="14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is not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Comparison tests, including tests for </a:t>
                      </a:r>
                      <a:b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membership and identity</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9"/>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not</a:t>
                      </a:r>
                      <a:endPar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Boolean NOT</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10"/>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and</a:t>
                      </a:r>
                      <a:endPar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Boolean AND</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11"/>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or</a:t>
                      </a:r>
                      <a:endParaRPr kumimoji="0" lang="en-US" altLang="en-US" sz="2000" b="0" i="0" u="none" strike="noStrike" cap="none" normalizeH="0" baseline="0" dirty="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Boolean OR</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12"/>
                  </a:ext>
                </a:extLst>
              </a:tr>
            </a:tbl>
          </a:graphicData>
        </a:graphic>
      </p:graphicFrame>
    </p:spTree>
    <p:extLst>
      <p:ext uri="{BB962C8B-B14F-4D97-AF65-F5344CB8AC3E}">
        <p14:creationId xmlns:p14="http://schemas.microsoft.com/office/powerpoint/2010/main" val="1321910552"/>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9729787" cy="1161142"/>
          </a:xfrm>
        </p:spPr>
        <p:txBody>
          <a:bodyPr>
            <a:normAutofit fontScale="90000"/>
          </a:bodyPr>
          <a:lstStyle/>
          <a:p>
            <a:r>
              <a:rPr lang="en-US" altLang="en-US" sz="4400" dirty="0">
                <a:solidFill>
                  <a:srgbClr val="0070C0"/>
                </a:solidFill>
              </a:rPr>
              <a:t>Python </a:t>
            </a:r>
            <a:r>
              <a:rPr lang="en-US" altLang="en-US" sz="4400" dirty="0" smtClean="0">
                <a:solidFill>
                  <a:srgbClr val="0070C0"/>
                </a:solidFill>
              </a:rPr>
              <a:t>Operator Precedence (</a:t>
            </a:r>
            <a:r>
              <a:rPr lang="zh-TW" altLang="en-US" sz="4000" dirty="0">
                <a:solidFill>
                  <a:srgbClr val="0070C0"/>
                </a:solidFill>
              </a:rPr>
              <a:t>优先权</a:t>
            </a:r>
            <a:r>
              <a:rPr lang="en-US" altLang="en-US" sz="4400" dirty="0" smtClean="0">
                <a:solidFill>
                  <a:srgbClr val="0070C0"/>
                </a:solidFill>
              </a:rPr>
              <a:t>)</a:t>
            </a:r>
            <a:endParaRPr lang="en-US" altLang="en-US" sz="4400" dirty="0">
              <a:solidFill>
                <a:srgbClr val="0070C0"/>
              </a:solidFill>
            </a:endParaRPr>
          </a:p>
        </p:txBody>
      </p:sp>
      <p:graphicFrame>
        <p:nvGraphicFramePr>
          <p:cNvPr id="3" name="Content Placeholder 4"/>
          <p:cNvGraphicFramePr>
            <a:graphicFrameLocks noGrp="1"/>
          </p:cNvGraphicFramePr>
          <p:nvPr>
            <p:ph idx="1"/>
            <p:extLst/>
          </p:nvPr>
        </p:nvGraphicFramePr>
        <p:xfrm>
          <a:off x="140494" y="990600"/>
          <a:ext cx="9448800" cy="5766816"/>
        </p:xfrm>
        <a:graphic>
          <a:graphicData uri="http://schemas.openxmlformats.org/drawingml/2006/table">
            <a:tbl>
              <a:tblPr/>
              <a:tblGrid>
                <a:gridCol w="2819400">
                  <a:extLst>
                    <a:ext uri="{9D8B030D-6E8A-4147-A177-3AD203B41FA5}">
                      <a16:colId xmlns:a16="http://schemas.microsoft.com/office/drawing/2014/main" xmlns="" val="20000"/>
                    </a:ext>
                  </a:extLst>
                </a:gridCol>
                <a:gridCol w="6629400">
                  <a:extLst>
                    <a:ext uri="{9D8B030D-6E8A-4147-A177-3AD203B41FA5}">
                      <a16:colId xmlns:a16="http://schemas.microsoft.com/office/drawing/2014/main" xmlns="" val="20001"/>
                    </a:ext>
                  </a:extLst>
                </a:gridCol>
              </a:tblGrid>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Operator</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Description</a:t>
                      </a:r>
                    </a:p>
                  </a:txBody>
                  <a:tcPr marL="8287" marR="8287"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Exponentiation</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1"/>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 -</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Bitwise NOT, Positive (unary +), Negative (unary -) </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2"/>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 %  //</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Multiply and divide-based operations</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3"/>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Addition and subtraction</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4"/>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&gt;&gt;  </a:t>
                      </a:r>
                      <a:r>
                        <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&lt;&lt;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Shifts</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5"/>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&amp;</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Bitwise </a:t>
                      </a: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AND</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6"/>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Bitwise XOR</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7"/>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Bitwise OR</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08"/>
                  </a:ext>
                </a:extLst>
              </a:tr>
              <a:tr h="493776">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spc="-20"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&lt;=  &lt;  &gt;  &gt;=  ==  !=</a:t>
                      </a: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
                      </a:r>
                      <a:b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20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in</a:t>
                      </a: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t>
                      </a:r>
                      <a:r>
                        <a:rPr kumimoji="0" lang="en-US" altLang="en-US" sz="14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14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not in</a:t>
                      </a: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t>
                      </a:r>
                      <a:r>
                        <a:rPr kumimoji="0" lang="en-US" altLang="en-US" sz="14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is</a:t>
                      </a:r>
                      <a:r>
                        <a:rPr kumimoji="0" lang="en-US" altLang="en-US" sz="2000" b="0"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a:t>
                      </a:r>
                      <a:r>
                        <a:rPr kumimoji="0" lang="en-US" altLang="en-US" sz="14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  </a:t>
                      </a:r>
                      <a:r>
                        <a:rPr kumimoji="0" lang="en-US" altLang="en-US" sz="2000" b="1" i="0" u="none" strike="noStrike" cap="none" normalizeH="0" baseline="0" dirty="0" smtClean="0">
                          <a:ln>
                            <a:noFill/>
                          </a:ln>
                          <a:solidFill>
                            <a:srgbClr val="FF3300"/>
                          </a:solidFill>
                          <a:effectLst/>
                          <a:latin typeface="Verdana" panose="020B0604030504040204" pitchFamily="34" charset="0"/>
                          <a:ea typeface="Lucida Sans Unicode" panose="020B0602030504020204" pitchFamily="34" charset="0"/>
                          <a:cs typeface="Lucida Sans Unicode" panose="020B0602030504020204" pitchFamily="34" charset="0"/>
                        </a:rPr>
                        <a:t>is not</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Comparison tests, </a:t>
                      </a: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including tests for </a:t>
                      </a:r>
                      <a:b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br>
                      <a:r>
                        <a:rPr kumimoji="0" lang="en-US" altLang="en-US" sz="2000" b="0" i="0" u="none" strike="noStrike" cap="none" normalizeH="0" baseline="0" dirty="0" smtClean="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rPr>
                        <a:t>membership and identity</a:t>
                      </a:r>
                      <a:endParaRPr kumimoji="0" lang="en-US" altLang="en-US" sz="2000" b="0" i="0" u="none" strike="noStrike" cap="none" normalizeH="0" baseline="0" dirty="0">
                        <a:ln>
                          <a:noFill/>
                        </a:ln>
                        <a:solidFill>
                          <a:srgbClr val="000000"/>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09"/>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not</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Boolean NOT</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10"/>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and</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Boolean AND</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10011"/>
                  </a:ext>
                </a:extLst>
              </a:tr>
              <a:tr h="429768">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or</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rPr>
                        <a:t>Boolean OR</a:t>
                      </a:r>
                      <a:endParaRPr kumimoji="0" lang="en-US" altLang="en-US" sz="2000" b="0" i="0" u="none" strike="noStrike" cap="none" normalizeH="0" baseline="0" dirty="0">
                        <a:ln>
                          <a:noFill/>
                        </a:ln>
                        <a:solidFill>
                          <a:srgbClr val="BFBFBF"/>
                        </a:solidFill>
                        <a:effectLst/>
                        <a:latin typeface="Verdana" panose="020B0604030504040204" pitchFamily="34" charset="0"/>
                        <a:ea typeface="Lucida Sans Unicode" panose="020B0602030504020204" pitchFamily="34" charset="0"/>
                        <a:cs typeface="Lucida Sans Unicode" panose="020B0602030504020204"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0012"/>
                  </a:ext>
                </a:extLst>
              </a:tr>
            </a:tbl>
          </a:graphicData>
        </a:graphic>
      </p:graphicFrame>
      <p:sp>
        <p:nvSpPr>
          <p:cNvPr id="4" name="Rounded Rectangular Callout 3"/>
          <p:cNvSpPr/>
          <p:nvPr/>
        </p:nvSpPr>
        <p:spPr>
          <a:xfrm>
            <a:off x="2149554" y="1828800"/>
            <a:ext cx="5458540" cy="2452939"/>
          </a:xfrm>
          <a:prstGeom prst="wedgeRoundRectCallout">
            <a:avLst>
              <a:gd name="adj1" fmla="val -46609"/>
              <a:gd name="adj2" fmla="val 8666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We’ll talk about these later. But </a:t>
            </a:r>
            <a:br>
              <a:rPr lang="en-US" sz="2800" dirty="0">
                <a:solidFill>
                  <a:schemeClr val="tx1"/>
                </a:solidFill>
              </a:rPr>
            </a:br>
            <a:r>
              <a:rPr lang="en-US" sz="2800" dirty="0" smtClean="0">
                <a:solidFill>
                  <a:schemeClr val="tx1"/>
                </a:solidFill>
              </a:rPr>
              <a:t>not </a:t>
            </a:r>
            <a:r>
              <a:rPr lang="en-US" sz="2800" dirty="0">
                <a:solidFill>
                  <a:schemeClr val="tx1"/>
                </a:solidFill>
              </a:rPr>
              <a:t>yet, because they’re not </a:t>
            </a:r>
            <a:r>
              <a:rPr lang="en-US" sz="2800" dirty="0" smtClean="0">
                <a:solidFill>
                  <a:schemeClr val="tx1"/>
                </a:solidFill>
              </a:rPr>
              <a:t>applicable </a:t>
            </a:r>
            <a:r>
              <a:rPr lang="en-US" sz="2800" dirty="0">
                <a:solidFill>
                  <a:schemeClr val="tx1"/>
                </a:solidFill>
              </a:rPr>
              <a:t>to the “number” data-type (which is the </a:t>
            </a:r>
            <a:r>
              <a:rPr lang="en-US" sz="2800" dirty="0" smtClean="0">
                <a:solidFill>
                  <a:schemeClr val="tx1"/>
                </a:solidFill>
              </a:rPr>
              <a:t>only type we’ve </a:t>
            </a:r>
            <a:r>
              <a:rPr lang="en-US" sz="2800" dirty="0">
                <a:solidFill>
                  <a:schemeClr val="tx1"/>
                </a:solidFill>
              </a:rPr>
              <a:t>been talking </a:t>
            </a:r>
            <a:r>
              <a:rPr lang="en-US" sz="2800" dirty="0" smtClean="0">
                <a:solidFill>
                  <a:schemeClr val="tx1"/>
                </a:solidFill>
              </a:rPr>
              <a:t>about </a:t>
            </a:r>
            <a:r>
              <a:rPr lang="en-US" sz="2800" dirty="0">
                <a:solidFill>
                  <a:schemeClr val="tx1"/>
                </a:solidFill>
              </a:rPr>
              <a:t>since slide </a:t>
            </a:r>
            <a:r>
              <a:rPr lang="en-US" sz="2800" dirty="0" smtClean="0">
                <a:solidFill>
                  <a:schemeClr val="tx1"/>
                </a:solidFill>
              </a:rPr>
              <a:t>#10)</a:t>
            </a:r>
            <a:endParaRPr lang="en-US" sz="2800" dirty="0">
              <a:solidFill>
                <a:schemeClr val="tx1"/>
              </a:solidFill>
            </a:endParaRPr>
          </a:p>
        </p:txBody>
      </p:sp>
    </p:spTree>
    <p:extLst>
      <p:ext uri="{BB962C8B-B14F-4D97-AF65-F5344CB8AC3E}">
        <p14:creationId xmlns:p14="http://schemas.microsoft.com/office/powerpoint/2010/main" val="426018359"/>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a:spLocks noGrp="1"/>
          </p:cNvSpPr>
          <p:nvPr>
            <p:ph idx="1"/>
          </p:nvPr>
        </p:nvSpPr>
        <p:spPr>
          <a:xfrm>
            <a:off x="391474" y="1066800"/>
            <a:ext cx="9214642" cy="5015820"/>
          </a:xfrm>
        </p:spPr>
        <p:txBody>
          <a:bodyPr>
            <a:normAutofit/>
          </a:bodyPr>
          <a:lstStyle/>
          <a:p>
            <a:pPr>
              <a:buFontTx/>
              <a:buNone/>
            </a:pPr>
            <a:r>
              <a:rPr lang="en-US" altLang="en-US" sz="3200" dirty="0"/>
              <a:t>Python has six standard data types:</a:t>
            </a:r>
          </a:p>
          <a:p>
            <a:pPr marL="651966" indent="-555276">
              <a:buFont typeface="+mj-lt"/>
              <a:buAutoNum type="arabicPeriod"/>
            </a:pPr>
            <a:r>
              <a:rPr lang="en-US" altLang="en-US" sz="2800" dirty="0">
                <a:solidFill>
                  <a:srgbClr val="FF0000"/>
                </a:solidFill>
                <a:latin typeface="Elephant" panose="02020904090505020303" pitchFamily="18" charset="0"/>
              </a:rPr>
              <a:t>Number</a:t>
            </a:r>
          </a:p>
          <a:p>
            <a:pPr marL="651966" indent="-555276">
              <a:buFont typeface="+mj-lt"/>
              <a:buAutoNum type="arabicPeriod"/>
            </a:pPr>
            <a:r>
              <a:rPr lang="en-US" altLang="en-US" sz="2800" dirty="0">
                <a:solidFill>
                  <a:srgbClr val="A6A6A6"/>
                </a:solidFill>
                <a:latin typeface="Elephant" panose="02020904090505020303" pitchFamily="18" charset="0"/>
              </a:rPr>
              <a:t>String</a:t>
            </a:r>
          </a:p>
          <a:p>
            <a:pPr marL="651966" indent="-555276">
              <a:buFont typeface="+mj-lt"/>
              <a:buAutoNum type="arabicPeriod"/>
            </a:pPr>
            <a:r>
              <a:rPr lang="en-US" altLang="en-US" sz="2800" dirty="0">
                <a:solidFill>
                  <a:srgbClr val="A6A6A6"/>
                </a:solidFill>
                <a:latin typeface="Elephant" panose="02020904090505020303" pitchFamily="18" charset="0"/>
              </a:rPr>
              <a:t>List</a:t>
            </a:r>
          </a:p>
          <a:p>
            <a:pPr marL="651966" indent="-555276">
              <a:buFont typeface="+mj-lt"/>
              <a:buAutoNum type="arabicPeriod"/>
            </a:pPr>
            <a:r>
              <a:rPr lang="en-US" altLang="en-US" sz="2800" dirty="0">
                <a:solidFill>
                  <a:srgbClr val="A6A6A6"/>
                </a:solidFill>
                <a:latin typeface="Elephant" panose="02020904090505020303" pitchFamily="18" charset="0"/>
              </a:rPr>
              <a:t>Tuple</a:t>
            </a:r>
          </a:p>
          <a:p>
            <a:pPr marL="651966" indent="-555276">
              <a:buFont typeface="+mj-lt"/>
              <a:buAutoNum type="arabicPeriod"/>
            </a:pPr>
            <a:r>
              <a:rPr lang="en-US" altLang="en-US" sz="2800" dirty="0">
                <a:solidFill>
                  <a:srgbClr val="A6A6A6"/>
                </a:solidFill>
                <a:latin typeface="Elephant" panose="02020904090505020303" pitchFamily="18" charset="0"/>
              </a:rPr>
              <a:t>Set</a:t>
            </a:r>
          </a:p>
          <a:p>
            <a:pPr marL="651966" indent="-555276">
              <a:buFont typeface="+mj-lt"/>
              <a:buAutoNum type="arabicPeriod"/>
            </a:pPr>
            <a:r>
              <a:rPr lang="en-US" altLang="en-US" sz="2800" dirty="0" smtClean="0">
                <a:solidFill>
                  <a:srgbClr val="A6A6A6"/>
                </a:solidFill>
                <a:latin typeface="Elephant" panose="02020904090505020303" pitchFamily="18" charset="0"/>
              </a:rPr>
              <a:t>Dictionary</a:t>
            </a:r>
            <a:endParaRPr lang="en-US" altLang="en-US" sz="2800" dirty="0">
              <a:solidFill>
                <a:srgbClr val="A6A6A6"/>
              </a:solidFill>
              <a:latin typeface="Elephant" panose="02020904090505020303" pitchFamily="18" charset="0"/>
            </a:endParaRPr>
          </a:p>
        </p:txBody>
      </p:sp>
      <p:sp>
        <p:nvSpPr>
          <p:cNvPr id="3" name="Title 1"/>
          <p:cNvSpPr>
            <a:spLocks noGrp="1"/>
          </p:cNvSpPr>
          <p:nvPr>
            <p:ph type="title"/>
          </p:nvPr>
        </p:nvSpPr>
        <p:spPr>
          <a:xfrm>
            <a:off x="-1" y="53698"/>
            <a:ext cx="9729789" cy="1089301"/>
          </a:xfrm>
        </p:spPr>
        <p:txBody>
          <a:bodyPr>
            <a:normAutofit/>
          </a:bodyPr>
          <a:lstStyle/>
          <a:p>
            <a:r>
              <a:rPr lang="en-US" altLang="en-US" sz="4400" dirty="0" smtClean="0">
                <a:solidFill>
                  <a:srgbClr val="0070C0"/>
                </a:solidFill>
              </a:rPr>
              <a:t>Data Types:</a:t>
            </a:r>
          </a:p>
        </p:txBody>
      </p:sp>
    </p:spTree>
    <p:extLst>
      <p:ext uri="{BB962C8B-B14F-4D97-AF65-F5344CB8AC3E}">
        <p14:creationId xmlns:p14="http://schemas.microsoft.com/office/powerpoint/2010/main" val="170230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2">
                                            <p:txEl>
                                              <p:pRg st="1" end="1"/>
                                            </p:txEl>
                                          </p:spTgt>
                                        </p:tgtEl>
                                        <p:attrNameLst>
                                          <p:attrName>ppt_c</p:attrName>
                                        </p:attrNameLst>
                                      </p:cBhvr>
                                      <p:to>
                                        <a:srgbClr val="969696"/>
                                      </p:to>
                                    </p:animClr>
                                  </p:sub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2">
                                            <p:txEl>
                                              <p:pRg st="2" end="2"/>
                                            </p:txEl>
                                          </p:spTgt>
                                        </p:tgtEl>
                                        <p:attrNameLst>
                                          <p:attrName>ppt_c</p:attrName>
                                        </p:attrNameLst>
                                      </p:cBhvr>
                                      <p:to>
                                        <a:srgbClr val="FF00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923" y="474454"/>
            <a:ext cx="8391942" cy="663700"/>
          </a:xfrm>
        </p:spPr>
        <p:txBody>
          <a:bodyPr>
            <a:noAutofit/>
          </a:bodyPr>
          <a:lstStyle/>
          <a:p>
            <a:pPr algn="ctr"/>
            <a:r>
              <a:rPr lang="en-US" sz="4400" dirty="0" smtClean="0">
                <a:solidFill>
                  <a:srgbClr val="2E75B6"/>
                </a:solidFill>
                <a:latin typeface="Elephant" panose="02020904090505020303" pitchFamily="18" charset="0"/>
              </a:rPr>
              <a:t>Homework</a:t>
            </a:r>
            <a:endParaRPr lang="en-US" sz="4400" dirty="0">
              <a:solidFill>
                <a:srgbClr val="2E75B6"/>
              </a:solidFill>
              <a:latin typeface="Elephant" panose="02020904090505020303" pitchFamily="18" charset="0"/>
            </a:endParaRPr>
          </a:p>
        </p:txBody>
      </p:sp>
      <p:sp>
        <p:nvSpPr>
          <p:cNvPr id="3" name="Content Placeholder 2"/>
          <p:cNvSpPr>
            <a:spLocks noGrp="1"/>
          </p:cNvSpPr>
          <p:nvPr>
            <p:ph idx="1"/>
          </p:nvPr>
        </p:nvSpPr>
        <p:spPr>
          <a:xfrm>
            <a:off x="102163" y="1147390"/>
            <a:ext cx="9627625" cy="5596310"/>
          </a:xfrm>
        </p:spPr>
        <p:txBody>
          <a:bodyPr>
            <a:noAutofit/>
          </a:bodyPr>
          <a:lstStyle/>
          <a:p>
            <a:r>
              <a:rPr lang="en-US" b="1" dirty="0" smtClean="0"/>
              <a:t>Due</a:t>
            </a:r>
            <a:r>
              <a:rPr lang="en-US" dirty="0" smtClean="0"/>
              <a:t>: </a:t>
            </a:r>
            <a:r>
              <a:rPr lang="en-US" dirty="0"/>
              <a:t>March </a:t>
            </a:r>
            <a:r>
              <a:rPr lang="en-US" dirty="0" smtClean="0"/>
              <a:t>10, 2:00pm</a:t>
            </a:r>
          </a:p>
          <a:p>
            <a:pPr>
              <a:spcBef>
                <a:spcPts val="958"/>
              </a:spcBef>
            </a:pPr>
            <a:r>
              <a:rPr lang="en-US" b="1" dirty="0" smtClean="0"/>
              <a:t>Assignment</a:t>
            </a:r>
            <a:r>
              <a:rPr lang="en-US" dirty="0" smtClean="0"/>
              <a:t>:</a:t>
            </a:r>
          </a:p>
          <a:p>
            <a:pPr marL="346075" lvl="1" indent="-136525">
              <a:spcBef>
                <a:spcPts val="0"/>
              </a:spcBef>
            </a:pPr>
            <a:r>
              <a:rPr lang="en-US" sz="2400" dirty="0" smtClean="0"/>
              <a:t>Install Python </a:t>
            </a:r>
            <a:r>
              <a:rPr lang="en-US" sz="2400" b="1" dirty="0" smtClean="0">
                <a:solidFill>
                  <a:srgbClr val="FF0000"/>
                </a:solidFill>
              </a:rPr>
              <a:t>3</a:t>
            </a:r>
            <a:r>
              <a:rPr lang="en-US" sz="2400" dirty="0" smtClean="0"/>
              <a:t> on whichever computer you plan to use for this course.</a:t>
            </a:r>
          </a:p>
          <a:p>
            <a:pPr marL="549275" lvl="2" indent="-169863">
              <a:spcBef>
                <a:spcPts val="0"/>
              </a:spcBef>
            </a:pPr>
            <a:r>
              <a:rPr lang="en-US" sz="2400" dirty="0"/>
              <a:t>Many free Python installations exist.</a:t>
            </a:r>
          </a:p>
          <a:p>
            <a:pPr marL="549275" lvl="2" indent="-169863">
              <a:spcBef>
                <a:spcPts val="0"/>
              </a:spcBef>
            </a:pPr>
            <a:r>
              <a:rPr lang="en-US" sz="2400" spc="-10" dirty="0"/>
              <a:t>One </a:t>
            </a:r>
            <a:r>
              <a:rPr lang="en-US" sz="2400" b="1" spc="-10" dirty="0"/>
              <a:t>free</a:t>
            </a:r>
            <a:r>
              <a:rPr lang="en-US" sz="2400" spc="-10" dirty="0"/>
              <a:t> option is to install it as part of </a:t>
            </a:r>
            <a:r>
              <a:rPr lang="en-US" sz="2400" spc="-10" dirty="0">
                <a:solidFill>
                  <a:srgbClr val="FF0000"/>
                </a:solidFill>
              </a:rPr>
              <a:t>Cygwin</a:t>
            </a:r>
            <a:r>
              <a:rPr lang="en-US" sz="2400" spc="-10" dirty="0"/>
              <a:t>, if you want to use UNIX.</a:t>
            </a:r>
          </a:p>
          <a:p>
            <a:pPr marL="352425" lvl="1" indent="-134938">
              <a:spcBef>
                <a:spcPts val="900"/>
              </a:spcBef>
            </a:pPr>
            <a:r>
              <a:rPr lang="en-US" sz="2400" dirty="0" smtClean="0"/>
              <a:t>Create a Python program to:</a:t>
            </a:r>
          </a:p>
          <a:p>
            <a:pPr marL="717550" lvl="2" indent="-338138">
              <a:spcBef>
                <a:spcPts val="0"/>
              </a:spcBef>
              <a:buFont typeface="+mj-lt"/>
              <a:buAutoNum type="arabicPeriod"/>
            </a:pPr>
            <a:r>
              <a:rPr lang="en-US" sz="2400" dirty="0"/>
              <a:t>Create 3 variables with the values of a=“one”, b=2.0, and c=3</a:t>
            </a:r>
          </a:p>
          <a:p>
            <a:pPr marL="717550" lvl="2" indent="-338138">
              <a:spcBef>
                <a:spcPts val="0"/>
              </a:spcBef>
              <a:buFont typeface="+mj-lt"/>
              <a:buAutoNum type="arabicPeriod"/>
            </a:pPr>
            <a:r>
              <a:rPr lang="en-US" sz="2400" dirty="0"/>
              <a:t>Print the values of these 3 </a:t>
            </a:r>
            <a:r>
              <a:rPr lang="en-US" sz="2400" dirty="0" smtClean="0"/>
              <a:t>variables, </a:t>
            </a:r>
            <a:r>
              <a:rPr lang="en-US" sz="2400" dirty="0"/>
              <a:t>all on one </a:t>
            </a:r>
            <a:r>
              <a:rPr lang="en-US" sz="2400" dirty="0" smtClean="0"/>
              <a:t>line.</a:t>
            </a:r>
            <a:endParaRPr lang="en-US" sz="2400" dirty="0"/>
          </a:p>
          <a:p>
            <a:pPr marL="717550" lvl="2" indent="-338138">
              <a:spcBef>
                <a:spcPts val="0"/>
              </a:spcBef>
              <a:buFont typeface="+mj-lt"/>
              <a:buAutoNum type="arabicPeriod"/>
            </a:pPr>
            <a:r>
              <a:rPr lang="en-US" sz="2400" dirty="0"/>
              <a:t>Swap the </a:t>
            </a:r>
            <a:r>
              <a:rPr lang="en-US" sz="2400" dirty="0" smtClean="0"/>
              <a:t>variables’ values, so it becomes </a:t>
            </a:r>
            <a:r>
              <a:rPr lang="en-US" altLang="zh-TW" sz="2400" dirty="0"/>
              <a:t>a=3, b=“one”, and </a:t>
            </a:r>
            <a:r>
              <a:rPr lang="en-US" altLang="zh-TW" sz="2400" dirty="0" smtClean="0"/>
              <a:t>c=2.0.</a:t>
            </a:r>
            <a:endParaRPr lang="en-US" sz="2400" dirty="0"/>
          </a:p>
          <a:p>
            <a:pPr marL="717550" lvl="3" indent="-6350">
              <a:spcBef>
                <a:spcPts val="0"/>
              </a:spcBef>
              <a:buNone/>
            </a:pPr>
            <a:r>
              <a:rPr lang="en-US" sz="2000" dirty="0"/>
              <a:t>Here, you are allowed to introduce a new variable, but you are not allowed to use any literal values. What this means is that every RHS must be a variable name. (RHS = the right-hand side of an assignment statement). </a:t>
            </a:r>
          </a:p>
          <a:p>
            <a:pPr marL="744538" lvl="2" indent="-344488">
              <a:spcBef>
                <a:spcPts val="0"/>
              </a:spcBef>
              <a:buFont typeface="+mj-lt"/>
              <a:buAutoNum type="arabicPeriod"/>
            </a:pPr>
            <a:r>
              <a:rPr lang="en-US" sz="2400" dirty="0"/>
              <a:t>Print the values of these 3 </a:t>
            </a:r>
            <a:r>
              <a:rPr lang="en-US" sz="2400" dirty="0" smtClean="0"/>
              <a:t>variables, </a:t>
            </a:r>
            <a:r>
              <a:rPr lang="en-US" sz="2400" dirty="0"/>
              <a:t>all on one </a:t>
            </a:r>
            <a:r>
              <a:rPr lang="en-US" sz="2400" dirty="0" smtClean="0"/>
              <a:t>line.</a:t>
            </a:r>
            <a:endParaRPr lang="en-US" sz="2000" dirty="0"/>
          </a:p>
          <a:p>
            <a:pPr marL="396875" lvl="1" indent="-166688">
              <a:spcBef>
                <a:spcPts val="900"/>
              </a:spcBef>
            </a:pPr>
            <a:r>
              <a:rPr lang="en-US" sz="2400" dirty="0" smtClean="0"/>
              <a:t>Test your program.</a:t>
            </a:r>
            <a:endParaRPr lang="en-US" sz="1800" dirty="0"/>
          </a:p>
          <a:p>
            <a:pPr marL="396875" lvl="1" indent="-166688">
              <a:spcBef>
                <a:spcPts val="900"/>
              </a:spcBef>
            </a:pPr>
            <a:r>
              <a:rPr lang="en-US" sz="2400" dirty="0" smtClean="0"/>
              <a:t>Do not submit your program. This assignment is just to familiarize yourself with using the Python interpreter.</a:t>
            </a:r>
          </a:p>
          <a:p>
            <a:pPr lvl="1"/>
            <a:endParaRPr lang="en-US" sz="1436" dirty="0"/>
          </a:p>
          <a:p>
            <a:pPr lvl="1"/>
            <a:endParaRPr lang="en-US" sz="1436" dirty="0"/>
          </a:p>
          <a:p>
            <a:pPr lvl="1"/>
            <a:endParaRPr lang="en-US" sz="1436" dirty="0"/>
          </a:p>
          <a:p>
            <a:endParaRPr lang="en-US" dirty="0"/>
          </a:p>
        </p:txBody>
      </p:sp>
    </p:spTree>
    <p:extLst>
      <p:ext uri="{BB962C8B-B14F-4D97-AF65-F5344CB8AC3E}">
        <p14:creationId xmlns:p14="http://schemas.microsoft.com/office/powerpoint/2010/main" val="2149400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16010</TotalTime>
  <Words>23844</Words>
  <Application>Microsoft Office PowerPoint</Application>
  <PresentationFormat>自訂</PresentationFormat>
  <Paragraphs>3915</Paragraphs>
  <Slides>189</Slides>
  <Notes>1</Notes>
  <HiddenSlides>0</HiddenSlides>
  <MMClips>0</MMClips>
  <ScaleCrop>false</ScaleCrop>
  <HeadingPairs>
    <vt:vector size="6" baseType="variant">
      <vt:variant>
        <vt:lpstr>使用字型</vt:lpstr>
      </vt:variant>
      <vt:variant>
        <vt:i4>18</vt:i4>
      </vt:variant>
      <vt:variant>
        <vt:lpstr>佈景主題</vt:lpstr>
      </vt:variant>
      <vt:variant>
        <vt:i4>5</vt:i4>
      </vt:variant>
      <vt:variant>
        <vt:lpstr>投影片標題</vt:lpstr>
      </vt:variant>
      <vt:variant>
        <vt:i4>189</vt:i4>
      </vt:variant>
    </vt:vector>
  </HeadingPairs>
  <TitlesOfParts>
    <vt:vector size="212" baseType="lpstr">
      <vt:lpstr>FrankRuehl</vt:lpstr>
      <vt:lpstr>新細明體</vt:lpstr>
      <vt:lpstr>Arial</vt:lpstr>
      <vt:lpstr>Arial Narrow</vt:lpstr>
      <vt:lpstr>Bahnschrift</vt:lpstr>
      <vt:lpstr>Calibri</vt:lpstr>
      <vt:lpstr>Calibri Light</vt:lpstr>
      <vt:lpstr>Consolas</vt:lpstr>
      <vt:lpstr>Courier New</vt:lpstr>
      <vt:lpstr>Elephant</vt:lpstr>
      <vt:lpstr>Felix Titling</vt:lpstr>
      <vt:lpstr>Lucida Console</vt:lpstr>
      <vt:lpstr>Lucida Sans Typewriter</vt:lpstr>
      <vt:lpstr>Lucida Sans Unicode</vt:lpstr>
      <vt:lpstr>Symbol</vt:lpstr>
      <vt:lpstr>Times New Roman</vt:lpstr>
      <vt:lpstr>Verdana</vt:lpstr>
      <vt:lpstr>Wingdings</vt:lpstr>
      <vt:lpstr>Office Theme</vt:lpstr>
      <vt:lpstr>1_Office Theme</vt:lpstr>
      <vt:lpstr>4_Office Theme</vt:lpstr>
      <vt:lpstr>2_Office Theme</vt:lpstr>
      <vt:lpstr>Default Design</vt:lpstr>
      <vt:lpstr>Programming in Python</vt:lpstr>
      <vt:lpstr>PowerPoint 簡報</vt:lpstr>
      <vt:lpstr>PowerPoint 簡報</vt:lpstr>
      <vt:lpstr>Who can take the course?</vt:lpstr>
      <vt:lpstr>Who can take the course?</vt:lpstr>
      <vt:lpstr>Who can take the course?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Most Languages Have  Dynamic Value Binding: </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What is Python?</vt:lpstr>
      <vt:lpstr>What is Python?</vt:lpstr>
      <vt:lpstr>What Is A High Level Language?</vt:lpstr>
      <vt:lpstr>Python takes the idea of objects  to its limit: everything is an object</vt:lpstr>
      <vt:lpstr>Dynamic Type Binding  with Strong Typing?</vt:lpstr>
      <vt:lpstr>Dynamic Type Binding  with Strong Typing?</vt:lpstr>
      <vt:lpstr>Dynamic Type Binding  with Strong Typing?</vt:lpstr>
      <vt:lpstr>Dynamic Type Binding  with Strong Typing?</vt:lpstr>
      <vt:lpstr>Dynamic Type Binding  with Strong Typing?</vt:lpstr>
      <vt:lpstr>Dynamic Type Binding  with Strong Typing?</vt:lpstr>
      <vt:lpstr>Python takes the idea of objects  to its limit: everything is an object</vt:lpstr>
      <vt:lpstr>Python takes the idea of objects  to its limit: everything is an object</vt:lpstr>
      <vt:lpstr>Python takes the idea of objects  to its limit: everything is an object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Just to give you an idea of how much coding you would have to do to get “similar” strong typing in C…</vt:lpstr>
      <vt:lpstr>Just to give you an idea of how much coding you would have to do to get “similar” strong typing in C…</vt:lpstr>
      <vt:lpstr>PowerPoint 簡報</vt:lpstr>
      <vt:lpstr>Updating the Values of Variables:</vt:lpstr>
      <vt:lpstr>Updating the Values of Variables:</vt:lpstr>
      <vt:lpstr>Updating the Values of Variables:</vt:lpstr>
      <vt:lpstr>Updating the Values of Variables:</vt:lpstr>
      <vt:lpstr>Updating the Values of Variables:</vt:lpstr>
      <vt:lpstr>Updating the Values of Variables:</vt:lpstr>
      <vt:lpstr>Updating the Values of Variables:</vt:lpstr>
      <vt:lpstr>Updating the Values of Variables:</vt:lpstr>
      <vt:lpstr>Updating the Values of Variables:</vt:lpstr>
      <vt:lpstr>How Variables Are Stored</vt:lpstr>
      <vt:lpstr>How Variables Are Stored</vt:lpstr>
      <vt:lpstr>How Variables Are Stored</vt:lpstr>
      <vt:lpstr>How Variables Are Stored</vt:lpstr>
      <vt:lpstr>How Variables Are Stored</vt:lpstr>
      <vt:lpstr>Assigning Values to Variables</vt:lpstr>
      <vt:lpstr>PowerPoint 簡報</vt:lpstr>
      <vt:lpstr>PowerPoint 簡報</vt:lpstr>
      <vt:lpstr>PowerPoint 簡報</vt:lpstr>
      <vt:lpstr>PowerPoint 簡報</vt:lpstr>
      <vt:lpstr>1. Numbers</vt:lpstr>
      <vt:lpstr>Number Examples:</vt:lpstr>
      <vt:lpstr>Python Arithmetic Operators:</vt:lpstr>
      <vt:lpstr>Python Arithmetic Operators:</vt:lpstr>
      <vt:lpstr>Python Arithmetic Operators:</vt:lpstr>
      <vt:lpstr>Python Arithmetic Operators:</vt:lpstr>
      <vt:lpstr>Python Arithmetic Operators:</vt:lpstr>
      <vt:lpstr>Python Arithmetic Operators:</vt:lpstr>
      <vt:lpstr>Python Arithmetic Operators:</vt:lpstr>
      <vt:lpstr>Python Bitwise Logic Operators:</vt:lpstr>
      <vt:lpstr>Python Bitwise Logic Operators:</vt:lpstr>
      <vt:lpstr>Python Logic Operators:</vt:lpstr>
      <vt:lpstr>Python Logic Operators:</vt:lpstr>
      <vt:lpstr>Python Operator Precedence (优先权)</vt:lpstr>
      <vt:lpstr>Python Operator Precedence (优先权)</vt:lpstr>
      <vt:lpstr>Data Types:</vt:lpstr>
      <vt:lpstr>Homework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 Haga</dc:creator>
  <cp:lastModifiedBy>Windows 使用者</cp:lastModifiedBy>
  <cp:revision>345</cp:revision>
  <dcterms:created xsi:type="dcterms:W3CDTF">2017-02-16T03:48:05Z</dcterms:created>
  <dcterms:modified xsi:type="dcterms:W3CDTF">2021-02-23T08:54:38Z</dcterms:modified>
</cp:coreProperties>
</file>