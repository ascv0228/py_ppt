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</p:sldMasterIdLst>
  <p:notesMasterIdLst>
    <p:notesMasterId r:id="rId261"/>
  </p:notesMasterIdLst>
  <p:sldIdLst>
    <p:sldId id="1526" r:id="rId8"/>
    <p:sldId id="1527" r:id="rId9"/>
    <p:sldId id="1528" r:id="rId10"/>
    <p:sldId id="1535" r:id="rId11"/>
    <p:sldId id="1529" r:id="rId12"/>
    <p:sldId id="1536" r:id="rId13"/>
    <p:sldId id="1537" r:id="rId14"/>
    <p:sldId id="1538" r:id="rId15"/>
    <p:sldId id="1539" r:id="rId16"/>
    <p:sldId id="1540" r:id="rId17"/>
    <p:sldId id="1392" r:id="rId18"/>
    <p:sldId id="1395" r:id="rId19"/>
    <p:sldId id="1396" r:id="rId20"/>
    <p:sldId id="1442" r:id="rId21"/>
    <p:sldId id="1455" r:id="rId22"/>
    <p:sldId id="1431" r:id="rId23"/>
    <p:sldId id="1432" r:id="rId24"/>
    <p:sldId id="1434" r:id="rId25"/>
    <p:sldId id="1435" r:id="rId26"/>
    <p:sldId id="1436" r:id="rId27"/>
    <p:sldId id="1433" r:id="rId28"/>
    <p:sldId id="1437" r:id="rId29"/>
    <p:sldId id="1438" r:id="rId30"/>
    <p:sldId id="1439" r:id="rId31"/>
    <p:sldId id="1440" r:id="rId32"/>
    <p:sldId id="1441" r:id="rId33"/>
    <p:sldId id="1456" r:id="rId34"/>
    <p:sldId id="1458" r:id="rId35"/>
    <p:sldId id="1459" r:id="rId36"/>
    <p:sldId id="1460" r:id="rId37"/>
    <p:sldId id="1461" r:id="rId38"/>
    <p:sldId id="1462" r:id="rId39"/>
    <p:sldId id="1463" r:id="rId40"/>
    <p:sldId id="1523" r:id="rId41"/>
    <p:sldId id="1464" r:id="rId42"/>
    <p:sldId id="1468" r:id="rId43"/>
    <p:sldId id="1466" r:id="rId44"/>
    <p:sldId id="1465" r:id="rId45"/>
    <p:sldId id="1467" r:id="rId46"/>
    <p:sldId id="1469" r:id="rId47"/>
    <p:sldId id="1410" r:id="rId48"/>
    <p:sldId id="1412" r:id="rId49"/>
    <p:sldId id="1413" r:id="rId50"/>
    <p:sldId id="1414" r:id="rId51"/>
    <p:sldId id="1415" r:id="rId52"/>
    <p:sldId id="1416" r:id="rId53"/>
    <p:sldId id="1417" r:id="rId54"/>
    <p:sldId id="1418" r:id="rId55"/>
    <p:sldId id="1419" r:id="rId56"/>
    <p:sldId id="1420" r:id="rId57"/>
    <p:sldId id="1421" r:id="rId58"/>
    <p:sldId id="1422" r:id="rId59"/>
    <p:sldId id="1470" r:id="rId60"/>
    <p:sldId id="1471" r:id="rId61"/>
    <p:sldId id="1423" r:id="rId62"/>
    <p:sldId id="1424" r:id="rId63"/>
    <p:sldId id="1425" r:id="rId64"/>
    <p:sldId id="1426" r:id="rId65"/>
    <p:sldId id="1427" r:id="rId66"/>
    <p:sldId id="1428" r:id="rId67"/>
    <p:sldId id="1429" r:id="rId68"/>
    <p:sldId id="1430" r:id="rId69"/>
    <p:sldId id="1586" r:id="rId70"/>
    <p:sldId id="1543" r:id="rId71"/>
    <p:sldId id="1558" r:id="rId72"/>
    <p:sldId id="1544" r:id="rId73"/>
    <p:sldId id="1545" r:id="rId74"/>
    <p:sldId id="1560" r:id="rId75"/>
    <p:sldId id="1587" r:id="rId76"/>
    <p:sldId id="1561" r:id="rId77"/>
    <p:sldId id="1562" r:id="rId78"/>
    <p:sldId id="1563" r:id="rId79"/>
    <p:sldId id="1564" r:id="rId80"/>
    <p:sldId id="1565" r:id="rId81"/>
    <p:sldId id="1566" r:id="rId82"/>
    <p:sldId id="1567" r:id="rId83"/>
    <p:sldId id="1568" r:id="rId84"/>
    <p:sldId id="1569" r:id="rId85"/>
    <p:sldId id="1570" r:id="rId86"/>
    <p:sldId id="1572" r:id="rId87"/>
    <p:sldId id="1573" r:id="rId88"/>
    <p:sldId id="1574" r:id="rId89"/>
    <p:sldId id="1248" r:id="rId90"/>
    <p:sldId id="1250" r:id="rId91"/>
    <p:sldId id="1249" r:id="rId92"/>
    <p:sldId id="1245" r:id="rId93"/>
    <p:sldId id="1244" r:id="rId94"/>
    <p:sldId id="1251" r:id="rId95"/>
    <p:sldId id="1252" r:id="rId96"/>
    <p:sldId id="1253" r:id="rId97"/>
    <p:sldId id="1254" r:id="rId98"/>
    <p:sldId id="1247" r:id="rId99"/>
    <p:sldId id="1240" r:id="rId100"/>
    <p:sldId id="1235" r:id="rId101"/>
    <p:sldId id="1237" r:id="rId102"/>
    <p:sldId id="1236" r:id="rId103"/>
    <p:sldId id="1233" r:id="rId104"/>
    <p:sldId id="1234" r:id="rId105"/>
    <p:sldId id="1193" r:id="rId106"/>
    <p:sldId id="1210" r:id="rId107"/>
    <p:sldId id="1211" r:id="rId108"/>
    <p:sldId id="1212" r:id="rId109"/>
    <p:sldId id="1262" r:id="rId110"/>
    <p:sldId id="1263" r:id="rId111"/>
    <p:sldId id="1264" r:id="rId112"/>
    <p:sldId id="1265" r:id="rId113"/>
    <p:sldId id="1267" r:id="rId114"/>
    <p:sldId id="1270" r:id="rId115"/>
    <p:sldId id="1157" r:id="rId116"/>
    <p:sldId id="1158" r:id="rId117"/>
    <p:sldId id="1159" r:id="rId118"/>
    <p:sldId id="1160" r:id="rId119"/>
    <p:sldId id="1161" r:id="rId120"/>
    <p:sldId id="1162" r:id="rId121"/>
    <p:sldId id="1163" r:id="rId122"/>
    <p:sldId id="1232" r:id="rId123"/>
    <p:sldId id="1231" r:id="rId124"/>
    <p:sldId id="1271" r:id="rId125"/>
    <p:sldId id="1272" r:id="rId126"/>
    <p:sldId id="1166" r:id="rId127"/>
    <p:sldId id="1273" r:id="rId128"/>
    <p:sldId id="1274" r:id="rId129"/>
    <p:sldId id="1276" r:id="rId130"/>
    <p:sldId id="1275" r:id="rId131"/>
    <p:sldId id="1277" r:id="rId132"/>
    <p:sldId id="1278" r:id="rId133"/>
    <p:sldId id="1279" r:id="rId134"/>
    <p:sldId id="1172" r:id="rId135"/>
    <p:sldId id="1173" r:id="rId136"/>
    <p:sldId id="1281" r:id="rId137"/>
    <p:sldId id="1175" r:id="rId138"/>
    <p:sldId id="1518" r:id="rId139"/>
    <p:sldId id="1519" r:id="rId140"/>
    <p:sldId id="1520" r:id="rId141"/>
    <p:sldId id="1521" r:id="rId142"/>
    <p:sldId id="1512" r:id="rId143"/>
    <p:sldId id="1214" r:id="rId144"/>
    <p:sldId id="1653" r:id="rId145"/>
    <p:sldId id="1652" r:id="rId146"/>
    <p:sldId id="1215" r:id="rId147"/>
    <p:sldId id="1216" r:id="rId148"/>
    <p:sldId id="1217" r:id="rId149"/>
    <p:sldId id="1218" r:id="rId150"/>
    <p:sldId id="1219" r:id="rId151"/>
    <p:sldId id="1654" r:id="rId152"/>
    <p:sldId id="1224" r:id="rId153"/>
    <p:sldId id="1487" r:id="rId154"/>
    <p:sldId id="1655" r:id="rId155"/>
    <p:sldId id="1227" r:id="rId156"/>
    <p:sldId id="1291" r:id="rId157"/>
    <p:sldId id="1292" r:id="rId158"/>
    <p:sldId id="1293" r:id="rId159"/>
    <p:sldId id="1294" r:id="rId160"/>
    <p:sldId id="1295" r:id="rId161"/>
    <p:sldId id="1296" r:id="rId162"/>
    <p:sldId id="1656" r:id="rId163"/>
    <p:sldId id="1488" r:id="rId164"/>
    <p:sldId id="1489" r:id="rId165"/>
    <p:sldId id="1490" r:id="rId166"/>
    <p:sldId id="1491" r:id="rId167"/>
    <p:sldId id="1298" r:id="rId168"/>
    <p:sldId id="1299" r:id="rId169"/>
    <p:sldId id="1300" r:id="rId170"/>
    <p:sldId id="1301" r:id="rId171"/>
    <p:sldId id="1302" r:id="rId172"/>
    <p:sldId id="1303" r:id="rId173"/>
    <p:sldId id="1304" r:id="rId174"/>
    <p:sldId id="1305" r:id="rId175"/>
    <p:sldId id="1306" r:id="rId176"/>
    <p:sldId id="1307" r:id="rId177"/>
    <p:sldId id="1288" r:id="rId178"/>
    <p:sldId id="1282" r:id="rId179"/>
    <p:sldId id="1283" r:id="rId180"/>
    <p:sldId id="1284" r:id="rId181"/>
    <p:sldId id="1285" r:id="rId182"/>
    <p:sldId id="1286" r:id="rId183"/>
    <p:sldId id="1228" r:id="rId184"/>
    <p:sldId id="1229" r:id="rId185"/>
    <p:sldId id="1230" r:id="rId186"/>
    <p:sldId id="1498" r:id="rId187"/>
    <p:sldId id="1499" r:id="rId188"/>
    <p:sldId id="1500" r:id="rId189"/>
    <p:sldId id="1501" r:id="rId190"/>
    <p:sldId id="1502" r:id="rId191"/>
    <p:sldId id="1503" r:id="rId192"/>
    <p:sldId id="1504" r:id="rId193"/>
    <p:sldId id="1505" r:id="rId194"/>
    <p:sldId id="1506" r:id="rId195"/>
    <p:sldId id="1507" r:id="rId196"/>
    <p:sldId id="1508" r:id="rId197"/>
    <p:sldId id="1509" r:id="rId198"/>
    <p:sldId id="1510" r:id="rId199"/>
    <p:sldId id="1591" r:id="rId200"/>
    <p:sldId id="1592" r:id="rId201"/>
    <p:sldId id="1593" r:id="rId202"/>
    <p:sldId id="1594" r:id="rId203"/>
    <p:sldId id="1595" r:id="rId204"/>
    <p:sldId id="1596" r:id="rId205"/>
    <p:sldId id="1597" r:id="rId206"/>
    <p:sldId id="1598" r:id="rId207"/>
    <p:sldId id="1599" r:id="rId208"/>
    <p:sldId id="1600" r:id="rId209"/>
    <p:sldId id="1601" r:id="rId210"/>
    <p:sldId id="1602" r:id="rId211"/>
    <p:sldId id="1603" r:id="rId212"/>
    <p:sldId id="1604" r:id="rId213"/>
    <p:sldId id="1605" r:id="rId214"/>
    <p:sldId id="1606" r:id="rId215"/>
    <p:sldId id="1607" r:id="rId216"/>
    <p:sldId id="1608" r:id="rId217"/>
    <p:sldId id="1609" r:id="rId218"/>
    <p:sldId id="1610" r:id="rId219"/>
    <p:sldId id="1611" r:id="rId220"/>
    <p:sldId id="1612" r:id="rId221"/>
    <p:sldId id="1613" r:id="rId222"/>
    <p:sldId id="1614" r:id="rId223"/>
    <p:sldId id="1615" r:id="rId224"/>
    <p:sldId id="1616" r:id="rId225"/>
    <p:sldId id="1617" r:id="rId226"/>
    <p:sldId id="1618" r:id="rId227"/>
    <p:sldId id="1619" r:id="rId228"/>
    <p:sldId id="1620" r:id="rId229"/>
    <p:sldId id="1621" r:id="rId230"/>
    <p:sldId id="1622" r:id="rId231"/>
    <p:sldId id="1623" r:id="rId232"/>
    <p:sldId id="1624" r:id="rId233"/>
    <p:sldId id="1625" r:id="rId234"/>
    <p:sldId id="1626" r:id="rId235"/>
    <p:sldId id="1627" r:id="rId236"/>
    <p:sldId id="1628" r:id="rId237"/>
    <p:sldId id="1629" r:id="rId238"/>
    <p:sldId id="1630" r:id="rId239"/>
    <p:sldId id="1631" r:id="rId240"/>
    <p:sldId id="1632" r:id="rId241"/>
    <p:sldId id="1633" r:id="rId242"/>
    <p:sldId id="1634" r:id="rId243"/>
    <p:sldId id="1635" r:id="rId244"/>
    <p:sldId id="1636" r:id="rId245"/>
    <p:sldId id="1637" r:id="rId246"/>
    <p:sldId id="1638" r:id="rId247"/>
    <p:sldId id="1639" r:id="rId248"/>
    <p:sldId id="1640" r:id="rId249"/>
    <p:sldId id="1641" r:id="rId250"/>
    <p:sldId id="1642" r:id="rId251"/>
    <p:sldId id="1643" r:id="rId252"/>
    <p:sldId id="1644" r:id="rId253"/>
    <p:sldId id="1645" r:id="rId254"/>
    <p:sldId id="1646" r:id="rId255"/>
    <p:sldId id="1647" r:id="rId256"/>
    <p:sldId id="1648" r:id="rId257"/>
    <p:sldId id="1649" r:id="rId258"/>
    <p:sldId id="1650" r:id="rId259"/>
    <p:sldId id="1651" r:id="rId260"/>
  </p:sldIdLst>
  <p:sldSz cx="97297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EE880A"/>
    <a:srgbClr val="339933"/>
    <a:srgbClr val="EE760A"/>
    <a:srgbClr val="000000"/>
    <a:srgbClr val="BFBFBF"/>
    <a:srgbClr val="4BD0FF"/>
    <a:srgbClr val="FF3F3F"/>
    <a:srgbClr val="FF9B9B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54" y="288"/>
      </p:cViewPr>
      <p:guideLst>
        <p:guide orient="horz" pos="2160"/>
        <p:guide pos="30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0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63" Type="http://schemas.openxmlformats.org/officeDocument/2006/relationships/slide" Target="slides/slide56.xml"/><Relationship Id="rId84" Type="http://schemas.openxmlformats.org/officeDocument/2006/relationships/slide" Target="slides/slide77.xml"/><Relationship Id="rId138" Type="http://schemas.openxmlformats.org/officeDocument/2006/relationships/slide" Target="slides/slide131.xml"/><Relationship Id="rId159" Type="http://schemas.openxmlformats.org/officeDocument/2006/relationships/slide" Target="slides/slide152.xml"/><Relationship Id="rId170" Type="http://schemas.openxmlformats.org/officeDocument/2006/relationships/slide" Target="slides/slide163.xml"/><Relationship Id="rId191" Type="http://schemas.openxmlformats.org/officeDocument/2006/relationships/slide" Target="slides/slide184.xml"/><Relationship Id="rId205" Type="http://schemas.openxmlformats.org/officeDocument/2006/relationships/slide" Target="slides/slide198.xml"/><Relationship Id="rId226" Type="http://schemas.openxmlformats.org/officeDocument/2006/relationships/slide" Target="slides/slide219.xml"/><Relationship Id="rId247" Type="http://schemas.openxmlformats.org/officeDocument/2006/relationships/slide" Target="slides/slide240.xml"/><Relationship Id="rId107" Type="http://schemas.openxmlformats.org/officeDocument/2006/relationships/slide" Target="slides/slide100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53" Type="http://schemas.openxmlformats.org/officeDocument/2006/relationships/slide" Target="slides/slide46.xml"/><Relationship Id="rId74" Type="http://schemas.openxmlformats.org/officeDocument/2006/relationships/slide" Target="slides/slide67.xml"/><Relationship Id="rId128" Type="http://schemas.openxmlformats.org/officeDocument/2006/relationships/slide" Target="slides/slide121.xml"/><Relationship Id="rId149" Type="http://schemas.openxmlformats.org/officeDocument/2006/relationships/slide" Target="slides/slide142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8.xml"/><Relationship Id="rId160" Type="http://schemas.openxmlformats.org/officeDocument/2006/relationships/slide" Target="slides/slide153.xml"/><Relationship Id="rId181" Type="http://schemas.openxmlformats.org/officeDocument/2006/relationships/slide" Target="slides/slide174.xml"/><Relationship Id="rId216" Type="http://schemas.openxmlformats.org/officeDocument/2006/relationships/slide" Target="slides/slide209.xml"/><Relationship Id="rId237" Type="http://schemas.openxmlformats.org/officeDocument/2006/relationships/slide" Target="slides/slide230.xml"/><Relationship Id="rId258" Type="http://schemas.openxmlformats.org/officeDocument/2006/relationships/slide" Target="slides/slide251.xml"/><Relationship Id="rId22" Type="http://schemas.openxmlformats.org/officeDocument/2006/relationships/slide" Target="slides/slide15.xml"/><Relationship Id="rId43" Type="http://schemas.openxmlformats.org/officeDocument/2006/relationships/slide" Target="slides/slide36.xml"/><Relationship Id="rId64" Type="http://schemas.openxmlformats.org/officeDocument/2006/relationships/slide" Target="slides/slide57.xml"/><Relationship Id="rId118" Type="http://schemas.openxmlformats.org/officeDocument/2006/relationships/slide" Target="slides/slide111.xml"/><Relationship Id="rId139" Type="http://schemas.openxmlformats.org/officeDocument/2006/relationships/slide" Target="slides/slide132.xml"/><Relationship Id="rId85" Type="http://schemas.openxmlformats.org/officeDocument/2006/relationships/slide" Target="slides/slide78.xml"/><Relationship Id="rId150" Type="http://schemas.openxmlformats.org/officeDocument/2006/relationships/slide" Target="slides/slide143.xml"/><Relationship Id="rId171" Type="http://schemas.openxmlformats.org/officeDocument/2006/relationships/slide" Target="slides/slide164.xml"/><Relationship Id="rId192" Type="http://schemas.openxmlformats.org/officeDocument/2006/relationships/slide" Target="slides/slide185.xml"/><Relationship Id="rId206" Type="http://schemas.openxmlformats.org/officeDocument/2006/relationships/slide" Target="slides/slide199.xml"/><Relationship Id="rId227" Type="http://schemas.openxmlformats.org/officeDocument/2006/relationships/slide" Target="slides/slide220.xml"/><Relationship Id="rId248" Type="http://schemas.openxmlformats.org/officeDocument/2006/relationships/slide" Target="slides/slide241.xml"/><Relationship Id="rId12" Type="http://schemas.openxmlformats.org/officeDocument/2006/relationships/slide" Target="slides/slide5.xml"/><Relationship Id="rId33" Type="http://schemas.openxmlformats.org/officeDocument/2006/relationships/slide" Target="slides/slide26.xml"/><Relationship Id="rId108" Type="http://schemas.openxmlformats.org/officeDocument/2006/relationships/slide" Target="slides/slide101.xml"/><Relationship Id="rId129" Type="http://schemas.openxmlformats.org/officeDocument/2006/relationships/slide" Target="slides/slide122.xml"/><Relationship Id="rId54" Type="http://schemas.openxmlformats.org/officeDocument/2006/relationships/slide" Target="slides/slide47.xml"/><Relationship Id="rId75" Type="http://schemas.openxmlformats.org/officeDocument/2006/relationships/slide" Target="slides/slide68.xml"/><Relationship Id="rId96" Type="http://schemas.openxmlformats.org/officeDocument/2006/relationships/slide" Target="slides/slide89.xml"/><Relationship Id="rId140" Type="http://schemas.openxmlformats.org/officeDocument/2006/relationships/slide" Target="slides/slide133.xml"/><Relationship Id="rId161" Type="http://schemas.openxmlformats.org/officeDocument/2006/relationships/slide" Target="slides/slide154.xml"/><Relationship Id="rId182" Type="http://schemas.openxmlformats.org/officeDocument/2006/relationships/slide" Target="slides/slide175.xml"/><Relationship Id="rId217" Type="http://schemas.openxmlformats.org/officeDocument/2006/relationships/slide" Target="slides/slide210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1.xml"/><Relationship Id="rId259" Type="http://schemas.openxmlformats.org/officeDocument/2006/relationships/slide" Target="slides/slide252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119" Type="http://schemas.openxmlformats.org/officeDocument/2006/relationships/slide" Target="slides/slide112.xml"/><Relationship Id="rId44" Type="http://schemas.openxmlformats.org/officeDocument/2006/relationships/slide" Target="slides/slide37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130" Type="http://schemas.openxmlformats.org/officeDocument/2006/relationships/slide" Target="slides/slide123.xml"/><Relationship Id="rId135" Type="http://schemas.openxmlformats.org/officeDocument/2006/relationships/slide" Target="slides/slide128.xml"/><Relationship Id="rId151" Type="http://schemas.openxmlformats.org/officeDocument/2006/relationships/slide" Target="slides/slide144.xml"/><Relationship Id="rId156" Type="http://schemas.openxmlformats.org/officeDocument/2006/relationships/slide" Target="slides/slide149.xml"/><Relationship Id="rId177" Type="http://schemas.openxmlformats.org/officeDocument/2006/relationships/slide" Target="slides/slide170.xml"/><Relationship Id="rId198" Type="http://schemas.openxmlformats.org/officeDocument/2006/relationships/slide" Target="slides/slide191.xml"/><Relationship Id="rId172" Type="http://schemas.openxmlformats.org/officeDocument/2006/relationships/slide" Target="slides/slide165.xml"/><Relationship Id="rId193" Type="http://schemas.openxmlformats.org/officeDocument/2006/relationships/slide" Target="slides/slide186.xml"/><Relationship Id="rId202" Type="http://schemas.openxmlformats.org/officeDocument/2006/relationships/slide" Target="slides/slide195.xml"/><Relationship Id="rId207" Type="http://schemas.openxmlformats.org/officeDocument/2006/relationships/slide" Target="slides/slide200.xml"/><Relationship Id="rId223" Type="http://schemas.openxmlformats.org/officeDocument/2006/relationships/slide" Target="slides/slide216.xml"/><Relationship Id="rId228" Type="http://schemas.openxmlformats.org/officeDocument/2006/relationships/slide" Target="slides/slide221.xml"/><Relationship Id="rId244" Type="http://schemas.openxmlformats.org/officeDocument/2006/relationships/slide" Target="slides/slide237.xml"/><Relationship Id="rId249" Type="http://schemas.openxmlformats.org/officeDocument/2006/relationships/slide" Target="slides/slide24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109" Type="http://schemas.openxmlformats.org/officeDocument/2006/relationships/slide" Target="slides/slide102.xml"/><Relationship Id="rId260" Type="http://schemas.openxmlformats.org/officeDocument/2006/relationships/slide" Target="slides/slide253.xml"/><Relationship Id="rId265" Type="http://schemas.openxmlformats.org/officeDocument/2006/relationships/tableStyles" Target="tableStyles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slide" Target="slides/slide97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41" Type="http://schemas.openxmlformats.org/officeDocument/2006/relationships/slide" Target="slides/slide134.xml"/><Relationship Id="rId146" Type="http://schemas.openxmlformats.org/officeDocument/2006/relationships/slide" Target="slides/slide139.xml"/><Relationship Id="rId167" Type="http://schemas.openxmlformats.org/officeDocument/2006/relationships/slide" Target="slides/slide160.xml"/><Relationship Id="rId188" Type="http://schemas.openxmlformats.org/officeDocument/2006/relationships/slide" Target="slides/slide18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162" Type="http://schemas.openxmlformats.org/officeDocument/2006/relationships/slide" Target="slides/slide155.xml"/><Relationship Id="rId183" Type="http://schemas.openxmlformats.org/officeDocument/2006/relationships/slide" Target="slides/slide176.xml"/><Relationship Id="rId213" Type="http://schemas.openxmlformats.org/officeDocument/2006/relationships/slide" Target="slides/slide206.xml"/><Relationship Id="rId218" Type="http://schemas.openxmlformats.org/officeDocument/2006/relationships/slide" Target="slides/slide211.xml"/><Relationship Id="rId234" Type="http://schemas.openxmlformats.org/officeDocument/2006/relationships/slide" Target="slides/slide227.xml"/><Relationship Id="rId239" Type="http://schemas.openxmlformats.org/officeDocument/2006/relationships/slide" Target="slides/slide23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50" Type="http://schemas.openxmlformats.org/officeDocument/2006/relationships/slide" Target="slides/slide243.xml"/><Relationship Id="rId255" Type="http://schemas.openxmlformats.org/officeDocument/2006/relationships/slide" Target="slides/slide248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15" Type="http://schemas.openxmlformats.org/officeDocument/2006/relationships/slide" Target="slides/slide108.xml"/><Relationship Id="rId131" Type="http://schemas.openxmlformats.org/officeDocument/2006/relationships/slide" Target="slides/slide124.xml"/><Relationship Id="rId136" Type="http://schemas.openxmlformats.org/officeDocument/2006/relationships/slide" Target="slides/slide129.xml"/><Relationship Id="rId157" Type="http://schemas.openxmlformats.org/officeDocument/2006/relationships/slide" Target="slides/slide150.xml"/><Relationship Id="rId178" Type="http://schemas.openxmlformats.org/officeDocument/2006/relationships/slide" Target="slides/slide171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52" Type="http://schemas.openxmlformats.org/officeDocument/2006/relationships/slide" Target="slides/slide145.xml"/><Relationship Id="rId173" Type="http://schemas.openxmlformats.org/officeDocument/2006/relationships/slide" Target="slides/slide166.xml"/><Relationship Id="rId194" Type="http://schemas.openxmlformats.org/officeDocument/2006/relationships/slide" Target="slides/slide187.xml"/><Relationship Id="rId199" Type="http://schemas.openxmlformats.org/officeDocument/2006/relationships/slide" Target="slides/slide192.xml"/><Relationship Id="rId203" Type="http://schemas.openxmlformats.org/officeDocument/2006/relationships/slide" Target="slides/slide196.xml"/><Relationship Id="rId208" Type="http://schemas.openxmlformats.org/officeDocument/2006/relationships/slide" Target="slides/slide201.xml"/><Relationship Id="rId229" Type="http://schemas.openxmlformats.org/officeDocument/2006/relationships/slide" Target="slides/slide222.xml"/><Relationship Id="rId19" Type="http://schemas.openxmlformats.org/officeDocument/2006/relationships/slide" Target="slides/slide12.xml"/><Relationship Id="rId224" Type="http://schemas.openxmlformats.org/officeDocument/2006/relationships/slide" Target="slides/slide217.xml"/><Relationship Id="rId240" Type="http://schemas.openxmlformats.org/officeDocument/2006/relationships/slide" Target="slides/slide233.xml"/><Relationship Id="rId245" Type="http://schemas.openxmlformats.org/officeDocument/2006/relationships/slide" Target="slides/slide238.xml"/><Relationship Id="rId261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126" Type="http://schemas.openxmlformats.org/officeDocument/2006/relationships/slide" Target="slides/slide119.xml"/><Relationship Id="rId147" Type="http://schemas.openxmlformats.org/officeDocument/2006/relationships/slide" Target="slides/slide140.xml"/><Relationship Id="rId168" Type="http://schemas.openxmlformats.org/officeDocument/2006/relationships/slide" Target="slides/slide16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slide" Target="slides/slide114.xml"/><Relationship Id="rId142" Type="http://schemas.openxmlformats.org/officeDocument/2006/relationships/slide" Target="slides/slide135.xml"/><Relationship Id="rId163" Type="http://schemas.openxmlformats.org/officeDocument/2006/relationships/slide" Target="slides/slide156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219" Type="http://schemas.openxmlformats.org/officeDocument/2006/relationships/slide" Target="slides/slide212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7.xml"/><Relationship Id="rId230" Type="http://schemas.openxmlformats.org/officeDocument/2006/relationships/slide" Target="slides/slide223.xml"/><Relationship Id="rId235" Type="http://schemas.openxmlformats.org/officeDocument/2006/relationships/slide" Target="slides/slide228.xml"/><Relationship Id="rId251" Type="http://schemas.openxmlformats.org/officeDocument/2006/relationships/slide" Target="slides/slide244.xml"/><Relationship Id="rId256" Type="http://schemas.openxmlformats.org/officeDocument/2006/relationships/slide" Target="slides/slide249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137" Type="http://schemas.openxmlformats.org/officeDocument/2006/relationships/slide" Target="slides/slide130.xml"/><Relationship Id="rId158" Type="http://schemas.openxmlformats.org/officeDocument/2006/relationships/slide" Target="slides/slide15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32" Type="http://schemas.openxmlformats.org/officeDocument/2006/relationships/slide" Target="slides/slide125.xml"/><Relationship Id="rId153" Type="http://schemas.openxmlformats.org/officeDocument/2006/relationships/slide" Target="slides/slide146.xml"/><Relationship Id="rId174" Type="http://schemas.openxmlformats.org/officeDocument/2006/relationships/slide" Target="slides/slide167.xml"/><Relationship Id="rId179" Type="http://schemas.openxmlformats.org/officeDocument/2006/relationships/slide" Target="slides/slide172.xml"/><Relationship Id="rId195" Type="http://schemas.openxmlformats.org/officeDocument/2006/relationships/slide" Target="slides/slide188.xml"/><Relationship Id="rId209" Type="http://schemas.openxmlformats.org/officeDocument/2006/relationships/slide" Target="slides/slide202.xml"/><Relationship Id="rId190" Type="http://schemas.openxmlformats.org/officeDocument/2006/relationships/slide" Target="slides/slide183.xml"/><Relationship Id="rId204" Type="http://schemas.openxmlformats.org/officeDocument/2006/relationships/slide" Target="slides/slide197.xml"/><Relationship Id="rId220" Type="http://schemas.openxmlformats.org/officeDocument/2006/relationships/slide" Target="slides/slide213.xml"/><Relationship Id="rId225" Type="http://schemas.openxmlformats.org/officeDocument/2006/relationships/slide" Target="slides/slide218.xml"/><Relationship Id="rId241" Type="http://schemas.openxmlformats.org/officeDocument/2006/relationships/slide" Target="slides/slide234.xml"/><Relationship Id="rId246" Type="http://schemas.openxmlformats.org/officeDocument/2006/relationships/slide" Target="slides/slide239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27" Type="http://schemas.openxmlformats.org/officeDocument/2006/relationships/slide" Target="slides/slide120.xml"/><Relationship Id="rId262" Type="http://schemas.openxmlformats.org/officeDocument/2006/relationships/presProps" Target="pres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slide" Target="slides/slide115.xml"/><Relationship Id="rId143" Type="http://schemas.openxmlformats.org/officeDocument/2006/relationships/slide" Target="slides/slide136.xml"/><Relationship Id="rId148" Type="http://schemas.openxmlformats.org/officeDocument/2006/relationships/slide" Target="slides/slide141.xml"/><Relationship Id="rId164" Type="http://schemas.openxmlformats.org/officeDocument/2006/relationships/slide" Target="slides/slide157.xml"/><Relationship Id="rId169" Type="http://schemas.openxmlformats.org/officeDocument/2006/relationships/slide" Target="slides/slide162.xml"/><Relationship Id="rId185" Type="http://schemas.openxmlformats.org/officeDocument/2006/relationships/slide" Target="slides/slide1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80" Type="http://schemas.openxmlformats.org/officeDocument/2006/relationships/slide" Target="slides/slide173.xml"/><Relationship Id="rId210" Type="http://schemas.openxmlformats.org/officeDocument/2006/relationships/slide" Target="slides/slide203.xml"/><Relationship Id="rId215" Type="http://schemas.openxmlformats.org/officeDocument/2006/relationships/slide" Target="slides/slide208.xml"/><Relationship Id="rId236" Type="http://schemas.openxmlformats.org/officeDocument/2006/relationships/slide" Target="slides/slide229.xml"/><Relationship Id="rId257" Type="http://schemas.openxmlformats.org/officeDocument/2006/relationships/slide" Target="slides/slide250.xml"/><Relationship Id="rId26" Type="http://schemas.openxmlformats.org/officeDocument/2006/relationships/slide" Target="slides/slide19.xml"/><Relationship Id="rId231" Type="http://schemas.openxmlformats.org/officeDocument/2006/relationships/slide" Target="slides/slide224.xml"/><Relationship Id="rId252" Type="http://schemas.openxmlformats.org/officeDocument/2006/relationships/slide" Target="slides/slide245.xml"/><Relationship Id="rId47" Type="http://schemas.openxmlformats.org/officeDocument/2006/relationships/slide" Target="slides/slide40.xml"/><Relationship Id="rId68" Type="http://schemas.openxmlformats.org/officeDocument/2006/relationships/slide" Target="slides/slide61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33" Type="http://schemas.openxmlformats.org/officeDocument/2006/relationships/slide" Target="slides/slide126.xml"/><Relationship Id="rId154" Type="http://schemas.openxmlformats.org/officeDocument/2006/relationships/slide" Target="slides/slide147.xml"/><Relationship Id="rId175" Type="http://schemas.openxmlformats.org/officeDocument/2006/relationships/slide" Target="slides/slide168.xml"/><Relationship Id="rId196" Type="http://schemas.openxmlformats.org/officeDocument/2006/relationships/slide" Target="slides/slide189.xml"/><Relationship Id="rId200" Type="http://schemas.openxmlformats.org/officeDocument/2006/relationships/slide" Target="slides/slide193.xml"/><Relationship Id="rId16" Type="http://schemas.openxmlformats.org/officeDocument/2006/relationships/slide" Target="slides/slide9.xml"/><Relationship Id="rId221" Type="http://schemas.openxmlformats.org/officeDocument/2006/relationships/slide" Target="slides/slide214.xml"/><Relationship Id="rId242" Type="http://schemas.openxmlformats.org/officeDocument/2006/relationships/slide" Target="slides/slide235.xml"/><Relationship Id="rId263" Type="http://schemas.openxmlformats.org/officeDocument/2006/relationships/viewProps" Target="viewProps.xml"/><Relationship Id="rId37" Type="http://schemas.openxmlformats.org/officeDocument/2006/relationships/slide" Target="slides/slide30.xml"/><Relationship Id="rId58" Type="http://schemas.openxmlformats.org/officeDocument/2006/relationships/slide" Target="slides/slide51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openxmlformats.org/officeDocument/2006/relationships/slide" Target="slides/slide116.xml"/><Relationship Id="rId144" Type="http://schemas.openxmlformats.org/officeDocument/2006/relationships/slide" Target="slides/slide137.xml"/><Relationship Id="rId90" Type="http://schemas.openxmlformats.org/officeDocument/2006/relationships/slide" Target="slides/slide83.xml"/><Relationship Id="rId165" Type="http://schemas.openxmlformats.org/officeDocument/2006/relationships/slide" Target="slides/slide158.xml"/><Relationship Id="rId186" Type="http://schemas.openxmlformats.org/officeDocument/2006/relationships/slide" Target="slides/slide179.xml"/><Relationship Id="rId211" Type="http://schemas.openxmlformats.org/officeDocument/2006/relationships/slide" Target="slides/slide204.xml"/><Relationship Id="rId232" Type="http://schemas.openxmlformats.org/officeDocument/2006/relationships/slide" Target="slides/slide225.xml"/><Relationship Id="rId253" Type="http://schemas.openxmlformats.org/officeDocument/2006/relationships/slide" Target="slides/slide246.xml"/><Relationship Id="rId27" Type="http://schemas.openxmlformats.org/officeDocument/2006/relationships/slide" Target="slides/slide20.xml"/><Relationship Id="rId48" Type="http://schemas.openxmlformats.org/officeDocument/2006/relationships/slide" Target="slides/slide41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34" Type="http://schemas.openxmlformats.org/officeDocument/2006/relationships/slide" Target="slides/slide127.xml"/><Relationship Id="rId80" Type="http://schemas.openxmlformats.org/officeDocument/2006/relationships/slide" Target="slides/slide73.xml"/><Relationship Id="rId155" Type="http://schemas.openxmlformats.org/officeDocument/2006/relationships/slide" Target="slides/slide148.xml"/><Relationship Id="rId176" Type="http://schemas.openxmlformats.org/officeDocument/2006/relationships/slide" Target="slides/slide169.xml"/><Relationship Id="rId197" Type="http://schemas.openxmlformats.org/officeDocument/2006/relationships/slide" Target="slides/slide190.xml"/><Relationship Id="rId201" Type="http://schemas.openxmlformats.org/officeDocument/2006/relationships/slide" Target="slides/slide194.xml"/><Relationship Id="rId222" Type="http://schemas.openxmlformats.org/officeDocument/2006/relationships/slide" Target="slides/slide215.xml"/><Relationship Id="rId243" Type="http://schemas.openxmlformats.org/officeDocument/2006/relationships/slide" Target="slides/slide236.xml"/><Relationship Id="rId264" Type="http://schemas.openxmlformats.org/officeDocument/2006/relationships/theme" Target="theme/theme1.xml"/><Relationship Id="rId17" Type="http://schemas.openxmlformats.org/officeDocument/2006/relationships/slide" Target="slides/slide10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24" Type="http://schemas.openxmlformats.org/officeDocument/2006/relationships/slide" Target="slides/slide117.xml"/><Relationship Id="rId70" Type="http://schemas.openxmlformats.org/officeDocument/2006/relationships/slide" Target="slides/slide63.xml"/><Relationship Id="rId91" Type="http://schemas.openxmlformats.org/officeDocument/2006/relationships/slide" Target="slides/slide84.xml"/><Relationship Id="rId145" Type="http://schemas.openxmlformats.org/officeDocument/2006/relationships/slide" Target="slides/slide138.xml"/><Relationship Id="rId166" Type="http://schemas.openxmlformats.org/officeDocument/2006/relationships/slide" Target="slides/slide159.xml"/><Relationship Id="rId187" Type="http://schemas.openxmlformats.org/officeDocument/2006/relationships/slide" Target="slides/slide18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5.xml"/><Relationship Id="rId233" Type="http://schemas.openxmlformats.org/officeDocument/2006/relationships/slide" Target="slides/slide226.xml"/><Relationship Id="rId254" Type="http://schemas.openxmlformats.org/officeDocument/2006/relationships/slide" Target="slides/slide2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3/23/2021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9838" y="1143000"/>
            <a:ext cx="4378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ECED83F-33EE-4E3E-90B4-BDCF3368AA78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41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7763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1188" cy="34115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auto">
              <a:spcBef>
                <a:spcPct val="0"/>
              </a:spcBef>
              <a:spcAft>
                <a:spcPts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117764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1769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07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00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00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73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37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47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87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7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81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7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93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17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87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63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463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103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652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48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6163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616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964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069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6608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0710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5532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382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618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122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9222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8993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8221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7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6510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7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8056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3089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735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9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5047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955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7416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761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261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3090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7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6683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7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4078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9870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7176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814" indent="0" algn="ctr">
              <a:buNone/>
              <a:defRPr sz="1998"/>
            </a:lvl2pPr>
            <a:lvl3pPr marL="913629" indent="0" algn="ctr">
              <a:buNone/>
              <a:defRPr sz="1799"/>
            </a:lvl3pPr>
            <a:lvl4pPr marL="1370443" indent="0" algn="ctr">
              <a:buNone/>
              <a:defRPr sz="1599"/>
            </a:lvl4pPr>
            <a:lvl5pPr marL="1827258" indent="0" algn="ctr">
              <a:buNone/>
              <a:defRPr sz="1599"/>
            </a:lvl5pPr>
            <a:lvl6pPr marL="2284072" indent="0" algn="ctr">
              <a:buNone/>
              <a:defRPr sz="1599"/>
            </a:lvl6pPr>
            <a:lvl7pPr marL="2740887" indent="0" algn="ctr">
              <a:buNone/>
              <a:defRPr sz="1599"/>
            </a:lvl7pPr>
            <a:lvl8pPr marL="3197701" indent="0" algn="ctr">
              <a:buNone/>
              <a:defRPr sz="1599"/>
            </a:lvl8pPr>
            <a:lvl9pPr marL="3654515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3471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1536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7" y="1709741"/>
            <a:ext cx="8391942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7" y="4589467"/>
            <a:ext cx="8391942" cy="1500187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/>
                </a:solidFill>
              </a:defRPr>
            </a:lvl1pPr>
            <a:lvl2pPr marL="456814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62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044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725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4072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088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770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4515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0739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4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7968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9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2" y="1681164"/>
            <a:ext cx="4116155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14" indent="0">
              <a:buNone/>
              <a:defRPr sz="1998" b="1"/>
            </a:lvl2pPr>
            <a:lvl3pPr marL="913629" indent="0">
              <a:buNone/>
              <a:defRPr sz="1799" b="1"/>
            </a:lvl3pPr>
            <a:lvl4pPr marL="1370443" indent="0">
              <a:buNone/>
              <a:defRPr sz="1599" b="1"/>
            </a:lvl4pPr>
            <a:lvl5pPr marL="1827258" indent="0">
              <a:buNone/>
              <a:defRPr sz="1599" b="1"/>
            </a:lvl5pPr>
            <a:lvl6pPr marL="2284072" indent="0">
              <a:buNone/>
              <a:defRPr sz="1599" b="1"/>
            </a:lvl6pPr>
            <a:lvl7pPr marL="2740887" indent="0">
              <a:buNone/>
              <a:defRPr sz="1599" b="1"/>
            </a:lvl7pPr>
            <a:lvl8pPr marL="3197701" indent="0">
              <a:buNone/>
              <a:defRPr sz="1599" b="1"/>
            </a:lvl8pPr>
            <a:lvl9pPr marL="365451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2" y="2505075"/>
            <a:ext cx="41161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7" y="1681164"/>
            <a:ext cx="4136427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14" indent="0">
              <a:buNone/>
              <a:defRPr sz="1998" b="1"/>
            </a:lvl2pPr>
            <a:lvl3pPr marL="913629" indent="0">
              <a:buNone/>
              <a:defRPr sz="1799" b="1"/>
            </a:lvl3pPr>
            <a:lvl4pPr marL="1370443" indent="0">
              <a:buNone/>
              <a:defRPr sz="1599" b="1"/>
            </a:lvl4pPr>
            <a:lvl5pPr marL="1827258" indent="0">
              <a:buNone/>
              <a:defRPr sz="1599" b="1"/>
            </a:lvl5pPr>
            <a:lvl6pPr marL="2284072" indent="0">
              <a:buNone/>
              <a:defRPr sz="1599" b="1"/>
            </a:lvl6pPr>
            <a:lvl7pPr marL="2740887" indent="0">
              <a:buNone/>
              <a:defRPr sz="1599" b="1"/>
            </a:lvl7pPr>
            <a:lvl8pPr marL="3197701" indent="0">
              <a:buNone/>
              <a:defRPr sz="1599" b="1"/>
            </a:lvl8pPr>
            <a:lvl9pPr marL="365451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7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8752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8153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1970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8"/>
            <a:ext cx="4925705" cy="4873625"/>
          </a:xfrm>
        </p:spPr>
        <p:txBody>
          <a:bodyPr/>
          <a:lstStyle>
            <a:lvl1pPr>
              <a:defRPr sz="3197"/>
            </a:lvl1pPr>
            <a:lvl2pPr>
              <a:defRPr sz="2798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6814" indent="0">
              <a:buNone/>
              <a:defRPr sz="1399"/>
            </a:lvl2pPr>
            <a:lvl3pPr marL="913629" indent="0">
              <a:buNone/>
              <a:defRPr sz="1199"/>
            </a:lvl3pPr>
            <a:lvl4pPr marL="1370443" indent="0">
              <a:buNone/>
              <a:defRPr sz="999"/>
            </a:lvl4pPr>
            <a:lvl5pPr marL="1827258" indent="0">
              <a:buNone/>
              <a:defRPr sz="999"/>
            </a:lvl5pPr>
            <a:lvl6pPr marL="2284072" indent="0">
              <a:buNone/>
              <a:defRPr sz="999"/>
            </a:lvl6pPr>
            <a:lvl7pPr marL="2740887" indent="0">
              <a:buNone/>
              <a:defRPr sz="999"/>
            </a:lvl7pPr>
            <a:lvl8pPr marL="3197701" indent="0">
              <a:buNone/>
              <a:defRPr sz="999"/>
            </a:lvl8pPr>
            <a:lvl9pPr marL="3654515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2144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8" y="987428"/>
            <a:ext cx="4925705" cy="4873625"/>
          </a:xfrm>
        </p:spPr>
        <p:txBody>
          <a:bodyPr anchor="t"/>
          <a:lstStyle>
            <a:lvl1pPr marL="0" indent="0">
              <a:buNone/>
              <a:defRPr sz="3197"/>
            </a:lvl1pPr>
            <a:lvl2pPr marL="456814" indent="0">
              <a:buNone/>
              <a:defRPr sz="2798"/>
            </a:lvl2pPr>
            <a:lvl3pPr marL="913629" indent="0">
              <a:buNone/>
              <a:defRPr sz="2398"/>
            </a:lvl3pPr>
            <a:lvl4pPr marL="1370443" indent="0">
              <a:buNone/>
              <a:defRPr sz="1998"/>
            </a:lvl4pPr>
            <a:lvl5pPr marL="1827258" indent="0">
              <a:buNone/>
              <a:defRPr sz="1998"/>
            </a:lvl5pPr>
            <a:lvl6pPr marL="2284072" indent="0">
              <a:buNone/>
              <a:defRPr sz="1998"/>
            </a:lvl6pPr>
            <a:lvl7pPr marL="2740887" indent="0">
              <a:buNone/>
              <a:defRPr sz="1998"/>
            </a:lvl7pPr>
            <a:lvl8pPr marL="3197701" indent="0">
              <a:buNone/>
              <a:defRPr sz="1998"/>
            </a:lvl8pPr>
            <a:lvl9pPr marL="3654515" indent="0">
              <a:buNone/>
              <a:defRPr sz="19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6814" indent="0">
              <a:buNone/>
              <a:defRPr sz="1399"/>
            </a:lvl2pPr>
            <a:lvl3pPr marL="913629" indent="0">
              <a:buNone/>
              <a:defRPr sz="1199"/>
            </a:lvl3pPr>
            <a:lvl4pPr marL="1370443" indent="0">
              <a:buNone/>
              <a:defRPr sz="999"/>
            </a:lvl4pPr>
            <a:lvl5pPr marL="1827258" indent="0">
              <a:buNone/>
              <a:defRPr sz="999"/>
            </a:lvl5pPr>
            <a:lvl6pPr marL="2284072" indent="0">
              <a:buNone/>
              <a:defRPr sz="999"/>
            </a:lvl6pPr>
            <a:lvl7pPr marL="2740887" indent="0">
              <a:buNone/>
              <a:defRPr sz="999"/>
            </a:lvl7pPr>
            <a:lvl8pPr marL="3197701" indent="0">
              <a:buNone/>
              <a:defRPr sz="999"/>
            </a:lvl8pPr>
            <a:lvl9pPr marL="3654515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3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5824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6"/>
            <a:ext cx="209798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5" y="365126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1168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5" y="3602038"/>
            <a:ext cx="7297341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834" indent="0" algn="ctr">
              <a:buNone/>
              <a:defRPr sz="1998"/>
            </a:lvl2pPr>
            <a:lvl3pPr marL="913668" indent="0" algn="ctr">
              <a:buNone/>
              <a:defRPr sz="1799"/>
            </a:lvl3pPr>
            <a:lvl4pPr marL="1370503" indent="0" algn="ctr">
              <a:buNone/>
              <a:defRPr sz="1599"/>
            </a:lvl4pPr>
            <a:lvl5pPr marL="1827337" indent="0" algn="ctr">
              <a:buNone/>
              <a:defRPr sz="1599"/>
            </a:lvl5pPr>
            <a:lvl6pPr marL="2284171" indent="0" algn="ctr">
              <a:buNone/>
              <a:defRPr sz="1599"/>
            </a:lvl6pPr>
            <a:lvl7pPr marL="2741005" indent="0" algn="ctr">
              <a:buNone/>
              <a:defRPr sz="1599"/>
            </a:lvl7pPr>
            <a:lvl8pPr marL="3197840" indent="0" algn="ctr">
              <a:buNone/>
              <a:defRPr sz="1599"/>
            </a:lvl8pPr>
            <a:lvl9pPr marL="3654674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2369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6807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2"/>
            <a:ext cx="8391942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7"/>
            <a:ext cx="8391942" cy="1500187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/>
                </a:solidFill>
              </a:defRPr>
            </a:lvl1pPr>
            <a:lvl2pPr marL="456834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66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050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73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417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1005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784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467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2291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4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7019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9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34" indent="0">
              <a:buNone/>
              <a:defRPr sz="1998" b="1"/>
            </a:lvl2pPr>
            <a:lvl3pPr marL="913668" indent="0">
              <a:buNone/>
              <a:defRPr sz="1799" b="1"/>
            </a:lvl3pPr>
            <a:lvl4pPr marL="1370503" indent="0">
              <a:buNone/>
              <a:defRPr sz="1599" b="1"/>
            </a:lvl4pPr>
            <a:lvl5pPr marL="1827337" indent="0">
              <a:buNone/>
              <a:defRPr sz="1599" b="1"/>
            </a:lvl5pPr>
            <a:lvl6pPr marL="2284171" indent="0">
              <a:buNone/>
              <a:defRPr sz="1599" b="1"/>
            </a:lvl6pPr>
            <a:lvl7pPr marL="2741005" indent="0">
              <a:buNone/>
              <a:defRPr sz="1599" b="1"/>
            </a:lvl7pPr>
            <a:lvl8pPr marL="3197840" indent="0">
              <a:buNone/>
              <a:defRPr sz="1599" b="1"/>
            </a:lvl8pPr>
            <a:lvl9pPr marL="3654674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7" y="1681163"/>
            <a:ext cx="4136427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34" indent="0">
              <a:buNone/>
              <a:defRPr sz="1998" b="1"/>
            </a:lvl2pPr>
            <a:lvl3pPr marL="913668" indent="0">
              <a:buNone/>
              <a:defRPr sz="1799" b="1"/>
            </a:lvl3pPr>
            <a:lvl4pPr marL="1370503" indent="0">
              <a:buNone/>
              <a:defRPr sz="1599" b="1"/>
            </a:lvl4pPr>
            <a:lvl5pPr marL="1827337" indent="0">
              <a:buNone/>
              <a:defRPr sz="1599" b="1"/>
            </a:lvl5pPr>
            <a:lvl6pPr marL="2284171" indent="0">
              <a:buNone/>
              <a:defRPr sz="1599" b="1"/>
            </a:lvl6pPr>
            <a:lvl7pPr marL="2741005" indent="0">
              <a:buNone/>
              <a:defRPr sz="1599" b="1"/>
            </a:lvl7pPr>
            <a:lvl8pPr marL="3197840" indent="0">
              <a:buNone/>
              <a:defRPr sz="1599" b="1"/>
            </a:lvl8pPr>
            <a:lvl9pPr marL="3654674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7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5777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6565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361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9"/>
            <a:ext cx="4925705" cy="4873625"/>
          </a:xfrm>
        </p:spPr>
        <p:txBody>
          <a:bodyPr/>
          <a:lstStyle>
            <a:lvl1pPr>
              <a:defRPr sz="3197"/>
            </a:lvl1pPr>
            <a:lvl2pPr>
              <a:defRPr sz="2798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6834" indent="0">
              <a:buNone/>
              <a:defRPr sz="1399"/>
            </a:lvl2pPr>
            <a:lvl3pPr marL="913668" indent="0">
              <a:buNone/>
              <a:defRPr sz="1199"/>
            </a:lvl3pPr>
            <a:lvl4pPr marL="1370503" indent="0">
              <a:buNone/>
              <a:defRPr sz="999"/>
            </a:lvl4pPr>
            <a:lvl5pPr marL="1827337" indent="0">
              <a:buNone/>
              <a:defRPr sz="999"/>
            </a:lvl5pPr>
            <a:lvl6pPr marL="2284171" indent="0">
              <a:buNone/>
              <a:defRPr sz="999"/>
            </a:lvl6pPr>
            <a:lvl7pPr marL="2741005" indent="0">
              <a:buNone/>
              <a:defRPr sz="999"/>
            </a:lvl7pPr>
            <a:lvl8pPr marL="3197840" indent="0">
              <a:buNone/>
              <a:defRPr sz="999"/>
            </a:lvl8pPr>
            <a:lvl9pPr marL="3654674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1678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8" y="987429"/>
            <a:ext cx="4925705" cy="4873625"/>
          </a:xfrm>
        </p:spPr>
        <p:txBody>
          <a:bodyPr anchor="t"/>
          <a:lstStyle>
            <a:lvl1pPr marL="0" indent="0">
              <a:buNone/>
              <a:defRPr sz="3197"/>
            </a:lvl1pPr>
            <a:lvl2pPr marL="456834" indent="0">
              <a:buNone/>
              <a:defRPr sz="2798"/>
            </a:lvl2pPr>
            <a:lvl3pPr marL="913668" indent="0">
              <a:buNone/>
              <a:defRPr sz="2398"/>
            </a:lvl3pPr>
            <a:lvl4pPr marL="1370503" indent="0">
              <a:buNone/>
              <a:defRPr sz="1998"/>
            </a:lvl4pPr>
            <a:lvl5pPr marL="1827337" indent="0">
              <a:buNone/>
              <a:defRPr sz="1998"/>
            </a:lvl5pPr>
            <a:lvl6pPr marL="2284171" indent="0">
              <a:buNone/>
              <a:defRPr sz="1998"/>
            </a:lvl6pPr>
            <a:lvl7pPr marL="2741005" indent="0">
              <a:buNone/>
              <a:defRPr sz="1998"/>
            </a:lvl7pPr>
            <a:lvl8pPr marL="3197840" indent="0">
              <a:buNone/>
              <a:defRPr sz="1998"/>
            </a:lvl8pPr>
            <a:lvl9pPr marL="3654674" indent="0">
              <a:buNone/>
              <a:defRPr sz="19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6834" indent="0">
              <a:buNone/>
              <a:defRPr sz="1399"/>
            </a:lvl2pPr>
            <a:lvl3pPr marL="913668" indent="0">
              <a:buNone/>
              <a:defRPr sz="1199"/>
            </a:lvl3pPr>
            <a:lvl4pPr marL="1370503" indent="0">
              <a:buNone/>
              <a:defRPr sz="999"/>
            </a:lvl4pPr>
            <a:lvl5pPr marL="1827337" indent="0">
              <a:buNone/>
              <a:defRPr sz="999"/>
            </a:lvl5pPr>
            <a:lvl6pPr marL="2284171" indent="0">
              <a:buNone/>
              <a:defRPr sz="999"/>
            </a:lvl6pPr>
            <a:lvl7pPr marL="2741005" indent="0">
              <a:buNone/>
              <a:defRPr sz="999"/>
            </a:lvl7pPr>
            <a:lvl8pPr marL="3197840" indent="0">
              <a:buNone/>
              <a:defRPr sz="999"/>
            </a:lvl8pPr>
            <a:lvl9pPr marL="3654674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629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1480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5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42795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59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5" y="3602038"/>
            <a:ext cx="7297341" cy="1655762"/>
          </a:xfrm>
        </p:spPr>
        <p:txBody>
          <a:bodyPr/>
          <a:lstStyle>
            <a:lvl1pPr marL="0" indent="0" algn="ctr">
              <a:buNone/>
              <a:defRPr sz="2396"/>
            </a:lvl1pPr>
            <a:lvl2pPr marL="456449" indent="0" algn="ctr">
              <a:buNone/>
              <a:defRPr sz="1996"/>
            </a:lvl2pPr>
            <a:lvl3pPr marL="912898" indent="0" algn="ctr">
              <a:buNone/>
              <a:defRPr sz="1798"/>
            </a:lvl3pPr>
            <a:lvl4pPr marL="1369347" indent="0" algn="ctr">
              <a:buNone/>
              <a:defRPr sz="1598"/>
            </a:lvl4pPr>
            <a:lvl5pPr marL="1825796" indent="0" algn="ctr">
              <a:buNone/>
              <a:defRPr sz="1598"/>
            </a:lvl5pPr>
            <a:lvl6pPr marL="2282245" indent="0" algn="ctr">
              <a:buNone/>
              <a:defRPr sz="1598"/>
            </a:lvl6pPr>
            <a:lvl7pPr marL="2738694" indent="0" algn="ctr">
              <a:buNone/>
              <a:defRPr sz="1598"/>
            </a:lvl7pPr>
            <a:lvl8pPr marL="3195143" indent="0" algn="ctr">
              <a:buNone/>
              <a:defRPr sz="1598"/>
            </a:lvl8pPr>
            <a:lvl9pPr marL="3651591" indent="0" algn="ctr">
              <a:buNone/>
              <a:defRPr sz="159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3956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96063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7" y="1709743"/>
            <a:ext cx="8391942" cy="2852737"/>
          </a:xfrm>
        </p:spPr>
        <p:txBody>
          <a:bodyPr anchor="b"/>
          <a:lstStyle>
            <a:lvl1pPr>
              <a:defRPr sz="59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7" y="4589469"/>
            <a:ext cx="8391942" cy="1500187"/>
          </a:xfrm>
        </p:spPr>
        <p:txBody>
          <a:bodyPr/>
          <a:lstStyle>
            <a:lvl1pPr marL="0" indent="0">
              <a:buNone/>
              <a:defRPr sz="2396">
                <a:solidFill>
                  <a:schemeClr val="tx1"/>
                </a:solidFill>
              </a:defRPr>
            </a:lvl1pPr>
            <a:lvl2pPr marL="456449" indent="0">
              <a:buNone/>
              <a:defRPr sz="1996">
                <a:solidFill>
                  <a:schemeClr val="tx1">
                    <a:tint val="75000"/>
                  </a:schemeClr>
                </a:solidFill>
              </a:defRPr>
            </a:lvl2pPr>
            <a:lvl3pPr marL="912898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69347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5796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224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38694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51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1591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0252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1247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9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3" y="1681164"/>
            <a:ext cx="4116155" cy="823912"/>
          </a:xfrm>
        </p:spPr>
        <p:txBody>
          <a:bodyPr anchor="b"/>
          <a:lstStyle>
            <a:lvl1pPr marL="0" indent="0">
              <a:buNone/>
              <a:defRPr sz="2396" b="1"/>
            </a:lvl1pPr>
            <a:lvl2pPr marL="456449" indent="0">
              <a:buNone/>
              <a:defRPr sz="1996" b="1"/>
            </a:lvl2pPr>
            <a:lvl3pPr marL="912898" indent="0">
              <a:buNone/>
              <a:defRPr sz="1798" b="1"/>
            </a:lvl3pPr>
            <a:lvl4pPr marL="1369347" indent="0">
              <a:buNone/>
              <a:defRPr sz="1598" b="1"/>
            </a:lvl4pPr>
            <a:lvl5pPr marL="1825796" indent="0">
              <a:buNone/>
              <a:defRPr sz="1598" b="1"/>
            </a:lvl5pPr>
            <a:lvl6pPr marL="2282245" indent="0">
              <a:buNone/>
              <a:defRPr sz="1598" b="1"/>
            </a:lvl6pPr>
            <a:lvl7pPr marL="2738694" indent="0">
              <a:buNone/>
              <a:defRPr sz="1598" b="1"/>
            </a:lvl7pPr>
            <a:lvl8pPr marL="3195143" indent="0">
              <a:buNone/>
              <a:defRPr sz="1598" b="1"/>
            </a:lvl8pPr>
            <a:lvl9pPr marL="3651591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3" y="2505075"/>
            <a:ext cx="41161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8" y="1681164"/>
            <a:ext cx="4136427" cy="823912"/>
          </a:xfrm>
        </p:spPr>
        <p:txBody>
          <a:bodyPr anchor="b"/>
          <a:lstStyle>
            <a:lvl1pPr marL="0" indent="0">
              <a:buNone/>
              <a:defRPr sz="2396" b="1"/>
            </a:lvl1pPr>
            <a:lvl2pPr marL="456449" indent="0">
              <a:buNone/>
              <a:defRPr sz="1996" b="1"/>
            </a:lvl2pPr>
            <a:lvl3pPr marL="912898" indent="0">
              <a:buNone/>
              <a:defRPr sz="1798" b="1"/>
            </a:lvl3pPr>
            <a:lvl4pPr marL="1369347" indent="0">
              <a:buNone/>
              <a:defRPr sz="1598" b="1"/>
            </a:lvl4pPr>
            <a:lvl5pPr marL="1825796" indent="0">
              <a:buNone/>
              <a:defRPr sz="1598" b="1"/>
            </a:lvl5pPr>
            <a:lvl6pPr marL="2282245" indent="0">
              <a:buNone/>
              <a:defRPr sz="1598" b="1"/>
            </a:lvl6pPr>
            <a:lvl7pPr marL="2738694" indent="0">
              <a:buNone/>
              <a:defRPr sz="1598" b="1"/>
            </a:lvl7pPr>
            <a:lvl8pPr marL="3195143" indent="0">
              <a:buNone/>
              <a:defRPr sz="1598" b="1"/>
            </a:lvl8pPr>
            <a:lvl9pPr marL="3651591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8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94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36518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0471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1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9" y="987430"/>
            <a:ext cx="4925705" cy="4873625"/>
          </a:xfrm>
        </p:spPr>
        <p:txBody>
          <a:bodyPr/>
          <a:lstStyle>
            <a:lvl1pPr>
              <a:defRPr sz="3194"/>
            </a:lvl1pPr>
            <a:lvl2pPr>
              <a:defRPr sz="2796"/>
            </a:lvl2pPr>
            <a:lvl3pPr>
              <a:defRPr sz="2396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598"/>
            </a:lvl1pPr>
            <a:lvl2pPr marL="456449" indent="0">
              <a:buNone/>
              <a:defRPr sz="1398"/>
            </a:lvl2pPr>
            <a:lvl3pPr marL="912898" indent="0">
              <a:buNone/>
              <a:defRPr sz="1198"/>
            </a:lvl3pPr>
            <a:lvl4pPr marL="1369347" indent="0">
              <a:buNone/>
              <a:defRPr sz="998"/>
            </a:lvl4pPr>
            <a:lvl5pPr marL="1825796" indent="0">
              <a:buNone/>
              <a:defRPr sz="998"/>
            </a:lvl5pPr>
            <a:lvl6pPr marL="2282245" indent="0">
              <a:buNone/>
              <a:defRPr sz="998"/>
            </a:lvl6pPr>
            <a:lvl7pPr marL="2738694" indent="0">
              <a:buNone/>
              <a:defRPr sz="998"/>
            </a:lvl7pPr>
            <a:lvl8pPr marL="3195143" indent="0">
              <a:buNone/>
              <a:defRPr sz="998"/>
            </a:lvl8pPr>
            <a:lvl9pPr marL="3651591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254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1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9" y="987430"/>
            <a:ext cx="4925705" cy="4873625"/>
          </a:xfrm>
        </p:spPr>
        <p:txBody>
          <a:bodyPr anchor="t"/>
          <a:lstStyle>
            <a:lvl1pPr marL="0" indent="0">
              <a:buNone/>
              <a:defRPr sz="3194"/>
            </a:lvl1pPr>
            <a:lvl2pPr marL="456449" indent="0">
              <a:buNone/>
              <a:defRPr sz="2796"/>
            </a:lvl2pPr>
            <a:lvl3pPr marL="912898" indent="0">
              <a:buNone/>
              <a:defRPr sz="2396"/>
            </a:lvl3pPr>
            <a:lvl4pPr marL="1369347" indent="0">
              <a:buNone/>
              <a:defRPr sz="1996"/>
            </a:lvl4pPr>
            <a:lvl5pPr marL="1825796" indent="0">
              <a:buNone/>
              <a:defRPr sz="1996"/>
            </a:lvl5pPr>
            <a:lvl6pPr marL="2282245" indent="0">
              <a:buNone/>
              <a:defRPr sz="1996"/>
            </a:lvl6pPr>
            <a:lvl7pPr marL="2738694" indent="0">
              <a:buNone/>
              <a:defRPr sz="1996"/>
            </a:lvl7pPr>
            <a:lvl8pPr marL="3195143" indent="0">
              <a:buNone/>
              <a:defRPr sz="1996"/>
            </a:lvl8pPr>
            <a:lvl9pPr marL="3651591" indent="0">
              <a:buNone/>
              <a:defRPr sz="19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598"/>
            </a:lvl1pPr>
            <a:lvl2pPr marL="456449" indent="0">
              <a:buNone/>
              <a:defRPr sz="1398"/>
            </a:lvl2pPr>
            <a:lvl3pPr marL="912898" indent="0">
              <a:buNone/>
              <a:defRPr sz="1198"/>
            </a:lvl3pPr>
            <a:lvl4pPr marL="1369347" indent="0">
              <a:buNone/>
              <a:defRPr sz="998"/>
            </a:lvl4pPr>
            <a:lvl5pPr marL="1825796" indent="0">
              <a:buNone/>
              <a:defRPr sz="998"/>
            </a:lvl5pPr>
            <a:lvl6pPr marL="2282245" indent="0">
              <a:buNone/>
              <a:defRPr sz="998"/>
            </a:lvl6pPr>
            <a:lvl7pPr marL="2738694" indent="0">
              <a:buNone/>
              <a:defRPr sz="998"/>
            </a:lvl7pPr>
            <a:lvl8pPr marL="3195143" indent="0">
              <a:buNone/>
              <a:defRPr sz="998"/>
            </a:lvl8pPr>
            <a:lvl9pPr marL="3651591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41485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9590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1" y="365126"/>
            <a:ext cx="209798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6" y="365126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3/23/2021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76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6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09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96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65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9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2" y="6356354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5875"/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5875"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4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587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4" y="6356354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5875"/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5875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15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3629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07" indent="-228407" algn="l" defTabSz="913629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222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036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851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5665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2478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69294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108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2923" indent="-228407" algn="l" defTabSz="9136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814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629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443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258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072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0887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7701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4515" algn="l" defTabSz="91362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9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4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4" y="6356354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4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91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3668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7" indent="-228417" algn="l" defTabSz="913668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251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086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920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5754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2588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69423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257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3091" indent="-228417" algn="l" defTabSz="91366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834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668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503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337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171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005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7840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4674" algn="l" defTabSz="91366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9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2" y="6356356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5198"/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5198"/>
              <a:t>3/23/2021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5" y="6356356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5198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4" y="6356356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5198"/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5198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36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2898" rtl="0" eaLnBrk="1" latinLnBrk="0" hangingPunct="1">
        <a:lnSpc>
          <a:spcPct val="90000"/>
        </a:lnSpc>
        <a:spcBef>
          <a:spcPct val="0"/>
        </a:spcBef>
        <a:buNone/>
        <a:defRPr sz="43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224" indent="-228224" algn="l" defTabSz="912898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6" kern="1200">
          <a:solidFill>
            <a:schemeClr val="tx1"/>
          </a:solidFill>
          <a:latin typeface="+mn-lt"/>
          <a:ea typeface="+mn-ea"/>
          <a:cs typeface="+mn-cs"/>
        </a:defRPr>
      </a:lvl1pPr>
      <a:lvl2pPr marL="684674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6" kern="1200">
          <a:solidFill>
            <a:schemeClr val="tx1"/>
          </a:solidFill>
          <a:latin typeface="+mn-lt"/>
          <a:ea typeface="+mn-ea"/>
          <a:cs typeface="+mn-cs"/>
        </a:defRPr>
      </a:lvl2pPr>
      <a:lvl3pPr marL="1141122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3pPr>
      <a:lvl4pPr marL="1597572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4020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0468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6919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3367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79817" indent="-228224" algn="l" defTabSz="91289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449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2898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69347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5796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2245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38694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5143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1591" algn="l" defTabSz="91289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sorted(set(_)-{'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','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8" name="Trapezoid 7"/>
          <p:cNvSpPr/>
          <p:nvPr/>
        </p:nvSpPr>
        <p:spPr bwMode="auto">
          <a:xfrm rot="2700000" flipH="1">
            <a:off x="7351365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sz="300" spc="-200" dirty="0">
              <a:solidFill>
                <a:prstClr val="black"/>
              </a:solidFill>
              <a:latin typeface="Arial" charset="0"/>
              <a:ea typeface="新細明體" charset="-120"/>
            </a:endParaRPr>
          </a:p>
          <a:p>
            <a:pPr algn="ctr" fontAlgn="base">
              <a:lnSpc>
                <a:spcPct val="70000"/>
              </a:lnSpc>
              <a:spcAft>
                <a:spcPct val="0"/>
              </a:spcAft>
            </a:pPr>
            <a:r>
              <a:rPr kumimoji="1" lang="en-US" sz="2800" spc="-2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L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e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ct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u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re</a:t>
            </a:r>
            <a:r>
              <a:rPr kumimoji="1" lang="en-US" sz="12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 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3</a:t>
            </a:r>
            <a:b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Slide 128</a:t>
            </a:r>
          </a:p>
        </p:txBody>
      </p:sp>
    </p:spTree>
    <p:extLst>
      <p:ext uri="{BB962C8B-B14F-4D97-AF65-F5344CB8AC3E}">
        <p14:creationId xmlns:p14="http://schemas.microsoft.com/office/powerpoint/2010/main" val="143541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31494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86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85501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06962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3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51183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3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or a code object as returned by compile().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03145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3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rgbClr val="EAEAF8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rgbClr val="EAEAF8"/>
                </a:solidFill>
                <a:latin typeface="Consolas" panose="020B0609020204030204" pitchFamily="49" charset="0"/>
              </a:rPr>
              <a:t>,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18784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3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rgbClr val="EAEAF8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rgbClr val="EAEAF8"/>
                </a:solidFill>
                <a:latin typeface="Consolas" panose="020B0609020204030204" pitchFamily="49" charset="0"/>
              </a:rPr>
              <a:t>,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and locals.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17787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3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rgbClr val="EAEAF8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rgbClr val="EAEAF8"/>
                </a:solidFill>
                <a:latin typeface="Consolas" panose="020B0609020204030204" pitchFamily="49" charset="0"/>
              </a:rPr>
              <a:t>,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is given, locals defaults to it.</a:t>
            </a:r>
            <a:endParaRPr lang="en-US" altLang="zh-TW" sz="2600" kern="0" spc="-96" dirty="0">
              <a:solidFill>
                <a:prstClr val="white">
                  <a:lumMod val="75000"/>
                </a:prst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04008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3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rgbClr val="EAEAF8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rgbClr val="EAEAF8"/>
                </a:solidFill>
                <a:latin typeface="Consolas" panose="020B0609020204030204" pitchFamily="49" charset="0"/>
              </a:rPr>
              <a:t>,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1498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72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3688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 lvl="0"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endParaRPr lang="en-US" altLang="zh-TW" sz="2600" b="1" kern="0" spc="-96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endParaRPr lang="en-US" altLang="zh-TW" sz="2400" kern="0" spc="-19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rgbClr val="2D2DB9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92894" y="3803904"/>
            <a:ext cx="91440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 the context of </a:t>
            </a:r>
            <a:r>
              <a:rPr lang="en-US" altLang="zh-TW" sz="2400" kern="0" spc="-19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rgbClr val="2D2DB9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88106" y="5334000"/>
            <a:ext cx="9729788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609599"/>
            <a:ext cx="9729788" cy="3200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4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76932" y="0"/>
            <a:ext cx="918602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"print('hello');print('world')"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TW" sz="2087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#not an expression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"&lt;string&gt;", line 1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  print('hello');print('world')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                ^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SyntaxError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: invalid syntax</a:t>
            </a: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087" b="1" kern="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"print('hello')"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087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#The print expression returns None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hello</a:t>
            </a: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endParaRPr lang="en-US" altLang="zh-TW" sz="2087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76933" y="0"/>
            <a:ext cx="64940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9399134" y="17930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23776" y="2174249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9397212" y="1702015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26338" y="1696892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2894" y="3810000"/>
            <a:ext cx="9144000" cy="1524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 the context of </a:t>
            </a:r>
            <a:r>
              <a:rPr lang="en-US" altLang="zh-TW" sz="2400" kern="0" spc="-19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rgbClr val="2D2DB9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8293894" y="304800"/>
            <a:ext cx="0" cy="4648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6541294" y="1935430"/>
            <a:ext cx="1447800" cy="301757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5285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76932" y="0"/>
            <a:ext cx="918602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"print('hello');print('world')"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087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 #not an expression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"&lt;string&gt;", line 1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  print('hello');print('world')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                ^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SyntaxError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: invalid syntax</a:t>
            </a: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087" b="1" kern="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"print('hello')"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087" kern="0" spc="-96" dirty="0">
                <a:solidFill>
                  <a:srgbClr val="FF0000"/>
                </a:solidFill>
                <a:latin typeface="Lucida Console" panose="020B0609040504020204" pitchFamily="49" charset="0"/>
                <a:cs typeface="+mn-cs"/>
              </a:rPr>
              <a:t>#The print expression returns None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hello</a:t>
            </a: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exec(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"print('hello')"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TW" sz="2087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#This function is similar to </a:t>
            </a:r>
            <a:r>
              <a:rPr lang="en-US" altLang="zh-TW" sz="2087" b="1" kern="0" spc="-96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endParaRPr lang="en-US" altLang="zh-TW" sz="2087" b="1" kern="0" spc="-96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hello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exec(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"print('hello');print('world')"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087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#code</a:t>
            </a:r>
            <a:r>
              <a:rPr lang="en-US" altLang="zh-TW" sz="1800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1800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OK</a:t>
            </a:r>
            <a:r>
              <a:rPr lang="en-US" altLang="zh-TW" sz="1800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1800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exec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hello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world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1+eval(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"print(4+4)"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087" b="1" kern="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#The 8 prints, but evaluates to None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8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160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16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unsupported</a:t>
            </a:r>
            <a:r>
              <a:rPr lang="en-US" altLang="zh-TW" sz="18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operand</a:t>
            </a:r>
            <a:r>
              <a:rPr lang="en-US" altLang="zh-TW" sz="18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type(s)</a:t>
            </a:r>
            <a:r>
              <a:rPr lang="en-US" altLang="zh-TW" sz="18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16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+:</a:t>
            </a:r>
            <a:r>
              <a:rPr lang="en-US" altLang="zh-TW" sz="16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087" b="1" kern="0" spc="-160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4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14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087" b="1" kern="0" spc="-16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NoneType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1+eval(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"4+4"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TW" sz="2087" b="1" kern="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#This is how </a:t>
            </a:r>
            <a:r>
              <a:rPr lang="en-US" altLang="zh-TW" sz="2087" b="1" kern="0" spc="-5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087" b="1" kern="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 is meant to be used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9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exec(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"4+4"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   </a:t>
            </a:r>
            <a:r>
              <a:rPr lang="en-US" altLang="zh-TW" sz="2087" b="1" kern="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#Not how exec is meant to be used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1+exec(</a:t>
            </a:r>
            <a:r>
              <a:rPr lang="en-US" altLang="zh-TW" sz="2087" b="1" kern="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"4+4"</a:t>
            </a:r>
            <a:r>
              <a:rPr lang="en-US" altLang="zh-TW" sz="2087" b="1" kern="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TW" sz="2087" b="1" kern="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#exec doesn’t return an expression 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087" b="1" kern="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087" b="1" kern="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160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16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unsupported</a:t>
            </a:r>
            <a:r>
              <a:rPr lang="en-US" altLang="zh-TW" sz="18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operand</a:t>
            </a:r>
            <a:r>
              <a:rPr lang="en-US" altLang="zh-TW" sz="18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type(s)</a:t>
            </a:r>
            <a:r>
              <a:rPr lang="en-US" altLang="zh-TW" sz="1800" b="1" kern="0" spc="-160" dirty="0">
                <a:solidFill>
                  <a:srgbClr val="FFB7B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1600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+:</a:t>
            </a:r>
            <a:r>
              <a:rPr lang="en-US" altLang="zh-TW" sz="1600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087" b="1" kern="0" spc="-16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087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400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1400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87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087" b="1" kern="0" spc="-16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NoneType</a:t>
            </a:r>
            <a:r>
              <a:rPr lang="en-US" altLang="zh-TW" sz="2087" b="1" kern="0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76933" y="0"/>
            <a:ext cx="64940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160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087" b="1" kern="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087" b="1" kern="0" spc="-96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087" b="1" kern="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23776" y="5577841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26338" y="2713105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24415" y="3520441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23776" y="4818889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23776" y="5324062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26338" y="6619462"/>
            <a:ext cx="1903" cy="2385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 bwMode="auto">
          <a:xfrm flipH="1">
            <a:off x="8674895" y="3771014"/>
            <a:ext cx="357963" cy="80098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90822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11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11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11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down to an integer. If x is a string, you can give the base.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>
                          <a:solidFill>
                            <a:schemeClr val="bg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>
                          <a:solidFill>
                            <a:schemeClr val="bg1"/>
                          </a:solidFill>
                          <a:latin typeface="Verdana"/>
                        </a:rPr>
                        <a:t>bool(x)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value (True or False).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(c)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round(n[,d])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>
                          <a:solidFill>
                            <a:schemeClr val="bg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>
                          <a:solidFill>
                            <a:schemeClr val="bg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tuple.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list that is sorted.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set.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“nice looking”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a string</a:t>
                      </a:r>
                      <a:r>
                        <a:rPr lang="en-US" sz="1800" b="0" i="0" u="none" strike="noStrike" baseline="0" dirty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hexadecimal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octal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binary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6957" y="1714189"/>
            <a:ext cx="7315875" cy="1740527"/>
          </a:xfrm>
          <a:prstGeom prst="rect">
            <a:avLst/>
          </a:prstGeom>
          <a:solidFill>
            <a:srgbClr val="86A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930" dirty="0">
                <a:solidFill>
                  <a:prstClr val="black"/>
                </a:solidFill>
              </a:rPr>
              <a:t>These return strings</a:t>
            </a:r>
            <a:endParaRPr lang="zh-TW" altLang="en-US" sz="4930" dirty="0">
              <a:solidFill>
                <a:prstClr val="black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51480" y="1075945"/>
            <a:ext cx="9299714" cy="3343655"/>
            <a:chOff x="330199" y="2729468"/>
            <a:chExt cx="9954230" cy="4698747"/>
          </a:xfrm>
        </p:grpSpPr>
        <p:sp>
          <p:nvSpPr>
            <p:cNvPr id="14" name="Rectangle 13"/>
            <p:cNvSpPr/>
            <p:nvPr/>
          </p:nvSpPr>
          <p:spPr>
            <a:xfrm>
              <a:off x="406917" y="2729468"/>
              <a:ext cx="9701765" cy="46987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4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0199" y="2843030"/>
              <a:ext cx="5785998" cy="45642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3.14159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no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te</a:t>
              </a: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</a:t>
              </a:r>
              <a:r>
                <a:rPr lang="en-US" altLang="zh-TW" sz="2191" spc="-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he</a:t>
              </a:r>
              <a:r>
                <a:rPr lang="en-US" altLang="zh-TW" sz="1643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quote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s: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'3.14159'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hex(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hexadecimal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'0x265e'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oct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 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octal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'0o23136'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bin(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 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binary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'0b10011001011110'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chr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'♞'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1500" y="2843030"/>
              <a:ext cx="5902929" cy="45642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repr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usually acts like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str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()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ascii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274" dirty="0">
                  <a:solidFill>
                    <a:srgbClr val="FFAFAF"/>
                  </a:solidFill>
                </a:rPr>
                <a:t>♞</a:t>
              </a:r>
              <a:r>
                <a:rPr lang="en-US" altLang="zh-TW" sz="2191" spc="-274" dirty="0">
                  <a:solidFill>
                    <a:prstClr val="black"/>
                  </a:solidFill>
                </a:rPr>
                <a:t>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is 265E in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unicode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pl-PL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dirty="0">
                  <a:solidFill>
                    <a:srgbClr val="006600"/>
                  </a:solidFill>
                </a:rPr>
                <a:t>@</a:t>
              </a:r>
              <a:r>
                <a:rPr lang="pl-PL" altLang="zh-TW" sz="2191" dirty="0">
                  <a:solidFill>
                    <a:srgbClr val="006600"/>
                  </a:solidFill>
                </a:rPr>
                <a:t>\\u265e'}</a:t>
              </a: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"#&lt;10s"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right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"#^10s"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11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center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pads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a</a:t>
              </a:r>
              <a:r>
                <a:rPr lang="en-US" altLang="zh-TW" sz="10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"#&gt;10s"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left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"&gt;10s"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default pad is space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b="1" dirty="0">
                  <a:solidFill>
                    <a:prstClr val="white"/>
                  </a:solidFill>
                </a:rPr>
                <a:t>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</p:txBody>
        </p:sp>
      </p:grpSp>
      <p:sp>
        <p:nvSpPr>
          <p:cNvPr id="9" name="Trapezoid 8"/>
          <p:cNvSpPr/>
          <p:nvPr/>
        </p:nvSpPr>
        <p:spPr bwMode="auto">
          <a:xfrm rot="2700000" flipH="1">
            <a:off x="7351365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sz="300" spc="-200" dirty="0">
              <a:solidFill>
                <a:prstClr val="black"/>
              </a:solidFill>
              <a:latin typeface="Arial" charset="0"/>
              <a:ea typeface="新細明體" charset="-120"/>
            </a:endParaRPr>
          </a:p>
          <a:p>
            <a:pPr algn="ctr" fontAlgn="base">
              <a:lnSpc>
                <a:spcPct val="70000"/>
              </a:lnSpc>
              <a:spcAft>
                <a:spcPct val="0"/>
              </a:spcAft>
            </a:pPr>
            <a:r>
              <a:rPr kumimoji="1" lang="en-US" sz="2800" spc="-2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L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e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ct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u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re</a:t>
            </a:r>
            <a:r>
              <a:rPr kumimoji="1" lang="en-US" sz="12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 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3</a:t>
            </a:r>
            <a:b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Slide 69</a:t>
            </a:r>
          </a:p>
        </p:txBody>
      </p:sp>
    </p:spTree>
    <p:extLst>
      <p:ext uri="{BB962C8B-B14F-4D97-AF65-F5344CB8AC3E}">
        <p14:creationId xmlns:p14="http://schemas.microsoft.com/office/powerpoint/2010/main" val="1109976755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0508918"/>
              </p:ext>
            </p:extLst>
          </p:nvPr>
        </p:nvGraphicFramePr>
        <p:xfrm>
          <a:off x="235155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down to an integer. If x is a string, you can give the base.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>
                          <a:solidFill>
                            <a:schemeClr val="bg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>
                          <a:solidFill>
                            <a:schemeClr val="bg1"/>
                          </a:solidFill>
                          <a:latin typeface="Verdana"/>
                        </a:rPr>
                        <a:t>bool(x)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value (True or False).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(c)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round(n[,d])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>
                          <a:solidFill>
                            <a:schemeClr val="bg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>
                          <a:solidFill>
                            <a:schemeClr val="bg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tuple.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list that is sorted.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set.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9FE1BD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>
                          <a:solidFill>
                            <a:srgbClr val="9FE1BD"/>
                          </a:solidFill>
                          <a:latin typeface="Verdana"/>
                        </a:rPr>
                        <a:t>(k1=v1,…)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9FE1BD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>
                          <a:solidFill>
                            <a:srgbClr val="9FE1BD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>
                          <a:solidFill>
                            <a:srgbClr val="9FE1BD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>
                          <a:solidFill>
                            <a:srgbClr val="9FE1BD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>
                          <a:solidFill>
                            <a:srgbClr val="9FE1BD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 x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 to a “nice looking”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a string</a:t>
                      </a:r>
                      <a:r>
                        <a:rPr lang="en-US" sz="1800" b="0" i="0" u="none" strike="noStrike" baseline="0" dirty="0">
                          <a:solidFill>
                            <a:schemeClr val="tx1"/>
                          </a:solidFill>
                          <a:latin typeface="Verdana"/>
                        </a:rPr>
                        <a:t> holding </a:t>
                      </a:r>
                      <a:r>
                        <a:rPr lang="en-US" sz="18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what</a:t>
                      </a:r>
                      <a:r>
                        <a:rPr lang="en-US" sz="16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you</a:t>
                      </a:r>
                      <a:r>
                        <a:rPr lang="en-US" sz="16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would</a:t>
                      </a:r>
                      <a:r>
                        <a:rPr lang="en-US" sz="16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type</a:t>
                      </a:r>
                      <a:r>
                        <a:rPr lang="en-US" sz="16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6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create</a:t>
                      </a:r>
                      <a:r>
                        <a:rPr lang="en-US" sz="16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i="0" u="none" strike="noStrike" spc="-70" baseline="0" dirty="0">
                          <a:solidFill>
                            <a:srgbClr val="FFC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spc="-70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>
                          <a:solidFill>
                            <a:srgbClr val="668EC8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>
                          <a:solidFill>
                            <a:srgbClr val="668EC8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>
                          <a:solidFill>
                            <a:srgbClr val="668EC8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>
                          <a:solidFill>
                            <a:srgbClr val="668EC8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>
                          <a:solidFill>
                            <a:srgbClr val="668EC8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>
                          <a:solidFill>
                            <a:srgbClr val="668EC8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rgbClr val="668EC8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Adds padding to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Converts an integer to a hexadecimal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Converts an integer to an octal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>
                          <a:solidFill>
                            <a:srgbClr val="668EC8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668EC8"/>
                          </a:solidFill>
                          <a:latin typeface="Verdana"/>
                        </a:rPr>
                        <a:t>Converts an integer to a binary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56459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6957" y="1714189"/>
            <a:ext cx="7315875" cy="1740527"/>
          </a:xfrm>
          <a:prstGeom prst="rect">
            <a:avLst/>
          </a:prstGeom>
          <a:solidFill>
            <a:srgbClr val="86A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930" dirty="0">
                <a:solidFill>
                  <a:prstClr val="black"/>
                </a:solidFill>
              </a:rPr>
              <a:t>These return strings</a:t>
            </a:r>
            <a:endParaRPr lang="zh-TW" altLang="en-US" sz="4930" dirty="0">
              <a:solidFill>
                <a:prstClr val="black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51480" y="1075945"/>
            <a:ext cx="9299714" cy="3343655"/>
            <a:chOff x="330199" y="2729468"/>
            <a:chExt cx="9954230" cy="4698747"/>
          </a:xfrm>
        </p:grpSpPr>
        <p:sp>
          <p:nvSpPr>
            <p:cNvPr id="14" name="Rectangle 13"/>
            <p:cNvSpPr/>
            <p:nvPr/>
          </p:nvSpPr>
          <p:spPr>
            <a:xfrm>
              <a:off x="406917" y="2729468"/>
              <a:ext cx="9701765" cy="46987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4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0199" y="2843030"/>
              <a:ext cx="5785998" cy="45642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3.14159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no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te</a:t>
              </a: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</a:t>
              </a:r>
              <a:r>
                <a:rPr lang="en-US" altLang="zh-TW" sz="2191" spc="-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he</a:t>
              </a:r>
              <a:r>
                <a:rPr lang="en-US" altLang="zh-TW" sz="1643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quote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s: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'3.14159'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hex(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hexadecimal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'0x265e'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oct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 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octal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'0o23136'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bin(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 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binary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'0b10011001011110'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chr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'♞'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1500" y="2843030"/>
              <a:ext cx="5902929" cy="45642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repr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usually acts like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str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()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ascii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274" dirty="0">
                  <a:solidFill>
                    <a:srgbClr val="FFAFAF"/>
                  </a:solidFill>
                </a:rPr>
                <a:t>♞</a:t>
              </a:r>
              <a:r>
                <a:rPr lang="en-US" altLang="zh-TW" sz="2191" spc="-274" dirty="0">
                  <a:solidFill>
                    <a:prstClr val="black"/>
                  </a:solidFill>
                </a:rPr>
                <a:t>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is 265E in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unicode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pl-PL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dirty="0">
                  <a:solidFill>
                    <a:srgbClr val="006600"/>
                  </a:solidFill>
                </a:rPr>
                <a:t>@</a:t>
              </a:r>
              <a:r>
                <a:rPr lang="pl-PL" altLang="zh-TW" sz="2191" dirty="0">
                  <a:solidFill>
                    <a:srgbClr val="006600"/>
                  </a:solidFill>
                </a:rPr>
                <a:t>\\u265e'}</a:t>
              </a: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"#&lt;10s"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right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"#^10s"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11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center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pads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a</a:t>
              </a:r>
              <a:r>
                <a:rPr lang="en-US" altLang="zh-TW" sz="10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"#&gt;10s"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left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"&gt;10s"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default pad is space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b="1" dirty="0">
                  <a:solidFill>
                    <a:prstClr val="white"/>
                  </a:solidFill>
                </a:rPr>
                <a:t>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4026694" y="1700784"/>
            <a:ext cx="5257800" cy="2667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69094" y="1143000"/>
            <a:ext cx="3581400" cy="32004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apezoid 8"/>
          <p:cNvSpPr/>
          <p:nvPr/>
        </p:nvSpPr>
        <p:spPr bwMode="auto">
          <a:xfrm rot="2700000" flipH="1">
            <a:off x="7351365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sz="300" spc="-200" dirty="0">
              <a:solidFill>
                <a:prstClr val="black"/>
              </a:solidFill>
              <a:latin typeface="Arial" charset="0"/>
              <a:ea typeface="新細明體" charset="-120"/>
            </a:endParaRPr>
          </a:p>
          <a:p>
            <a:pPr algn="ctr" fontAlgn="base">
              <a:lnSpc>
                <a:spcPct val="70000"/>
              </a:lnSpc>
              <a:spcAft>
                <a:spcPct val="0"/>
              </a:spcAft>
            </a:pPr>
            <a:r>
              <a:rPr kumimoji="1" lang="en-US" sz="2800" spc="-2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L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e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ct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u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re</a:t>
            </a:r>
            <a:r>
              <a:rPr kumimoji="1" lang="en-US" sz="12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 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3</a:t>
            </a:r>
            <a:b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Slide 69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2502694" y="3048000"/>
            <a:ext cx="4724400" cy="1143000"/>
          </a:xfrm>
          <a:prstGeom prst="wedgeRoundRectCallout">
            <a:avLst>
              <a:gd name="adj1" fmla="val 53541"/>
              <a:gd name="adj2" fmla="val 104747"/>
              <a:gd name="adj3" fmla="val 1666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See what </a:t>
            </a:r>
            <a:r>
              <a:rPr lang="en-US" sz="3200" dirty="0" err="1">
                <a:solidFill>
                  <a:srgbClr val="FFC000"/>
                </a:solidFill>
              </a:rPr>
              <a:t>repr</a:t>
            </a:r>
            <a:r>
              <a:rPr lang="en-US" sz="3200" dirty="0">
                <a:solidFill>
                  <a:srgbClr val="FFC000"/>
                </a:solidFill>
              </a:rPr>
              <a:t>() does?</a:t>
            </a:r>
          </a:p>
          <a:p>
            <a:pPr algn="ctr"/>
            <a:r>
              <a:rPr lang="en-US" sz="3200" dirty="0">
                <a:solidFill>
                  <a:srgbClr val="FFC000"/>
                </a:solidFill>
              </a:rPr>
              <a:t>It is the opposite of </a:t>
            </a:r>
            <a:r>
              <a:rPr lang="en-US" sz="3200" dirty="0" err="1">
                <a:solidFill>
                  <a:srgbClr val="FFC000"/>
                </a:solidFill>
              </a:rPr>
              <a:t>eval</a:t>
            </a:r>
            <a:r>
              <a:rPr lang="en-US" sz="3200" dirty="0">
                <a:solidFill>
                  <a:srgbClr val="FFC000"/>
                </a:solidFill>
              </a:rPr>
              <a:t>().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02694" y="4267200"/>
            <a:ext cx="4724400" cy="2438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US" sz="2400" dirty="0">
              <a:solidFill>
                <a:srgbClr val="FFFF00"/>
              </a:solidFill>
              <a:latin typeface="Lucida Fax" panose="020606020505050202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2694" y="4267200"/>
            <a:ext cx="4724400" cy="24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2000"/>
              </a:lnSpc>
            </a:pPr>
            <a:r>
              <a:rPr lang="en-US" sz="2400" dirty="0">
                <a:solidFill>
                  <a:schemeClr val="tx1"/>
                </a:solidFill>
                <a:latin typeface="Lucida Fax" panose="02060602050505020204" pitchFamily="18" charset="0"/>
              </a:rPr>
              <a:t>&gt;&gt;&gt;</a:t>
            </a:r>
            <a:r>
              <a:rPr lang="en-US" sz="2400" dirty="0">
                <a:latin typeface="Lucida Fax" panose="02060602050505020204" pitchFamily="18" charset="0"/>
              </a:rPr>
              <a:t> s=</a:t>
            </a:r>
            <a:r>
              <a:rPr lang="en-US" sz="2400" dirty="0" err="1">
                <a:solidFill>
                  <a:srgbClr val="FFC000"/>
                </a:solidFill>
                <a:latin typeface="Lucida Fax" panose="02060602050505020204" pitchFamily="18" charset="0"/>
              </a:rPr>
              <a:t>rep</a:t>
            </a:r>
            <a:r>
              <a:rPr lang="en-US" sz="2400" spc="200" dirty="0" err="1">
                <a:solidFill>
                  <a:srgbClr val="FFC000"/>
                </a:solidFill>
                <a:latin typeface="Lucida Fax" panose="02060602050505020204" pitchFamily="18" charset="0"/>
              </a:rPr>
              <a:t>r</a:t>
            </a:r>
            <a:r>
              <a:rPr lang="en-US" sz="2400" spc="200" dirty="0">
                <a:solidFill>
                  <a:srgbClr val="FFC000"/>
                </a:solidFill>
                <a:latin typeface="Lucida Fax" panose="02060602050505020204" pitchFamily="18" charset="0"/>
              </a:rPr>
              <a:t>(</a:t>
            </a:r>
            <a:r>
              <a:rPr lang="en-US" sz="2400" spc="200" dirty="0">
                <a:solidFill>
                  <a:srgbClr val="FFFF00"/>
                </a:solidFill>
                <a:latin typeface="Lucida Fax" panose="02060602050505020204" pitchFamily="18" charset="0"/>
              </a:rPr>
              <a:t>{</a:t>
            </a:r>
            <a:r>
              <a:rPr lang="en-US" sz="2400" spc="50" dirty="0">
                <a:solidFill>
                  <a:srgbClr val="FFFF00"/>
                </a:solidFill>
                <a:latin typeface="Lucida Fax" panose="02060602050505020204" pitchFamily="18" charset="0"/>
              </a:rPr>
              <a:t>1</a:t>
            </a:r>
            <a:r>
              <a:rPr lang="en-US" sz="2400" spc="200" dirty="0">
                <a:solidFill>
                  <a:srgbClr val="FFFF00"/>
                </a:solidFill>
                <a:latin typeface="Lucida Fax" panose="02060602050505020204" pitchFamily="18" charset="0"/>
              </a:rPr>
              <a:t>,</a:t>
            </a:r>
            <a:r>
              <a:rPr lang="en-US" sz="2400" spc="50" dirty="0">
                <a:solidFill>
                  <a:srgbClr val="FFFF00"/>
                </a:solidFill>
                <a:latin typeface="Lucida Fax" panose="02060602050505020204" pitchFamily="18" charset="0"/>
              </a:rPr>
              <a:t>2</a:t>
            </a:r>
            <a:r>
              <a:rPr lang="en-US" sz="2400" spc="200" dirty="0">
                <a:solidFill>
                  <a:srgbClr val="FFFF00"/>
                </a:solidFill>
                <a:latin typeface="Lucida Fax" panose="02060602050505020204" pitchFamily="18" charset="0"/>
              </a:rPr>
              <a:t>,(1,),'@♞</a:t>
            </a:r>
            <a:r>
              <a:rPr lang="en-US" sz="2400" spc="300" dirty="0">
                <a:solidFill>
                  <a:srgbClr val="FFFF00"/>
                </a:solidFill>
                <a:latin typeface="Lucida Fax" panose="02060602050505020204" pitchFamily="18" charset="0"/>
              </a:rPr>
              <a:t>'}</a:t>
            </a:r>
            <a:r>
              <a:rPr lang="en-US" sz="2400" spc="200" dirty="0">
                <a:solidFill>
                  <a:srgbClr val="FFC000"/>
                </a:solidFill>
                <a:latin typeface="Lucida Fax" panose="02060602050505020204" pitchFamily="18" charset="0"/>
              </a:rPr>
              <a:t>)</a:t>
            </a:r>
          </a:p>
          <a:p>
            <a:pPr>
              <a:lnSpc>
                <a:spcPct val="82000"/>
              </a:lnSpc>
            </a:pPr>
            <a:r>
              <a:rPr lang="en-US" sz="2400" dirty="0">
                <a:solidFill>
                  <a:schemeClr val="tx1"/>
                </a:solidFill>
                <a:latin typeface="Lucida Fax" panose="02060602050505020204" pitchFamily="18" charset="0"/>
              </a:rPr>
              <a:t>&gt;&gt;&gt;</a:t>
            </a:r>
            <a:r>
              <a:rPr lang="en-US" sz="2400" dirty="0">
                <a:latin typeface="Lucida Fax" panose="02060602050505020204" pitchFamily="18" charset="0"/>
              </a:rPr>
              <a:t> s </a:t>
            </a:r>
          </a:p>
          <a:p>
            <a:pPr>
              <a:lnSpc>
                <a:spcPct val="82000"/>
              </a:lnSpc>
            </a:pPr>
            <a:r>
              <a:rPr lang="en-US" sz="2400" spc="200" dirty="0">
                <a:solidFill>
                  <a:srgbClr val="FFFF00"/>
                </a:solidFill>
                <a:latin typeface="Lucida Fax" panose="02060602050505020204" pitchFamily="18" charset="0"/>
              </a:rPr>
              <a:t>"</a:t>
            </a:r>
            <a:r>
              <a:rPr lang="en-US" sz="2400" spc="200" dirty="0">
                <a:latin typeface="Lucida Fax" panose="02060602050505020204" pitchFamily="18" charset="0"/>
              </a:rPr>
              <a:t>{</a:t>
            </a:r>
            <a:r>
              <a:rPr lang="en-US" sz="2400" spc="50" dirty="0">
                <a:latin typeface="Lucida Fax" panose="02060602050505020204" pitchFamily="18" charset="0"/>
              </a:rPr>
              <a:t>1</a:t>
            </a:r>
            <a:r>
              <a:rPr lang="en-US" sz="2400" spc="200" dirty="0">
                <a:latin typeface="Lucida Fax" panose="02060602050505020204" pitchFamily="18" charset="0"/>
              </a:rPr>
              <a:t>,</a:t>
            </a:r>
            <a:r>
              <a:rPr lang="en-US" sz="2400" spc="50" dirty="0">
                <a:latin typeface="Lucida Fax" panose="02060602050505020204" pitchFamily="18" charset="0"/>
              </a:rPr>
              <a:t>2</a:t>
            </a:r>
            <a:r>
              <a:rPr lang="en-US" sz="2400" spc="200" dirty="0">
                <a:latin typeface="Lucida Fax" panose="02060602050505020204" pitchFamily="18" charset="0"/>
              </a:rPr>
              <a:t>,(1,),'@♞</a:t>
            </a:r>
            <a:r>
              <a:rPr lang="en-US" sz="2400" spc="400" dirty="0">
                <a:latin typeface="Lucida Fax" panose="02060602050505020204" pitchFamily="18" charset="0"/>
              </a:rPr>
              <a:t>'}</a:t>
            </a:r>
            <a:r>
              <a:rPr lang="en-US" sz="2400" dirty="0">
                <a:solidFill>
                  <a:srgbClr val="FFFF00"/>
                </a:solidFill>
                <a:latin typeface="Lucida Fax" panose="02060602050505020204" pitchFamily="18" charset="0"/>
              </a:rPr>
              <a:t>"</a:t>
            </a:r>
          </a:p>
          <a:p>
            <a:pPr>
              <a:lnSpc>
                <a:spcPct val="82000"/>
              </a:lnSpc>
            </a:pPr>
            <a:r>
              <a:rPr lang="en-US" sz="2400" dirty="0">
                <a:solidFill>
                  <a:schemeClr val="tx1"/>
                </a:solidFill>
                <a:latin typeface="Lucida Fax" panose="02060602050505020204" pitchFamily="18" charset="0"/>
              </a:rPr>
              <a:t>&gt;&gt;&gt;</a:t>
            </a:r>
            <a:r>
              <a:rPr lang="en-US" sz="2400" dirty="0">
                <a:latin typeface="Lucida Fax" panose="02060602050505020204" pitchFamily="18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Lucida Fax" panose="02060602050505020204" pitchFamily="18" charset="0"/>
              </a:rPr>
              <a:t>eval</a:t>
            </a:r>
            <a:r>
              <a:rPr lang="en-US" sz="2400" dirty="0">
                <a:solidFill>
                  <a:srgbClr val="00B0F0"/>
                </a:solidFill>
                <a:latin typeface="Lucida Fax" panose="02060602050505020204" pitchFamily="18" charset="0"/>
              </a:rPr>
              <a:t>(</a:t>
            </a:r>
            <a:r>
              <a:rPr lang="en-US" sz="2400" dirty="0">
                <a:latin typeface="Lucida Fax" panose="02060602050505020204" pitchFamily="18" charset="0"/>
              </a:rPr>
              <a:t>s</a:t>
            </a:r>
            <a:r>
              <a:rPr lang="en-US" sz="2400" dirty="0">
                <a:solidFill>
                  <a:srgbClr val="00B0F0"/>
                </a:solidFill>
                <a:latin typeface="Lucida Fax" panose="02060602050505020204" pitchFamily="18" charset="0"/>
              </a:rPr>
              <a:t>)</a:t>
            </a:r>
          </a:p>
          <a:p>
            <a:pPr>
              <a:lnSpc>
                <a:spcPct val="82000"/>
              </a:lnSpc>
            </a:pPr>
            <a:r>
              <a:rPr lang="en-US" sz="2400" spc="200" dirty="0">
                <a:solidFill>
                  <a:srgbClr val="FFFF00"/>
                </a:solidFill>
                <a:latin typeface="Lucida Fax" panose="02060602050505020204" pitchFamily="18" charset="0"/>
              </a:rPr>
              <a:t>{</a:t>
            </a:r>
            <a:r>
              <a:rPr lang="en-US" sz="2400" spc="50" dirty="0">
                <a:solidFill>
                  <a:srgbClr val="FFFF00"/>
                </a:solidFill>
                <a:latin typeface="Lucida Fax" panose="02060602050505020204" pitchFamily="18" charset="0"/>
              </a:rPr>
              <a:t>1</a:t>
            </a:r>
            <a:r>
              <a:rPr lang="en-US" sz="2400" spc="200" dirty="0">
                <a:solidFill>
                  <a:srgbClr val="FFFF00"/>
                </a:solidFill>
                <a:latin typeface="Lucida Fax" panose="02060602050505020204" pitchFamily="18" charset="0"/>
              </a:rPr>
              <a:t>,</a:t>
            </a:r>
            <a:r>
              <a:rPr lang="en-US" sz="2400" spc="50" dirty="0">
                <a:solidFill>
                  <a:srgbClr val="FFFF00"/>
                </a:solidFill>
                <a:latin typeface="Lucida Fax" panose="02060602050505020204" pitchFamily="18" charset="0"/>
              </a:rPr>
              <a:t>2</a:t>
            </a:r>
            <a:r>
              <a:rPr lang="en-US" sz="2400" spc="200" dirty="0">
                <a:solidFill>
                  <a:srgbClr val="FFFF00"/>
                </a:solidFill>
                <a:latin typeface="Lucida Fax" panose="02060602050505020204" pitchFamily="18" charset="0"/>
              </a:rPr>
              <a:t>,(1,),'@♞</a:t>
            </a:r>
            <a:r>
              <a:rPr lang="en-US" sz="2400" spc="400" dirty="0">
                <a:solidFill>
                  <a:srgbClr val="FFFF00"/>
                </a:solidFill>
                <a:latin typeface="Lucida Fax" panose="02060602050505020204" pitchFamily="18" charset="0"/>
              </a:rPr>
              <a:t>'}</a:t>
            </a:r>
            <a:endParaRPr lang="en-US" sz="2400" dirty="0">
              <a:solidFill>
                <a:srgbClr val="FFFF00"/>
              </a:solidFill>
              <a:latin typeface="Lucida Fax" panose="02060602050505020204" pitchFamily="18" charset="0"/>
            </a:endParaRPr>
          </a:p>
          <a:p>
            <a:pPr>
              <a:lnSpc>
                <a:spcPct val="82000"/>
              </a:lnSpc>
            </a:pPr>
            <a:r>
              <a:rPr lang="en-US" sz="2400" dirty="0">
                <a:solidFill>
                  <a:schemeClr val="tx1"/>
                </a:solidFill>
                <a:latin typeface="Lucida Fax" panose="02060602050505020204" pitchFamily="18" charset="0"/>
              </a:rPr>
              <a:t>&gt;&gt;&gt;</a:t>
            </a:r>
            <a:r>
              <a:rPr lang="en-US" sz="2400" dirty="0">
                <a:latin typeface="Lucida Fax" panose="02060602050505020204" pitchFamily="18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Lucida Fax" panose="02060602050505020204" pitchFamily="18" charset="0"/>
              </a:rPr>
              <a:t>eval</a:t>
            </a:r>
            <a:r>
              <a:rPr lang="en-US" sz="2400" dirty="0">
                <a:solidFill>
                  <a:srgbClr val="00B0F0"/>
                </a:solidFill>
                <a:latin typeface="Lucida Fax" panose="02060602050505020204" pitchFamily="18" charset="0"/>
              </a:rPr>
              <a:t>(</a:t>
            </a:r>
            <a:r>
              <a:rPr lang="en-US" sz="2400" dirty="0" err="1">
                <a:solidFill>
                  <a:srgbClr val="FFC000"/>
                </a:solidFill>
                <a:latin typeface="Lucida Fax" panose="02060602050505020204" pitchFamily="18" charset="0"/>
              </a:rPr>
              <a:t>repr</a:t>
            </a:r>
            <a:r>
              <a:rPr lang="en-US" sz="2400" dirty="0">
                <a:solidFill>
                  <a:srgbClr val="FFC000"/>
                </a:solidFill>
                <a:latin typeface="Lucida Fax" panose="02060602050505020204" pitchFamily="18" charset="0"/>
              </a:rPr>
              <a:t>(</a:t>
            </a:r>
            <a:r>
              <a:rPr lang="en-US" sz="2400" dirty="0">
                <a:solidFill>
                  <a:srgbClr val="FFFF00"/>
                </a:solidFill>
                <a:latin typeface="Lucida Fax" panose="02060602050505020204" pitchFamily="18" charset="0"/>
              </a:rPr>
              <a:t>X</a:t>
            </a:r>
            <a:r>
              <a:rPr lang="en-US" sz="2400" dirty="0">
                <a:solidFill>
                  <a:srgbClr val="FFC000"/>
                </a:solidFill>
                <a:latin typeface="Lucida Fax" panose="02060602050505020204" pitchFamily="18" charset="0"/>
              </a:rPr>
              <a:t>)</a:t>
            </a:r>
            <a:r>
              <a:rPr lang="en-US" sz="2400" dirty="0">
                <a:solidFill>
                  <a:srgbClr val="00B0F0"/>
                </a:solidFill>
                <a:latin typeface="Lucida Fax" panose="02060602050505020204" pitchFamily="18" charset="0"/>
              </a:rPr>
              <a:t>)</a:t>
            </a:r>
            <a:r>
              <a:rPr lang="en-US" sz="2400" dirty="0">
                <a:latin typeface="Lucida Fax" panose="02060602050505020204" pitchFamily="18" charset="0"/>
              </a:rPr>
              <a:t> == </a:t>
            </a:r>
            <a:r>
              <a:rPr lang="en-US" sz="2400" dirty="0">
                <a:solidFill>
                  <a:srgbClr val="FFFF00"/>
                </a:solidFill>
                <a:latin typeface="Lucida Fax" panose="02060602050505020204" pitchFamily="18" charset="0"/>
              </a:rPr>
              <a:t>X</a:t>
            </a:r>
          </a:p>
          <a:p>
            <a:pPr>
              <a:lnSpc>
                <a:spcPct val="82000"/>
              </a:lnSpc>
            </a:pPr>
            <a:r>
              <a:rPr lang="en-US" sz="2400" dirty="0">
                <a:solidFill>
                  <a:srgbClr val="00CC5C"/>
                </a:solidFill>
                <a:latin typeface="Lucida Fax" panose="02060602050505020204" pitchFamily="18" charset="0"/>
              </a:rPr>
              <a:t>True</a:t>
            </a:r>
          </a:p>
          <a:p>
            <a:pPr>
              <a:lnSpc>
                <a:spcPct val="82000"/>
              </a:lnSpc>
            </a:pPr>
            <a:endParaRPr lang="en-US" dirty="0">
              <a:solidFill>
                <a:srgbClr val="FFFF00"/>
              </a:solidFill>
              <a:latin typeface="Lucida Fax" panose="020606020505050202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502694" y="4267200"/>
            <a:ext cx="762000" cy="24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Fax" panose="02060602050505020204" pitchFamily="18" charset="0"/>
              </a:rPr>
              <a:t>&gt;&gt;&gt;</a:t>
            </a:r>
            <a:endParaRPr lang="en-US" sz="2400" spc="200" dirty="0">
              <a:solidFill>
                <a:schemeClr val="bg1">
                  <a:lumMod val="50000"/>
                </a:schemeClr>
              </a:solidFill>
              <a:latin typeface="Lucida Fax" panose="0206060205050502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Fax" panose="02060602050505020204" pitchFamily="18" charset="0"/>
              </a:rPr>
              <a:t>&gt;&gt;&gt;  </a:t>
            </a:r>
          </a:p>
          <a:p>
            <a:pPr>
              <a:lnSpc>
                <a:spcPct val="80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Lucida Fax" panose="0206060205050502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Fax" panose="02060602050505020204" pitchFamily="18" charset="0"/>
              </a:rPr>
              <a:t>&gt;&gt;&gt; </a:t>
            </a:r>
          </a:p>
          <a:p>
            <a:pPr>
              <a:lnSpc>
                <a:spcPct val="80000"/>
              </a:lnSpc>
            </a:pPr>
            <a:endParaRPr lang="en-US" sz="2400" dirty="0">
              <a:solidFill>
                <a:schemeClr val="bg1">
                  <a:lumMod val="50000"/>
                </a:schemeClr>
              </a:solidFill>
              <a:latin typeface="Lucida Fax" panose="0206060205050502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Fax" panose="02060602050505020204" pitchFamily="18" charset="0"/>
              </a:rPr>
              <a:t>&gt;&gt;&gt;</a:t>
            </a:r>
          </a:p>
          <a:p>
            <a:pPr>
              <a:lnSpc>
                <a:spcPct val="80000"/>
              </a:lnSpc>
            </a:pPr>
            <a:endParaRPr lang="en-US" sz="2400" dirty="0">
              <a:solidFill>
                <a:schemeClr val="bg1">
                  <a:lumMod val="50000"/>
                </a:schemeClr>
              </a:solidFill>
              <a:latin typeface="Lucida Fax" panose="0206060205050502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Fax" panose="02060602050505020204" pitchFamily="18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8454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rgbClr val="EAEAF8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rgbClr val="EAEAF8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rgbClr val="EAEAF8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rgbClr val="EAEAF8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rgbClr val="EAEAF8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rgbClr val="EAEAF8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2894" y="6477000"/>
            <a:ext cx="9144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331494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14984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7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80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9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18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9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74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9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54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5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32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'property', 'quit', 'range',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94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6515" y="6429711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spc="-3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3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69094" y="5257800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69094" y="2667000"/>
            <a:ext cx="9067800" cy="1295400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531894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14984" y="651052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5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69094" y="4876800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69094" y="2286000"/>
            <a:ext cx="9067800" cy="1295400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8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6515" y="640080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spc="-3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3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69094" y="4572000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69094" y="1981200"/>
            <a:ext cx="9067800" cy="1295400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322094" y="64980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14984" y="64836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82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69094" y="1626265"/>
            <a:ext cx="9067800" cy="3860135"/>
            <a:chOff x="369094" y="1981200"/>
            <a:chExt cx="9067800" cy="3860135"/>
          </a:xfrm>
        </p:grpSpPr>
        <p:sp>
          <p:nvSpPr>
            <p:cNvPr id="8" name="Rectangle 7"/>
            <p:cNvSpPr/>
            <p:nvPr/>
          </p:nvSpPr>
          <p:spPr bwMode="auto">
            <a:xfrm>
              <a:off x="369094" y="4572000"/>
              <a:ext cx="9067800" cy="1269335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69094" y="1981200"/>
              <a:ext cx="9067800" cy="1295400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755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69094" y="1295400"/>
            <a:ext cx="9067800" cy="3860135"/>
            <a:chOff x="369094" y="1981200"/>
            <a:chExt cx="9067800" cy="3860135"/>
          </a:xfrm>
        </p:grpSpPr>
        <p:sp>
          <p:nvSpPr>
            <p:cNvPr id="11" name="Rectangle 10"/>
            <p:cNvSpPr/>
            <p:nvPr/>
          </p:nvSpPr>
          <p:spPr bwMode="auto">
            <a:xfrm>
              <a:off x="369094" y="4572000"/>
              <a:ext cx="9067800" cy="1269335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69094" y="1981200"/>
              <a:ext cx="9067800" cy="1295400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72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"/>
    </mc:Choice>
    <mc:Fallback xmlns="">
      <p:transition advTm="3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69094" y="1016665"/>
            <a:ext cx="9067800" cy="3860135"/>
            <a:chOff x="369094" y="1981200"/>
            <a:chExt cx="9067800" cy="3860135"/>
          </a:xfrm>
        </p:grpSpPr>
        <p:sp>
          <p:nvSpPr>
            <p:cNvPr id="11" name="Rectangle 10"/>
            <p:cNvSpPr/>
            <p:nvPr/>
          </p:nvSpPr>
          <p:spPr bwMode="auto">
            <a:xfrm>
              <a:off x="369094" y="4572000"/>
              <a:ext cx="9067800" cy="1269335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69094" y="1981200"/>
              <a:ext cx="9067800" cy="1295400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479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"/>
    </mc:Choice>
    <mc:Fallback xmlns="">
      <p:transition advTm="3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96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__[:134])</a:t>
            </a:r>
            <a:endParaRPr lang="en-US" altLang="zh-TW" sz="2600" kern="0" spc="-130" dirty="0">
              <a:solidFill>
                <a:prstClr val="white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69094" y="685800"/>
            <a:ext cx="9067800" cy="3860135"/>
            <a:chOff x="369094" y="1981200"/>
            <a:chExt cx="9067800" cy="3860135"/>
          </a:xfrm>
        </p:grpSpPr>
        <p:sp>
          <p:nvSpPr>
            <p:cNvPr id="11" name="Rectangle 10"/>
            <p:cNvSpPr/>
            <p:nvPr/>
          </p:nvSpPr>
          <p:spPr bwMode="auto">
            <a:xfrm>
              <a:off x="369094" y="4572000"/>
              <a:ext cx="9067800" cy="1269335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69094" y="1981200"/>
              <a:ext cx="9067800" cy="1295400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282728" y="6410266"/>
            <a:ext cx="655949" cy="49244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200" dirty="0">
              <a:latin typeface="Consolas" panose="020B0609020204030204" pitchFamily="49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14984" y="64836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322094" y="64980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69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bg1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bg1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__[:134])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2971800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69094" y="685800"/>
            <a:ext cx="9067800" cy="990600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8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__[:134])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tx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altLang="zh-TW" sz="2400" kern="0" spc="-19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2616865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69094" y="685800"/>
            <a:ext cx="9067800" cy="685800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84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"/>
    </mc:Choice>
    <mc:Fallback xmlns="">
      <p:transition advTm="3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__[:134])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2312065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69094" y="685800"/>
            <a:ext cx="9067800" cy="304800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80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"/>
    </mc:Choice>
    <mc:Fallback xmlns="">
      <p:transition advTm="3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Evaluate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__[:134])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400" kern="0" spc="-19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1988215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40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"/>
    </mc:Choice>
    <mc:Fallback xmlns="">
      <p:transition advTm="3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82000"/>
              </a:lnSpc>
            </a:pPr>
            <a:r>
              <a:rPr lang="en-US" altLang="zh-TW" sz="2600" kern="0" spc="-9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FF00"/>
                </a:solidFill>
                <a:latin typeface="Consolas" panose="020B0609020204030204" pitchFamily="49" charset="0"/>
              </a:rPr>
              <a:t>Evaluate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</a:t>
            </a:r>
            <a:r>
              <a:rPr lang="en-US" altLang="zh-TW" sz="2400" kern="0" spc="-130" dirty="0">
                <a:solidFill>
                  <a:srgbClr val="FFFF00"/>
                </a:solidFill>
                <a:latin typeface="Consolas" panose="020B0609020204030204" pitchFamily="49" charset="0"/>
              </a:rPr>
              <a:t>a string representing a Python expression</a:t>
            </a:r>
          </a:p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000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chemeClr val="bg1"/>
                </a:solidFill>
                <a:latin typeface="Consolas" panose="020B0609020204030204" pitchFamily="49" charset="0"/>
              </a:rPr>
              <a:t>__[:134])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Execute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400" b="1" kern="0" spc="-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2007265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2894" y="685800"/>
            <a:ext cx="9220200" cy="32004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014984" y="64836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67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21494" y="920504"/>
            <a:ext cx="8991600" cy="593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</a:rPr>
              <a:t> exec(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"a=3;b=2"</a:t>
            </a:r>
            <a:r>
              <a:rPr lang="en-US" sz="260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</a:rPr>
              <a:t> a 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#Do a &amp; b live on beyond the exec()?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</a:rPr>
              <a:t> exec(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"print(</a:t>
            </a:r>
            <a:r>
              <a:rPr lang="en-US" sz="26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a+b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)"</a:t>
            </a:r>
            <a:r>
              <a:rPr lang="en-US" sz="2600" dirty="0">
                <a:latin typeface="Lucida Console" panose="020B0609040504020204" pitchFamily="49" charset="0"/>
              </a:rPr>
              <a:t>)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#Can exec access </a:t>
            </a:r>
            <a:r>
              <a:rPr 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vars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?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5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</a:rPr>
              <a:t> </a:t>
            </a:r>
            <a:r>
              <a:rPr lang="en-US" sz="2600" dirty="0" err="1">
                <a:latin typeface="Lucida Console" panose="020B0609040504020204" pitchFamily="49" charset="0"/>
              </a:rPr>
              <a:t>eval</a:t>
            </a:r>
            <a:r>
              <a:rPr lang="en-US" sz="2600" dirty="0">
                <a:latin typeface="Lucida Console" panose="020B0609040504020204" pitchFamily="49" charset="0"/>
              </a:rPr>
              <a:t>(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sz="26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a+b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"</a:t>
            </a:r>
            <a:r>
              <a:rPr lang="en-US" sz="2600" dirty="0">
                <a:latin typeface="Lucida Console" panose="020B0609040504020204" pitchFamily="49" charset="0"/>
              </a:rPr>
              <a:t>) 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#Can </a:t>
            </a:r>
            <a:r>
              <a:rPr 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 access variables?</a:t>
            </a:r>
            <a:endParaRPr lang="en-US" sz="2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5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</a:rPr>
              <a:t> </a:t>
            </a:r>
            <a:r>
              <a:rPr lang="en-US" sz="2600" dirty="0" err="1">
                <a:latin typeface="Lucida Console" panose="020B0609040504020204" pitchFamily="49" charset="0"/>
              </a:rPr>
              <a:t>eval</a:t>
            </a:r>
            <a:r>
              <a:rPr lang="en-US" sz="2600" dirty="0">
                <a:latin typeface="Lucida Console" panose="020B0609040504020204" pitchFamily="49" charset="0"/>
              </a:rPr>
              <a:t>(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"a=1"</a:t>
            </a:r>
            <a:r>
              <a:rPr lang="en-US" sz="2600" dirty="0">
                <a:latin typeface="Lucida Console" panose="020B0609040504020204" pitchFamily="49" charset="0"/>
              </a:rPr>
              <a:t>) 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 isn’t same as exec: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600" dirty="0">
                <a:solidFill>
                  <a:srgbClr val="FFB7B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2600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stdin</a:t>
            </a:r>
            <a:r>
              <a:rPr lang="en-US" sz="2600" dirty="0">
                <a:solidFill>
                  <a:srgbClr val="FFB7B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"&lt;string&gt;", line 1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FFB7B7"/>
                </a:solidFill>
                <a:latin typeface="Lucida Console" panose="020B0609040504020204" pitchFamily="49" charset="0"/>
              </a:rPr>
              <a:t>    a=1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FFB7B7"/>
                </a:solidFill>
                <a:latin typeface="Lucida Console" panose="020B0609040504020204" pitchFamily="49" charset="0"/>
              </a:rPr>
              <a:t>     ^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600" dirty="0">
                <a:solidFill>
                  <a:srgbClr val="FFB7B7"/>
                </a:solidFill>
                <a:latin typeface="Lucida Console" panose="020B0609040504020204" pitchFamily="49" charset="0"/>
              </a:rPr>
              <a:t>: invalid syntax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</a:rPr>
              <a:t> </a:t>
            </a:r>
            <a:r>
              <a:rPr lang="en-US" sz="2600" dirty="0" err="1">
                <a:latin typeface="Lucida Console" panose="020B0609040504020204" pitchFamily="49" charset="0"/>
              </a:rPr>
              <a:t>eval</a:t>
            </a:r>
            <a:r>
              <a:rPr lang="en-US" sz="2600" dirty="0">
                <a:latin typeface="Lucida Console" panose="020B0609040504020204" pitchFamily="49" charset="0"/>
              </a:rPr>
              <a:t>(</a:t>
            </a:r>
            <a:r>
              <a:rPr lang="en-US" sz="2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"a==1"</a:t>
            </a:r>
            <a:r>
              <a:rPr lang="en-US" sz="2600" dirty="0">
                <a:latin typeface="Lucida Console" panose="020B0609040504020204" pitchFamily="49" charset="0"/>
              </a:rPr>
              <a:t>)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eval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 can do a tes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, thoug</a:t>
            </a:r>
            <a:r>
              <a:rPr lang="en-US" sz="26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endParaRPr lang="en-US" sz="2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21494" y="920504"/>
            <a:ext cx="838200" cy="593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FFB7B7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600" dirty="0">
              <a:solidFill>
                <a:srgbClr val="2D2DB9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3596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True</a:t>
            </a:r>
          </a:p>
          <a:p>
            <a:pPr lvl="0">
              <a:lnSpc>
                <a:spcPct val="82000"/>
              </a:lnSpc>
            </a:pPr>
            <a:r>
              <a:rPr lang="en-US" altLang="zh-TW" sz="2600" kern="0" spc="-96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FF00"/>
                </a:solidFill>
                <a:latin typeface="Consolas" panose="020B0609020204030204" pitchFamily="49" charset="0"/>
              </a:rPr>
              <a:t>Evaluate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</a:t>
            </a:r>
            <a:r>
              <a:rPr lang="en-US" altLang="zh-TW" sz="2400" kern="0" spc="-130" dirty="0">
                <a:solidFill>
                  <a:srgbClr val="FFFF00"/>
                </a:solidFill>
                <a:latin typeface="Consolas" panose="020B0609020204030204" pitchFamily="49" charset="0"/>
              </a:rPr>
              <a:t>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000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prstClr val="white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__[:134])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Execute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400" b="1" kern="0" spc="-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2007265"/>
            <a:ext cx="9067800" cy="12693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2894" y="685800"/>
            <a:ext cx="9220200" cy="32004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014984" y="64836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75838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bg1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prstClr val="white"/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prstClr val="white"/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prstClr val="white"/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prstClr val="white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True</a:t>
            </a:r>
          </a:p>
          <a:p>
            <a:pPr lvl="0">
              <a:lnSpc>
                <a:spcPct val="82000"/>
              </a:lnSpc>
            </a:pPr>
            <a:r>
              <a:rPr lang="en-US" altLang="zh-TW" sz="2600" kern="0" spc="-96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FF00"/>
                </a:solidFill>
                <a:latin typeface="Consolas" panose="020B0609020204030204" pitchFamily="49" charset="0"/>
              </a:rPr>
              <a:t>Evaluate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</a:t>
            </a:r>
            <a:r>
              <a:rPr lang="en-US" altLang="zh-TW" sz="2400" kern="0" spc="-130" dirty="0">
                <a:solidFill>
                  <a:srgbClr val="FFFF00"/>
                </a:solidFill>
                <a:latin typeface="Consolas" panose="020B0609020204030204" pitchFamily="49" charset="0"/>
              </a:rPr>
              <a:t>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000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prstClr val="white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__[:134])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Execute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400" b="1" kern="0" spc="-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2007265"/>
            <a:ext cx="9067800" cy="2787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5588" y="3657600"/>
            <a:ext cx="9220200" cy="318836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014984" y="64836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93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894" y="685800"/>
            <a:ext cx="92202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7000"/>
              </a:lnSpc>
            </a:pPr>
            <a:r>
              <a:rPr lang="en-US" altLang="zh-TW" sz="26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b="1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b="1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Execute the given source in the context of </a:t>
            </a:r>
            <a:r>
              <a:rPr lang="en-US" altLang="zh-TW" sz="2400" kern="0" spc="-19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endParaRPr lang="en-US" altLang="zh-TW" sz="2400" kern="0" spc="-13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bg1"/>
                </a:solidFill>
                <a:latin typeface="Consolas" panose="020B0609020204030204" pitchFamily="49" charset="0"/>
              </a:rPr>
              <a:t>or a code object as returned by compile().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22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obals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must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be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dictionary</a:t>
            </a:r>
            <a:r>
              <a:rPr lang="en-US" altLang="zh-TW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1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oc</a:t>
            </a:r>
            <a:r>
              <a:rPr lang="en-US" altLang="zh-TW" sz="2400" kern="0" spc="-21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al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any</a:t>
            </a:r>
            <a:r>
              <a:rPr lang="en-US" altLang="zh-TW" sz="20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400" kern="0" spc="-18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pi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41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defaulting to the current 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and locals.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If only </a:t>
            </a:r>
            <a:r>
              <a:rPr lang="en-US" altLang="zh-TW" sz="2400" kern="0" spc="-13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is given, locals defaults to it.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.__doc__[125:]==</a:t>
            </a:r>
            <a:r>
              <a:rPr lang="en-US" altLang="zh-TW" sz="2600" b="1" kern="0" spc="-96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srgbClr val="00B05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srgbClr val="00B050"/>
                </a:solidFill>
                <a:latin typeface="Consolas" panose="020B0609020204030204" pitchFamily="49" charset="0"/>
              </a:rPr>
              <a:t>__[134:]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True</a:t>
            </a:r>
          </a:p>
          <a:p>
            <a:pPr lvl="0">
              <a:lnSpc>
                <a:spcPct val="82000"/>
              </a:lnSpc>
            </a:pPr>
            <a:r>
              <a:rPr lang="en-US" altLang="zh-TW" sz="2600" kern="0" spc="-96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b="1" kern="0" spc="-96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.__doc__[:125])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FF00"/>
                </a:solidFill>
                <a:latin typeface="Consolas" panose="020B0609020204030204" pitchFamily="49" charset="0"/>
              </a:rPr>
              <a:t>Evaluate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30" dirty="0">
                <a:solidFill>
                  <a:prstClr val="white"/>
                </a:solidFill>
                <a:latin typeface="Consolas" panose="020B0609020204030204" pitchFamily="49" charset="0"/>
              </a:rPr>
              <a:t>The source may be </a:t>
            </a:r>
            <a:r>
              <a:rPr lang="en-US" altLang="zh-TW" sz="2400" kern="0" spc="-130" dirty="0">
                <a:solidFill>
                  <a:srgbClr val="FFFF00"/>
                </a:solidFill>
                <a:latin typeface="Consolas" panose="020B0609020204030204" pitchFamily="49" charset="0"/>
              </a:rPr>
              <a:t>a string representing a Python expression</a:t>
            </a:r>
          </a:p>
          <a:p>
            <a:pPr lvl="0">
              <a:lnSpc>
                <a:spcPct val="87000"/>
              </a:lnSpc>
            </a:pPr>
            <a:r>
              <a:rPr lang="en-US" altLang="zh-TW" sz="26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96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kern="0" spc="-96" dirty="0" err="1">
                <a:solidFill>
                  <a:srgbClr val="FF0000"/>
                </a:solidFill>
                <a:latin typeface="Consolas" panose="020B0609020204030204" pitchFamily="49" charset="0"/>
              </a:rPr>
              <a:t>exec</a:t>
            </a:r>
            <a:r>
              <a:rPr lang="en-US" altLang="zh-TW" sz="2600" kern="0" spc="-96" dirty="0" err="1">
                <a:solidFill>
                  <a:prstClr val="white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96" dirty="0">
                <a:solidFill>
                  <a:prstClr val="white"/>
                </a:solidFill>
                <a:latin typeface="Consolas" panose="020B0609020204030204" pitchFamily="49" charset="0"/>
              </a:rPr>
              <a:t>__[:134])</a:t>
            </a: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Execute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the given source in the context of </a:t>
            </a:r>
            <a:r>
              <a:rPr lang="en-US" altLang="zh-TW" sz="2400" kern="0" spc="-190" dirty="0" err="1">
                <a:solidFill>
                  <a:prstClr val="white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and locals.</a:t>
            </a:r>
          </a:p>
          <a:p>
            <a:pPr lvl="0">
              <a:lnSpc>
                <a:spcPct val="87000"/>
              </a:lnSpc>
            </a:pPr>
            <a:endParaRPr lang="en-US" altLang="zh-TW" sz="2400" kern="0" spc="-19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87000"/>
              </a:lnSpc>
            </a:pP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source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may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200" kern="0" spc="-19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representing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one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more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Python</a:t>
            </a:r>
            <a:r>
              <a:rPr lang="en-US" altLang="zh-TW" sz="12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90" dirty="0">
                <a:solidFill>
                  <a:srgbClr val="FF0000"/>
                </a:solidFill>
                <a:latin typeface="Consolas" panose="020B0609020204030204" pitchFamily="49" charset="0"/>
              </a:rPr>
              <a:t>statements</a:t>
            </a:r>
          </a:p>
          <a:p>
            <a:pPr>
              <a:lnSpc>
                <a:spcPct val="87000"/>
              </a:lnSpc>
            </a:pPr>
            <a:r>
              <a:rPr lang="en-US" altLang="zh-TW" sz="2400" kern="0" spc="-96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400" b="1" kern="0" spc="-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err="1">
                <a:solidFill>
                  <a:srgbClr val="0070C0"/>
                </a:solidFill>
              </a:rPr>
              <a:t>eval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r>
              <a:rPr lang="en-US" altLang="en-US" sz="4200" spc="-100" dirty="0">
                <a:solidFill>
                  <a:srgbClr val="0070C0"/>
                </a:solidFill>
              </a:rPr>
              <a:t> </a:t>
            </a:r>
            <a:r>
              <a:rPr lang="en-US" altLang="en-US" spc="-100" dirty="0">
                <a:solidFill>
                  <a:srgbClr val="0070C0"/>
                </a:solidFill>
              </a:rPr>
              <a:t>and exec</a:t>
            </a:r>
            <a:r>
              <a:rPr lang="en-US" altLang="en-US" sz="4200" spc="-100" dirty="0">
                <a:solidFill>
                  <a:srgbClr val="0070C0"/>
                </a:solidFill>
                <a:latin typeface="Arial Black" panose="020B0A04020102020204" pitchFamily="34" charset="0"/>
              </a:rPr>
              <a:t>()</a:t>
            </a:r>
            <a:endParaRPr lang="en-US" altLang="en-US" sz="4200" spc="-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69094" y="2007265"/>
            <a:ext cx="9067800" cy="27873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5588" y="3657600"/>
            <a:ext cx="9220200" cy="318836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014984" y="648360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 bwMode="auto">
          <a:xfrm>
            <a:off x="6617495" y="3352800"/>
            <a:ext cx="2303099" cy="489812"/>
          </a:xfrm>
          <a:prstGeom prst="wedgeRoundRectCallout">
            <a:avLst>
              <a:gd name="adj1" fmla="val -88004"/>
              <a:gd name="adj2" fmla="val -26971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zh-TW" sz="2800" kern="0" dirty="0">
                <a:solidFill>
                  <a:srgbClr val="C00000"/>
                </a:solidFill>
                <a:cs typeface="Times New Roman" panose="02020603050405020304" pitchFamily="18" charset="0"/>
              </a:rPr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94572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So far, our </a:t>
            </a:r>
            <a:r>
              <a:rPr lang="en-US" altLang="zh-TW" sz="3200" dirty="0" err="1">
                <a:solidFill>
                  <a:srgbClr val="2D2DB9"/>
                </a:solidFill>
              </a:rPr>
              <a:t>eval</a:t>
            </a:r>
            <a:r>
              <a:rPr lang="en-US" altLang="zh-TW" sz="3200" dirty="0">
                <a:solidFill>
                  <a:srgbClr val="2D2DB9"/>
                </a:solidFill>
              </a:rPr>
              <a:t>() and exec() examples have all had string inputs. </a:t>
            </a:r>
          </a:p>
          <a:p>
            <a:pPr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But there is another kind of argument that they can </a:t>
            </a:r>
            <a:br>
              <a:rPr lang="en-US" altLang="zh-TW" sz="3200" dirty="0">
                <a:solidFill>
                  <a:srgbClr val="2D2DB9"/>
                </a:solidFill>
              </a:rPr>
            </a:br>
            <a:r>
              <a:rPr lang="en-US" altLang="zh-TW" sz="3200" dirty="0">
                <a:solidFill>
                  <a:srgbClr val="2D2DB9"/>
                </a:solidFill>
              </a:rPr>
              <a:t>be given: </a:t>
            </a:r>
            <a:r>
              <a:rPr lang="en-US" altLang="zh-TW" sz="3200" b="1" dirty="0">
                <a:solidFill>
                  <a:srgbClr val="00B0F0"/>
                </a:solidFill>
              </a:rPr>
              <a:t>bytecode</a:t>
            </a:r>
            <a:r>
              <a:rPr lang="en-US" altLang="zh-TW" sz="3200" dirty="0">
                <a:solidFill>
                  <a:srgbClr val="2D2DB9"/>
                </a:solidFill>
              </a:rPr>
              <a:t>.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Using </a:t>
            </a:r>
            <a:r>
              <a:rPr lang="en-GB" altLang="en-US" sz="3478" dirty="0">
                <a:solidFill>
                  <a:srgbClr val="00B0F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B0F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 with exec</a:t>
            </a:r>
            <a:r>
              <a:rPr lang="en-GB" altLang="en-US" sz="32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 /</a:t>
            </a: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3478" dirty="0" err="1">
                <a:solidFill>
                  <a:srgbClr val="0070C0"/>
                </a:solidFill>
                <a:cs typeface="Arial" panose="020B0604020202020204" pitchFamily="34" charset="0"/>
              </a:rPr>
              <a:t>eval</a:t>
            </a:r>
            <a:r>
              <a:rPr lang="en-GB" altLang="en-US" sz="32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dirty="0">
              <a:solidFill>
                <a:srgbClr val="0070C0"/>
              </a:solidFill>
              <a:latin typeface="Cooper Black" panose="0208090404030B020404" pitchFamily="18" charset="0"/>
              <a:cs typeface="Arial" panose="020B0604020202020204" pitchFamily="34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3645695" y="3581400"/>
            <a:ext cx="2303099" cy="489812"/>
          </a:xfrm>
          <a:prstGeom prst="wedgeRoundRectCallout">
            <a:avLst>
              <a:gd name="adj1" fmla="val -62416"/>
              <a:gd name="adj2" fmla="val -25588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zh-TW" sz="2800" kern="0" dirty="0">
                <a:solidFill>
                  <a:srgbClr val="C00000"/>
                </a:solidFill>
                <a:cs typeface="Times New Roman" panose="02020603050405020304" pitchFamily="18" charset="0"/>
              </a:rPr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37740394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92894" y="1106906"/>
            <a:ext cx="9144000" cy="57510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These are </a:t>
            </a:r>
            <a:r>
              <a:rPr lang="en-US" altLang="en-US" sz="4000" dirty="0">
                <a:solidFill>
                  <a:srgbClr val="00B0F0"/>
                </a:solidFill>
              </a:rPr>
              <a:t>byte-compiled</a:t>
            </a:r>
            <a:r>
              <a:rPr lang="en-US" altLang="en-US" sz="4000" dirty="0"/>
              <a:t> versions of modules end in “</a:t>
            </a:r>
            <a:r>
              <a:rPr lang="en-US" altLang="en-US" sz="4000" dirty="0">
                <a:solidFill>
                  <a:srgbClr val="FF0000"/>
                </a:solidFill>
              </a:rPr>
              <a:t>.</a:t>
            </a:r>
            <a:r>
              <a:rPr lang="en-US" altLang="en-US" sz="4000" dirty="0" err="1">
                <a:solidFill>
                  <a:srgbClr val="FF0000"/>
                </a:solidFill>
              </a:rPr>
              <a:t>pyc</a:t>
            </a:r>
            <a:r>
              <a:rPr lang="en-US" altLang="en-US" sz="4000" dirty="0"/>
              <a:t>” instead of “</a:t>
            </a:r>
            <a:r>
              <a:rPr lang="en-US" altLang="en-US" sz="4000" dirty="0">
                <a:solidFill>
                  <a:srgbClr val="FF0000"/>
                </a:solidFill>
              </a:rPr>
              <a:t>.</a:t>
            </a:r>
            <a:r>
              <a:rPr lang="en-US" altLang="en-US" sz="4000" dirty="0" err="1">
                <a:solidFill>
                  <a:srgbClr val="FF0000"/>
                </a:solidFill>
              </a:rPr>
              <a:t>py</a:t>
            </a:r>
            <a:r>
              <a:rPr lang="en-US" altLang="en-US" sz="4000" dirty="0"/>
              <a:t>” </a:t>
            </a:r>
            <a:endParaRPr lang="en-US" altLang="en-US" sz="4000" dirty="0">
              <a:solidFill>
                <a:srgbClr val="FF0000"/>
              </a:solidFill>
            </a:endParaRPr>
          </a:p>
          <a:p>
            <a:pPr lvl="1"/>
            <a:r>
              <a:rPr lang="en-US" altLang="en-US" sz="3400" dirty="0"/>
              <a:t>This is done to hide the X.py source code</a:t>
            </a:r>
          </a:p>
          <a:p>
            <a:pPr lvl="1"/>
            <a:r>
              <a:rPr lang="en-US" altLang="en-US" sz="3400" dirty="0"/>
              <a:t>Or to get a slight speed up</a:t>
            </a:r>
          </a:p>
          <a:p>
            <a:pPr lvl="2"/>
            <a:r>
              <a:rPr lang="en-US" altLang="en-US" sz="3200" dirty="0"/>
              <a:t>It doesn't run any faster, but may </a:t>
            </a:r>
            <a:r>
              <a:rPr lang="en-US" altLang="en-US" sz="3200" i="1" dirty="0"/>
              <a:t>load</a:t>
            </a:r>
            <a:r>
              <a:rPr lang="en-US" altLang="en-US" sz="3200" dirty="0"/>
              <a:t> faster</a:t>
            </a:r>
          </a:p>
          <a:p>
            <a:pPr lvl="3"/>
            <a:r>
              <a:rPr lang="en-US" altLang="en-US" sz="3200" dirty="0"/>
              <a:t>But only if creation time of </a:t>
            </a:r>
            <a:r>
              <a:rPr lang="en-US" altLang="en-US" sz="3200" dirty="0" err="1"/>
              <a:t>X.pyc</a:t>
            </a:r>
            <a:r>
              <a:rPr lang="en-US" altLang="en-US" sz="3200" dirty="0"/>
              <a:t> </a:t>
            </a:r>
            <a:r>
              <a:rPr lang="en-US" altLang="en-US" sz="3200" b="1" dirty="0">
                <a:latin typeface="Lucida Console" panose="020B0609040504020204" pitchFamily="49" charset="0"/>
              </a:rPr>
              <a:t>≥</a:t>
            </a:r>
            <a:r>
              <a:rPr lang="en-US" altLang="en-US" sz="3200" dirty="0"/>
              <a:t> X.py</a:t>
            </a:r>
          </a:p>
          <a:p>
            <a:pPr lvl="2"/>
            <a:r>
              <a:rPr lang="en-US" altLang="en-US" sz="3200" dirty="0"/>
              <a:t>And so, sometimes, the same directory may contain both the </a:t>
            </a:r>
            <a:r>
              <a:rPr lang="en-US" altLang="en-US" sz="3200" dirty="0" err="1"/>
              <a:t>X.pyc</a:t>
            </a:r>
            <a:r>
              <a:rPr lang="en-US" altLang="en-US" sz="3200" dirty="0"/>
              <a:t> and X.py files</a:t>
            </a:r>
          </a:p>
          <a:p>
            <a:pPr>
              <a:spcBef>
                <a:spcPts val="2400"/>
              </a:spcBef>
            </a:pPr>
            <a:r>
              <a:rPr lang="en-US" altLang="en-US" sz="4000" dirty="0"/>
              <a:t>It is compiled to byte-code, so it is platform independent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292894" y="105781"/>
            <a:ext cx="9144000" cy="104616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4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dirty="0"/>
              <a:t>Some Packages Have .</a:t>
            </a:r>
            <a:r>
              <a:rPr lang="en-GB" altLang="en-US" dirty="0" err="1"/>
              <a:t>pyc</a:t>
            </a:r>
            <a:r>
              <a:rPr lang="en-GB" altLang="en-US" dirty="0"/>
              <a:t> Files</a:t>
            </a: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-2700000">
            <a:off x="-684366" y="458120"/>
            <a:ext cx="2980617" cy="695576"/>
          </a:xfrm>
          <a:prstGeom prst="trapezoid">
            <a:avLst>
              <a:gd name="adj" fmla="val 99476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4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#112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3645695" y="3581400"/>
            <a:ext cx="2303099" cy="489812"/>
          </a:xfrm>
          <a:prstGeom prst="wedgeRoundRectCallout">
            <a:avLst>
              <a:gd name="adj1" fmla="val -28035"/>
              <a:gd name="adj2" fmla="val -46682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zh-TW" sz="2800" kern="0" dirty="0">
                <a:solidFill>
                  <a:srgbClr val="C00000"/>
                </a:solidFill>
                <a:cs typeface="Times New Roman" panose="02020603050405020304" pitchFamily="18" charset="0"/>
              </a:rPr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4452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 err="1">
                <a:latin typeface="Lucida Console" panose="020B0609040504020204" pitchFamily="49" charset="0"/>
              </a:rPr>
              <a:t>.</a:t>
            </a:r>
            <a:r>
              <a:rPr lang="en-US" altLang="zh-TW" sz="2300" spc="-600" dirty="0" err="1"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Compile source into a code object that can be executed by exec() or </a:t>
            </a:r>
            <a:r>
              <a:rPr lang="en-US" altLang="zh-TW" sz="2300" spc="-96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4F4F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4F4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4F4F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 into 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print 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','&lt;string&gt;','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93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into a code object that can be executed by exec()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print 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</a:t>
            </a:r>
            <a:r>
              <a:rPr lang="en-US" altLang="zh-TW" sz="2300" spc="-96" dirty="0">
                <a:solidFill>
                  <a:srgbClr val="7F7F7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49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</a:t>
            </a:r>
            <a:r>
              <a:rPr lang="en-US" altLang="zh-TW" sz="2300" spc="-96" dirty="0">
                <a:solidFill>
                  <a:srgbClr val="7F7F7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99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</a:t>
            </a:r>
            <a:r>
              <a:rPr lang="en-US" altLang="zh-TW" sz="2300" spc="-96" dirty="0">
                <a:solidFill>
                  <a:srgbClr val="7F7F7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0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</a:t>
            </a:r>
            <a:r>
              <a:rPr lang="en-US" altLang="zh-TW" sz="2300" spc="-96" dirty="0">
                <a:solidFill>
                  <a:srgbClr val="7F7F7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8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</a:t>
            </a:r>
            <a:r>
              <a:rPr lang="en-US" altLang="zh-TW" sz="2300" spc="-96" dirty="0">
                <a:solidFill>
                  <a:srgbClr val="7F7F7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693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statement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</a:t>
            </a:r>
            <a:r>
              <a:rPr lang="en-US" altLang="zh-TW" sz="2300" spc="-96" dirty="0">
                <a:solidFill>
                  <a:srgbClr val="7F7F7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779294" y="2286000"/>
            <a:ext cx="2590800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8334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statement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trike="sngStrike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or expression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</a:t>
            </a:r>
            <a:r>
              <a:rPr lang="en-US" altLang="zh-TW" sz="2300" spc="-96" dirty="0">
                <a:solidFill>
                  <a:srgbClr val="7F7F7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b="1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5779294" y="2286000"/>
            <a:ext cx="2590800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4359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statement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trike="sngStrike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or expression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The mode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,'&lt;string&gt;'</a:t>
            </a:r>
            <a:r>
              <a:rPr lang="en-US" altLang="zh-TW" sz="23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     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779294" y="2286000"/>
            <a:ext cx="2590800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7782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statement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trike="sngStrike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or expression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The mode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must be 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'exec'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to compile a module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,'&lt;string&gt;',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779294" y="2286000"/>
            <a:ext cx="2590800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>
                <a:alpha val="20000"/>
              </a:srgb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162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statement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trike="sngStrike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or expression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The mode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must be </a:t>
            </a:r>
            <a:r>
              <a:rPr lang="en-US" altLang="zh-TW" sz="2300" b="1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'exec'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to compile a module,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'single'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to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compile a single (interactive) statement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,'&lt;string&gt;',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single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779294" y="2286000"/>
            <a:ext cx="2590800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>
                <a:alpha val="20000"/>
              </a:srgb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2849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statement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trike="sngStrike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or expression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The mode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must be </a:t>
            </a:r>
            <a:r>
              <a:rPr lang="en-US" altLang="zh-TW" sz="2300" b="1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'exec'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to compile a module, </a:t>
            </a:r>
            <a:r>
              <a:rPr lang="en-US" altLang="zh-TW" sz="2300" b="1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'single'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to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compile a single (interactive) statement, or 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,'&lt;string&gt;',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trike="sngStrike" spc="-96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779294" y="2286000"/>
            <a:ext cx="2590800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>
                <a:alpha val="20000"/>
              </a:srgb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>
                <a:alpha val="20000"/>
              </a:srgb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2025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into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that can be executed by exec() or </a:t>
            </a:r>
            <a:r>
              <a:rPr lang="en-US" altLang="zh-TW" sz="2300" spc="-96" dirty="0" err="1">
                <a:solidFill>
                  <a:srgbClr val="FF7979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statement</a:t>
            </a:r>
            <a:r>
              <a:rPr lang="en-US" altLang="zh-TW" sz="2300" strike="sngStrike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trike="sngStrike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or expression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The mode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must be 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'exec'</a:t>
            </a:r>
            <a:r>
              <a:rPr lang="en-US" altLang="zh-TW" sz="2300" spc="-96" dirty="0">
                <a:solidFill>
                  <a:srgbClr val="FF7979"/>
                </a:solidFill>
                <a:latin typeface="Lucida Console" panose="020B0609040504020204" pitchFamily="49" charset="0"/>
              </a:rPr>
              <a:t> to compile a 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module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,'&lt;string&gt;',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>
            <a:off x="5398294" y="2286000"/>
            <a:ext cx="1726096" cy="1219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F0FAA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24699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Compile source into a code object that can be executed by exec()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=compile('print(42)','&lt;string&gt;','exec')</a:t>
            </a:r>
            <a:endParaRPr lang="en-US" altLang="zh-TW" sz="2300" spc="-15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0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68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Compile source into </a:t>
            </a:r>
            <a:r>
              <a:rPr lang="en-US" altLang="zh-TW" sz="2300" b="1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a code object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that can be executed by exec()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=compile('print(42)','&lt;string&gt;','exec')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endParaRPr lang="en-US" altLang="zh-TW" sz="2300" b="1" spc="-96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100" dirty="0">
                <a:solidFill>
                  <a:srgbClr val="FF9797"/>
                </a:solidFill>
                <a:latin typeface="Lucida Fax" panose="02060602050505020204" pitchFamily="18" charset="0"/>
              </a:rPr>
              <a:t>&lt;</a:t>
            </a:r>
            <a:r>
              <a:rPr lang="en-US" altLang="zh-TW" sz="2300" b="1" spc="-70" dirty="0">
                <a:solidFill>
                  <a:srgbClr val="FFC000"/>
                </a:solidFill>
                <a:latin typeface="Lucida Fax" panose="02060602050505020204" pitchFamily="18" charset="0"/>
              </a:rPr>
              <a:t>code object</a:t>
            </a:r>
            <a:r>
              <a:rPr lang="en-US" altLang="zh-TW" sz="20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&lt;module&gt;</a:t>
            </a:r>
            <a:r>
              <a:rPr lang="en-US" altLang="zh-TW" sz="20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at 0x6ffffd85db0,</a:t>
            </a:r>
            <a:r>
              <a:rPr lang="en-US" altLang="zh-TW" sz="20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file</a:t>
            </a:r>
            <a:r>
              <a:rPr lang="en-US" altLang="zh-TW" sz="20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130" dirty="0">
                <a:solidFill>
                  <a:srgbClr val="FF9797"/>
                </a:solidFill>
                <a:latin typeface="Lucida Fax" panose="02060602050505020204" pitchFamily="18" charset="0"/>
              </a:rPr>
              <a:t>"</a:t>
            </a:r>
            <a:r>
              <a:rPr lang="en-US" altLang="zh-TW" sz="23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&lt;string&gt;",</a:t>
            </a:r>
            <a:r>
              <a:rPr lang="en-US" altLang="zh-TW" sz="20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line</a:t>
            </a:r>
            <a:r>
              <a:rPr lang="en-US" altLang="zh-TW" sz="20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9797"/>
                </a:solidFill>
                <a:latin typeface="Lucida Fax" panose="02060602050505020204" pitchFamily="18" charset="0"/>
              </a:rPr>
              <a:t>1</a:t>
            </a:r>
            <a:r>
              <a:rPr lang="en-US" altLang="zh-TW" sz="2300" spc="100" dirty="0">
                <a:solidFill>
                  <a:srgbClr val="FF9797"/>
                </a:solidFill>
                <a:latin typeface="Lucida Fax" panose="02060602050505020204" pitchFamily="18" charset="0"/>
              </a:rPr>
              <a:t>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0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Compile source into a code object that</a:t>
            </a:r>
            <a:r>
              <a:rPr lang="en-US" altLang="zh-TW" sz="2300" b="1" spc="-96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can be executed by exec()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=compile('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print(42)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','&lt;string&gt;','exec')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endParaRPr lang="en-US" altLang="zh-TW" sz="2300" spc="-96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&lt;</a:t>
            </a:r>
            <a:r>
              <a:rPr lang="en-US" altLang="zh-TW" sz="2300" b="1" spc="-70" dirty="0">
                <a:solidFill>
                  <a:srgbClr val="FFCDCD"/>
                </a:solidFill>
                <a:latin typeface="Lucida Fax" panose="02060602050505020204" pitchFamily="18" charset="0"/>
              </a:rPr>
              <a:t>code object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&lt;module&gt;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at 0x6ffffd85db0,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file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130" dirty="0">
                <a:solidFill>
                  <a:srgbClr val="FFCDCD"/>
                </a:solidFill>
                <a:latin typeface="Lucida Fax" panose="02060602050505020204" pitchFamily="18" charset="0"/>
              </a:rPr>
              <a:t>"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&lt;string&gt;",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line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1</a:t>
            </a: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latin typeface="Lucida Console" panose="020B0609040504020204" pitchFamily="49" charset="0"/>
              </a:rPr>
              <a:t>(</a:t>
            </a:r>
            <a:r>
              <a:rPr lang="en-US" altLang="zh-TW" sz="2300" b="1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42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0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48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into a code object that </a:t>
            </a:r>
            <a:r>
              <a:rPr lang="en-US" altLang="zh-TW" sz="2300" b="1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can be executed by exec()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 mode must be 'exec' to compile a module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=compile('print(42)','&lt;string&gt;','exec')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endParaRPr lang="en-US" altLang="zh-TW" sz="2300" spc="-96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&lt;</a:t>
            </a:r>
            <a:r>
              <a:rPr lang="en-US" altLang="zh-TW" sz="2300" b="1" spc="-70" dirty="0">
                <a:solidFill>
                  <a:srgbClr val="FFCDCD"/>
                </a:solidFill>
                <a:latin typeface="Lucida Fax" panose="02060602050505020204" pitchFamily="18" charset="0"/>
              </a:rPr>
              <a:t>code object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&lt;module&gt;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at 0x6ffffd85db0,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file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130" dirty="0">
                <a:solidFill>
                  <a:srgbClr val="FFCDCD"/>
                </a:solidFill>
                <a:latin typeface="Lucida Fax" panose="02060602050505020204" pitchFamily="18" charset="0"/>
              </a:rPr>
              <a:t>"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&lt;string&gt;",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line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1</a:t>
            </a: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exec(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42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200" dirty="0">
                <a:latin typeface="Lucida Console" panose="020B0609040504020204" pitchFamily="49" charset="0"/>
              </a:rPr>
              <a:t>(</a:t>
            </a:r>
            <a:r>
              <a:rPr lang="en-US" altLang="zh-TW" sz="2300" b="1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200" dirty="0">
                <a:latin typeface="Lucida Console" panose="020B0609040504020204" pitchFamily="49" charset="0"/>
              </a:rPr>
              <a:t>('</a:t>
            </a:r>
            <a:r>
              <a:rPr lang="en-US" altLang="zh-TW" sz="2300" b="1" spc="-200" dirty="0">
                <a:solidFill>
                  <a:srgbClr val="CF0FAA"/>
                </a:solidFill>
                <a:latin typeface="Lucida Console" panose="020B0609040504020204" pitchFamily="49" charset="0"/>
              </a:rPr>
              <a:t>print(1,end=""</a:t>
            </a:r>
            <a:r>
              <a:rPr lang="en-US" altLang="zh-TW" sz="2300" b="1" spc="-400" dirty="0">
                <a:solidFill>
                  <a:srgbClr val="CF0FAA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00" b="1" spc="-200" dirty="0">
                <a:solidFill>
                  <a:srgbClr val="CF0FAA"/>
                </a:solidFill>
                <a:latin typeface="Lucida Console" panose="020B0609040504020204" pitchFamily="49" charset="0"/>
              </a:rPr>
              <a:t>;print(2</a:t>
            </a:r>
            <a:r>
              <a:rPr lang="en-US" altLang="zh-TW" sz="2300" b="1" spc="-500" dirty="0">
                <a:solidFill>
                  <a:srgbClr val="CF0FAA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00" b="1" spc="-800" dirty="0">
                <a:solidFill>
                  <a:srgbClr val="CF0FAA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&lt;string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300" spc="-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00" spc="-500" dirty="0">
                <a:latin typeface="Lucida Console" panose="020B0609040504020204" pitchFamily="49" charset="0"/>
              </a:rPr>
              <a:t>'</a:t>
            </a:r>
            <a:r>
              <a:rPr lang="en-US" altLang="zh-TW" sz="2300" b="1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exe</a:t>
            </a:r>
            <a:r>
              <a:rPr lang="en-US" altLang="zh-TW" sz="2300" b="1" spc="-400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300" spc="-400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12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0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15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b="1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b="1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into a </a:t>
            </a:r>
            <a:r>
              <a:rPr lang="en-US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code object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that </a:t>
            </a:r>
            <a:r>
              <a:rPr lang="en-US" altLang="zh-TW" sz="2300" b="1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can be executed by exec()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The mode must be 'exec' to compile a module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=compile('print(42)','&lt;string&gt;','exec')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endParaRPr lang="en-US" altLang="zh-TW" sz="2300" spc="-96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&lt;</a:t>
            </a:r>
            <a:r>
              <a:rPr lang="en-US" altLang="zh-TW" sz="2300" b="1" spc="-70" dirty="0">
                <a:solidFill>
                  <a:srgbClr val="FFCDCD"/>
                </a:solidFill>
                <a:latin typeface="Lucida Fax" panose="02060602050505020204" pitchFamily="18" charset="0"/>
              </a:rPr>
              <a:t>code object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&lt;module&gt;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at 0x6ffffd85db0,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file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130" dirty="0">
                <a:solidFill>
                  <a:srgbClr val="FFCDCD"/>
                </a:solidFill>
                <a:latin typeface="Lucida Fax" panose="02060602050505020204" pitchFamily="18" charset="0"/>
              </a:rPr>
              <a:t>"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&lt;string&gt;",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line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1</a:t>
            </a: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exec(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42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exec(compile('print(1,end=""</a:t>
            </a:r>
            <a:r>
              <a:rPr lang="en-US" altLang="zh-TW" sz="23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;print(2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00" spc="-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&lt;string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300" spc="-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exe</a:t>
            </a:r>
            <a:r>
              <a:rPr lang="en-US" altLang="zh-TW" sz="23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c’))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12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var_exec</a:t>
            </a:r>
            <a:r>
              <a:rPr lang="en-US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sz="2300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print(X)</a:t>
            </a:r>
            <a:r>
              <a:rPr lang="en-US" altLang="zh-TW" sz="2300" spc="-96" dirty="0"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,'&lt;string&gt;',</a:t>
            </a:r>
            <a:r>
              <a:rPr lang="en-US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0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39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[: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148]+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compile.</a:t>
            </a:r>
            <a:r>
              <a:rPr lang="en-US" altLang="zh-TW" sz="2300" spc="-6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_doc</a:t>
            </a:r>
            <a:r>
              <a:rPr lang="en-US" altLang="zh-TW" sz="2300" spc="-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_[20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3: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338</a:t>
            </a:r>
            <a:r>
              <a:rPr lang="en-US" altLang="zh-TW" sz="2300" spc="-3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])</a:t>
            </a:r>
            <a:endParaRPr lang="en-US" altLang="zh-TW" sz="2300" spc="-96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Compile source into a code object that can be executed by exec() or 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().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400" spc="-96" dirty="0">
              <a:solidFill>
                <a:srgbClr val="FFCDCD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source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code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may</a:t>
            </a:r>
            <a:r>
              <a:rPr lang="en-US" altLang="zh-TW" sz="18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represent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modul</a:t>
            </a:r>
            <a:r>
              <a:rPr lang="en-US" altLang="zh-TW" sz="2300" spc="-400" dirty="0">
                <a:solidFill>
                  <a:srgbClr val="FFCDCD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statement or expression.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The mode must be 'exec' to compile a module, 'single' to compile a single (interactive) statement, or '</a:t>
            </a:r>
            <a:r>
              <a:rPr lang="en-US" altLang="zh-TW" sz="2300" spc="-96" dirty="0" err="1">
                <a:solidFill>
                  <a:srgbClr val="FFCDCD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300" spc="-96" dirty="0">
                <a:solidFill>
                  <a:srgbClr val="FFCDCD"/>
                </a:solidFill>
                <a:latin typeface="Lucida Console" panose="020B0609040504020204" pitchFamily="49" charset="0"/>
              </a:rPr>
              <a:t>' to compile an expression.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=compile('print(42)','&lt;string&gt;','exec')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endParaRPr lang="en-US" altLang="zh-TW" sz="2300" spc="-96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&lt;</a:t>
            </a:r>
            <a:r>
              <a:rPr lang="en-US" altLang="zh-TW" sz="2300" b="1" spc="-70" dirty="0">
                <a:solidFill>
                  <a:srgbClr val="FFCDCD"/>
                </a:solidFill>
                <a:latin typeface="Lucida Fax" panose="02060602050505020204" pitchFamily="18" charset="0"/>
              </a:rPr>
              <a:t>code object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&lt;module&gt;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at 0x6ffffd85db0,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file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130" dirty="0">
                <a:solidFill>
                  <a:srgbClr val="FFCDCD"/>
                </a:solidFill>
                <a:latin typeface="Lucida Fax" panose="02060602050505020204" pitchFamily="18" charset="0"/>
              </a:rPr>
              <a:t>"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&lt;string&gt;",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line</a:t>
            </a:r>
            <a:r>
              <a:rPr lang="en-US" altLang="zh-TW" sz="20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 </a:t>
            </a:r>
            <a:r>
              <a:rPr lang="en-US" altLang="zh-TW" sz="2300" spc="-70" dirty="0">
                <a:solidFill>
                  <a:srgbClr val="FFCDCD"/>
                </a:solidFill>
                <a:latin typeface="Lucida Fax" panose="02060602050505020204" pitchFamily="18" charset="0"/>
              </a:rPr>
              <a:t>1</a:t>
            </a:r>
            <a:r>
              <a:rPr lang="en-US" altLang="zh-TW" sz="2300" spc="100" dirty="0">
                <a:solidFill>
                  <a:srgbClr val="FFCDCD"/>
                </a:solidFill>
                <a:latin typeface="Lucida Fax" panose="02060602050505020204" pitchFamily="18" charset="0"/>
              </a:rPr>
              <a:t>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exec(</a:t>
            </a:r>
            <a:r>
              <a:rPr lang="en-US" altLang="zh-TW" sz="2300" spc="-96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print_exec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42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exec(compile('print(1,end=""</a:t>
            </a:r>
            <a:r>
              <a:rPr lang="en-US" altLang="zh-TW" sz="23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;print(2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00" spc="-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&lt;string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300" spc="-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spc="-5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</a:t>
            </a:r>
            <a:r>
              <a:rPr lang="en-US" altLang="zh-TW" sz="2300" spc="-2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exe</a:t>
            </a:r>
            <a:r>
              <a:rPr lang="en-US" altLang="zh-TW" sz="2300" spc="-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12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00" spc="-96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var_exec</a:t>
            </a:r>
            <a:r>
              <a:rPr lang="en-US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sz="2300" spc="-96" dirty="0">
                <a:solidFill>
                  <a:srgbClr val="00B0F0"/>
                </a:solidFill>
                <a:latin typeface="Lucida Console" panose="020B0609040504020204" pitchFamily="49" charset="0"/>
              </a:rPr>
              <a:t>compile</a:t>
            </a:r>
            <a:r>
              <a:rPr lang="en-US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00" spc="-96" dirty="0"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00" b="1" spc="-96" dirty="0">
                <a:solidFill>
                  <a:srgbClr val="C0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300" spc="-96" dirty="0">
                <a:latin typeface="Lucida Console" panose="020B0609040504020204" pitchFamily="49" charset="0"/>
              </a:rPr>
              <a:t>'</a:t>
            </a:r>
            <a:r>
              <a:rPr lang="en-US" altLang="zh-TW" sz="2300" spc="-96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,'&lt;string&gt;',</a:t>
            </a:r>
            <a:r>
              <a:rPr lang="en-US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00" b="1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300" spc="-96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sv-SE" altLang="zh-TW" sz="2300" b="1" spc="-96" dirty="0">
                <a:solidFill>
                  <a:srgbClr val="C00000"/>
                </a:solidFill>
                <a:latin typeface="Lucida Console" panose="020B0609040504020204" pitchFamily="49" charset="0"/>
              </a:rPr>
              <a:t>X</a:t>
            </a:r>
            <a:r>
              <a:rPr lang="sv-SE" altLang="zh-TW" sz="2300" spc="-96" dirty="0">
                <a:latin typeface="Lucida Console" panose="020B0609040504020204" pitchFamily="49" charset="0"/>
              </a:rPr>
              <a:t>=</a:t>
            </a:r>
            <a:r>
              <a:rPr lang="sv-SE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sv-SE" altLang="zh-TW" sz="2300" spc="-96" dirty="0">
                <a:latin typeface="Lucida Console" panose="020B0609040504020204" pitchFamily="49" charset="0"/>
              </a:rPr>
              <a:t>;</a:t>
            </a:r>
            <a:r>
              <a:rPr lang="sv-SE" altLang="zh-TW" sz="2300" spc="-96" dirty="0">
                <a:solidFill>
                  <a:srgbClr val="2D2DB9"/>
                </a:solidFill>
                <a:latin typeface="Lucida Console" panose="020B0609040504020204" pitchFamily="49" charset="0"/>
              </a:rPr>
              <a:t>exec</a:t>
            </a:r>
            <a:r>
              <a:rPr lang="sv-SE" altLang="zh-TW" sz="2300" spc="-96" dirty="0">
                <a:latin typeface="Lucida Console" panose="020B0609040504020204" pitchFamily="49" charset="0"/>
              </a:rPr>
              <a:t>(</a:t>
            </a:r>
            <a:r>
              <a:rPr lang="sv-SE" altLang="zh-TW" sz="2300" spc="-96" dirty="0">
                <a:solidFill>
                  <a:srgbClr val="FFC000"/>
                </a:solidFill>
                <a:latin typeface="Lucida Console" panose="020B0609040504020204" pitchFamily="49" charset="0"/>
              </a:rPr>
              <a:t>var_exec</a:t>
            </a:r>
            <a:r>
              <a:rPr lang="sv-SE" altLang="zh-TW" sz="2300" spc="-96" dirty="0">
                <a:latin typeface="Lucida Console" panose="020B0609040504020204" pitchFamily="49" charset="0"/>
              </a:rPr>
              <a:t>)</a:t>
            </a:r>
            <a:r>
              <a:rPr lang="sv-SE" altLang="zh-TW" sz="2300" b="1" spc="-96" dirty="0">
                <a:solidFill>
                  <a:srgbClr val="C00000"/>
                </a:solidFill>
                <a:latin typeface="Lucida Console" panose="020B0609040504020204" pitchFamily="49" charset="0"/>
              </a:rPr>
              <a:t>#No error if X defined B4 exec’d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sv-SE" altLang="zh-TW" sz="2300" b="1" spc="-96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sv-SE" altLang="zh-TW" sz="23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00" spc="-96" dirty="0">
              <a:solidFill>
                <a:srgbClr val="FFB7B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89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/>
      </p:transition>
    </mc:Choice>
    <mc:Fallback xmlns="">
      <p:transition>
        <p:randomBar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932" y="835352"/>
            <a:ext cx="9186020" cy="6022648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rgbClr val="2D2DB9"/>
                </a:solidFill>
              </a:rPr>
              <a:t>In 'exec' mode, compiles any number of statements into a bytecode that always returns None: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endParaRPr lang="en-US" altLang="zh-TW" sz="600" spc="-96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96" dirty="0">
                <a:latin typeface="Lucida Console" panose="020B0609040504020204" pitchFamily="49" charset="0"/>
              </a:rPr>
              <a:t> </a:t>
            </a:r>
            <a:r>
              <a:rPr lang="en-US" altLang="zh-TW" sz="2400" spc="-96" dirty="0" err="1">
                <a:solidFill>
                  <a:srgbClr val="CF0FAA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400" spc="-96" dirty="0">
                <a:latin typeface="Lucida Console" panose="020B0609040504020204" pitchFamily="49" charset="0"/>
              </a:rPr>
              <a:t>(compile('42</a:t>
            </a:r>
            <a:r>
              <a:rPr lang="en-US" altLang="zh-TW" sz="2400" spc="-300" dirty="0">
                <a:latin typeface="Lucida Console" panose="020B0609040504020204" pitchFamily="49" charset="0"/>
              </a:rPr>
              <a:t>'</a:t>
            </a:r>
            <a:r>
              <a:rPr lang="en-US" altLang="zh-TW" sz="2400" spc="-96" dirty="0">
                <a:latin typeface="Lucida Console" panose="020B0609040504020204" pitchFamily="49" charset="0"/>
              </a:rPr>
              <a:t>,'&lt;string</a:t>
            </a:r>
            <a:r>
              <a:rPr lang="en-US" altLang="zh-TW" sz="2400" spc="-300" dirty="0">
                <a:latin typeface="Lucida Console" panose="020B0609040504020204" pitchFamily="49" charset="0"/>
              </a:rPr>
              <a:t>&gt;','</a:t>
            </a:r>
            <a:r>
              <a:rPr lang="en-US" altLang="zh-TW" sz="2400" b="1" spc="-96" dirty="0">
                <a:solidFill>
                  <a:srgbClr val="006600"/>
                </a:solidFill>
                <a:latin typeface="Lucida Console" panose="020B0609040504020204" pitchFamily="49" charset="0"/>
              </a:rPr>
              <a:t>exe</a:t>
            </a:r>
            <a:r>
              <a:rPr lang="en-US" altLang="zh-TW" sz="2400" b="1" spc="-150" dirty="0">
                <a:solidFill>
                  <a:srgbClr val="006600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400" spc="-150" dirty="0">
                <a:latin typeface="Lucida Console" panose="020B0609040504020204" pitchFamily="49" charset="0"/>
              </a:rPr>
              <a:t>')</a:t>
            </a:r>
            <a:r>
              <a:rPr lang="en-US" altLang="zh-TW" sz="2400" spc="-96" dirty="0">
                <a:latin typeface="Lucida Console" panose="020B0609040504020204" pitchFamily="49" charset="0"/>
              </a:rPr>
              <a:t>)</a:t>
            </a:r>
            <a:r>
              <a:rPr lang="en-US" altLang="zh-TW" sz="240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#return</a:t>
            </a:r>
            <a:r>
              <a:rPr lang="en-US" altLang="zh-TW" sz="200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None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400" spc="-96" dirty="0">
                <a:latin typeface="Lucida Console" panose="020B0609040504020204" pitchFamily="49" charset="0"/>
              </a:rPr>
              <a:t>(compile('print(42)','&lt;string&gt;','</a:t>
            </a:r>
            <a:r>
              <a:rPr lang="en-US" altLang="zh-TW" sz="2400" b="1" spc="-96" dirty="0">
                <a:solidFill>
                  <a:srgbClr val="006600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400" spc="-96" dirty="0">
                <a:latin typeface="Lucida Console" panose="020B0609040504020204" pitchFamily="49" charset="0"/>
              </a:rPr>
              <a:t>'))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latin typeface="Lucida Console" panose="020B0609040504020204" pitchFamily="49" charset="0"/>
              </a:rPr>
              <a:t>42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endParaRPr lang="en-US" altLang="zh-TW" sz="140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rgbClr val="2D2DB9"/>
                </a:solidFill>
              </a:rPr>
              <a:t>In '</a:t>
            </a:r>
            <a:r>
              <a:rPr lang="en-US" altLang="zh-TW" sz="3000" b="1" dirty="0" err="1">
                <a:solidFill>
                  <a:srgbClr val="2D2DB9"/>
                </a:solidFill>
              </a:rPr>
              <a:t>eval</a:t>
            </a:r>
            <a:r>
              <a:rPr lang="en-US" altLang="zh-TW" sz="3000" dirty="0">
                <a:solidFill>
                  <a:srgbClr val="2D2DB9"/>
                </a:solidFill>
              </a:rPr>
              <a:t>' mode, it compiles a single expression into </a:t>
            </a:r>
            <a:r>
              <a:rPr lang="en-US" altLang="zh-TW" sz="3000" spc="-10" dirty="0">
                <a:solidFill>
                  <a:srgbClr val="2D2DB9"/>
                </a:solidFill>
              </a:rPr>
              <a:t>bytecode that returns the stringed expression’s value:</a:t>
            </a:r>
            <a:endParaRPr lang="en-US" altLang="zh-TW" sz="3000" spc="-1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endParaRPr lang="en-US" altLang="zh-TW" sz="600" spc="-96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spc="-96" dirty="0">
                <a:latin typeface="Lucida Console" panose="020B0609040504020204" pitchFamily="49" charset="0"/>
              </a:rPr>
              <a:t> </a:t>
            </a:r>
            <a:r>
              <a:rPr lang="en-US" altLang="zh-TW" sz="2400" spc="-96" dirty="0" err="1">
                <a:solidFill>
                  <a:srgbClr val="CF0FAA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400" spc="-96" dirty="0">
                <a:latin typeface="Lucida Console" panose="020B0609040504020204" pitchFamily="49" charset="0"/>
              </a:rPr>
              <a:t>(compile('42','&lt;string&gt;','</a:t>
            </a:r>
            <a:r>
              <a:rPr lang="en-US" altLang="zh-TW" sz="2400" b="1" spc="-96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eva</a:t>
            </a:r>
            <a:r>
              <a:rPr lang="en-US" altLang="zh-TW" sz="2400" b="1" spc="-3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50" dirty="0">
                <a:latin typeface="Lucida Console" panose="020B0609040504020204" pitchFamily="49" charset="0"/>
              </a:rPr>
              <a:t>')</a:t>
            </a:r>
            <a:r>
              <a:rPr lang="en-US" altLang="zh-TW" sz="2400" spc="-96" dirty="0">
                <a:latin typeface="Lucida Console" panose="020B0609040504020204" pitchFamily="49" charset="0"/>
              </a:rPr>
              <a:t>)</a:t>
            </a:r>
            <a:r>
              <a:rPr lang="en-US" altLang="zh-TW" sz="240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#return 42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latin typeface="Lucida Console" panose="020B0609040504020204" pitchFamily="49" charset="0"/>
              </a:rPr>
              <a:t>42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96" dirty="0">
                <a:solidFill>
                  <a:srgbClr val="CF0FAA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2400" spc="-96" dirty="0">
                <a:latin typeface="Lucida Console" panose="020B0609040504020204" pitchFamily="49" charset="0"/>
              </a:rPr>
              <a:t>(compile('42','&lt;string&gt;','</a:t>
            </a:r>
            <a:r>
              <a:rPr lang="en-US" altLang="zh-TW" sz="2400" b="1" spc="-96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eva</a:t>
            </a:r>
            <a:r>
              <a:rPr lang="en-US" altLang="zh-TW" sz="2400" b="1" spc="-3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0" spc="-150" dirty="0">
                <a:latin typeface="Lucida Console" panose="020B0609040504020204" pitchFamily="49" charset="0"/>
              </a:rPr>
              <a:t>')</a:t>
            </a:r>
            <a:r>
              <a:rPr lang="en-US" altLang="zh-TW" sz="2400" spc="-96" dirty="0">
                <a:latin typeface="Lucida Console" panose="020B0609040504020204" pitchFamily="49" charset="0"/>
              </a:rPr>
              <a:t>)</a:t>
            </a:r>
            <a:r>
              <a:rPr lang="en-US" altLang="zh-TW" sz="240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#42</a:t>
            </a:r>
            <a:r>
              <a:rPr lang="en-US" altLang="zh-TW" sz="180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ignored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spc="-96" dirty="0">
                <a:latin typeface="Lucida Console" panose="020B0609040504020204" pitchFamily="49" charset="0"/>
              </a:rPr>
              <a:t>compile('print(1);print(2)','&lt;string&gt;','</a:t>
            </a:r>
            <a:r>
              <a:rPr lang="en-US" altLang="zh-TW" sz="2400" b="1" spc="-96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400" spc="-96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40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40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40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File "&lt;string&gt;", line 1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  print(1);print(2)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            ^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spc="-96" dirty="0" err="1">
                <a:solidFill>
                  <a:srgbClr val="FFB7B7"/>
                </a:solidFill>
                <a:latin typeface="Lucida Console" panose="020B0609040504020204" pitchFamily="49" charset="0"/>
              </a:rPr>
              <a:t>SyntaxError</a:t>
            </a:r>
            <a:r>
              <a:rPr lang="en-US" altLang="zh-TW" sz="2400" spc="-96" dirty="0">
                <a:solidFill>
                  <a:srgbClr val="FFB7B7"/>
                </a:solidFill>
                <a:latin typeface="Lucida Console" panose="020B0609040504020204" pitchFamily="49" charset="0"/>
              </a:rPr>
              <a:t>: invalid syntax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292894" y="208446"/>
            <a:ext cx="9144000" cy="712058"/>
          </a:xfrm>
          <a:prstGeom prst="rect">
            <a:avLst/>
          </a:prstGeom>
        </p:spPr>
        <p:txBody>
          <a:bodyPr vert="horz" lIns="79513" tIns="39757" rIns="79513" bIns="39757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389169" algn="l"/>
                <a:tab pos="778337" algn="l"/>
                <a:tab pos="1167506" algn="l"/>
                <a:tab pos="1556674" algn="l"/>
                <a:tab pos="1947334" algn="l"/>
                <a:tab pos="2336503" algn="l"/>
                <a:tab pos="2725671" algn="l"/>
                <a:tab pos="3114840" algn="l"/>
                <a:tab pos="3505499" algn="l"/>
                <a:tab pos="3894668" algn="l"/>
                <a:tab pos="4283837" algn="l"/>
                <a:tab pos="4673005" algn="l"/>
                <a:tab pos="5063664" algn="l"/>
                <a:tab pos="5452834" algn="l"/>
                <a:tab pos="5842001" algn="l"/>
                <a:tab pos="6231170" algn="l"/>
                <a:tab pos="6621830" algn="l"/>
                <a:tab pos="7010998" algn="l"/>
                <a:tab pos="7400167" algn="l"/>
                <a:tab pos="7789335" algn="l"/>
              </a:tabLst>
            </a:pPr>
            <a:r>
              <a:rPr lang="en-GB" altLang="en-US" sz="3478" dirty="0">
                <a:solidFill>
                  <a:srgbClr val="0070C0"/>
                </a:solidFill>
                <a:cs typeface="Arial" panose="020B0604020202020204" pitchFamily="34" charset="0"/>
              </a:rPr>
              <a:t>Compile</a:t>
            </a:r>
            <a:r>
              <a:rPr lang="en-GB" altLang="en-US" sz="36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endParaRPr lang="en-GB" altLang="en-US" sz="3478" b="1" dirty="0">
              <a:solidFill>
                <a:srgbClr val="0070C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9094" y="4370832"/>
            <a:ext cx="7817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69094" y="1981200"/>
            <a:ext cx="7817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69094" y="4663440"/>
            <a:ext cx="7817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34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sorted(set(_)-{'</a:t>
            </a:r>
            <a:r>
              <a:rPr lang="en-US" sz="2600" spc="-100" dirty="0" err="1">
                <a:solidFill>
                  <a:srgbClr val="FFC000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','</a:t>
            </a:r>
            <a:r>
              <a:rPr lang="en-US" sz="2600" spc="-100" dirty="0">
                <a:solidFill>
                  <a:srgbClr val="FFC000"/>
                </a:solidFill>
                <a:latin typeface="Consolas" panose="020B0609020204030204" pitchFamily="49" charset="0"/>
              </a:rPr>
              <a:t>help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'compile',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'exec',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endParaRPr lang="en-US" sz="260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prstClr val="black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1498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8" name="Trapezoid 7"/>
          <p:cNvSpPr/>
          <p:nvPr/>
        </p:nvSpPr>
        <p:spPr bwMode="auto">
          <a:xfrm rot="2700000" flipH="1">
            <a:off x="7351365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sz="300" spc="-200" dirty="0">
              <a:solidFill>
                <a:prstClr val="black"/>
              </a:solidFill>
              <a:latin typeface="Arial" charset="0"/>
              <a:ea typeface="新細明體" charset="-120"/>
            </a:endParaRPr>
          </a:p>
          <a:p>
            <a:pPr algn="ctr" fontAlgn="base">
              <a:lnSpc>
                <a:spcPct val="70000"/>
              </a:lnSpc>
              <a:spcAft>
                <a:spcPct val="0"/>
              </a:spcAft>
            </a:pPr>
            <a:r>
              <a:rPr kumimoji="1" lang="en-US" sz="2800" spc="-2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L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e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ct</a:t>
            </a:r>
            <a:r>
              <a:rPr kumimoji="1" lang="en-US" sz="2800" spc="-70" dirty="0">
                <a:solidFill>
                  <a:prstClr val="black"/>
                </a:solidFill>
                <a:latin typeface="Arial" charset="0"/>
                <a:ea typeface="新細明體" charset="-120"/>
              </a:rPr>
              <a:t>u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re</a:t>
            </a:r>
            <a:r>
              <a:rPr kumimoji="1" lang="en-US" sz="12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 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3</a:t>
            </a:r>
            <a:b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Slide 128</a:t>
            </a:r>
          </a:p>
        </p:txBody>
      </p:sp>
    </p:spTree>
    <p:extLst>
      <p:ext uri="{BB962C8B-B14F-4D97-AF65-F5344CB8AC3E}">
        <p14:creationId xmlns:p14="http://schemas.microsoft.com/office/powerpoint/2010/main" val="380490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'help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339054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54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43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  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802487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54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51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7291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  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7180904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54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44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altLang="zh-TW" sz="2600" b="1" kern="0" spc="-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502933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054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62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builtinsThatWeWillNeedToTalkAboutLater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'license']</a:t>
            </a:r>
            <a:endParaRPr lang="en-US" altLang="zh-TW" sz="2600" b="1" kern="0" spc="-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2695405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sorted(set(_)-{'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dir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','help'})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  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377353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54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33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compile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'copyright', 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</a:t>
            </a: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96572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'credits',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</a:t>
            </a:r>
            <a:r>
              <a:rPr lang="en-US" sz="26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b="1" spc="-100" dirty="0">
                <a:solidFill>
                  <a:srgbClr val="4BD0FF"/>
                </a:solidFill>
                <a:latin typeface="Consolas" panose="020B0609020204030204" pitchFamily="49" charset="0"/>
              </a:rPr>
              <a:t>exec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81723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96046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73161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'locals',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</a:t>
            </a: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97660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'open',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'print',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</a:t>
            </a: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54898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59463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FF0000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justTalkedAbout=[_[2],*_[7:9]];</a:t>
            </a:r>
            <a:endParaRPr lang="pt-BR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pt-BR" sz="2600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tooUselessToMention</a:t>
            </a:r>
            <a:r>
              <a:rPr lang="pt-BR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FFFF00"/>
                </a:solidFill>
                <a:latin typeface="Consolas" panose="020B0609020204030204" pitchFamily="49" charset="0"/>
              </a:rPr>
              <a:t>justTalkedAbout</a:t>
            </a:r>
            <a:r>
              <a:rPr lang="pt-BR" sz="2600" spc="-13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sz="2600" spc="-130" dirty="0">
                <a:solidFill>
                  <a:srgbClr val="339933"/>
                </a:solidFill>
                <a:latin typeface="Consolas" panose="020B0609020204030204" pitchFamily="49" charset="0"/>
              </a:rPr>
              <a:t>tooUselessToMenti</a:t>
            </a:r>
            <a:r>
              <a:rPr lang="pt-BR" sz="2600" spc="-100" dirty="0">
                <a:solidFill>
                  <a:srgbClr val="339933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['callable',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'range',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altLang="zh-TW" sz="2600" b="1" kern="0" spc="-3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24440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justTalkedAbout=[_[2],*_[7:9]];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print(justTalkedAbout)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print(tooUselessToMention)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BFBFBF"/>
                </a:solidFill>
                <a:latin typeface="Consolas" panose="020B0609020204030204" pitchFamily="49" charset="0"/>
              </a:rPr>
              <a:t>justTalkedAbout+tooUselessToMenti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range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600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goingToTalkAboutNow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={_[11],_[21],_[24]}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7699385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54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09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builtinsThatWeStillNeedToTalkAboutLater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justTalkedAbout=[_[2],*_[7:9]];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print(justTalkedAbout)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print(tooUselessToMention)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BFBFBF"/>
                </a:solidFill>
                <a:latin typeface="Consolas" panose="020B0609020204030204" pitchFamily="49" charset="0"/>
              </a:rPr>
              <a:t>justTalkedAbout+tooUselessToMenti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range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goingToTalkAboutNow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={_[11],_[21],_[24]}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print(</a:t>
            </a:r>
            <a:r>
              <a:rPr lang="en-US" altLang="zh-TW" sz="2600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993886" y="64739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54894" y="64526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7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justTalkedAbout=[_[2],*_[7:9]];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print(justTalkedAbout)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print(tooUselessToMention)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BFBFBF"/>
                </a:solidFill>
                <a:latin typeface="Consolas" panose="020B0609020204030204" pitchFamily="49" charset="0"/>
              </a:rPr>
              <a:t>justTalkedAbout+tooUselessToMenti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range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goingToTalkAboutNow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={_[11],_[21],_[24]}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{'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range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input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'}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92694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print(justTalkedAbout)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['compile', 'eval', 'exec']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tooUselessToMention=[*_[3:5],_[20]];</a:t>
            </a:r>
          </a:p>
          <a:p>
            <a:pPr>
              <a:lnSpc>
                <a:spcPct val="90000"/>
              </a:lnSpc>
            </a:pP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print(tooUselessToMention)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['copyright', 'credits',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'license']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sorted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({*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_}-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{*</a:t>
            </a:r>
            <a:r>
              <a:rPr lang="pt-BR" sz="2600" spc="-130" dirty="0">
                <a:solidFill>
                  <a:srgbClr val="BFBFBF"/>
                </a:solidFill>
                <a:latin typeface="Consolas" panose="020B0609020204030204" pitchFamily="49" charset="0"/>
              </a:rPr>
              <a:t>justTalkedAbout+tooUselessToMenti</a:t>
            </a:r>
            <a:r>
              <a:rPr lang="pt-BR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on</a:t>
            </a:r>
            <a:r>
              <a:rPr lang="pt-BR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[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'callable',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delattr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globals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hasattr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input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'property', 'quit', '</a:t>
            </a:r>
            <a:r>
              <a:rPr lang="en-US" sz="26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range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={_[11],_[21],_[24]} 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{'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range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input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'}</a:t>
            </a:r>
          </a:p>
          <a:p>
            <a:pPr>
              <a:lnSpc>
                <a:spcPct val="90000"/>
              </a:lnSpc>
            </a:pPr>
            <a:endParaRPr lang="en-US" altLang="zh-TW" sz="2600" kern="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1475" y="742949"/>
            <a:ext cx="9001125" cy="500062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65126" y="6451399"/>
            <a:ext cx="766128" cy="361423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5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066801"/>
            <a:ext cx="8899790" cy="4524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The control flow statements are: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100" dirty="0">
              <a:solidFill>
                <a:prstClr val="black"/>
              </a:solidFill>
            </a:endParaRP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0"/>
            <a:ext cx="9729788" cy="1244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Control Flow</a:t>
            </a:r>
          </a:p>
        </p:txBody>
      </p:sp>
    </p:spTree>
    <p:extLst>
      <p:ext uri="{BB962C8B-B14F-4D97-AF65-F5344CB8AC3E}">
        <p14:creationId xmlns:p14="http://schemas.microsoft.com/office/powerpoint/2010/main" val="1192114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066801"/>
            <a:ext cx="8899790" cy="4524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The control flow statements are: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100" dirty="0">
              <a:solidFill>
                <a:prstClr val="black"/>
              </a:solidFill>
            </a:endParaRP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prstClr val="black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prstClr val="white">
                    <a:lumMod val="6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prstClr val="white">
                    <a:lumMod val="65000"/>
                  </a:prstClr>
                </a:solidFill>
              </a:rPr>
              <a:t>	  </a:t>
            </a:r>
            <a:r>
              <a:rPr lang="en-US" altLang="en-US" sz="3200" b="1" dirty="0">
                <a:solidFill>
                  <a:prstClr val="white">
                    <a:lumMod val="6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0"/>
            <a:ext cx="9729788" cy="1244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Control Flow</a:t>
            </a:r>
          </a:p>
        </p:txBody>
      </p:sp>
    </p:spTree>
    <p:extLst>
      <p:ext uri="{BB962C8B-B14F-4D97-AF65-F5344CB8AC3E}">
        <p14:creationId xmlns:p14="http://schemas.microsoft.com/office/powerpoint/2010/main" val="27237430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066801"/>
            <a:ext cx="8899790" cy="4524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The syntax of a simple if statement is:</a:t>
            </a:r>
          </a:p>
          <a:p>
            <a:pPr marL="0" indent="0">
              <a:buNone/>
            </a:pPr>
            <a:endParaRPr lang="en-US" altLang="en-US" sz="1100" dirty="0"/>
          </a:p>
          <a:p>
            <a:pPr>
              <a:buFontTx/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expression: </a:t>
            </a:r>
          </a:p>
          <a:p>
            <a:pPr>
              <a:buFontTx/>
              <a:buNone/>
            </a:pPr>
            <a:r>
              <a:rPr lang="en-US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	  statement(s) </a:t>
            </a:r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0"/>
            <a:ext cx="9729788" cy="1244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17842285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165926" y="1143001"/>
            <a:ext cx="9423368" cy="5562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3600" dirty="0"/>
              <a:t>If the body of an if clause consists of only a single line, it may go on the same line as the header:</a:t>
            </a:r>
            <a:endParaRPr lang="en-US" altLang="en-US" sz="100" dirty="0"/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if expr==1: </a:t>
            </a:r>
            <a:r>
              <a:rPr lang="en-US" altLang="en-US" sz="28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print("The value is 1")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600" dirty="0">
                <a:solidFill>
                  <a:prstClr val="black"/>
                </a:solidFill>
              </a:rPr>
              <a:t>Or the body may go on the next line:</a:t>
            </a:r>
            <a:endParaRPr lang="en-US" altLang="en-US" sz="100" dirty="0">
              <a:solidFill>
                <a:prstClr val="black"/>
              </a:solidFill>
            </a:endParaRP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if expr==1: </a:t>
            </a: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2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print("The value is 1")</a:t>
            </a: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9788" cy="1244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If:  Single-Statement Bodies</a:t>
            </a:r>
          </a:p>
        </p:txBody>
      </p:sp>
    </p:spTree>
    <p:extLst>
      <p:ext uri="{BB962C8B-B14F-4D97-AF65-F5344CB8AC3E}">
        <p14:creationId xmlns:p14="http://schemas.microsoft.com/office/powerpoint/2010/main" val="11953734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165926" y="1143001"/>
            <a:ext cx="9563862" cy="5562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3600" dirty="0"/>
              <a:t>Even if the </a:t>
            </a:r>
            <a:r>
              <a:rPr lang="en-US" altLang="en-US" sz="3600" dirty="0">
                <a:solidFill>
                  <a:srgbClr val="0070C0"/>
                </a:solidFill>
              </a:rPr>
              <a:t>body</a:t>
            </a:r>
            <a:r>
              <a:rPr lang="en-US" altLang="en-US" sz="3600" dirty="0"/>
              <a:t> is larger, it still can go on the same line as the header:</a:t>
            </a:r>
            <a:endParaRPr lang="en-US" altLang="en-US" sz="100" dirty="0"/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if expr==1: </a:t>
            </a:r>
            <a:r>
              <a:rPr lang="en-US" altLang="en-US" sz="28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print("1"); print("2")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600" dirty="0">
                <a:solidFill>
                  <a:prstClr val="black"/>
                </a:solidFill>
              </a:rPr>
              <a:t>Or the body may go on the next lines:</a:t>
            </a:r>
            <a:endParaRPr lang="en-US" altLang="en-US" sz="100" dirty="0">
              <a:solidFill>
                <a:prstClr val="black"/>
              </a:solidFill>
            </a:endParaRP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if expr==1: </a:t>
            </a: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2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print("1")</a:t>
            </a:r>
            <a:r>
              <a:rPr lang="en-US" altLang="en-US" sz="28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#The body gets indented</a:t>
            </a: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28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print("2")</a:t>
            </a:r>
            <a:r>
              <a:rPr lang="en-US" altLang="en-US" sz="28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#The</a:t>
            </a:r>
            <a:r>
              <a:rPr lang="en-US" altLang="en-US" sz="24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800" spc="-2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indent</a:t>
            </a:r>
            <a:r>
              <a:rPr lang="en-US" altLang="en-US" sz="2400" spc="-2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800" spc="-2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amount</a:t>
            </a:r>
            <a:r>
              <a:rPr lang="en-US" altLang="en-US" sz="2400" spc="-2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800" spc="-2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mu</a:t>
            </a:r>
            <a:r>
              <a:rPr lang="en-US" altLang="en-US" sz="28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st</a:t>
            </a:r>
            <a:r>
              <a:rPr lang="en-US" altLang="en-US" sz="24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8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be</a:t>
            </a:r>
            <a:r>
              <a:rPr lang="en-US" altLang="en-US" sz="24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8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fi</a:t>
            </a:r>
            <a:r>
              <a:rPr lang="en-US" altLang="en-US" sz="2800" spc="-1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xe</a:t>
            </a:r>
            <a:r>
              <a:rPr lang="en-US" altLang="en-US" sz="28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</a:t>
            </a:r>
            <a:r>
              <a:rPr lang="en-US" altLang="en-US" sz="2800" spc="-1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zh-TW" altLang="en-US" sz="2400" spc="-100" baseline="100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一</a:t>
            </a:r>
            <a:r>
              <a:rPr lang="zh-TW" altLang="en-US" sz="2400" spc="-1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贯</a:t>
            </a:r>
            <a:r>
              <a:rPr lang="en-US" altLang="en-US" sz="2800" spc="-100" dirty="0">
                <a:solidFill>
                  <a:srgbClr val="FFC8C8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altLang="en-US" sz="24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600" dirty="0">
                <a:solidFill>
                  <a:prstClr val="black"/>
                </a:solidFill>
              </a:rPr>
              <a:t>You </a:t>
            </a:r>
            <a:r>
              <a:rPr lang="en-US" altLang="en-US" sz="3600" b="1" dirty="0">
                <a:solidFill>
                  <a:prstClr val="black"/>
                </a:solidFill>
              </a:rPr>
              <a:t>cannot</a:t>
            </a:r>
            <a:r>
              <a:rPr lang="en-US" altLang="en-US" sz="3600" dirty="0">
                <a:solidFill>
                  <a:prstClr val="black"/>
                </a:solidFill>
              </a:rPr>
              <a:t> mix-and-match the two above styles:</a:t>
            </a:r>
            <a:endParaRPr lang="en-US" altLang="en-US" sz="100" dirty="0">
              <a:solidFill>
                <a:prstClr val="black"/>
              </a:solidFill>
            </a:endParaRP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if expr==1: </a:t>
            </a:r>
            <a:r>
              <a:rPr lang="en-US" altLang="en-US" sz="28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print("1")</a:t>
            </a:r>
          </a:p>
          <a:p>
            <a:pPr mar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28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print("2")</a:t>
            </a:r>
            <a:r>
              <a:rPr lang="en-US" altLang="en-US" sz="28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#This is an error</a:t>
            </a: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marL="0" lvl="0" indent="0" defTabSz="91440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marL="0" lvl="0" indent="0" defTabSz="91440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2800" dirty="0">
              <a:solidFill>
                <a:srgbClr val="0070C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1244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If:  Multi-Statement Bodies</a:t>
            </a:r>
          </a:p>
        </p:txBody>
      </p:sp>
    </p:spTree>
    <p:extLst>
      <p:ext uri="{BB962C8B-B14F-4D97-AF65-F5344CB8AC3E}">
        <p14:creationId xmlns:p14="http://schemas.microsoft.com/office/powerpoint/2010/main" val="10527685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39489" y="1476172"/>
            <a:ext cx="8454887" cy="5164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Python: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x%2==0: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print ("An even number")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print ("was found")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print ("done")</a:t>
            </a:r>
          </a:p>
          <a:p>
            <a:pPr>
              <a:spcBef>
                <a:spcPts val="0"/>
              </a:spcBef>
              <a:buNone/>
            </a:pPr>
            <a:endParaRPr lang="en-US" altLang="en-US" sz="3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Equivalent C: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(x%2==0)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  </a:t>
            </a:r>
            <a:r>
              <a:rPr lang="en-US" alt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("An even number\n");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("was found\n"); 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("done\n");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9729788" cy="1453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Example of Why Indentation </a:t>
            </a:r>
            <a:br>
              <a:rPr lang="en-US" altLang="en-US" sz="4800" dirty="0">
                <a:solidFill>
                  <a:srgbClr val="0070C0"/>
                </a:solidFill>
              </a:rPr>
            </a:br>
            <a:r>
              <a:rPr lang="en-US" altLang="en-US" sz="4800" dirty="0">
                <a:solidFill>
                  <a:srgbClr val="0070C0"/>
                </a:solidFill>
              </a:rPr>
              <a:t>Is Better than Curly Braces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338876" y="3556006"/>
            <a:ext cx="4098018" cy="1975546"/>
            <a:chOff x="5338876" y="3556006"/>
            <a:chExt cx="4098018" cy="1975546"/>
          </a:xfrm>
        </p:grpSpPr>
        <p:sp>
          <p:nvSpPr>
            <p:cNvPr id="10" name="Isosceles Triangle 9"/>
            <p:cNvSpPr/>
            <p:nvPr/>
          </p:nvSpPr>
          <p:spPr>
            <a:xfrm rot="14150179" flipH="1">
              <a:off x="6468545" y="4249910"/>
              <a:ext cx="838200" cy="172508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ular Callout 10"/>
            <p:cNvSpPr/>
            <p:nvPr/>
          </p:nvSpPr>
          <p:spPr>
            <a:xfrm>
              <a:off x="5338876" y="3556006"/>
              <a:ext cx="4098018" cy="1601677"/>
            </a:xfrm>
            <a:prstGeom prst="wedgeRoundRectCallout">
              <a:avLst>
                <a:gd name="adj1" fmla="val -154344"/>
                <a:gd name="adj2" fmla="val 56765"/>
                <a:gd name="adj3" fmla="val 1666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tx1"/>
                  </a:solidFill>
                </a:rPr>
                <a:t>But what if the programmer forgot</a:t>
              </a:r>
              <a:br>
                <a:rPr lang="en-US" altLang="zh-TW" sz="2800" dirty="0">
                  <a:solidFill>
                    <a:schemeClr val="tx1"/>
                  </a:solidFill>
                </a:rPr>
              </a:br>
              <a:r>
                <a:rPr lang="en-US" altLang="zh-TW" sz="2800" dirty="0">
                  <a:solidFill>
                    <a:schemeClr val="tx1"/>
                  </a:solidFill>
                </a:rPr>
                <a:t>these curly braces?</a:t>
              </a:r>
              <a:endParaRPr lang="zh-TW" altLang="en-US" sz="2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055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39489" y="1476172"/>
            <a:ext cx="8454887" cy="5164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Python: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x%2==0: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print ("An even number")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print ("was found")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print ("done")</a:t>
            </a:r>
          </a:p>
          <a:p>
            <a:pPr>
              <a:spcBef>
                <a:spcPts val="0"/>
              </a:spcBef>
              <a:buNone/>
            </a:pPr>
            <a:endParaRPr lang="en-US" altLang="en-US" sz="3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en-US" sz="32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Not</a:t>
            </a: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 equivalent C: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 (x%2==0)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("An even number\n");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("was found\n");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("done\n");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9729788" cy="1453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Example of Why Indentation </a:t>
            </a:r>
            <a:br>
              <a:rPr lang="en-US" altLang="en-US" sz="4800" dirty="0">
                <a:solidFill>
                  <a:srgbClr val="0070C0"/>
                </a:solidFill>
              </a:rPr>
            </a:br>
            <a:r>
              <a:rPr lang="en-US" altLang="en-US" sz="4800" dirty="0">
                <a:solidFill>
                  <a:srgbClr val="0070C0"/>
                </a:solidFill>
              </a:rPr>
              <a:t>Is Better than Curly Braces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338876" y="3556006"/>
            <a:ext cx="4098018" cy="1975546"/>
            <a:chOff x="5338876" y="3556006"/>
            <a:chExt cx="4098018" cy="1975546"/>
          </a:xfrm>
        </p:grpSpPr>
        <p:sp>
          <p:nvSpPr>
            <p:cNvPr id="10" name="Isosceles Triangle 9"/>
            <p:cNvSpPr/>
            <p:nvPr/>
          </p:nvSpPr>
          <p:spPr>
            <a:xfrm rot="14150179" flipH="1">
              <a:off x="6468545" y="4249910"/>
              <a:ext cx="838200" cy="172508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ular Callout 12"/>
            <p:cNvSpPr/>
            <p:nvPr/>
          </p:nvSpPr>
          <p:spPr>
            <a:xfrm>
              <a:off x="5338876" y="3556006"/>
              <a:ext cx="4098018" cy="1601677"/>
            </a:xfrm>
            <a:prstGeom prst="wedgeRoundRectCallout">
              <a:avLst>
                <a:gd name="adj1" fmla="val -154344"/>
                <a:gd name="adj2" fmla="val 56765"/>
                <a:gd name="adj3" fmla="val 1666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tx1"/>
                  </a:solidFill>
                </a:rPr>
                <a:t>But what if the programmer forgot</a:t>
              </a:r>
              <a:br>
                <a:rPr lang="en-US" altLang="zh-TW" sz="2800" dirty="0">
                  <a:solidFill>
                    <a:schemeClr val="tx1"/>
                  </a:solidFill>
                </a:rPr>
              </a:br>
              <a:r>
                <a:rPr lang="en-US" altLang="zh-TW" sz="2800" dirty="0">
                  <a:solidFill>
                    <a:schemeClr val="tx1"/>
                  </a:solidFill>
                </a:rPr>
                <a:t>these curly braces?</a:t>
              </a:r>
              <a:endParaRPr lang="zh-TW" altLang="en-US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ounded Rectangular Callout 6"/>
          <p:cNvSpPr/>
          <p:nvPr/>
        </p:nvSpPr>
        <p:spPr>
          <a:xfrm>
            <a:off x="5338876" y="2258453"/>
            <a:ext cx="4098018" cy="3073397"/>
          </a:xfrm>
          <a:prstGeom prst="wedgeRoundRectCallout">
            <a:avLst>
              <a:gd name="adj1" fmla="val -154168"/>
              <a:gd name="adj2" fmla="val 477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The point is that bugs like this are common in C programs, and the indentation in those programs is usually correct, even when the braces are wrong.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88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39489" y="1476172"/>
            <a:ext cx="8997405" cy="5164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Python: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x%2==0: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if x!=0: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print ("A nonzero even number")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print ("An odd number")</a:t>
            </a:r>
          </a:p>
          <a:p>
            <a:pPr>
              <a:spcBef>
                <a:spcPts val="0"/>
              </a:spcBef>
              <a:buNone/>
            </a:pP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Equivalent C: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(x%2==0)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{   if (x!=0)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("A nonzero even number\n");  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("An odd number\n");</a:t>
            </a:r>
          </a:p>
          <a:p>
            <a:pPr>
              <a:spcBef>
                <a:spcPts val="0"/>
              </a:spcBef>
              <a:buNone/>
            </a:pP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9729788" cy="1453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spc="-100" dirty="0">
                <a:solidFill>
                  <a:srgbClr val="0070C0"/>
                </a:solidFill>
              </a:rPr>
              <a:t>2</a:t>
            </a:r>
            <a:r>
              <a:rPr lang="en-US" altLang="en-US" sz="4800" spc="-100" baseline="30000" dirty="0">
                <a:solidFill>
                  <a:srgbClr val="0070C0"/>
                </a:solidFill>
              </a:rPr>
              <a:t>nd</a:t>
            </a:r>
            <a:r>
              <a:rPr lang="en-US" altLang="en-US" sz="3200" spc="-100" dirty="0">
                <a:solidFill>
                  <a:srgbClr val="0070C0"/>
                </a:solidFill>
              </a:rPr>
              <a:t> </a:t>
            </a:r>
            <a:r>
              <a:rPr lang="en-US" altLang="en-US" sz="4800" spc="-150" dirty="0">
                <a:solidFill>
                  <a:srgbClr val="0070C0"/>
                </a:solidFill>
              </a:rPr>
              <a:t>Example</a:t>
            </a:r>
            <a:r>
              <a:rPr lang="en-US" altLang="en-US" sz="3600" spc="-150" dirty="0">
                <a:solidFill>
                  <a:srgbClr val="0070C0"/>
                </a:solidFill>
              </a:rPr>
              <a:t> </a:t>
            </a:r>
            <a:r>
              <a:rPr lang="en-US" altLang="en-US" sz="4800" spc="-150" dirty="0">
                <a:solidFill>
                  <a:srgbClr val="0070C0"/>
                </a:solidFill>
              </a:rPr>
              <a:t>o</a:t>
            </a:r>
            <a:r>
              <a:rPr lang="en-US" altLang="en-US" sz="4800" spc="-100" dirty="0">
                <a:solidFill>
                  <a:srgbClr val="0070C0"/>
                </a:solidFill>
              </a:rPr>
              <a:t>f W</a:t>
            </a:r>
            <a:r>
              <a:rPr lang="en-US" altLang="en-US" sz="4800" spc="-200" dirty="0">
                <a:solidFill>
                  <a:srgbClr val="0070C0"/>
                </a:solidFill>
              </a:rPr>
              <a:t>h</a:t>
            </a:r>
            <a:r>
              <a:rPr lang="en-US" altLang="en-US" sz="4800" spc="-100" dirty="0">
                <a:solidFill>
                  <a:srgbClr val="0070C0"/>
                </a:solidFill>
              </a:rPr>
              <a:t>y</a:t>
            </a:r>
            <a:r>
              <a:rPr lang="en-US" altLang="en-US" sz="3200" spc="-100" dirty="0">
                <a:solidFill>
                  <a:srgbClr val="0070C0"/>
                </a:solidFill>
              </a:rPr>
              <a:t> </a:t>
            </a:r>
            <a:r>
              <a:rPr lang="en-US" altLang="en-US" sz="4800" spc="-100" dirty="0">
                <a:solidFill>
                  <a:srgbClr val="0070C0"/>
                </a:solidFill>
              </a:rPr>
              <a:t>Inde</a:t>
            </a:r>
            <a:r>
              <a:rPr lang="en-US" altLang="en-US" sz="4800" spc="-200" dirty="0">
                <a:solidFill>
                  <a:srgbClr val="0070C0"/>
                </a:solidFill>
              </a:rPr>
              <a:t>n</a:t>
            </a:r>
            <a:r>
              <a:rPr lang="en-US" altLang="en-US" sz="4800" spc="-100" dirty="0">
                <a:solidFill>
                  <a:srgbClr val="0070C0"/>
                </a:solidFill>
              </a:rPr>
              <a:t>tation </a:t>
            </a:r>
            <a:br>
              <a:rPr lang="en-US" altLang="en-US" sz="4800" dirty="0">
                <a:solidFill>
                  <a:srgbClr val="0070C0"/>
                </a:solidFill>
              </a:rPr>
            </a:br>
            <a:r>
              <a:rPr lang="en-US" altLang="en-US" sz="4800" dirty="0">
                <a:solidFill>
                  <a:srgbClr val="0070C0"/>
                </a:solidFill>
              </a:rPr>
              <a:t>Is Better than Curly Braces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338876" y="3556006"/>
            <a:ext cx="4098018" cy="1971210"/>
            <a:chOff x="5338876" y="3556006"/>
            <a:chExt cx="4098018" cy="1971210"/>
          </a:xfrm>
        </p:grpSpPr>
        <p:sp>
          <p:nvSpPr>
            <p:cNvPr id="11" name="Isosceles Triangle 10"/>
            <p:cNvSpPr/>
            <p:nvPr/>
          </p:nvSpPr>
          <p:spPr>
            <a:xfrm rot="6865071">
              <a:off x="7551178" y="3812716"/>
              <a:ext cx="838200" cy="25908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5338876" y="3556006"/>
              <a:ext cx="4098018" cy="1601677"/>
            </a:xfrm>
            <a:prstGeom prst="wedgeRoundRectCallout">
              <a:avLst>
                <a:gd name="adj1" fmla="val -154344"/>
                <a:gd name="adj2" fmla="val 56765"/>
                <a:gd name="adj3" fmla="val 1666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tx1"/>
                  </a:solidFill>
                </a:rPr>
                <a:t>But what if the programmer forgot</a:t>
              </a:r>
              <a:br>
                <a:rPr lang="en-US" altLang="zh-TW" sz="2800" dirty="0">
                  <a:solidFill>
                    <a:schemeClr val="tx1"/>
                  </a:solidFill>
                </a:rPr>
              </a:br>
              <a:r>
                <a:rPr lang="en-US" altLang="zh-TW" sz="2800" dirty="0">
                  <a:solidFill>
                    <a:schemeClr val="tx1"/>
                  </a:solidFill>
                </a:rPr>
                <a:t>these curly braces?</a:t>
              </a:r>
              <a:endParaRPr lang="zh-TW" altLang="en-US" sz="2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478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39489" y="1476172"/>
            <a:ext cx="8997405" cy="5164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Python: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x%2==0: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if x!=0: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print ("A nonzero even number")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print ("An odd number")</a:t>
            </a:r>
          </a:p>
          <a:p>
            <a:pPr>
              <a:spcBef>
                <a:spcPts val="0"/>
              </a:spcBef>
              <a:buNone/>
            </a:pP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ts val="0"/>
              </a:spcBef>
              <a:buClr>
                <a:schemeClr val="tx1"/>
              </a:buClr>
            </a:pPr>
            <a:r>
              <a:rPr lang="en-US" altLang="en-US" sz="32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Not</a:t>
            </a:r>
            <a:r>
              <a:rPr lang="en-US" altLang="en-US" sz="3200" dirty="0">
                <a:latin typeface="Times" panose="02020603050405020304" pitchFamily="18" charset="0"/>
                <a:cs typeface="Times" panose="02020603050405020304" pitchFamily="18" charset="0"/>
              </a:rPr>
              <a:t> equivalent C: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(x%2==0)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if (x!=0)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("A nonzero even number\n");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("An odd number\n");</a:t>
            </a:r>
          </a:p>
          <a:p>
            <a:pPr>
              <a:spcBef>
                <a:spcPts val="0"/>
              </a:spcBef>
              <a:buNone/>
            </a:pPr>
            <a:endParaRPr lang="en-US" alt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9729788" cy="1453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spc="-100" dirty="0">
                <a:solidFill>
                  <a:srgbClr val="0070C0"/>
                </a:solidFill>
              </a:rPr>
              <a:t>2</a:t>
            </a:r>
            <a:r>
              <a:rPr lang="en-US" altLang="en-US" sz="4800" spc="-100" baseline="30000" dirty="0">
                <a:solidFill>
                  <a:srgbClr val="0070C0"/>
                </a:solidFill>
              </a:rPr>
              <a:t>nd</a:t>
            </a:r>
            <a:r>
              <a:rPr lang="en-US" altLang="en-US" sz="3200" spc="-100" dirty="0">
                <a:solidFill>
                  <a:srgbClr val="0070C0"/>
                </a:solidFill>
              </a:rPr>
              <a:t> </a:t>
            </a:r>
            <a:r>
              <a:rPr lang="en-US" altLang="en-US" sz="4800" spc="-150" dirty="0">
                <a:solidFill>
                  <a:srgbClr val="0070C0"/>
                </a:solidFill>
              </a:rPr>
              <a:t>Example</a:t>
            </a:r>
            <a:r>
              <a:rPr lang="en-US" altLang="en-US" sz="3600" spc="-150" dirty="0">
                <a:solidFill>
                  <a:srgbClr val="0070C0"/>
                </a:solidFill>
              </a:rPr>
              <a:t> </a:t>
            </a:r>
            <a:r>
              <a:rPr lang="en-US" altLang="en-US" sz="4800" spc="-150" dirty="0">
                <a:solidFill>
                  <a:srgbClr val="0070C0"/>
                </a:solidFill>
              </a:rPr>
              <a:t>o</a:t>
            </a:r>
            <a:r>
              <a:rPr lang="en-US" altLang="en-US" sz="4800" spc="-100" dirty="0">
                <a:solidFill>
                  <a:srgbClr val="0070C0"/>
                </a:solidFill>
              </a:rPr>
              <a:t>f W</a:t>
            </a:r>
            <a:r>
              <a:rPr lang="en-US" altLang="en-US" sz="4800" spc="-200" dirty="0">
                <a:solidFill>
                  <a:srgbClr val="0070C0"/>
                </a:solidFill>
              </a:rPr>
              <a:t>h</a:t>
            </a:r>
            <a:r>
              <a:rPr lang="en-US" altLang="en-US" sz="4800" spc="-100" dirty="0">
                <a:solidFill>
                  <a:srgbClr val="0070C0"/>
                </a:solidFill>
              </a:rPr>
              <a:t>y</a:t>
            </a:r>
            <a:r>
              <a:rPr lang="en-US" altLang="en-US" sz="3200" spc="-100" dirty="0">
                <a:solidFill>
                  <a:srgbClr val="0070C0"/>
                </a:solidFill>
              </a:rPr>
              <a:t> </a:t>
            </a:r>
            <a:r>
              <a:rPr lang="en-US" altLang="en-US" sz="4800" spc="-100" dirty="0">
                <a:solidFill>
                  <a:srgbClr val="0070C0"/>
                </a:solidFill>
              </a:rPr>
              <a:t>Inde</a:t>
            </a:r>
            <a:r>
              <a:rPr lang="en-US" altLang="en-US" sz="4800" spc="-200" dirty="0">
                <a:solidFill>
                  <a:srgbClr val="0070C0"/>
                </a:solidFill>
              </a:rPr>
              <a:t>n</a:t>
            </a:r>
            <a:r>
              <a:rPr lang="en-US" altLang="en-US" sz="4800" spc="-100" dirty="0">
                <a:solidFill>
                  <a:srgbClr val="0070C0"/>
                </a:solidFill>
              </a:rPr>
              <a:t>tation </a:t>
            </a:r>
            <a:br>
              <a:rPr lang="en-US" altLang="en-US" sz="4800" dirty="0">
                <a:solidFill>
                  <a:srgbClr val="0070C0"/>
                </a:solidFill>
              </a:rPr>
            </a:br>
            <a:r>
              <a:rPr lang="en-US" altLang="en-US" sz="4800" dirty="0">
                <a:solidFill>
                  <a:srgbClr val="0070C0"/>
                </a:solidFill>
              </a:rPr>
              <a:t>Is Better than Curly Braces</a:t>
            </a:r>
          </a:p>
        </p:txBody>
      </p:sp>
      <p:sp>
        <p:nvSpPr>
          <p:cNvPr id="10" name="Left-Right Arrow 9"/>
          <p:cNvSpPr/>
          <p:nvPr/>
        </p:nvSpPr>
        <p:spPr>
          <a:xfrm rot="18990783">
            <a:off x="1078557" y="5533313"/>
            <a:ext cx="685325" cy="21770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5338876" y="3556006"/>
            <a:ext cx="4098018" cy="1971210"/>
            <a:chOff x="5338876" y="3556006"/>
            <a:chExt cx="4098018" cy="1971210"/>
          </a:xfrm>
        </p:grpSpPr>
        <p:sp>
          <p:nvSpPr>
            <p:cNvPr id="14" name="Isosceles Triangle 13"/>
            <p:cNvSpPr/>
            <p:nvPr/>
          </p:nvSpPr>
          <p:spPr>
            <a:xfrm rot="6865071">
              <a:off x="7551178" y="3812716"/>
              <a:ext cx="838200" cy="25908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ular Callout 14"/>
            <p:cNvSpPr/>
            <p:nvPr/>
          </p:nvSpPr>
          <p:spPr>
            <a:xfrm>
              <a:off x="5338876" y="3556006"/>
              <a:ext cx="4098018" cy="1601677"/>
            </a:xfrm>
            <a:prstGeom prst="wedgeRoundRectCallout">
              <a:avLst>
                <a:gd name="adj1" fmla="val -154344"/>
                <a:gd name="adj2" fmla="val 56765"/>
                <a:gd name="adj3" fmla="val 1666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tx1"/>
                  </a:solidFill>
                </a:rPr>
                <a:t>But what if the programmer forgot</a:t>
              </a:r>
              <a:br>
                <a:rPr lang="en-US" altLang="zh-TW" sz="2800" dirty="0">
                  <a:solidFill>
                    <a:schemeClr val="tx1"/>
                  </a:solidFill>
                </a:rPr>
              </a:br>
              <a:r>
                <a:rPr lang="en-US" altLang="zh-TW" sz="2800" dirty="0">
                  <a:solidFill>
                    <a:schemeClr val="tx1"/>
                  </a:solidFill>
                </a:rPr>
                <a:t>these curly braces?</a:t>
              </a:r>
              <a:endParaRPr lang="zh-TW" altLang="en-US" sz="2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862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312170" y="762000"/>
            <a:ext cx="9124723" cy="579119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/>
            <a:r>
              <a:rPr lang="en-US" altLang="en-US" sz="4000" dirty="0"/>
              <a:t>The full syntax of the if statement allows an optional else clause and an unlimited number of optional </a:t>
            </a:r>
            <a:r>
              <a:rPr lang="en-US" altLang="en-US" sz="4000" dirty="0" err="1"/>
              <a:t>elif</a:t>
            </a:r>
            <a:r>
              <a:rPr lang="en-US" altLang="en-US" sz="4000" dirty="0"/>
              <a:t> (else-if) clauses: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1100" dirty="0">
              <a:latin typeface="Lucida Sans Typewriter" panose="020B05090305040302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</a:rPr>
              <a:t>	  </a:t>
            </a:r>
            <a:r>
              <a:rPr lang="en-US" altLang="en-US" sz="3200" b="1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expression: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 	  statement(s)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latin typeface="Lucida Sans Typewriter" panose="020B0509030504030204" pitchFamily="49" charset="0"/>
              </a:rPr>
              <a:t>	  </a:t>
            </a:r>
            <a:r>
              <a:rPr lang="en-US" altLang="en-US" sz="3200" b="1" dirty="0" err="1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32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expression:</a:t>
            </a:r>
            <a:r>
              <a:rPr lang="en-US" altLang="en-US" sz="32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statement(s)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latin typeface="Lucida Sans Typewriter" panose="020B0509030504030204" pitchFamily="49" charset="0"/>
              </a:rPr>
              <a:t>	  </a:t>
            </a:r>
            <a:r>
              <a:rPr lang="en-US" altLang="en-US" sz="3200" b="1" dirty="0" err="1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32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expression:</a:t>
            </a:r>
            <a:r>
              <a:rPr lang="en-US" altLang="en-US" sz="32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statement(s)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latin typeface="Lucida Sans Typewriter" panose="020B0509030504030204" pitchFamily="49" charset="0"/>
              </a:rPr>
              <a:t>	  </a:t>
            </a:r>
            <a:r>
              <a:rPr lang="en-US" altLang="en-US" sz="3200" b="1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sz="32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expression: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statement(s)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9788" cy="12442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endParaRPr lang="en-US" altLang="en-US" sz="4800" dirty="0">
              <a:solidFill>
                <a:srgbClr val="0070C0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-11906" y="0"/>
            <a:ext cx="9741694" cy="796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Else and Else-if Blocks</a:t>
            </a:r>
          </a:p>
        </p:txBody>
      </p:sp>
    </p:spTree>
    <p:extLst>
      <p:ext uri="{BB962C8B-B14F-4D97-AF65-F5344CB8AC3E}">
        <p14:creationId xmlns:p14="http://schemas.microsoft.com/office/powerpoint/2010/main" val="12706622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2894" y="668917"/>
            <a:ext cx="9436893" cy="61890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100</a:t>
            </a:r>
            <a:r>
              <a:rPr lang="en-US" altLang="en-US" sz="2800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20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print</a:t>
            </a:r>
            <a:r>
              <a:rPr lang="en-US" altLang="en-US" sz="2800" spc="-18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</a:t>
            </a:r>
            <a:r>
              <a:rPr lang="en-US" altLang="en-US" sz="2800" spc="-14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ess</a:t>
            </a:r>
            <a:r>
              <a:rPr lang="en-US" altLang="en-US" sz="2800" spc="-2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2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 is less </a:t>
            </a:r>
            <a:r>
              <a:rPr lang="en-US" altLang="en-US" sz="2800" spc="-13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 2</a:t>
            </a:r>
            <a:r>
              <a:rPr lang="en-US" altLang="en-US" sz="2800" spc="-1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4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8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print</a:t>
            </a:r>
            <a:r>
              <a:rPr lang="en-US" altLang="en-US" sz="2800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10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  <a:endParaRPr lang="en-US" altLang="en-US" sz="2800" spc="-100" dirty="0">
              <a:solidFill>
                <a:schemeClr val="bg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less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Could not find true expressio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Good bye!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3" y="72231"/>
            <a:ext cx="10607674" cy="596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0070C0"/>
                </a:solidFill>
              </a:rPr>
              <a:t>Nested if Statements</a:t>
            </a:r>
          </a:p>
        </p:txBody>
      </p:sp>
    </p:spTree>
    <p:extLst>
      <p:ext uri="{BB962C8B-B14F-4D97-AF65-F5344CB8AC3E}">
        <p14:creationId xmlns:p14="http://schemas.microsoft.com/office/powerpoint/2010/main" val="103937980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2894" y="668917"/>
            <a:ext cx="9436893" cy="61890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example: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100</a:t>
            </a:r>
            <a:r>
              <a:rPr lang="en-US" altLang="en-US" sz="2800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20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print</a:t>
            </a:r>
            <a:r>
              <a:rPr lang="en-US" altLang="en-US" sz="2800" spc="-18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</a:t>
            </a:r>
            <a:r>
              <a:rPr lang="en-US" altLang="en-US" sz="2800" spc="-14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ess</a:t>
            </a:r>
            <a:r>
              <a:rPr lang="en-US" altLang="en-US" sz="2800" spc="-2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2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 is less </a:t>
            </a:r>
            <a:r>
              <a:rPr lang="en-US" altLang="en-US" sz="2800" spc="-13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 2</a:t>
            </a:r>
            <a:r>
              <a:rPr lang="en-US" altLang="en-US" sz="2800" spc="-1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4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8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print</a:t>
            </a:r>
            <a:r>
              <a:rPr lang="en-US" altLang="en-US" sz="2800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10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  <a:endParaRPr lang="en-US" altLang="en-US" sz="2800" spc="-100" dirty="0">
              <a:solidFill>
                <a:schemeClr val="bg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less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Could not find true expressio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Good bye!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3" y="72231"/>
            <a:ext cx="10607674" cy="596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0070C0"/>
                </a:solidFill>
              </a:rPr>
              <a:t>Nested if Statements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92894" y="668917"/>
            <a:ext cx="9436893" cy="618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Shifted, but still the same Python example: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100</a:t>
            </a:r>
            <a:r>
              <a:rPr lang="en-US" altLang="en-US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20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8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8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</a:t>
            </a:r>
            <a:r>
              <a:rPr lang="en-US" altLang="en-US" spc="-14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ess</a:t>
            </a:r>
            <a:r>
              <a:rPr lang="en-US" altLang="en-US" spc="-2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pc="-2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 is less </a:t>
            </a:r>
            <a:r>
              <a:rPr lang="en-US" altLang="en-US" spc="-13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 2</a:t>
            </a:r>
            <a:r>
              <a:rPr lang="en-US" altLang="en-US" spc="-1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spc="-1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4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pc="-18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  <a:endParaRPr lang="en-US" altLang="en-US" spc="-100" dirty="0">
              <a:solidFill>
                <a:schemeClr val="bg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"Expression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less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spc="-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"Could not find true expressio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"Good bye!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27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2894" y="668917"/>
            <a:ext cx="9436893" cy="61890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legal (and equivalent) Python code: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100</a:t>
            </a:r>
            <a:r>
              <a:rPr lang="en-US" altLang="en-US" sz="2800" spc="-1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20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8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8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</a:t>
            </a:r>
            <a:r>
              <a:rPr lang="en-US" altLang="en-US" sz="2800" spc="-14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ess</a:t>
            </a:r>
            <a:r>
              <a:rPr lang="en-US" altLang="en-US" sz="2800" spc="-2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2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 is less </a:t>
            </a:r>
            <a:r>
              <a:rPr lang="en-US" altLang="en-US" sz="2800" spc="-13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 2</a:t>
            </a:r>
            <a:r>
              <a:rPr lang="en-US" altLang="en-US" sz="2800" spc="-1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b="1" spc="-1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sz="2800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800" spc="-4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8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10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  <a:endParaRPr lang="en-US" altLang="en-US" sz="2800" spc="-100" dirty="0">
              <a:solidFill>
                <a:schemeClr val="bg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rgbClr val="00B0F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less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spc="-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Could not find true expressio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Good bye!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solidFill>
                <a:srgbClr val="00B0F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3" y="72231"/>
            <a:ext cx="10607674" cy="596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0070C0"/>
                </a:solidFill>
              </a:rPr>
              <a:t>Nested if Statements</a:t>
            </a:r>
          </a:p>
        </p:txBody>
      </p:sp>
    </p:spTree>
    <p:extLst>
      <p:ext uri="{BB962C8B-B14F-4D97-AF65-F5344CB8AC3E}">
        <p14:creationId xmlns:p14="http://schemas.microsoft.com/office/powerpoint/2010/main" val="950002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2894" y="668917"/>
            <a:ext cx="9436893" cy="61890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legal (and equivalent) Python code: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100;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20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8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8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</a:t>
            </a:r>
            <a:r>
              <a:rPr lang="en-US" altLang="en-US" sz="2800" spc="-14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ess</a:t>
            </a:r>
            <a:r>
              <a:rPr lang="en-US" altLang="en-US" sz="2800" spc="-2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2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 is less </a:t>
            </a:r>
            <a:r>
              <a:rPr lang="en-US" altLang="en-US" sz="2800" spc="-13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 2</a:t>
            </a:r>
            <a:r>
              <a:rPr lang="en-US" altLang="en-US" sz="2800" spc="-1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b="1" spc="-1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sz="2800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800" spc="-4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10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  <a:endParaRPr lang="en-US" altLang="en-US" sz="2800" spc="-100" dirty="0">
              <a:solidFill>
                <a:schemeClr val="bg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less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spc="-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Could not find true expressio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Good bye!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3" y="72231"/>
            <a:ext cx="10607674" cy="596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0070C0"/>
                </a:solidFill>
              </a:rPr>
              <a:t>Nested if Statements</a:t>
            </a:r>
          </a:p>
        </p:txBody>
      </p:sp>
    </p:spTree>
    <p:extLst>
      <p:ext uri="{BB962C8B-B14F-4D97-AF65-F5344CB8AC3E}">
        <p14:creationId xmlns:p14="http://schemas.microsoft.com/office/powerpoint/2010/main" val="7865871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2894" y="668917"/>
            <a:ext cx="9436893" cy="61890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C/C++ code: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100;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20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 </a:t>
            </a:r>
            <a:r>
              <a:rPr lang="en-US" altLang="en-US" sz="2800" b="1" spc="-1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{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8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8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</a:t>
            </a:r>
            <a:r>
              <a:rPr lang="en-US" altLang="en-US" sz="2800" spc="-14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ess</a:t>
            </a:r>
            <a:r>
              <a:rPr lang="en-US" altLang="en-US" sz="2800" spc="-2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2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 is less </a:t>
            </a:r>
            <a:r>
              <a:rPr lang="en-US" altLang="en-US" sz="2800" spc="-13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 2</a:t>
            </a:r>
            <a:r>
              <a:rPr lang="en-US" altLang="en-US" sz="2800" spc="-1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b="1" spc="-180" dirty="0">
                <a:solidFill>
                  <a:srgbClr val="FF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sz="2800" b="1" spc="-18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4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b="1" dirty="0">
                <a:solidFill>
                  <a:srgbClr val="FF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else i</a:t>
            </a:r>
            <a:r>
              <a:rPr lang="en-US" altLang="en-US" sz="2800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10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b="1" dirty="0">
                <a:solidFill>
                  <a:srgbClr val="FF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else 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b="1" dirty="0">
                <a:solidFill>
                  <a:srgbClr val="FF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b="1" spc="-1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 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</a:t>
            </a:r>
            <a:r>
              <a:rPr lang="en-US" altLang="en-US" sz="2800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less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b="1" spc="-80" dirty="0">
                <a:solidFill>
                  <a:srgbClr val="FF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Could not find true expressio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b="1" dirty="0">
                <a:solidFill>
                  <a:srgbClr val="FF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Good bye!</a:t>
            </a:r>
            <a:r>
              <a:rPr lang="en-US" altLang="en-US" b="1" dirty="0">
                <a:solidFill>
                  <a:srgbClr val="FF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3" y="72231"/>
            <a:ext cx="10607674" cy="596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Many Differences vs C Are Cosmetic...</a:t>
            </a:r>
          </a:p>
        </p:txBody>
      </p:sp>
    </p:spTree>
    <p:extLst>
      <p:ext uri="{BB962C8B-B14F-4D97-AF65-F5344CB8AC3E}">
        <p14:creationId xmlns:p14="http://schemas.microsoft.com/office/powerpoint/2010/main" val="146631734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2894" y="668917"/>
            <a:ext cx="9436893" cy="61890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4000" spc="-6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</a:t>
            </a:r>
            <a:r>
              <a:rPr lang="en-US" altLang="en-US" sz="3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3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shifte</a:t>
            </a:r>
            <a:r>
              <a:rPr lang="en-US" altLang="en-US" sz="4000" spc="-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en-US" sz="4000" spc="-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</a:t>
            </a:r>
            <a:r>
              <a:rPr lang="en-US" altLang="en-US" sz="4000" spc="-4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rigi</a:t>
            </a:r>
            <a:r>
              <a:rPr lang="en-US" altLang="en-US" sz="4000" spc="-2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spc="-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yt</a:t>
            </a:r>
            <a:r>
              <a:rPr lang="en-US" altLang="en-US" sz="4000" spc="-2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4000" spc="-2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lang="en-US" altLang="en-US" sz="4000" spc="-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4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100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20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800" b="1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{</a:t>
            </a:r>
            <a:endParaRPr lang="en-US" altLang="en-US" sz="2800" spc="-100" dirty="0">
              <a:solidFill>
                <a:schemeClr val="bg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8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8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</a:t>
            </a:r>
            <a:r>
              <a:rPr lang="en-US" altLang="en-US" sz="2800" spc="-14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ess</a:t>
            </a:r>
            <a:r>
              <a:rPr lang="en-US" altLang="en-US" sz="2800" spc="-2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2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sz="2800" spc="-12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 is less </a:t>
            </a:r>
            <a:r>
              <a:rPr lang="en-US" altLang="en-US" sz="2800" spc="-13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</a:t>
            </a:r>
            <a:r>
              <a:rPr lang="en-US" altLang="en-US" sz="2800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 2</a:t>
            </a:r>
            <a:r>
              <a:rPr lang="en-US" altLang="en-US" sz="2800" spc="-11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8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b="1" spc="-1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sz="2800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800" spc="-4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8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i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800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"Which is 15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10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10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==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Which is 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spc="-1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  <a:endParaRPr lang="en-US" altLang="en-US" sz="2800" spc="-100" dirty="0">
              <a:solidFill>
                <a:schemeClr val="bg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</a:t>
            </a:r>
            <a:r>
              <a:rPr lang="en-US" altLang="en-US" spc="-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pc="1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800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se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</a:t>
            </a:r>
            <a:r>
              <a:rPr lang="en-US" altLang="en-US" spc="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10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r>
              <a:rPr lang="en-US" altLang="en-US" sz="2800" spc="-1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less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than</a:t>
            </a:r>
            <a:r>
              <a:rPr lang="en-US" altLang="en-US" sz="24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  <a:r>
              <a:rPr lang="en-US" altLang="en-US" spc="-5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spc="-8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sz="2800" spc="-1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Could not find true expressio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n"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spc="-1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b="1" spc="-100" dirty="0" err="1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pc="-100" dirty="0">
                <a:latin typeface="Bahnschrift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800" spc="-1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Good bye!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\</a:t>
            </a:r>
            <a:r>
              <a:rPr lang="en-US" altLang="en-US" b="1" spc="-18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spc="-300" dirty="0">
                <a:latin typeface="Bahnschrift" panose="020B0502040204020203" pitchFamily="34" charset="0"/>
                <a:cs typeface="Courier New" panose="02070309020205020404" pitchFamily="49" charset="0"/>
              </a:rPr>
              <a:t>)</a:t>
            </a: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altLang="en-US" sz="2800" spc="-1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3" y="72231"/>
            <a:ext cx="10607674" cy="596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Many Differences vs C Are Cosmetic...</a:t>
            </a:r>
          </a:p>
        </p:txBody>
      </p:sp>
    </p:spTree>
    <p:extLst>
      <p:ext uri="{BB962C8B-B14F-4D97-AF65-F5344CB8AC3E}">
        <p14:creationId xmlns:p14="http://schemas.microsoft.com/office/powerpoint/2010/main" val="350697532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348455"/>
            <a:ext cx="8899790" cy="424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</a:t>
            </a:r>
            <a:r>
              <a:rPr lang="en-US" altLang="en-US" sz="3800" dirty="0"/>
              <a:t>The control flow statements are:</a:t>
            </a:r>
          </a:p>
          <a:p>
            <a:pPr marL="0" indent="0">
              <a:buNone/>
            </a:pPr>
            <a:endParaRPr lang="en-US" altLang="en-US" sz="1100" dirty="0"/>
          </a:p>
          <a:p>
            <a:pPr>
              <a:buFontTx/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</a:rPr>
              <a:t>	  </a:t>
            </a:r>
            <a:r>
              <a:rPr lang="en-US" altLang="en-US" sz="32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30639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348455"/>
            <a:ext cx="8899790" cy="424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</a:t>
            </a:r>
            <a:r>
              <a:rPr lang="en-US" altLang="en-US" sz="3800" dirty="0"/>
              <a:t>The control flow statements are:</a:t>
            </a:r>
          </a:p>
          <a:p>
            <a:pPr marL="0" indent="0">
              <a:buNone/>
            </a:pPr>
            <a:endParaRPr lang="en-US" altLang="en-US" sz="1100" dirty="0"/>
          </a:p>
          <a:p>
            <a:pPr>
              <a:buFontTx/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A6A6A6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2710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47501"/>
            <a:ext cx="1060767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While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2894" y="1295400"/>
            <a:ext cx="9598706" cy="5696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altLang="en-US" sz="3800" dirty="0"/>
              <a:t>Continues </a:t>
            </a:r>
            <a:r>
              <a:rPr lang="en-US" altLang="en-US" sz="3800" b="1" dirty="0"/>
              <a:t>while</a:t>
            </a:r>
            <a:r>
              <a:rPr lang="en-US" altLang="en-US" sz="3800" dirty="0"/>
              <a:t> the expression remains true.</a:t>
            </a:r>
          </a:p>
          <a:p>
            <a:pPr marL="0" indent="0">
              <a:buNone/>
            </a:pPr>
            <a:r>
              <a:rPr lang="en-US" altLang="en-US" sz="300" dirty="0"/>
              <a:t> </a:t>
            </a:r>
            <a:endParaRPr lang="en-US" altLang="en-US" sz="100" dirty="0"/>
          </a:p>
          <a:p>
            <a:pPr marL="287338" indent="-287338"/>
            <a:r>
              <a:rPr lang="en-US" altLang="en-US" sz="3800" dirty="0"/>
              <a:t>Basic syntax: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3200" dirty="0"/>
              <a:t>	  </a:t>
            </a: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while expression: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   	statement(s)</a:t>
            </a:r>
          </a:p>
          <a:p>
            <a:pPr>
              <a:spcBef>
                <a:spcPts val="0"/>
              </a:spcBef>
              <a:buNone/>
            </a:pPr>
            <a:br>
              <a:rPr lang="en-US" altLang="en-US" sz="2400" b="1" dirty="0">
                <a:solidFill>
                  <a:srgbClr val="FF0000"/>
                </a:solidFill>
                <a:cs typeface="Courier New" panose="02070309020205020404" pitchFamily="49" charset="0"/>
              </a:rPr>
            </a:br>
            <a:r>
              <a:rPr lang="en-US" altLang="en-US" sz="3200" b="1" dirty="0">
                <a:solidFill>
                  <a:srgbClr val="FF0000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  <a:cs typeface="Courier New" panose="02070309020205020404" pitchFamily="49" charset="0"/>
              </a:rPr>
              <a:t>Example: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	 count = 0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32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 (count &lt; 9):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   	 print ('The count is:', count)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   	 count = count + 1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3200" dirty="0">
                <a:latin typeface="Consolas" panose="020B0609020204030204" pitchFamily="49" charset="0"/>
                <a:cs typeface="Courier New" panose="02070309020205020404" pitchFamily="49" charset="0"/>
              </a:rPr>
              <a:t>	 print ("Good bye!")</a:t>
            </a:r>
          </a:p>
        </p:txBody>
      </p:sp>
    </p:spTree>
    <p:extLst>
      <p:ext uri="{BB962C8B-B14F-4D97-AF65-F5344CB8AC3E}">
        <p14:creationId xmlns:p14="http://schemas.microsoft.com/office/powerpoint/2010/main" val="20386539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292894" y="1447800"/>
            <a:ext cx="9436894" cy="5108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dirty="0"/>
              <a:t>The following loops forever, or until you kill the program by typing type </a:t>
            </a:r>
            <a:r>
              <a:rPr lang="en-US" altLang="en-US" sz="3600" b="1" dirty="0">
                <a:solidFill>
                  <a:srgbClr val="002060"/>
                </a:solidFill>
              </a:rPr>
              <a:t>CTRL+C</a:t>
            </a:r>
            <a:r>
              <a:rPr lang="en-US" altLang="en-US" sz="700" dirty="0"/>
              <a:t> </a:t>
            </a:r>
            <a:r>
              <a:rPr lang="en-US" altLang="en-US" sz="3600" dirty="0"/>
              <a:t>: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en-US" altLang="en-US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answer = "Y"</a:t>
            </a:r>
          </a:p>
          <a:p>
            <a:pPr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while answer=="Y":</a:t>
            </a:r>
          </a:p>
          <a:p>
            <a:pPr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answer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= input("Continue (Y/N)? ")</a:t>
            </a:r>
          </a:p>
          <a:p>
            <a:pPr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print ("You entered: ", answer)</a:t>
            </a:r>
          </a:p>
          <a:p>
            <a:pPr>
              <a:buFontTx/>
              <a:buNone/>
            </a:pP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print ("Good bye!")</a:t>
            </a:r>
          </a:p>
          <a:p>
            <a:pPr>
              <a:buFontTx/>
              <a:buNone/>
            </a:pP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47500"/>
            <a:ext cx="9729788" cy="14764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0070C0"/>
                </a:solidFill>
              </a:rPr>
              <a:t>Here's an Error that Might Throw You for a Loop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4941094" y="4454406"/>
            <a:ext cx="4533447" cy="2327394"/>
          </a:xfrm>
          <a:prstGeom prst="wedgeRoundRectCallout">
            <a:avLst>
              <a:gd name="adj1" fmla="val -118710"/>
              <a:gd name="adj2" fmla="val -600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In C, </a:t>
            </a:r>
            <a:r>
              <a:rPr lang="en-US" altLang="zh-TW" sz="2800" dirty="0">
                <a:solidFill>
                  <a:srgbClr val="FF0000"/>
                </a:solidFill>
              </a:rPr>
              <a:t>this bug would have been caught</a:t>
            </a:r>
            <a:r>
              <a:rPr lang="en-US" altLang="zh-TW" sz="2800" dirty="0">
                <a:solidFill>
                  <a:schemeClr val="tx1"/>
                </a:solidFill>
              </a:rPr>
              <a:t>, because the compiler would have seen that you had never declared the variable “</a:t>
            </a:r>
            <a:r>
              <a:rPr lang="en-US" altLang="zh-TW" sz="2800" dirty="0" err="1">
                <a:solidFill>
                  <a:schemeClr val="tx1"/>
                </a:solidFill>
              </a:rPr>
              <a:t>asnwer</a:t>
            </a:r>
            <a:r>
              <a:rPr lang="en-US" altLang="zh-TW" sz="2800" dirty="0">
                <a:solidFill>
                  <a:schemeClr val="tx1"/>
                </a:solidFill>
              </a:rPr>
              <a:t>”.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6187961" y="331240"/>
            <a:ext cx="3248933" cy="3072739"/>
          </a:xfrm>
          <a:prstGeom prst="wedgeRoundRectCallout">
            <a:avLst>
              <a:gd name="adj1" fmla="val 14166"/>
              <a:gd name="adj2" fmla="val 911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So there is some basis for arguing for requiring declarations. Nonetheless, Python doesn’t use them.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83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282359" y="990600"/>
            <a:ext cx="9189691" cy="5867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a=0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while a&lt;2: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#No body is here, so 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we still need it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  print(a)</a:t>
            </a:r>
            <a:r>
              <a:rPr lang="en-US" altLang="en-US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12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</a:t>
            </a:r>
            <a:r>
              <a:rPr lang="en-US" altLang="en-US" sz="20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</a:t>
            </a:r>
            <a:r>
              <a:rPr lang="en-US" altLang="en-US" spc="-11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av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bod</a:t>
            </a:r>
            <a:r>
              <a:rPr lang="en-US" altLang="en-US" spc="-12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y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400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but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is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t</a:t>
            </a:r>
            <a:r>
              <a:rPr lang="en-US" altLang="en-US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he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re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mor</a:t>
            </a:r>
            <a:r>
              <a:rPr lang="en-US" altLang="en-US" spc="-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  <a:endParaRPr lang="en-US" altLang="en-US" spc="-50" dirty="0">
              <a:solidFill>
                <a:srgbClr val="FFFF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  a+=1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#Python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doesn't know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the body is done</a:t>
            </a: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print(a);a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+=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#Ca</a:t>
            </a:r>
            <a:r>
              <a:rPr lang="en-US" altLang="en-US" spc="-2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k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now</a:t>
            </a:r>
            <a:r>
              <a:rPr lang="en-US" altLang="en-US" sz="2400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're</a:t>
            </a:r>
            <a:r>
              <a:rPr lang="en-US" altLang="en-US" sz="2400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a&lt;3:a+=1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 mean: If we did try adding more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  print(a)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#lines,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it'd be an error,</a:t>
            </a:r>
            <a:r>
              <a:rPr lang="en-US" altLang="en-US" spc="-60" dirty="0">
                <a:solidFill>
                  <a:srgbClr val="FF99CC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right?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File "&lt;</a:t>
            </a:r>
            <a:r>
              <a:rPr lang="en-US" altLang="en-US" dirty="0" err="1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&gt;", line 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print(a)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Ind</a:t>
            </a:r>
            <a:endParaRPr lang="en-US" altLang="en-US" dirty="0">
              <a:solidFill>
                <a:srgbClr val="FF9B9B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-438941" y="0"/>
            <a:ext cx="10607675" cy="1221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While-Loop-Body Placement Rules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82359" y="990600"/>
            <a:ext cx="924935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1054894" y="1600200"/>
            <a:ext cx="5867400" cy="381000"/>
          </a:xfrm>
          <a:prstGeom prst="straightConnector1">
            <a:avLst/>
          </a:prstGeom>
          <a:ln w="31750">
            <a:solidFill>
              <a:srgbClr val="FFFF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417094" y="5334000"/>
            <a:ext cx="3352800" cy="1219200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054894" y="3886200"/>
            <a:ext cx="5562600" cy="304800"/>
          </a:xfrm>
          <a:prstGeom prst="straightConnector1">
            <a:avLst/>
          </a:prstGeom>
          <a:ln w="31750">
            <a:solidFill>
              <a:srgbClr val="FFFF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436608" y="1755648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170432" y="1755648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9326880" y="1389888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968089" y="1024128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390888" y="2112264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640719" y="3471671"/>
            <a:ext cx="3796175" cy="5192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1170432" y="2112264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170432" y="2478024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170432" y="3575304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703094" y="356616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9435689" y="356616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036094" y="2137436"/>
            <a:ext cx="6324600" cy="48185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3036094" y="2112264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170432" y="1389888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170432" y="1024128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054894" y="2002536"/>
            <a:ext cx="5592794" cy="359664"/>
          </a:xfrm>
          <a:prstGeom prst="straightConnector1">
            <a:avLst/>
          </a:prstGeom>
          <a:ln w="31750">
            <a:solidFill>
              <a:srgbClr val="FFFF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1054894" y="2438400"/>
            <a:ext cx="4648200" cy="304800"/>
          </a:xfrm>
          <a:prstGeom prst="straightConnector1">
            <a:avLst/>
          </a:prstGeom>
          <a:ln w="31750">
            <a:solidFill>
              <a:srgbClr val="FFFF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170432" y="393192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170432" y="466344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283289" y="466344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1170432" y="5056632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445089" y="502920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ontent Placeholder 2"/>
          <p:cNvSpPr txBox="1">
            <a:spLocks/>
          </p:cNvSpPr>
          <p:nvPr/>
        </p:nvSpPr>
        <p:spPr>
          <a:xfrm>
            <a:off x="282359" y="990600"/>
            <a:ext cx="9189691" cy="5867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while a&lt;2: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#No body is here, so 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we still </a:t>
            </a:r>
            <a:r>
              <a:rPr lang="en-US" altLang="en-US" spc="-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nee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 it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print(a</a:t>
            </a:r>
            <a:r>
              <a:rPr lang="en-US" altLang="en-US" spc="-4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12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</a:t>
            </a:r>
            <a:r>
              <a:rPr lang="en-US" altLang="en-US" sz="20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</a:t>
            </a:r>
            <a:r>
              <a:rPr lang="en-US" altLang="en-US" spc="-11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av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bod</a:t>
            </a:r>
            <a:r>
              <a:rPr lang="en-US" altLang="en-US" spc="-1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y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400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but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is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t</a:t>
            </a:r>
            <a:r>
              <a:rPr lang="en-US" altLang="en-US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here</a:t>
            </a:r>
            <a:r>
              <a:rPr lang="en-US" altLang="en-US" sz="2400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mo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r</a:t>
            </a:r>
            <a:r>
              <a:rPr lang="en-US" altLang="en-US" spc="-14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  <a:endParaRPr lang="en-US" altLang="en-US" spc="-50" dirty="0">
              <a:solidFill>
                <a:srgbClr val="FFFF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a+=1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#Python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doesn't know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the body is done</a:t>
            </a: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print(a);a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+=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#Ca</a:t>
            </a:r>
            <a:r>
              <a:rPr lang="en-US" altLang="en-US" spc="-2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k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now we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're</a:t>
            </a:r>
            <a:r>
              <a:rPr lang="en-US" altLang="en-US" sz="2400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a&lt;3:a+=1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 mean: If we did try adding more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print(a)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#lines,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it'd be an error,</a:t>
            </a:r>
            <a:r>
              <a:rPr lang="en-US" altLang="en-US" spc="-60" dirty="0">
                <a:solidFill>
                  <a:srgbClr val="FF99CC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right?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&gt;", line 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print(a)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IndentationError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 unexpected indent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417094" y="4953000"/>
            <a:ext cx="3352800" cy="1219200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170432" y="647700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07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8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4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500"/>
                            </p:stCondLst>
                            <p:childTnLst>
                              <p:par>
                                <p:cTn id="1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500"/>
                            </p:stCondLst>
                            <p:childTnLst>
                              <p:par>
                                <p:cTn id="19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1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4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5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6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7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1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4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7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0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500"/>
                            </p:stCondLst>
                            <p:childTnLst>
                              <p:par>
                                <p:cTn id="2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1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000"/>
                            </p:stCondLst>
                            <p:childTnLst>
                              <p:par>
                                <p:cTn id="273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51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-438941" y="0"/>
            <a:ext cx="10607675" cy="1221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While-Loop-Body Placement Rules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282359" y="990600"/>
            <a:ext cx="9189691" cy="5867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while a&lt;2: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#No body is here, so 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we still </a:t>
            </a:r>
            <a:r>
              <a:rPr lang="en-US" altLang="en-US" spc="-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nee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 it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print(a</a:t>
            </a:r>
            <a:r>
              <a:rPr lang="en-US" altLang="en-US" spc="-4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12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</a:t>
            </a:r>
            <a:r>
              <a:rPr lang="en-US" altLang="en-US" sz="20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</a:t>
            </a:r>
            <a:r>
              <a:rPr lang="en-US" altLang="en-US" spc="-11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av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bod</a:t>
            </a:r>
            <a:r>
              <a:rPr lang="en-US" altLang="en-US" spc="-1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y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400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but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is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t</a:t>
            </a:r>
            <a:r>
              <a:rPr lang="en-US" altLang="en-US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here</a:t>
            </a:r>
            <a:r>
              <a:rPr lang="en-US" altLang="en-US" sz="2400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mo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r</a:t>
            </a:r>
            <a:r>
              <a:rPr lang="en-US" altLang="en-US" spc="-14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  <a:endParaRPr lang="en-US" altLang="en-US" spc="-50" dirty="0">
              <a:solidFill>
                <a:srgbClr val="FFFF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a+=1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#Python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doesn't know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the body is done</a:t>
            </a: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print(a);a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+=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#Ca</a:t>
            </a:r>
            <a:r>
              <a:rPr lang="en-US" altLang="en-US" spc="-2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k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now we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're</a:t>
            </a:r>
            <a:r>
              <a:rPr lang="en-US" altLang="en-US" sz="2400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a&lt;3:a+=1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 mean: If we did try adding more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print(a)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#lines,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it'd be an error,</a:t>
            </a:r>
            <a:r>
              <a:rPr lang="en-US" altLang="en-US" spc="-60" dirty="0">
                <a:solidFill>
                  <a:srgbClr val="FF99CC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right?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&gt;", line 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print(a)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IndentationError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 unexpected indent</a:t>
            </a:r>
          </a:p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prstClr val="white">
                    <a:lumMod val="9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a&lt;9:a+=1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Why can't it know?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Because an</a:t>
            </a:r>
            <a:endParaRPr lang="en-US" altLang="en-US" i="1" dirty="0">
              <a:solidFill>
                <a:prstClr val="white">
                  <a:lumMod val="95000"/>
                </a:prst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9360694" y="647700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/>
          <p:cNvSpPr txBox="1">
            <a:spLocks/>
          </p:cNvSpPr>
          <p:nvPr/>
        </p:nvSpPr>
        <p:spPr>
          <a:xfrm>
            <a:off x="282359" y="6428508"/>
            <a:ext cx="924935" cy="429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5855494" y="3581400"/>
            <a:ext cx="1371600" cy="289560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57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-438941" y="0"/>
            <a:ext cx="10607675" cy="1221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While-Loop-Body Placement Rules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282359" y="990600"/>
            <a:ext cx="9189691" cy="5867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print(a</a:t>
            </a:r>
            <a:r>
              <a:rPr lang="en-US" altLang="en-US" spc="-4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12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</a:t>
            </a:r>
            <a:r>
              <a:rPr lang="en-US" altLang="en-US" sz="20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</a:t>
            </a:r>
            <a:r>
              <a:rPr lang="en-US" altLang="en-US" spc="-11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av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</a:t>
            </a:r>
            <a:r>
              <a:rPr lang="en-US" altLang="en-US" sz="2400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bod</a:t>
            </a:r>
            <a:r>
              <a:rPr lang="en-US" altLang="en-US" spc="-1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y</a:t>
            </a:r>
            <a:r>
              <a:rPr lang="en-US" altLang="en-US" spc="-7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400" spc="-5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but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is</a:t>
            </a:r>
            <a:r>
              <a:rPr lang="en-US" altLang="en-US" sz="2400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t</a:t>
            </a:r>
            <a:r>
              <a:rPr lang="en-US" altLang="en-US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here</a:t>
            </a:r>
            <a:r>
              <a:rPr lang="en-US" altLang="en-US" sz="2400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7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mo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r</a:t>
            </a:r>
            <a:r>
              <a:rPr lang="en-US" altLang="en-US" spc="-14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5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  <a:endParaRPr lang="en-US" altLang="en-US" spc="-50" dirty="0">
              <a:solidFill>
                <a:srgbClr val="FFFF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a+=1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#Python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doesn't know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the body is done</a:t>
            </a: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print(a);a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+=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#Ca</a:t>
            </a:r>
            <a:r>
              <a:rPr lang="en-US" altLang="en-US" spc="-2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k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now we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're</a:t>
            </a:r>
            <a:r>
              <a:rPr lang="en-US" altLang="en-US" sz="2400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a&lt;3:print(a)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 mean: If we did try adding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a+=1      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#more lines,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it'd be an error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&gt;", line 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print(a)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IndentationError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 unexpected indent</a:t>
            </a:r>
          </a:p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prstClr val="white">
                    <a:lumMod val="9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a&lt;9:a+=1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Why can't it know?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Because an</a:t>
            </a:r>
            <a:endParaRPr lang="en-US" altLang="en-US" i="1" dirty="0">
              <a:solidFill>
                <a:prstClr val="white">
                  <a:lumMod val="95000"/>
                </a:prst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else:print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(a)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else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can go here, with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 error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9418320" y="647700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/>
          <p:cNvSpPr txBox="1">
            <a:spLocks/>
          </p:cNvSpPr>
          <p:nvPr/>
        </p:nvSpPr>
        <p:spPr>
          <a:xfrm>
            <a:off x="282359" y="6428508"/>
            <a:ext cx="924935" cy="429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170432" y="647700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5855494" y="3200400"/>
            <a:ext cx="1371600" cy="289560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8065294" y="4648200"/>
            <a:ext cx="533400" cy="1905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69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-438941" y="0"/>
            <a:ext cx="10607675" cy="1221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While-Loop-Body Placement Rules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282359" y="990600"/>
            <a:ext cx="9189691" cy="5867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a+=1 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#Python</a:t>
            </a:r>
            <a:r>
              <a:rPr lang="en-US" altLang="en-US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doesn't know</a:t>
            </a:r>
            <a:r>
              <a:rPr lang="en-US" altLang="en-US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the body is done</a:t>
            </a:r>
            <a:endParaRPr lang="en-US" altLang="en-US" dirty="0">
              <a:solidFill>
                <a:schemeClr val="bg1">
                  <a:lumMod val="95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print(a);a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+=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#Ca</a:t>
            </a:r>
            <a:r>
              <a:rPr lang="en-US" altLang="en-US" spc="-2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k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now we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're</a:t>
            </a:r>
            <a:r>
              <a:rPr lang="en-US" altLang="en-US" sz="2400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a&lt;3:print(a)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 mean: If we did try adding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a+=1      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#more lines,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it'd be an error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&gt;", line 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print(a)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IndentationError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 unexpected indent</a:t>
            </a:r>
          </a:p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prstClr val="white">
                    <a:lumMod val="9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a&lt;9:a+=1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Why can't it know?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Because an</a:t>
            </a:r>
            <a:endParaRPr lang="en-US" altLang="en-US" i="1" dirty="0">
              <a:solidFill>
                <a:prstClr val="white">
                  <a:lumMod val="95000"/>
                </a:prst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 </a:t>
            </a:r>
            <a:r>
              <a:rPr lang="en-US" altLang="en-US" dirty="0" err="1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else:print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(a)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else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can go here, with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 error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9" name="Content Placeholder 2"/>
          <p:cNvSpPr txBox="1">
            <a:spLocks/>
          </p:cNvSpPr>
          <p:nvPr/>
        </p:nvSpPr>
        <p:spPr>
          <a:xfrm>
            <a:off x="282359" y="6428508"/>
            <a:ext cx="924935" cy="429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170432" y="647700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5855494" y="2819400"/>
            <a:ext cx="1371600" cy="297180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8065294" y="4267200"/>
            <a:ext cx="533400" cy="1905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65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-438941" y="0"/>
            <a:ext cx="10607675" cy="1221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While-Loop-Body Placement Rules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282359" y="990600"/>
            <a:ext cx="9189691" cy="5867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print(a);a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+=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#Ca</a:t>
            </a:r>
            <a:r>
              <a:rPr lang="en-US" altLang="en-US" spc="-2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k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now we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're</a:t>
            </a:r>
            <a:r>
              <a:rPr lang="en-US" altLang="en-US" sz="2400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a&lt;3:print(a)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 mean: If we did try adding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a+=1      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#more lines,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it'd be an error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&gt;", line 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print(a)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IndentationError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 unexpected indent</a:t>
            </a:r>
          </a:p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prstClr val="white">
                    <a:lumMod val="9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a&lt;9:a+=1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Why can't it know?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Because an</a:t>
            </a:r>
            <a:endParaRPr lang="en-US" altLang="en-US" i="1" dirty="0">
              <a:solidFill>
                <a:prstClr val="white">
                  <a:lumMod val="95000"/>
                </a:prst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 </a:t>
            </a:r>
            <a:r>
              <a:rPr lang="en-US" altLang="en-US" dirty="0" err="1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else:print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(a)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else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can go here, with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 error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</a:rPr>
              <a:t>...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9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855494" y="2438400"/>
            <a:ext cx="2743200" cy="3352800"/>
            <a:chOff x="5855494" y="2819400"/>
            <a:chExt cx="2743200" cy="3352800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5855494" y="2819400"/>
              <a:ext cx="1371600" cy="297180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8065294" y="4267200"/>
              <a:ext cx="533400" cy="1905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669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-438941" y="0"/>
            <a:ext cx="10607675" cy="1221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While-Loop-Body Placement Rules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282359" y="990600"/>
            <a:ext cx="9189691" cy="5867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print(a);a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+=</a:t>
            </a:r>
            <a:r>
              <a:rPr lang="en-US" altLang="en-US" spc="-2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#Ca</a:t>
            </a:r>
            <a:r>
              <a:rPr lang="en-US" altLang="en-US" spc="-2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k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now we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're</a:t>
            </a:r>
            <a:r>
              <a:rPr lang="en-US" altLang="en-US" sz="2400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pc="-1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</a:t>
            </a:r>
            <a:r>
              <a:rPr lang="en-US" altLang="en-US" spc="-19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</a:t>
            </a:r>
            <a:r>
              <a:rPr lang="en-US" altLang="en-US" spc="-10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00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a&lt;3:print(a)</a:t>
            </a:r>
            <a:r>
              <a:rPr lang="en-US" altLang="en-US" spc="-10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 mean: If we did try adding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a+=1      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#more lines,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it'd be an error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File "&lt;</a:t>
            </a:r>
            <a:r>
              <a:rPr lang="en-US" altLang="en-US" dirty="0" err="1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stdin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&gt;", line 2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print(a)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IndentationError</a:t>
            </a:r>
            <a:r>
              <a:rPr lang="en-US" altLang="en-US" dirty="0">
                <a:solidFill>
                  <a:srgbClr val="FF9B9B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 unexpected indent</a:t>
            </a:r>
          </a:p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prstClr val="white">
                    <a:lumMod val="9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while a&lt;9:a+=1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rgbClr val="FFFF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Why can't it know?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Because an</a:t>
            </a:r>
            <a:endParaRPr lang="en-US" altLang="en-US" i="1" dirty="0">
              <a:solidFill>
                <a:prstClr val="white">
                  <a:lumMod val="95000"/>
                </a:prst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... </a:t>
            </a:r>
            <a:r>
              <a:rPr lang="en-US" altLang="en-US" dirty="0" err="1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else:print</a:t>
            </a: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(a)  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#</a:t>
            </a:r>
            <a:r>
              <a:rPr lang="en-US" altLang="en-US" spc="-60" dirty="0"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else</a:t>
            </a:r>
            <a:r>
              <a:rPr lang="en-US" altLang="en-US" spc="-60" dirty="0">
                <a:solidFill>
                  <a:srgbClr val="FF9B9B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can go here, with </a:t>
            </a:r>
            <a:r>
              <a:rPr lang="en-US" altLang="en-US" spc="-60" dirty="0">
                <a:solidFill>
                  <a:srgbClr val="FF0000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 error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</a:rPr>
              <a:t>...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9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2359" y="6428508"/>
            <a:ext cx="924935" cy="429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170432" y="6477000"/>
            <a:ext cx="1205" cy="3108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855494" y="2103120"/>
            <a:ext cx="2743200" cy="3352800"/>
            <a:chOff x="5855494" y="2819400"/>
            <a:chExt cx="2743200" cy="3352800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5855494" y="2819400"/>
              <a:ext cx="1371600" cy="297180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 flipV="1">
              <a:off x="8065294" y="4267200"/>
              <a:ext cx="533400" cy="1905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655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92893" y="1017267"/>
            <a:ext cx="9144001" cy="23241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/>
              <a:t>Python supports an </a:t>
            </a:r>
            <a:r>
              <a:rPr lang="en-US" altLang="en-US" sz="3600" dirty="0">
                <a:solidFill>
                  <a:srgbClr val="002060"/>
                </a:solidFill>
                <a:latin typeface="Lucida Sans Typewriter" panose="020B0509030504030204" pitchFamily="49" charset="0"/>
              </a:rPr>
              <a:t>else</a:t>
            </a:r>
            <a:r>
              <a:rPr lang="en-US" altLang="en-US" sz="4000" dirty="0"/>
              <a:t> after a loop.</a:t>
            </a:r>
          </a:p>
          <a:p>
            <a:pPr marL="737535" lvl="1" indent="-277813">
              <a:spcBef>
                <a:spcPts val="600"/>
              </a:spcBef>
            </a:pPr>
            <a:r>
              <a:rPr lang="en-US" altLang="en-US" sz="4000" dirty="0"/>
              <a:t>The else-block executes when the condition test fails (</a:t>
            </a:r>
            <a:r>
              <a:rPr lang="en-US" altLang="en-US" sz="4000" i="1" dirty="0"/>
              <a:t>i.e.</a:t>
            </a:r>
            <a:r>
              <a:rPr lang="en-US" altLang="en-US" sz="4000" dirty="0"/>
              <a:t>, when the </a:t>
            </a:r>
            <a:br>
              <a:rPr lang="en-US" altLang="en-US" sz="4000" dirty="0"/>
            </a:br>
            <a:r>
              <a:rPr lang="en-US" altLang="en-US" sz="4000" dirty="0"/>
              <a:t>loop finishes in the normal way).</a:t>
            </a:r>
            <a:endParaRPr lang="en-US" altLang="en-US" sz="32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47501"/>
            <a:ext cx="1060767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30" dirty="0">
                <a:solidFill>
                  <a:srgbClr val="0070C0"/>
                </a:solidFill>
              </a:rPr>
              <a:t>Using an “Else” in a While Loop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-247884" y="4082484"/>
            <a:ext cx="10293046" cy="2680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while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&lt;5 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+=1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print("Final value of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",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072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92894" y="1017271"/>
            <a:ext cx="9436893" cy="70301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/>
              <a:t>Q: Is it unnecessary? These</a:t>
            </a:r>
            <a:r>
              <a:rPr lang="en-US" altLang="en-US" sz="3600" dirty="0"/>
              <a:t> </a:t>
            </a:r>
            <a:r>
              <a:rPr lang="en-US" altLang="en-US" sz="4000" dirty="0"/>
              <a:t>2</a:t>
            </a:r>
            <a:r>
              <a:rPr lang="en-US" altLang="en-US" sz="3600" dirty="0"/>
              <a:t> </a:t>
            </a:r>
            <a:r>
              <a:rPr lang="en-US" altLang="en-US" sz="4000" dirty="0"/>
              <a:t>are</a:t>
            </a:r>
            <a:r>
              <a:rPr lang="en-US" altLang="en-US" sz="3600" dirty="0"/>
              <a:t> </a:t>
            </a:r>
            <a:r>
              <a:rPr lang="en-US" altLang="en-US" sz="4000" dirty="0"/>
              <a:t>equivalent: </a:t>
            </a:r>
            <a:endParaRPr lang="en-US" altLang="en-US" sz="28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247884" y="4082484"/>
            <a:ext cx="10293046" cy="2680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while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&lt;5 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+=1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print("Final value of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",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47501"/>
            <a:ext cx="1060767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30" dirty="0">
                <a:solidFill>
                  <a:srgbClr val="0070C0"/>
                </a:solidFill>
              </a:rPr>
              <a:t>Why Use an “Else” in a While Loop?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-247884" y="1720280"/>
            <a:ext cx="10293046" cy="2155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while 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&lt;5 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+=1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print("Final value of 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",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231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6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92895" y="1017271"/>
            <a:ext cx="9436894" cy="70301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/>
              <a:t>A: </a:t>
            </a:r>
            <a:r>
              <a:rPr lang="en-US" altLang="en-US" sz="4000" spc="-20" dirty="0"/>
              <a:t>It can be useful. These</a:t>
            </a:r>
            <a:r>
              <a:rPr lang="en-US" altLang="en-US" sz="3600" spc="-20" dirty="0"/>
              <a:t> </a:t>
            </a:r>
            <a:r>
              <a:rPr lang="en-US" altLang="en-US" sz="4000" spc="-20" dirty="0"/>
              <a:t>2</a:t>
            </a:r>
            <a:r>
              <a:rPr lang="en-US" altLang="en-US" sz="3600" spc="-20" dirty="0"/>
              <a:t> </a:t>
            </a:r>
            <a:r>
              <a:rPr lang="en-US" altLang="en-US" sz="4000" i="1" spc="-20" dirty="0"/>
              <a:t>are</a:t>
            </a:r>
            <a:r>
              <a:rPr lang="en-US" altLang="en-US" sz="4000" i="1" spc="-200" dirty="0"/>
              <a:t>n</a:t>
            </a:r>
            <a:r>
              <a:rPr lang="en-US" altLang="en-US" sz="4000" i="1" spc="-20" dirty="0"/>
              <a:t>'t</a:t>
            </a:r>
            <a:r>
              <a:rPr lang="en-US" altLang="en-US" sz="4000" spc="-20" dirty="0"/>
              <a:t> equivalent: </a:t>
            </a:r>
            <a:endParaRPr lang="en-US" altLang="en-US" sz="2800" spc="-2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247884" y="4082484"/>
            <a:ext cx="10293046" cy="2680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while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&lt;5 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if (A[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]=="The string I want"): break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</a:t>
            </a:r>
            <a:r>
              <a:rPr lang="en-US" altLang="en-US" sz="2800" b="1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+=1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print("No match was found")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47501"/>
            <a:ext cx="1060767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30" dirty="0">
                <a:solidFill>
                  <a:srgbClr val="0070C0"/>
                </a:solidFill>
              </a:rPr>
              <a:t>Why Use an “Else” in a While Loop?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-247884" y="1720280"/>
            <a:ext cx="10416616" cy="2155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 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while 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&lt;5 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if (A[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]=="The string I want"): break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</a:t>
            </a:r>
            <a:r>
              <a:rPr lang="en-US" altLang="en-US" sz="2800" b="1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+=1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print("Always prints when loop is done")</a:t>
            </a:r>
          </a:p>
        </p:txBody>
      </p:sp>
    </p:spTree>
    <p:extLst>
      <p:ext uri="{BB962C8B-B14F-4D97-AF65-F5344CB8AC3E}">
        <p14:creationId xmlns:p14="http://schemas.microsoft.com/office/powerpoint/2010/main" val="359515764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905" y="5562600"/>
            <a:ext cx="9741694" cy="12954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Rectangle 5"/>
          <p:cNvSpPr/>
          <p:nvPr/>
        </p:nvSpPr>
        <p:spPr>
          <a:xfrm>
            <a:off x="-11905" y="1447800"/>
            <a:ext cx="9741694" cy="12954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-11905" y="3276600"/>
            <a:ext cx="9741694" cy="1752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292894" y="945223"/>
            <a:ext cx="9478963" cy="576380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en-US" sz="3200" dirty="0">
                <a:solidFill>
                  <a:srgbClr val="002060"/>
                </a:solidFill>
                <a:latin typeface="Lucida Sans Typewriter" panose="020B0509030504030204" pitchFamily="49" charset="0"/>
              </a:rPr>
              <a:t>break: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Identical to how </a:t>
            </a:r>
            <a:r>
              <a:rPr lang="en-US" altLang="en-US" sz="2800" dirty="0">
                <a:latin typeface="Lucida Sans Typewriter" panose="020B0509030504030204" pitchFamily="49" charset="0"/>
              </a:rPr>
              <a:t>break</a:t>
            </a:r>
            <a:r>
              <a:rPr lang="en-US" altLang="en-US" sz="3200" dirty="0"/>
              <a:t> behaves in C.</a:t>
            </a:r>
          </a:p>
          <a:p>
            <a:pPr lvl="2">
              <a:spcBef>
                <a:spcPts val="0"/>
              </a:spcBef>
            </a:pPr>
            <a:r>
              <a:rPr lang="en-US" altLang="en-US" sz="3200" dirty="0"/>
              <a:t>Terminate the current loop and start executing the next statement after the loop.</a:t>
            </a:r>
          </a:p>
          <a:p>
            <a:pPr>
              <a:spcBef>
                <a:spcPts val="600"/>
              </a:spcBef>
            </a:pPr>
            <a:r>
              <a:rPr lang="en-US" altLang="en-US" sz="3200" dirty="0">
                <a:solidFill>
                  <a:srgbClr val="002060"/>
                </a:solidFill>
                <a:latin typeface="Lucida Sans Typewriter" panose="020B0509030504030204" pitchFamily="49" charset="0"/>
              </a:rPr>
              <a:t>continue: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Identical to how </a:t>
            </a:r>
            <a:r>
              <a:rPr lang="en-US" altLang="en-US" sz="2800" dirty="0">
                <a:latin typeface="Lucida Sans Typewriter" panose="020B0509030504030204" pitchFamily="49" charset="0"/>
              </a:rPr>
              <a:t>continue</a:t>
            </a:r>
            <a:r>
              <a:rPr lang="en-US" altLang="en-US" sz="3200" dirty="0"/>
              <a:t> behaves in C:</a:t>
            </a:r>
          </a:p>
          <a:p>
            <a:pPr lvl="2">
              <a:spcBef>
                <a:spcPts val="0"/>
              </a:spcBef>
            </a:pPr>
            <a:r>
              <a:rPr lang="en-US" altLang="en-US" sz="3200" dirty="0"/>
              <a:t>Reject all remaining statements in the current </a:t>
            </a:r>
            <a:r>
              <a:rPr lang="en-US" altLang="en-US" sz="3200" spc="-10" dirty="0"/>
              <a:t>loo</a:t>
            </a:r>
            <a:r>
              <a:rPr lang="en-US" altLang="en-US" sz="3200" dirty="0"/>
              <a:t>p</a:t>
            </a:r>
            <a:r>
              <a:rPr lang="en-US" altLang="en-US" sz="2800" dirty="0"/>
              <a:t> </a:t>
            </a:r>
            <a:r>
              <a:rPr lang="en-US" altLang="en-US" sz="3200" dirty="0"/>
              <a:t>iteration and start fr</a:t>
            </a:r>
            <a:r>
              <a:rPr lang="en-US" altLang="en-US" sz="3200" spc="-10" dirty="0"/>
              <a:t>om the</a:t>
            </a:r>
            <a:r>
              <a:rPr lang="en-US" altLang="en-US" sz="2800" spc="-10" dirty="0"/>
              <a:t> </a:t>
            </a:r>
            <a:r>
              <a:rPr lang="en-US" altLang="en-US" sz="3200" spc="-10" dirty="0"/>
              <a:t>top</a:t>
            </a:r>
            <a:r>
              <a:rPr lang="en-US" altLang="en-US" sz="2800" spc="-10" dirty="0"/>
              <a:t> </a:t>
            </a:r>
            <a:r>
              <a:rPr lang="en-US" altLang="en-US" sz="3200" spc="-10" dirty="0"/>
              <a:t>for the</a:t>
            </a:r>
            <a:r>
              <a:rPr lang="en-US" altLang="en-US" sz="2800" spc="-10" dirty="0"/>
              <a:t> </a:t>
            </a:r>
            <a:r>
              <a:rPr lang="en-US" altLang="en-US" sz="3200" spc="-10" dirty="0"/>
              <a:t>next </a:t>
            </a:r>
            <a:r>
              <a:rPr lang="en-US" altLang="en-US" sz="3200" dirty="0"/>
              <a:t>iteration (assuming that the loop isn’t finished).</a:t>
            </a:r>
          </a:p>
          <a:p>
            <a:pPr>
              <a:spcBef>
                <a:spcPts val="600"/>
              </a:spcBef>
            </a:pPr>
            <a:r>
              <a:rPr lang="en-US" altLang="en-US" sz="3200" dirty="0">
                <a:solidFill>
                  <a:srgbClr val="002060"/>
                </a:solidFill>
                <a:latin typeface="Lucida Sans Typewriter" panose="020B0509030504030204" pitchFamily="49" charset="0"/>
              </a:rPr>
              <a:t>pass: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Identical to how an isolated “</a:t>
            </a:r>
            <a:r>
              <a:rPr lang="en-US" altLang="en-US" sz="2800" dirty="0">
                <a:latin typeface="Lucida Sans Typewriter" panose="020B0509030504030204" pitchFamily="49" charset="0"/>
              </a:rPr>
              <a:t>;</a:t>
            </a:r>
            <a:r>
              <a:rPr lang="en-US" altLang="en-US" sz="3200" dirty="0"/>
              <a:t>” behaves in C.</a:t>
            </a:r>
          </a:p>
          <a:p>
            <a:pPr lvl="2">
              <a:spcBef>
                <a:spcPts val="0"/>
              </a:spcBef>
            </a:pPr>
            <a:r>
              <a:rPr lang="en-US" altLang="en-US" sz="3200" dirty="0"/>
              <a:t>Do nothing. Use this when the syntax requires a statement, but you have no code to execute.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47501"/>
            <a:ext cx="1060767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30" dirty="0">
                <a:solidFill>
                  <a:srgbClr val="0070C0"/>
                </a:solidFill>
              </a:rPr>
              <a:t>Break, Continue, &amp; Pass Commands</a:t>
            </a:r>
          </a:p>
        </p:txBody>
      </p:sp>
    </p:spTree>
    <p:extLst>
      <p:ext uri="{BB962C8B-B14F-4D97-AF65-F5344CB8AC3E}">
        <p14:creationId xmlns:p14="http://schemas.microsoft.com/office/powerpoint/2010/main" val="304897297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905" y="976049"/>
            <a:ext cx="9741694" cy="1674684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Rectangle 1"/>
          <p:cNvSpPr/>
          <p:nvPr/>
        </p:nvSpPr>
        <p:spPr>
          <a:xfrm>
            <a:off x="-11905" y="3626783"/>
            <a:ext cx="9741694" cy="2332231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92895" y="606178"/>
            <a:ext cx="9144000" cy="625182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cat test1.py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while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&lt;= 5:   #This code stops on #3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+=1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== 3: </a:t>
            </a:r>
            <a:r>
              <a:rPr lang="en-US" altLang="en-US" sz="2400" b="1" dirty="0">
                <a:solidFill>
                  <a:schemeClr val="accent5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break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print (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, end='')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python3 test1.py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12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cat test1.c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stdio.h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{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1;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while (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5)   //This code stops on #3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{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+=1;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if (</a:t>
            </a:r>
            <a:r>
              <a:rPr lang="en-US" alt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== 3) </a:t>
            </a:r>
            <a:r>
              <a:rPr lang="en-US" altLang="en-US" sz="2400" b="1" dirty="0">
                <a:solidFill>
                  <a:schemeClr val="accent5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break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("%d",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);  }  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gcc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–o test1.x test1.c; ./test1.x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12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-11905" y="1"/>
            <a:ext cx="9741694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break</a:t>
            </a:r>
            <a:r>
              <a:rPr lang="en-US" altLang="en-US" sz="4000" dirty="0">
                <a:solidFill>
                  <a:srgbClr val="0070C0"/>
                </a:solidFill>
              </a:rPr>
              <a:t>: </a:t>
            </a:r>
            <a:r>
              <a:rPr lang="en-US" altLang="en-US" sz="4000" dirty="0">
                <a:solidFill>
                  <a:srgbClr val="00B0F0"/>
                </a:solidFill>
              </a:rPr>
              <a:t>same in Python and C</a:t>
            </a:r>
            <a:r>
              <a:rPr lang="en-US" altLang="en-US" sz="3600" dirty="0">
                <a:solidFill>
                  <a:srgbClr val="00B0F0"/>
                </a:solidFill>
              </a:rPr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23287141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905" y="976049"/>
            <a:ext cx="9741694" cy="1674684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Rectangle 1"/>
          <p:cNvSpPr/>
          <p:nvPr/>
        </p:nvSpPr>
        <p:spPr>
          <a:xfrm>
            <a:off x="-11905" y="3626783"/>
            <a:ext cx="9741694" cy="2332231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92895" y="606178"/>
            <a:ext cx="9144000" cy="625182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cat test2.py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while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&lt;= 5:   #This code skips the #3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+=1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== 3: </a:t>
            </a:r>
            <a:r>
              <a:rPr lang="en-US" altLang="en-US" sz="2400" b="1" dirty="0">
                <a:solidFill>
                  <a:schemeClr val="accent5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continue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print (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, end='')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python3 test2.py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1245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cat test2.c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stdio.h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{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= 1;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while (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&lt; 5)   //This code skips the #3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{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+=1;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if (</a:t>
            </a:r>
            <a:r>
              <a:rPr lang="en-US" alt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== 3) </a:t>
            </a:r>
            <a:r>
              <a:rPr lang="en-US" altLang="en-US" sz="2400" b="1" dirty="0">
                <a:solidFill>
                  <a:schemeClr val="accent5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continue</a:t>
            </a: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("%d",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);  }  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gcc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–o test2.x test2.c; ./test2.x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1245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-11905" y="1"/>
            <a:ext cx="9741694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C77C3"/>
                </a:solidFill>
                <a:latin typeface="Lucida Sans Typewriter" panose="020B0509030504030204" pitchFamily="49" charset="0"/>
              </a:rPr>
              <a:t>continue</a:t>
            </a:r>
            <a:r>
              <a:rPr lang="en-US" altLang="en-US" sz="4000" dirty="0">
                <a:solidFill>
                  <a:srgbClr val="0070C0"/>
                </a:solidFill>
              </a:rPr>
              <a:t>: </a:t>
            </a:r>
            <a:r>
              <a:rPr lang="en-US" altLang="en-US" sz="4000" dirty="0">
                <a:solidFill>
                  <a:srgbClr val="00B0F0"/>
                </a:solidFill>
              </a:rPr>
              <a:t>same in Python and C</a:t>
            </a:r>
            <a:r>
              <a:rPr lang="en-US" altLang="en-US" sz="3600" dirty="0">
                <a:solidFill>
                  <a:srgbClr val="00B0F0"/>
                </a:solidFill>
              </a:rPr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36035900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905" y="976049"/>
            <a:ext cx="9741694" cy="1674684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Rectangle 1"/>
          <p:cNvSpPr/>
          <p:nvPr/>
        </p:nvSpPr>
        <p:spPr>
          <a:xfrm>
            <a:off x="-11905" y="3626783"/>
            <a:ext cx="9741694" cy="2332231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92895" y="606178"/>
            <a:ext cx="9144000" cy="625182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cat test3.py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while True:   #This code intentionally freezes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b="1" dirty="0">
                <a:solidFill>
                  <a:schemeClr val="accent5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pass</a:t>
            </a:r>
          </a:p>
          <a:p>
            <a:pPr>
              <a:spcBef>
                <a:spcPts val="0"/>
              </a:spcBef>
              <a:buNone/>
            </a:pPr>
            <a:endParaRPr lang="en-US" altLang="en-US" sz="2400" dirty="0">
              <a:solidFill>
                <a:srgbClr val="FF00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print ("never prints")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python3 test3.py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&lt;Ctrl-C&gt; has to be typed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cat test3.c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stdio.h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{      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while (1) //This code intentionally freezes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>
                <a:solidFill>
                  <a:schemeClr val="accent5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 </a:t>
            </a:r>
            <a:r>
              <a:rPr lang="en-US" altLang="en-US" sz="24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gcc</a:t>
            </a: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–o test3.x test3.c; ./test3.x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&lt;Ctrl-C&gt; has to be typed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4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-11905" y="1"/>
            <a:ext cx="9741694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pass</a:t>
            </a:r>
            <a:r>
              <a:rPr lang="en-US" altLang="en-US" sz="4000" dirty="0">
                <a:solidFill>
                  <a:srgbClr val="0070C0"/>
                </a:solidFill>
              </a:rPr>
              <a:t>: </a:t>
            </a:r>
            <a:r>
              <a:rPr lang="en-US" altLang="en-US" sz="4000" dirty="0">
                <a:solidFill>
                  <a:srgbClr val="00B0F0"/>
                </a:solidFill>
              </a:rPr>
              <a:t>same as isolated “;” in C</a:t>
            </a:r>
            <a:r>
              <a:rPr lang="en-US" altLang="en-US" sz="3600" dirty="0">
                <a:solidFill>
                  <a:srgbClr val="00B0F0"/>
                </a:solidFill>
              </a:rPr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5055743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rgbClr val="0070C0"/>
                </a:solidFill>
              </a:rPr>
              <a:t>Control Flow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348455"/>
            <a:ext cx="8899790" cy="424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/>
              <a:t> The control flow statements are:</a:t>
            </a:r>
          </a:p>
          <a:p>
            <a:pPr marL="0" indent="0">
              <a:buNone/>
            </a:pPr>
            <a:endParaRPr lang="en-US" altLang="en-US" sz="1100"/>
          </a:p>
          <a:p>
            <a:pPr>
              <a:buFontTx/>
              <a:buNone/>
            </a:pPr>
            <a:r>
              <a:rPr lang="en-US" altLang="en-US" sz="3200"/>
              <a:t>	  </a:t>
            </a:r>
            <a:r>
              <a:rPr lang="en-US" altLang="en-US" sz="3200" b="1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buFontTx/>
              <a:buNone/>
            </a:pPr>
            <a:r>
              <a:rPr lang="en-US" altLang="en-US" sz="3200">
                <a:solidFill>
                  <a:srgbClr val="A6A6A6"/>
                </a:solidFill>
              </a:rPr>
              <a:t>	  </a:t>
            </a:r>
            <a:r>
              <a:rPr lang="en-US" altLang="en-US" sz="3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buFontTx/>
              <a:buNone/>
            </a:pPr>
            <a:r>
              <a:rPr lang="en-US" altLang="en-US" sz="3200">
                <a:solidFill>
                  <a:srgbClr val="FF0000"/>
                </a:solidFill>
              </a:rPr>
              <a:t>	  </a:t>
            </a:r>
            <a:r>
              <a:rPr lang="en-US" altLang="en-US" sz="3200" b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39874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rgbClr val="0070C0"/>
                </a:solidFill>
              </a:rPr>
              <a:t>Control Flow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348455"/>
            <a:ext cx="8899790" cy="424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/>
              <a:t> The control flow statements are:</a:t>
            </a:r>
          </a:p>
          <a:p>
            <a:pPr marL="0" indent="0">
              <a:buNone/>
            </a:pPr>
            <a:endParaRPr lang="en-US" altLang="en-US" sz="1100"/>
          </a:p>
          <a:p>
            <a:pPr>
              <a:buFontTx/>
              <a:buNone/>
            </a:pPr>
            <a:r>
              <a:rPr lang="en-US" altLang="en-US" sz="3200"/>
              <a:t>	  </a:t>
            </a:r>
            <a:r>
              <a:rPr lang="en-US" altLang="en-US" sz="3200" b="1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buFontTx/>
              <a:buNone/>
            </a:pPr>
            <a:r>
              <a:rPr lang="en-US" altLang="en-US" sz="3200">
                <a:solidFill>
                  <a:srgbClr val="A6A6A6"/>
                </a:solidFill>
              </a:rPr>
              <a:t>	  </a:t>
            </a:r>
            <a:r>
              <a:rPr lang="en-US" altLang="en-US" sz="3200" b="1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buFontTx/>
              <a:buNone/>
            </a:pPr>
            <a:r>
              <a:rPr lang="en-US" altLang="en-US" sz="3200">
                <a:solidFill>
                  <a:srgbClr val="FF0000"/>
                </a:solidFill>
              </a:rPr>
              <a:t>	  </a:t>
            </a:r>
            <a:r>
              <a:rPr lang="en-US" altLang="en-US" sz="3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 marL="0" indent="0"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98604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7369" y="967611"/>
            <a:ext cx="9425725" cy="559527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825"/>
              </a:spcBef>
              <a:buNone/>
            </a:pPr>
            <a:r>
              <a:rPr lang="en-US" altLang="en-US" sz="3669" dirty="0"/>
              <a:t>  Mathematics (</a:t>
            </a:r>
            <a:r>
              <a:rPr lang="zh-TW" altLang="en-US" sz="3200" dirty="0"/>
              <a:t>數學</a:t>
            </a:r>
            <a:r>
              <a:rPr lang="en-US" altLang="en-US" sz="3669" dirty="0"/>
              <a:t>) defines two types of sets:</a:t>
            </a:r>
          </a:p>
          <a:p>
            <a:pPr marL="364871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302" dirty="0"/>
              <a:t>1. </a:t>
            </a:r>
            <a:r>
              <a:rPr lang="en-US" altLang="en-US" sz="3302" dirty="0">
                <a:solidFill>
                  <a:srgbClr val="FF0000"/>
                </a:solidFill>
              </a:rPr>
              <a:t>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If you want to visit all elements of an ordered set, then they must be visited in a specific order.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/>
              <a:t>Eg</a:t>
            </a:r>
            <a:r>
              <a:rPr lang="en-US" altLang="en-US" sz="2935" dirty="0"/>
              <a:t>: </a:t>
            </a:r>
            <a:r>
              <a:rPr lang="en-US" altLang="en-US" sz="2935" b="1" dirty="0">
                <a:solidFill>
                  <a:srgbClr val="0070C0"/>
                </a:solidFill>
              </a:rPr>
              <a:t>Dealing</a:t>
            </a:r>
            <a:r>
              <a:rPr lang="en-US" altLang="en-US" sz="2935" dirty="0"/>
              <a:t> </a:t>
            </a:r>
            <a:r>
              <a:rPr lang="en-US" altLang="en-US" sz="2935" b="1" dirty="0">
                <a:solidFill>
                  <a:srgbClr val="0070C0"/>
                </a:solidFill>
              </a:rPr>
              <a:t>a stack of cards</a:t>
            </a:r>
            <a:r>
              <a:rPr lang="en-US" altLang="en-US" sz="2935" dirty="0"/>
              <a:t> off the top of the deck.</a:t>
            </a:r>
          </a:p>
          <a:p>
            <a:pPr marL="1729793" lvl="4" indent="-270826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The cards always come out the same, regardless of who deals the deck.</a:t>
            </a:r>
          </a:p>
          <a:p>
            <a:pPr marL="364871" lvl="1" indent="0">
              <a:lnSpc>
                <a:spcPct val="80000"/>
              </a:lnSpc>
              <a:spcBef>
                <a:spcPts val="2100"/>
              </a:spcBef>
              <a:buNone/>
            </a:pPr>
            <a:r>
              <a:rPr lang="en-US" altLang="en-US" sz="3302" dirty="0"/>
              <a:t>2. </a:t>
            </a:r>
            <a:r>
              <a:rPr lang="en-US" altLang="en-US" sz="3302" dirty="0">
                <a:solidFill>
                  <a:srgbClr val="FF0000"/>
                </a:solidFill>
              </a:rPr>
              <a:t>Unordered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If you want to visit all elements of an unordered set, then the order is unimportant.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/>
              <a:t>Eg</a:t>
            </a:r>
            <a:r>
              <a:rPr lang="en-US" altLang="en-US" sz="2935" dirty="0"/>
              <a:t>: </a:t>
            </a:r>
            <a:r>
              <a:rPr lang="en-US" altLang="en-US" sz="2935" b="1" dirty="0">
                <a:solidFill>
                  <a:srgbClr val="0070C0"/>
                </a:solidFill>
              </a:rPr>
              <a:t>Pulling</a:t>
            </a:r>
            <a:r>
              <a:rPr lang="en-US" altLang="en-US" sz="2935" dirty="0">
                <a:solidFill>
                  <a:srgbClr val="0070C0"/>
                </a:solidFill>
              </a:rPr>
              <a:t> </a:t>
            </a:r>
            <a:r>
              <a:rPr lang="en-US" altLang="en-US" sz="2935" b="1" dirty="0">
                <a:solidFill>
                  <a:srgbClr val="0070C0"/>
                </a:solidFill>
              </a:rPr>
              <a:t>balls out of a bag</a:t>
            </a:r>
            <a:r>
              <a:rPr lang="en-US" altLang="en-US" sz="2935" dirty="0"/>
              <a:t>.</a:t>
            </a:r>
          </a:p>
          <a:p>
            <a:pPr marL="1729793" lvl="4" indent="-270826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/>
              <a:t>The balls could come out different each time.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" y="0"/>
            <a:ext cx="9729788" cy="1077171"/>
          </a:xfrm>
          <a:prstGeom prst="rect">
            <a:avLst/>
          </a:prstGeom>
        </p:spPr>
        <p:txBody>
          <a:bodyPr vert="horz" lIns="83872" tIns="41936" rIns="83872" bIns="41936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Mathematical </a:t>
            </a:r>
            <a:r>
              <a:rPr lang="en-US" altLang="zh-TW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4400" dirty="0">
                <a:solidFill>
                  <a:srgbClr val="0070C0"/>
                </a:solidFill>
              </a:rPr>
              <a:t>數學</a:t>
            </a:r>
            <a:r>
              <a:rPr lang="en-US" altLang="zh-TW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4400" dirty="0">
                <a:solidFill>
                  <a:srgbClr val="0070C0"/>
                </a:solidFill>
              </a:rPr>
              <a:t> </a:t>
            </a:r>
            <a:r>
              <a:rPr lang="en-US" altLang="en-US" sz="4400" dirty="0">
                <a:solidFill>
                  <a:srgbClr val="0070C0"/>
                </a:solidFill>
              </a:rPr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val="37453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7369" y="967611"/>
            <a:ext cx="9425725" cy="559527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825"/>
              </a:spcBef>
              <a:buNone/>
            </a:pPr>
            <a:endParaRPr lang="en-US" altLang="en-US" sz="3669" dirty="0"/>
          </a:p>
          <a:p>
            <a:pPr marL="364871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302" dirty="0"/>
              <a:t>1. </a:t>
            </a:r>
            <a:r>
              <a:rPr lang="en-US" altLang="en-US" sz="3302" dirty="0">
                <a:solidFill>
                  <a:srgbClr val="FF0000"/>
                </a:solidFill>
              </a:rPr>
              <a:t>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If you want to visit all elements of an ordered set, then they must be visited in a specific order.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>
                <a:solidFill>
                  <a:schemeClr val="bg1"/>
                </a:solidFill>
              </a:rPr>
              <a:t>Eg</a:t>
            </a:r>
            <a:r>
              <a:rPr lang="en-US" altLang="en-US" sz="2935" dirty="0">
                <a:solidFill>
                  <a:schemeClr val="bg1"/>
                </a:solidFill>
              </a:rPr>
              <a:t>: </a:t>
            </a:r>
            <a:r>
              <a:rPr lang="en-US" altLang="en-US" sz="2935" b="1" dirty="0">
                <a:solidFill>
                  <a:schemeClr val="bg1"/>
                </a:solidFill>
              </a:rPr>
              <a:t>Dealing</a:t>
            </a:r>
            <a:r>
              <a:rPr lang="en-US" altLang="en-US" sz="2935" dirty="0">
                <a:solidFill>
                  <a:schemeClr val="bg1"/>
                </a:solidFill>
              </a:rPr>
              <a:t> </a:t>
            </a:r>
            <a:r>
              <a:rPr lang="en-US" altLang="en-US" sz="2935" b="1" dirty="0">
                <a:solidFill>
                  <a:schemeClr val="bg1"/>
                </a:solidFill>
              </a:rPr>
              <a:t>a stack of cards</a:t>
            </a:r>
            <a:r>
              <a:rPr lang="en-US" altLang="en-US" sz="2935" dirty="0">
                <a:solidFill>
                  <a:schemeClr val="bg1"/>
                </a:solidFill>
              </a:rPr>
              <a:t> off the top of the deck.</a:t>
            </a:r>
          </a:p>
          <a:p>
            <a:pPr marL="1729793" lvl="4" indent="-270826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The cards always come out the same, regardless of who deals the deck.</a:t>
            </a:r>
          </a:p>
          <a:p>
            <a:pPr marL="364871" lvl="1" indent="0">
              <a:lnSpc>
                <a:spcPct val="80000"/>
              </a:lnSpc>
              <a:spcBef>
                <a:spcPts val="2100"/>
              </a:spcBef>
              <a:buNone/>
            </a:pPr>
            <a:r>
              <a:rPr lang="en-US" altLang="en-US" sz="3302" dirty="0"/>
              <a:t>2. </a:t>
            </a:r>
            <a:r>
              <a:rPr lang="en-US" altLang="en-US" sz="3302" dirty="0">
                <a:solidFill>
                  <a:srgbClr val="FF0000"/>
                </a:solidFill>
              </a:rPr>
              <a:t>Unordered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If you want to visit all elements of an unordered set, then the order is unimportant.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>
                <a:solidFill>
                  <a:schemeClr val="bg1"/>
                </a:solidFill>
              </a:rPr>
              <a:t>Eg</a:t>
            </a:r>
            <a:r>
              <a:rPr lang="en-US" altLang="en-US" sz="2935" dirty="0">
                <a:solidFill>
                  <a:schemeClr val="bg1"/>
                </a:solidFill>
              </a:rPr>
              <a:t>: </a:t>
            </a:r>
            <a:r>
              <a:rPr lang="en-US" altLang="en-US" sz="2935" b="1" dirty="0">
                <a:solidFill>
                  <a:schemeClr val="bg1"/>
                </a:solidFill>
              </a:rPr>
              <a:t>Pulling</a:t>
            </a:r>
            <a:r>
              <a:rPr lang="en-US" altLang="en-US" sz="2935" dirty="0">
                <a:solidFill>
                  <a:schemeClr val="bg1"/>
                </a:solidFill>
              </a:rPr>
              <a:t> </a:t>
            </a:r>
            <a:r>
              <a:rPr lang="en-US" altLang="en-US" sz="2935" b="1" dirty="0">
                <a:solidFill>
                  <a:schemeClr val="bg1"/>
                </a:solidFill>
              </a:rPr>
              <a:t>balls out of a bag</a:t>
            </a:r>
            <a:r>
              <a:rPr lang="en-US" altLang="en-US" sz="2935" dirty="0">
                <a:solidFill>
                  <a:schemeClr val="bg1"/>
                </a:solidFill>
              </a:rPr>
              <a:t>.</a:t>
            </a:r>
          </a:p>
          <a:p>
            <a:pPr marL="1729793" lvl="4" indent="-270826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The balls could come out different each time.</a:t>
            </a:r>
          </a:p>
        </p:txBody>
      </p:sp>
      <p:sp>
        <p:nvSpPr>
          <p:cNvPr id="2" name="Rectangle 1"/>
          <p:cNvSpPr/>
          <p:nvPr/>
        </p:nvSpPr>
        <p:spPr>
          <a:xfrm>
            <a:off x="96104" y="4332500"/>
            <a:ext cx="9598737" cy="2525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48360" lvl="4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935" dirty="0">
                <a:solidFill>
                  <a:prstClr val="black"/>
                </a:solidFill>
              </a:rPr>
              <a:t>Python-style</a:t>
            </a:r>
          </a:p>
          <a:p>
            <a:pPr marL="1467703" lvl="5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568" i="1" dirty="0">
                <a:solidFill>
                  <a:prstClr val="black"/>
                </a:solidFill>
              </a:rPr>
              <a:t>Sets, Dictionaries</a:t>
            </a:r>
          </a:p>
          <a:p>
            <a:pPr marL="1048360" lvl="2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935" dirty="0">
                <a:solidFill>
                  <a:prstClr val="black"/>
                </a:solidFill>
              </a:rPr>
              <a:t>C-style: </a:t>
            </a:r>
            <a:r>
              <a:rPr lang="en-US" altLang="en-US" sz="2568" i="1" dirty="0">
                <a:solidFill>
                  <a:prstClr val="black"/>
                </a:solidFill>
              </a:rPr>
              <a:t>Nothing (speaking strictly of built-in types)</a:t>
            </a:r>
          </a:p>
          <a:p>
            <a:pPr marL="1467703" lvl="6" indent="-366926">
              <a:lnSpc>
                <a:spcPct val="80000"/>
              </a:lnSpc>
            </a:pPr>
            <a:r>
              <a:rPr lang="en-US" altLang="en-US" sz="2568" dirty="0">
                <a:solidFill>
                  <a:srgbClr val="FF0000"/>
                </a:solidFill>
              </a:rPr>
              <a:t>Q: But wait! We know that, mathematically, unordered sets </a:t>
            </a:r>
            <a:br>
              <a:rPr lang="en-US" altLang="en-US" sz="2568" dirty="0">
                <a:solidFill>
                  <a:srgbClr val="FF0000"/>
                </a:solidFill>
              </a:rPr>
            </a:br>
            <a:r>
              <a:rPr lang="en-US" altLang="en-US" sz="2568" dirty="0">
                <a:solidFill>
                  <a:srgbClr val="FF0000"/>
                </a:solidFill>
              </a:rPr>
              <a:t>do exist, so how can they be modeled in C?</a:t>
            </a:r>
          </a:p>
          <a:p>
            <a:pPr marL="1467703" lvl="6" indent="-366926">
              <a:lnSpc>
                <a:spcPct val="80000"/>
              </a:lnSpc>
            </a:pPr>
            <a:r>
              <a:rPr lang="en-US" altLang="en-US" sz="2568" dirty="0">
                <a:solidFill>
                  <a:srgbClr val="00B050"/>
                </a:solidFill>
              </a:rPr>
              <a:t>A: Well, a full-order can be imposed upon a partial order. </a:t>
            </a:r>
            <a:br>
              <a:rPr lang="en-US" altLang="en-US" sz="2568" dirty="0">
                <a:solidFill>
                  <a:srgbClr val="00B050"/>
                </a:solidFill>
              </a:rPr>
            </a:br>
            <a:r>
              <a:rPr lang="en-US" altLang="en-US" sz="2568" dirty="0">
                <a:solidFill>
                  <a:srgbClr val="00B050"/>
                </a:solidFill>
              </a:rPr>
              <a:t>So a set can be stored into an array or linked list or table.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96104" y="1785415"/>
            <a:ext cx="9633685" cy="2142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48360" lvl="4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prstClr val="black"/>
                </a:solidFill>
              </a:rPr>
              <a:t>Python-style</a:t>
            </a:r>
          </a:p>
          <a:p>
            <a:pPr marL="1467703" lvl="5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i="1" dirty="0">
                <a:solidFill>
                  <a:prstClr val="black"/>
                </a:solidFill>
              </a:rPr>
              <a:t>Lists</a:t>
            </a:r>
            <a:r>
              <a:rPr lang="en-US" altLang="en-US" sz="2800" dirty="0">
                <a:solidFill>
                  <a:prstClr val="black"/>
                </a:solidFill>
              </a:rPr>
              <a:t>, </a:t>
            </a:r>
            <a:r>
              <a:rPr lang="en-US" altLang="en-US" sz="2800" i="1" dirty="0">
                <a:solidFill>
                  <a:prstClr val="black"/>
                </a:solidFill>
              </a:rPr>
              <a:t>Tuples</a:t>
            </a:r>
            <a:r>
              <a:rPr lang="en-US" altLang="en-US" sz="2800" dirty="0">
                <a:solidFill>
                  <a:prstClr val="black"/>
                </a:solidFill>
              </a:rPr>
              <a:t> (immutable lists), </a:t>
            </a:r>
            <a:r>
              <a:rPr lang="en-US" altLang="en-US" sz="2800" i="1" dirty="0">
                <a:solidFill>
                  <a:prstClr val="black"/>
                </a:solidFill>
              </a:rPr>
              <a:t>Strings</a:t>
            </a:r>
            <a:r>
              <a:rPr lang="en-US" altLang="en-US" sz="2800" dirty="0">
                <a:solidFill>
                  <a:prstClr val="black"/>
                </a:solidFill>
              </a:rPr>
              <a:t> (tuples of </a:t>
            </a:r>
            <a:br>
              <a:rPr lang="en-US" altLang="en-US" sz="2800" dirty="0">
                <a:solidFill>
                  <a:prstClr val="black"/>
                </a:solidFill>
              </a:rPr>
            </a:br>
            <a:r>
              <a:rPr lang="en-US" altLang="en-US" sz="2800" dirty="0">
                <a:solidFill>
                  <a:prstClr val="black"/>
                </a:solidFill>
              </a:rPr>
              <a:t>characters)  </a:t>
            </a:r>
          </a:p>
          <a:p>
            <a:pPr marL="1048360" lvl="2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prstClr val="black"/>
                </a:solidFill>
              </a:rPr>
              <a:t>C-style </a:t>
            </a:r>
          </a:p>
          <a:p>
            <a:pPr marL="1467703" lvl="3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i="1" dirty="0">
                <a:solidFill>
                  <a:prstClr val="black"/>
                </a:solidFill>
              </a:rPr>
              <a:t>Arrays</a:t>
            </a:r>
            <a:r>
              <a:rPr lang="en-US" altLang="en-US" sz="2800" dirty="0">
                <a:solidFill>
                  <a:prstClr val="black"/>
                </a:solidFill>
              </a:rPr>
              <a:t>, </a:t>
            </a:r>
            <a:r>
              <a:rPr lang="en-US" altLang="en-US" sz="2800" i="1" dirty="0">
                <a:solidFill>
                  <a:prstClr val="black"/>
                </a:solidFill>
              </a:rPr>
              <a:t>Strings</a:t>
            </a:r>
            <a:r>
              <a:rPr lang="en-US" altLang="en-US" sz="2800" dirty="0">
                <a:solidFill>
                  <a:prstClr val="black"/>
                </a:solidFill>
              </a:rPr>
              <a:t> (arrays of characters), </a:t>
            </a:r>
            <a:r>
              <a:rPr lang="en-US" altLang="en-US" sz="2800" i="1" dirty="0">
                <a:solidFill>
                  <a:prstClr val="black"/>
                </a:solidFill>
              </a:rPr>
              <a:t>Linked </a:t>
            </a:r>
            <a:r>
              <a:rPr lang="en-US" altLang="en-US" sz="2800" i="1" dirty="0" err="1">
                <a:solidFill>
                  <a:prstClr val="black"/>
                </a:solidFill>
              </a:rPr>
              <a:t>lists,etc</a:t>
            </a:r>
            <a:r>
              <a:rPr lang="en-US" altLang="en-US" sz="2800" i="1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" y="0"/>
            <a:ext cx="9729788" cy="1077171"/>
          </a:xfrm>
          <a:prstGeom prst="rect">
            <a:avLst/>
          </a:prstGeom>
        </p:spPr>
        <p:txBody>
          <a:bodyPr vert="horz" lIns="83872" tIns="41936" rIns="83872" bIns="41936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Sets in Computer Languages</a:t>
            </a:r>
          </a:p>
        </p:txBody>
      </p:sp>
    </p:spTree>
    <p:extLst>
      <p:ext uri="{BB962C8B-B14F-4D97-AF65-F5344CB8AC3E}">
        <p14:creationId xmlns:p14="http://schemas.microsoft.com/office/powerpoint/2010/main" val="180073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92894" y="1524000"/>
            <a:ext cx="9144000" cy="5334000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pPr marL="1027113" lvl="2" indent="-338138"/>
            <a:r>
              <a:rPr lang="en-US" altLang="en-US" sz="2800" dirty="0">
                <a:solidFill>
                  <a:srgbClr val="FF0000"/>
                </a:solidFill>
              </a:rPr>
              <a:t>Even if the underlying object is unordered (so its elements can visit in </a:t>
            </a:r>
            <a:r>
              <a:rPr lang="en-US" altLang="en-US" sz="2800" i="1" dirty="0">
                <a:solidFill>
                  <a:srgbClr val="00B0F0"/>
                </a:solidFill>
              </a:rPr>
              <a:t>any order</a:t>
            </a:r>
            <a:r>
              <a:rPr lang="en-US" altLang="en-US" sz="2800" dirty="0">
                <a:solidFill>
                  <a:srgbClr val="FF0000"/>
                </a:solidFill>
              </a:rPr>
              <a:t>)...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354713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92894" y="1524000"/>
            <a:ext cx="9144000" cy="5334000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pPr marL="1027113" lvl="2" indent="-338138"/>
            <a:r>
              <a:rPr lang="en-US" altLang="en-US" sz="2800" dirty="0">
                <a:solidFill>
                  <a:srgbClr val="FF0000"/>
                </a:solidFill>
              </a:rPr>
              <a:t>Even if the underlying object is unordered (so its elements can visit in </a:t>
            </a:r>
            <a:r>
              <a:rPr lang="en-US" altLang="en-US" sz="2800" i="1" dirty="0">
                <a:solidFill>
                  <a:srgbClr val="00B0F0"/>
                </a:solidFill>
              </a:rPr>
              <a:t>any order</a:t>
            </a:r>
            <a:r>
              <a:rPr lang="en-US" altLang="en-US" sz="2800" dirty="0">
                <a:solidFill>
                  <a:srgbClr val="FF0000"/>
                </a:solidFill>
              </a:rPr>
              <a:t>) yet the above order is certainly one possibility that is allowed by “</a:t>
            </a:r>
            <a:r>
              <a:rPr lang="en-US" altLang="en-US" sz="2800" dirty="0">
                <a:solidFill>
                  <a:srgbClr val="00B0F0"/>
                </a:solidFill>
              </a:rPr>
              <a:t>any order</a:t>
            </a:r>
            <a:r>
              <a:rPr lang="en-US" altLang="en-US" sz="2800" dirty="0">
                <a:solidFill>
                  <a:srgbClr val="FF0000"/>
                </a:solidFill>
              </a:rPr>
              <a:t>”.</a:t>
            </a:r>
          </a:p>
          <a:p>
            <a:pPr marL="0" indent="0">
              <a:buNone/>
            </a:pPr>
            <a:endParaRPr lang="en-US" altLang="en-US" sz="2800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5779294" y="3876675"/>
            <a:ext cx="2209800" cy="3048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422739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92894" y="1524000"/>
            <a:ext cx="9144000" cy="5334000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pPr marL="1027113" lvl="2" indent="-338138"/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</a:rPr>
              <a:t>Even if the underlying object is unordered (so its elements can visit in </a:t>
            </a:r>
            <a:r>
              <a:rPr lang="en-US" altLang="en-US" sz="2800" i="1" dirty="0">
                <a:solidFill>
                  <a:schemeClr val="bg1">
                    <a:lumMod val="85000"/>
                  </a:schemeClr>
                </a:solidFill>
              </a:rPr>
              <a:t>any order</a:t>
            </a: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</a:rPr>
              <a:t>) yet the above order is certainly one possibility that is allowed by “any order”.</a:t>
            </a:r>
          </a:p>
          <a:p>
            <a:r>
              <a:rPr lang="en-US" altLang="en-US" sz="3200" dirty="0">
                <a:solidFill>
                  <a:srgbClr val="FF0000"/>
                </a:solidFill>
              </a:rPr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)</a:t>
            </a:r>
          </a:p>
          <a:p>
            <a:pPr lvl="2"/>
            <a:r>
              <a:rPr lang="en-US" altLang="en-US" sz="2800" dirty="0">
                <a:solidFill>
                  <a:srgbClr val="FF0000"/>
                </a:solidFill>
              </a:rPr>
              <a:t>This exactly matches the meaning of the math operation: 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en-US" sz="2800" i="1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en-US" sz="2800" i="1" dirty="0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altLang="en-US" sz="2800" dirty="0">
                <a:solidFill>
                  <a:srgbClr val="FF0000"/>
                </a:solidFill>
              </a:rPr>
              <a:t> (for all elements, </a:t>
            </a:r>
            <a:r>
              <a:rPr lang="en-US" altLang="en-US" sz="2800" i="1" dirty="0">
                <a:solidFill>
                  <a:srgbClr val="FF0000"/>
                </a:solidFill>
              </a:rPr>
              <a:t>E</a:t>
            </a:r>
            <a:r>
              <a:rPr lang="en-US" altLang="en-US" sz="2800" dirty="0">
                <a:solidFill>
                  <a:srgbClr val="FF0000"/>
                </a:solidFill>
              </a:rPr>
              <a:t>, of set, </a:t>
            </a:r>
            <a:r>
              <a:rPr lang="en-US" altLang="en-US" sz="2800" i="1" dirty="0">
                <a:solidFill>
                  <a:srgbClr val="FF0000"/>
                </a:solidFill>
              </a:rPr>
              <a:t>S</a:t>
            </a:r>
            <a:r>
              <a:rPr lang="en-US" altLang="en-US" sz="2800" dirty="0">
                <a:solidFill>
                  <a:srgbClr val="FF0000"/>
                </a:solidFill>
              </a:rPr>
              <a:t>).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175336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92894" y="4526312"/>
            <a:ext cx="9144000" cy="3169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solidFill>
                  <a:srgbClr val="FF0000"/>
                </a:solidFill>
              </a:rPr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92894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r>
              <a:rPr lang="en-US" altLang="en-US" sz="3200" dirty="0">
                <a:solidFill>
                  <a:srgbClr val="FF0000"/>
                </a:solidFill>
              </a:rPr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)</a:t>
            </a:r>
          </a:p>
          <a:p>
            <a:r>
              <a:rPr lang="en-US" altLang="en-US" sz="3200" dirty="0">
                <a:solidFill>
                  <a:srgbClr val="FF0000"/>
                </a:solidFill>
              </a:rPr>
              <a:t>And since Python has this traversal method, why not use it for everything (while also enforcing order)?</a:t>
            </a:r>
            <a:endParaRPr lang="en-US" altLang="en-US" sz="3600" dirty="0">
              <a:solidFill>
                <a:srgbClr val="FF0000"/>
              </a:solidFill>
            </a:endParaRP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MyList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424700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7938E-6 -2.22222E-6 L -0.00016 -0.17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" y="-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92894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r>
              <a:rPr lang="en-US" altLang="en-US" sz="3200" dirty="0"/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r>
              <a:rPr lang="en-US" altLang="en-US" sz="3200" dirty="0">
                <a:solidFill>
                  <a:schemeClr val="bg1"/>
                </a:solidFill>
              </a:rPr>
              <a:t>And since Python has this traversal method, why not use it for everything (while also enforcing order)?</a:t>
            </a:r>
            <a:endParaRPr lang="en-US" altLang="en-US" sz="3600" dirty="0">
              <a:solidFill>
                <a:schemeClr val="bg1"/>
              </a:solidFill>
            </a:endParaRP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MyList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21564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92894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r>
              <a:rPr lang="en-US" altLang="en-US" sz="3200" dirty="0"/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r>
              <a:rPr lang="en-US" altLang="en-US" sz="2400" dirty="0">
                <a:solidFill>
                  <a:schemeClr val="bg1"/>
                </a:solidFill>
              </a:rPr>
              <a:t>And since Python has this traversal method, why not use it for everything (while also enforcing order)?</a:t>
            </a:r>
            <a:endParaRPr lang="en-US" altLang="en-US" dirty="0">
              <a:solidFill>
                <a:schemeClr val="bg1"/>
              </a:solidFill>
            </a:endParaRP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MyList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342520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92894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r>
              <a:rPr lang="en-US" altLang="en-US" sz="3200" dirty="0"/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r>
              <a:rPr lang="en-US" altLang="en-US" sz="2400" dirty="0">
                <a:solidFill>
                  <a:schemeClr val="bg1"/>
                </a:solidFill>
              </a:rPr>
              <a:t> (while also enforcing order)?</a:t>
            </a:r>
            <a:endParaRPr lang="en-US" altLang="en-US" dirty="0">
              <a:solidFill>
                <a:schemeClr val="bg1"/>
              </a:solidFill>
            </a:endParaRP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MyList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marL="0" indent="0">
              <a:buNone/>
            </a:pP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79300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92894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/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]);</a:t>
            </a:r>
            <a:endParaRPr lang="en-US" altLang="en-US" dirty="0"/>
          </a:p>
          <a:p>
            <a:pPr marL="574675" lvl="1" indent="-287338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latin typeface="Lucida Sans Typewriter" panose="020B0509030504030204" pitchFamily="49" charset="0"/>
              </a:rPr>
              <a:t>-&gt;v);</a:t>
            </a:r>
          </a:p>
          <a:p>
            <a:r>
              <a:rPr lang="en-US" altLang="en-US" sz="3200" dirty="0"/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  <a:endParaRPr lang="en-US" altLang="en-US" dirty="0">
              <a:solidFill>
                <a:schemeClr val="bg1"/>
              </a:solidFill>
            </a:endParaRP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latin typeface="Lucida Sans Typewriter" panose="020B0509030504030204" pitchFamily="49" charset="0"/>
              </a:rPr>
              <a:t>MyList</a:t>
            </a:r>
            <a:r>
              <a:rPr lang="en-US" altLang="en-US" dirty="0"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marL="457200" lvl="1" indent="0">
              <a:buNone/>
            </a:pPr>
            <a:endParaRPr lang="en-US" altLang="en-US" dirty="0">
              <a:latin typeface="Lucida Sans Typewriter" panose="020B0509030504030204" pitchFamily="49" charset="0"/>
            </a:endParaRPr>
          </a:p>
          <a:p>
            <a:r>
              <a:rPr lang="en-US" altLang="en-US" sz="3200" dirty="0">
                <a:solidFill>
                  <a:srgbClr val="FF0000"/>
                </a:solidFill>
              </a:rPr>
              <a:t>Compared to C, Python is cleaner &amp; has more power.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 Elements</a:t>
            </a:r>
          </a:p>
        </p:txBody>
      </p:sp>
    </p:spTree>
    <p:extLst>
      <p:ext uri="{BB962C8B-B14F-4D97-AF65-F5344CB8AC3E}">
        <p14:creationId xmlns:p14="http://schemas.microsoft.com/office/powerpoint/2010/main" val="219211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92894" y="1188721"/>
            <a:ext cx="9144000" cy="4714875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In Python, </a:t>
            </a:r>
            <a:r>
              <a:rPr lang="en-US" altLang="en-US" sz="3600" i="1" dirty="0"/>
              <a:t>everything</a:t>
            </a:r>
            <a:r>
              <a:rPr lang="en-US" altLang="en-US" sz="3600" dirty="0"/>
              <a:t> is an object. </a:t>
            </a:r>
          </a:p>
          <a:p>
            <a:pPr lvl="1"/>
            <a:r>
              <a:rPr lang="en-US" altLang="en-US" sz="3600" dirty="0"/>
              <a:t>Including the space you wish to iterate over.</a:t>
            </a:r>
          </a:p>
          <a:p>
            <a:pPr>
              <a:spcBef>
                <a:spcPts val="2400"/>
              </a:spcBef>
            </a:pPr>
            <a:r>
              <a:rPr lang="en-US" altLang="en-US" sz="3600" dirty="0"/>
              <a:t>If, for example, you want to iterate over the numbers from 1 to 10</a:t>
            </a:r>
          </a:p>
          <a:p>
            <a:pPr lvl="1"/>
            <a:r>
              <a:rPr lang="en-US" altLang="en-US" sz="3600" dirty="0"/>
              <a:t>Then that means iterating over all of the numbers </a:t>
            </a:r>
            <a:r>
              <a:rPr lang="en-US" altLang="en-US" sz="3600" i="1" dirty="0">
                <a:solidFill>
                  <a:srgbClr val="0070C0"/>
                </a:solidFill>
              </a:rPr>
              <a:t>in</a:t>
            </a:r>
            <a:r>
              <a:rPr lang="en-US" altLang="en-US" sz="3600" dirty="0"/>
              <a:t> that range. </a:t>
            </a:r>
          </a:p>
          <a:p>
            <a:pPr marL="397810" lvl="1" indent="0">
              <a:buNone/>
            </a:pPr>
            <a:r>
              <a:rPr lang="en-US" altLang="en-US" sz="4000" dirty="0">
                <a:latin typeface="Lucida Sans Typewriter" panose="020B0509030504030204" pitchFamily="49" charset="0"/>
              </a:rPr>
              <a:t>	</a:t>
            </a: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)</a:t>
            </a:r>
          </a:p>
          <a:p>
            <a:pPr lvl="1"/>
            <a:endParaRPr lang="en-US" altLang="en-US" sz="3654" dirty="0"/>
          </a:p>
          <a:p>
            <a:pPr marL="0" indent="0">
              <a:buNone/>
            </a:pPr>
            <a:endParaRPr lang="en-US" altLang="en-US" sz="2784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2784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9788" cy="1112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373377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0" y="1188721"/>
            <a:ext cx="9436894" cy="792479"/>
          </a:xfrm>
        </p:spPr>
        <p:txBody>
          <a:bodyPr>
            <a:noAutofit/>
          </a:bodyPr>
          <a:lstStyle/>
          <a:p>
            <a:pPr marL="512763" indent="-222250">
              <a:spcAft>
                <a:spcPts val="1500"/>
              </a:spcAft>
            </a:pPr>
            <a:r>
              <a:rPr lang="en-US" altLang="en-US" sz="3600" dirty="0"/>
              <a:t>You can also loop through strings, lists, etc.: </a:t>
            </a:r>
            <a:br>
              <a:rPr lang="en-US" altLang="en-US" sz="2000" dirty="0"/>
            </a:br>
            <a:endParaRPr lang="en-US" altLang="en-US" sz="1600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lvl="1"/>
            <a:endParaRPr lang="en-US" altLang="en-US" sz="2000" dirty="0"/>
          </a:p>
          <a:p>
            <a:pPr marL="0" indent="0">
              <a:buNone/>
            </a:pP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1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2362200"/>
            <a:ext cx="9436894" cy="4512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0513" indent="0">
              <a:spcAft>
                <a:spcPts val="1500"/>
              </a:spcAft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S = "Python"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for letter in 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   print('Current letter :', letter)</a:t>
            </a:r>
          </a:p>
          <a:p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fruits = ['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banana','apple','mango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']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for fruit in fruits: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   print('Current fruit :', fruit)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print("Good bye!")</a:t>
            </a:r>
          </a:p>
          <a:p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lvl="1"/>
            <a:endParaRPr lang="en-US" altLang="en-US" sz="36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9788" cy="1112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27432170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0" y="1188721"/>
            <a:ext cx="9436894" cy="792479"/>
          </a:xfrm>
        </p:spPr>
        <p:txBody>
          <a:bodyPr>
            <a:noAutofit/>
          </a:bodyPr>
          <a:lstStyle/>
          <a:p>
            <a:pPr marL="512763" indent="-222250">
              <a:spcAft>
                <a:spcPts val="1500"/>
              </a:spcAft>
            </a:pPr>
            <a:r>
              <a:rPr lang="en-US" altLang="en-US" sz="3600" dirty="0"/>
              <a:t>An alternative way of iterating through each item is by its index offset within the sequence: </a:t>
            </a:r>
            <a:br>
              <a:rPr lang="en-US" altLang="en-US" sz="3600" dirty="0"/>
            </a:b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lvl="1"/>
            <a:endParaRPr lang="en-US" altLang="en-US" sz="3600" dirty="0"/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2362200"/>
            <a:ext cx="9436894" cy="4512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0513" indent="0">
              <a:spcAft>
                <a:spcPts val="1500"/>
              </a:spcAft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S = "Python"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for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in range(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len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(S)):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   print('Current letter :', S[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])</a:t>
            </a:r>
          </a:p>
          <a:p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fruits = ['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banana','apple','mango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']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for 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in range(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len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(fruits)):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   print('Current fruit :',fruits[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])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print("Good bye!")</a:t>
            </a:r>
          </a:p>
          <a:p>
            <a:pPr marL="0" indent="0">
              <a:buNone/>
            </a:pP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lvl="1"/>
            <a:endParaRPr lang="en-US" altLang="en-US" sz="36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9788" cy="1112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206449120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92894" y="1188720"/>
            <a:ext cx="9144000" cy="23241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4000" dirty="0"/>
              <a:t>Python supports an </a:t>
            </a:r>
            <a:r>
              <a:rPr lang="en-US" altLang="en-US" sz="3600" dirty="0">
                <a:solidFill>
                  <a:srgbClr val="002060"/>
                </a:solidFill>
                <a:latin typeface="Lucida Sans Typewriter" panose="020B0509030504030204" pitchFamily="49" charset="0"/>
              </a:rPr>
              <a:t>else</a:t>
            </a:r>
            <a:r>
              <a:rPr lang="en-US" altLang="en-US" sz="4000" dirty="0"/>
              <a:t> after a for loop.</a:t>
            </a:r>
          </a:p>
          <a:p>
            <a:pPr marL="339725" indent="-277813">
              <a:spcBef>
                <a:spcPts val="0"/>
              </a:spcBef>
            </a:pPr>
            <a:r>
              <a:rPr lang="en-US" altLang="en-US" sz="4000" dirty="0"/>
              <a:t>Meaning is the same as in while loops:</a:t>
            </a:r>
          </a:p>
          <a:p>
            <a:pPr marL="737535" lvl="1" indent="-277813">
              <a:spcBef>
                <a:spcPts val="0"/>
              </a:spcBef>
            </a:pPr>
            <a:r>
              <a:rPr lang="en-US" altLang="en-US" sz="3600" dirty="0"/>
              <a:t>Execute the else-block only if the iterating condition test fails in the normal way</a:t>
            </a:r>
            <a:r>
              <a:rPr lang="en-US" altLang="en-US" sz="3600" dirty="0">
                <a:cs typeface="Courier New" panose="02070309020205020404" pitchFamily="49" charset="0"/>
              </a:rPr>
              <a:t>.</a:t>
            </a:r>
            <a:endParaRPr lang="en-US" altLang="en-US" sz="3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0494" y="3429000"/>
            <a:ext cx="9372600" cy="24857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endParaRPr lang="en-US" altLang="en-US" sz="24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for letter in S 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</a:t>
            </a:r>
            <a:r>
              <a:rPr lang="en-US" alt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if (letter == 'x'): break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else: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		   print("The final letter is ",letter)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8941" y="96929"/>
            <a:ext cx="1060767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Using an “Else” in a For Loop</a:t>
            </a:r>
          </a:p>
        </p:txBody>
      </p:sp>
    </p:spTree>
    <p:extLst>
      <p:ext uri="{BB962C8B-B14F-4D97-AF65-F5344CB8AC3E}">
        <p14:creationId xmlns:p14="http://schemas.microsoft.com/office/powerpoint/2010/main" val="53052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77310" y="2972173"/>
            <a:ext cx="8375168" cy="3730756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91365" bIns="45683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cat changebound.py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x=10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398" b="1" dirty="0" err="1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in range (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): print(</a:t>
            </a:r>
            <a:r>
              <a:rPr lang="en-US" altLang="en-US" sz="2398" b="1" dirty="0" err="1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,end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=""); </a:t>
            </a:r>
            <a:r>
              <a:rPr lang="en-US" altLang="en-US" sz="2398" b="1" dirty="0" err="1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+=3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python3 changebound.py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0123456789</a:t>
            </a: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iostream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main() { 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x=10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398" b="1" dirty="0" err="1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=0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2398" b="1" dirty="0" err="1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398" b="1" dirty="0" err="1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++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 {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::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&lt;&lt;</a:t>
            </a:r>
            <a:r>
              <a:rPr lang="en-US" altLang="en-US" sz="2398" b="1" dirty="0" err="1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2398" b="1" dirty="0" err="1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+=3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;}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g++ -o </a:t>
            </a:r>
            <a:r>
              <a:rPr lang="en-US" altLang="en-US" sz="2398" dirty="0" err="1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bound.x</a:t>
            </a: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changebound.cpp;./</a:t>
            </a:r>
            <a:r>
              <a:rPr lang="en-US" altLang="en-US" sz="2398" dirty="0" err="1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bound.x</a:t>
            </a:r>
            <a:endParaRPr lang="en-US" altLang="en-US" sz="2398" dirty="0">
              <a:solidFill>
                <a:prstClr val="black">
                  <a:lumMod val="50000"/>
                  <a:lumOff val="50000"/>
                </a:prst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048</a:t>
            </a: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66" y="99645"/>
            <a:ext cx="9721857" cy="1160196"/>
          </a:xfrm>
          <a:prstGeom prst="rect">
            <a:avLst/>
          </a:prstGeom>
        </p:spPr>
        <p:txBody>
          <a:bodyPr vert="horz" lIns="91365" tIns="45683" rIns="91365" bIns="45683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396" dirty="0">
                <a:solidFill>
                  <a:srgbClr val="0070C0"/>
                </a:solidFill>
              </a:rPr>
              <a:t>Changing Loop Variables</a:t>
            </a:r>
          </a:p>
          <a:p>
            <a:pPr>
              <a:lnSpc>
                <a:spcPct val="100000"/>
              </a:lnSpc>
            </a:pPr>
            <a:r>
              <a:rPr lang="en-US" altLang="en-US" sz="4396" dirty="0">
                <a:solidFill>
                  <a:srgbClr val="0070C0"/>
                </a:solidFill>
              </a:rPr>
              <a:t>While Inside the Loop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6621" y="1190546"/>
            <a:ext cx="9136546" cy="2322206"/>
          </a:xfrm>
          <a:prstGeom prst="rect">
            <a:avLst/>
          </a:prstGeom>
        </p:spPr>
        <p:txBody>
          <a:bodyPr vert="horz" lIns="91365" tIns="45683" rIns="91365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en-US" sz="3997" dirty="0">
                <a:solidFill>
                  <a:prstClr val="black"/>
                </a:solidFill>
              </a:rPr>
              <a:t>Python preserves the loop-state:</a:t>
            </a:r>
          </a:p>
          <a:p>
            <a:pPr marL="339453" indent="-277591">
              <a:spcBef>
                <a:spcPts val="0"/>
              </a:spcBef>
            </a:pPr>
            <a:r>
              <a:rPr lang="en-US" altLang="en-US" sz="3997" dirty="0">
                <a:solidFill>
                  <a:prstClr val="black"/>
                </a:solidFill>
              </a:rPr>
              <a:t>You can change the </a:t>
            </a:r>
            <a:r>
              <a:rPr lang="en-US" altLang="en-US" sz="3997" b="1" dirty="0">
                <a:solidFill>
                  <a:srgbClr val="339933"/>
                </a:solidFill>
              </a:rPr>
              <a:t>loop index</a:t>
            </a:r>
            <a:r>
              <a:rPr lang="en-US" altLang="en-US" sz="3997" dirty="0">
                <a:solidFill>
                  <a:prstClr val="black"/>
                </a:solidFill>
              </a:rPr>
              <a:t>, and it </a:t>
            </a:r>
            <a:r>
              <a:rPr lang="en-US" altLang="en-US" sz="3997" b="1" u="sng" spc="-40" dirty="0">
                <a:solidFill>
                  <a:prstClr val="black"/>
                </a:solidFill>
              </a:rPr>
              <a:t>won't</a:t>
            </a:r>
            <a:r>
              <a:rPr lang="en-US" altLang="en-US" sz="3997" spc="-40" dirty="0">
                <a:solidFill>
                  <a:prstClr val="black"/>
                </a:solidFill>
              </a:rPr>
              <a:t> affect its value on the next iteration:</a:t>
            </a:r>
            <a:endParaRPr lang="en-US" altLang="en-US" sz="3997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8864" y="5907655"/>
            <a:ext cx="370312" cy="4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5864"/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  <a:endParaRPr lang="en-US" sz="2398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20016" y="4443733"/>
            <a:ext cx="4322012" cy="4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45864"/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cat changebound.cpp</a:t>
            </a:r>
            <a:endParaRPr lang="en-US" sz="2398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8864" y="4080347"/>
            <a:ext cx="370312" cy="4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5864"/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  <a:endParaRPr lang="en-US" sz="2398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00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96621" y="1190546"/>
            <a:ext cx="9136546" cy="232220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3997" dirty="0"/>
              <a:t>Python preserves the loop-state:</a:t>
            </a:r>
          </a:p>
          <a:p>
            <a:pPr marL="339453" indent="-277591">
              <a:spcBef>
                <a:spcPts val="0"/>
              </a:spcBef>
            </a:pPr>
            <a:r>
              <a:rPr lang="en-US" altLang="en-US" sz="3997" dirty="0"/>
              <a:t>You can change the </a:t>
            </a:r>
            <a:r>
              <a:rPr lang="en-US" altLang="en-US" sz="3997" b="1" dirty="0">
                <a:solidFill>
                  <a:srgbClr val="339933"/>
                </a:solidFill>
              </a:rPr>
              <a:t>loop bound</a:t>
            </a:r>
            <a:r>
              <a:rPr lang="en-US" altLang="en-US" sz="3997" dirty="0"/>
              <a:t>, and it </a:t>
            </a:r>
            <a:r>
              <a:rPr lang="en-US" altLang="en-US" sz="3997" b="1" u="sng" spc="-40" dirty="0"/>
              <a:t>won't</a:t>
            </a:r>
            <a:r>
              <a:rPr lang="en-US" altLang="en-US" sz="3997" spc="-40" dirty="0"/>
              <a:t> affect the loop-test condition:</a:t>
            </a:r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77310" y="2972173"/>
            <a:ext cx="8375168" cy="3730756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91365" bIns="45683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cat changebound.py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x=10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in range (</a:t>
            </a: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): print(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i,end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=""); </a:t>
            </a: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-=3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python3 changebound.py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0123456789</a:t>
            </a:r>
            <a:r>
              <a:rPr lang="en-US" altLang="en-US" sz="2398" dirty="0">
                <a:solidFill>
                  <a:srgbClr val="7F7F7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iostream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main() { 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x=10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398" b="1" dirty="0" err="1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=0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i&lt;</a:t>
            </a:r>
            <a:r>
              <a:rPr lang="en-US" altLang="en-US" sz="2398" b="1" dirty="0" err="1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398" b="1" dirty="0" err="1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++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 {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std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::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&lt;&lt;</a:t>
            </a:r>
            <a:r>
              <a:rPr lang="en-US" altLang="en-US" sz="2398" dirty="0" err="1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-=3</a:t>
            </a:r>
            <a:r>
              <a:rPr lang="en-US" altLang="en-US" sz="2398" dirty="0">
                <a:solidFill>
                  <a:prstClr val="white">
                    <a:lumMod val="85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;}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</a:t>
            </a: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g++ -o </a:t>
            </a:r>
            <a:r>
              <a:rPr lang="en-US" altLang="en-US" sz="2398" dirty="0" err="1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bound.x</a:t>
            </a: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changebound.cpp;./</a:t>
            </a:r>
            <a:r>
              <a:rPr lang="en-US" altLang="en-US" sz="2398" dirty="0" err="1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bound.x</a:t>
            </a:r>
            <a:endParaRPr lang="en-US" altLang="en-US" sz="2398" dirty="0">
              <a:solidFill>
                <a:prstClr val="black">
                  <a:lumMod val="50000"/>
                  <a:lumOff val="50000"/>
                </a:prstClr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012</a:t>
            </a: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66" y="99645"/>
            <a:ext cx="9721857" cy="1160196"/>
          </a:xfrm>
          <a:prstGeom prst="rect">
            <a:avLst/>
          </a:prstGeom>
        </p:spPr>
        <p:txBody>
          <a:bodyPr vert="horz" lIns="91365" tIns="45683" rIns="91365" bIns="45683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396" dirty="0">
                <a:solidFill>
                  <a:srgbClr val="0070C0"/>
                </a:solidFill>
              </a:rPr>
              <a:t>Changing Loop Variables</a:t>
            </a:r>
          </a:p>
          <a:p>
            <a:pPr>
              <a:lnSpc>
                <a:spcPct val="100000"/>
              </a:lnSpc>
            </a:pPr>
            <a:r>
              <a:rPr lang="en-US" altLang="en-US" sz="4396" dirty="0">
                <a:solidFill>
                  <a:srgbClr val="0070C0"/>
                </a:solidFill>
              </a:rPr>
              <a:t>While Inside the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864" y="5907655"/>
            <a:ext cx="370312" cy="4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5864"/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  <a:endParaRPr lang="en-US" sz="2398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20016" y="4443733"/>
            <a:ext cx="4322012" cy="4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45864"/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cat changebound.cpp</a:t>
            </a:r>
            <a:endParaRPr lang="en-US" sz="2398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8864" y="4080347"/>
            <a:ext cx="370312" cy="4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5864"/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  <a:endParaRPr lang="en-US" sz="2398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85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96621" y="1190546"/>
            <a:ext cx="9136546" cy="232220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3997" dirty="0"/>
              <a:t>Python </a:t>
            </a:r>
            <a:r>
              <a:rPr lang="en-US" altLang="en-US" sz="3997" u="sng" spc="-20" dirty="0"/>
              <a:t>doesn't</a:t>
            </a:r>
            <a:r>
              <a:rPr lang="en-US" altLang="en-US" sz="3997" spc="-20" dirty="0"/>
              <a:t> preserve what it loops over:</a:t>
            </a:r>
          </a:p>
          <a:p>
            <a:pPr marL="339453" indent="-277591">
              <a:spcBef>
                <a:spcPts val="0"/>
              </a:spcBef>
            </a:pPr>
            <a:r>
              <a:rPr lang="en-US" altLang="en-US" sz="3997" spc="-50" dirty="0"/>
              <a:t>You</a:t>
            </a:r>
            <a:r>
              <a:rPr lang="en-US" altLang="en-US" sz="3597" spc="-50" dirty="0"/>
              <a:t> </a:t>
            </a:r>
            <a:r>
              <a:rPr lang="en-US" altLang="en-US" sz="3997" spc="-50" dirty="0"/>
              <a:t>can</a:t>
            </a:r>
            <a:r>
              <a:rPr lang="en-US" altLang="en-US" sz="3597" spc="-50" dirty="0"/>
              <a:t> </a:t>
            </a:r>
            <a:r>
              <a:rPr lang="en-US" altLang="en-US" sz="3997" spc="-50" dirty="0"/>
              <a:t>change</a:t>
            </a:r>
            <a:r>
              <a:rPr lang="en-US" altLang="en-US" sz="3597" spc="-50" dirty="0"/>
              <a:t> </a:t>
            </a:r>
            <a:r>
              <a:rPr lang="en-US" altLang="en-US" sz="3997" spc="-50" dirty="0"/>
              <a:t>a</a:t>
            </a:r>
            <a:r>
              <a:rPr lang="en-US" altLang="en-US" sz="3597" spc="-50" dirty="0"/>
              <a:t> </a:t>
            </a:r>
            <a:r>
              <a:rPr lang="en-US" altLang="en-US" sz="3997" b="1" spc="-50" dirty="0">
                <a:solidFill>
                  <a:srgbClr val="339933"/>
                </a:solidFill>
              </a:rPr>
              <a:t>list </a:t>
            </a:r>
            <a:r>
              <a:rPr lang="en-US" altLang="en-US" sz="3997" spc="-50" dirty="0"/>
              <a:t>while</a:t>
            </a:r>
            <a:r>
              <a:rPr lang="en-US" altLang="en-US" sz="3597" spc="-50" dirty="0"/>
              <a:t> </a:t>
            </a:r>
            <a:r>
              <a:rPr lang="en-US" altLang="en-US" sz="3997" spc="-50" dirty="0"/>
              <a:t>iterating</a:t>
            </a:r>
            <a:r>
              <a:rPr lang="en-US" altLang="en-US" sz="3597" spc="-50" dirty="0"/>
              <a:t> </a:t>
            </a:r>
            <a:r>
              <a:rPr lang="en-US" altLang="en-US" sz="3997" spc="-50" dirty="0"/>
              <a:t>over </a:t>
            </a:r>
            <a:r>
              <a:rPr lang="en-US" altLang="en-US" sz="3997" dirty="0"/>
              <a:t>it</a:t>
            </a:r>
            <a:r>
              <a:rPr lang="en-US" altLang="en-US" sz="3997" spc="-40" dirty="0"/>
              <a:t>:</a:t>
            </a:r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  <a:p>
            <a:pPr marL="61862" indent="0">
              <a:spcBef>
                <a:spcPts val="0"/>
              </a:spcBef>
              <a:buNone/>
            </a:pPr>
            <a:endParaRPr lang="en-US" altLang="en-US" sz="3997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77310" y="2363069"/>
            <a:ext cx="8375168" cy="4339860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91365" bIns="45683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cat changelist.py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L=list(range(20))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398" dirty="0" err="1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in L: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5&lt;=</a:t>
            </a:r>
            <a:r>
              <a:rPr lang="en-US" altLang="en-US" sz="2398" b="1" dirty="0" err="1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&lt;=14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: del L[</a:t>
            </a:r>
            <a:r>
              <a:rPr lang="en-US" altLang="en-US" sz="2398" b="1" dirty="0" err="1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</a:t>
            </a:r>
            <a:r>
              <a:rPr lang="en-US" altLang="en-US" sz="2398" spc="-1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t("You </a:t>
            </a:r>
            <a:r>
              <a:rPr lang="en-US" altLang="en-US" sz="2398" b="1" i="1" spc="-1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can</a:t>
            </a:r>
            <a:r>
              <a:rPr lang="en-US" altLang="en-US" sz="2398" spc="-1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do it, but generally </a:t>
            </a:r>
            <a:r>
              <a:rPr lang="en-US" altLang="en-US" sz="2398" b="1" spc="-1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should</a:t>
            </a:r>
            <a:r>
              <a:rPr lang="en-US" altLang="en-US" sz="2398" b="1" spc="-2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sz="2398" b="1" spc="-10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398" spc="-2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398" spc="-1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</a:t>
            </a:r>
            <a:r>
              <a:rPr lang="en-US" altLang="en-US" sz="2398" spc="-1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t("</a:t>
            </a:r>
            <a:r>
              <a:rPr lang="en-US" altLang="en-US" sz="2398" spc="-8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Do you think this program drops </a:t>
            </a:r>
            <a:r>
              <a:rPr lang="en-US" altLang="en-US" sz="2398" b="1" spc="-80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5-14</a:t>
            </a:r>
            <a:r>
              <a:rPr lang="en-US" altLang="en-US" sz="2398" spc="-110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?")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2398" dirty="0" err="1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Drops",</a:t>
            </a:r>
            <a:r>
              <a:rPr lang="en-US" altLang="en-US" sz="2398" b="1" dirty="0" err="1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sorted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(set(range(20))-set(L))</a:t>
            </a: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 </a:t>
            </a: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python3 changelist.py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You </a:t>
            </a:r>
            <a:r>
              <a:rPr lang="en-US" altLang="en-US" sz="2398" b="1" i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can</a:t>
            </a: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do it, but generally </a:t>
            </a:r>
            <a:r>
              <a:rPr lang="en-US" altLang="en-US" sz="2398" b="1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shouldn't</a:t>
            </a: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Do you think this program drops </a:t>
            </a:r>
            <a:r>
              <a:rPr lang="en-US" altLang="en-US" sz="2398" b="1" dirty="0">
                <a:solidFill>
                  <a:srgbClr val="92D050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5-14</a:t>
            </a: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?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white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Drops </a:t>
            </a:r>
            <a:r>
              <a:rPr lang="en-US" altLang="en-US" sz="2398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398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398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11</a:t>
            </a:r>
            <a:r>
              <a:rPr lang="en-US" altLang="en-US" sz="2398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13</a:t>
            </a:r>
            <a:r>
              <a:rPr lang="en-US" altLang="en-US" sz="2398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16</a:t>
            </a:r>
            <a:r>
              <a:rPr lang="en-US" altLang="en-US" sz="2398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398" b="1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19</a:t>
            </a:r>
            <a:r>
              <a:rPr lang="en-US" altLang="en-US" sz="2398" dirty="0">
                <a:solidFill>
                  <a:srgbClr val="FF3F3F"/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98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66" y="99645"/>
            <a:ext cx="9721857" cy="1160196"/>
          </a:xfrm>
          <a:prstGeom prst="rect">
            <a:avLst/>
          </a:prstGeom>
        </p:spPr>
        <p:txBody>
          <a:bodyPr vert="horz" lIns="91365" tIns="45683" rIns="91365" bIns="45683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396" dirty="0">
                <a:solidFill>
                  <a:srgbClr val="0070C0"/>
                </a:solidFill>
              </a:rPr>
              <a:t>Changing Loop Variables</a:t>
            </a:r>
          </a:p>
          <a:p>
            <a:pPr>
              <a:lnSpc>
                <a:spcPct val="100000"/>
              </a:lnSpc>
            </a:pPr>
            <a:r>
              <a:rPr lang="en-US" altLang="en-US" sz="4396" dirty="0">
                <a:solidFill>
                  <a:srgbClr val="0070C0"/>
                </a:solidFill>
              </a:rPr>
              <a:t>While Inside the Loop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64" y="4876335"/>
            <a:ext cx="370312" cy="4612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5864"/>
            <a:r>
              <a:rPr lang="en-US" altLang="en-US" sz="2398" dirty="0">
                <a:solidFill>
                  <a:prstClr val="black">
                    <a:lumMod val="50000"/>
                    <a:lumOff val="50000"/>
                  </a:prst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%</a:t>
            </a:r>
            <a:endParaRPr lang="en-US" sz="2398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44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344" y="1080969"/>
            <a:ext cx="9424532" cy="5771444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 </a:t>
            </a:r>
            <a:r>
              <a:rPr lang="en-US" altLang="en-US" b="1" dirty="0">
                <a:solidFill>
                  <a:srgbClr val="00B0F0"/>
                </a:solidFill>
                <a:latin typeface="Lucida Console" pitchFamily="49" charset="0"/>
              </a:rPr>
              <a:t>S</a:t>
            </a:r>
            <a:r>
              <a:rPr lang="en-US" altLang="en-US" dirty="0">
                <a:latin typeface="Lucida Console" pitchFamily="49" charset="0"/>
              </a:rPr>
              <a:t>={1,2,3,4,5,6}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 </a:t>
            </a:r>
            <a:r>
              <a:rPr lang="en-US" altLang="en-US" dirty="0">
                <a:latin typeface="Lucida Console" pitchFamily="49" charset="0"/>
              </a:rPr>
              <a:t>for </a:t>
            </a:r>
            <a:r>
              <a:rPr lang="en-US" altLang="en-US" b="1" dirty="0" err="1">
                <a:solidFill>
                  <a:schemeClr val="accent2"/>
                </a:solidFill>
                <a:latin typeface="Lucida Console" pitchFamily="49" charset="0"/>
              </a:rPr>
              <a:t>i</a:t>
            </a:r>
            <a:r>
              <a:rPr lang="en-US" altLang="en-US" dirty="0">
                <a:latin typeface="Lucida Console" pitchFamily="49" charset="0"/>
              </a:rPr>
              <a:t> in </a:t>
            </a:r>
            <a:r>
              <a:rPr lang="en-US" altLang="en-US" b="1" dirty="0">
                <a:solidFill>
                  <a:srgbClr val="00B0F0"/>
                </a:solidFill>
                <a:latin typeface="Lucida Console" pitchFamily="49" charset="0"/>
              </a:rPr>
              <a:t>S</a:t>
            </a:r>
            <a:r>
              <a:rPr lang="en-US" altLang="en-US" dirty="0">
                <a:latin typeface="Lucida Console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     </a:t>
            </a:r>
            <a:r>
              <a:rPr lang="en-US" altLang="en-US" dirty="0">
                <a:latin typeface="Lucida Console" pitchFamily="49" charset="0"/>
              </a:rPr>
              <a:t>if </a:t>
            </a:r>
            <a:r>
              <a:rPr lang="en-US" altLang="en-US" b="1" dirty="0">
                <a:solidFill>
                  <a:schemeClr val="accent2"/>
                </a:solidFill>
                <a:latin typeface="Lucida Console" pitchFamily="49" charset="0"/>
              </a:rPr>
              <a:t>i</a:t>
            </a:r>
            <a:r>
              <a:rPr lang="en-US" altLang="en-US" dirty="0">
                <a:latin typeface="Lucida Console" pitchFamily="49" charset="0"/>
              </a:rPr>
              <a:t>%2: </a:t>
            </a:r>
            <a:r>
              <a:rPr lang="en-US" altLang="en-US" b="1" dirty="0" err="1">
                <a:solidFill>
                  <a:srgbClr val="00B0F0"/>
                </a:solidFill>
                <a:latin typeface="Lucida Console" pitchFamily="49" charset="0"/>
              </a:rPr>
              <a:t>S</a:t>
            </a:r>
            <a:r>
              <a:rPr lang="en-US" altLang="en-US" dirty="0" err="1">
                <a:solidFill>
                  <a:srgbClr val="00B0F0"/>
                </a:solidFill>
                <a:latin typeface="Lucida Console" pitchFamily="49" charset="0"/>
              </a:rPr>
              <a:t>.remove</a:t>
            </a:r>
            <a:r>
              <a:rPr lang="en-US" altLang="en-US" dirty="0">
                <a:solidFill>
                  <a:srgbClr val="00B0F0"/>
                </a:solidFill>
                <a:latin typeface="Lucida Console" pitchFamily="49" charset="0"/>
              </a:rPr>
              <a:t>(</a:t>
            </a:r>
            <a:r>
              <a:rPr lang="en-US" altLang="en-US" b="1" dirty="0" err="1">
                <a:solidFill>
                  <a:schemeClr val="accent2"/>
                </a:solidFill>
                <a:latin typeface="Lucida Console" pitchFamily="49" charset="0"/>
              </a:rPr>
              <a:t>i</a:t>
            </a:r>
            <a:r>
              <a:rPr lang="en-US" altLang="en-US" dirty="0">
                <a:solidFill>
                  <a:srgbClr val="00B0F0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</a:t>
            </a:r>
          </a:p>
          <a:p>
            <a:pPr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93" dirty="0" err="1">
                <a:solidFill>
                  <a:srgbClr val="FFC9C9"/>
                </a:solidFill>
                <a:latin typeface="Lucida Console" pitchFamily="49" charset="0"/>
              </a:rPr>
              <a:t>Tracebac</a:t>
            </a:r>
            <a:r>
              <a:rPr lang="en-US" altLang="en-US" spc="-278" dirty="0" err="1">
                <a:solidFill>
                  <a:srgbClr val="FFC9C9"/>
                </a:solidFill>
                <a:latin typeface="Lucida Console" pitchFamily="49" charset="0"/>
              </a:rPr>
              <a:t>k</a:t>
            </a:r>
            <a:r>
              <a:rPr lang="en-US" altLang="en-US" spc="-93" dirty="0">
                <a:solidFill>
                  <a:srgbClr val="FFC9C9"/>
                </a:solidFill>
                <a:latin typeface="Lucida Console" pitchFamily="49" charset="0"/>
              </a:rPr>
              <a:t> (most recent call last):</a:t>
            </a:r>
          </a:p>
          <a:p>
            <a:pPr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93" dirty="0">
                <a:solidFill>
                  <a:srgbClr val="FFC9C9"/>
                </a:solidFill>
                <a:latin typeface="Lucida Console" pitchFamily="49" charset="0"/>
              </a:rPr>
              <a:t>  File "&lt;</a:t>
            </a:r>
            <a:r>
              <a:rPr lang="en-US" altLang="en-US" spc="-93" dirty="0" err="1">
                <a:solidFill>
                  <a:srgbClr val="FFC9C9"/>
                </a:solidFill>
                <a:latin typeface="Lucida Console" pitchFamily="49" charset="0"/>
              </a:rPr>
              <a:t>stdin</a:t>
            </a:r>
            <a:r>
              <a:rPr lang="en-US" altLang="en-US" spc="-93" dirty="0">
                <a:solidFill>
                  <a:srgbClr val="FFC9C9"/>
                </a:solidFill>
                <a:latin typeface="Lucida Console" pitchFamily="49" charset="0"/>
              </a:rPr>
              <a:t>&gt;</a:t>
            </a:r>
            <a:r>
              <a:rPr lang="en-US" altLang="en-US" spc="-185" dirty="0">
                <a:solidFill>
                  <a:srgbClr val="FFC9C9"/>
                </a:solidFill>
                <a:latin typeface="Lucida Console" pitchFamily="49" charset="0"/>
              </a:rPr>
              <a:t>",</a:t>
            </a:r>
            <a:r>
              <a:rPr lang="en-US" altLang="en-US" spc="-93" dirty="0">
                <a:solidFill>
                  <a:srgbClr val="FFC9C9"/>
                </a:solidFill>
                <a:latin typeface="Lucida Console" pitchFamily="49" charset="0"/>
              </a:rPr>
              <a:t> line 1, in &lt;module&gt;</a:t>
            </a:r>
          </a:p>
          <a:p>
            <a:pPr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185" dirty="0" err="1">
                <a:solidFill>
                  <a:srgbClr val="FFC9C9"/>
                </a:solidFill>
                <a:latin typeface="Lucida Console" pitchFamily="49" charset="0"/>
              </a:rPr>
              <a:t>RuntimeError</a:t>
            </a:r>
            <a:r>
              <a:rPr lang="en-US" altLang="en-US" spc="-278" dirty="0">
                <a:solidFill>
                  <a:srgbClr val="FFC9C9"/>
                </a:solidFill>
                <a:latin typeface="Lucida Console" pitchFamily="49" charset="0"/>
              </a:rPr>
              <a:t>:</a:t>
            </a:r>
            <a:r>
              <a:rPr lang="en-US" altLang="en-US" sz="1664" spc="-185" dirty="0">
                <a:solidFill>
                  <a:srgbClr val="FFC9C9"/>
                </a:solidFill>
                <a:latin typeface="Lucida Console" pitchFamily="49" charset="0"/>
              </a:rPr>
              <a:t> </a:t>
            </a:r>
            <a:r>
              <a:rPr lang="en-US" altLang="en-US" spc="-100" dirty="0">
                <a:solidFill>
                  <a:srgbClr val="FF0000"/>
                </a:solidFill>
                <a:latin typeface="Lucida Console" pitchFamily="49" charset="0"/>
              </a:rPr>
              <a:t>Set</a:t>
            </a:r>
            <a:r>
              <a:rPr lang="en-US" altLang="en-US" sz="2398" spc="-1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pc="-100" dirty="0">
                <a:solidFill>
                  <a:srgbClr val="FF0000"/>
                </a:solidFill>
                <a:latin typeface="Lucida Console" pitchFamily="49" charset="0"/>
              </a:rPr>
              <a:t>changed</a:t>
            </a:r>
            <a:r>
              <a:rPr lang="en-US" altLang="en-US" sz="2398" spc="-1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pc="-100" dirty="0">
                <a:solidFill>
                  <a:srgbClr val="FF0000"/>
                </a:solidFill>
                <a:latin typeface="Lucida Console" pitchFamily="49" charset="0"/>
              </a:rPr>
              <a:t>size</a:t>
            </a:r>
            <a:r>
              <a:rPr lang="en-US" altLang="en-US" sz="2398" spc="-1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pc="-100" dirty="0">
                <a:solidFill>
                  <a:srgbClr val="FF0000"/>
                </a:solidFill>
                <a:latin typeface="Lucida Console" pitchFamily="49" charset="0"/>
              </a:rPr>
              <a:t>during</a:t>
            </a:r>
            <a:r>
              <a:rPr lang="en-US" altLang="en-US" sz="2398" spc="-1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pc="-100" dirty="0">
                <a:solidFill>
                  <a:srgbClr val="FF0000"/>
                </a:solidFill>
                <a:latin typeface="Lucida Console" pitchFamily="49" charset="0"/>
              </a:rPr>
              <a:t>iteration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</a:p>
          <a:p>
            <a:pPr>
              <a:spcBef>
                <a:spcPts val="0"/>
              </a:spcBef>
              <a:buNone/>
            </a:pP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 </a:t>
            </a:r>
            <a:r>
              <a:rPr lang="en-US" altLang="en-US" b="1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dirty="0">
                <a:latin typeface="Lucida Console" pitchFamily="49" charset="0"/>
              </a:rPr>
              <a:t>=[1,2,3,4,5,6]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 </a:t>
            </a:r>
            <a:r>
              <a:rPr lang="en-US" altLang="en-US" dirty="0">
                <a:latin typeface="Lucida Console" pitchFamily="49" charset="0"/>
              </a:rPr>
              <a:t>for </a:t>
            </a:r>
            <a:r>
              <a:rPr lang="en-US" altLang="en-US" b="1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dirty="0">
                <a:latin typeface="Lucida Console" pitchFamily="49" charset="0"/>
              </a:rPr>
              <a:t> in </a:t>
            </a:r>
            <a:r>
              <a:rPr lang="en-US" altLang="en-US" b="1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dirty="0">
                <a:latin typeface="Lucida Console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     </a:t>
            </a:r>
            <a:r>
              <a:rPr lang="en-US" altLang="en-US" dirty="0">
                <a:latin typeface="Lucida Console" pitchFamily="49" charset="0"/>
              </a:rPr>
              <a:t>if </a:t>
            </a:r>
            <a:r>
              <a:rPr lang="en-US" altLang="en-US" b="1" dirty="0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dirty="0">
                <a:latin typeface="Lucida Console" pitchFamily="49" charset="0"/>
              </a:rPr>
              <a:t>%2: </a:t>
            </a:r>
            <a:r>
              <a:rPr lang="en-US" altLang="en-US" b="1" dirty="0" err="1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dirty="0" err="1">
                <a:solidFill>
                  <a:srgbClr val="00B050"/>
                </a:solidFill>
                <a:latin typeface="Lucida Console" pitchFamily="49" charset="0"/>
              </a:rPr>
              <a:t>.remove</a:t>
            </a:r>
            <a:r>
              <a:rPr lang="en-US" altLang="en-US" dirty="0">
                <a:solidFill>
                  <a:srgbClr val="00B050"/>
                </a:solidFill>
                <a:latin typeface="Lucida Console" pitchFamily="49" charset="0"/>
              </a:rPr>
              <a:t>(</a:t>
            </a:r>
            <a:r>
              <a:rPr lang="en-US" altLang="en-US" b="1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 </a:t>
            </a:r>
            <a:r>
              <a:rPr lang="en-US" altLang="en-US" b="1" dirty="0">
                <a:solidFill>
                  <a:srgbClr val="00B050"/>
                </a:solidFill>
                <a:latin typeface="Lucida Console" pitchFamily="49" charset="0"/>
              </a:rPr>
              <a:t>L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latin typeface="Lucida Console" pitchFamily="49" charset="0"/>
              </a:rPr>
              <a:t>[2, 4, 6]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913" y="3619194"/>
            <a:ext cx="9719966" cy="661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21" tIns="42261" rIns="84521" bIns="42261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5198">
              <a:lnSpc>
                <a:spcPct val="80000"/>
              </a:lnSpc>
              <a:tabLst>
                <a:tab pos="0" algn="l"/>
                <a:tab pos="413658" algn="l"/>
                <a:tab pos="827314" algn="l"/>
                <a:tab pos="1240971" algn="l"/>
                <a:tab pos="1654627" algn="l"/>
                <a:tab pos="2069869" algn="l"/>
                <a:tab pos="2483527" algn="l"/>
                <a:tab pos="2897183" algn="l"/>
                <a:tab pos="3310840" algn="l"/>
                <a:tab pos="3726082" algn="l"/>
                <a:tab pos="4139739" algn="l"/>
                <a:tab pos="4553395" algn="l"/>
                <a:tab pos="4967052" algn="l"/>
                <a:tab pos="5382294" algn="l"/>
                <a:tab pos="5795952" algn="l"/>
                <a:tab pos="6209607" algn="l"/>
                <a:tab pos="6623265" algn="l"/>
                <a:tab pos="7038507" algn="l"/>
                <a:tab pos="7452162" algn="l"/>
                <a:tab pos="7865820" algn="l"/>
                <a:tab pos="8279477" algn="l"/>
              </a:tabLst>
            </a:pPr>
            <a:r>
              <a:rPr lang="en-US" altLang="en-US" sz="924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068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But, you </a:t>
            </a:r>
            <a:r>
              <a:rPr lang="en-US" altLang="en-US" sz="4068" i="1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can</a:t>
            </a:r>
            <a:r>
              <a:rPr lang="en-US" altLang="en-US" sz="4068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change a list</a:t>
            </a:r>
            <a:endParaRPr lang="en-GB" altLang="en-US" sz="4068" kern="0" dirty="0">
              <a:solidFill>
                <a:srgbClr val="0070C0"/>
              </a:solidFill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00344" y="4272890"/>
            <a:ext cx="9424532" cy="2713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21" tIns="42261" rIns="84521" bIns="42261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=[1,2,3,4,5,6]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for </a:t>
            </a:r>
            <a:r>
              <a:rPr lang="en-US" altLang="en-US" sz="2796" b="1" kern="0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 in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: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     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if </a:t>
            </a:r>
            <a:r>
              <a:rPr lang="en-US" altLang="en-US" sz="2796" b="1" kern="0" dirty="0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%2: </a:t>
            </a:r>
            <a:r>
              <a:rPr lang="en-US" altLang="en-US" sz="2796" b="1" kern="0" dirty="0" err="1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 err="1">
                <a:solidFill>
                  <a:srgbClr val="00B050"/>
                </a:solidFill>
                <a:latin typeface="Lucida Console" pitchFamily="49" charset="0"/>
              </a:rPr>
              <a:t>.remove</a:t>
            </a:r>
            <a:r>
              <a:rPr lang="en-US" altLang="en-US" sz="2796" kern="0" dirty="0">
                <a:solidFill>
                  <a:srgbClr val="00B050"/>
                </a:solidFill>
                <a:latin typeface="Lucida Console" pitchFamily="49" charset="0"/>
              </a:rPr>
              <a:t>(</a:t>
            </a:r>
            <a:r>
              <a:rPr lang="en-US" altLang="en-US" sz="2796" b="1" kern="0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defTabSz="845198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[2, 4, 6]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6552261" y="5242240"/>
            <a:ext cx="1549561" cy="708410"/>
          </a:xfrm>
          <a:prstGeom prst="wedgeRoundRectCallout">
            <a:avLst>
              <a:gd name="adj1" fmla="val -324010"/>
              <a:gd name="adj2" fmla="val 93574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91" tIns="45646" rIns="91291" bIns="45646" numCol="1" rtlCol="0" anchor="t" anchorCtr="0" compatLnSpc="1">
            <a:prstTxWarp prst="textNoShape">
              <a:avLst/>
            </a:prstTxWarp>
          </a:bodyPr>
          <a:lstStyle/>
          <a:p>
            <a:pPr defTabSz="8451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68" dirty="0">
                <a:solidFill>
                  <a:srgbClr val="000000"/>
                </a:solidFill>
                <a:latin typeface="Times New Roman" charset="0"/>
              </a:rPr>
              <a:t>Why?</a:t>
            </a:r>
            <a:endParaRPr lang="zh-TW" altLang="en-US" sz="406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2" name="Rectangle 1"/>
          <p:cNvSpPr txBox="1">
            <a:spLocks noChangeArrowheads="1"/>
          </p:cNvSpPr>
          <p:nvPr/>
        </p:nvSpPr>
        <p:spPr bwMode="auto">
          <a:xfrm>
            <a:off x="4913" y="856792"/>
            <a:ext cx="9719966" cy="661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21" tIns="42261" rIns="84521" bIns="42261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5198">
              <a:lnSpc>
                <a:spcPct val="80000"/>
              </a:lnSpc>
              <a:tabLst>
                <a:tab pos="0" algn="l"/>
                <a:tab pos="413658" algn="l"/>
                <a:tab pos="827314" algn="l"/>
                <a:tab pos="1240971" algn="l"/>
                <a:tab pos="1654627" algn="l"/>
                <a:tab pos="2069869" algn="l"/>
                <a:tab pos="2483527" algn="l"/>
                <a:tab pos="2897183" algn="l"/>
                <a:tab pos="3310840" algn="l"/>
                <a:tab pos="3726082" algn="l"/>
                <a:tab pos="4139739" algn="l"/>
                <a:tab pos="4553395" algn="l"/>
                <a:tab pos="4967052" algn="l"/>
                <a:tab pos="5382294" algn="l"/>
                <a:tab pos="5795952" algn="l"/>
                <a:tab pos="6209607" algn="l"/>
                <a:tab pos="6623265" algn="l"/>
                <a:tab pos="7038507" algn="l"/>
                <a:tab pos="7452162" algn="l"/>
                <a:tab pos="7865820" algn="l"/>
                <a:tab pos="8279477" algn="l"/>
              </a:tabLst>
            </a:pPr>
            <a:r>
              <a:rPr lang="en-US" altLang="en-US" sz="924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068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But, you </a:t>
            </a:r>
            <a:r>
              <a:rPr lang="en-US" altLang="en-US" sz="4068" i="1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can</a:t>
            </a:r>
            <a:r>
              <a:rPr lang="en-US" altLang="en-US" sz="4068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change a list</a:t>
            </a:r>
            <a:endParaRPr lang="en-GB" altLang="en-US" sz="4068" kern="0" dirty="0">
              <a:solidFill>
                <a:srgbClr val="0070C0"/>
              </a:solidFill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00344" y="1510487"/>
            <a:ext cx="9424532" cy="2713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21" tIns="42261" rIns="84521" bIns="42261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=[1,2,3,4,5,6]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for </a:t>
            </a:r>
            <a:r>
              <a:rPr lang="en-US" altLang="en-US" sz="2796" b="1" kern="0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 in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: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     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if </a:t>
            </a:r>
            <a:r>
              <a:rPr lang="en-US" altLang="en-US" sz="2796" b="1" kern="0" dirty="0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%2: </a:t>
            </a:r>
            <a:r>
              <a:rPr lang="en-US" altLang="en-US" sz="2796" b="1" kern="0" dirty="0" err="1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 err="1">
                <a:solidFill>
                  <a:srgbClr val="00B050"/>
                </a:solidFill>
                <a:latin typeface="Lucida Console" pitchFamily="49" charset="0"/>
              </a:rPr>
              <a:t>.remove</a:t>
            </a:r>
            <a:r>
              <a:rPr lang="en-US" altLang="en-US" sz="2796" kern="0" dirty="0">
                <a:solidFill>
                  <a:srgbClr val="00B050"/>
                </a:solidFill>
                <a:latin typeface="Lucida Console" pitchFamily="49" charset="0"/>
              </a:rPr>
              <a:t>(</a:t>
            </a:r>
            <a:r>
              <a:rPr lang="en-US" altLang="en-US" sz="2796" b="1" kern="0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defTabSz="845198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[2, 4, 6]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4913" y="5590"/>
            <a:ext cx="9719966" cy="116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521" tIns="42261" rIns="84521" bIns="42261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5198">
              <a:lnSpc>
                <a:spcPct val="80000"/>
              </a:lnSpc>
              <a:tabLst>
                <a:tab pos="0" algn="l"/>
                <a:tab pos="413658" algn="l"/>
                <a:tab pos="827314" algn="l"/>
                <a:tab pos="1240971" algn="l"/>
                <a:tab pos="1654627" algn="l"/>
                <a:tab pos="2069869" algn="l"/>
                <a:tab pos="2483527" algn="l"/>
                <a:tab pos="2897183" algn="l"/>
                <a:tab pos="3310840" algn="l"/>
                <a:tab pos="3726082" algn="l"/>
                <a:tab pos="4139739" algn="l"/>
                <a:tab pos="4553395" algn="l"/>
                <a:tab pos="4967052" algn="l"/>
                <a:tab pos="5382294" algn="l"/>
                <a:tab pos="5795952" algn="l"/>
                <a:tab pos="6209607" algn="l"/>
                <a:tab pos="6623265" algn="l"/>
                <a:tab pos="7038507" algn="l"/>
                <a:tab pos="7452162" algn="l"/>
                <a:tab pos="7865820" algn="l"/>
                <a:tab pos="8279477" algn="l"/>
              </a:tabLst>
            </a:pPr>
            <a:r>
              <a:rPr lang="en-US" altLang="en-US" sz="924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068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You can’t change a set while iterating</a:t>
            </a:r>
            <a:endParaRPr lang="en-GB" altLang="en-US" sz="4068" kern="0" dirty="0">
              <a:solidFill>
                <a:srgbClr val="0070C0"/>
              </a:solidFill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6386895" y="1402027"/>
            <a:ext cx="2388652" cy="708410"/>
          </a:xfrm>
          <a:prstGeom prst="wedgeRoundRectCallout">
            <a:avLst>
              <a:gd name="adj1" fmla="val -99504"/>
              <a:gd name="adj2" fmla="val 221531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91" tIns="45646" rIns="91291" bIns="45646" numCol="1" rtlCol="0" anchor="t" anchorCtr="0" compatLnSpc="1">
            <a:prstTxWarp prst="textNoShape">
              <a:avLst/>
            </a:prstTxWarp>
          </a:bodyPr>
          <a:lstStyle/>
          <a:p>
            <a:pPr defTabSz="8451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68" dirty="0">
                <a:solidFill>
                  <a:srgbClr val="000000"/>
                </a:solidFill>
                <a:latin typeface="Times New Roman" charset="0"/>
              </a:rPr>
              <a:t>Why not?</a:t>
            </a:r>
            <a:endParaRPr lang="zh-TW" altLang="en-US" sz="406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00346" y="850808"/>
            <a:ext cx="4506366" cy="5547571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4521" tIns="42261" rIns="84521" bIns="42261" numCol="1" rtlCol="0" anchor="t" anchorCtr="0" compatLnSpc="1">
            <a:prstTxWarp prst="textNoShape">
              <a:avLst/>
            </a:prstTxWarp>
          </a:bodyPr>
          <a:lstStyle/>
          <a:p>
            <a:pPr defTabSz="845198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959" dirty="0">
                <a:solidFill>
                  <a:prstClr val="black"/>
                </a:solidFill>
                <a:latin typeface="Times New Roman" charset="0"/>
              </a:rPr>
              <a:t>Answer: It has to do with the data structures Python uses to implement these two data types.</a:t>
            </a:r>
          </a:p>
          <a:p>
            <a:pPr defTabSz="845198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959" spc="-19" dirty="0">
                <a:solidFill>
                  <a:prstClr val="black"/>
                </a:solidFill>
                <a:latin typeface="Times New Roman" charset="0"/>
              </a:rPr>
              <a:t>Pyt</a:t>
            </a:r>
            <a:r>
              <a:rPr lang="en-US" altLang="zh-TW" sz="2959" spc="-74" dirty="0">
                <a:solidFill>
                  <a:prstClr val="black"/>
                </a:solidFill>
                <a:latin typeface="Times New Roman" charset="0"/>
              </a:rPr>
              <a:t>ho</a:t>
            </a:r>
            <a:r>
              <a:rPr lang="en-US" altLang="zh-TW" sz="2959" spc="-278" dirty="0">
                <a:solidFill>
                  <a:prstClr val="black"/>
                </a:solidFill>
                <a:latin typeface="Times New Roman" charset="0"/>
              </a:rPr>
              <a:t>n</a:t>
            </a:r>
            <a:r>
              <a:rPr lang="en-US" altLang="zh-TW" sz="2959" spc="-111" dirty="0">
                <a:solidFill>
                  <a:prstClr val="black"/>
                </a:solidFill>
                <a:latin typeface="Times New Roman" charset="0"/>
              </a:rPr>
              <a:t>’</a:t>
            </a:r>
            <a:r>
              <a:rPr lang="en-US" altLang="zh-TW" sz="2959" spc="-19" dirty="0">
                <a:solidFill>
                  <a:prstClr val="black"/>
                </a:solidFill>
                <a:latin typeface="Times New Roman" charset="0"/>
              </a:rPr>
              <a:t>s</a:t>
            </a:r>
            <a:r>
              <a:rPr lang="en-US" altLang="zh-TW" sz="2218" spc="-19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TW" sz="2959" spc="-19" dirty="0">
                <a:solidFill>
                  <a:prstClr val="black"/>
                </a:solidFill>
                <a:latin typeface="Times New Roman" charset="0"/>
              </a:rPr>
              <a:t>smart</a:t>
            </a:r>
            <a:r>
              <a:rPr lang="en-US" altLang="zh-TW" sz="2218" spc="-19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TW" sz="2959" spc="-19" dirty="0">
                <a:solidFill>
                  <a:prstClr val="black"/>
                </a:solidFill>
                <a:latin typeface="Times New Roman" charset="0"/>
              </a:rPr>
              <a:t>data</a:t>
            </a:r>
            <a:r>
              <a:rPr lang="en-US" altLang="zh-TW" sz="2218" spc="-19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TW" sz="2959" spc="-19" dirty="0">
                <a:solidFill>
                  <a:prstClr val="black"/>
                </a:solidFill>
                <a:latin typeface="Times New Roman" charset="0"/>
              </a:rPr>
              <a:t>structures</a:t>
            </a:r>
            <a:r>
              <a:rPr lang="en-US" altLang="zh-TW" sz="2959" dirty="0">
                <a:solidFill>
                  <a:prstClr val="black"/>
                </a:solidFill>
                <a:latin typeface="Times New Roman" charset="0"/>
              </a:rPr>
              <a:t> improve code efficiency in various ways.</a:t>
            </a:r>
          </a:p>
          <a:p>
            <a:pPr defTabSz="845198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959" dirty="0">
                <a:solidFill>
                  <a:prstClr val="black"/>
                </a:solidFill>
                <a:latin typeface="Times New Roman" charset="0"/>
              </a:rPr>
              <a:t>But the trouble is that a  set’s structure (a hash table) and a set's lack of order would not work predictably if it changed during iteration. </a:t>
            </a:r>
            <a:endParaRPr lang="zh-TW" altLang="en-US" sz="2959" dirty="0">
              <a:solidFill>
                <a:prstClr val="black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68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8" presetClass="exit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9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5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9747E-6 L 0.0006 -0.40441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-20231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8164E-6 -1.80026E-7 L 3.38164E-6 -0.40313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11" grpId="0" animBg="1"/>
      <p:bldP spid="11" grpId="1" animBg="1"/>
      <p:bldP spid="11" grpId="2" animBg="1"/>
      <p:bldP spid="9" grpId="0" animBg="1"/>
      <p:bldP spid="9" grpId="1" animBg="1"/>
      <p:bldP spid="12" grpId="0" animBg="1"/>
      <p:bldP spid="13" grpId="0" animBg="1"/>
      <p:bldP spid="8" grpId="0" animBg="1"/>
      <p:bldP spid="8" grpId="1" animBg="1"/>
      <p:bldP spid="10" grpId="0" animBg="1"/>
      <p:bldP spid="10" grpId="1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00344" y="1510487"/>
            <a:ext cx="9424532" cy="2713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21" tIns="42261" rIns="84521" bIns="42261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=[1,2,3,4,5,6]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for </a:t>
            </a:r>
            <a:r>
              <a:rPr lang="en-US" altLang="en-US" sz="2796" b="1" kern="0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 in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: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     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if </a:t>
            </a:r>
            <a:r>
              <a:rPr lang="en-US" altLang="en-US" sz="2796" b="1" kern="0" dirty="0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%2: </a:t>
            </a:r>
            <a:r>
              <a:rPr lang="en-US" altLang="en-US" sz="2796" b="1" kern="0" dirty="0" err="1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6" kern="0" dirty="0" err="1">
                <a:solidFill>
                  <a:srgbClr val="00B050"/>
                </a:solidFill>
                <a:latin typeface="Lucida Console" pitchFamily="49" charset="0"/>
              </a:rPr>
              <a:t>.remove</a:t>
            </a:r>
            <a:r>
              <a:rPr lang="en-US" altLang="en-US" sz="2796" kern="0" dirty="0">
                <a:solidFill>
                  <a:srgbClr val="00B050"/>
                </a:solidFill>
                <a:latin typeface="Lucida Console" pitchFamily="49" charset="0"/>
              </a:rPr>
              <a:t>(</a:t>
            </a:r>
            <a:r>
              <a:rPr lang="en-US" altLang="en-US" sz="2796" b="1" kern="0" dirty="0" err="1">
                <a:solidFill>
                  <a:srgbClr val="008000"/>
                </a:solidFill>
                <a:latin typeface="Lucida Console" pitchFamily="49" charset="0"/>
              </a:rPr>
              <a:t>i</a:t>
            </a:r>
            <a:r>
              <a:rPr lang="en-US" altLang="en-US" sz="2796" kern="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defTabSz="845198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6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black"/>
                </a:solidFill>
                <a:latin typeface="Lucida Console" pitchFamily="49" charset="0"/>
              </a:rPr>
              <a:t>[2, 4, 6]</a:t>
            </a:r>
          </a:p>
          <a:p>
            <a:pPr defTabSz="84519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796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947" y="2796"/>
            <a:ext cx="9727895" cy="117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590" tIns="42295" rIns="84590" bIns="42295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5875">
              <a:lnSpc>
                <a:spcPct val="80000"/>
              </a:lnSpc>
              <a:tabLst>
                <a:tab pos="0" algn="l"/>
                <a:tab pos="413989" algn="l"/>
                <a:tab pos="827976" algn="l"/>
                <a:tab pos="1241965" algn="l"/>
                <a:tab pos="1655952" algn="l"/>
                <a:tab pos="2071526" algn="l"/>
                <a:tab pos="2485515" algn="l"/>
                <a:tab pos="2899503" algn="l"/>
                <a:tab pos="3313491" algn="l"/>
                <a:tab pos="3729065" algn="l"/>
                <a:tab pos="4143053" algn="l"/>
                <a:tab pos="4557041" algn="l"/>
                <a:tab pos="4971029" algn="l"/>
                <a:tab pos="5386603" algn="l"/>
                <a:tab pos="5800592" algn="l"/>
                <a:tab pos="6214579" algn="l"/>
                <a:tab pos="6628568" algn="l"/>
                <a:tab pos="7044142" algn="l"/>
                <a:tab pos="7458129" algn="l"/>
                <a:tab pos="7872118" algn="l"/>
                <a:tab pos="8286106" algn="l"/>
              </a:tabLst>
            </a:pPr>
            <a:r>
              <a:rPr lang="en-US" altLang="en-US" sz="925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071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You can’t change a set while iterating</a:t>
            </a:r>
            <a:endParaRPr lang="en-GB" altLang="en-US" sz="4071" kern="0" dirty="0">
              <a:solidFill>
                <a:srgbClr val="0070C0"/>
              </a:solidFill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Rectangle 1"/>
          <p:cNvSpPr txBox="1">
            <a:spLocks noChangeArrowheads="1"/>
          </p:cNvSpPr>
          <p:nvPr/>
        </p:nvSpPr>
        <p:spPr bwMode="auto">
          <a:xfrm>
            <a:off x="947" y="854693"/>
            <a:ext cx="9727895" cy="662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90" tIns="42295" rIns="84590" bIns="42295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5875">
              <a:lnSpc>
                <a:spcPct val="80000"/>
              </a:lnSpc>
              <a:tabLst>
                <a:tab pos="0" algn="l"/>
                <a:tab pos="413989" algn="l"/>
                <a:tab pos="827976" algn="l"/>
                <a:tab pos="1241965" algn="l"/>
                <a:tab pos="1655952" algn="l"/>
                <a:tab pos="2071526" algn="l"/>
                <a:tab pos="2485515" algn="l"/>
                <a:tab pos="2899503" algn="l"/>
                <a:tab pos="3313491" algn="l"/>
                <a:tab pos="3729065" algn="l"/>
                <a:tab pos="4143053" algn="l"/>
                <a:tab pos="4557041" algn="l"/>
                <a:tab pos="4971029" algn="l"/>
                <a:tab pos="5386603" algn="l"/>
                <a:tab pos="5800592" algn="l"/>
                <a:tab pos="6214579" algn="l"/>
                <a:tab pos="6628568" algn="l"/>
                <a:tab pos="7044142" algn="l"/>
                <a:tab pos="7458129" algn="l"/>
                <a:tab pos="7872118" algn="l"/>
                <a:tab pos="8286106" algn="l"/>
              </a:tabLst>
            </a:pPr>
            <a:r>
              <a:rPr lang="en-US" altLang="en-US" sz="925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071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But, you </a:t>
            </a:r>
            <a:r>
              <a:rPr lang="en-US" altLang="en-US" sz="4071" i="1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can</a:t>
            </a:r>
            <a:r>
              <a:rPr lang="en-US" altLang="en-US" sz="4071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change a list</a:t>
            </a:r>
            <a:endParaRPr lang="en-GB" altLang="en-US" sz="4071" kern="0" dirty="0">
              <a:solidFill>
                <a:srgbClr val="0070C0"/>
              </a:solidFill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2" name="Rectangle 1"/>
          <p:cNvSpPr txBox="1">
            <a:spLocks noChangeArrowheads="1"/>
          </p:cNvSpPr>
          <p:nvPr/>
        </p:nvSpPr>
        <p:spPr bwMode="auto">
          <a:xfrm>
            <a:off x="947" y="3700657"/>
            <a:ext cx="9727895" cy="662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90" tIns="42295" rIns="84590" bIns="42295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5875">
              <a:lnSpc>
                <a:spcPct val="80000"/>
              </a:lnSpc>
              <a:tabLst>
                <a:tab pos="0" algn="l"/>
                <a:tab pos="413989" algn="l"/>
                <a:tab pos="827976" algn="l"/>
                <a:tab pos="1241965" algn="l"/>
                <a:tab pos="1655952" algn="l"/>
                <a:tab pos="2071526" algn="l"/>
                <a:tab pos="2485515" algn="l"/>
                <a:tab pos="2899503" algn="l"/>
                <a:tab pos="3313491" algn="l"/>
                <a:tab pos="3729065" algn="l"/>
                <a:tab pos="4143053" algn="l"/>
                <a:tab pos="4557041" algn="l"/>
                <a:tab pos="4971029" algn="l"/>
                <a:tab pos="5386603" algn="l"/>
                <a:tab pos="5800592" algn="l"/>
                <a:tab pos="6214579" algn="l"/>
                <a:tab pos="6628568" algn="l"/>
                <a:tab pos="7044142" algn="l"/>
                <a:tab pos="7458129" algn="l"/>
                <a:tab pos="7872118" algn="l"/>
                <a:tab pos="8286106" algn="l"/>
              </a:tabLst>
            </a:pPr>
            <a:r>
              <a:rPr lang="en-US" altLang="en-US" sz="925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071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But, even for lists, you need caution:</a:t>
            </a:r>
            <a:endParaRPr lang="en-GB" altLang="en-US" sz="4071" kern="0" dirty="0">
              <a:solidFill>
                <a:srgbClr val="0070C0"/>
              </a:solidFill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296621" y="4273577"/>
            <a:ext cx="9432220" cy="2581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84590" tIns="42295" rIns="84590" bIns="42295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845875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 </a:t>
            </a:r>
            <a:r>
              <a:rPr lang="en-US" altLang="en-US" sz="2798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=['</a:t>
            </a:r>
            <a:r>
              <a:rPr lang="en-US" altLang="en-US" sz="2798" kern="0" dirty="0" err="1">
                <a:solidFill>
                  <a:prstClr val="black"/>
                </a:solidFill>
                <a:latin typeface="Lucida Console" pitchFamily="49" charset="0"/>
              </a:rPr>
              <a:t>a','b','c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']</a:t>
            </a:r>
          </a:p>
          <a:p>
            <a:pPr defTabSz="845875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&gt;&gt;&gt;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 for </a:t>
            </a:r>
            <a:r>
              <a:rPr lang="en-US" altLang="en-US" sz="2798" b="1" kern="0" dirty="0" err="1">
                <a:solidFill>
                  <a:srgbClr val="00B050"/>
                </a:solidFill>
                <a:latin typeface="Lucida Console" pitchFamily="49" charset="0"/>
              </a:rPr>
              <a:t>i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 in </a:t>
            </a:r>
            <a:r>
              <a:rPr lang="en-US" altLang="en-US" sz="2798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:</a:t>
            </a:r>
          </a:p>
          <a:p>
            <a:pPr defTabSz="845875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     print(</a:t>
            </a:r>
            <a:r>
              <a:rPr lang="en-US" altLang="en-US" sz="2798" b="1" kern="0" dirty="0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,": ",</a:t>
            </a:r>
            <a:r>
              <a:rPr lang="en-US" altLang="en-US" sz="2798" b="1" kern="0" dirty="0" err="1">
                <a:solidFill>
                  <a:srgbClr val="00B050"/>
                </a:solidFill>
                <a:latin typeface="Lucida Console" pitchFamily="49" charset="0"/>
              </a:rPr>
              <a:t>i</a:t>
            </a:r>
            <a:r>
              <a:rPr lang="en-US" altLang="en-US" sz="2798" kern="0" dirty="0" err="1">
                <a:solidFill>
                  <a:prstClr val="black"/>
                </a:solidFill>
                <a:latin typeface="Lucida Console" pitchFamily="49" charset="0"/>
              </a:rPr>
              <a:t>,sep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="")</a:t>
            </a:r>
          </a:p>
          <a:p>
            <a:pPr defTabSz="845875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     </a:t>
            </a:r>
            <a:r>
              <a:rPr lang="en-US" altLang="en-US" sz="2798" b="1" kern="0" dirty="0" err="1">
                <a:solidFill>
                  <a:srgbClr val="00B050"/>
                </a:solidFill>
                <a:latin typeface="Lucida Console" pitchFamily="49" charset="0"/>
              </a:rPr>
              <a:t>L</a:t>
            </a:r>
            <a:r>
              <a:rPr lang="en-US" altLang="en-US" sz="2798" kern="0" dirty="0" err="1">
                <a:solidFill>
                  <a:srgbClr val="00B050"/>
                </a:solidFill>
                <a:latin typeface="Lucida Console" pitchFamily="49" charset="0"/>
              </a:rPr>
              <a:t>.insert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(1,</a:t>
            </a:r>
            <a:r>
              <a:rPr lang="en-US" altLang="en-US" sz="2798" b="1" kern="0" dirty="0">
                <a:solidFill>
                  <a:srgbClr val="7030A0"/>
                </a:solidFill>
                <a:latin typeface="Lucida Console" pitchFamily="49" charset="0"/>
              </a:rPr>
              <a:t>len(L)-2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)</a:t>
            </a:r>
          </a:p>
          <a:p>
            <a:pPr defTabSz="845875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prstClr val="white">
                    <a:lumMod val="75000"/>
                  </a:prstClr>
                </a:solidFill>
                <a:latin typeface="Lucida Console" pitchFamily="49" charset="0"/>
              </a:rPr>
              <a:t>...</a:t>
            </a:r>
            <a:endParaRPr lang="en-US" altLang="en-US" sz="2798" kern="0" dirty="0">
              <a:solidFill>
                <a:srgbClr val="FFFFFF"/>
              </a:solidFill>
              <a:latin typeface="Lucida Console" pitchFamily="49" charset="0"/>
            </a:endParaRPr>
          </a:p>
          <a:p>
            <a:pPr defTabSz="845875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srgbClr val="00B050"/>
                </a:solidFill>
                <a:latin typeface="Lucida Console" pitchFamily="49" charset="0"/>
              </a:rPr>
              <a:t>['a', 'b', 'c']: a</a:t>
            </a:r>
          </a:p>
          <a:p>
            <a:pPr defTabSz="845875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srgbClr val="00B050"/>
                </a:solidFill>
                <a:latin typeface="Lucida Console" pitchFamily="49" charset="0"/>
              </a:rPr>
              <a:t>['a', </a:t>
            </a:r>
            <a:r>
              <a:rPr lang="en-US" altLang="en-US" sz="2798" b="1" kern="0" dirty="0">
                <a:solidFill>
                  <a:srgbClr val="7030A0"/>
                </a:solidFill>
                <a:latin typeface="Lucida Console" pitchFamily="49" charset="0"/>
              </a:rPr>
              <a:t>1</a:t>
            </a:r>
            <a:r>
              <a:rPr lang="en-US" altLang="en-US" sz="2798" kern="0" dirty="0">
                <a:solidFill>
                  <a:srgbClr val="00B050"/>
                </a:solidFill>
                <a:latin typeface="Lucida Console" pitchFamily="49" charset="0"/>
              </a:rPr>
              <a:t>, 'b', 'c']: 1</a:t>
            </a:r>
          </a:p>
          <a:p>
            <a:pPr defTabSz="845875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798" kern="0" dirty="0">
                <a:solidFill>
                  <a:srgbClr val="00B050"/>
                </a:solidFill>
                <a:latin typeface="Lucida Console" pitchFamily="49" charset="0"/>
              </a:rPr>
              <a:t>['a', </a:t>
            </a:r>
            <a:r>
              <a:rPr lang="en-US" altLang="en-US" sz="2798" b="1" kern="0" dirty="0">
                <a:solidFill>
                  <a:srgbClr val="7030A0"/>
                </a:solidFill>
                <a:latin typeface="Lucida Console" pitchFamily="49" charset="0"/>
              </a:rPr>
              <a:t>2</a:t>
            </a:r>
            <a:r>
              <a:rPr lang="en-US" altLang="en-US" sz="2798" kern="0" dirty="0">
                <a:solidFill>
                  <a:srgbClr val="00B050"/>
                </a:solidFill>
                <a:latin typeface="Lucida Console" pitchFamily="49" charset="0"/>
              </a:rPr>
              <a:t>, 1, 'b', 'c']: 1 </a:t>
            </a:r>
            <a:r>
              <a:rPr lang="en-US" altLang="en-US" sz="2798" kern="0" dirty="0">
                <a:solidFill>
                  <a:prstClr val="black"/>
                </a:solidFill>
                <a:latin typeface="Lucida Console" pitchFamily="49" charset="0"/>
              </a:rPr>
              <a:t>... </a:t>
            </a:r>
            <a:r>
              <a:rPr lang="en-US" altLang="en-US" sz="2798" kern="0" dirty="0">
                <a:solidFill>
                  <a:srgbClr val="FF0000"/>
                </a:solidFill>
                <a:latin typeface="Lucida Console" pitchFamily="49" charset="0"/>
              </a:rPr>
              <a:t>← goes forever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709017" y="5199018"/>
            <a:ext cx="1550825" cy="708988"/>
          </a:xfrm>
          <a:prstGeom prst="wedgeRoundRectCallout">
            <a:avLst>
              <a:gd name="adj1" fmla="val -5787"/>
              <a:gd name="adj2" fmla="val 135977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7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71" dirty="0">
                <a:solidFill>
                  <a:srgbClr val="000000"/>
                </a:solidFill>
                <a:latin typeface="Times New Roman" charset="0"/>
              </a:rPr>
              <a:t>Why?</a:t>
            </a:r>
            <a:endParaRPr lang="zh-TW" altLang="en-US" sz="407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994548" y="603219"/>
            <a:ext cx="3987834" cy="2563302"/>
          </a:xfrm>
          <a:prstGeom prst="wedgeRoundRectCallout">
            <a:avLst>
              <a:gd name="adj1" fmla="val -3142"/>
              <a:gd name="adj2" fmla="val 131908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7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71" dirty="0">
                <a:solidFill>
                  <a:srgbClr val="000000"/>
                </a:solidFill>
                <a:latin typeface="Times New Roman" charset="0"/>
              </a:rPr>
              <a:t>It isn’t a surprise that this list that keeps growing forever.</a:t>
            </a:r>
            <a:endParaRPr lang="zh-TW" altLang="en-US" sz="407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553033" y="2316431"/>
            <a:ext cx="3987834" cy="2563302"/>
          </a:xfrm>
          <a:prstGeom prst="wedgeRoundRectCallout">
            <a:avLst>
              <a:gd name="adj1" fmla="val -51290"/>
              <a:gd name="adj2" fmla="val 112004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7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71" dirty="0">
                <a:solidFill>
                  <a:srgbClr val="000000"/>
                </a:solidFill>
                <a:latin typeface="Times New Roman" charset="0"/>
              </a:rPr>
              <a:t>But its revisiting of the same element might be unexpected.</a:t>
            </a:r>
            <a:endParaRPr lang="zh-TW" altLang="en-US" sz="4071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87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7" grpId="0" animBg="1"/>
      <p:bldP spid="8" grpId="0" animBg="1"/>
      <p:bldP spid="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348455"/>
            <a:ext cx="8899790" cy="424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The control flow statements are:</a:t>
            </a:r>
            <a:endParaRPr lang="en-US" altLang="en-US" sz="1100" dirty="0"/>
          </a:p>
          <a:p>
            <a:pPr>
              <a:buFontTx/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A6A6A6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spcAft>
                <a:spcPts val="1200"/>
              </a:spcAft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r>
              <a:rPr lang="en-US" altLang="en-US" sz="4000" dirty="0"/>
              <a:t> But function calls are control flow too. We’ve already been using functions:</a:t>
            </a:r>
            <a:endParaRPr lang="en-US" altLang="en-US" sz="3200" b="1" dirty="0">
              <a:solidFill>
                <a:srgbClr val="A6A6A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range()</a:t>
            </a:r>
          </a:p>
          <a:p>
            <a:pPr marL="0" indent="0">
              <a:buNone/>
            </a:pPr>
            <a:endParaRPr lang="en-US" altLang="en-US" sz="1000" dirty="0"/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44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92894" y="856213"/>
            <a:ext cx="9436894" cy="47148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4000" dirty="0"/>
              <a:t>range(</a:t>
            </a:r>
            <a:r>
              <a:rPr lang="en-US" altLang="en-US" sz="4000" i="1" dirty="0">
                <a:solidFill>
                  <a:srgbClr val="FF0000"/>
                </a:solidFill>
              </a:rPr>
              <a:t>stop</a:t>
            </a:r>
            <a:r>
              <a:rPr lang="en-US" altLang="en-US" sz="4000" dirty="0"/>
              <a:t>)</a:t>
            </a:r>
          </a:p>
          <a:p>
            <a:pPr>
              <a:spcBef>
                <a:spcPts val="0"/>
              </a:spcBef>
              <a:buSzPct val="70000"/>
              <a:buFont typeface="Symbol" panose="05050102010706020507" pitchFamily="18" charset="2"/>
              <a:buChar char="Þ"/>
            </a:pPr>
            <a:r>
              <a:rPr lang="en-US" altLang="en-US" sz="3600" dirty="0"/>
              <a:t>ranges </a:t>
            </a:r>
            <a:r>
              <a:rPr lang="en-US" altLang="en-US" sz="3600" dirty="0">
                <a:solidFill>
                  <a:srgbClr val="339933"/>
                </a:solidFill>
              </a:rPr>
              <a:t>from </a:t>
            </a:r>
            <a:r>
              <a:rPr lang="en-US" altLang="en-US" sz="3600" i="1" dirty="0">
                <a:solidFill>
                  <a:srgbClr val="339933"/>
                </a:solidFill>
              </a:rPr>
              <a:t>0</a:t>
            </a:r>
            <a:r>
              <a:rPr lang="en-US" altLang="en-US" sz="3600" dirty="0"/>
              <a:t> to </a:t>
            </a:r>
            <a:r>
              <a:rPr lang="en-US" altLang="en-US" sz="3600" i="1" dirty="0">
                <a:solidFill>
                  <a:srgbClr val="FF0000"/>
                </a:solidFill>
              </a:rPr>
              <a:t>stop-1</a:t>
            </a:r>
            <a:endParaRPr lang="en-US" altLang="en-US" sz="3600" dirty="0">
              <a:solidFill>
                <a:srgbClr val="EE880A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dirty="0"/>
              <a:t>range(</a:t>
            </a:r>
            <a:r>
              <a:rPr lang="en-US" altLang="en-US" sz="4000" i="1" dirty="0">
                <a:solidFill>
                  <a:srgbClr val="339933"/>
                </a:solidFill>
              </a:rPr>
              <a:t>start</a:t>
            </a:r>
            <a:r>
              <a:rPr lang="en-US" altLang="en-US" sz="4000" dirty="0"/>
              <a:t>, </a:t>
            </a:r>
            <a:r>
              <a:rPr lang="en-US" altLang="en-US" sz="4000" i="1" dirty="0">
                <a:solidFill>
                  <a:srgbClr val="FF0000"/>
                </a:solidFill>
              </a:rPr>
              <a:t>stop</a:t>
            </a:r>
            <a:r>
              <a:rPr lang="en-US" altLang="en-US" sz="4000" dirty="0"/>
              <a:t>)</a:t>
            </a:r>
          </a:p>
          <a:p>
            <a:pPr>
              <a:spcBef>
                <a:spcPts val="0"/>
              </a:spcBef>
              <a:buSzPct val="70000"/>
              <a:buFont typeface="Symbol" panose="05050102010706020507" pitchFamily="18" charset="2"/>
              <a:buChar char="Þ"/>
            </a:pPr>
            <a:r>
              <a:rPr lang="en-US" altLang="en-US" sz="3600" dirty="0">
                <a:solidFill>
                  <a:prstClr val="black"/>
                </a:solidFill>
              </a:rPr>
              <a:t>ranges </a:t>
            </a:r>
            <a:r>
              <a:rPr lang="en-US" altLang="en-US" sz="3600" dirty="0">
                <a:solidFill>
                  <a:srgbClr val="339933"/>
                </a:solidFill>
              </a:rPr>
              <a:t>from </a:t>
            </a:r>
            <a:r>
              <a:rPr lang="en-US" altLang="en-US" sz="3600" i="1" dirty="0">
                <a:solidFill>
                  <a:srgbClr val="339933"/>
                </a:solidFill>
              </a:rPr>
              <a:t>start</a:t>
            </a:r>
            <a:r>
              <a:rPr lang="en-US" altLang="en-US" sz="3600" dirty="0">
                <a:solidFill>
                  <a:prstClr val="black"/>
                </a:solidFill>
              </a:rPr>
              <a:t> </a:t>
            </a:r>
            <a:r>
              <a:rPr lang="en-US" altLang="en-US" sz="3600" dirty="0">
                <a:solidFill>
                  <a:srgbClr val="FF0000"/>
                </a:solidFill>
              </a:rPr>
              <a:t>to </a:t>
            </a:r>
            <a:r>
              <a:rPr lang="en-US" altLang="en-US" sz="3600" i="1" dirty="0">
                <a:solidFill>
                  <a:srgbClr val="FF0000"/>
                </a:solidFill>
              </a:rPr>
              <a:t>stop-1</a:t>
            </a:r>
            <a:r>
              <a:rPr lang="en-US" altLang="en-US" sz="3600" dirty="0">
                <a:solidFill>
                  <a:prstClr val="black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dirty="0"/>
              <a:t>range(</a:t>
            </a:r>
            <a:r>
              <a:rPr lang="en-US" altLang="en-US" sz="4000" i="1" dirty="0">
                <a:solidFill>
                  <a:srgbClr val="339933"/>
                </a:solidFill>
              </a:rPr>
              <a:t>start</a:t>
            </a:r>
            <a:r>
              <a:rPr lang="en-US" altLang="en-US" sz="4000" dirty="0"/>
              <a:t>, </a:t>
            </a:r>
            <a:r>
              <a:rPr lang="en-US" altLang="en-US" sz="4000" i="1" dirty="0">
                <a:solidFill>
                  <a:srgbClr val="FF0000"/>
                </a:solidFill>
              </a:rPr>
              <a:t>stop</a:t>
            </a:r>
            <a:r>
              <a:rPr lang="en-US" altLang="en-US" sz="4000" dirty="0"/>
              <a:t>, </a:t>
            </a:r>
            <a:r>
              <a:rPr lang="en-US" altLang="en-US" sz="4000" i="1" dirty="0">
                <a:solidFill>
                  <a:srgbClr val="EE880A"/>
                </a:solidFill>
              </a:rPr>
              <a:t>step</a:t>
            </a:r>
            <a:r>
              <a:rPr lang="en-US" altLang="en-US" sz="4000" dirty="0"/>
              <a:t>)</a:t>
            </a:r>
            <a:endParaRPr lang="en-US" altLang="en-US" sz="3600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  <a:buSzPct val="70000"/>
              <a:buFont typeface="Symbol" panose="05050102010706020507" pitchFamily="18" charset="2"/>
              <a:buChar char="Þ"/>
            </a:pPr>
            <a:r>
              <a:rPr lang="en-US" altLang="en-US" sz="3600" dirty="0">
                <a:solidFill>
                  <a:prstClr val="black"/>
                </a:solidFill>
              </a:rPr>
              <a:t>ranges </a:t>
            </a:r>
            <a:r>
              <a:rPr lang="en-US" altLang="en-US" sz="3600" dirty="0">
                <a:solidFill>
                  <a:srgbClr val="339933"/>
                </a:solidFill>
              </a:rPr>
              <a:t>from </a:t>
            </a:r>
            <a:r>
              <a:rPr lang="en-US" altLang="en-US" sz="3600" i="1" dirty="0">
                <a:solidFill>
                  <a:srgbClr val="339933"/>
                </a:solidFill>
              </a:rPr>
              <a:t>start</a:t>
            </a:r>
            <a:r>
              <a:rPr lang="en-US" altLang="en-US" sz="3600" dirty="0">
                <a:solidFill>
                  <a:prstClr val="black"/>
                </a:solidFill>
              </a:rPr>
              <a:t> </a:t>
            </a:r>
            <a:r>
              <a:rPr lang="en-US" altLang="en-US" sz="3600" dirty="0">
                <a:solidFill>
                  <a:srgbClr val="FF0000"/>
                </a:solidFill>
              </a:rPr>
              <a:t>to </a:t>
            </a:r>
            <a:r>
              <a:rPr lang="en-US" altLang="en-US" sz="3600" i="1" dirty="0">
                <a:solidFill>
                  <a:srgbClr val="FF0000"/>
                </a:solidFill>
              </a:rPr>
              <a:t>stop-1</a:t>
            </a:r>
            <a:r>
              <a:rPr lang="en-US" altLang="en-US" sz="3600" dirty="0">
                <a:solidFill>
                  <a:prstClr val="black"/>
                </a:solidFill>
              </a:rPr>
              <a:t>, at a </a:t>
            </a:r>
            <a:r>
              <a:rPr lang="en-US" altLang="en-US" sz="3600" dirty="0" err="1">
                <a:solidFill>
                  <a:srgbClr val="EE880A"/>
                </a:solidFill>
              </a:rPr>
              <a:t>stepsize</a:t>
            </a:r>
            <a:r>
              <a:rPr lang="en-US" altLang="en-US" sz="3600" dirty="0">
                <a:solidFill>
                  <a:srgbClr val="EE880A"/>
                </a:solidFill>
              </a:rPr>
              <a:t> of </a:t>
            </a:r>
            <a:r>
              <a:rPr lang="en-US" altLang="en-US" sz="3600" i="1" dirty="0">
                <a:solidFill>
                  <a:srgbClr val="EE880A"/>
                </a:solidFill>
              </a:rPr>
              <a:t>step</a:t>
            </a:r>
            <a:endParaRPr lang="en-US" altLang="en-US" sz="3600" dirty="0">
              <a:solidFill>
                <a:srgbClr val="EE880A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9788" cy="1112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range</a:t>
            </a:r>
            <a:r>
              <a:rPr lang="en-US" altLang="en-US" sz="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4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 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7166" y="4857008"/>
            <a:ext cx="9144000" cy="1673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</a:rPr>
              <a:t>&gt;&gt;&gt;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en-US" dirty="0"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 in range(</a:t>
            </a:r>
            <a:r>
              <a:rPr lang="en-US" altLang="en-US" dirty="0">
                <a:solidFill>
                  <a:srgbClr val="339933"/>
                </a:solidFill>
                <a:latin typeface="Lucida Sans Typewriter" panose="020B0509030504030204" pitchFamily="49" charset="0"/>
              </a:rPr>
              <a:t>3</a:t>
            </a:r>
            <a:r>
              <a:rPr lang="en-US" altLang="en-US" dirty="0">
                <a:latin typeface="Lucida Sans Typewriter" panose="020B0509030504030204" pitchFamily="49" charset="0"/>
              </a:rPr>
              <a:t>,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9</a:t>
            </a:r>
            <a:r>
              <a:rPr lang="en-US" altLang="en-US" dirty="0">
                <a:latin typeface="Lucida Sans Typewriter" panose="020B0509030504030204" pitchFamily="49" charset="0"/>
              </a:rPr>
              <a:t>,</a:t>
            </a:r>
            <a:r>
              <a:rPr lang="en-US" altLang="en-US" dirty="0">
                <a:solidFill>
                  <a:srgbClr val="EE880A"/>
                </a:solidFill>
                <a:latin typeface="Lucida Sans Typewriter" panose="020B0509030504030204" pitchFamily="49" charset="0"/>
              </a:rPr>
              <a:t>5</a:t>
            </a:r>
            <a:r>
              <a:rPr lang="en-US" altLang="en-US" dirty="0">
                <a:latin typeface="Lucida Sans Typewriter" panose="020B0509030504030204" pitchFamily="49" charset="0"/>
              </a:rPr>
              <a:t>): print (</a:t>
            </a:r>
            <a:r>
              <a:rPr lang="en-US" altLang="en-US" dirty="0" err="1"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339933"/>
                </a:solidFill>
                <a:latin typeface="Lucida Sans Typewriter" panose="020B050903050403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</a:rPr>
              <a:t>&gt;&gt;&gt;</a:t>
            </a:r>
            <a:endParaRPr lang="en-US" alt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692906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348455"/>
            <a:ext cx="8899790" cy="424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The control flow statements are:</a:t>
            </a:r>
            <a:endParaRPr lang="en-US" altLang="en-US" sz="1100" dirty="0"/>
          </a:p>
          <a:p>
            <a:pPr>
              <a:buFontTx/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A6A6A6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spcAft>
                <a:spcPts val="1200"/>
              </a:spcAft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r>
              <a:rPr lang="en-US" altLang="en-US" sz="4000" dirty="0"/>
              <a:t> But function calls are control flow too. We’ve already been using functions:</a:t>
            </a:r>
            <a:endParaRPr lang="en-US" altLang="en-US" sz="3200" b="1" dirty="0">
              <a:solidFill>
                <a:srgbClr val="A6A6A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range()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</a:p>
          <a:p>
            <a:pPr>
              <a:buFontTx/>
              <a:buNone/>
            </a:pPr>
            <a:endParaRPr lang="en-US" altLang="en-US" sz="3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1000" dirty="0"/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012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69094" y="838207"/>
            <a:ext cx="8991600" cy="5638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 </a:t>
            </a:r>
            <a:r>
              <a:rPr lang="zh-TW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=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[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for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x </a:t>
            </a:r>
            <a:r>
              <a:rPr lang="zh-TW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in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>
                <a:solidFill>
                  <a:srgbClr val="FF1493"/>
                </a:solidFill>
                <a:latin typeface="Lucida Console" panose="020B0609040504020204" pitchFamily="49" charset="0"/>
              </a:rPr>
              <a:t>range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>
                <a:solidFill>
                  <a:srgbClr val="FF1493"/>
                </a:solidFill>
                <a:latin typeface="Lucida Console" panose="020B0609040504020204" pitchFamily="49" charset="0"/>
              </a:rPr>
              <a:t>len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(a)):</a:t>
            </a:r>
            <a:endParaRPr lang="zh-TW" altLang="zh-TW" sz="320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	  </a:t>
            </a:r>
            <a:r>
              <a:rPr lang="zh-TW" altLang="zh-TW" sz="320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endParaRPr lang="zh-TW" altLang="zh-TW" sz="3200"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200">
                <a:solidFill>
                  <a:srgbClr val="858585"/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200">
                <a:solidFill>
                  <a:srgbClr val="858585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3200" dirty="0">
              <a:solidFill>
                <a:srgbClr val="858585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-438941" y="0"/>
            <a:ext cx="10607675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Printing to the Screen</a:t>
            </a:r>
          </a:p>
        </p:txBody>
      </p:sp>
    </p:spTree>
    <p:extLst>
      <p:ext uri="{BB962C8B-B14F-4D97-AF65-F5344CB8AC3E}">
        <p14:creationId xmlns:p14="http://schemas.microsoft.com/office/powerpoint/2010/main" val="967786329"/>
      </p:ext>
    </p:extLst>
  </p:cSld>
  <p:clrMapOvr>
    <a:masterClrMapping/>
  </p:clrMapOvr>
  <p:transition spd="slow">
    <p:push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69094" y="838207"/>
            <a:ext cx="8991600" cy="5638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 </a:t>
            </a:r>
            <a:r>
              <a:rPr lang="zh-TW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=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[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for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x </a:t>
            </a:r>
            <a:r>
              <a:rPr lang="zh-TW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in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>
                <a:solidFill>
                  <a:srgbClr val="FF1493"/>
                </a:solidFill>
                <a:latin typeface="Lucida Console" panose="020B0609040504020204" pitchFamily="49" charset="0"/>
              </a:rPr>
              <a:t>range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>
                <a:solidFill>
                  <a:srgbClr val="FF1493"/>
                </a:solidFill>
                <a:latin typeface="Lucida Console" panose="020B0609040504020204" pitchFamily="49" charset="0"/>
              </a:rPr>
              <a:t>len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(a)):</a:t>
            </a:r>
            <a:endParaRPr lang="zh-TW" altLang="zh-TW" sz="320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...	  </a:t>
            </a:r>
            <a:r>
              <a:rPr lang="zh-TW" altLang="zh-TW" sz="3200">
                <a:solidFill>
                  <a:srgbClr val="FF1493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3200" b="1">
                <a:solidFill>
                  <a:srgbClr val="FF3300"/>
                </a:solidFill>
                <a:latin typeface="Lucida Console" panose="020B0609040504020204" pitchFamily="49" charset="0"/>
              </a:rPr>
              <a:t>end</a:t>
            </a:r>
            <a:r>
              <a:rPr lang="en-US" altLang="zh-TW" sz="3200" b="1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b="1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", ")</a:t>
            </a:r>
            <a:endParaRPr lang="zh-TW" altLang="zh-TW" sz="3200"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200">
                <a:solidFill>
                  <a:srgbClr val="858585"/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sz="3200">
                <a:solidFill>
                  <a:srgbClr val="858585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3200" dirty="0">
              <a:solidFill>
                <a:srgbClr val="858585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-438941" y="0"/>
            <a:ext cx="10607675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Printing to the Screen, </a:t>
            </a:r>
            <a:r>
              <a:rPr lang="en-US" sz="4400" dirty="0">
                <a:solidFill>
                  <a:srgbClr val="FF0000"/>
                </a:solidFill>
              </a:rPr>
              <a:t>end=</a:t>
            </a:r>
            <a:r>
              <a:rPr lang="en-US" sz="4400" dirty="0">
                <a:solidFill>
                  <a:srgbClr val="0070C0"/>
                </a:solidFill>
              </a:rPr>
              <a:t>“…”</a:t>
            </a:r>
          </a:p>
        </p:txBody>
      </p:sp>
    </p:spTree>
    <p:extLst>
      <p:ext uri="{BB962C8B-B14F-4D97-AF65-F5344CB8AC3E}">
        <p14:creationId xmlns:p14="http://schemas.microsoft.com/office/powerpoint/2010/main" val="73488716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69094" y="838207"/>
            <a:ext cx="8991600" cy="5638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 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 </a:t>
            </a:r>
            <a:r>
              <a:rPr lang="zh-TW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=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[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dirty="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for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x </a:t>
            </a:r>
            <a:r>
              <a:rPr lang="zh-TW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in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range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len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(a)):</a:t>
            </a:r>
            <a:endParaRPr lang="zh-TW" altLang="zh-TW" sz="32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	 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(x&lt;</a:t>
            </a:r>
            <a:r>
              <a:rPr lang="en-US" altLang="zh-TW" sz="3200" dirty="0" err="1">
                <a:solidFill>
                  <a:srgbClr val="FF35A2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(a)-1)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    </a:t>
            </a:r>
            <a:r>
              <a:rPr lang="zh-TW" altLang="zh-TW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3200" b="1" dirty="0">
                <a:solidFill>
                  <a:srgbClr val="FF3300"/>
                </a:solidFill>
                <a:latin typeface="Lucida Console" panose="020B0609040504020204" pitchFamily="49" charset="0"/>
              </a:rPr>
              <a:t>end =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",")</a:t>
            </a:r>
            <a:endParaRPr lang="zh-TW" altLang="zh-TW" sz="32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	 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    </a:t>
            </a:r>
            <a:r>
              <a:rPr lang="zh-TW" altLang="zh-TW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endParaRPr lang="zh-TW" altLang="zh-TW" sz="3200" dirty="0"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200" dirty="0">
                <a:solidFill>
                  <a:srgbClr val="858585"/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endParaRPr lang="en-US" altLang="zh-TW" sz="3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200" dirty="0">
                <a:solidFill>
                  <a:srgbClr val="858585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-438941" y="0"/>
            <a:ext cx="10607675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Printing to the Screen, </a:t>
            </a:r>
            <a:r>
              <a:rPr lang="en-US" sz="4400" dirty="0">
                <a:solidFill>
                  <a:srgbClr val="FF0000"/>
                </a:solidFill>
              </a:rPr>
              <a:t>end=</a:t>
            </a:r>
            <a:r>
              <a:rPr lang="en-US" sz="4400" dirty="0">
                <a:solidFill>
                  <a:srgbClr val="0070C0"/>
                </a:solidFill>
              </a:rPr>
              <a:t>“…”</a:t>
            </a:r>
          </a:p>
        </p:txBody>
      </p:sp>
    </p:spTree>
    <p:extLst>
      <p:ext uri="{BB962C8B-B14F-4D97-AF65-F5344CB8AC3E}">
        <p14:creationId xmlns:p14="http://schemas.microsoft.com/office/powerpoint/2010/main" val="124178987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69094" y="838207"/>
            <a:ext cx="8991600" cy="5638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 </a:t>
            </a:r>
            <a:r>
              <a:rPr lang="zh-TW" altLang="zh-TW" sz="3200" b="1">
                <a:solidFill>
                  <a:srgbClr val="006699"/>
                </a:solidFill>
                <a:latin typeface="Lucida Console" panose="020B0609040504020204" pitchFamily="49" charset="0"/>
              </a:rPr>
              <a:t>=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[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20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(a[0],</a:t>
            </a:r>
            <a:r>
              <a:rPr lang="en-US" altLang="zh-TW" sz="3200">
                <a:latin typeface="Lucida Console" panose="020B0609040504020204" pitchFamily="49" charset="0"/>
                <a:cs typeface="Courier New" pitchFamily="49" charset="0"/>
              </a:rPr>
              <a:t>a[1],a[2]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endParaRPr lang="en-US" sz="3200"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20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3200">
                <a:latin typeface="Lucida Console" panose="020B0609040504020204" pitchFamily="49" charset="0"/>
                <a:cs typeface="Courier New" pitchFamily="49" charset="0"/>
              </a:rPr>
              <a:t>a[0],a[1],a[2]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sz="3200" b="1">
                <a:solidFill>
                  <a:srgbClr val="FF3300"/>
                </a:solidFill>
                <a:latin typeface="Lucida Console" panose="020B0609040504020204" pitchFamily="49" charset="0"/>
                <a:cs typeface="Courier New" pitchFamily="49" charset="0"/>
              </a:rPr>
              <a:t>sep =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 ", ") 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20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3200">
                <a:latin typeface="Lucida Console" panose="020B0609040504020204" pitchFamily="49" charset="0"/>
                <a:cs typeface="Courier New" pitchFamily="49" charset="0"/>
              </a:rPr>
              <a:t>a[0],a[1],a[2]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sz="3200" b="1">
                <a:solidFill>
                  <a:srgbClr val="FF3300"/>
                </a:solidFill>
                <a:latin typeface="Lucida Console" panose="020B0609040504020204" pitchFamily="49" charset="0"/>
                <a:cs typeface="Courier New" pitchFamily="49" charset="0"/>
              </a:rPr>
              <a:t>sep =</a:t>
            </a:r>
            <a:r>
              <a:rPr lang="en-US" sz="3200">
                <a:latin typeface="Lucida Console" panose="020B0609040504020204" pitchFamily="49" charset="0"/>
                <a:cs typeface="Courier New" pitchFamily="49" charset="0"/>
              </a:rPr>
              <a:t> "\n")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zh-TW" altLang="zh-TW" sz="320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endParaRPr lang="en-US" altLang="zh-TW" sz="320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20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endParaRPr lang="en-US" sz="3200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438941" y="0"/>
            <a:ext cx="10607675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Printing to the Screen,</a:t>
            </a:r>
            <a:r>
              <a:rPr lang="en-US" sz="3600" dirty="0">
                <a:solidFill>
                  <a:srgbClr val="0070C0"/>
                </a:solidFill>
              </a:rPr>
              <a:t>  </a:t>
            </a:r>
            <a:r>
              <a:rPr lang="en-US" sz="4400" dirty="0" err="1">
                <a:solidFill>
                  <a:srgbClr val="FF0000"/>
                </a:solidFill>
              </a:rPr>
              <a:t>sep</a:t>
            </a:r>
            <a:r>
              <a:rPr lang="en-US" sz="4400" dirty="0">
                <a:solidFill>
                  <a:srgbClr val="FF0000"/>
                </a:solidFill>
              </a:rPr>
              <a:t>=</a:t>
            </a:r>
            <a:r>
              <a:rPr lang="en-US" sz="4400" dirty="0">
                <a:solidFill>
                  <a:srgbClr val="0070C0"/>
                </a:solidFill>
              </a:rPr>
              <a:t>“…”</a:t>
            </a:r>
          </a:p>
        </p:txBody>
      </p:sp>
    </p:spTree>
    <p:extLst>
      <p:ext uri="{BB962C8B-B14F-4D97-AF65-F5344CB8AC3E}">
        <p14:creationId xmlns:p14="http://schemas.microsoft.com/office/powerpoint/2010/main" val="57694365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69094" y="838207"/>
            <a:ext cx="8991600" cy="5638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X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= 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","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 </a:t>
            </a:r>
            <a:r>
              <a:rPr lang="zh-TW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=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[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dirty="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dirty="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[0], a[1], a[2], </a:t>
            </a:r>
            <a:r>
              <a:rPr lang="en-US" altLang="zh-TW" sz="3200" b="1" dirty="0" err="1">
                <a:solidFill>
                  <a:srgbClr val="FF3300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3200" b="1" dirty="0">
                <a:solidFill>
                  <a:srgbClr val="FF33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X)</a:t>
            </a: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endParaRPr lang="en-US" altLang="zh-TW" sz="3200" dirty="0">
              <a:solidFill>
                <a:srgbClr val="0099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200" dirty="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[0]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a[1]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a[2])</a:t>
            </a: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 File "&lt;</a:t>
            </a:r>
            <a:r>
              <a:rPr lang="en-US" altLang="zh-TW" sz="32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: unsupported operand</a:t>
            </a:r>
            <a:r>
              <a:rPr lang="zh-TW" altLang="en-US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type(s) for +: '</a:t>
            </a:r>
            <a:r>
              <a:rPr lang="en-US" altLang="zh-TW" sz="32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' and '</a:t>
            </a:r>
            <a:r>
              <a:rPr lang="en-US" altLang="zh-TW" sz="32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3200" dirty="0">
                <a:solidFill>
                  <a:srgbClr val="FFA7A7"/>
                </a:solidFill>
                <a:latin typeface="Lucida Console" panose="020B0609040504020204" pitchFamily="49" charset="0"/>
              </a:rPr>
              <a:t>'</a:t>
            </a: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 </a:t>
            </a:r>
            <a:r>
              <a:rPr lang="zh-TW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=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'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'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'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'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'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'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  <a:endParaRPr lang="en-US" altLang="zh-TW" sz="3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2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200" dirty="0">
                <a:solidFill>
                  <a:srgbClr val="FF35A2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[0]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 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a[1]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3200" b="1" dirty="0">
                <a:solidFill>
                  <a:srgbClr val="006699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a[2])</a:t>
            </a:r>
          </a:p>
          <a:p>
            <a:pPr>
              <a:lnSpc>
                <a:spcPct val="83000"/>
              </a:lnSpc>
              <a:spcBef>
                <a:spcPts val="0"/>
              </a:spcBef>
              <a:buNone/>
            </a:pP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320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zh-TW" altLang="zh-TW" sz="3200" dirty="0">
                <a:solidFill>
                  <a:srgbClr val="009900"/>
                </a:solidFill>
                <a:latin typeface="Lucida Console" panose="020B0609040504020204" pitchFamily="49" charset="0"/>
              </a:rPr>
              <a:t>3</a:t>
            </a:r>
            <a:endParaRPr lang="en-US" altLang="zh-TW" sz="3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3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858585"/>
                </a:solidFill>
                <a:latin typeface="Lucida Console" panose="020B0609040504020204" pitchFamily="49" charset="0"/>
              </a:rPr>
              <a:t>&gt;&gt;&gt;</a:t>
            </a:r>
            <a:endParaRPr lang="en-US" sz="320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-438941" y="0"/>
            <a:ext cx="10607675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Printing to the Screen,</a:t>
            </a:r>
            <a:r>
              <a:rPr lang="en-US" sz="3600" dirty="0">
                <a:solidFill>
                  <a:srgbClr val="0070C0"/>
                </a:solidFill>
              </a:rPr>
              <a:t>  </a:t>
            </a:r>
            <a:r>
              <a:rPr lang="en-US" sz="4400" dirty="0" err="1">
                <a:solidFill>
                  <a:srgbClr val="FF0000"/>
                </a:solidFill>
              </a:rPr>
              <a:t>sep</a:t>
            </a:r>
            <a:r>
              <a:rPr lang="en-US" sz="4400" dirty="0">
                <a:solidFill>
                  <a:srgbClr val="FF0000"/>
                </a:solidFill>
              </a:rPr>
              <a:t>=</a:t>
            </a:r>
            <a:r>
              <a:rPr lang="en-US" sz="4400" dirty="0">
                <a:solidFill>
                  <a:srgbClr val="0070C0"/>
                </a:solidFill>
              </a:rPr>
              <a:t>“…”</a:t>
            </a:r>
          </a:p>
        </p:txBody>
      </p:sp>
    </p:spTree>
    <p:extLst>
      <p:ext uri="{BB962C8B-B14F-4D97-AF65-F5344CB8AC3E}">
        <p14:creationId xmlns:p14="http://schemas.microsoft.com/office/powerpoint/2010/main" val="369200804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348455"/>
            <a:ext cx="8899790" cy="424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The control flow statements are:</a:t>
            </a:r>
            <a:endParaRPr lang="en-US" altLang="en-US" sz="1100" dirty="0"/>
          </a:p>
          <a:p>
            <a:pPr>
              <a:buFontTx/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A6A6A6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spcAft>
                <a:spcPts val="1200"/>
              </a:spcAft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r>
              <a:rPr lang="en-US" altLang="en-US" sz="4000" dirty="0"/>
              <a:t> But function calls are control flow too. We’ve already been using functions:</a:t>
            </a:r>
            <a:endParaRPr lang="en-US" altLang="en-US" sz="3200" b="1" dirty="0">
              <a:solidFill>
                <a:srgbClr val="A6A6A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range()</a:t>
            </a:r>
          </a:p>
          <a:p>
            <a:pPr>
              <a:buNone/>
            </a:pPr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</a:p>
          <a:p>
            <a:pPr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</a:p>
          <a:p>
            <a:pPr>
              <a:buFontTx/>
              <a:buNone/>
            </a:pPr>
            <a:endParaRPr lang="en-US" altLang="en-US" sz="3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1000" dirty="0"/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41698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92894" y="1066800"/>
            <a:ext cx="9144000" cy="579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The </a:t>
            </a:r>
            <a:r>
              <a:rPr lang="en-US" sz="3600" i="1" dirty="0">
                <a:solidFill>
                  <a:srgbClr val="0000FF"/>
                </a:solidFill>
              </a:rPr>
              <a:t>input([prompt])</a:t>
            </a:r>
            <a:r>
              <a:rPr lang="en-US" sz="3600" dirty="0"/>
              <a:t> function reads one line from the keyboard and returns it as a </a:t>
            </a:r>
            <a:r>
              <a:rPr lang="en-US" sz="3600" dirty="0">
                <a:solidFill>
                  <a:srgbClr val="FD370F"/>
                </a:solidFill>
              </a:rPr>
              <a:t>string</a:t>
            </a:r>
            <a:r>
              <a:rPr lang="en-US" sz="3600" dirty="0"/>
              <a:t> (removing the trailing newline):</a:t>
            </a:r>
          </a:p>
          <a:p>
            <a:pPr lvl="1">
              <a:buFontTx/>
              <a:buNone/>
            </a:pP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str1=input("Enter a number: "); </a:t>
            </a:r>
          </a:p>
          <a:p>
            <a:pPr lvl="1">
              <a:buFontTx/>
              <a:buNone/>
            </a:pP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print("Received input: ", str1)</a:t>
            </a:r>
          </a:p>
          <a:p>
            <a:pPr lvl="1">
              <a:buNone/>
            </a:pP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input();print("Hi") </a:t>
            </a:r>
            <a:r>
              <a:rPr lang="en-US" sz="2800" dirty="0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#</a:t>
            </a:r>
            <a:r>
              <a:rPr lang="en-US" sz="2400" dirty="0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prompt is optional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buFontTx/>
              <a:buNone/>
            </a:pPr>
            <a:endParaRPr lang="en-US" sz="5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r>
              <a:rPr lang="en-US" sz="3600" dirty="0"/>
              <a:t>This would prompt you to enter a string and it would then display it to the screen. </a:t>
            </a:r>
          </a:p>
          <a:p>
            <a:r>
              <a:rPr lang="en-US" sz="3600" dirty="0"/>
              <a:t>When I typed “123", it outputs it:</a:t>
            </a:r>
          </a:p>
          <a:p>
            <a:pPr lvl="1">
              <a:buFontTx/>
              <a:buNone/>
            </a:pP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Enter a number: 123 </a:t>
            </a:r>
          </a:p>
          <a:p>
            <a:pPr lvl="1">
              <a:buFontTx/>
              <a:buNone/>
            </a:pP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Received input: 123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32222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Keyboard Input</a:t>
            </a:r>
          </a:p>
        </p:txBody>
      </p:sp>
      <p:sp>
        <p:nvSpPr>
          <p:cNvPr id="2" name="Rounded Rectangular Callout 1"/>
          <p:cNvSpPr/>
          <p:nvPr/>
        </p:nvSpPr>
        <p:spPr>
          <a:xfrm>
            <a:off x="5626894" y="5562600"/>
            <a:ext cx="4102894" cy="1295400"/>
          </a:xfrm>
          <a:prstGeom prst="wedgeRoundRectCallout">
            <a:avLst>
              <a:gd name="adj1" fmla="val -165216"/>
              <a:gd name="adj2" fmla="val 358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2400" dirty="0"/>
              <a:t>It won't print "</a:t>
            </a:r>
            <a:r>
              <a:rPr lang="en-US" sz="2400" dirty="0">
                <a:solidFill>
                  <a:schemeClr val="tx1"/>
                </a:solidFill>
              </a:rPr>
              <a:t>Hi</a:t>
            </a:r>
            <a:r>
              <a:rPr lang="en-US" sz="2400" dirty="0"/>
              <a:t>" until I hit enter. Or I could type something, then hit enter (but whatever I type is </a:t>
            </a:r>
            <a:r>
              <a:rPr lang="en-US" sz="2400" dirty="0">
                <a:solidFill>
                  <a:srgbClr val="CF0FAA"/>
                </a:solidFill>
              </a:rPr>
              <a:t>ignored</a:t>
            </a:r>
            <a:r>
              <a:rPr lang="en-US" sz="2400" dirty="0"/>
              <a:t>).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750094" y="3657600"/>
            <a:ext cx="7620000" cy="2895600"/>
          </a:xfrm>
          <a:prstGeom prst="straightConnector1">
            <a:avLst/>
          </a:prstGeom>
          <a:ln w="38100">
            <a:solidFill>
              <a:srgbClr val="CF0F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4255294" y="3810000"/>
            <a:ext cx="3581400" cy="1828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20889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92894" y="1143000"/>
            <a:ext cx="9296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inputisstr.py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from random import 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randrange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as 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rnd</a:t>
            </a:r>
            <a:endParaRPr lang="en-US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up=input("</a:t>
            </a: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Enter an upper number: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")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print("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Here's a smaller </a:t>
            </a:r>
            <a:r>
              <a:rPr lang="en-US" sz="2400" dirty="0" err="1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number: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",end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=" ")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num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rnd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(up)); print(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num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print(</a:t>
            </a:r>
            <a:r>
              <a:rPr lang="en-US" sz="240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'The variable "up" = ',</a:t>
            </a:r>
            <a:r>
              <a:rPr lang="en-US" sz="2400" dirty="0">
                <a:solidFill>
                  <a:srgbClr val="92AF01"/>
                </a:solidFill>
                <a:latin typeface="Lucida Sans Typewriter" panose="020B0509030504030204" pitchFamily="49" charset="0"/>
                <a:cs typeface="Courier New" pitchFamily="49" charset="0"/>
              </a:rPr>
              <a:t>up</a:t>
            </a:r>
            <a:r>
              <a:rPr lang="en-US" sz="240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,'.',</a:t>
            </a:r>
            <a:r>
              <a:rPr lang="en-US" sz="2400" dirty="0" err="1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sep</a:t>
            </a:r>
            <a:r>
              <a:rPr lang="en-US" sz="240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=""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print(</a:t>
            </a:r>
            <a:r>
              <a:rPr lang="en-US" sz="24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"The type of", </a:t>
            </a:r>
            <a:r>
              <a:rPr lang="en-US" sz="24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up</a:t>
            </a:r>
            <a:r>
              <a:rPr lang="en-US" sz="24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, "is", </a:t>
            </a:r>
            <a:r>
              <a:rPr lang="en-US" sz="24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type(up)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print('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So doing "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rnd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(up)" an error:'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print(</a:t>
            </a:r>
            <a:r>
              <a:rPr lang="en-US" sz="2400" dirty="0" err="1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rnd</a:t>
            </a:r>
            <a:r>
              <a:rPr lang="en-US" sz="2400" dirty="0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(up)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#up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string,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although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99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endParaRPr lang="en-US" sz="1400" dirty="0">
              <a:solidFill>
                <a:srgbClr val="FF99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inputisstr.py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Enter an upper number:</a:t>
            </a:r>
            <a:endParaRPr lang="en-US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Here's a smaller number: 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The variable "up" = </a:t>
            </a:r>
            <a:r>
              <a:rPr lang="en-US" sz="2400" dirty="0">
                <a:solidFill>
                  <a:srgbClr val="92AF01"/>
                </a:solidFill>
                <a:latin typeface="Lucida Sans Typewriter" panose="020B0509030504030204" pitchFamily="49" charset="0"/>
                <a:cs typeface="Courier New" pitchFamily="49" charset="0"/>
              </a:rPr>
              <a:t>8</a:t>
            </a:r>
            <a:r>
              <a:rPr lang="en-US" sz="2400" dirty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The type of </a:t>
            </a:r>
            <a:r>
              <a:rPr lang="en-US" sz="24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8</a:t>
            </a:r>
            <a:r>
              <a:rPr lang="en-US" sz="2400" dirty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 is</a:t>
            </a:r>
            <a:r>
              <a:rPr lang="en-US" sz="24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 &lt;class '</a:t>
            </a:r>
            <a:r>
              <a:rPr lang="en-US" sz="24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str</a:t>
            </a:r>
            <a:r>
              <a:rPr lang="en-US" sz="24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'&gt;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So doing "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rnd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(up)" an error: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 err="1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Traceback</a:t>
            </a:r>
            <a:r>
              <a:rPr lang="en-US" sz="2400" dirty="0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 (most recent call last):</a:t>
            </a:r>
          </a:p>
          <a:p>
            <a:pPr marL="512763" lvl="1" indent="-277813">
              <a:spcBef>
                <a:spcPts val="0"/>
              </a:spcBef>
              <a:buFontTx/>
              <a:buNone/>
            </a:pPr>
            <a:r>
              <a:rPr lang="en-US" sz="2400" dirty="0">
                <a:solidFill>
                  <a:srgbClr val="FF99CC"/>
                </a:solidFill>
                <a:latin typeface="Lucida Sans Typewriter" panose="020B0509030504030204" pitchFamily="49" charset="0"/>
                <a:cs typeface="Courier New" pitchFamily="49" charset="0"/>
              </a:rPr>
              <a:t>  File "inputisstr.py", line 9, in &lt;module&gt;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76200"/>
            <a:ext cx="10607675" cy="931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altLang="en-US" sz="4000" dirty="0">
                <a:solidFill>
                  <a:srgbClr val="0070C0"/>
                </a:solidFill>
              </a:rPr>
              <a:t>Beware: 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Input</a:t>
            </a:r>
            <a:r>
              <a:rPr lang="en-US" altLang="en-US" sz="4400" b="1" dirty="0">
                <a:solidFill>
                  <a:srgbClr val="0070C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US" altLang="en-US" sz="4400" dirty="0">
                <a:solidFill>
                  <a:srgbClr val="0070C0"/>
                </a:solidFill>
              </a:rPr>
              <a:t> Always Returns a String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9366" y="4431268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8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5133095" y="4738308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4</a:t>
            </a:r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21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438941" y="203476"/>
            <a:ext cx="1060767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2171" y="1110955"/>
            <a:ext cx="8899790" cy="57470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 The control flow statements are:</a:t>
            </a:r>
            <a:endParaRPr lang="en-US" altLang="en-US" sz="1100" dirty="0"/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3200" dirty="0"/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3200" dirty="0">
                <a:solidFill>
                  <a:srgbClr val="A6A6A6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r>
              <a:rPr lang="en-US" altLang="en-US" sz="4000" dirty="0"/>
              <a:t> But function calls are control flow too. We’ve already been using functions:</a:t>
            </a:r>
            <a:endParaRPr lang="en-US" altLang="en-US" sz="3200" b="1" dirty="0">
              <a:solidFill>
                <a:srgbClr val="A6A6A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range()</a:t>
            </a:r>
          </a:p>
          <a:p>
            <a:pPr>
              <a:spcBef>
                <a:spcPts val="700"/>
              </a:spcBef>
              <a:buNone/>
            </a:pPr>
            <a:r>
              <a:rPr lang="en-US" altLang="en-US" sz="3200" b="1" dirty="0">
                <a:solidFill>
                  <a:srgbClr val="A6A6A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en-US" sz="3200" b="1" dirty="0">
                <a:solidFill>
                  <a:srgbClr val="A6A6A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</a:p>
          <a:p>
            <a:pPr>
              <a:spcBef>
                <a:spcPts val="700"/>
              </a:spcBef>
              <a:buNone/>
            </a:pPr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</a:p>
          <a:p>
            <a:pPr>
              <a:spcBef>
                <a:spcPts val="700"/>
              </a:spcBef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	  </a:t>
            </a:r>
            <a:r>
              <a:rPr lang="en-US" alt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defined functions()</a:t>
            </a:r>
          </a:p>
          <a:p>
            <a:pPr>
              <a:buFontTx/>
              <a:buNone/>
            </a:pPr>
            <a:endParaRPr lang="en-US" altLang="en-US" sz="3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1000" dirty="0"/>
          </a:p>
          <a:p>
            <a:pPr>
              <a:buFontTx/>
              <a:buNone/>
            </a:pPr>
            <a:endParaRPr lang="en-US" alt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06294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6" y="8188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  </a:t>
            </a:r>
            <a:r>
              <a:rPr lang="en-US" sz="3300" spc="-10" dirty="0"/>
              <a:t>The</a:t>
            </a:r>
            <a:r>
              <a:rPr lang="en-US" sz="3200" spc="-10" dirty="0"/>
              <a:t> </a:t>
            </a:r>
            <a:r>
              <a:rPr lang="en-US" sz="3300" spc="-10" dirty="0"/>
              <a:t>header</a:t>
            </a:r>
            <a:r>
              <a:rPr lang="en-US" sz="3200" spc="-10" dirty="0"/>
              <a:t> </a:t>
            </a:r>
            <a:r>
              <a:rPr lang="en-US" sz="3300" spc="-10" dirty="0"/>
              <a:t>is</a:t>
            </a:r>
            <a:r>
              <a:rPr lang="en-US" sz="3200" spc="-10" dirty="0"/>
              <a:t> </a:t>
            </a:r>
            <a:r>
              <a:rPr lang="en-US" sz="3300" spc="-10" dirty="0"/>
              <a:t>recognized</a:t>
            </a:r>
            <a:r>
              <a:rPr lang="en-US" sz="3200" spc="-10" dirty="0"/>
              <a:t> </a:t>
            </a:r>
            <a:r>
              <a:rPr lang="en-US" sz="3300" spc="-10" dirty="0"/>
              <a:t>because</a:t>
            </a:r>
            <a:r>
              <a:rPr lang="en-US" sz="3200" spc="-10" dirty="0"/>
              <a:t> </a:t>
            </a:r>
            <a:r>
              <a:rPr lang="en-US" sz="3300" spc="-10" dirty="0"/>
              <a:t>it</a:t>
            </a:r>
            <a:r>
              <a:rPr lang="en-US" sz="3200" spc="-10" dirty="0"/>
              <a:t> </a:t>
            </a:r>
            <a:r>
              <a:rPr lang="en-US" sz="3300" spc="-10" dirty="0"/>
              <a:t>always</a:t>
            </a:r>
            <a:r>
              <a:rPr lang="en-US" sz="3200" spc="-10" dirty="0"/>
              <a:t> </a:t>
            </a:r>
            <a:r>
              <a:rPr lang="en-US" sz="3300" spc="-10" dirty="0"/>
              <a:t>has</a:t>
            </a:r>
            <a:r>
              <a:rPr lang="en-US" sz="3200" spc="-10" dirty="0"/>
              <a:t> </a:t>
            </a:r>
            <a:r>
              <a:rPr lang="en-US" sz="3300" spc="-10" dirty="0"/>
              <a:t>4</a:t>
            </a:r>
            <a:r>
              <a:rPr lang="en-US" sz="3200" spc="-10" dirty="0"/>
              <a:t> </a:t>
            </a:r>
            <a:r>
              <a:rPr lang="en-US" sz="3300" spc="-10" dirty="0"/>
              <a:t>parts</a:t>
            </a:r>
            <a:r>
              <a:rPr lang="en-US" sz="3200" spc="-10" dirty="0"/>
              <a:t>:</a:t>
            </a:r>
            <a:endParaRPr lang="en-US" sz="3600" spc="-10" dirty="0"/>
          </a:p>
          <a:p>
            <a:pPr marL="682625" lvl="1" indent="-395288">
              <a:spcBef>
                <a:spcPts val="0"/>
              </a:spcBef>
              <a:buFont typeface="+mj-lt"/>
              <a:buAutoNum type="arabicPeriod"/>
            </a:pPr>
            <a:r>
              <a:rPr lang="en-US" sz="3200" dirty="0"/>
              <a:t>It begins with the keyword </a:t>
            </a:r>
            <a:r>
              <a:rPr lang="en-US" sz="3200" b="1" dirty="0" err="1"/>
              <a:t>def</a:t>
            </a:r>
            <a:endParaRPr lang="en-US" sz="3200" b="1" dirty="0"/>
          </a:p>
          <a:p>
            <a:pPr marL="682625" lvl="1" indent="-395288">
              <a:buFont typeface="+mj-lt"/>
              <a:buAutoNum type="arabicPeriod"/>
            </a:pPr>
            <a:r>
              <a:rPr lang="en-US" sz="3200" dirty="0"/>
              <a:t>It then has a </a:t>
            </a:r>
            <a:r>
              <a:rPr lang="en-US" sz="3200" dirty="0">
                <a:solidFill>
                  <a:srgbClr val="0000FF"/>
                </a:solidFill>
              </a:rPr>
              <a:t>function name</a:t>
            </a:r>
          </a:p>
          <a:p>
            <a:pPr marL="682625" lvl="1" indent="-395288">
              <a:buFont typeface="+mj-lt"/>
              <a:buAutoNum type="arabicPeriod"/>
            </a:pPr>
            <a:r>
              <a:rPr lang="en-US" sz="3200" dirty="0"/>
              <a:t>It then has a </a:t>
            </a:r>
            <a:r>
              <a:rPr lang="en-US" sz="3200" dirty="0">
                <a:solidFill>
                  <a:srgbClr val="C00000"/>
                </a:solidFill>
              </a:rPr>
              <a:t>pair of parentheses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C00000"/>
                </a:solidFill>
              </a:rPr>
              <a:t>( )</a:t>
            </a:r>
          </a:p>
          <a:p>
            <a:pPr marL="287337" lvl="2" indent="0">
              <a:spcBef>
                <a:spcPts val="0"/>
              </a:spcBef>
              <a:buNone/>
            </a:pPr>
            <a:r>
              <a:rPr lang="en-US" sz="2800" dirty="0"/>
              <a:t>     - Optionally, </a:t>
            </a:r>
            <a:r>
              <a:rPr lang="en-US" sz="2800" dirty="0">
                <a:solidFill>
                  <a:srgbClr val="008000"/>
                </a:solidFill>
              </a:rPr>
              <a:t>argumen</a:t>
            </a:r>
            <a:r>
              <a:rPr lang="en-US" sz="2800" spc="-100" dirty="0">
                <a:solidFill>
                  <a:srgbClr val="008000"/>
                </a:solidFill>
              </a:rPr>
              <a:t>t(s</a:t>
            </a:r>
            <a:r>
              <a:rPr lang="en-US" sz="2800" dirty="0">
                <a:solidFill>
                  <a:srgbClr val="008000"/>
                </a:solidFill>
              </a:rPr>
              <a:t>)</a:t>
            </a:r>
            <a:r>
              <a:rPr lang="en-US" sz="2800" dirty="0"/>
              <a:t> can be place inside the parentheses</a:t>
            </a:r>
            <a:endParaRPr lang="en-US" sz="1600" dirty="0"/>
          </a:p>
          <a:p>
            <a:pPr marL="682625" lvl="1" indent="-395288">
              <a:buFont typeface="+mj-lt"/>
              <a:buAutoNum type="arabicPeriod"/>
            </a:pPr>
            <a:r>
              <a:rPr lang="en-US" sz="3200" dirty="0"/>
              <a:t>It has a </a:t>
            </a:r>
            <a:r>
              <a:rPr lang="en-US" sz="3200" dirty="0">
                <a:solidFill>
                  <a:srgbClr val="B86410"/>
                </a:solidFill>
              </a:rPr>
              <a:t>colon</a:t>
            </a:r>
            <a:r>
              <a:rPr lang="en-US" sz="3200" dirty="0"/>
              <a:t>, </a:t>
            </a:r>
            <a:r>
              <a:rPr lang="en-US" sz="3200" b="1" dirty="0">
                <a:solidFill>
                  <a:srgbClr val="B86410"/>
                </a:solidFill>
              </a:rPr>
              <a:t>:</a:t>
            </a:r>
            <a:r>
              <a:rPr lang="en-US" sz="3200" dirty="0"/>
              <a:t>, after the closing parenthesis.</a:t>
            </a:r>
          </a:p>
          <a:p>
            <a:pPr marL="512763" lvl="1" indent="-225425">
              <a:buFont typeface="+mj-lt"/>
              <a:buAutoNum type="arabicPeriod"/>
            </a:pPr>
            <a:r>
              <a:rPr lang="en-US" sz="3200" i="1" spc="-100" dirty="0"/>
              <a:t> </a:t>
            </a:r>
            <a:r>
              <a:rPr lang="en-US" sz="3200" i="1" dirty="0">
                <a:latin typeface="Arial Narrow" panose="020B0606020202030204" pitchFamily="34" charset="0"/>
              </a:rPr>
              <a:t>Optionally, there can be a 2</a:t>
            </a:r>
            <a:r>
              <a:rPr lang="en-US" sz="3200" i="1" baseline="30000" dirty="0">
                <a:latin typeface="Arial Narrow" panose="020B0606020202030204" pitchFamily="34" charset="0"/>
              </a:rPr>
              <a:t>nd</a:t>
            </a:r>
            <a:r>
              <a:rPr lang="en-US" sz="3200" i="1" dirty="0">
                <a:latin typeface="Arial Narrow" panose="020B0606020202030204" pitchFamily="34" charset="0"/>
              </a:rPr>
              <a:t> line, for </a:t>
            </a:r>
            <a:r>
              <a:rPr lang="en-US" sz="3200" i="1" dirty="0">
                <a:solidFill>
                  <a:srgbClr val="00FFCC"/>
                </a:solidFill>
                <a:latin typeface="Arial Narrow" panose="020B0606020202030204" pitchFamily="34" charset="0"/>
              </a:rPr>
              <a:t>documentation</a:t>
            </a:r>
            <a:r>
              <a:rPr lang="en-US" sz="3200" i="1" dirty="0">
                <a:latin typeface="Arial Narrow" panose="020B0606020202030204" pitchFamily="34" charset="0"/>
              </a:rPr>
              <a:t>.</a:t>
            </a:r>
          </a:p>
          <a:p>
            <a:pPr>
              <a:spcBef>
                <a:spcPts val="2400"/>
              </a:spcBef>
              <a:buClr>
                <a:schemeClr val="tx1"/>
              </a:buClr>
            </a:pPr>
            <a:r>
              <a:rPr lang="en-US" sz="3200" spc="-10" dirty="0">
                <a:solidFill>
                  <a:srgbClr val="FF0000"/>
                </a:solidFill>
              </a:rPr>
              <a:t>The</a:t>
            </a:r>
            <a:r>
              <a:rPr lang="en-US" sz="3200" spc="-10" dirty="0"/>
              <a:t> </a:t>
            </a:r>
            <a:r>
              <a:rPr lang="en-US" sz="3200" spc="-10" dirty="0">
                <a:solidFill>
                  <a:srgbClr val="660066"/>
                </a:solidFill>
              </a:rPr>
              <a:t>body</a:t>
            </a:r>
            <a:r>
              <a:rPr lang="en-US" sz="3200" spc="-10" dirty="0"/>
              <a:t> </a:t>
            </a:r>
            <a:r>
              <a:rPr lang="en-US" sz="3200" spc="-10" dirty="0">
                <a:solidFill>
                  <a:srgbClr val="FF0000"/>
                </a:solidFill>
              </a:rPr>
              <a:t>is recognized by indenting it under the header.</a:t>
            </a:r>
          </a:p>
          <a:p>
            <a:pPr lvl="1"/>
            <a:r>
              <a:rPr lang="en-US" sz="2800" dirty="0"/>
              <a:t>A return statement exits, optionally passing back a value.</a:t>
            </a:r>
          </a:p>
          <a:p>
            <a:pPr lvl="1"/>
            <a:endParaRPr lang="en-US" sz="1400" b="1" dirty="0"/>
          </a:p>
          <a:p>
            <a:pPr lvl="1">
              <a:buFontTx/>
              <a:buNone/>
            </a:pPr>
            <a:r>
              <a:rPr lang="en-US" sz="2800" b="1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printme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str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  <a:r>
              <a:rPr lang="en-US" sz="2800" b="1" dirty="0">
                <a:solidFill>
                  <a:srgbClr val="B86410"/>
                </a:solidFill>
                <a:latin typeface="Consolas" panose="020B0609020204030204" pitchFamily="49" charset="0"/>
                <a:cs typeface="Courier New" pitchFamily="49" charset="0"/>
              </a:rPr>
              <a:t>: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	 </a:t>
            </a:r>
            <a:r>
              <a:rPr lang="en-US" sz="2800" dirty="0">
                <a:solidFill>
                  <a:srgbClr val="00FFCC"/>
                </a:solidFill>
                <a:latin typeface="Consolas" panose="020B0609020204030204" pitchFamily="49" charset="0"/>
                <a:cs typeface="Courier New" pitchFamily="49" charset="0"/>
              </a:rPr>
              <a:t>"""This prints the string passed into it""" 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print (</a:t>
            </a:r>
            <a:r>
              <a:rPr lang="en-US" sz="2800" dirty="0" err="1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str</a:t>
            </a:r>
            <a:r>
              <a:rPr lang="en-US" sz="2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) </a:t>
            </a:r>
            <a:r>
              <a:rPr lang="en-US" sz="24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959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10094411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b="1" dirty="0">
                <a:solidFill>
                  <a:srgbClr val="FF9900"/>
                </a:solidFill>
              </a:rPr>
              <a:t>In between top level code sequences: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TW" sz="3200" spc="-50" dirty="0"/>
              <a:t>This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can’t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happen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in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C,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because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code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must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go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in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a</a:t>
            </a:r>
            <a:r>
              <a:rPr lang="en-US" altLang="zh-TW" spc="-50" dirty="0"/>
              <a:t> </a:t>
            </a:r>
            <a:r>
              <a:rPr lang="en-US" altLang="zh-TW" sz="3200" spc="-50" dirty="0"/>
              <a:t>function. </a:t>
            </a:r>
          </a:p>
          <a:p>
            <a:pPr lvl="1">
              <a:spcBef>
                <a:spcPts val="1200"/>
              </a:spcBef>
            </a:pPr>
            <a:r>
              <a:rPr lang="en-US" altLang="zh-TW" sz="3200" dirty="0"/>
              <a:t>The top-level for C is main(). </a:t>
            </a:r>
          </a:p>
          <a:p>
            <a:pPr>
              <a:spcBef>
                <a:spcPts val="1200"/>
              </a:spcBef>
            </a:pPr>
            <a:r>
              <a:rPr lang="en-US" altLang="zh-TW" sz="3200" spc="-50" dirty="0"/>
              <a:t>But in Python, code does not need to be inside a function. This is part of why Python can run interactively.</a:t>
            </a:r>
            <a:endParaRPr lang="zh-TW" altLang="en-US" sz="3200" spc="-5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1864428"/>
            <a:ext cx="9611571" cy="3998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FF9900"/>
                </a:solidFill>
                <a:latin typeface="Lucida Console" panose="020B0609040504020204" pitchFamily="49" charset="0"/>
              </a:rPr>
              <a:t>x=1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FF9900"/>
                </a:solidFill>
                <a:latin typeface="Lucida Console" panose="020B0609040504020204" pitchFamily="49" charset="0"/>
              </a:rPr>
              <a:t>y=2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f()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"</a:t>
            </a: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!"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FF9900"/>
                </a:solidFill>
                <a:latin typeface="Lucida Console" panose="020B0609040504020204" pitchFamily="49" charset="0"/>
              </a:rPr>
              <a:t>z=3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f()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See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worked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s-ES" altLang="en-US" sz="2400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176699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10094411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/>
              <a:t>Functions can be defined almost </a:t>
            </a:r>
            <a:r>
              <a:rPr lang="en-US" altLang="en-US" sz="3600" u="sng" kern="0"/>
              <a:t>anywhere</a:t>
            </a:r>
            <a:r>
              <a:rPr lang="en-US" altLang="en-US" sz="3600" kern="0"/>
              <a:t>:</a:t>
            </a:r>
          </a:p>
          <a:p>
            <a:pPr lvl="1"/>
            <a:r>
              <a:rPr lang="en-US" sz="3200">
                <a:solidFill>
                  <a:srgbClr val="FF9900"/>
                </a:solidFill>
              </a:rPr>
              <a:t>In between top level code sequences.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166036063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  <a:endParaRPr lang="en-US" sz="3200" b="1" spc="-80" dirty="0">
              <a:solidFill>
                <a:srgbClr val="FF9900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191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#In C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we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need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to define a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function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before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we</a:t>
            </a: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But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if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2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functions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i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each</a:t>
            </a:r>
            <a:r>
              <a:rPr lang="es-ES" altLang="en-US" sz="2400" i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i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other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one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of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them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will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need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a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prototype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import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os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#This'll allow me to cat in Python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x=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os.system</a:t>
            </a:r>
            <a:r>
              <a:rPr lang="en-US" alt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('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prot</a:t>
            </a:r>
            <a:r>
              <a:rPr lang="en-US" alt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o.c</a:t>
            </a:r>
            <a:r>
              <a:rPr lang="en-US" alt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#Her</a:t>
            </a:r>
            <a:r>
              <a:rPr lang="en-US" altLang="en-US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’</a:t>
            </a:r>
            <a:r>
              <a:rPr lang="en-US" altLang="en-US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s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some</a:t>
            </a:r>
            <a:r>
              <a:rPr lang="en-US" alt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code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//This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protoype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is neede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</a:rPr>
              <a:t>d.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Otherwis</a:t>
            </a:r>
            <a:r>
              <a:rPr lang="en-US" altLang="en-US" sz="24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{return g(i+1</a:t>
            </a:r>
            <a:r>
              <a:rPr lang="en-US" altLang="en-US" sz="24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);}</a:t>
            </a:r>
            <a:r>
              <a:rPr lang="en-US" altLang="en-US" sz="20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//&lt;-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 crashes her</a:t>
            </a:r>
            <a:r>
              <a:rPr lang="en-US" altLang="en-US" sz="2400" kern="0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{if(</a:t>
            </a:r>
            <a:r>
              <a:rPr lang="en-US" altLang="en-US" sz="2400" kern="0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&lt;99)return</a:t>
            </a:r>
            <a:r>
              <a:rPr lang="en-US" altLang="en-US" sz="18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spc="-3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spc="-3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spc="-3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;else</a:t>
            </a:r>
            <a:r>
              <a:rPr lang="en-US" altLang="en-US" sz="18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20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7269" y="2315693"/>
            <a:ext cx="9142025" cy="212568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599669" y="4417622"/>
            <a:ext cx="9130119" cy="123503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347262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  <a:endParaRPr lang="en-US" sz="3200" b="1" spc="-80" dirty="0">
              <a:solidFill>
                <a:srgbClr val="FF9900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191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#In C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we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need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to define a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function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before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we</a:t>
            </a: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But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if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2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functions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i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each</a:t>
            </a:r>
            <a:r>
              <a:rPr lang="es-ES" altLang="en-US" sz="2400" i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i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other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one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of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them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will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need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 a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prototype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import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os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#This'll allow me to cat in Python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x=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os.system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('cat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proto.c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')#Her</a:t>
            </a:r>
            <a:r>
              <a:rPr lang="en-US" altLang="en-US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’</a:t>
            </a:r>
            <a:r>
              <a:rPr lang="en-US" altLang="en-US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s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some</a:t>
            </a:r>
            <a:r>
              <a:rPr lang="en-US" alt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code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//This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protoype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is neede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</a:rPr>
              <a:t>d.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Otherwis</a:t>
            </a:r>
            <a:r>
              <a:rPr lang="en-US" altLang="en-US" sz="24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{return g(i+1</a:t>
            </a:r>
            <a:r>
              <a:rPr lang="en-US" altLang="en-US" sz="24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);}</a:t>
            </a:r>
            <a:r>
              <a:rPr lang="en-US" altLang="en-US" sz="20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//&lt;-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 crashes her</a:t>
            </a:r>
            <a:r>
              <a:rPr lang="en-US" altLang="en-US" sz="2400" kern="0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{if(</a:t>
            </a:r>
            <a:r>
              <a:rPr lang="en-US" altLang="en-US" sz="2400" kern="0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&lt;99)return</a:t>
            </a:r>
            <a:r>
              <a:rPr lang="en-US" altLang="en-US" sz="18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spc="-3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spc="-3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spc="-3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;else</a:t>
            </a:r>
            <a:r>
              <a:rPr lang="en-US" altLang="en-US" sz="18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20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9669" y="3847606"/>
            <a:ext cx="9130119" cy="2102464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269183624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26" y="3785420"/>
            <a:ext cx="9731379" cy="20549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-4572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rgbClr val="FFFFFF"/>
                </a:solidFill>
              </a:rPr>
              <a:t>  See the reason for the difference?</a:t>
            </a:r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C++ requires a function to be declared (or at least </a:t>
            </a:r>
            <a:r>
              <a:rPr lang="en-US" altLang="zh-TW" sz="2800" dirty="0" err="1">
                <a:solidFill>
                  <a:srgbClr val="FFFFFF"/>
                </a:solidFill>
              </a:rPr>
              <a:t>protyped</a:t>
            </a:r>
            <a:r>
              <a:rPr lang="en-US" altLang="zh-TW" sz="2800" dirty="0">
                <a:solidFill>
                  <a:srgbClr val="FFFFFF"/>
                </a:solidFill>
              </a:rPr>
              <a:t>), before it can be called. “Before” means: earlier in the code. </a:t>
            </a:r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But Python requires a function to be declared before it can be called.   “Before” means: earlier in the program execution.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//This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protoype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is neede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</a:rPr>
              <a:t>d.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Otherwis</a:t>
            </a:r>
            <a:r>
              <a:rPr lang="en-US" altLang="en-US" sz="24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{return g(i+1</a:t>
            </a:r>
            <a:r>
              <a:rPr lang="en-US" altLang="en-US" sz="24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);}</a:t>
            </a:r>
            <a:r>
              <a:rPr lang="en-US" altLang="en-US" sz="20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//&lt;-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 crashes her</a:t>
            </a:r>
            <a:r>
              <a:rPr lang="en-US" altLang="en-US" sz="2400" kern="0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16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{if(</a:t>
            </a:r>
            <a:r>
              <a:rPr lang="en-US" altLang="en-US" sz="2400" kern="0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&lt;99)return</a:t>
            </a:r>
            <a:r>
              <a:rPr lang="en-US" altLang="en-US" sz="18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spc="-3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spc="-3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spc="-3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;else</a:t>
            </a:r>
            <a:r>
              <a:rPr lang="en-US" altLang="en-US" sz="18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2000" kern="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92000810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26" y="4965290"/>
            <a:ext cx="9731379" cy="8750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2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altLang="zh-TW" sz="2800" dirty="0"/>
            </a:br>
            <a:endParaRPr lang="en-US" altLang="zh-TW" sz="2800" dirty="0"/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But Python requires a function to be declared before it can be called.   “Before” means: earlier in the program execution.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191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406372176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1E0FB1-326B-4A8F-AA11-FAF53B73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BDB8E-78A0-4F14-8CD5-8DFDEFD2C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8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8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8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8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	if 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8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8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	return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endParaRPr lang="en-US" altLang="en-US" sz="2800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endParaRPr lang="en-US" altLang="en-US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8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343002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26" y="5220928"/>
            <a:ext cx="9731379" cy="8750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2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altLang="zh-TW" sz="2800" dirty="0"/>
            </a:br>
            <a:endParaRPr lang="en-US" altLang="zh-TW" sz="2800" dirty="0"/>
          </a:p>
          <a:p>
            <a:pPr marL="461963" lvl="2" indent="-236538">
              <a:spcBef>
                <a:spcPts val="0"/>
              </a:spcBef>
            </a:pPr>
            <a:endParaRPr lang="en-US" altLang="zh-TW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But Python requires a function to be declared before it can be called.   “Before” means: earlier in the program execution.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191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332785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26" y="5601928"/>
            <a:ext cx="9731379" cy="8750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2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altLang="zh-TW" sz="2800" dirty="0"/>
            </a:br>
            <a:endParaRPr lang="en-US" altLang="zh-TW" sz="2800" dirty="0"/>
          </a:p>
          <a:p>
            <a:pPr marL="461963" lvl="2" indent="-236538">
              <a:spcBef>
                <a:spcPts val="0"/>
              </a:spcBef>
            </a:pPr>
            <a:endParaRPr lang="en-US" altLang="zh-TW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endParaRPr lang="en-US" altLang="zh-TW" sz="2800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But Python requires a function to be declared before it can be called.   “Before” means: earlier in the program execution.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191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285382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096000"/>
            <a:ext cx="9741694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2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altLang="zh-TW" sz="2800" dirty="0"/>
            </a:br>
            <a:endParaRPr lang="en-US" altLang="zh-TW" sz="2800" dirty="0"/>
          </a:p>
          <a:p>
            <a:pPr marL="461963" lvl="2" indent="-236538">
              <a:spcBef>
                <a:spcPts val="0"/>
              </a:spcBef>
            </a:pPr>
            <a:endParaRPr lang="en-US" altLang="zh-TW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endParaRPr lang="en-US" altLang="zh-TW" sz="2800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endParaRPr lang="en-US" altLang="zh-TW" sz="3200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But Python requires a function to be declared before it can be called.   “Before” means: earlier in the program execution.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191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277110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096000"/>
            <a:ext cx="9741694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2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altLang="zh-TW" sz="2800" dirty="0"/>
            </a:br>
            <a:endParaRPr lang="en-US" altLang="zh-TW" sz="2800" dirty="0"/>
          </a:p>
          <a:p>
            <a:pPr marL="461963" lvl="2" indent="-236538">
              <a:spcBef>
                <a:spcPts val="0"/>
              </a:spcBef>
            </a:pPr>
            <a:endParaRPr lang="en-US" altLang="zh-TW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endParaRPr lang="en-US" altLang="zh-TW" sz="2800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endParaRPr lang="en-US" altLang="zh-TW" sz="3200" dirty="0">
              <a:solidFill>
                <a:srgbClr val="FFFFFF"/>
              </a:solidFill>
            </a:endParaRPr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But Python requires a function to be declared before it can be called.   “Before” means: earlier in the program execution.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2274" y="2315690"/>
            <a:ext cx="9611571" cy="44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600" kern="0" baseline="8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if (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*2)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3600" kern="0" baseline="16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191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293632305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096000"/>
            <a:ext cx="9741694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59317" y="771366"/>
            <a:ext cx="1010628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b="1" spc="-80" dirty="0">
                <a:solidFill>
                  <a:srgbClr val="FF9900"/>
                </a:solidFill>
              </a:rPr>
              <a:t>After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other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have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been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that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call</a:t>
            </a:r>
            <a:r>
              <a:rPr lang="en-US" altLang="zh-TW" sz="2800" b="1" spc="-80" dirty="0">
                <a:solidFill>
                  <a:srgbClr val="FF9900"/>
                </a:solidFill>
              </a:rPr>
              <a:t> </a:t>
            </a:r>
            <a:r>
              <a:rPr lang="en-US" altLang="zh-TW" sz="3200" b="1" spc="-80" dirty="0">
                <a:solidFill>
                  <a:srgbClr val="FF9900"/>
                </a:solidFill>
              </a:rPr>
              <a:t>them:</a:t>
            </a: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lvl="1"/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FF9900"/>
              </a:solidFill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2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altLang="zh-TW" sz="2800" dirty="0"/>
            </a:br>
            <a:endParaRPr lang="en-US" altLang="zh-TW" sz="28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8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800" dirty="0"/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/>
          </a:p>
          <a:p>
            <a:pPr marL="461963" lvl="2" indent="-236538">
              <a:spcBef>
                <a:spcPts val="0"/>
              </a:spcBef>
            </a:pPr>
            <a:r>
              <a:rPr lang="en-US" altLang="zh-TW" sz="2800" dirty="0">
                <a:solidFill>
                  <a:srgbClr val="FFFFFF"/>
                </a:solidFill>
              </a:rPr>
              <a:t>But Python requires a function to be declared before it can be called.   “Before” means: </a:t>
            </a:r>
            <a:r>
              <a:rPr lang="en-US" altLang="zh-TW" sz="2800" dirty="0">
                <a:solidFill>
                  <a:srgbClr val="FF0066"/>
                </a:solidFill>
              </a:rPr>
              <a:t>earlier in the program execution.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2274" y="2315691"/>
            <a:ext cx="9611571" cy="3996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: return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g(i+1)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#in C this is error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f(1)</a:t>
            </a: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f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NameError</a:t>
            </a:r>
            <a:r>
              <a:rPr lang="en-U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: name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'g' is not defined</a:t>
            </a:r>
          </a:p>
          <a:p>
            <a:pPr marL="0" lvl="0" indent="0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+mn-cs"/>
              </a:rPr>
              <a:t>def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+mn-cs"/>
              </a:rPr>
              <a:t>g(</a:t>
            </a:r>
            <a:r>
              <a:rPr lang="en-US" altLang="en-US" sz="2400" b="1" kern="0" dirty="0" err="1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+mn-cs"/>
              </a:rPr>
              <a:t>)</a:t>
            </a:r>
            <a:r>
              <a:rPr lang="en-U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  <a:ea typeface="+mn-ea"/>
                <a:cs typeface="+mn-cs"/>
              </a:rPr>
              <a:t>:</a:t>
            </a:r>
          </a:p>
          <a:p>
            <a:pPr marL="0" lvl="0" indent="0" eaLnBrk="1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3600" kern="0" baseline="80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  <a:ea typeface="+mn-ea"/>
                <a:cs typeface="+mn-cs"/>
              </a:rPr>
              <a:t>...</a:t>
            </a:r>
            <a:r>
              <a:rPr lang="en-US" altLang="en-US" sz="2400" kern="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  <a:ea typeface="+mn-ea"/>
                <a:cs typeface="+mn-cs"/>
              </a:rPr>
              <a:t>     </a:t>
            </a:r>
            <a:r>
              <a:rPr lang="en-US" altLang="en-US" sz="2400" kern="0" dirty="0">
                <a:solidFill>
                  <a:prstClr val="black"/>
                </a:solidFill>
                <a:latin typeface="Lucida Console" panose="020B0609040504020204" pitchFamily="49" charset="0"/>
                <a:ea typeface="+mn-ea"/>
                <a:cs typeface="+mn-cs"/>
              </a:rPr>
              <a:t>if (</a:t>
            </a:r>
            <a:r>
              <a:rPr lang="en-US" altLang="en-US" sz="2400" kern="0" dirty="0" err="1">
                <a:solidFill>
                  <a:prstClr val="black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en-US" sz="2400" kern="0" dirty="0">
                <a:solidFill>
                  <a:prstClr val="black"/>
                </a:solidFill>
                <a:latin typeface="Lucida Console" panose="020B0609040504020204" pitchFamily="49" charset="0"/>
                <a:ea typeface="+mn-ea"/>
                <a:cs typeface="+mn-cs"/>
              </a:rPr>
              <a:t>&lt;99): return(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  <a:ea typeface="+mn-ea"/>
                <a:cs typeface="+mn-cs"/>
              </a:rPr>
              <a:t>f(</a:t>
            </a:r>
            <a:r>
              <a:rPr lang="en-US" altLang="en-US" sz="2400" b="1" kern="0" dirty="0" err="1">
                <a:solidFill>
                  <a:srgbClr val="86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  <a:ea typeface="+mn-ea"/>
                <a:cs typeface="+mn-cs"/>
              </a:rPr>
              <a:t>*2)</a:t>
            </a:r>
            <a:r>
              <a:rPr lang="en-US" altLang="en-US" sz="2400" kern="0" dirty="0">
                <a:solidFill>
                  <a:prstClr val="black"/>
                </a:solidFill>
                <a:latin typeface="Lucida Console" panose="020B0609040504020204" pitchFamily="49" charset="0"/>
                <a:ea typeface="+mn-ea"/>
                <a:cs typeface="+mn-cs"/>
              </a:rPr>
              <a:t>)</a:t>
            </a:r>
          </a:p>
          <a:p>
            <a:pPr marL="0" lvl="0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3600" kern="0" baseline="1600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  <a:ea typeface="+mn-ea"/>
                <a:cs typeface="+mn-cs"/>
              </a:rPr>
              <a:t>...</a:t>
            </a:r>
            <a:r>
              <a:rPr lang="en-US" altLang="en-US" sz="2400" kern="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  <a:ea typeface="+mn-ea"/>
                <a:cs typeface="+mn-cs"/>
              </a:rPr>
              <a:t>     </a:t>
            </a:r>
            <a:r>
              <a:rPr lang="en-US" altLang="en-US" sz="2400" kern="0" dirty="0">
                <a:solidFill>
                  <a:prstClr val="black"/>
                </a:solidFill>
                <a:latin typeface="Lucida Console" panose="020B0609040504020204" pitchFamily="49" charset="0"/>
                <a:ea typeface="+mn-ea"/>
                <a:cs typeface="+mn-cs"/>
              </a:rPr>
              <a:t>return </a:t>
            </a:r>
            <a:r>
              <a:rPr lang="en-US" altLang="en-US" sz="2400" kern="0" dirty="0" err="1">
                <a:solidFill>
                  <a:prstClr val="black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endParaRPr lang="en-US" altLang="en-US" sz="2400" kern="0" dirty="0">
              <a:solidFill>
                <a:prstClr val="black"/>
              </a:solidFill>
              <a:latin typeface="Lucida Console" panose="020B0609040504020204" pitchFamily="49" charset="0"/>
              <a:ea typeface="+mn-ea"/>
              <a:cs typeface="+mn-cs"/>
            </a:endParaRPr>
          </a:p>
          <a:p>
            <a:pPr marL="0" lvl="0" indent="0" eaLnBrk="1" fontAlgn="auto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2400" kern="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  <a:ea typeface="+mn-ea"/>
                <a:cs typeface="+mn-cs"/>
              </a:rPr>
              <a:t>...</a:t>
            </a:r>
          </a:p>
          <a:p>
            <a:pPr marL="0" lvl="0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2400" kern="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  <a:ea typeface="+mn-ea"/>
                <a:cs typeface="+mn-cs"/>
              </a:rPr>
              <a:t>&gt;&gt;&gt;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lang="en-US" altLang="en-US" sz="2400" b="1" kern="0" dirty="0">
                <a:solidFill>
                  <a:srgbClr val="860000"/>
                </a:solidFill>
                <a:latin typeface="Lucida Console" panose="020B0609040504020204" pitchFamily="49" charset="0"/>
                <a:ea typeface="+mn-ea"/>
                <a:cs typeface="+mn-cs"/>
              </a:rPr>
              <a:t>f(1)</a:t>
            </a: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  <a:ea typeface="+mn-ea"/>
              <a:cs typeface="+mn-cs"/>
            </a:endParaRPr>
          </a:p>
          <a:p>
            <a:pPr marL="0" lvl="0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2400" kern="0" dirty="0">
                <a:solidFill>
                  <a:prstClr val="black"/>
                </a:solidFill>
                <a:latin typeface="Lucida Console" panose="020B0609040504020204" pitchFamily="49" charset="0"/>
                <a:ea typeface="+mn-ea"/>
                <a:cs typeface="+mn-cs"/>
              </a:rPr>
              <a:t>191</a:t>
            </a:r>
          </a:p>
          <a:p>
            <a:pPr marL="0" lvl="0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en-US" sz="2400" kern="0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  <a:ea typeface="+mn-ea"/>
                <a:cs typeface="+mn-cs"/>
              </a:rPr>
              <a:t>&gt;&gt;&gt;</a:t>
            </a:r>
            <a:endParaRPr lang="en-US" altLang="en-US" sz="2400" kern="0" dirty="0">
              <a:solidFill>
                <a:prstClr val="black"/>
              </a:solidFill>
              <a:latin typeface="Lucida Console" panose="020B0609040504020204" pitchFamily="49" charset="0"/>
              <a:ea typeface="+mn-ea"/>
              <a:cs typeface="+mn-cs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312622580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>
                <a:solidFill>
                  <a:srgbClr val="FF9900"/>
                </a:solidFill>
              </a:rPr>
              <a:t>After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other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functions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have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been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defined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that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call</a:t>
            </a:r>
            <a:r>
              <a:rPr lang="en-US" altLang="zh-TW" sz="2800" spc="-80" dirty="0">
                <a:solidFill>
                  <a:srgbClr val="FF9900"/>
                </a:solidFill>
              </a:rPr>
              <a:t> </a:t>
            </a:r>
            <a:r>
              <a:rPr lang="en-US" altLang="zh-TW" sz="3200" spc="-80" dirty="0">
                <a:solidFill>
                  <a:srgbClr val="FF9900"/>
                </a:solidFill>
              </a:rPr>
              <a:t>them.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3056851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/>
              <a:t>After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other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functions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have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been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defined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that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call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them.</a:t>
            </a:r>
          </a:p>
          <a:p>
            <a:pPr lvl="1"/>
            <a:r>
              <a:rPr lang="en-US" sz="3200" b="1" dirty="0">
                <a:solidFill>
                  <a:srgbClr val="FF9900"/>
                </a:solidFill>
              </a:rPr>
              <a:t>Inside of another function: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159233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/>
              <a:t>After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other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functions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have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been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defined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that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call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them.</a:t>
            </a:r>
          </a:p>
          <a:p>
            <a:pPr lvl="1"/>
            <a:r>
              <a:rPr lang="en-US" sz="3200" b="1" dirty="0">
                <a:solidFill>
                  <a:srgbClr val="FF9900"/>
                </a:solidFill>
              </a:rPr>
              <a:t>Inside of another function: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2707574"/>
            <a:ext cx="9611571" cy="415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 err="1">
                <a:solidFill>
                  <a:srgbClr val="66330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 f()</a:t>
            </a:r>
            <a:r>
              <a:rPr lang="es-ES" altLang="en-US" sz="2400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s-E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"</a:t>
            </a: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!"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18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16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inside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enclosing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function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f()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See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worked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127431113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/>
              <a:t>After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other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functions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have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been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defined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that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call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them.</a:t>
            </a:r>
          </a:p>
          <a:p>
            <a:pPr lvl="1"/>
            <a:r>
              <a:rPr lang="en-US" sz="3200" b="1" dirty="0">
                <a:solidFill>
                  <a:srgbClr val="FF9900"/>
                </a:solidFill>
              </a:rPr>
              <a:t>Inside of another function: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2707574"/>
            <a:ext cx="9611571" cy="415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 err="1">
                <a:solidFill>
                  <a:srgbClr val="66330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 f()</a:t>
            </a:r>
            <a:r>
              <a:rPr lang="es-ES" altLang="en-US" sz="2400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s-E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"</a:t>
            </a: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!"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18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16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inside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enclosing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function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f()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See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worked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400" kern="0" dirty="0">
                <a:solidFill>
                  <a:srgbClr val="FF4F4F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400" kern="0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This</a:t>
            </a:r>
            <a:r>
              <a:rPr lang="es-ES" altLang="en-US" sz="2400" kern="0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approach</a:t>
            </a:r>
            <a:r>
              <a:rPr lang="es-ES" altLang="en-US" sz="2400" kern="0" dirty="0">
                <a:solidFill>
                  <a:srgbClr val="FF4F4F"/>
                </a:solidFill>
                <a:latin typeface="Lucida Console" panose="020B0609040504020204" pitchFamily="49" charset="0"/>
              </a:rPr>
              <a:t> can be </a:t>
            </a:r>
            <a:r>
              <a:rPr lang="es-ES" altLang="en-US" sz="2400" kern="0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useful</a:t>
            </a:r>
            <a:r>
              <a:rPr lang="es-ES" altLang="en-US" sz="2400" kern="0" dirty="0">
                <a:solidFill>
                  <a:srgbClr val="FF4F4F"/>
                </a:solidFill>
                <a:latin typeface="Lucida Console" panose="020B0609040504020204" pitchFamily="49" charset="0"/>
              </a:rPr>
              <a:t> in </a:t>
            </a:r>
            <a:r>
              <a:rPr lang="es-ES" altLang="en-US" sz="2400" kern="0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scoping</a:t>
            </a:r>
            <a:endParaRPr lang="es-ES" altLang="en-US" sz="2400" kern="0" dirty="0">
              <a:solidFill>
                <a:srgbClr val="FF4F4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FF4F4F"/>
                </a:solidFill>
                <a:latin typeface="Lucida Console" panose="020B0609040504020204" pitchFamily="49" charset="0"/>
              </a:rPr>
              <a:t>#rules to </a:t>
            </a:r>
            <a:r>
              <a:rPr lang="es-ES" altLang="en-US" sz="2400" kern="0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access</a:t>
            </a:r>
            <a:r>
              <a:rPr lang="es-ES" altLang="en-US" sz="2400" kern="0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nonlocal</a:t>
            </a:r>
            <a:r>
              <a:rPr lang="es-ES" altLang="en-US" sz="2400" kern="0" dirty="0">
                <a:solidFill>
                  <a:srgbClr val="FF4F4F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4F4F"/>
                </a:solidFill>
                <a:latin typeface="Lucida Console" panose="020B0609040504020204" pitchFamily="49" charset="0"/>
              </a:rPr>
              <a:t>values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188781358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/>
              <a:t>After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other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functions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have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been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defined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that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call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them.</a:t>
            </a:r>
          </a:p>
          <a:p>
            <a:pPr lvl="1"/>
            <a:r>
              <a:rPr lang="en-US" sz="3200" b="1" dirty="0">
                <a:solidFill>
                  <a:srgbClr val="FF9900"/>
                </a:solidFill>
              </a:rPr>
              <a:t>Inside of another function: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2707574"/>
            <a:ext cx="9611571" cy="415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 err="1">
                <a:solidFill>
                  <a:srgbClr val="66330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 f()</a:t>
            </a:r>
            <a:r>
              <a:rPr lang="es-ES" altLang="en-US" sz="2400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s-E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"</a:t>
            </a: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!"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18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16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inside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enclosing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function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f()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See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worked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This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approach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can be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useful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in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scoping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endParaRPr lang="es-ES" altLang="en-US" sz="2400" kern="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#rules to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access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nonlocal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values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s-ES" altLang="en-US" sz="2400" kern="0" spc="-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t'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s-E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also</a:t>
            </a:r>
            <a:r>
              <a:rPr lang="es-E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used</a:t>
            </a:r>
            <a:r>
              <a:rPr lang="es-E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to</a:t>
            </a:r>
            <a:r>
              <a:rPr lang="es-E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limit</a:t>
            </a:r>
            <a:r>
              <a:rPr lang="es-ES" altLang="en-US" sz="2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who</a:t>
            </a:r>
            <a:r>
              <a:rPr lang="es-ES" altLang="en-US" sz="2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can</a:t>
            </a:r>
            <a:r>
              <a:rPr lang="es-ES" altLang="en-US" sz="2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g</a:t>
            </a:r>
            <a:r>
              <a:rPr lang="es-ES" altLang="en-US" sz="2400" b="1" kern="0" dirty="0">
                <a:solidFill>
                  <a:srgbClr val="FF0000"/>
                </a:solidFill>
                <a:latin typeface="Agency FB" panose="020B0503020202020204" pitchFamily="34" charset="0"/>
              </a:rPr>
              <a:t>()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b="1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b="1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en-US" sz="2400" b="1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NameError</a:t>
            </a:r>
            <a:r>
              <a:rPr lang="en-US" altLang="en-US" sz="2400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name 'g' is not defined</a:t>
            </a:r>
            <a:r>
              <a:rPr lang="es-ES" altLang="en-US" sz="2400" kern="0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variable 'g' 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376086229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/>
              <a:t>After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other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functions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have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been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defined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that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call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them.</a:t>
            </a:r>
          </a:p>
          <a:p>
            <a:pPr lvl="1"/>
            <a:r>
              <a:rPr lang="en-US" sz="3200" dirty="0">
                <a:solidFill>
                  <a:srgbClr val="FF9900"/>
                </a:solidFill>
              </a:rPr>
              <a:t>Inside of another function.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306039376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/>
              <a:t>After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other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functions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have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been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defined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that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call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them.</a:t>
            </a:r>
          </a:p>
          <a:p>
            <a:pPr lvl="1"/>
            <a:r>
              <a:rPr lang="en-US" sz="3200" dirty="0"/>
              <a:t>Inside of another function.</a:t>
            </a:r>
          </a:p>
          <a:p>
            <a:pPr lvl="1"/>
            <a:r>
              <a:rPr lang="en-US" sz="3200" b="1" dirty="0">
                <a:solidFill>
                  <a:srgbClr val="FF9900"/>
                </a:solidFill>
              </a:rPr>
              <a:t>In bizarre places: </a:t>
            </a:r>
          </a:p>
          <a:p>
            <a:pPr lvl="1"/>
            <a:endParaRPr lang="en-US" sz="32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3301338"/>
            <a:ext cx="9611571" cy="355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 err="1">
                <a:solidFill>
                  <a:srgbClr val="66330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 f(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)</a:t>
            </a:r>
            <a:r>
              <a:rPr lang="es-ES" altLang="en-US" sz="2400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if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==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s-E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s-E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"</a:t>
            </a: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!"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You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don</a:t>
            </a:r>
            <a:r>
              <a:rPr lang="es-ES" altLang="en-US" sz="2400" b="1" kern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have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to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be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in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s-ES" altLang="en-US" sz="1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“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if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”</a:t>
            </a:r>
            <a:r>
              <a:rPr lang="es-ES" altLang="en-US" sz="1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to</a:t>
            </a:r>
            <a:r>
              <a:rPr lang="es-E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</a:t>
            </a:r>
            <a:endParaRPr lang="es-E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f(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See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worked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s-ES" alt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FFCCCC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marL="0" indent="0">
              <a:lnSpc>
                <a:spcPct val="55000"/>
              </a:lnSpc>
              <a:spcBef>
                <a:spcPts val="0"/>
              </a:spcBef>
              <a:buNone/>
            </a:pPr>
            <a:endParaRPr lang="es-ES" altLang="en-US" sz="2400" kern="0" dirty="0">
              <a:solidFill>
                <a:srgbClr val="FFCCCC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s-ES" altLang="en-US" sz="2400" b="1" kern="0" dirty="0">
              <a:solidFill>
                <a:srgbClr val="FF00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294137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/>
              <a:t>In between top level code sequences.</a:t>
            </a:r>
          </a:p>
          <a:p>
            <a:pPr lvl="1"/>
            <a:r>
              <a:rPr lang="en-US" altLang="zh-TW" sz="3200" spc="-80" dirty="0"/>
              <a:t>After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other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functions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have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been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defined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that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call</a:t>
            </a:r>
            <a:r>
              <a:rPr lang="en-US" altLang="zh-TW" sz="2800" spc="-80" dirty="0"/>
              <a:t> </a:t>
            </a:r>
            <a:r>
              <a:rPr lang="en-US" altLang="zh-TW" sz="3200" spc="-80" dirty="0"/>
              <a:t>them.</a:t>
            </a:r>
            <a:endParaRPr lang="en-US" altLang="zh-TW" sz="3200" dirty="0"/>
          </a:p>
          <a:p>
            <a:pPr lvl="1"/>
            <a:r>
              <a:rPr lang="en-US" sz="3200" dirty="0"/>
              <a:t>Inside of another function.</a:t>
            </a:r>
          </a:p>
          <a:p>
            <a:pPr lvl="1"/>
            <a:r>
              <a:rPr lang="en-US" sz="3200" b="1" dirty="0">
                <a:solidFill>
                  <a:srgbClr val="FF9900"/>
                </a:solidFill>
              </a:rPr>
              <a:t>In bizarre places: </a:t>
            </a:r>
          </a:p>
          <a:p>
            <a:pPr lvl="1"/>
            <a:endParaRPr lang="en-US" sz="32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42274" y="3301338"/>
            <a:ext cx="9611571" cy="355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kern="0" dirty="0" err="1">
                <a:solidFill>
                  <a:srgbClr val="66330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 f(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)</a:t>
            </a:r>
            <a:r>
              <a:rPr lang="es-ES" altLang="en-US" sz="2400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if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==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s-E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s-ES" altLang="en-US" sz="24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s-ES" altLang="en-US" sz="24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"</a:t>
            </a:r>
            <a:r>
              <a:rPr lang="es-ES" alt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!"</a:t>
            </a:r>
            <a:r>
              <a:rPr lang="es-ES" alt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4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You</a:t>
            </a:r>
            <a:r>
              <a:rPr lang="es-ES" altLang="en-US" sz="18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don</a:t>
            </a:r>
            <a:r>
              <a:rPr lang="es-ES" altLang="en-US" sz="2400" b="1" kern="0" dirty="0" err="1">
                <a:solidFill>
                  <a:srgbClr val="FF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</a:t>
            </a:r>
            <a:r>
              <a:rPr lang="es-ES" altLang="en-US" sz="18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have</a:t>
            </a:r>
            <a:r>
              <a:rPr lang="es-ES" altLang="en-US" sz="18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to</a:t>
            </a:r>
            <a:r>
              <a:rPr lang="es-ES" altLang="en-US" sz="18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be</a:t>
            </a:r>
            <a:r>
              <a:rPr lang="es-ES" altLang="en-US" sz="18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in</a:t>
            </a:r>
            <a:r>
              <a:rPr lang="es-ES" altLang="en-US" sz="18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the</a:t>
            </a:r>
            <a:r>
              <a:rPr lang="es-ES" altLang="en-US" sz="1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“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if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”</a:t>
            </a:r>
            <a:r>
              <a:rPr lang="es-ES" altLang="en-US" sz="1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to</a:t>
            </a:r>
            <a:r>
              <a:rPr lang="es-ES" altLang="en-US" sz="18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call</a:t>
            </a:r>
            <a:endParaRPr lang="es-ES" altLang="en-US" sz="2400" kern="0" dirty="0">
              <a:solidFill>
                <a:srgbClr val="FFCCCC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f(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)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See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worked</a:t>
            </a:r>
            <a:r>
              <a:rPr lang="es-ES" altLang="en-US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: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b="1" kern="0" dirty="0" err="1">
                <a:solidFill>
                  <a:srgbClr val="C1EFFF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400" b="1" kern="0" dirty="0">
                <a:solidFill>
                  <a:srgbClr val="C1EFFF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400" kern="0" dirty="0"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f(</a:t>
            </a:r>
            <a:r>
              <a:rPr lang="es-ES" altLang="en-US" sz="24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s-ES" altLang="en-US" sz="2400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)</a:t>
            </a:r>
            <a:r>
              <a:rPr lang="es-ES" altLang="en-US" sz="2400" kern="0" dirty="0">
                <a:latin typeface="Lucida Console" panose="020B0609040504020204" pitchFamily="49" charset="0"/>
              </a:rPr>
              <a:t>  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But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why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didn’t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work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here</a:t>
            </a:r>
            <a:r>
              <a:rPr lang="es-E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?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dirty="0" err="1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Traceback</a:t>
            </a:r>
            <a:r>
              <a:rPr lang="es-ES" altLang="en-US" sz="2400" kern="0" dirty="0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(</a:t>
            </a:r>
            <a:r>
              <a:rPr lang="es-ES" altLang="en-US" sz="2400" kern="0" dirty="0" err="1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most</a:t>
            </a:r>
            <a:r>
              <a:rPr lang="es-ES" altLang="en-US" sz="2400" kern="0" dirty="0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recent</a:t>
            </a:r>
            <a:r>
              <a:rPr lang="es-ES" altLang="en-US" sz="2400" kern="0" dirty="0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call</a:t>
            </a:r>
            <a:r>
              <a:rPr lang="es-ES" altLang="en-US" sz="2400" kern="0" dirty="0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s-ES" altLang="en-US" sz="2400" kern="0" dirty="0" err="1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last</a:t>
            </a:r>
            <a:r>
              <a:rPr lang="es-ES" altLang="en-US" sz="2400" kern="0" dirty="0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):</a:t>
            </a:r>
          </a:p>
          <a:p>
            <a:pPr marL="0" indent="0">
              <a:lnSpc>
                <a:spcPct val="55000"/>
              </a:lnSpc>
              <a:spcBef>
                <a:spcPts val="0"/>
              </a:spcBef>
              <a:buNone/>
            </a:pPr>
            <a:r>
              <a:rPr lang="es-ES" altLang="en-US" sz="2400" kern="0" dirty="0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…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sz="2400" kern="0" spc="-40" dirty="0" err="1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UnboundLocalError</a:t>
            </a:r>
            <a:r>
              <a:rPr lang="es-ES" altLang="en-US" sz="2400" kern="0" spc="-40" dirty="0">
                <a:solidFill>
                  <a:srgbClr val="FFCC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:</a:t>
            </a:r>
            <a:r>
              <a:rPr lang="es-ES" altLang="en-US" sz="2400" kern="0" spc="-4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s-ES" altLang="en-US" sz="2400" b="1" kern="0" spc="-40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local variable 'g' </a:t>
            </a:r>
            <a:r>
              <a:rPr lang="es-ES" altLang="en-US" sz="2400" b="1" kern="0" spc="-40" dirty="0" err="1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referenced</a:t>
            </a:r>
            <a:r>
              <a:rPr lang="es-ES" altLang="en-US" sz="2400" b="1" kern="0" spc="-40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s-ES" altLang="en-US" sz="2400" b="1" kern="0" spc="-40" dirty="0" err="1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before</a:t>
            </a:r>
            <a:r>
              <a:rPr lang="es-ES" altLang="en-US" sz="2400" b="1" kern="0" spc="-40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s-ES" altLang="en-US" sz="2400" b="1" kern="0" spc="-40" dirty="0" err="1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assignment</a:t>
            </a:r>
            <a:endParaRPr lang="es-ES" altLang="en-US" sz="2400" b="1" kern="0" spc="-40" dirty="0">
              <a:solidFill>
                <a:srgbClr val="FF00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104437966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9317" y="771366"/>
            <a:ext cx="9900497" cy="5658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kern="0" dirty="0"/>
              <a:t>Functions can be defined almost </a:t>
            </a:r>
            <a:r>
              <a:rPr lang="en-US" altLang="en-US" sz="3600" u="sng" kern="0" dirty="0"/>
              <a:t>anywhere</a:t>
            </a:r>
            <a:r>
              <a:rPr lang="en-US" altLang="en-US" sz="3600" kern="0" dirty="0"/>
              <a:t>:</a:t>
            </a:r>
          </a:p>
          <a:p>
            <a:pPr lvl="1"/>
            <a:r>
              <a:rPr lang="en-US" sz="3200" dirty="0">
                <a:solidFill>
                  <a:srgbClr val="FFC000"/>
                </a:solidFill>
              </a:rPr>
              <a:t>In between top level code sequences.</a:t>
            </a:r>
          </a:p>
          <a:p>
            <a:pPr lvl="1"/>
            <a:r>
              <a:rPr lang="en-US" altLang="zh-TW" sz="3200" spc="-80" dirty="0">
                <a:solidFill>
                  <a:srgbClr val="FFC000"/>
                </a:solidFill>
              </a:rPr>
              <a:t>After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other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functions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have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been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defined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that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call</a:t>
            </a:r>
            <a:r>
              <a:rPr lang="en-US" altLang="zh-TW" sz="2800" spc="-80" dirty="0">
                <a:solidFill>
                  <a:srgbClr val="FFC000"/>
                </a:solidFill>
              </a:rPr>
              <a:t> </a:t>
            </a:r>
            <a:r>
              <a:rPr lang="en-US" altLang="zh-TW" sz="3200" spc="-80" dirty="0">
                <a:solidFill>
                  <a:srgbClr val="FFC000"/>
                </a:solidFill>
              </a:rPr>
              <a:t>them.</a:t>
            </a:r>
            <a:endParaRPr lang="en-US" altLang="zh-TW" sz="3200" dirty="0">
              <a:solidFill>
                <a:srgbClr val="FFC000"/>
              </a:solidFill>
            </a:endParaRPr>
          </a:p>
          <a:p>
            <a:pPr lvl="1"/>
            <a:r>
              <a:rPr lang="en-US" sz="3200" dirty="0">
                <a:solidFill>
                  <a:srgbClr val="FFC000"/>
                </a:solidFill>
              </a:rPr>
              <a:t>Inside of another function.</a:t>
            </a:r>
          </a:p>
          <a:p>
            <a:pPr lvl="1"/>
            <a:r>
              <a:rPr lang="en-US" sz="3200" dirty="0">
                <a:solidFill>
                  <a:srgbClr val="FFC000"/>
                </a:solidFill>
              </a:rPr>
              <a:t>In bizarre places.</a:t>
            </a:r>
          </a:p>
          <a:p>
            <a:pPr lvl="1"/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a Function</a:t>
            </a:r>
          </a:p>
        </p:txBody>
      </p:sp>
    </p:spTree>
    <p:extLst>
      <p:ext uri="{BB962C8B-B14F-4D97-AF65-F5344CB8AC3E}">
        <p14:creationId xmlns:p14="http://schemas.microsoft.com/office/powerpoint/2010/main" val="178363461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" y="0"/>
            <a:ext cx="9729787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  <a:t>Passing Arguments </a:t>
            </a: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  <a:t>to Functions </a:t>
            </a: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  <a:t>in Python</a:t>
            </a:r>
          </a:p>
        </p:txBody>
      </p:sp>
    </p:spTree>
    <p:extLst>
      <p:ext uri="{BB962C8B-B14F-4D97-AF65-F5344CB8AC3E}">
        <p14:creationId xmlns:p14="http://schemas.microsoft.com/office/powerpoint/2010/main" val="303433299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76200"/>
            <a:ext cx="9729788" cy="99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Sidebar: Consider 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526096" cy="58471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% cat check.cpp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#include &lt;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iostream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#include &lt;string&gt;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using namespace std;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void changer(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a,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&amp;b,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*c, string d, char *e)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 </a:t>
            </a:r>
            <a:r>
              <a:rPr lang="en-US" sz="2000" spc="-20" dirty="0">
                <a:solidFill>
                  <a:srgbClr val="FF0000"/>
                </a:solidFill>
                <a:latin typeface="Lucida Console" pitchFamily="49" charset="0"/>
              </a:rPr>
              <a:t>a=1;b=1;c[0]=1;d="</a:t>
            </a:r>
            <a:r>
              <a:rPr lang="en-US" sz="2000" spc="-20" dirty="0" err="1">
                <a:solidFill>
                  <a:srgbClr val="FF0000"/>
                </a:solidFill>
                <a:latin typeface="Lucida Console" pitchFamily="49" charset="0"/>
              </a:rPr>
              <a:t>one";e</a:t>
            </a:r>
            <a:r>
              <a:rPr lang="en-US" sz="2000" spc="-20" dirty="0">
                <a:solidFill>
                  <a:srgbClr val="FF0000"/>
                </a:solidFill>
                <a:latin typeface="Lucida Console" pitchFamily="49" charset="0"/>
              </a:rPr>
              <a:t>[0]='</a:t>
            </a:r>
            <a:r>
              <a:rPr lang="en-US" sz="2000" spc="-20" dirty="0" err="1">
                <a:solidFill>
                  <a:srgbClr val="FF0000"/>
                </a:solidFill>
                <a:latin typeface="Lucida Console" pitchFamily="49" charset="0"/>
              </a:rPr>
              <a:t>o';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[1]='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n';e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[0]='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e';e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[1]='\0';</a:t>
            </a:r>
            <a:endParaRPr lang="en-US" sz="2000" spc="-2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a=0, b=0, c[100]={0};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string d="zero";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char e[]="zero";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pt-BR" sz="2000" spc="-20" dirty="0">
                <a:solidFill>
                  <a:srgbClr val="FF0000"/>
                </a:solidFill>
                <a:latin typeface="Lucida Console" pitchFamily="49" charset="0"/>
              </a:rPr>
              <a:t>cout&lt;&lt;"a="&lt;&lt;a&lt;&lt;",b="&lt;&lt;b&lt;&lt;",c="&lt;&lt;c[0]&lt;&lt;",d="&lt;&lt;d&lt;&lt;","&lt;&lt;e&lt;&lt;"\n";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changer(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a,b,c,d,e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pt-BR" sz="2000" spc="-20" dirty="0">
                <a:solidFill>
                  <a:srgbClr val="FF0000"/>
                </a:solidFill>
                <a:latin typeface="Lucida Console" pitchFamily="49" charset="0"/>
              </a:rPr>
              <a:t>cout&lt;&lt;"a="&lt;&lt;a&lt;&lt;",b="&lt;&lt;b&lt;&lt;",c="&lt;&lt;c[0]&lt;&lt;",d="&lt;&lt;d&lt;&lt;","&lt;&lt;e&lt;&lt;"\n";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% ./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check.x</a:t>
            </a:r>
            <a:endParaRPr lang="en-US" sz="20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a=0, b=0, c=0, d=zero, zero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a=0, b=1, c=1, d=zero, one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783408" y="310633"/>
            <a:ext cx="2563457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2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#102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714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729788" cy="8382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Sidebar: Consider 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526096" cy="58471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 cat check.cpp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#include &lt;</a:t>
            </a:r>
            <a:r>
              <a:rPr lang="en-US" sz="2000" dirty="0" err="1">
                <a:latin typeface="Lucida Console" pitchFamily="49" charset="0"/>
              </a:rPr>
              <a:t>iostream</a:t>
            </a:r>
            <a:r>
              <a:rPr lang="en-US" sz="2000" dirty="0">
                <a:latin typeface="Lucida Console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#include &lt;string&gt;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using namespace std;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void changer(</a:t>
            </a:r>
            <a:r>
              <a:rPr lang="en-US" sz="2000" dirty="0" err="1">
                <a:solidFill>
                  <a:srgbClr val="00B05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00B050"/>
                </a:solidFill>
                <a:latin typeface="Lucida Console" pitchFamily="49" charset="0"/>
              </a:rPr>
              <a:t> a,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&amp;b,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*c, </a:t>
            </a:r>
            <a:r>
              <a:rPr lang="en-US" sz="2000" dirty="0">
                <a:solidFill>
                  <a:srgbClr val="00B050"/>
                </a:solidFill>
                <a:latin typeface="Lucida Console" pitchFamily="49" charset="0"/>
              </a:rPr>
              <a:t>string d, 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char *e</a:t>
            </a:r>
            <a:r>
              <a:rPr lang="en-US" sz="2000" dirty="0">
                <a:latin typeface="Lucida Console" pitchFamily="49" charset="0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 </a:t>
            </a:r>
            <a:r>
              <a:rPr lang="en-US" sz="2000" spc="-20" dirty="0">
                <a:solidFill>
                  <a:srgbClr val="00B050"/>
                </a:solidFill>
                <a:latin typeface="Lucida Console" pitchFamily="49" charset="0"/>
              </a:rPr>
              <a:t>a=1</a:t>
            </a:r>
            <a:r>
              <a:rPr lang="en-US" altLang="zh-TW" sz="2000" spc="-20" dirty="0">
                <a:solidFill>
                  <a:srgbClr val="00B050"/>
                </a:solidFill>
                <a:latin typeface="Lucida Console" pitchFamily="49" charset="0"/>
              </a:rPr>
              <a:t>;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b=1;c[0]=1;</a:t>
            </a:r>
            <a:r>
              <a:rPr lang="en-US" altLang="zh-TW" sz="2000" spc="-20" dirty="0">
                <a:solidFill>
                  <a:srgbClr val="00B050"/>
                </a:solidFill>
                <a:latin typeface="Lucida Console" pitchFamily="49" charset="0"/>
              </a:rPr>
              <a:t>d="</a:t>
            </a:r>
            <a:r>
              <a:rPr lang="en-US" altLang="zh-TW" sz="2000" spc="-20" dirty="0" err="1">
                <a:solidFill>
                  <a:srgbClr val="00B050"/>
                </a:solidFill>
                <a:latin typeface="Lucida Console" pitchFamily="49" charset="0"/>
              </a:rPr>
              <a:t>one";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[0]='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o';e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[1]='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n';e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[0]='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e';e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[1]='\0'</a:t>
            </a:r>
            <a:r>
              <a:rPr lang="en-US" sz="2000" spc="-20" dirty="0">
                <a:solidFill>
                  <a:srgbClr val="FF0000"/>
                </a:solidFill>
                <a:latin typeface="Lucida Console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</a:t>
            </a:r>
            <a:r>
              <a:rPr lang="en-US" sz="2000" dirty="0" err="1">
                <a:latin typeface="Lucida Console" pitchFamily="49" charset="0"/>
              </a:rPr>
              <a:t>int</a:t>
            </a:r>
            <a:r>
              <a:rPr lang="en-US" sz="2000" dirty="0">
                <a:latin typeface="Lucida Console" pitchFamily="49" charset="0"/>
              </a:rPr>
              <a:t> a=0, b=0, c[100]={0};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string d="zero";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char e[]="zero";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latin typeface="Lucida Console" pitchFamily="49" charset="0"/>
              </a:rPr>
              <a:t> </a:t>
            </a:r>
            <a:r>
              <a:rPr lang="pt-BR" sz="2000" spc="-20" dirty="0">
                <a:latin typeface="Lucida Console" pitchFamily="49" charset="0"/>
              </a:rPr>
              <a:t>cout&lt;&lt;"a="&lt;&lt;a&lt;&lt;",b="&lt;&lt;b&lt;&lt;",c="&lt;&lt;c[0]&lt;&lt;",d="&lt;&lt;d&lt;&lt;","&lt;&lt;e&lt;&lt;"\n";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changer(</a:t>
            </a:r>
            <a:r>
              <a:rPr lang="en-US" sz="2000" dirty="0" err="1">
                <a:latin typeface="Lucida Console" pitchFamily="49" charset="0"/>
              </a:rPr>
              <a:t>a,b,c,d,e</a:t>
            </a:r>
            <a:r>
              <a:rPr lang="en-US" sz="2000" dirty="0">
                <a:latin typeface="Lucida Console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latin typeface="Lucida Console" pitchFamily="49" charset="0"/>
              </a:rPr>
              <a:t> </a:t>
            </a:r>
            <a:r>
              <a:rPr lang="pt-BR" sz="2000" spc="-20" dirty="0">
                <a:latin typeface="Lucida Console" pitchFamily="49" charset="0"/>
              </a:rPr>
              <a:t>cout&lt;&lt;"a="&lt;&lt;a&lt;&lt;",b="&lt;&lt;b&lt;&lt;",c="&lt;&lt;c[0]&lt;&lt;",d="&lt;&lt;d&lt;&lt;","&lt;&lt;e&lt;&lt;"\n";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 ./</a:t>
            </a:r>
            <a:r>
              <a:rPr lang="en-US" sz="2000" dirty="0" err="1">
                <a:latin typeface="Lucida Console" pitchFamily="49" charset="0"/>
              </a:rPr>
              <a:t>check.x</a:t>
            </a:r>
            <a:endParaRPr lang="en-US" sz="2000" dirty="0"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a=0, b=0, c=0, d=zero, zero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a=0, b=1, c=1, d=zero, one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1066380" y="930800"/>
            <a:ext cx="2959499" cy="850706"/>
          </a:xfrm>
          <a:prstGeom prst="wedgeRoundRectCallout">
            <a:avLst>
              <a:gd name="adj1" fmla="val -590"/>
              <a:gd name="adj2" fmla="val 96303"/>
              <a:gd name="adj3" fmla="val 16667"/>
            </a:avLst>
          </a:prstGeom>
          <a:solidFill>
            <a:srgbClr val="FFFF0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68" dirty="0">
                <a:solidFill>
                  <a:srgbClr val="00B050"/>
                </a:solidFill>
              </a:rPr>
              <a:t>Call by value only changes a copy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117736" y="938789"/>
            <a:ext cx="2959499" cy="850706"/>
          </a:xfrm>
          <a:prstGeom prst="wedgeRoundRectCallout">
            <a:avLst>
              <a:gd name="adj1" fmla="val -56056"/>
              <a:gd name="adj2" fmla="val 92077"/>
              <a:gd name="adj3" fmla="val 16667"/>
            </a:avLst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68" dirty="0">
                <a:solidFill>
                  <a:srgbClr val="FF0000"/>
                </a:solidFill>
              </a:rPr>
              <a:t>Call by reference changes the original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783408" y="310633"/>
            <a:ext cx="2563457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2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#103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601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729788" cy="8382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Sidebar: Consider 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614202" cy="5847108"/>
          </a:xfrm>
        </p:spPr>
        <p:txBody>
          <a:bodyPr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% cat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a=0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b="zero"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c=[0]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d=(0,)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a,b,c,d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w=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a;x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=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b;y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=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c;z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=d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spc="-28" dirty="0">
                <a:solidFill>
                  <a:srgbClr val="FF0000"/>
                </a:solidFill>
                <a:latin typeface="Lucida Console" pitchFamily="49" charset="0"/>
              </a:rPr>
              <a:t>w=1;x="one</a:t>
            </a:r>
            <a:r>
              <a:rPr lang="en-US" sz="2800" spc="-160" dirty="0">
                <a:solidFill>
                  <a:srgbClr val="FF0000"/>
                </a:solidFill>
                <a:latin typeface="Lucida Console" pitchFamily="49" charset="0"/>
              </a:rPr>
              <a:t> "</a:t>
            </a:r>
            <a:r>
              <a:rPr lang="en-US" sz="2800" spc="-28" dirty="0">
                <a:solidFill>
                  <a:srgbClr val="FF0000"/>
                </a:solidFill>
                <a:latin typeface="Lucida Console" pitchFamily="49" charset="0"/>
              </a:rPr>
              <a:t>;y[0]=1;z</a:t>
            </a:r>
            <a:r>
              <a:rPr lang="en-US" sz="2800" spc="-150" dirty="0">
                <a:solidFill>
                  <a:srgbClr val="FF0000"/>
                </a:solidFill>
                <a:latin typeface="Lucida Console" pitchFamily="49" charset="0"/>
              </a:rPr>
              <a:t>=(1,)</a:t>
            </a:r>
            <a:r>
              <a:rPr lang="en-US" sz="2800" spc="-6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#can’t do w[0], y[0] or z[0]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w,x,y,z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a,b,c,d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% python3 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0 zero [0]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1 one  [1] (1,)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0 zero [1]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783408" y="310633"/>
            <a:ext cx="2563457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2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#104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57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729788" cy="8382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Sidebar: Consider 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614202" cy="5847108"/>
          </a:xfrm>
        </p:spPr>
        <p:txBody>
          <a:bodyPr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cat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a=0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b="zero"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c=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d=(0,)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w=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a;x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=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b;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=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=d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spc="-28" dirty="0">
                <a:solidFill>
                  <a:srgbClr val="A6A6A6"/>
                </a:solidFill>
                <a:latin typeface="Lucida Console" pitchFamily="49" charset="0"/>
              </a:rPr>
              <a:t>w=1;x="one</a:t>
            </a:r>
            <a:r>
              <a:rPr lang="en-US" sz="2800" spc="-160" dirty="0">
                <a:solidFill>
                  <a:srgbClr val="A6A6A6"/>
                </a:solidFill>
                <a:latin typeface="Lucida Console" pitchFamily="49" charset="0"/>
              </a:rPr>
              <a:t> "</a:t>
            </a:r>
            <a:r>
              <a:rPr lang="en-US" sz="2800" spc="-28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sz="28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y[0]=</a:t>
            </a:r>
            <a:r>
              <a:rPr lang="en-US" sz="2800" spc="-28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sz="2800" spc="-28" dirty="0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spc="-150" dirty="0">
                <a:solidFill>
                  <a:srgbClr val="A6A6A6"/>
                </a:solidFill>
                <a:latin typeface="Lucida Console" pitchFamily="49" charset="0"/>
              </a:rPr>
              <a:t>=(1,)</a:t>
            </a:r>
            <a:r>
              <a:rPr lang="en-US" sz="2800" spc="-60" dirty="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#can’t do w[0], y[0] or z[0]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w,x,</a:t>
            </a:r>
            <a:r>
              <a:rPr lang="en-US" sz="2800" dirty="0" err="1">
                <a:solidFill>
                  <a:srgbClr val="00B050"/>
                </a:solidFill>
                <a:latin typeface="Lucida Console" pitchFamily="49" charset="0"/>
              </a:rPr>
              <a:t>y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,z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python3 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1 one  </a:t>
            </a:r>
            <a:r>
              <a:rPr lang="en-US" sz="2800" dirty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 (1,)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783408" y="310633"/>
            <a:ext cx="2563457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2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#105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405362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614202" cy="5847108"/>
          </a:xfrm>
        </p:spPr>
        <p:txBody>
          <a:bodyPr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cat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a=0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b="zero"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c=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d=(0,)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w=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a;x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=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b;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=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=d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spc="-28" dirty="0">
                <a:solidFill>
                  <a:srgbClr val="A6A6A6"/>
                </a:solidFill>
                <a:latin typeface="Lucida Console" pitchFamily="49" charset="0"/>
              </a:rPr>
              <a:t>w=1;x="one</a:t>
            </a:r>
            <a:r>
              <a:rPr lang="en-US" sz="2800" spc="-160" dirty="0">
                <a:solidFill>
                  <a:srgbClr val="A6A6A6"/>
                </a:solidFill>
                <a:latin typeface="Lucida Console" pitchFamily="49" charset="0"/>
              </a:rPr>
              <a:t> "</a:t>
            </a:r>
            <a:r>
              <a:rPr lang="en-US" sz="2800" spc="-28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sz="28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</a:t>
            </a:r>
            <a:r>
              <a:rPr lang="en-US" sz="2800" spc="-28" dirty="0">
                <a:solidFill>
                  <a:schemeClr val="bg1"/>
                </a:solidFill>
                <a:latin typeface="Lucida Console" pitchFamily="49" charset="0"/>
              </a:rPr>
              <a:t>[</a:t>
            </a:r>
            <a:r>
              <a:rPr lang="en-US" sz="28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=</a:t>
            </a:r>
            <a:r>
              <a:rPr lang="en-US" sz="2800" spc="-28" dirty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spc="-28" dirty="0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spc="-150" dirty="0">
                <a:solidFill>
                  <a:srgbClr val="A6A6A6"/>
                </a:solidFill>
                <a:latin typeface="Lucida Console" pitchFamily="49" charset="0"/>
              </a:rPr>
              <a:t>=(1,)</a:t>
            </a:r>
            <a:r>
              <a:rPr lang="en-US" sz="2800" spc="-60" dirty="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#can’t do w[0], y[0] or z[0]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w,x,</a:t>
            </a:r>
            <a:r>
              <a:rPr lang="en-US" sz="2800" dirty="0" err="1">
                <a:solidFill>
                  <a:srgbClr val="00B050"/>
                </a:solidFill>
                <a:latin typeface="Lucida Console" pitchFamily="49" charset="0"/>
              </a:rPr>
              <a:t>y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,z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python3 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1 one  </a:t>
            </a:r>
            <a:r>
              <a:rPr lang="en-US" sz="2800" dirty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 (1,)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102894" y="5334000"/>
            <a:ext cx="3505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Can you see why the value of c remained as [0]?</a:t>
            </a:r>
            <a:endParaRPr lang="en-US" sz="3200" b="1" i="1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426494" y="6096000"/>
            <a:ext cx="1905000" cy="1524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89942"/>
            <a:ext cx="9729787" cy="1891258"/>
          </a:xfrm>
          <a:solidFill>
            <a:srgbClr val="FFFFFF">
              <a:alpha val="75000"/>
            </a:srgbClr>
          </a:solidFill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But, of course, the process of total overwriting is not the same process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70C0"/>
                </a:solidFill>
              </a:rPr>
              <a:t>as that of updating, so it doesn’t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70C0"/>
                </a:solidFill>
              </a:rPr>
              <a:t>affect the original </a:t>
            </a:r>
            <a:r>
              <a:rPr lang="en-US" sz="3600">
                <a:solidFill>
                  <a:srgbClr val="0070C0"/>
                </a:solidFill>
              </a:rPr>
              <a:t>variable.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8" name="Trapezoid 7"/>
          <p:cNvSpPr>
            <a:spLocks noChangeAspect="1"/>
          </p:cNvSpPr>
          <p:nvPr/>
        </p:nvSpPr>
        <p:spPr bwMode="auto">
          <a:xfrm rot="2700000" flipH="1">
            <a:off x="7783408" y="310633"/>
            <a:ext cx="2563457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2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#106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127031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73164" y="64656"/>
            <a:ext cx="10347463" cy="6895703"/>
            <a:chOff x="65779" y="64655"/>
            <a:chExt cx="10347463" cy="6895703"/>
          </a:xfrm>
        </p:grpSpPr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286603" y="1295400"/>
              <a:ext cx="10126639" cy="566495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spcBef>
                  <a:spcPts val="100"/>
                </a:spcBef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spcBef>
                  <a:spcPts val="100"/>
                </a:spcBef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 </a:t>
              </a:r>
            </a:p>
            <a:p>
              <a:pPr lvl="1">
                <a:spcBef>
                  <a:spcPts val="100"/>
                </a:spcBef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   </a:t>
              </a:r>
            </a:p>
            <a:p>
              <a:pPr lvl="1">
                <a:spcBef>
                  <a:spcPts val="100"/>
                </a:spcBef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mytuple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=(1,2,3); x = 7</a:t>
              </a:r>
            </a:p>
            <a:p>
              <a:pPr lvl="1">
                <a:spcBef>
                  <a:spcPts val="100"/>
                </a:spcBef>
                <a:buNone/>
              </a:pP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	  print ("Values in the </a:t>
              </a:r>
              <a:r>
                <a:rPr lang="en-US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callee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:", </a:t>
              </a:r>
              <a:r>
                <a:rPr lang="en-US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mytuple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, x) 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5779" y="64655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Content Placeholder 2"/>
          <p:cNvSpPr txBox="1">
            <a:spLocks/>
          </p:cNvSpPr>
          <p:nvPr/>
        </p:nvSpPr>
        <p:spPr>
          <a:xfrm>
            <a:off x="-152338" y="1295400"/>
            <a:ext cx="10126639" cy="5664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0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changeme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mytuple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x): 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  """Changes a parameter"""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mytuple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=(1,2,3); x = 7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 ("Values in the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callee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:",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mytuple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x) </a:t>
            </a:r>
          </a:p>
          <a:p>
            <a:pPr lvl="1">
              <a:spcBef>
                <a:spcPts val="100"/>
              </a:spcBef>
              <a:buNone/>
            </a:pPr>
            <a:r>
              <a:rPr lang="en-US" altLang="zh-TW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mytuple</a:t>
            </a:r>
            <a:r>
              <a:rPr lang="en-US" altLang="zh-TW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= (10,20,30); x = 2 </a:t>
            </a:r>
          </a:p>
          <a:p>
            <a:pPr lvl="1">
              <a:spcBef>
                <a:spcPts val="10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 ("Values in the caller:", </a:t>
            </a:r>
            <a:r>
              <a:rPr lang="en-US" altLang="zh-TW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mytuple</a:t>
            </a:r>
            <a:r>
              <a:rPr lang="en-US" altLang="zh-TW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x) 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changeme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mytuple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x ) 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 ("Values in the caller:",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mytuple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x) 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python3 test.py</a:t>
            </a:r>
          </a:p>
          <a:p>
            <a:pPr lvl="1">
              <a:spcBef>
                <a:spcPts val="10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Values in the caller: (10, 20, 30) 2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Values in the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callee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(1, 2, 3) 7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Values in the caller: (10, 20, 30) 2</a:t>
            </a:r>
          </a:p>
          <a:p>
            <a:pPr lvl="1">
              <a:spcBef>
                <a:spcPts val="10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-105312" y="-1"/>
            <a:ext cx="9934833" cy="1359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100" dirty="0">
                <a:solidFill>
                  <a:srgbClr val="0070C0"/>
                </a:solidFill>
              </a:rPr>
              <a:t>Python Is Pass by Value</a:t>
            </a:r>
            <a:br>
              <a:rPr lang="en-US" sz="4300" dirty="0">
                <a:solidFill>
                  <a:srgbClr val="0070C0"/>
                </a:solidFill>
              </a:rPr>
            </a:b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for </a:t>
            </a:r>
            <a:r>
              <a:rPr lang="en-US" sz="5300" b="1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immutable</a:t>
            </a: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51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73164" y="64656"/>
            <a:ext cx="10347463" cy="6895703"/>
            <a:chOff x="65779" y="64655"/>
            <a:chExt cx="10347463" cy="6895703"/>
          </a:xfrm>
        </p:grpSpPr>
        <p:sp>
          <p:nvSpPr>
            <p:cNvPr id="5" name="Rectangle 4"/>
            <p:cNvSpPr/>
            <p:nvPr/>
          </p:nvSpPr>
          <p:spPr>
            <a:xfrm>
              <a:off x="65779" y="64655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Content Placeholder 2"/>
            <p:cNvSpPr txBox="1">
              <a:spLocks/>
            </p:cNvSpPr>
            <p:nvPr/>
          </p:nvSpPr>
          <p:spPr>
            <a:xfrm>
              <a:off x="286603" y="1295400"/>
              <a:ext cx="10126639" cy="566495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 </a:t>
              </a: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   </a:t>
              </a: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mylist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= [1,2,3]</a:t>
              </a: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altLang="zh-TW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print ("Values in the </a:t>
              </a:r>
              <a:r>
                <a:rPr lang="en-US" altLang="zh-TW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callee</a:t>
              </a:r>
              <a:r>
                <a:rPr lang="en-US" altLang="zh-TW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:", </a:t>
              </a:r>
              <a:r>
                <a:rPr lang="en-US" altLang="zh-TW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mylist</a:t>
              </a:r>
              <a:r>
                <a:rPr lang="en-US" altLang="zh-TW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)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7" name="Content Placeholder 2"/>
          <p:cNvSpPr txBox="1">
            <a:spLocks/>
          </p:cNvSpPr>
          <p:nvPr/>
        </p:nvSpPr>
        <p:spPr>
          <a:xfrm>
            <a:off x="-61541" y="1337016"/>
            <a:ext cx="10126639" cy="5664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changeme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):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  """Changes a parameter"""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= [1,2,3]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("Values in the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callee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:",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= [10,20,30]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changeme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 ("Values in the caller:",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python3 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Values in the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callee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[1, 2, 3]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Values in the caller: [10, 20, 30]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105312" y="-1"/>
            <a:ext cx="9934833" cy="1359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100" dirty="0">
                <a:solidFill>
                  <a:srgbClr val="0070C0"/>
                </a:solidFill>
              </a:rPr>
              <a:t>Python Is Pass by Value</a:t>
            </a:r>
            <a:br>
              <a:rPr lang="en-US" sz="4300" dirty="0">
                <a:solidFill>
                  <a:srgbClr val="0070C0"/>
                </a:solidFill>
              </a:rPr>
            </a:b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for </a:t>
            </a:r>
            <a:r>
              <a:rPr lang="en-US" sz="5300" b="1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mutable</a:t>
            </a: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types that overwrite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49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73164" y="64656"/>
            <a:ext cx="10347463" cy="6895703"/>
            <a:chOff x="65779" y="64655"/>
            <a:chExt cx="10347463" cy="6895703"/>
          </a:xfrm>
        </p:grpSpPr>
        <p:sp>
          <p:nvSpPr>
            <p:cNvPr id="5" name="Rectangle 4"/>
            <p:cNvSpPr/>
            <p:nvPr/>
          </p:nvSpPr>
          <p:spPr>
            <a:xfrm>
              <a:off x="65779" y="64655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Content Placeholder 2"/>
            <p:cNvSpPr txBox="1">
              <a:spLocks/>
            </p:cNvSpPr>
            <p:nvPr/>
          </p:nvSpPr>
          <p:spPr>
            <a:xfrm>
              <a:off x="286603" y="1295400"/>
              <a:ext cx="10126639" cy="566495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 </a:t>
              </a: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   </a:t>
              </a: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mylist.append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([1,2,3])</a:t>
              </a: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altLang="zh-TW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print ("Values in the </a:t>
              </a:r>
              <a:r>
                <a:rPr lang="en-US" altLang="zh-TW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callee</a:t>
              </a:r>
              <a:r>
                <a:rPr lang="en-US" altLang="zh-TW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:", </a:t>
              </a:r>
              <a:r>
                <a:rPr lang="en-US" altLang="zh-TW" sz="2800" dirty="0" err="1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mylist</a:t>
              </a:r>
              <a:r>
                <a:rPr lang="en-US" altLang="zh-TW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)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7" name="Content Placeholder 2"/>
          <p:cNvSpPr txBox="1">
            <a:spLocks/>
          </p:cNvSpPr>
          <p:nvPr/>
        </p:nvSpPr>
        <p:spPr>
          <a:xfrm>
            <a:off x="-59291" y="1340004"/>
            <a:ext cx="10126639" cy="5664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changeme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):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  """Changes a parameter"""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mylist.append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([1,2,3])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("Values in the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callee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:",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= [10,20,30]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changeme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 ("Values in the caller:",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mylist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python3 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Values in the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callee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[10, 20, 30, [1, 2, 3]]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Values in the caller: [10, 20, 30, [1, 2, 3]]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105312" y="-1"/>
            <a:ext cx="9934833" cy="1359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100" dirty="0">
                <a:solidFill>
                  <a:srgbClr val="0070C0"/>
                </a:solidFill>
              </a:rPr>
              <a:t>Python Is Pass by</a:t>
            </a:r>
            <a:r>
              <a:rPr lang="en-US" sz="4100" b="1" dirty="0"/>
              <a:t> </a:t>
            </a:r>
            <a:r>
              <a:rPr lang="en-US" sz="4100" b="1" dirty="0">
                <a:solidFill>
                  <a:srgbClr val="008000"/>
                </a:solidFill>
              </a:rPr>
              <a:t>Reference</a:t>
            </a:r>
            <a:br>
              <a:rPr lang="en-US" b="1" dirty="0"/>
            </a:b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for</a:t>
            </a:r>
            <a:r>
              <a:rPr lang="en-US" sz="49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US" sz="5300" b="1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mutable</a:t>
            </a:r>
            <a:r>
              <a:rPr lang="en-US" sz="49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types</a:t>
            </a:r>
            <a:r>
              <a:rPr lang="en-US" sz="49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that</a:t>
            </a:r>
            <a:r>
              <a:rPr lang="en-US" sz="49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US" sz="53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just</a:t>
            </a:r>
            <a:r>
              <a:rPr lang="en-US" sz="49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US" sz="5300" i="1" dirty="0">
                <a:solidFill>
                  <a:srgbClr val="008000"/>
                </a:solidFill>
                <a:latin typeface="Calibri"/>
                <a:ea typeface="+mn-ea"/>
                <a:cs typeface="+mn-cs"/>
              </a:rPr>
              <a:t>update</a:t>
            </a:r>
            <a:endParaRPr lang="en-US" i="1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21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62426447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360916795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59891" y="444749"/>
            <a:ext cx="9479422" cy="5779999"/>
            <a:chOff x="272955" y="175490"/>
            <a:chExt cx="10334720" cy="6301510"/>
          </a:xfrm>
        </p:grpSpPr>
        <p:sp>
          <p:nvSpPr>
            <p:cNvPr id="4" name="Content Placeholder 2"/>
            <p:cNvSpPr txBox="1">
              <a:spLocks/>
            </p:cNvSpPr>
            <p:nvPr/>
          </p:nvSpPr>
          <p:spPr>
            <a:xfrm>
              <a:off x="272955" y="818866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Font typeface="Arial" panose="020B0604020202020204" pitchFamily="34" charset="0"/>
                <a:buNone/>
              </a:pPr>
              <a:br>
                <a:rPr lang="en-US" sz="3600" dirty="0">
                  <a:solidFill>
                    <a:prstClr val="black"/>
                  </a:solidFill>
                </a:rPr>
              </a:br>
              <a:r>
                <a:rPr lang="en-US" sz="3600" dirty="0">
                  <a:solidFill>
                    <a:prstClr val="black"/>
                  </a:solidFill>
                </a:rPr>
                <a:t>  </a:t>
              </a:r>
            </a:p>
            <a:p>
              <a:pPr lvl="1"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72955" y="175490"/>
              <a:ext cx="161154" cy="6433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>
                <a:solidFill>
                  <a:prstClr val="white"/>
                </a:solidFill>
              </a:endParaRPr>
            </a:p>
          </p:txBody>
        </p:sp>
      </p:grp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50366" y="1034880"/>
            <a:ext cx="9479422" cy="5189869"/>
          </a:xfrm>
        </p:spPr>
        <p:txBody>
          <a:bodyPr>
            <a:noAutofit/>
          </a:bodyPr>
          <a:lstStyle/>
          <a:p>
            <a:pPr>
              <a:spcAft>
                <a:spcPts val="1101"/>
              </a:spcAft>
            </a:pPr>
            <a:r>
              <a:rPr lang="en-US" sz="3600" dirty="0"/>
              <a:t>Positional arguments are passed to a function based on their position in the argument list.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("Sally", 20)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endParaRPr lang="en-US" sz="4800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Positional arguments</a:t>
            </a:r>
          </a:p>
        </p:txBody>
      </p:sp>
    </p:spTree>
    <p:extLst>
      <p:ext uri="{BB962C8B-B14F-4D97-AF65-F5344CB8AC3E}">
        <p14:creationId xmlns:p14="http://schemas.microsoft.com/office/powerpoint/2010/main" val="122239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50366" y="1034880"/>
            <a:ext cx="9479422" cy="5189869"/>
          </a:xfrm>
        </p:spPr>
        <p:txBody>
          <a:bodyPr>
            <a:noAutofit/>
          </a:bodyPr>
          <a:lstStyle/>
          <a:p>
            <a:pPr>
              <a:spcAft>
                <a:spcPts val="1101"/>
              </a:spcAft>
            </a:pPr>
            <a:r>
              <a:rPr lang="en-US" sz="3600" dirty="0"/>
              <a:t>Positional arguments are passed to a function based on their position in the argument list.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 ("Name:", name, " Age:", age)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Traceback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(most recent call last):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 "test.py", line 4, in &lt;module&gt; </a:t>
            </a: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();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TypeError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() takes exactly 2 arguments (1 given)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568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</a:p>
          <a:p>
            <a:pPr lvl="1">
              <a:buFontTx/>
              <a:buNone/>
            </a:pPr>
            <a:endParaRPr lang="en-US" sz="2568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endParaRPr lang="en-US" sz="2568" dirty="0">
              <a:latin typeface="Consolas" panose="020B0609020204030204" pitchFamily="49" charset="0"/>
              <a:cs typeface="Courier New" pitchFamily="49" charset="0"/>
            </a:endParaRPr>
          </a:p>
          <a:p>
            <a:endParaRPr lang="en-US" sz="4403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50366" y="1034880"/>
            <a:ext cx="9479422" cy="5189869"/>
          </a:xfrm>
          <a:prstGeom prst="rect">
            <a:avLst/>
          </a:prstGeom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101"/>
              </a:spcAft>
              <a:buFont typeface="Arial" panose="020B0604020202020204" pitchFamily="34" charset="0"/>
              <a:buNone/>
            </a:pPr>
            <a:br>
              <a:rPr lang="en-US" sz="3302" dirty="0">
                <a:solidFill>
                  <a:prstClr val="black"/>
                </a:solidFill>
              </a:rPr>
            </a:br>
            <a:r>
              <a:rPr lang="en-US" sz="3302" dirty="0">
                <a:solidFill>
                  <a:prstClr val="black"/>
                </a:solidFill>
              </a:rPr>
              <a:t>  </a:t>
            </a:r>
          </a:p>
          <a:p>
            <a:pPr lvl="1">
              <a:buFontTx/>
              <a:buNone/>
            </a:pPr>
            <a:endParaRPr lang="en-US" sz="2568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endParaRPr lang="en-US" sz="2568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568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pPr lvl="1">
              <a:buFontTx/>
              <a:buNone/>
            </a:pPr>
            <a:endParaRPr lang="en-US" sz="2568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endParaRPr lang="en-US" sz="2568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endParaRPr lang="en-US" sz="4403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Positional arguments</a:t>
            </a:r>
          </a:p>
        </p:txBody>
      </p:sp>
    </p:spTree>
    <p:extLst>
      <p:ext uri="{BB962C8B-B14F-4D97-AF65-F5344CB8AC3E}">
        <p14:creationId xmlns:p14="http://schemas.microsoft.com/office/powerpoint/2010/main" val="136691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93" y="514667"/>
            <a:ext cx="9669421" cy="5710082"/>
            <a:chOff x="76199" y="251716"/>
            <a:chExt cx="10541861" cy="6225284"/>
          </a:xfrm>
        </p:grpSpPr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283340" y="818866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Font typeface="Arial" panose="020B0604020202020204" pitchFamily="34" charset="0"/>
                <a:buNone/>
              </a:pPr>
              <a:br>
                <a:rPr lang="en-US" sz="3600" dirty="0">
                  <a:solidFill>
                    <a:prstClr val="black"/>
                  </a:solidFill>
                </a:rPr>
              </a:br>
              <a:r>
                <a:rPr lang="en-US" sz="3600" dirty="0">
                  <a:solidFill>
                    <a:prstClr val="black"/>
                  </a:solidFill>
                </a:rPr>
                <a:t>  </a:t>
              </a:r>
            </a:p>
            <a:p>
              <a:pPr lvl="1"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6199" y="251716"/>
              <a:ext cx="371475" cy="5671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>
                <a:solidFill>
                  <a:prstClr val="white"/>
                </a:solidFill>
              </a:endParaRPr>
            </a:p>
          </p:txBody>
        </p:sp>
      </p:grp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50366" y="1034880"/>
            <a:ext cx="9479422" cy="5189869"/>
          </a:xfrm>
        </p:spPr>
        <p:txBody>
          <a:bodyPr>
            <a:noAutofit/>
          </a:bodyPr>
          <a:lstStyle/>
          <a:p>
            <a:pPr>
              <a:spcAft>
                <a:spcPts val="1101"/>
              </a:spcAft>
            </a:pPr>
            <a:r>
              <a:rPr lang="en-US" sz="3600" dirty="0"/>
              <a:t>Positional arguments are passed to a function based on </a:t>
            </a:r>
            <a:r>
              <a:rPr lang="en-US" sz="3600" u="sng" dirty="0">
                <a:solidFill>
                  <a:srgbClr val="0000FF"/>
                </a:solidFill>
              </a:rPr>
              <a:t>their position</a:t>
            </a:r>
            <a:r>
              <a:rPr lang="en-US" sz="3600" dirty="0">
                <a:solidFill>
                  <a:srgbClr val="0000FF"/>
                </a:solidFill>
              </a:rPr>
              <a:t> </a:t>
            </a:r>
            <a:r>
              <a:rPr lang="en-US" sz="3600" dirty="0"/>
              <a:t>in the argument list.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endParaRPr lang="en-US" sz="4800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Positional arguments</a:t>
            </a:r>
          </a:p>
        </p:txBody>
      </p:sp>
    </p:spTree>
    <p:extLst>
      <p:ext uri="{BB962C8B-B14F-4D97-AF65-F5344CB8AC3E}">
        <p14:creationId xmlns:p14="http://schemas.microsoft.com/office/powerpoint/2010/main" val="222189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363198141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Keyword</a:t>
            </a:r>
            <a:r>
              <a:rPr lang="en-US" sz="3302" dirty="0">
                <a:cs typeface="Courier New" pitchFamily="49" charset="0"/>
              </a:rPr>
              <a:t> </a:t>
            </a:r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231618285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225622" y="431257"/>
            <a:ext cx="9601272" cy="5822359"/>
            <a:chOff x="147782" y="129308"/>
            <a:chExt cx="10467564" cy="6347692"/>
          </a:xfrm>
        </p:grpSpPr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280626" y="818866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Font typeface="Arial" panose="020B0604020202020204" pitchFamily="34" charset="0"/>
                <a:buNone/>
              </a:pPr>
              <a:br>
                <a:rPr lang="en-US" sz="3600" dirty="0">
                  <a:solidFill>
                    <a:prstClr val="black"/>
                  </a:solidFill>
                </a:rPr>
              </a:br>
              <a:r>
                <a:rPr lang="en-US" sz="3600" dirty="0">
                  <a:solidFill>
                    <a:prstClr val="black"/>
                  </a:solidFill>
                </a:rPr>
                <a:t>  </a:t>
              </a:r>
            </a:p>
            <a:p>
              <a:pPr marL="0" indent="0">
                <a:spcAft>
                  <a:spcPts val="1101"/>
                </a:spcAft>
                <a:buFont typeface="Arial" panose="020B0604020202020204" pitchFamily="34" charset="0"/>
                <a:buNone/>
              </a:pPr>
              <a:endParaRPr lang="en-US" sz="3600" dirty="0">
                <a:solidFill>
                  <a:prstClr val="black"/>
                </a:solidFill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7782" y="129308"/>
              <a:ext cx="559395" cy="6895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>
                <a:solidFill>
                  <a:prstClr val="white"/>
                </a:solidFill>
              </a:endParaRPr>
            </a:p>
          </p:txBody>
        </p:sp>
      </p:grp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7472" y="1033272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"Sally"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177707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"Sally"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 = 20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ourier New" pitchFamily="49" charset="0"/>
              </a:rPr>
              <a:t>Name: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ourier New" pitchFamily="49" charset="0"/>
              </a:rPr>
              <a:t>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46739" y="443759"/>
            <a:ext cx="9585847" cy="5806814"/>
            <a:chOff x="147782" y="129308"/>
            <a:chExt cx="10450747" cy="6330744"/>
          </a:xfrm>
        </p:grpSpPr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263809" y="801918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Font typeface="Arial" panose="020B0604020202020204" pitchFamily="34" charset="0"/>
                <a:buNone/>
              </a:pPr>
              <a:br>
                <a:rPr lang="en-US" sz="3600" dirty="0">
                  <a:solidFill>
                    <a:prstClr val="black"/>
                  </a:solidFill>
                </a:rPr>
              </a:br>
              <a:r>
                <a:rPr lang="en-US" sz="3600" dirty="0">
                  <a:solidFill>
                    <a:prstClr val="black"/>
                  </a:solidFill>
                </a:rPr>
                <a:t>  </a:t>
              </a:r>
            </a:p>
            <a:p>
              <a:pPr marL="0" indent="0">
                <a:spcAft>
                  <a:spcPts val="1101"/>
                </a:spcAft>
                <a:buFont typeface="Arial" panose="020B0604020202020204" pitchFamily="34" charset="0"/>
                <a:buNone/>
              </a:pPr>
              <a:endParaRPr lang="en-US" sz="3600" dirty="0">
                <a:solidFill>
                  <a:prstClr val="black"/>
                </a:solidFill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>
                <a:lnSpc>
                  <a:spcPct val="85000"/>
                </a:lnSpc>
              </a:pPr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47782" y="129308"/>
              <a:ext cx="559395" cy="6895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>
                <a:solidFill>
                  <a:prstClr val="white"/>
                </a:solidFill>
              </a:endParaRPr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14806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 = 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  </a:t>
            </a:r>
            <a:endParaRPr lang="en-US" altLang="zh-TW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425585761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(age = 20, name =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"Sally", 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File "&lt;test.py&gt;", line 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7030A0"/>
                </a:solidFill>
                <a:latin typeface="Arial Narrow" panose="020B0606020202030204" pitchFamily="34" charset="0"/>
                <a:cs typeface="Courier New" pitchFamily="49" charset="0"/>
              </a:rPr>
              <a:t>positional argument 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follows keyword argument</a:t>
            </a:r>
          </a:p>
          <a:p>
            <a:pPr lvl="1">
              <a:lnSpc>
                <a:spcPct val="6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293332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(age = 20, name =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"Sally", 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File "&lt;test.py&gt;", line 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7030A0"/>
                </a:solidFill>
                <a:latin typeface="Arial Narrow" panose="020B0606020202030204" pitchFamily="34" charset="0"/>
                <a:cs typeface="Courier New" pitchFamily="49" charset="0"/>
              </a:rPr>
              <a:t>positional argument 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follows keyword argument</a:t>
            </a:r>
          </a:p>
          <a:p>
            <a:pPr lvl="1">
              <a:lnSpc>
                <a:spcPct val="65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cxnSp>
        <p:nvCxnSpPr>
          <p:cNvPr id="3" name="直線單箭頭接點 2"/>
          <p:cNvCxnSpPr>
            <a:cxnSpLocks noChangeAspect="1"/>
          </p:cNvCxnSpPr>
          <p:nvPr/>
        </p:nvCxnSpPr>
        <p:spPr>
          <a:xfrm flipV="1">
            <a:off x="3951489" y="4914900"/>
            <a:ext cx="2014716" cy="143602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124671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Default arguments  		#after midterm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Variable-length arguments	#after midterm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arguments	#after midterm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70803460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Default arguments  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	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Variable-length arguments	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arguments	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313005979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1033272"/>
            <a:ext cx="9079992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A default argument can take a default value if no other value is provided in the function call.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cat broken.py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497838" y="5255538"/>
            <a:ext cx="3946788" cy="871165"/>
          </a:xfrm>
          <a:prstGeom prst="wedgeRoundRectCallout">
            <a:avLst>
              <a:gd name="adj1" fmla="val -64673"/>
              <a:gd name="adj2" fmla="val -381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2800" dirty="0"/>
              <a:t>Yes, it worked. But </a:t>
            </a:r>
            <a:br>
              <a:rPr lang="en-US" sz="2800" dirty="0"/>
            </a:br>
            <a:r>
              <a:rPr lang="en-US" sz="2800" dirty="0"/>
              <a:t>how did Python know?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497838" y="3057090"/>
            <a:ext cx="3934261" cy="2142698"/>
          </a:xfrm>
          <a:prstGeom prst="wedgeRoundRectCallout">
            <a:avLst>
              <a:gd name="adj1" fmla="val -76822"/>
              <a:gd name="adj2" fmla="val -210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2800" spc="-30" dirty="0"/>
              <a:t>I wonder: Will this work</a:t>
            </a:r>
            <a:r>
              <a:rPr lang="en-US" sz="2800" dirty="0"/>
              <a:t>?</a:t>
            </a:r>
          </a:p>
          <a:p>
            <a:pPr algn="ctr"/>
            <a:r>
              <a:rPr lang="en-US" sz="2800" dirty="0"/>
              <a:t>After all, how is Python supposed to know that you didn’t mean for “Sally” to be the age?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</p:spTree>
    <p:extLst>
      <p:ext uri="{BB962C8B-B14F-4D97-AF65-F5344CB8AC3E}">
        <p14:creationId xmlns:p14="http://schemas.microsoft.com/office/powerpoint/2010/main" val="40769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ular Callout 7"/>
          <p:cNvSpPr/>
          <p:nvPr/>
        </p:nvSpPr>
        <p:spPr>
          <a:xfrm>
            <a:off x="5497838" y="5255538"/>
            <a:ext cx="3946788" cy="871165"/>
          </a:xfrm>
          <a:prstGeom prst="wedgeRoundRectCallout">
            <a:avLst>
              <a:gd name="adj1" fmla="val -64673"/>
              <a:gd name="adj2" fmla="val -381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2800" dirty="0"/>
              <a:t>Yes, it worked. But </a:t>
            </a:r>
            <a:br>
              <a:rPr lang="en-US" sz="2800" dirty="0"/>
            </a:br>
            <a:r>
              <a:rPr lang="en-US" sz="2800" dirty="0"/>
              <a:t>how did Python know?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497838" y="3057090"/>
            <a:ext cx="3934261" cy="2142698"/>
          </a:xfrm>
          <a:prstGeom prst="wedgeRoundRectCallout">
            <a:avLst>
              <a:gd name="adj1" fmla="val -76822"/>
              <a:gd name="adj2" fmla="val -210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2800" spc="-30" dirty="0"/>
              <a:t>I wonder: Will this work</a:t>
            </a:r>
            <a:r>
              <a:rPr lang="en-US" sz="2800" dirty="0"/>
              <a:t>?</a:t>
            </a:r>
          </a:p>
          <a:p>
            <a:pPr algn="ctr"/>
            <a:r>
              <a:rPr lang="en-US" sz="2800" dirty="0"/>
              <a:t>After all, how is Python supposed to know that you didn’t mean for “Sally” to be the age?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1033272"/>
            <a:ext cx="9079992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A default argument can take a default value if no other value is provided in the function call.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srgbClr val="BFBFBF"/>
                </a:solidFill>
                <a:latin typeface="Consolas" panose="020B0609020204030204" pitchFamily="49" charset="0"/>
                <a:cs typeface="Courier New" pitchFamily="49" charset="0"/>
              </a:rPr>
              <a:t>python3 test.py</a:t>
            </a:r>
            <a:endParaRPr lang="en-US" sz="28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cat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( name="Sally", age):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  print ("Name: ", name, ", Age: ", age)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python3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CCCC"/>
                </a:solidFill>
                <a:latin typeface="Consolas" panose="020B0609020204030204" pitchFamily="49" charset="0"/>
                <a:cs typeface="Courier New" pitchFamily="49" charset="0"/>
              </a:rPr>
              <a:t>File “broken.py", line 1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non-default argument follows default argument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5237747" y="2745055"/>
            <a:ext cx="3212756" cy="1754658"/>
          </a:xfrm>
          <a:prstGeom prst="wedgeRoundRectCallout">
            <a:avLst>
              <a:gd name="adj1" fmla="val -143325"/>
              <a:gd name="adj2" fmla="val 141409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/>
            <a:r>
              <a:rPr lang="en-US" sz="2800" dirty="0"/>
              <a:t>That’s how it knew: It has a special rule.</a:t>
            </a:r>
          </a:p>
          <a:p>
            <a:pPr marL="0" lvl="1" algn="ctr"/>
            <a:r>
              <a:rPr lang="en-US" sz="2800" dirty="0"/>
              <a:t>(Actually, C++ has this same rule.)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</p:spTree>
    <p:extLst>
      <p:ext uri="{BB962C8B-B14F-4D97-AF65-F5344CB8AC3E}">
        <p14:creationId xmlns:p14="http://schemas.microsoft.com/office/powerpoint/2010/main" val="414930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4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/>
      <p:bldP spid="13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Default arguments  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	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Variable-length arguments	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arguments	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22447127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  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	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Variable-length arguments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arguments	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111334667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079992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Some functions (</a:t>
            </a:r>
            <a:r>
              <a:rPr lang="en-US" sz="3600" dirty="0" err="1"/>
              <a:t>eg</a:t>
            </a:r>
            <a:r>
              <a:rPr lang="en-US" sz="3600" dirty="0"/>
              <a:t>., </a:t>
            </a:r>
            <a:r>
              <a:rPr lang="en-US" sz="3600" b="1" dirty="0">
                <a:latin typeface="Consolas" panose="020B0609020204030204" pitchFamily="49" charset="0"/>
              </a:rPr>
              <a:t>print</a:t>
            </a:r>
            <a:r>
              <a:rPr lang="en-US" sz="3600" dirty="0"/>
              <a:t>) can receive a variable number of arguments</a:t>
            </a:r>
          </a:p>
          <a:p>
            <a:r>
              <a:rPr lang="en-US" sz="3600" dirty="0"/>
              <a:t>To do this, put an asterisk, *, before the name of a variable that will hold all of these indeterminate arguments. </a:t>
            </a:r>
          </a:p>
          <a:p>
            <a:pPr lvl="1"/>
            <a:r>
              <a:rPr lang="en-US" dirty="0"/>
              <a:t>This will be </a:t>
            </a:r>
            <a:r>
              <a:rPr lang="en-US" dirty="0">
                <a:solidFill>
                  <a:srgbClr val="0000FF"/>
                </a:solidFill>
              </a:rPr>
              <a:t>a tuple </a:t>
            </a:r>
            <a:r>
              <a:rPr lang="en-US" dirty="0"/>
              <a:t>and will be empty if no additional arguments are sent in.</a:t>
            </a:r>
          </a:p>
        </p:txBody>
      </p:sp>
    </p:spTree>
    <p:extLst>
      <p:ext uri="{BB962C8B-B14F-4D97-AF65-F5344CB8AC3E}">
        <p14:creationId xmlns:p14="http://schemas.microsoft.com/office/powerpoint/2010/main" val="101546325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38943" y="1066800"/>
            <a:ext cx="10342483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8235" y="668740"/>
            <a:ext cx="9458510" cy="6189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call.py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*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("Output is:")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 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for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in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	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lvl="1" indent="-685800">
              <a:spcBef>
                <a:spcPts val="0"/>
              </a:spcBef>
              <a:buNone/>
            </a:pPr>
            <a:endParaRPr lang="en-US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marL="685800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% python3 call.py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  <a:p>
            <a:pPr>
              <a:spcBef>
                <a:spcPts val="0"/>
              </a:spcBef>
              <a:buNone/>
            </a:pP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</p:spTree>
    <p:extLst>
      <p:ext uri="{BB962C8B-B14F-4D97-AF65-F5344CB8AC3E}">
        <p14:creationId xmlns:p14="http://schemas.microsoft.com/office/powerpoint/2010/main" val="359256034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38943" y="1066800"/>
            <a:ext cx="10342483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8235" y="668740"/>
            <a:ext cx="9458510" cy="6189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callTwice.py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*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("Output is:")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 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for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in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	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70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60, 50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marL="685800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% python3 </a:t>
            </a: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callTwice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.py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70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60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50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  <a:p>
            <a:pPr>
              <a:spcBef>
                <a:spcPts val="0"/>
              </a:spcBef>
              <a:buNone/>
            </a:pP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</p:spTree>
    <p:extLst>
      <p:ext uri="{BB962C8B-B14F-4D97-AF65-F5344CB8AC3E}">
        <p14:creationId xmlns:p14="http://schemas.microsoft.com/office/powerpoint/2010/main" val="138713954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at the end of the </a:t>
            </a:r>
            <a:r>
              <a:rPr lang="en-US" altLang="zh-TW" sz="900" dirty="0"/>
              <a:t> </a:t>
            </a:r>
            <a:r>
              <a:rPr lang="en-US" altLang="zh-TW" sz="4300" dirty="0"/>
              <a:t>parameters </a:t>
            </a:r>
            <a:r>
              <a:rPr lang="en-US" altLang="zh-TW" sz="1300" dirty="0"/>
              <a:t> </a:t>
            </a:r>
            <a:r>
              <a:rPr lang="en-US" altLang="zh-TW" sz="4300" dirty="0"/>
              <a:t>creates a tuple that holds all 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/>
              <a:t>This takes 2 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59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</a:t>
            </a:r>
            <a:r>
              <a:rPr lang="en-US" altLang="zh-TW" sz="4300" dirty="0">
                <a:solidFill>
                  <a:srgbClr val="FF0000"/>
                </a:solidFill>
              </a:rPr>
              <a:t>an asterisked variable </a:t>
            </a:r>
            <a:r>
              <a:rPr lang="en-US" altLang="zh-TW" sz="4300" dirty="0"/>
              <a:t>at the end of the </a:t>
            </a:r>
            <a:r>
              <a:rPr lang="en-US" altLang="zh-TW" sz="900" dirty="0"/>
              <a:t> </a:t>
            </a:r>
            <a:r>
              <a:rPr lang="en-US" altLang="zh-TW" sz="4300" dirty="0"/>
              <a:t>parameters </a:t>
            </a:r>
            <a:r>
              <a:rPr lang="en-US" altLang="zh-TW" sz="1300" dirty="0"/>
              <a:t> </a:t>
            </a:r>
            <a:r>
              <a:rPr lang="en-US" altLang="zh-TW" sz="4300" dirty="0"/>
              <a:t>creates a tuple that holds all 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/>
              <a:t>This takes 2 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i="1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806190" y="1417320"/>
            <a:ext cx="811530" cy="18173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89827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</a:t>
            </a:r>
            <a:r>
              <a:rPr lang="en-US" altLang="zh-TW" sz="4300" dirty="0">
                <a:solidFill>
                  <a:srgbClr val="FF0000"/>
                </a:solidFill>
              </a:rPr>
              <a:t>an asterisked variable </a:t>
            </a:r>
            <a:r>
              <a:rPr lang="en-US" altLang="zh-TW" sz="4300" dirty="0">
                <a:solidFill>
                  <a:srgbClr val="FFC000"/>
                </a:solidFill>
              </a:rPr>
              <a:t>at the end </a:t>
            </a:r>
            <a:r>
              <a:rPr lang="en-US" altLang="zh-TW" sz="4300" dirty="0"/>
              <a:t>of the </a:t>
            </a:r>
            <a:r>
              <a:rPr lang="en-US" altLang="zh-TW" sz="900" dirty="0"/>
              <a:t> </a:t>
            </a:r>
            <a:r>
              <a:rPr lang="en-US" altLang="zh-TW" sz="4300" dirty="0"/>
              <a:t>parameters </a:t>
            </a:r>
            <a:r>
              <a:rPr lang="en-US" altLang="zh-TW" sz="1300" dirty="0"/>
              <a:t> </a:t>
            </a:r>
            <a:r>
              <a:rPr lang="en-US" altLang="zh-TW" sz="4300" dirty="0"/>
              <a:t>creates a tuple that holds all 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/>
              <a:t>This takes 2 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i="1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806190" y="1417320"/>
            <a:ext cx="811530" cy="18173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748790" y="1943100"/>
            <a:ext cx="1840230" cy="1485900"/>
          </a:xfrm>
          <a:prstGeom prst="straightConnector1">
            <a:avLst/>
          </a:prstGeom>
          <a:ln w="762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91932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at the end of the </a:t>
            </a:r>
            <a:r>
              <a:rPr lang="en-US" altLang="zh-TW" sz="900" dirty="0"/>
              <a:t> </a:t>
            </a:r>
            <a:r>
              <a:rPr lang="en-US" altLang="zh-TW" sz="4300" dirty="0"/>
              <a:t>parameters </a:t>
            </a:r>
            <a:r>
              <a:rPr lang="en-US" altLang="zh-TW" sz="1300" dirty="0"/>
              <a:t> </a:t>
            </a:r>
            <a:r>
              <a:rPr lang="en-US" altLang="zh-TW" sz="4300" dirty="0"/>
              <a:t>creates a tuple that holds all 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/>
              <a:t>This takes </a:t>
            </a:r>
            <a:r>
              <a:rPr lang="en-US" altLang="zh-TW" sz="4300" dirty="0">
                <a:solidFill>
                  <a:srgbClr val="008000"/>
                </a:solidFill>
              </a:rPr>
              <a:t>2</a:t>
            </a:r>
            <a:r>
              <a:rPr lang="en-US" altLang="zh-TW" sz="4300" dirty="0">
                <a:solidFill>
                  <a:srgbClr val="FF0000"/>
                </a:solidFill>
              </a:rPr>
              <a:t> </a:t>
            </a:r>
            <a:r>
              <a:rPr lang="en-US" altLang="zh-TW" sz="4300" dirty="0"/>
              <a:t>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f(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1,2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023110" y="3086100"/>
            <a:ext cx="640080" cy="902970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48682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at the end of the </a:t>
            </a:r>
            <a:r>
              <a:rPr lang="en-US" altLang="zh-TW" sz="900" dirty="0"/>
              <a:t> </a:t>
            </a:r>
            <a:r>
              <a:rPr lang="en-US" altLang="zh-TW" sz="4300" dirty="0"/>
              <a:t>parameters </a:t>
            </a:r>
            <a:r>
              <a:rPr lang="en-US" altLang="zh-TW" sz="1300" dirty="0"/>
              <a:t> </a:t>
            </a:r>
            <a:r>
              <a:rPr lang="en-US" altLang="zh-TW" sz="4300" dirty="0"/>
              <a:t>creates a tuple that holds all 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/>
              <a:t>This takes 2</a:t>
            </a:r>
            <a:r>
              <a:rPr lang="en-US" altLang="zh-TW" sz="4300" dirty="0">
                <a:solidFill>
                  <a:srgbClr val="FF0000"/>
                </a:solidFill>
              </a:rPr>
              <a:t> </a:t>
            </a:r>
            <a:r>
              <a:rPr lang="en-US" altLang="zh-TW" sz="4300" dirty="0">
                <a:solidFill>
                  <a:srgbClr val="0000FF"/>
                </a:solidFill>
              </a:rPr>
              <a:t>or more </a:t>
            </a:r>
            <a:r>
              <a:rPr lang="en-US" altLang="zh-TW" sz="4300" dirty="0"/>
              <a:t>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f(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1,2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b="1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1,2,3,4,5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823210" y="3097530"/>
            <a:ext cx="971550" cy="1200150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23873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at the end of the </a:t>
            </a:r>
            <a:r>
              <a:rPr lang="en-US" altLang="zh-TW" sz="900" dirty="0"/>
              <a:t> </a:t>
            </a:r>
            <a:r>
              <a:rPr lang="en-US" altLang="zh-TW" sz="4300" dirty="0"/>
              <a:t>parameters </a:t>
            </a:r>
            <a:r>
              <a:rPr lang="en-US" altLang="zh-TW" sz="1300" dirty="0"/>
              <a:t> </a:t>
            </a:r>
            <a:r>
              <a:rPr lang="en-US" altLang="zh-TW" sz="4300" dirty="0"/>
              <a:t>creates a tuple that holds all 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/>
              <a:t>This takes </a:t>
            </a:r>
            <a:r>
              <a:rPr lang="en-US" altLang="zh-TW" sz="4300" dirty="0">
                <a:solidFill>
                  <a:srgbClr val="FF0000"/>
                </a:solidFill>
              </a:rPr>
              <a:t>2 or more </a:t>
            </a:r>
            <a:r>
              <a:rPr lang="en-US" altLang="zh-TW" sz="4300" dirty="0"/>
              <a:t>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f(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1,2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b="1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1,2,3,4,5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1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  # this is an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TypeError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: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f()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missing</a:t>
            </a:r>
            <a:r>
              <a:rPr lang="en-US" altLang="zh-TW" sz="2600" dirty="0">
                <a:solidFill>
                  <a:srgbClr val="FF0000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1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required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positional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argument:</a:t>
            </a:r>
            <a:r>
              <a:rPr lang="en-US" altLang="zh-TW" sz="30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'b'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977392" y="3051810"/>
            <a:ext cx="1405888" cy="1714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1814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010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end 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f(a,*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b,c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79966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</a:t>
            </a:r>
            <a:r>
              <a:rPr lang="en-US" altLang="zh-TW" sz="4300" dirty="0">
                <a:solidFill>
                  <a:srgbClr val="008000"/>
                </a:solidFill>
              </a:rPr>
              <a:t>asterisked-variable</a:t>
            </a:r>
            <a:r>
              <a:rPr lang="en-US" altLang="zh-TW" sz="4300" dirty="0"/>
              <a:t> wasn’t at the end</a:t>
            </a:r>
            <a:r>
              <a:rPr lang="en-US" altLang="zh-TW" sz="4300" dirty="0">
                <a:solidFill>
                  <a:srgbClr val="FFC000"/>
                </a:solidFill>
              </a:rPr>
              <a:t> </a:t>
            </a:r>
            <a:r>
              <a:rPr lang="en-US" altLang="zh-TW" sz="4300" dirty="0"/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525253" y="1419726"/>
            <a:ext cx="782052" cy="757990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320621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</a:t>
            </a:r>
            <a:r>
              <a:rPr lang="en-US" altLang="zh-TW" sz="4300" dirty="0">
                <a:solidFill>
                  <a:srgbClr val="008000"/>
                </a:solidFill>
              </a:rPr>
              <a:t>asterisked-variable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FFC000"/>
                </a:solidFill>
              </a:rPr>
              <a:t>wasn’t at the end </a:t>
            </a:r>
            <a:r>
              <a:rPr lang="en-US" altLang="zh-TW" sz="4300" dirty="0"/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525253" y="1419726"/>
            <a:ext cx="782052" cy="757990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/>
          <p:cNvSpPr/>
          <p:nvPr/>
        </p:nvSpPr>
        <p:spPr>
          <a:xfrm rot="1390882" flipV="1">
            <a:off x="1451076" y="1620520"/>
            <a:ext cx="2474304" cy="820318"/>
          </a:xfrm>
          <a:prstGeom prst="arc">
            <a:avLst>
              <a:gd name="adj1" fmla="val 11728559"/>
              <a:gd name="adj2" fmla="val 142863"/>
            </a:avLst>
          </a:prstGeom>
          <a:ln w="76200">
            <a:solidFill>
              <a:srgbClr val="FFC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6657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2860158" y="1929468"/>
            <a:ext cx="1158169" cy="920058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93356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924493" y="1912690"/>
            <a:ext cx="4568586" cy="23934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860158" y="1929468"/>
            <a:ext cx="1158169" cy="920058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73382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455823" y="1904301"/>
            <a:ext cx="5070812" cy="41957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105528" y="1921079"/>
            <a:ext cx="1946355" cy="2867489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7199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rgbClr val="FD3E3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rgbClr val="FD3E31"/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rgbClr val="FD3E3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4359235" y="3284916"/>
            <a:ext cx="5170528" cy="1828800"/>
          </a:xfrm>
          <a:prstGeom prst="wedgeRoundRectCallout">
            <a:avLst>
              <a:gd name="adj1" fmla="val -111468"/>
              <a:gd name="adj2" fmla="val -6031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that there was not any error when the function was defined.</a:t>
            </a:r>
          </a:p>
        </p:txBody>
      </p:sp>
    </p:spTree>
    <p:extLst>
      <p:ext uri="{BB962C8B-B14F-4D97-AF65-F5344CB8AC3E}">
        <p14:creationId xmlns:p14="http://schemas.microsoft.com/office/powerpoint/2010/main" val="192888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197963" y="5029200"/>
            <a:ext cx="4111144" cy="1828800"/>
          </a:xfrm>
          <a:prstGeom prst="wedgeRoundRectCallout">
            <a:avLst>
              <a:gd name="adj1" fmla="val 45072"/>
              <a:gd name="adj2" fmla="val -77992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</a:t>
            </a:r>
            <a:r>
              <a:rPr lang="en-US" sz="4000" b="1" i="1" dirty="0">
                <a:solidFill>
                  <a:schemeClr val="tx1"/>
                </a:solidFill>
              </a:rPr>
              <a:t>what</a:t>
            </a:r>
            <a:r>
              <a:rPr lang="en-US" sz="4000" dirty="0"/>
              <a:t> the actual error message was.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35035"/>
              <a:gd name="adj2" fmla="val -75775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/>
              <a:t>What’s a keyword?</a:t>
            </a:r>
            <a:br>
              <a:rPr lang="en-US" sz="4000" dirty="0"/>
            </a:br>
            <a:r>
              <a:rPr lang="en-US" sz="4000" dirty="0"/>
              <a:t>Let’s recall </a:t>
            </a:r>
            <a:br>
              <a:rPr lang="en-US" sz="4000" dirty="0"/>
            </a:br>
            <a:r>
              <a:rPr lang="en-US" sz="4000" dirty="0"/>
              <a:t>slide #10…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4359235" y="3284916"/>
            <a:ext cx="5170528" cy="1828800"/>
          </a:xfrm>
          <a:prstGeom prst="wedgeRoundRectCallout">
            <a:avLst>
              <a:gd name="adj1" fmla="val -111468"/>
              <a:gd name="adj2" fmla="val -6031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that there was not any error when the function was defined.</a:t>
            </a:r>
          </a:p>
        </p:txBody>
      </p:sp>
    </p:spTree>
    <p:extLst>
      <p:ext uri="{BB962C8B-B14F-4D97-AF65-F5344CB8AC3E}">
        <p14:creationId xmlns:p14="http://schemas.microsoft.com/office/powerpoint/2010/main" val="264996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 = 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  </a:t>
            </a:r>
            <a:endParaRPr lang="en-US" altLang="zh-TW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Keyword Arguments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3568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grpSp>
        <p:nvGrpSpPr>
          <p:cNvPr id="4" name="Group 3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</a:p>
          </p:txBody>
        </p:sp>
      </p:grpSp>
      <p:sp>
        <p:nvSpPr>
          <p:cNvPr id="10" name="Rounded Rectangular Callout 9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67108"/>
              <a:gd name="adj2" fmla="val -20979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/>
              <a:t>What’s a keyword?</a:t>
            </a:r>
            <a:br>
              <a:rPr lang="en-US" sz="4000" dirty="0"/>
            </a:br>
            <a:r>
              <a:rPr lang="en-US" sz="4000" dirty="0"/>
              <a:t>Let’s recall </a:t>
            </a:r>
            <a:br>
              <a:rPr lang="en-US" sz="4000" dirty="0"/>
            </a:br>
            <a:r>
              <a:rPr lang="en-US" sz="4000" dirty="0"/>
              <a:t>slide #10…</a:t>
            </a:r>
          </a:p>
        </p:txBody>
      </p:sp>
    </p:spTree>
    <p:extLst>
      <p:ext uri="{BB962C8B-B14F-4D97-AF65-F5344CB8AC3E}">
        <p14:creationId xmlns:p14="http://schemas.microsoft.com/office/powerpoint/2010/main" val="195605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0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0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5" grpId="0"/>
      <p:bldP spid="9" grpId="0" animBg="1"/>
      <p:bldP spid="9" grpId="1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197963" y="5029200"/>
            <a:ext cx="4111144" cy="1828800"/>
          </a:xfrm>
          <a:prstGeom prst="wedgeRoundRectCallout">
            <a:avLst>
              <a:gd name="adj1" fmla="val 45072"/>
              <a:gd name="adj2" fmla="val -77992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</a:t>
            </a:r>
            <a:r>
              <a:rPr lang="en-US" sz="4000" b="1" i="1" dirty="0">
                <a:solidFill>
                  <a:schemeClr val="tx1"/>
                </a:solidFill>
              </a:rPr>
              <a:t>what</a:t>
            </a:r>
            <a:r>
              <a:rPr lang="en-US" sz="4000" dirty="0"/>
              <a:t> the actual error message was.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35035"/>
              <a:gd name="adj2" fmla="val -75775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/>
              <a:t>What’s a keyword?</a:t>
            </a:r>
            <a:br>
              <a:rPr lang="en-US" sz="4000" dirty="0"/>
            </a:br>
            <a:r>
              <a:rPr lang="en-US" sz="4000" dirty="0"/>
              <a:t>Let’s recall </a:t>
            </a:r>
            <a:br>
              <a:rPr lang="en-US" sz="4000" dirty="0"/>
            </a:br>
            <a:r>
              <a:rPr lang="en-US" sz="4000" dirty="0"/>
              <a:t>slide #10…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4559260" y="2527279"/>
            <a:ext cx="5170528" cy="1303867"/>
          </a:xfrm>
          <a:prstGeom prst="wedgeRoundRectCallout">
            <a:avLst>
              <a:gd name="adj1" fmla="val -101006"/>
              <a:gd name="adj2" fmla="val 91934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4000" dirty="0"/>
              <a:t>So the error is that </a:t>
            </a:r>
            <a:r>
              <a:rPr lang="en-US" sz="4000" dirty="0">
                <a:solidFill>
                  <a:schemeClr val="bg1"/>
                </a:solidFill>
              </a:rPr>
              <a:t>“c</a:t>
            </a:r>
            <a:r>
              <a:rPr lang="en-US" sz="4000" dirty="0"/>
              <a:t>” must be named</a:t>
            </a:r>
          </a:p>
        </p:txBody>
      </p:sp>
    </p:spTree>
    <p:extLst>
      <p:ext uri="{BB962C8B-B14F-4D97-AF65-F5344CB8AC3E}">
        <p14:creationId xmlns:p14="http://schemas.microsoft.com/office/powerpoint/2010/main" val="277960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35035"/>
              <a:gd name="adj2" fmla="val -75775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/>
              <a:t>What’s a keyword?</a:t>
            </a:r>
            <a:br>
              <a:rPr lang="en-US" sz="4000" dirty="0"/>
            </a:br>
            <a:r>
              <a:rPr lang="en-US" sz="4000" dirty="0"/>
              <a:t>Let’s recall </a:t>
            </a:r>
            <a:br>
              <a:rPr lang="en-US" sz="4000" dirty="0"/>
            </a:br>
            <a:r>
              <a:rPr lang="en-US" sz="4000" dirty="0"/>
              <a:t>slide #10…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4559260" y="2527279"/>
            <a:ext cx="5170528" cy="1303867"/>
          </a:xfrm>
          <a:prstGeom prst="wedgeRoundRectCallout">
            <a:avLst>
              <a:gd name="adj1" fmla="val -101006"/>
              <a:gd name="adj2" fmla="val 91934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4000" dirty="0"/>
              <a:t>So the error is that “</a:t>
            </a:r>
            <a:r>
              <a:rPr lang="en-US" sz="4000" dirty="0">
                <a:solidFill>
                  <a:srgbClr val="0000FF"/>
                </a:solidFill>
              </a:rPr>
              <a:t>c</a:t>
            </a:r>
            <a:r>
              <a:rPr lang="en-US" sz="4000" dirty="0"/>
              <a:t>” must be named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9106293" y="3035431"/>
            <a:ext cx="28280" cy="1291472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053526" y="2366128"/>
            <a:ext cx="4967167" cy="2039288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53765" y="4647414"/>
            <a:ext cx="1489435" cy="414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197963" y="5029200"/>
            <a:ext cx="4111144" cy="1828800"/>
          </a:xfrm>
          <a:prstGeom prst="wedgeRoundRectCallout">
            <a:avLst>
              <a:gd name="adj1" fmla="val 45072"/>
              <a:gd name="adj2" fmla="val -77992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</a:t>
            </a:r>
            <a:r>
              <a:rPr lang="en-US" sz="4000" b="1" i="1" dirty="0">
                <a:solidFill>
                  <a:schemeClr val="tx1"/>
                </a:solidFill>
              </a:rPr>
              <a:t>what</a:t>
            </a:r>
            <a:r>
              <a:rPr lang="en-US" sz="4000" dirty="0"/>
              <a:t> the actual error message was.</a:t>
            </a:r>
          </a:p>
        </p:txBody>
      </p:sp>
    </p:spTree>
    <p:extLst>
      <p:ext uri="{BB962C8B-B14F-4D97-AF65-F5344CB8AC3E}">
        <p14:creationId xmlns:p14="http://schemas.microsoft.com/office/powerpoint/2010/main" val="89970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6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wants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f(1,c=3)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f(1,</a:t>
            </a:r>
            <a:r>
              <a:rPr lang="en-US" altLang="zh-TW" sz="3000" dirty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y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875280" y="2468880"/>
            <a:ext cx="1026160" cy="2286000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81602" y="4635355"/>
            <a:ext cx="88197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600960" y="2479040"/>
            <a:ext cx="1290320" cy="3149600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2377440" y="24892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62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wants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f(1,c=3)</a:t>
            </a:r>
            <a:r>
              <a:rPr lang="en-US" altLang="zh-TW" sz="30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f(1,</a:t>
            </a:r>
            <a:r>
              <a:rPr lang="en-US" altLang="zh-TW" sz="3000" dirty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y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sp>
        <p:nvSpPr>
          <p:cNvPr id="2" name="Rectangle 1"/>
          <p:cNvSpPr/>
          <p:nvPr/>
        </p:nvSpPr>
        <p:spPr>
          <a:xfrm>
            <a:off x="281602" y="4635355"/>
            <a:ext cx="88197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377440" y="24892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86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1026160"/>
            <a:ext cx="9144000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the end 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wants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f(1,c=3)</a:t>
            </a:r>
            <a:r>
              <a:rPr lang="en-US" altLang="zh-TW" sz="30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f(1,</a:t>
            </a:r>
            <a:r>
              <a:rPr lang="en-US" altLang="zh-TW" sz="3000" dirty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y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58864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377440" y="20828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06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1026160"/>
            <a:ext cx="9144000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altLang="zh-TW" sz="1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wants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f(1,c=3)</a:t>
            </a:r>
            <a:r>
              <a:rPr lang="en-US" altLang="zh-TW" sz="30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f(1,</a:t>
            </a:r>
            <a:r>
              <a:rPr lang="en-US" altLang="zh-TW" sz="3000" dirty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>
                <a:latin typeface="Lucida Console" panose="020B0609040504020204" pitchFamily="49" charset="0"/>
                <a:cs typeface="Courier New" pitchFamily="49" charset="0"/>
              </a:rPr>
              <a:t>y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4160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377440" y="16764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0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19" y="1026160"/>
            <a:ext cx="9227489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altLang="zh-TW" sz="1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f(1,2,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4663440" y="2168983"/>
            <a:ext cx="4782312" cy="1441584"/>
          </a:xfrm>
          <a:prstGeom prst="wedgeRoundRectCallout">
            <a:avLst>
              <a:gd name="adj1" fmla="val -75106"/>
              <a:gd name="adj2" fmla="val 6774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/>
              <a:t>Any parameter that comes</a:t>
            </a:r>
            <a:r>
              <a:rPr lang="en-US" sz="2800" dirty="0"/>
              <a:t> </a:t>
            </a:r>
            <a:r>
              <a:rPr lang="en-US" sz="4000" dirty="0"/>
              <a:t>after</a:t>
            </a:r>
            <a:r>
              <a:rPr lang="en-US" sz="2800" dirty="0"/>
              <a:t> </a:t>
            </a:r>
            <a:r>
              <a:rPr lang="en-US" sz="4000" dirty="0"/>
              <a:t>the</a:t>
            </a:r>
            <a:r>
              <a:rPr lang="en-US" sz="2800" dirty="0"/>
              <a:t> </a:t>
            </a:r>
            <a:r>
              <a:rPr lang="en-US" sz="4000" dirty="0"/>
              <a:t>* must be named. </a:t>
            </a:r>
          </a:p>
        </p:txBody>
      </p:sp>
    </p:spTree>
    <p:extLst>
      <p:ext uri="{BB962C8B-B14F-4D97-AF65-F5344CB8AC3E}">
        <p14:creationId xmlns:p14="http://schemas.microsoft.com/office/powerpoint/2010/main" val="135626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19" y="1026160"/>
            <a:ext cx="9227489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altLang="zh-TW" sz="1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f(1,2,</a:t>
            </a:r>
            <a:r>
              <a:rPr lang="en-US" altLang="zh-TW" sz="3000" dirty="0">
                <a:solidFill>
                  <a:srgbClr val="8989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 f(1,</a:t>
            </a:r>
            <a:r>
              <a:rPr lang="en-US" altLang="zh-TW" sz="3000" b="1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800" dirty="0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800" dirty="0" err="1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800" dirty="0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&gt;", line 1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600" spc="-1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600" spc="-14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n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taxError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positional</a:t>
            </a:r>
            <a:r>
              <a:rPr lang="en-US" altLang="zh-TW" sz="32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2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follows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23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600" spc="-8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600" spc="-16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wo</a:t>
            </a:r>
            <a:r>
              <a:rPr lang="en-US" altLang="zh-TW" sz="3600" spc="-10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rd</a:t>
            </a:r>
            <a:r>
              <a:rPr lang="en-US" altLang="zh-TW" sz="3200" spc="-10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argu</a:t>
            </a:r>
            <a:r>
              <a:rPr lang="en-US" altLang="zh-TW" sz="3600" spc="-13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men</a:t>
            </a:r>
            <a:r>
              <a:rPr lang="en-US" altLang="zh-TW" sz="3600" spc="-100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endParaRPr lang="en-US" altLang="zh-TW" sz="3000" dirty="0">
              <a:solidFill>
                <a:srgbClr val="0000FF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4663440" y="2168983"/>
            <a:ext cx="4782312" cy="1441584"/>
          </a:xfrm>
          <a:prstGeom prst="wedgeRoundRectCallout">
            <a:avLst>
              <a:gd name="adj1" fmla="val -75106"/>
              <a:gd name="adj2" fmla="val 6774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/>
              <a:t>Any parameter that comes</a:t>
            </a:r>
            <a:r>
              <a:rPr lang="en-US" sz="2800" dirty="0"/>
              <a:t> </a:t>
            </a:r>
            <a:r>
              <a:rPr lang="en-US" sz="4000" dirty="0"/>
              <a:t>after</a:t>
            </a:r>
            <a:r>
              <a:rPr lang="en-US" sz="2800" dirty="0"/>
              <a:t> </a:t>
            </a:r>
            <a:r>
              <a:rPr lang="en-US" sz="4000" dirty="0"/>
              <a:t>the</a:t>
            </a:r>
            <a:r>
              <a:rPr lang="en-US" sz="2800" dirty="0"/>
              <a:t> </a:t>
            </a:r>
            <a:r>
              <a:rPr lang="en-US" sz="4000" dirty="0"/>
              <a:t>* must be named.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210339" y="4552122"/>
            <a:ext cx="576470" cy="795131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" y="5703631"/>
            <a:ext cx="9729788" cy="1154370"/>
          </a:xfrm>
          <a:prstGeom prst="roundRect">
            <a:avLst/>
          </a:prstGeom>
          <a:solidFill>
            <a:srgbClr val="FFFF00"/>
          </a:solidFill>
          <a:ln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This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was a design decision to allow</a:t>
            </a:r>
          </a:p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you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to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create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always-named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arguments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4663440" y="3614948"/>
            <a:ext cx="4782312" cy="1412065"/>
          </a:xfrm>
          <a:prstGeom prst="wedgeRoundRectCallout">
            <a:avLst>
              <a:gd name="adj1" fmla="val -79975"/>
              <a:gd name="adj2" fmla="val 11144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>
                <a:solidFill>
                  <a:schemeClr val="bg1"/>
                </a:solidFill>
              </a:rPr>
              <a:t>And</a:t>
            </a:r>
            <a:r>
              <a:rPr lang="en-US" sz="4000" dirty="0"/>
              <a:t>, it </a:t>
            </a:r>
            <a:r>
              <a:rPr lang="en-US" sz="4000" b="1" i="1" dirty="0">
                <a:solidFill>
                  <a:srgbClr val="FFFF00"/>
                </a:solidFill>
              </a:rPr>
              <a:t>must be at</a:t>
            </a:r>
            <a:br>
              <a:rPr lang="en-US" sz="4000" b="1" i="1" dirty="0">
                <a:solidFill>
                  <a:srgbClr val="FFFF00"/>
                </a:solidFill>
              </a:rPr>
            </a:br>
            <a:r>
              <a:rPr lang="en-US" sz="4000" b="1" i="1" dirty="0">
                <a:solidFill>
                  <a:srgbClr val="FFFF00"/>
                </a:solidFill>
              </a:rPr>
              <a:t>the end</a:t>
            </a:r>
            <a:r>
              <a:rPr lang="en-US" sz="4000" dirty="0"/>
              <a:t> of the call arguments.</a:t>
            </a:r>
          </a:p>
        </p:txBody>
      </p:sp>
      <p:sp>
        <p:nvSpPr>
          <p:cNvPr id="14" name="Arc 13"/>
          <p:cNvSpPr/>
          <p:nvPr/>
        </p:nvSpPr>
        <p:spPr>
          <a:xfrm rot="795317" flipH="1">
            <a:off x="2408286" y="4315559"/>
            <a:ext cx="5061959" cy="1266363"/>
          </a:xfrm>
          <a:prstGeom prst="arc">
            <a:avLst>
              <a:gd name="adj1" fmla="val 11082044"/>
              <a:gd name="adj2" fmla="val 61930"/>
            </a:avLst>
          </a:prstGeom>
          <a:ln w="76200">
            <a:solidFill>
              <a:srgbClr val="0000FF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14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4" grpId="0" animBg="1"/>
      <p:bldP spid="14" grpId="1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-59316" y="3230861"/>
            <a:ext cx="9900497" cy="3466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The Python 3 designers decided to add a feature: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programmer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of a function to insist that a specific parameter of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that function can only be passed in by name.</a:t>
            </a:r>
          </a:p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Courier New" pitchFamily="49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-3313" y="5424384"/>
            <a:ext cx="9733101" cy="1441928"/>
            <a:chOff x="82400" y="2875153"/>
            <a:chExt cx="10525275" cy="1441928"/>
          </a:xfrm>
        </p:grpSpPr>
        <p:sp>
          <p:nvSpPr>
            <p:cNvPr id="22" name="Rounded Rectangle 21"/>
            <p:cNvSpPr/>
            <p:nvPr/>
          </p:nvSpPr>
          <p:spPr>
            <a:xfrm>
              <a:off x="5437147" y="2899326"/>
              <a:ext cx="5170528" cy="1412065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80000"/>
                </a:lnSpc>
              </a:pPr>
              <a:r>
                <a:rPr lang="en-US" altLang="zh-TW" sz="4000" dirty="0">
                  <a:solidFill>
                    <a:prstClr val="white"/>
                  </a:solidFill>
                </a:rPr>
                <a:t>And, it </a:t>
              </a:r>
              <a:r>
                <a:rPr lang="en-US" altLang="zh-TW" sz="4000" b="1" i="1" dirty="0">
                  <a:solidFill>
                    <a:srgbClr val="FFFF00"/>
                  </a:solidFill>
                </a:rPr>
                <a:t>must be at </a:t>
              </a:r>
            </a:p>
            <a:p>
              <a:pPr marL="0" lvl="1" algn="ctr">
                <a:lnSpc>
                  <a:spcPct val="75000"/>
                </a:lnSpc>
              </a:pPr>
              <a:r>
                <a:rPr lang="en-US" altLang="zh-TW" sz="4000" b="1" i="1" dirty="0">
                  <a:solidFill>
                    <a:srgbClr val="FFFF00"/>
                  </a:solidFill>
                </a:rPr>
                <a:t>the end</a:t>
              </a:r>
              <a:r>
                <a:rPr lang="en-US" altLang="zh-TW" sz="4000" dirty="0">
                  <a:solidFill>
                    <a:prstClr val="white"/>
                  </a:solidFill>
                </a:rPr>
                <a:t> of the call arguments.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2400" y="2875153"/>
              <a:ext cx="5170528" cy="1441928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75000"/>
                </a:lnSpc>
              </a:pPr>
              <a:r>
                <a:rPr lang="en-US" altLang="zh-TW" sz="4000" dirty="0"/>
                <a:t>Any parameter that comes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after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the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* must be named. 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663440" y="2167128"/>
            <a:ext cx="4782312" cy="1441928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altLang="zh-TW" sz="4000" dirty="0"/>
              <a:t>Any parameter that comes</a:t>
            </a:r>
            <a:r>
              <a:rPr lang="en-US" altLang="zh-TW" sz="2800" dirty="0"/>
              <a:t> </a:t>
            </a:r>
            <a:r>
              <a:rPr lang="en-US" altLang="zh-TW" sz="4000" dirty="0"/>
              <a:t>after</a:t>
            </a:r>
            <a:r>
              <a:rPr lang="en-US" altLang="zh-TW" sz="2800" dirty="0"/>
              <a:t> </a:t>
            </a:r>
            <a:r>
              <a:rPr lang="en-US" altLang="zh-TW" sz="4000" dirty="0"/>
              <a:t>the</a:t>
            </a:r>
            <a:r>
              <a:rPr lang="en-US" altLang="zh-TW" sz="2800" dirty="0"/>
              <a:t> </a:t>
            </a:r>
            <a:r>
              <a:rPr lang="en-US" altLang="zh-TW" sz="4000" dirty="0"/>
              <a:t>* must be named. 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528881" y="2583195"/>
            <a:ext cx="534203" cy="779646"/>
          </a:xfrm>
          <a:prstGeom prst="downArrow">
            <a:avLst/>
          </a:prstGeom>
          <a:solidFill>
            <a:srgbClr val="FFFF00"/>
          </a:solidFill>
          <a:ln w="57150"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7" name="Rounded Rectangle 26"/>
          <p:cNvSpPr/>
          <p:nvPr/>
        </p:nvSpPr>
        <p:spPr>
          <a:xfrm>
            <a:off x="4663440" y="3611880"/>
            <a:ext cx="4782312" cy="1412065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altLang="zh-TW" sz="4000" dirty="0">
                <a:solidFill>
                  <a:prstClr val="white"/>
                </a:solidFill>
              </a:rPr>
              <a:t>And, it </a:t>
            </a:r>
            <a:r>
              <a:rPr lang="en-US" altLang="zh-TW" sz="4000" b="1" i="1" dirty="0">
                <a:solidFill>
                  <a:srgbClr val="FFFF00"/>
                </a:solidFill>
              </a:rPr>
              <a:t>must be at </a:t>
            </a:r>
            <a:br>
              <a:rPr lang="en-US" altLang="zh-TW" sz="4000" b="1" i="1" dirty="0">
                <a:solidFill>
                  <a:srgbClr val="FFFF00"/>
                </a:solidFill>
              </a:rPr>
            </a:br>
            <a:r>
              <a:rPr lang="en-US" altLang="zh-TW" sz="4000" b="1" i="1" dirty="0">
                <a:solidFill>
                  <a:srgbClr val="FFFF00"/>
                </a:solidFill>
              </a:rPr>
              <a:t>the end</a:t>
            </a:r>
            <a:r>
              <a:rPr lang="en-US" altLang="zh-TW" sz="4000" dirty="0">
                <a:solidFill>
                  <a:prstClr val="white"/>
                </a:solidFill>
              </a:rPr>
              <a:t> of the call arguments.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" y="1608719"/>
            <a:ext cx="9729788" cy="1154370"/>
          </a:xfrm>
          <a:prstGeom prst="roundRect">
            <a:avLst/>
          </a:prstGeom>
          <a:solidFill>
            <a:srgbClr val="FFFF00"/>
          </a:solidFill>
          <a:ln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This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was a design decision to allow</a:t>
            </a:r>
          </a:p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you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to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create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always-named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arguments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" y="5703631"/>
            <a:ext cx="9729788" cy="1154370"/>
          </a:xfrm>
          <a:prstGeom prst="roundRect">
            <a:avLst/>
          </a:prstGeom>
          <a:solidFill>
            <a:srgbClr val="FFFF00"/>
          </a:solidFill>
          <a:ln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This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was a design decision to allow</a:t>
            </a:r>
          </a:p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you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to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create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always-named</a:t>
            </a:r>
            <a:r>
              <a:rPr lang="en-US" altLang="zh-TW" sz="36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arguments</a:t>
            </a:r>
          </a:p>
        </p:txBody>
      </p:sp>
    </p:spTree>
    <p:extLst>
      <p:ext uri="{BB962C8B-B14F-4D97-AF65-F5344CB8AC3E}">
        <p14:creationId xmlns:p14="http://schemas.microsoft.com/office/powerpoint/2010/main" val="264540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49959E-6 -4.81481E-6 L -0.48002 0.474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01" y="2372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7938E-6 -7.40741E-7 L 0.00016 -0.59699 " pathEditMode="relative" rAng="0" ptsTypes="AA">
                                      <p:cBhvr>
                                        <p:cTn id="8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86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49959E-6 3.7037E-7 L 0.02937 0.267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8" y="1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8" grpId="0" animBg="1"/>
      <p:bldP spid="28" grpId="1" animBg="1"/>
      <p:bldP spid="29" grpId="0" animBg="1"/>
      <p:bldP spid="29" grpId="1" animBg="1"/>
      <p:bldP spid="27" grpId="0" animBg="1"/>
      <p:bldP spid="27" grpId="1" animBg="1"/>
      <p:bldP spid="17" grpId="0" animBg="1"/>
      <p:bldP spid="18" grpId="0" animBg="1"/>
      <p:bldP spid="18" grpId="1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 txBox="1">
            <a:spLocks/>
          </p:cNvSpPr>
          <p:nvPr/>
        </p:nvSpPr>
        <p:spPr>
          <a:xfrm>
            <a:off x="-59316" y="3230861"/>
            <a:ext cx="9900497" cy="3466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programmer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of a function to insist that a specific parameter of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that function can only be passed in by name.</a:t>
            </a:r>
          </a:p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Courier New" pitchFamily="49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-59315" y="1497081"/>
            <a:ext cx="9789104" cy="5200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progr</a:t>
            </a:r>
            <a:r>
              <a:rPr lang="en-US" sz="3200" spc="-40" dirty="0">
                <a:solidFill>
                  <a:prstClr val="black"/>
                </a:solidFill>
                <a:cs typeface="Courier New" pitchFamily="49" charset="0"/>
              </a:rPr>
              <a:t>amme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r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spc="-50" dirty="0">
                <a:solidFill>
                  <a:prstClr val="black"/>
                </a:solidFill>
                <a:cs typeface="Courier New" pitchFamily="49" charset="0"/>
              </a:rPr>
              <a:t>o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 a function to insist that a specific parameter of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that function can only be passed in by name.</a:t>
            </a:r>
          </a:p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Courier New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-3313" y="5424384"/>
            <a:ext cx="9733101" cy="1441928"/>
            <a:chOff x="82400" y="2875153"/>
            <a:chExt cx="10525275" cy="1441928"/>
          </a:xfrm>
        </p:grpSpPr>
        <p:sp>
          <p:nvSpPr>
            <p:cNvPr id="13" name="Rounded Rectangle 12"/>
            <p:cNvSpPr/>
            <p:nvPr/>
          </p:nvSpPr>
          <p:spPr>
            <a:xfrm>
              <a:off x="5437147" y="2899326"/>
              <a:ext cx="5170528" cy="1412065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80000"/>
                </a:lnSpc>
              </a:pPr>
              <a:r>
                <a:rPr lang="en-US" altLang="zh-TW" sz="4000" dirty="0">
                  <a:solidFill>
                    <a:prstClr val="white"/>
                  </a:solidFill>
                </a:rPr>
                <a:t>And, it </a:t>
              </a:r>
              <a:r>
                <a:rPr lang="en-US" altLang="zh-TW" sz="4000" b="1" i="1" dirty="0">
                  <a:solidFill>
                    <a:srgbClr val="FFFF00"/>
                  </a:solidFill>
                </a:rPr>
                <a:t>must be at </a:t>
              </a:r>
            </a:p>
            <a:p>
              <a:pPr marL="0" lvl="1" algn="ctr">
                <a:lnSpc>
                  <a:spcPct val="75000"/>
                </a:lnSpc>
              </a:pPr>
              <a:r>
                <a:rPr lang="en-US" altLang="zh-TW" sz="4000" b="1" i="1" dirty="0">
                  <a:solidFill>
                    <a:srgbClr val="FFFF00"/>
                  </a:solidFill>
                </a:rPr>
                <a:t>the end</a:t>
              </a:r>
              <a:r>
                <a:rPr lang="en-US" altLang="zh-TW" sz="4000" dirty="0">
                  <a:solidFill>
                    <a:prstClr val="white"/>
                  </a:solidFill>
                </a:rPr>
                <a:t> of the call arguments.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2400" y="2875153"/>
              <a:ext cx="5170528" cy="1441928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75000"/>
                </a:lnSpc>
              </a:pPr>
              <a:r>
                <a:rPr lang="en-US" altLang="zh-TW" sz="4000" dirty="0"/>
                <a:t>Any parameter that comes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after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the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* must be named.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869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9267E-6 -2.59259E-6 L 0.00015 -0.2527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12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-59316" y="1497081"/>
            <a:ext cx="9900497" cy="5200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progr</a:t>
            </a:r>
            <a:r>
              <a:rPr lang="en-US" sz="3200" spc="-40" dirty="0">
                <a:solidFill>
                  <a:prstClr val="black"/>
                </a:solidFill>
                <a:cs typeface="Courier New" pitchFamily="49" charset="0"/>
              </a:rPr>
              <a:t>amme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r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spc="-50" dirty="0">
                <a:solidFill>
                  <a:prstClr val="black"/>
                </a:solidFill>
                <a:cs typeface="Courier New" pitchFamily="49" charset="0"/>
              </a:rPr>
              <a:t>o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 a function to insist that a specific parameter of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that function can only be passed in by name.</a:t>
            </a:r>
          </a:p>
          <a:p>
            <a:pPr marL="400050" indent="-225425"/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spc="-170" dirty="0">
                <a:solidFill>
                  <a:prstClr val="black"/>
                </a:solidFill>
                <a:cs typeface="Courier New" pitchFamily="49" charset="0"/>
              </a:rPr>
              <a:t>n</a:t>
            </a:r>
            <a:r>
              <a:rPr lang="en-US" sz="3600" spc="-40" dirty="0">
                <a:solidFill>
                  <a:prstClr val="black"/>
                </a:solidFill>
                <a:cs typeface="Courier New" pitchFamily="49" charset="0"/>
              </a:rPr>
              <a:t>y p</a:t>
            </a:r>
            <a:r>
              <a:rPr lang="en-US" sz="3600" spc="-9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rameters aft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 t</a:t>
            </a:r>
            <a:r>
              <a:rPr lang="en-US" sz="3600" spc="-160" dirty="0">
                <a:solidFill>
                  <a:prstClr val="black"/>
                </a:solidFill>
                <a:cs typeface="Courier New" pitchFamily="49" charset="0"/>
              </a:rPr>
              <a:t>h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aster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is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k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mu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st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be na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me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d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.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And must go at the end of the call argument list.</a:t>
            </a:r>
          </a:p>
          <a:p>
            <a:r>
              <a:rPr lang="en-US" sz="3600" dirty="0">
                <a:solidFill>
                  <a:schemeClr val="bg1"/>
                </a:solidFill>
                <a:cs typeface="Courier New" pitchFamily="49" charset="0"/>
              </a:rPr>
              <a:t>w</a:t>
            </a:r>
            <a:endParaRPr lang="en-US" sz="2800" dirty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8" name="Down Arrow 7"/>
          <p:cNvSpPr/>
          <p:nvPr/>
        </p:nvSpPr>
        <p:spPr>
          <a:xfrm flipH="1" flipV="1">
            <a:off x="7161835" y="4464848"/>
            <a:ext cx="534203" cy="997058"/>
          </a:xfrm>
          <a:prstGeom prst="downArrow">
            <a:avLst/>
          </a:prstGeom>
          <a:solidFill>
            <a:srgbClr val="FD3E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9" name="Down Arrow 8"/>
          <p:cNvSpPr/>
          <p:nvPr/>
        </p:nvSpPr>
        <p:spPr>
          <a:xfrm flipH="1" flipV="1">
            <a:off x="1892002" y="3990758"/>
            <a:ext cx="534203" cy="1448975"/>
          </a:xfrm>
          <a:prstGeom prst="downArrow">
            <a:avLst/>
          </a:prstGeom>
          <a:solidFill>
            <a:srgbClr val="FD3E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48414" y="5448557"/>
            <a:ext cx="4781374" cy="1412065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prstClr val="white"/>
                </a:solidFill>
              </a:rPr>
              <a:t>And, it </a:t>
            </a:r>
            <a:r>
              <a:rPr lang="en-US" altLang="zh-TW" sz="4000" b="1" i="1" dirty="0">
                <a:solidFill>
                  <a:srgbClr val="FFFF00"/>
                </a:solidFill>
              </a:rPr>
              <a:t>must be at </a:t>
            </a:r>
          </a:p>
          <a:p>
            <a:pPr marL="0" lvl="1" algn="ctr">
              <a:lnSpc>
                <a:spcPct val="75000"/>
              </a:lnSpc>
            </a:pPr>
            <a:r>
              <a:rPr lang="en-US" altLang="zh-TW" sz="4000" b="1" i="1" dirty="0">
                <a:solidFill>
                  <a:srgbClr val="FFFF00"/>
                </a:solidFill>
              </a:rPr>
              <a:t>the end</a:t>
            </a:r>
            <a:r>
              <a:rPr lang="en-US" altLang="zh-TW" sz="4000" dirty="0">
                <a:solidFill>
                  <a:prstClr val="white"/>
                </a:solidFill>
              </a:rPr>
              <a:t> of the call arguments.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-3313" y="5424384"/>
            <a:ext cx="4781374" cy="1441928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altLang="zh-TW" sz="4000" dirty="0"/>
              <a:t>Any parameter that comes</a:t>
            </a:r>
            <a:r>
              <a:rPr lang="en-US" altLang="zh-TW" sz="2800" dirty="0"/>
              <a:t> </a:t>
            </a:r>
            <a:r>
              <a:rPr lang="en-US" altLang="zh-TW" sz="4000" dirty="0"/>
              <a:t>after</a:t>
            </a:r>
            <a:r>
              <a:rPr lang="en-US" altLang="zh-TW" sz="2800" dirty="0"/>
              <a:t> </a:t>
            </a:r>
            <a:r>
              <a:rPr lang="en-US" altLang="zh-TW" sz="4000" dirty="0"/>
              <a:t>the</a:t>
            </a:r>
            <a:r>
              <a:rPr lang="en-US" altLang="zh-TW" sz="2800" dirty="0"/>
              <a:t> </a:t>
            </a:r>
            <a:r>
              <a:rPr lang="en-US" altLang="zh-TW" sz="4000" dirty="0"/>
              <a:t>* must be named. </a:t>
            </a:r>
          </a:p>
        </p:txBody>
      </p:sp>
    </p:spTree>
    <p:extLst>
      <p:ext uri="{BB962C8B-B14F-4D97-AF65-F5344CB8AC3E}">
        <p14:creationId xmlns:p14="http://schemas.microsoft.com/office/powerpoint/2010/main" val="17961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5" grpId="0" animBg="1"/>
      <p:bldP spid="16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-59316" y="1497081"/>
            <a:ext cx="9900497" cy="5200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progr</a:t>
            </a:r>
            <a:r>
              <a:rPr lang="en-US" sz="3200" spc="-40" dirty="0">
                <a:solidFill>
                  <a:prstClr val="black"/>
                </a:solidFill>
                <a:cs typeface="Courier New" pitchFamily="49" charset="0"/>
              </a:rPr>
              <a:t>amme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r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spc="-50" dirty="0">
                <a:solidFill>
                  <a:prstClr val="black"/>
                </a:solidFill>
                <a:cs typeface="Courier New" pitchFamily="49" charset="0"/>
              </a:rPr>
              <a:t>o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 a function to insist that a specific parameter of</a:t>
            </a:r>
            <a:br>
              <a:rPr lang="en-US" sz="3200" dirty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that function can only be passed in by name.</a:t>
            </a:r>
          </a:p>
          <a:p>
            <a:pPr marL="400050" indent="-225425"/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spc="-170" dirty="0">
                <a:solidFill>
                  <a:prstClr val="black"/>
                </a:solidFill>
                <a:cs typeface="Courier New" pitchFamily="49" charset="0"/>
              </a:rPr>
              <a:t>n</a:t>
            </a:r>
            <a:r>
              <a:rPr lang="en-US" sz="3600" spc="-40" dirty="0">
                <a:solidFill>
                  <a:prstClr val="black"/>
                </a:solidFill>
                <a:cs typeface="Courier New" pitchFamily="49" charset="0"/>
              </a:rPr>
              <a:t>y p</a:t>
            </a:r>
            <a:r>
              <a:rPr lang="en-US" sz="3600" spc="-9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rameters aft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 t</a:t>
            </a:r>
            <a:r>
              <a:rPr lang="en-US" sz="3600" spc="-160" dirty="0">
                <a:solidFill>
                  <a:prstClr val="black"/>
                </a:solidFill>
                <a:cs typeface="Courier New" pitchFamily="49" charset="0"/>
              </a:rPr>
              <a:t>h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aster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is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k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mu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st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be na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me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d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. 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And must go at the end of the call argument list.</a:t>
            </a:r>
            <a:endParaRPr lang="en-US" sz="2800" dirty="0">
              <a:cs typeface="Courier New" pitchFamily="49" charset="0"/>
            </a:endParaRPr>
          </a:p>
          <a:p>
            <a:pPr marL="400050" indent="-225425"/>
            <a:r>
              <a:rPr lang="en-US" sz="3600" dirty="0">
                <a:cs typeface="Courier New" pitchFamily="49" charset="0"/>
              </a:rPr>
              <a:t>But what if a funct</a:t>
            </a:r>
            <a:r>
              <a:rPr lang="en-US" sz="3600" spc="-40" dirty="0">
                <a:cs typeface="Courier New" pitchFamily="49" charset="0"/>
              </a:rPr>
              <a:t>ion ou</a:t>
            </a:r>
            <a:r>
              <a:rPr lang="en-US" sz="3600" dirty="0">
                <a:cs typeface="Courier New" pitchFamily="49" charset="0"/>
              </a:rPr>
              <a:t>ght not receive var</a:t>
            </a:r>
            <a:r>
              <a:rPr lang="en-US" sz="3600" spc="-30" dirty="0">
                <a:cs typeface="Courier New" pitchFamily="49" charset="0"/>
              </a:rPr>
              <a:t>iabl</a:t>
            </a:r>
            <a:r>
              <a:rPr lang="en-US" sz="3600" dirty="0">
                <a:cs typeface="Courier New" pitchFamily="49" charset="0"/>
              </a:rPr>
              <a:t>e-</a:t>
            </a:r>
            <a:r>
              <a:rPr lang="en-US" sz="3600" spc="-40" dirty="0">
                <a:cs typeface="Courier New" pitchFamily="49" charset="0"/>
              </a:rPr>
              <a:t>len</a:t>
            </a:r>
            <a:r>
              <a:rPr lang="en-US" sz="3600" dirty="0">
                <a:cs typeface="Courier New" pitchFamily="49" charset="0"/>
              </a:rPr>
              <a:t>gth arg</a:t>
            </a:r>
            <a:r>
              <a:rPr lang="en-US" sz="3600" spc="-40" dirty="0">
                <a:cs typeface="Courier New" pitchFamily="49" charset="0"/>
              </a:rPr>
              <a:t>umen</a:t>
            </a:r>
            <a:r>
              <a:rPr lang="en-US" sz="3600" dirty="0">
                <a:cs typeface="Courier New" pitchFamily="49" charset="0"/>
              </a:rPr>
              <a:t>t</a:t>
            </a:r>
            <a:r>
              <a:rPr lang="en-US" sz="3600" spc="-50" dirty="0">
                <a:cs typeface="Courier New" pitchFamily="49" charset="0"/>
              </a:rPr>
              <a:t>s</a:t>
            </a:r>
            <a:r>
              <a:rPr lang="en-US" sz="3200" spc="-50" dirty="0">
                <a:cs typeface="Courier New" pitchFamily="49" charset="0"/>
              </a:rPr>
              <a:t> </a:t>
            </a:r>
            <a:r>
              <a:rPr lang="en-US" sz="3600" spc="-100" dirty="0">
                <a:cs typeface="Courier New" pitchFamily="49" charset="0"/>
              </a:rPr>
              <a:t>(</a:t>
            </a:r>
            <a:r>
              <a:rPr lang="en-US" sz="3600" i="1" spc="-100" dirty="0">
                <a:cs typeface="Courier New" pitchFamily="49" charset="0"/>
              </a:rPr>
              <a:t>i.</a:t>
            </a:r>
            <a:r>
              <a:rPr lang="en-US" sz="3600" i="1" spc="-60" dirty="0">
                <a:cs typeface="Courier New" pitchFamily="49" charset="0"/>
              </a:rPr>
              <a:t>e</a:t>
            </a:r>
            <a:r>
              <a:rPr lang="en-US" sz="3600" i="1" spc="-300" dirty="0">
                <a:cs typeface="Courier New" pitchFamily="49" charset="0"/>
              </a:rPr>
              <a:t>.</a:t>
            </a:r>
            <a:r>
              <a:rPr lang="en-US" sz="3600" spc="-50" dirty="0">
                <a:cs typeface="Courier New" pitchFamily="49" charset="0"/>
              </a:rPr>
              <a:t>,</a:t>
            </a:r>
            <a:r>
              <a:rPr lang="en-US" sz="3200" spc="-50" dirty="0">
                <a:cs typeface="Courier New" pitchFamily="49" charset="0"/>
              </a:rPr>
              <a:t> </a:t>
            </a:r>
            <a:r>
              <a:rPr lang="en-US" sz="3600" spc="-100" dirty="0">
                <a:cs typeface="Courier New" pitchFamily="49" charset="0"/>
              </a:rPr>
              <a:t>h</a:t>
            </a:r>
            <a:r>
              <a:rPr lang="en-US" sz="3600" spc="-80" dirty="0">
                <a:cs typeface="Courier New" pitchFamily="49" charset="0"/>
              </a:rPr>
              <a:t>as n</a:t>
            </a:r>
            <a:r>
              <a:rPr lang="en-US" sz="3600" spc="-50" dirty="0">
                <a:cs typeface="Courier New" pitchFamily="49" charset="0"/>
              </a:rPr>
              <a:t>o 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st</a:t>
            </a:r>
            <a:r>
              <a:rPr lang="en-US" sz="3600" spc="-30" dirty="0">
                <a:solidFill>
                  <a:srgbClr val="002060"/>
                </a:solidFill>
                <a:cs typeface="Courier New" pitchFamily="49" charset="0"/>
              </a:rPr>
              <a:t>e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r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is</a:t>
            </a:r>
            <a:r>
              <a:rPr lang="en-US" sz="3600" spc="-30" dirty="0">
                <a:solidFill>
                  <a:srgbClr val="002060"/>
                </a:solidFill>
                <a:cs typeface="Courier New" pitchFamily="49" charset="0"/>
              </a:rPr>
              <a:t>k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e</a:t>
            </a:r>
            <a:r>
              <a:rPr lang="en-US" sz="3600" spc="-30" dirty="0">
                <a:solidFill>
                  <a:srgbClr val="002060"/>
                </a:solidFill>
                <a:cs typeface="Courier New" pitchFamily="49" charset="0"/>
              </a:rPr>
              <a:t>d-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v</a:t>
            </a:r>
            <a:r>
              <a:rPr lang="en-US" sz="3600" spc="-100" dirty="0">
                <a:solidFill>
                  <a:srgbClr val="002060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ri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abl</a:t>
            </a:r>
            <a:r>
              <a:rPr lang="en-US" sz="3600" spc="-250" dirty="0">
                <a:solidFill>
                  <a:srgbClr val="002060"/>
                </a:solidFill>
                <a:cs typeface="Courier New" pitchFamily="49" charset="0"/>
              </a:rPr>
              <a:t>e</a:t>
            </a:r>
            <a:r>
              <a:rPr lang="en-US" sz="3600" spc="-200" dirty="0">
                <a:cs typeface="Courier New" pitchFamily="49" charset="0"/>
              </a:rPr>
              <a:t>)</a:t>
            </a:r>
            <a:r>
              <a:rPr lang="en-US" sz="3600" dirty="0">
                <a:cs typeface="Courier New" pitchFamily="49" charset="0"/>
              </a:rPr>
              <a:t>?</a:t>
            </a:r>
          </a:p>
          <a:p>
            <a:pPr lvl="1"/>
            <a:r>
              <a:rPr lang="en-US" sz="3200" spc="-30" dirty="0">
                <a:cs typeface="Courier New" pitchFamily="49" charset="0"/>
              </a:rPr>
              <a:t>Then you could do:</a:t>
            </a:r>
            <a:r>
              <a:rPr lang="en-US" sz="2800" spc="-30" dirty="0">
                <a:cs typeface="Courier New" pitchFamily="49" charset="0"/>
              </a:rPr>
              <a:t> </a:t>
            </a:r>
            <a:r>
              <a:rPr lang="en-US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sz="1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f(a,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sz="2800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junk</a:t>
            </a:r>
            <a:r>
              <a:rPr lang="en-US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,PassByName</a:t>
            </a:r>
            <a:r>
              <a:rPr lang="en-US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=7)</a:t>
            </a:r>
          </a:p>
          <a:p>
            <a:pPr lvl="1"/>
            <a:r>
              <a:rPr lang="en-US" sz="3200" spc="-30" dirty="0">
                <a:cs typeface="Courier New" pitchFamily="49" charset="0"/>
              </a:rPr>
              <a:t>But the better way is: </a:t>
            </a:r>
            <a:r>
              <a:rPr lang="en-US" altLang="zh-TW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1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f(a, </a:t>
            </a:r>
            <a:r>
              <a:rPr lang="en-US" altLang="zh-TW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PassByName</a:t>
            </a:r>
            <a:r>
              <a:rPr lang="en-US" altLang="zh-TW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=7)</a:t>
            </a:r>
            <a:endParaRPr lang="en-US" sz="2400" spc="-30" dirty="0"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3527131" y="627967"/>
            <a:ext cx="3134814" cy="4658413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/>
          <p:cNvSpPr/>
          <p:nvPr/>
        </p:nvSpPr>
        <p:spPr>
          <a:xfrm>
            <a:off x="268357" y="2699658"/>
            <a:ext cx="3788500" cy="2281918"/>
          </a:xfrm>
          <a:prstGeom prst="wedgeRoundRectCallout">
            <a:avLst>
              <a:gd name="adj1" fmla="val 52801"/>
              <a:gd name="adj2" fmla="val 84672"/>
              <a:gd name="adj3" fmla="val 16667"/>
            </a:avLst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4000" dirty="0">
                <a:solidFill>
                  <a:srgbClr val="99FF66"/>
                </a:solidFill>
              </a:rPr>
              <a:t>Let’s take a few minutes to explain these two choices…</a:t>
            </a:r>
            <a:endParaRPr lang="zh-TW" altLang="en-US" sz="4000" dirty="0">
              <a:solidFill>
                <a:srgbClr val="99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78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076" y="854811"/>
            <a:ext cx="9220199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Notice that </a:t>
            </a:r>
            <a:r>
              <a:rPr lang="en-US" sz="3600" dirty="0">
                <a:solidFill>
                  <a:srgbClr val="FF0000"/>
                </a:solidFill>
              </a:rPr>
              <a:t>parameters are </a:t>
            </a:r>
            <a:r>
              <a:rPr lang="en-US" sz="3600" u="sng" dirty="0">
                <a:solidFill>
                  <a:srgbClr val="FF0000"/>
                </a:solidFill>
              </a:rPr>
              <a:t>not</a:t>
            </a:r>
            <a:r>
              <a:rPr lang="en-US" sz="3600" dirty="0"/>
              <a:t>, by default, </a:t>
            </a:r>
            <a:r>
              <a:rPr lang="en-US" sz="3600" dirty="0">
                <a:solidFill>
                  <a:srgbClr val="FF0000"/>
                </a:solidFill>
              </a:rPr>
              <a:t>keyword-only</a:t>
            </a:r>
            <a:r>
              <a:rPr lang="en-US" sz="3600" dirty="0"/>
              <a:t>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2400" y="1828800"/>
            <a:ext cx="9577388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="meters"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   print 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s"%unit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"miles"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#No nam</a:t>
            </a:r>
            <a:r>
              <a:rPr lang="en-US" altLang="en-US" sz="3200" spc="-500" dirty="0">
                <a:solidFill>
                  <a:srgbClr val="FF1493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no</a:t>
            </a:r>
            <a:r>
              <a:rPr lang="en-US" altLang="en-US" sz="28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error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miles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for 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2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11041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9536"/>
            <a:ext cx="9200769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Notice</a:t>
            </a:r>
            <a:r>
              <a:rPr lang="en-US" sz="2800" dirty="0"/>
              <a:t> </a:t>
            </a:r>
            <a:r>
              <a:rPr lang="en-US" sz="3600" dirty="0"/>
              <a:t>that</a:t>
            </a:r>
            <a:r>
              <a:rPr lang="en-US" sz="2800" dirty="0"/>
              <a:t> </a:t>
            </a:r>
            <a:r>
              <a:rPr lang="en-US" sz="3600" dirty="0">
                <a:solidFill>
                  <a:srgbClr val="FF0000"/>
                </a:solidFill>
              </a:rPr>
              <a:t>keyword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</a:rPr>
              <a:t>parameters</a:t>
            </a:r>
            <a:r>
              <a:rPr lang="en-US" sz="3600" dirty="0"/>
              <a:t>, if used, </a:t>
            </a:r>
            <a:r>
              <a:rPr lang="en-US" sz="3600" dirty="0">
                <a:solidFill>
                  <a:srgbClr val="FF0000"/>
                </a:solidFill>
              </a:rPr>
              <a:t>must go at the end</a:t>
            </a:r>
            <a:r>
              <a:rPr lang="en-US" sz="3600" dirty="0"/>
              <a:t>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1828800"/>
            <a:ext cx="9574340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="meters"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   print 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s"%unit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"miles"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 Watch this: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milesmiles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 square 3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unit="miles"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,3)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   File "&lt;</a:t>
            </a: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stdin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&gt;", line 1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SyntaxError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positional argument follows keyword argument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for 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2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25815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1828800"/>
            <a:ext cx="9574340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   print 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s"%unit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feetfeet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 square 3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x=2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</a:t>
            </a:r>
            <a:r>
              <a:rPr lang="en-US" altLang="en-US" sz="320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feet</a:t>
            </a:r>
            <a:r>
              <a:rPr lang="en-US" altLang="en-US" sz="3200" spc="-30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3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spc="-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#O</a:t>
            </a:r>
            <a:r>
              <a:rPr lang="en-US" altLang="en-US" sz="3200" spc="-400" dirty="0">
                <a:solidFill>
                  <a:srgbClr val="FF1493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28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3200" spc="-200" dirty="0">
                <a:solidFill>
                  <a:srgbClr val="FF1493"/>
                </a:solidFill>
                <a:latin typeface="Lucida Console" panose="020B0609040504020204" pitchFamily="49" charset="0"/>
              </a:rPr>
              <a:t>hy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?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x=2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unit="feet</a:t>
            </a:r>
            <a:r>
              <a:rPr lang="en-US" altLang="en-US" sz="3200" spc="-300" dirty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3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0" dirty="0">
                <a:solidFill>
                  <a:srgbClr val="00800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 Ba</a:t>
            </a:r>
            <a:r>
              <a:rPr lang="en-US" altLang="en-US" sz="3200" spc="-500" dirty="0">
                <a:solidFill>
                  <a:srgbClr val="FF1493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28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3200" spc="-200" dirty="0">
                <a:solidFill>
                  <a:srgbClr val="FF1493"/>
                </a:solidFill>
                <a:latin typeface="Lucida Console" panose="020B0609040504020204" pitchFamily="49" charset="0"/>
              </a:rPr>
              <a:t>hy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?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  File "&lt;</a:t>
            </a: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stdin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&gt;", line 1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SyntaxError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positional argument follows keyword argument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for 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19456" y="859536"/>
            <a:ext cx="9510332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Notice</a:t>
            </a:r>
            <a:r>
              <a:rPr lang="en-US" sz="2800" dirty="0"/>
              <a:t> </a:t>
            </a:r>
            <a:r>
              <a:rPr lang="en-US" sz="3600" dirty="0"/>
              <a:t>that</a:t>
            </a:r>
            <a:r>
              <a:rPr lang="en-US" sz="2800" dirty="0"/>
              <a:t> </a:t>
            </a:r>
            <a:r>
              <a:rPr lang="en-US" sz="3600" dirty="0"/>
              <a:t>keyword</a:t>
            </a:r>
            <a:r>
              <a:rPr lang="en-US" sz="2800" dirty="0"/>
              <a:t> </a:t>
            </a:r>
            <a:r>
              <a:rPr lang="en-US" sz="3600" dirty="0"/>
              <a:t>parameters go at the end, and </a:t>
            </a:r>
            <a:r>
              <a:rPr lang="en-US" sz="3600" dirty="0">
                <a:solidFill>
                  <a:srgbClr val="FF0000"/>
                </a:solidFill>
              </a:rPr>
              <a:t>they don’t need default values</a:t>
            </a:r>
            <a:r>
              <a:rPr lang="en-US" sz="3600" dirty="0"/>
              <a:t>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2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88386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4811"/>
            <a:ext cx="9961804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/>
              <a:t>Can a</a:t>
            </a:r>
            <a:r>
              <a:rPr lang="en-US" altLang="zh-TW" sz="2800" dirty="0"/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variable-length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argument </a:t>
            </a:r>
            <a:r>
              <a:rPr lang="en-US" altLang="zh-TW" sz="3600" dirty="0"/>
              <a:t>be used to</a:t>
            </a:r>
            <a:r>
              <a:rPr lang="en-US" altLang="zh-TW" sz="3600" dirty="0">
                <a:solidFill>
                  <a:srgbClr val="FF0000"/>
                </a:solidFill>
              </a:rPr>
              <a:t> force</a:t>
            </a:r>
            <a:r>
              <a:rPr lang="en-US" altLang="zh-TW" sz="3600" dirty="0"/>
              <a:t> remaining parameters to be </a:t>
            </a:r>
            <a:r>
              <a:rPr lang="en-US" altLang="zh-TW" sz="3600" dirty="0">
                <a:solidFill>
                  <a:srgbClr val="FF0000"/>
                </a:solidFill>
              </a:rPr>
              <a:t>keyword-only</a:t>
            </a:r>
            <a:r>
              <a:rPr lang="en-US" altLang="zh-TW" sz="3600" dirty="0"/>
              <a:t>?</a:t>
            </a:r>
            <a:endParaRPr lang="en-US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1828800"/>
            <a:ext cx="957434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jun</a:t>
            </a:r>
            <a:r>
              <a:rPr lang="en-US" altLang="en-US" sz="3200" spc="-2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3200" spc="-2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spc="-20" dirty="0">
                <a:solidFill>
                  <a:srgbClr val="7B430B"/>
                </a:solidFill>
                <a:latin typeface="Lucida Console" panose="020B0609040504020204" pitchFamily="49" charset="0"/>
              </a:rPr>
              <a:t>="meter</a:t>
            </a:r>
            <a:r>
              <a:rPr lang="en-US" altLang="en-US" sz="3200" spc="-200" dirty="0">
                <a:solidFill>
                  <a:srgbClr val="7B430B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100" dirty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5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>
                <a:solidFill>
                  <a:srgbClr val="F98700"/>
                </a:solidFill>
                <a:latin typeface="Lucida Console" panose="020B0609040504020204" pitchFamily="49" charset="0"/>
              </a:rPr>
              <a:t>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   print 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s"%unit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"miles"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3200" dirty="0" err="1">
                <a:solidFill>
                  <a:srgbClr val="FF1493"/>
                </a:solidFill>
                <a:latin typeface="Lucida Console" panose="020B0609040504020204" pitchFamily="49" charset="0"/>
              </a:rPr>
              <a:t>Q:Why</a:t>
            </a:r>
            <a:r>
              <a:rPr lang="en-US" altLang="en-US" sz="24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get</a:t>
            </a:r>
            <a:r>
              <a:rPr lang="en-US" altLang="en-US" sz="24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this</a:t>
            </a:r>
            <a:r>
              <a:rPr lang="en-US" altLang="en-US" sz="3200" spc="-500" dirty="0">
                <a:solidFill>
                  <a:srgbClr val="FF1493"/>
                </a:solidFill>
                <a:latin typeface="Lucida Console" panose="020B0609040504020204" pitchFamily="49" charset="0"/>
              </a:rPr>
              <a:t>?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#A: Because ("miles</a:t>
            </a:r>
            <a:r>
              <a:rPr lang="en-US" altLang="en-US" sz="3200" spc="-300" dirty="0">
                <a:solidFill>
                  <a:srgbClr val="FF1493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2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2800" dirty="0">
                <a:solidFill>
                  <a:srgbClr val="FF1493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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junk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latin typeface="Lucida Console" panose="020B0609040504020204" pitchFamily="49" charset="0"/>
              </a:rPr>
              <a:t>#So nothing but keywords can go</a:t>
            </a:r>
            <a:endParaRPr lang="en-US" altLang="en-US" sz="3200" spc="-150" dirty="0"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latin typeface="Lucida Console" panose="020B0609040504020204" pitchFamily="49" charset="0"/>
              </a:rPr>
              <a:t>#after a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z="3200" spc="-200" dirty="0">
                <a:latin typeface="Lucida Console" panose="020B0609040504020204" pitchFamily="49" charset="0"/>
              </a:rPr>
              <a:t>v</a:t>
            </a:r>
            <a:r>
              <a:rPr lang="en-US" altLang="en-US" sz="3200" spc="-100" dirty="0">
                <a:latin typeface="Lucida Console" panose="020B0609040504020204" pitchFamily="49" charset="0"/>
              </a:rPr>
              <a:t>aria</a:t>
            </a:r>
            <a:r>
              <a:rPr lang="en-US" altLang="en-US" sz="3200" spc="-300" dirty="0">
                <a:latin typeface="Lucida Console" panose="020B0609040504020204" pitchFamily="49" charset="0"/>
              </a:rPr>
              <a:t>bl</a:t>
            </a:r>
            <a:r>
              <a:rPr lang="en-US" altLang="en-US" sz="3200" spc="-100" dirty="0">
                <a:latin typeface="Lucida Console" panose="020B0609040504020204" pitchFamily="49" charset="0"/>
              </a:rPr>
              <a:t>e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 </a:t>
            </a:r>
            <a:r>
              <a:rPr lang="en-US" altLang="en-US" sz="3200" spc="-300" dirty="0">
                <a:latin typeface="Lucida Console" panose="020B0609040504020204" pitchFamily="49" charset="0"/>
              </a:rPr>
              <a:t>l</a:t>
            </a:r>
            <a:r>
              <a:rPr lang="en-US" altLang="en-US" sz="3200" spc="-100" dirty="0">
                <a:latin typeface="Lucida Console" panose="020B0609040504020204" pitchFamily="49" charset="0"/>
              </a:rPr>
              <a:t>ength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latin typeface="Lucida Console" panose="020B0609040504020204" pitchFamily="49" charset="0"/>
              </a:rPr>
              <a:t>arguments.</a:t>
            </a:r>
            <a:endParaRPr lang="en-US" altLang="en-US" sz="3200" dirty="0">
              <a:latin typeface="Lucida Console" panose="020B060904050402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for 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2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87717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4811"/>
            <a:ext cx="9510332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/>
              <a:t>The</a:t>
            </a:r>
            <a:r>
              <a:rPr lang="en-US" altLang="zh-TW" sz="2400" dirty="0"/>
              <a:t> </a:t>
            </a:r>
            <a:r>
              <a:rPr lang="en-US" altLang="zh-TW" sz="3600" dirty="0"/>
              <a:t>following</a:t>
            </a:r>
            <a:r>
              <a:rPr lang="en-US" altLang="zh-TW" sz="2400" dirty="0"/>
              <a:t> </a:t>
            </a:r>
            <a:r>
              <a:rPr lang="en-US" altLang="zh-TW" sz="3600" dirty="0"/>
              <a:t>shows</a:t>
            </a:r>
            <a:r>
              <a:rPr lang="en-US" altLang="zh-TW" sz="2400" dirty="0"/>
              <a:t> </a:t>
            </a:r>
            <a:r>
              <a:rPr lang="en-US" altLang="zh-TW" sz="3600" dirty="0"/>
              <a:t>how</a:t>
            </a:r>
            <a:r>
              <a:rPr lang="en-US" altLang="zh-TW" sz="2400" dirty="0"/>
              <a:t> </a:t>
            </a:r>
            <a:r>
              <a:rPr lang="en-US" altLang="zh-TW" sz="3600" dirty="0"/>
              <a:t>using</a:t>
            </a:r>
            <a:r>
              <a:rPr lang="en-US" altLang="zh-TW" sz="2400" dirty="0"/>
              <a:t> </a:t>
            </a:r>
            <a:r>
              <a:rPr lang="en-US" altLang="zh-TW" sz="3600" dirty="0"/>
              <a:t>an</a:t>
            </a:r>
            <a:r>
              <a:rPr lang="en-US" altLang="zh-TW" sz="2400" dirty="0"/>
              <a:t> </a:t>
            </a:r>
            <a:r>
              <a:rPr lang="en-US" altLang="zh-TW" sz="3600" dirty="0"/>
              <a:t>unnecessary variable-length argument has the side effect of </a:t>
            </a:r>
            <a:r>
              <a:rPr lang="en-US" altLang="zh-TW" sz="3600" dirty="0">
                <a:solidFill>
                  <a:srgbClr val="FF0000"/>
                </a:solidFill>
              </a:rPr>
              <a:t>preventing detection</a:t>
            </a:r>
            <a:r>
              <a:rPr lang="en-US" altLang="zh-TW" sz="3600" dirty="0"/>
              <a:t> of a </a:t>
            </a:r>
            <a:r>
              <a:rPr lang="en-US" altLang="zh-TW" sz="3600" dirty="0">
                <a:solidFill>
                  <a:srgbClr val="FF0000"/>
                </a:solidFill>
              </a:rPr>
              <a:t>bad call</a:t>
            </a:r>
            <a:r>
              <a:rPr lang="en-US" altLang="zh-TW" sz="3600" dirty="0"/>
              <a:t>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2220691"/>
            <a:ext cx="10145626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jun</a:t>
            </a:r>
            <a:r>
              <a:rPr lang="en-US" altLang="en-US" sz="3200" spc="-2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3200" spc="-2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spc="-20" dirty="0">
                <a:solidFill>
                  <a:srgbClr val="7B430B"/>
                </a:solidFill>
                <a:latin typeface="Lucida Console" panose="020B0609040504020204" pitchFamily="49" charset="0"/>
              </a:rPr>
              <a:t>="meter</a:t>
            </a:r>
            <a:r>
              <a:rPr lang="en-US" altLang="en-US" sz="3200" spc="-200" dirty="0">
                <a:solidFill>
                  <a:srgbClr val="7B430B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100" dirty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5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>
                <a:solidFill>
                  <a:srgbClr val="F98700"/>
                </a:solidFill>
                <a:latin typeface="Lucida Console" panose="020B0609040504020204" pitchFamily="49" charset="0"/>
              </a:rPr>
              <a:t>: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   print 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s"%unit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50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</a:t>
            </a:r>
            <a:r>
              <a:rPr lang="en-US" altLang="en-US" sz="3200" dirty="0">
                <a:solidFill>
                  <a:srgbClr val="894D0B"/>
                </a:solidFill>
                <a:latin typeface="Lucida Console" panose="020B0609040504020204" pitchFamily="49" charset="0"/>
              </a:rPr>
              <a:t>feet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unit="km"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#Bad call: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km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 But no error. (4,5)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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 junk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for 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864032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2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65342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4811"/>
            <a:ext cx="9510332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/>
              <a:t>The</a:t>
            </a:r>
            <a:r>
              <a:rPr lang="en-US" altLang="zh-TW" sz="2400" dirty="0"/>
              <a:t> </a:t>
            </a:r>
            <a:r>
              <a:rPr lang="en-US" altLang="zh-TW" sz="3600" dirty="0"/>
              <a:t>following</a:t>
            </a:r>
            <a:r>
              <a:rPr lang="en-US" altLang="zh-TW" sz="2400" dirty="0"/>
              <a:t> </a:t>
            </a:r>
            <a:r>
              <a:rPr lang="en-US" altLang="zh-TW" sz="3600" dirty="0"/>
              <a:t>shows</a:t>
            </a:r>
            <a:r>
              <a:rPr lang="en-US" altLang="zh-TW" sz="2400" dirty="0"/>
              <a:t> </a:t>
            </a:r>
            <a:r>
              <a:rPr lang="en-US" altLang="zh-TW" sz="3600" dirty="0"/>
              <a:t>how</a:t>
            </a:r>
            <a:r>
              <a:rPr lang="en-US" altLang="zh-TW" sz="2400" dirty="0"/>
              <a:t> </a:t>
            </a:r>
            <a:r>
              <a:rPr lang="en-US" altLang="zh-TW" sz="3600" dirty="0"/>
              <a:t>a plain * is able to create keyword-only parameters, without sacrificing detection of bad call statements: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2220691"/>
            <a:ext cx="10145626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spc="-20" dirty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" dirty="0">
                <a:solidFill>
                  <a:srgbClr val="7B430B"/>
                </a:solidFill>
                <a:latin typeface="Lucida Console" panose="020B0609040504020204" pitchFamily="49" charset="0"/>
              </a:rPr>
              <a:t>unit="meter</a:t>
            </a:r>
            <a:r>
              <a:rPr lang="en-US" altLang="en-US" sz="3200" spc="-200" dirty="0">
                <a:solidFill>
                  <a:srgbClr val="7B430B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100" dirty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5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>
                <a:solidFill>
                  <a:srgbClr val="F98700"/>
                </a:solidFill>
                <a:latin typeface="Lucida Console" panose="020B0609040504020204" pitchFamily="49" charset="0"/>
              </a:rPr>
              <a:t>: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   print 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s"%unit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50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TW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TypeError</a:t>
            </a:r>
            <a:r>
              <a:rPr lang="en-US" altLang="zh-TW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area() takes 2 positional arguments but 3 were given</a:t>
            </a:r>
          </a:p>
          <a:p>
            <a:pPr marL="95250" indent="0">
              <a:spcBef>
                <a:spcPts val="60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unit="km"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TypeError</a:t>
            </a:r>
            <a:r>
              <a:rPr lang="en-US" altLang="zh-TW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area() takes 2 positional arguments but 4 positional arguments (and 1 keyword-only argument) were given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for 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864032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GB" altLang="en-US" sz="12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69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88234" y="1351724"/>
            <a:ext cx="9650465" cy="559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So, the </a:t>
            </a:r>
            <a:r>
              <a:rPr lang="en-US" altLang="zh-TW" sz="4300" i="1" dirty="0">
                <a:solidFill>
                  <a:srgbClr val="0000FF"/>
                </a:solidFill>
              </a:rPr>
              <a:t>asterisked-variable</a:t>
            </a:r>
            <a:r>
              <a:rPr lang="en-US" altLang="zh-TW" sz="4300" dirty="0"/>
              <a:t> goes at end.</a:t>
            </a:r>
          </a:p>
          <a:p>
            <a:pPr marL="517525" indent="-517525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Q:But, wait a minute. Didn’t we say that </a:t>
            </a:r>
            <a:r>
              <a:rPr lang="en-US" altLang="zh-TW" sz="4300" i="1" dirty="0">
                <a:solidFill>
                  <a:srgbClr val="0000FF"/>
                </a:solidFill>
              </a:rPr>
              <a:t>default arguments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008000"/>
                </a:solidFill>
              </a:rPr>
              <a:t>also go at the end?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>
                <a:solidFill>
                  <a:srgbClr val="FF0000"/>
                </a:solidFill>
              </a:rPr>
              <a:t>A:Well, Let’s recall what we had said…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Let’s recall what we had said…</a:t>
            </a:r>
          </a:p>
        </p:txBody>
      </p:sp>
    </p:spTree>
    <p:extLst>
      <p:ext uri="{BB962C8B-B14F-4D97-AF65-F5344CB8AC3E}">
        <p14:creationId xmlns:p14="http://schemas.microsoft.com/office/powerpoint/2010/main" val="214360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655978"/>
            <a:ext cx="9079992" cy="6202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cat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( name="Sally", age):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  print ("Name: ", name, ", Age: ", age)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python3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CCCC"/>
                </a:solidFill>
                <a:latin typeface="Consolas" panose="020B0609020204030204" pitchFamily="49" charset="0"/>
                <a:cs typeface="Courier New" pitchFamily="49" charset="0"/>
              </a:rPr>
              <a:t>File “broken.py", line 1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non-default argument follows default argument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  <p:grpSp>
        <p:nvGrpSpPr>
          <p:cNvPr id="8" name="Group 7"/>
          <p:cNvGrpSpPr/>
          <p:nvPr/>
        </p:nvGrpSpPr>
        <p:grpSpPr>
          <a:xfrm flipH="1">
            <a:off x="7344071" y="434793"/>
            <a:ext cx="3125129" cy="784901"/>
            <a:chOff x="-734800" y="434792"/>
            <a:chExt cx="3125129" cy="784901"/>
          </a:xfrm>
        </p:grpSpPr>
        <p:sp>
          <p:nvSpPr>
            <p:cNvPr id="11" name="Trapezoid 10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#16,</a:t>
              </a:r>
              <a:b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Reproduced</a:t>
              </a:r>
            </a:p>
          </p:txBody>
        </p:sp>
      </p:grpSp>
      <p:sp>
        <p:nvSpPr>
          <p:cNvPr id="15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Let’s recall what we had said…</a:t>
            </a:r>
          </a:p>
        </p:txBody>
      </p:sp>
    </p:spTree>
    <p:extLst>
      <p:ext uri="{BB962C8B-B14F-4D97-AF65-F5344CB8AC3E}">
        <p14:creationId xmlns:p14="http://schemas.microsoft.com/office/powerpoint/2010/main" val="122063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655978"/>
            <a:ext cx="9079992" cy="6202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cat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name="Sally"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 ("Name: ", name, ", Age: ", age)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CCCC"/>
                </a:solidFill>
                <a:latin typeface="Consolas" panose="020B0609020204030204" pitchFamily="49" charset="0"/>
                <a:cs typeface="Courier New" pitchFamily="49" charset="0"/>
              </a:rPr>
              <a:t>File “broken.py", line 1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non-default argument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follows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 default argument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  <p:grpSp>
        <p:nvGrpSpPr>
          <p:cNvPr id="8" name="Group 7"/>
          <p:cNvGrpSpPr/>
          <p:nvPr/>
        </p:nvGrpSpPr>
        <p:grpSpPr>
          <a:xfrm flipH="1">
            <a:off x="7344071" y="434793"/>
            <a:ext cx="3125129" cy="784901"/>
            <a:chOff x="-734800" y="434792"/>
            <a:chExt cx="3125129" cy="784901"/>
          </a:xfrm>
        </p:grpSpPr>
        <p:sp>
          <p:nvSpPr>
            <p:cNvPr id="11" name="Trapezoid 10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#16,</a:t>
              </a:r>
              <a:b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Reproduced</a:t>
              </a:r>
            </a:p>
          </p:txBody>
        </p:sp>
      </p:grpSp>
      <p:sp>
        <p:nvSpPr>
          <p:cNvPr id="15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Let’s recall what we had said…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27942" y="1151404"/>
            <a:ext cx="5170528" cy="2031248"/>
          </a:xfrm>
          <a:prstGeom prst="wedgeRoundRectCallout">
            <a:avLst>
              <a:gd name="adj1" fmla="val -22194"/>
              <a:gd name="adj2" fmla="val 197540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4000" dirty="0"/>
              <a:t>So yes: we had said that default arguments must go last.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199855" y="4867229"/>
            <a:ext cx="1543050" cy="1206408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240481" y="4887108"/>
            <a:ext cx="2038350" cy="1625508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75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88234" y="1351724"/>
            <a:ext cx="9650465" cy="559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/>
              <a:t>So, the </a:t>
            </a:r>
            <a:r>
              <a:rPr lang="en-US" altLang="zh-TW" sz="4300" i="1" dirty="0">
                <a:solidFill>
                  <a:srgbClr val="0000FF"/>
                </a:solidFill>
              </a:rPr>
              <a:t>asterisked-variable</a:t>
            </a:r>
            <a:r>
              <a:rPr lang="en-US" altLang="zh-TW" sz="4300" dirty="0"/>
              <a:t> goes at end.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Q:But, wait a minute. Didn’t we say that </a:t>
            </a:r>
            <a:r>
              <a:rPr lang="en-US" altLang="zh-TW" sz="4300" i="1" dirty="0">
                <a:solidFill>
                  <a:srgbClr val="0000FF"/>
                </a:solidFill>
              </a:rPr>
              <a:t>default arguments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008000"/>
                </a:solidFill>
              </a:rPr>
              <a:t>also go at the end?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FF0000"/>
                </a:solidFill>
              </a:rPr>
              <a:t>A:Well, Let’s recall what we had said…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chemeClr val="bg1"/>
                </a:solidFill>
              </a:rPr>
              <a:t>Q:Well, they can’t </a:t>
            </a:r>
            <a:r>
              <a:rPr lang="en-US" altLang="zh-TW" sz="4300" i="1" dirty="0">
                <a:solidFill>
                  <a:schemeClr val="bg1"/>
                </a:solidFill>
              </a:rPr>
              <a:t>both</a:t>
            </a:r>
            <a:r>
              <a:rPr lang="en-US" altLang="zh-TW" sz="4300" dirty="0">
                <a:solidFill>
                  <a:schemeClr val="bg1"/>
                </a:solidFill>
              </a:rPr>
              <a:t> go at the end. What if I want both types of arguments?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chemeClr val="bg1"/>
                </a:solidFill>
              </a:rPr>
              <a:t>A:Then the defaults go at the end, and can </a:t>
            </a:r>
            <a:r>
              <a:rPr lang="en-US" altLang="zh-TW" sz="4300" i="1" dirty="0">
                <a:solidFill>
                  <a:schemeClr val="bg1"/>
                </a:solidFill>
              </a:rPr>
              <a:t>only</a:t>
            </a:r>
            <a:r>
              <a:rPr lang="en-US" altLang="zh-TW" sz="4300" dirty="0">
                <a:solidFill>
                  <a:schemeClr val="bg1"/>
                </a:solidFill>
              </a:rPr>
              <a:t> be changed from their defaults by name.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Let’s recall what we had said…</a:t>
            </a:r>
          </a:p>
        </p:txBody>
      </p:sp>
    </p:spTree>
    <p:extLst>
      <p:ext uri="{BB962C8B-B14F-4D97-AF65-F5344CB8AC3E}">
        <p14:creationId xmlns:p14="http://schemas.microsoft.com/office/powerpoint/2010/main" val="244153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88235" y="1351724"/>
            <a:ext cx="9441554" cy="559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/>
              <a:t>So, the </a:t>
            </a:r>
            <a:r>
              <a:rPr lang="en-US" altLang="zh-TW" sz="4300" i="1" dirty="0">
                <a:solidFill>
                  <a:srgbClr val="0000FF"/>
                </a:solidFill>
              </a:rPr>
              <a:t>asterisked-variable</a:t>
            </a:r>
            <a:r>
              <a:rPr lang="en-US" altLang="zh-TW" sz="4300" dirty="0"/>
              <a:t> goes at end.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Q:But, wait a minute. Didn’t we say that </a:t>
            </a:r>
            <a:r>
              <a:rPr lang="en-US" altLang="zh-TW" sz="4300" i="1" dirty="0">
                <a:solidFill>
                  <a:srgbClr val="0000FF"/>
                </a:solidFill>
              </a:rPr>
              <a:t>default arguments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008000"/>
                </a:solidFill>
              </a:rPr>
              <a:t>also go at the end?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FF0000"/>
                </a:solidFill>
              </a:rPr>
              <a:t>A:Now I remember. Yes, we did say that.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Q:Well, they can’t </a:t>
            </a:r>
            <a:r>
              <a:rPr lang="en-US" altLang="zh-TW" sz="4300" i="1" dirty="0">
                <a:solidFill>
                  <a:srgbClr val="008000"/>
                </a:solidFill>
              </a:rPr>
              <a:t>both</a:t>
            </a:r>
            <a:r>
              <a:rPr lang="en-US" altLang="zh-TW" sz="4300" dirty="0">
                <a:solidFill>
                  <a:srgbClr val="008000"/>
                </a:solidFill>
              </a:rPr>
              <a:t> go at the end. </a:t>
            </a:r>
            <a:r>
              <a:rPr lang="en-US" altLang="zh-TW" sz="4300" spc="-90" dirty="0">
                <a:solidFill>
                  <a:srgbClr val="008000"/>
                </a:solidFill>
              </a:rPr>
              <a:t>What if I want both types of arguments</a:t>
            </a:r>
            <a:r>
              <a:rPr lang="en-US" altLang="zh-TW" sz="4300" dirty="0">
                <a:solidFill>
                  <a:srgbClr val="008000"/>
                </a:solidFill>
              </a:rPr>
              <a:t>?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FF0000"/>
                </a:solidFill>
              </a:rPr>
              <a:t>A:Then the defaults go at end, so their</a:t>
            </a:r>
            <a:br>
              <a:rPr lang="en-US" altLang="zh-TW" sz="4300" dirty="0">
                <a:solidFill>
                  <a:srgbClr val="FF0000"/>
                </a:solidFill>
              </a:rPr>
            </a:br>
            <a:r>
              <a:rPr lang="en-US" altLang="zh-TW" sz="4300" dirty="0">
                <a:solidFill>
                  <a:srgbClr val="FF0000"/>
                </a:solidFill>
              </a:rPr>
              <a:t>values can </a:t>
            </a:r>
            <a:r>
              <a:rPr lang="en-US" altLang="zh-TW" sz="4300" i="1" dirty="0">
                <a:solidFill>
                  <a:srgbClr val="FF0000"/>
                </a:solidFill>
              </a:rPr>
              <a:t>only</a:t>
            </a:r>
            <a:r>
              <a:rPr lang="en-US" altLang="zh-TW" sz="4300" dirty="0">
                <a:solidFill>
                  <a:srgbClr val="FF0000"/>
                </a:solidFill>
              </a:rPr>
              <a:t> be changed by name.</a:t>
            </a:r>
            <a:endParaRPr lang="en-US" altLang="zh-TW" sz="4300" dirty="0">
              <a:solidFill>
                <a:schemeClr val="bg1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Asterisked Variable Goes at 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r</a:t>
            </a:r>
            <a:r>
              <a:rPr lang="en-US" altLang="zh-TW" sz="3800" spc="-15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>
                <a:solidFill>
                  <a:srgbClr val="FF0000"/>
                </a:solidFill>
              </a:rPr>
              <a:t>m</a:t>
            </a:r>
            <a:r>
              <a:rPr lang="en-US" altLang="zh-TW" sz="3800" spc="-100" dirty="0">
                <a:solidFill>
                  <a:srgbClr val="FF0000"/>
                </a:solidFill>
              </a:rPr>
              <a:t>et</a:t>
            </a:r>
            <a:r>
              <a:rPr lang="en-US" altLang="zh-TW" sz="3800" spc="-140" dirty="0">
                <a:solidFill>
                  <a:srgbClr val="FF0000"/>
                </a:solidFill>
              </a:rPr>
              <a:t>e</a:t>
            </a:r>
            <a:r>
              <a:rPr lang="en-US" altLang="zh-TW" sz="3800" spc="-100" dirty="0">
                <a:solidFill>
                  <a:srgbClr val="FF0000"/>
                </a:solidFill>
              </a:rPr>
              <a:t>rs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7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has</a:t>
            </a:r>
            <a:r>
              <a:rPr lang="en-US" altLang="zh-TW" sz="4800" dirty="0"/>
              <a:t> </a:t>
            </a:r>
            <a:r>
              <a:rPr lang="en-US" altLang="zh-TW" sz="5400" dirty="0"/>
              <a:t>2</a:t>
            </a:r>
            <a:r>
              <a:rPr lang="en-US" altLang="zh-TW" sz="4800" dirty="0"/>
              <a:t> </a:t>
            </a:r>
            <a:r>
              <a:rPr lang="en-US" altLang="zh-TW" sz="5400" dirty="0"/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/>
              <a:t>:	By default, this is a space.</a:t>
            </a:r>
          </a:p>
        </p:txBody>
      </p:sp>
    </p:spTree>
    <p:extLst>
      <p:ext uri="{BB962C8B-B14F-4D97-AF65-F5344CB8AC3E}">
        <p14:creationId xmlns:p14="http://schemas.microsoft.com/office/powerpoint/2010/main" val="9883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has</a:t>
            </a:r>
            <a:r>
              <a:rPr lang="en-US" altLang="zh-TW" sz="4800" dirty="0"/>
              <a:t> </a:t>
            </a:r>
            <a:r>
              <a:rPr lang="en-US" altLang="zh-TW" sz="5400" dirty="0"/>
              <a:t>2</a:t>
            </a:r>
            <a:r>
              <a:rPr lang="en-US" altLang="zh-TW" sz="4800" dirty="0"/>
              <a:t> </a:t>
            </a:r>
            <a:r>
              <a:rPr lang="en-US" altLang="zh-TW" sz="5400" dirty="0"/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BFBFB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rgbClr val="BFBFBF"/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</a:rPr>
              <a:t>(</a:t>
            </a:r>
            <a:r>
              <a:rPr lang="en-US" altLang="zh-TW" sz="3600" dirty="0">
                <a:solidFill>
                  <a:srgbClr val="008000"/>
                </a:solidFill>
                <a:latin typeface="Lucida Console" panose="020B0609040504020204" pitchFamily="49" charset="0"/>
              </a:rPr>
              <a:t>'a='</a:t>
            </a:r>
            <a:r>
              <a:rPr lang="en-US" altLang="zh-TW" sz="3600" dirty="0">
                <a:latin typeface="Lucida Console" panose="020B0609040504020204" pitchFamily="49" charset="0"/>
              </a:rPr>
              <a:t>,</a:t>
            </a:r>
            <a:r>
              <a:rPr lang="zh-TW" altLang="zh-TW" sz="3600" dirty="0">
                <a:solidFill>
                  <a:srgbClr val="0000FF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solidFill>
                  <a:srgbClr val="FF0000"/>
                </a:solidFill>
                <a:latin typeface="Lucida Console" panose="020B0609040504020204" pitchFamily="49" charset="0"/>
              </a:rPr>
              <a:t>'.'</a:t>
            </a:r>
            <a:r>
              <a:rPr lang="en-US" altLang="zh-TW" sz="360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rgbClr val="008000"/>
                </a:solidFill>
                <a:latin typeface="Lucida Console" panose="020B0609040504020204" pitchFamily="49" charset="0"/>
              </a:rPr>
              <a:t>a=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rgbClr val="0000FF"/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307276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BFBFB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rgbClr val="BFBFBF"/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print('a=',</a:t>
            </a:r>
            <a:r>
              <a:rPr lang="zh-TW" altLang="zh-TW" sz="3600" dirty="0"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latin typeface="Lucida Console" panose="020B0609040504020204" pitchFamily="49" charset="0"/>
              </a:rPr>
              <a:t>,'.')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8482" y="5222585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44406014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print('a=',</a:t>
            </a:r>
            <a:r>
              <a:rPr lang="zh-TW" altLang="zh-TW" sz="3600" dirty="0"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latin typeface="Lucida Console" panose="020B0609040504020204" pitchFamily="49" charset="0"/>
              </a:rPr>
              <a:t>,'.')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/>
                </a:solidFill>
                <a:latin typeface="Lucida Console" panose="020B0609040504020204" pitchFamily="49" charset="0"/>
              </a:rPr>
              <a:t>...	</a:t>
            </a:r>
            <a:r>
              <a:rPr lang="en-US" altLang="zh-TW" sz="3600" dirty="0">
                <a:latin typeface="Lucida Console" panose="020B0609040504020204" pitchFamily="49" charset="0"/>
              </a:rPr>
              <a:t>   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latin typeface="Lucida Console" panose="020B0609040504020204" pitchFamily="49" charset="0"/>
              </a:rPr>
              <a:t>, </a:t>
            </a:r>
            <a:r>
              <a:rPr lang="en-US" altLang="zh-TW" sz="36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= ", "</a:t>
            </a:r>
            <a:r>
              <a:rPr lang="en-US" altLang="zh-TW" sz="3600" dirty="0">
                <a:latin typeface="Lucida Console" panose="020B0609040504020204" pitchFamily="49" charset="0"/>
              </a:rPr>
              <a:t>)</a:t>
            </a:r>
            <a:endParaRPr lang="zh-TW" altLang="zh-TW" sz="3600" dirty="0"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482" y="5222585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5316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chemeClr val="bg1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chemeClr val="bg1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chemeClr val="bg1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3600" dirty="0">
                <a:latin typeface="Lucida Console" panose="020B0609040504020204" pitchFamily="49" charset="0"/>
              </a:rPr>
              <a:t>'a='</a:t>
            </a:r>
            <a:r>
              <a:rPr lang="en-US" altLang="zh-TW" sz="3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zh-TW" altLang="zh-TW" sz="3600" dirty="0"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'.'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   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latin typeface="Lucida Console" panose="020B0609040504020204" pitchFamily="49" charset="0"/>
              </a:rPr>
              <a:t> = ", "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zh-TW" altLang="zh-TW" sz="3600" b="1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5179979" y="2504660"/>
            <a:ext cx="2105403" cy="828259"/>
          </a:xfrm>
          <a:prstGeom prst="wedgeRoundRectCallout">
            <a:avLst>
              <a:gd name="adj1" fmla="val -68350"/>
              <a:gd name="adj2" fmla="val 1266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TW" sz="4400" dirty="0">
                <a:solidFill>
                  <a:schemeClr val="tx1"/>
                </a:solidFill>
              </a:rPr>
              <a:t>3 here.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158408" y="0"/>
            <a:ext cx="4274828" cy="2514600"/>
          </a:xfrm>
          <a:prstGeom prst="wedgeRoundRectCallout">
            <a:avLst>
              <a:gd name="adj1" fmla="val -24270"/>
              <a:gd name="adj2" fmla="val 4979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altLang="zh-TW" sz="4400" dirty="0">
                <a:solidFill>
                  <a:schemeClr val="tx1"/>
                </a:solidFill>
              </a:rPr>
              <a:t>See? </a:t>
            </a:r>
            <a:r>
              <a:rPr lang="en-US" altLang="zh-TW" sz="4400" b="1" dirty="0">
                <a:solidFill>
                  <a:srgbClr val="FFC000"/>
                </a:solidFill>
              </a:rPr>
              <a:t>print() </a:t>
            </a:r>
            <a:r>
              <a:rPr lang="en-US" altLang="zh-TW" sz="4400" dirty="0">
                <a:solidFill>
                  <a:schemeClr val="tx1"/>
                </a:solidFill>
              </a:rPr>
              <a:t>can </a:t>
            </a:r>
            <a:br>
              <a:rPr lang="en-US" altLang="zh-TW" sz="4400" dirty="0">
                <a:solidFill>
                  <a:schemeClr val="tx1"/>
                </a:solidFill>
              </a:rPr>
            </a:br>
            <a:r>
              <a:rPr lang="en-US" altLang="zh-TW" sz="4400" dirty="0">
                <a:solidFill>
                  <a:schemeClr val="tx1"/>
                </a:solidFill>
              </a:rPr>
              <a:t>take a variable number of arguments.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7340085" y="2527851"/>
            <a:ext cx="2105403" cy="828259"/>
          </a:xfrm>
          <a:prstGeom prst="wedgeRoundRectCallout">
            <a:avLst>
              <a:gd name="adj1" fmla="val -108962"/>
              <a:gd name="adj2" fmla="val 2946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TW" sz="4400" dirty="0">
                <a:solidFill>
                  <a:schemeClr val="tx1"/>
                </a:solidFill>
              </a:rPr>
              <a:t>2 here.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790804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'a=',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,'.'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   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=</a:t>
            </a:r>
            <a:r>
              <a:rPr lang="en-US" altLang="zh-TW" sz="3600" dirty="0">
                <a:latin typeface="Lucida Console" panose="020B0609040504020204" pitchFamily="49" charset="0"/>
              </a:rPr>
              <a:t> ", "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zh-TW" altLang="zh-TW" sz="3600" b="1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865688" y="2472385"/>
            <a:ext cx="4564683" cy="2925487"/>
            <a:chOff x="4865688" y="2472385"/>
            <a:chExt cx="4564683" cy="2925487"/>
          </a:xfrm>
        </p:grpSpPr>
        <p:sp>
          <p:nvSpPr>
            <p:cNvPr id="14" name="Isosceles Triangle 13"/>
            <p:cNvSpPr/>
            <p:nvPr/>
          </p:nvSpPr>
          <p:spPr>
            <a:xfrm rot="12523596">
              <a:off x="6037192" y="3117671"/>
              <a:ext cx="573136" cy="2280201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5" name="Rounded Rectangular Callout 14"/>
            <p:cNvSpPr/>
            <p:nvPr/>
          </p:nvSpPr>
          <p:spPr>
            <a:xfrm>
              <a:off x="4865688" y="2472385"/>
              <a:ext cx="4564683" cy="1332700"/>
            </a:xfrm>
            <a:prstGeom prst="wedgeRoundRectCallout">
              <a:avLst>
                <a:gd name="adj1" fmla="val -122737"/>
                <a:gd name="adj2" fmla="val -6100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See? One of its default arguments is “end”.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  <p:sp>
          <p:nvSpPr>
            <p:cNvPr id="16" name="Isosceles Triangle 15"/>
            <p:cNvSpPr/>
            <p:nvPr/>
          </p:nvSpPr>
          <p:spPr>
            <a:xfrm flipV="1">
              <a:off x="6451742" y="3698174"/>
              <a:ext cx="551399" cy="503516"/>
            </a:xfrm>
            <a:prstGeom prst="triangle">
              <a:avLst>
                <a:gd name="adj" fmla="val 0"/>
              </a:avLst>
            </a:prstGeom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3923768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'a=',</a:t>
            </a:r>
            <a:r>
              <a:rPr lang="zh-TW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,'.'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   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=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", "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</a:t>
            </a:r>
            <a:endParaRPr lang="zh-TW" altLang="zh-TW" sz="3600" b="1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865688" y="2472385"/>
            <a:ext cx="4564683" cy="2925487"/>
            <a:chOff x="4865688" y="2472385"/>
            <a:chExt cx="4564683" cy="2925487"/>
          </a:xfrm>
        </p:grpSpPr>
        <p:sp>
          <p:nvSpPr>
            <p:cNvPr id="9" name="Isosceles Triangle 8"/>
            <p:cNvSpPr/>
            <p:nvPr/>
          </p:nvSpPr>
          <p:spPr>
            <a:xfrm rot="12523596">
              <a:off x="6037192" y="3117671"/>
              <a:ext cx="573136" cy="2280201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4865688" y="2472385"/>
              <a:ext cx="4564683" cy="1332700"/>
            </a:xfrm>
            <a:prstGeom prst="wedgeRoundRectCallout">
              <a:avLst>
                <a:gd name="adj1" fmla="val -122737"/>
                <a:gd name="adj2" fmla="val -6100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See? One of its default arguments is “end”.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  <p:sp>
          <p:nvSpPr>
            <p:cNvPr id="13" name="Isosceles Triangle 12"/>
            <p:cNvSpPr/>
            <p:nvPr/>
          </p:nvSpPr>
          <p:spPr>
            <a:xfrm flipV="1">
              <a:off x="6451742" y="3698174"/>
              <a:ext cx="551399" cy="503516"/>
            </a:xfrm>
            <a:prstGeom prst="triangle">
              <a:avLst>
                <a:gd name="adj" fmla="val 0"/>
              </a:avLst>
            </a:prstGeom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ounded Rectangular Callout 14"/>
          <p:cNvSpPr/>
          <p:nvPr/>
        </p:nvSpPr>
        <p:spPr>
          <a:xfrm>
            <a:off x="252371" y="4838700"/>
            <a:ext cx="4370429" cy="1993788"/>
          </a:xfrm>
          <a:prstGeom prst="wedgeRoundRectCallout">
            <a:avLst>
              <a:gd name="adj1" fmla="val 74327"/>
              <a:gd name="adj2" fmla="val -85376"/>
              <a:gd name="adj3" fmla="val 16667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US" altLang="zh-TW" sz="3600" spc="-100" dirty="0">
                <a:solidFill>
                  <a:schemeClr val="tx1"/>
                </a:solidFill>
              </a:rPr>
              <a:t>and</a:t>
            </a:r>
            <a:r>
              <a:rPr lang="en-US" altLang="zh-TW" sz="3200" spc="-100" dirty="0">
                <a:solidFill>
                  <a:schemeClr val="tx1"/>
                </a:solidFill>
              </a:rPr>
              <a:t> </a:t>
            </a:r>
            <a:r>
              <a:rPr lang="en-US" altLang="zh-TW" sz="3600" spc="-100" dirty="0">
                <a:solidFill>
                  <a:schemeClr val="tx1"/>
                </a:solidFill>
              </a:rPr>
              <a:t>the</a:t>
            </a:r>
            <a:r>
              <a:rPr lang="en-US" altLang="zh-TW" sz="3200" spc="-100" dirty="0">
                <a:solidFill>
                  <a:schemeClr val="tx1"/>
                </a:solidFill>
              </a:rPr>
              <a:t> </a:t>
            </a:r>
            <a:r>
              <a:rPr lang="en-US" altLang="zh-TW" sz="3600" spc="-100" dirty="0">
                <a:solidFill>
                  <a:schemeClr val="tx1"/>
                </a:solidFill>
              </a:rPr>
              <a:t>value</a:t>
            </a:r>
            <a:r>
              <a:rPr lang="en-US" altLang="zh-TW" sz="3200" spc="-100" dirty="0">
                <a:solidFill>
                  <a:schemeClr val="tx1"/>
                </a:solidFill>
              </a:rPr>
              <a:t> </a:t>
            </a:r>
            <a:r>
              <a:rPr lang="en-US" altLang="zh-TW" sz="3600" spc="-100" dirty="0">
                <a:solidFill>
                  <a:schemeClr val="tx1"/>
                </a:solidFill>
              </a:rPr>
              <a:t>must</a:t>
            </a:r>
            <a:r>
              <a:rPr lang="en-US" altLang="zh-TW" sz="3200" spc="-100" dirty="0">
                <a:solidFill>
                  <a:schemeClr val="tx1"/>
                </a:solidFill>
              </a:rPr>
              <a:t> </a:t>
            </a:r>
            <a:r>
              <a:rPr lang="en-US" altLang="zh-TW" sz="3600" spc="-100" dirty="0">
                <a:solidFill>
                  <a:schemeClr val="tx1"/>
                </a:solidFill>
              </a:rPr>
              <a:t>have</a:t>
            </a:r>
          </a:p>
          <a:p>
            <a:pPr algn="ctr">
              <a:lnSpc>
                <a:spcPct val="88000"/>
              </a:lnSpc>
            </a:pPr>
            <a:r>
              <a:rPr lang="en-US" altLang="zh-TW" sz="3600" dirty="0">
                <a:solidFill>
                  <a:schemeClr val="tx1"/>
                </a:solidFill>
              </a:rPr>
              <a:t> a default, because it</a:t>
            </a:r>
          </a:p>
          <a:p>
            <a:pPr algn="ctr">
              <a:lnSpc>
                <a:spcPct val="88000"/>
              </a:lnSpc>
            </a:pPr>
            <a:r>
              <a:rPr lang="en-US" altLang="zh-TW" sz="3600" dirty="0">
                <a:solidFill>
                  <a:schemeClr val="tx1"/>
                </a:solidFill>
              </a:rPr>
              <a:t> didn’t complain when</a:t>
            </a:r>
          </a:p>
          <a:p>
            <a:pPr algn="ctr">
              <a:lnSpc>
                <a:spcPct val="88000"/>
              </a:lnSpc>
            </a:pPr>
            <a:r>
              <a:rPr lang="en-US" altLang="zh-TW" sz="3600" dirty="0">
                <a:solidFill>
                  <a:schemeClr val="tx1"/>
                </a:solidFill>
              </a:rPr>
              <a:t>I didn’t give it one.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8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chemeClr val="bg1">
                    <a:lumMod val="65000"/>
                  </a:schemeClr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rgbClr val="FF1493"/>
                </a:solidFill>
              </a:rPr>
              <a:t>:</a:t>
            </a:r>
            <a:r>
              <a:rPr lang="en-US" altLang="zh-TW" sz="4300" dirty="0"/>
              <a:t>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</a:rPr>
              <a:t>(0,1,2,3)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latin typeface="Lucida Console" panose="020B0609040504020204" pitchFamily="49" charset="0"/>
              </a:rPr>
              <a:t>1 2 3 4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</a:rPr>
              <a:t>(0,1,2,3,</a:t>
            </a:r>
            <a:r>
              <a:rPr lang="en-US" altLang="zh-TW" sz="36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sep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=', '</a:t>
            </a:r>
            <a:r>
              <a:rPr lang="en-US" altLang="zh-TW" sz="36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latin typeface="Lucida Console" panose="020B0609040504020204" pitchFamily="49" charset="0"/>
              </a:rPr>
              <a:t>1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2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3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4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979988" y="1151585"/>
            <a:ext cx="4564683" cy="3402333"/>
            <a:chOff x="4865688" y="2472385"/>
            <a:chExt cx="4564683" cy="3402333"/>
          </a:xfrm>
        </p:grpSpPr>
        <p:sp>
          <p:nvSpPr>
            <p:cNvPr id="9" name="Isosceles Triangle 8"/>
            <p:cNvSpPr/>
            <p:nvPr/>
          </p:nvSpPr>
          <p:spPr>
            <a:xfrm rot="12493908">
              <a:off x="5994730" y="2956685"/>
              <a:ext cx="523220" cy="2918033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4865688" y="2472385"/>
              <a:ext cx="4564683" cy="1332700"/>
            </a:xfrm>
            <a:prstGeom prst="wedgeRoundRectCallout">
              <a:avLst>
                <a:gd name="adj1" fmla="val -127521"/>
                <a:gd name="adj2" fmla="val 8040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See? One of its default arguments is “</a:t>
              </a:r>
              <a:r>
                <a:rPr lang="en-US" altLang="zh-TW" sz="3600" dirty="0" err="1">
                  <a:solidFill>
                    <a:schemeClr val="tx1"/>
                  </a:solidFill>
                </a:rPr>
                <a:t>sep</a:t>
              </a:r>
              <a:r>
                <a:rPr lang="en-US" altLang="zh-TW" sz="3600" dirty="0">
                  <a:solidFill>
                    <a:schemeClr val="tx1"/>
                  </a:solidFill>
                </a:rPr>
                <a:t>”.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  <p:sp>
          <p:nvSpPr>
            <p:cNvPr id="13" name="Isosceles Triangle 12"/>
            <p:cNvSpPr/>
            <p:nvPr/>
          </p:nvSpPr>
          <p:spPr>
            <a:xfrm flipV="1">
              <a:off x="6462569" y="3654481"/>
              <a:ext cx="570271" cy="503516"/>
            </a:xfrm>
            <a:prstGeom prst="triangle">
              <a:avLst>
                <a:gd name="adj" fmla="val 0"/>
              </a:avLst>
            </a:prstGeom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830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chemeClr val="bg1">
                    <a:lumMod val="65000"/>
                  </a:schemeClr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rgbClr val="FF1493"/>
                </a:solidFill>
              </a:rPr>
              <a:t>:</a:t>
            </a:r>
            <a:r>
              <a:rPr lang="en-US" altLang="zh-TW" sz="4300" dirty="0"/>
              <a:t>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(0,1,2,3)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1 2 3 4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(0,1,2,3,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sep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=', ')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3600" b="1" dirty="0" err="1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cs typeface="Courier New" pitchFamily="49" charset="0"/>
              </a:rPr>
              <a:t>sep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  <a:cs typeface="Courier New" pitchFamily="49" charset="0"/>
              </a:rPr>
              <a:t>=', '</a:t>
            </a:r>
            <a:r>
              <a:rPr lang="en-US" altLang="zh-TW" sz="3600" dirty="0">
                <a:latin typeface="Lucida Console" panose="020B0609040504020204" pitchFamily="49" charset="0"/>
                <a:cs typeface="Courier New" pitchFamily="49" charset="0"/>
              </a:rPr>
              <a:t>,0,1,2,3)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6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&gt;", line 1</a:t>
            </a:r>
          </a:p>
          <a:p>
            <a:pPr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600" spc="-17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Sy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ntaxE</a:t>
            </a:r>
            <a:r>
              <a:rPr lang="en-US" altLang="zh-TW" sz="36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rr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</a:t>
            </a:r>
            <a:r>
              <a:rPr lang="en-US" altLang="zh-TW" sz="36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4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posit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ional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l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l</a:t>
            </a:r>
            <a:r>
              <a:rPr lang="en-US" altLang="zh-TW" sz="3600" spc="-1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</a:t>
            </a:r>
            <a:r>
              <a:rPr lang="en-US" altLang="zh-TW" sz="36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ws</a:t>
            </a:r>
            <a:r>
              <a:rPr lang="en-US" altLang="zh-TW" sz="32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ywo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6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28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3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2434442" y="1940921"/>
            <a:ext cx="4180114" cy="2251068"/>
          </a:xfrm>
          <a:prstGeom prst="wedgeRoundRectCallout">
            <a:avLst>
              <a:gd name="adj1" fmla="val -23916"/>
              <a:gd name="adj2" fmla="val 10731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3600" dirty="0">
                <a:solidFill>
                  <a:schemeClr val="tx1"/>
                </a:solidFill>
              </a:rPr>
              <a:t>Lets see if a default argument can go anywhere other than the end.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6152270" y="4565958"/>
            <a:ext cx="3320891" cy="798276"/>
          </a:xfrm>
          <a:prstGeom prst="wedgeRoundRectCallout">
            <a:avLst>
              <a:gd name="adj1" fmla="val -60641"/>
              <a:gd name="adj2" fmla="val 1796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Nope. It can’t.</a:t>
            </a:r>
          </a:p>
        </p:txBody>
      </p:sp>
    </p:spTree>
    <p:extLst>
      <p:ext uri="{BB962C8B-B14F-4D97-AF65-F5344CB8AC3E}">
        <p14:creationId xmlns:p14="http://schemas.microsoft.com/office/powerpoint/2010/main" val="92510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200" y="1102102"/>
            <a:ext cx="9227672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It takes a variable-number of arguments.</a:t>
            </a:r>
          </a:p>
          <a:p>
            <a:pPr>
              <a:spcBef>
                <a:spcPts val="1200"/>
              </a:spcBef>
            </a:pPr>
            <a:r>
              <a:rPr lang="en-US" altLang="zh-TW" dirty="0"/>
              <a:t>It also has default parameters. </a:t>
            </a:r>
            <a:br>
              <a:rPr lang="en-US" altLang="zh-TW" dirty="0"/>
            </a:br>
            <a:r>
              <a:rPr lang="en-US" altLang="zh-TW" dirty="0"/>
              <a:t>And these can only be set by name. </a:t>
            </a:r>
          </a:p>
          <a:p>
            <a:pPr lvl="1"/>
            <a:r>
              <a:rPr lang="en-US" altLang="zh-TW" dirty="0"/>
              <a:t>(Slide 15 showed it is different when there is no asterisked-variable. ‘</a:t>
            </a:r>
            <a:r>
              <a:rPr lang="en-US" altLang="zh-TW" dirty="0" err="1"/>
              <a:t>printinfo</a:t>
            </a:r>
            <a:r>
              <a:rPr lang="en-US" altLang="zh-TW" dirty="0"/>
              <a:t>("Sally",19)’ worked, even though age had a default.)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prin</a:t>
            </a:r>
            <a:r>
              <a:rPr lang="en-US" altLang="zh-TW" spc="-900" dirty="0">
                <a:solidFill>
                  <a:srgbClr val="0070C0"/>
                </a:solidFill>
              </a:rPr>
              <a:t>t</a:t>
            </a:r>
            <a:r>
              <a:rPr lang="en-US" altLang="zh-TW" sz="5400" dirty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46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199" y="1102102"/>
            <a:ext cx="9599315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777777"/>
                </a:solidFill>
              </a:rPr>
              <a:t>It takes a variable-number of arguments.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rgbClr val="777777"/>
                </a:solidFill>
              </a:rPr>
              <a:t>It also has default parameters. </a:t>
            </a:r>
            <a:br>
              <a:rPr lang="en-US" altLang="zh-TW" dirty="0">
                <a:solidFill>
                  <a:srgbClr val="777777"/>
                </a:solidFill>
              </a:rPr>
            </a:br>
            <a:r>
              <a:rPr lang="en-US" altLang="zh-TW" dirty="0">
                <a:solidFill>
                  <a:srgbClr val="777777"/>
                </a:solidFill>
              </a:rPr>
              <a:t>And these can only be set by name. </a:t>
            </a:r>
          </a:p>
          <a:p>
            <a:pPr lvl="1"/>
            <a:r>
              <a:rPr lang="en-US" altLang="zh-TW" dirty="0">
                <a:solidFill>
                  <a:srgbClr val="777777"/>
                </a:solidFill>
              </a:rPr>
              <a:t>(Slide 15 showed it is different when there is no asterisked-variable. ‘</a:t>
            </a:r>
            <a:r>
              <a:rPr lang="en-US" altLang="zh-TW" dirty="0" err="1">
                <a:solidFill>
                  <a:srgbClr val="777777"/>
                </a:solidFill>
              </a:rPr>
              <a:t>printinfo</a:t>
            </a:r>
            <a:r>
              <a:rPr lang="en-US" altLang="zh-TW" dirty="0">
                <a:solidFill>
                  <a:srgbClr val="777777"/>
                </a:solidFill>
              </a:rPr>
              <a:t>("Sally",19)’ worked, even though age had a default.)</a:t>
            </a:r>
            <a:endParaRPr lang="en-US" altLang="zh-TW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prin</a:t>
            </a:r>
            <a:r>
              <a:rPr lang="en-US" altLang="zh-TW" spc="-900" dirty="0">
                <a:solidFill>
                  <a:srgbClr val="0070C0"/>
                </a:solidFill>
              </a:rPr>
              <a:t>t</a:t>
            </a:r>
            <a:r>
              <a:rPr lang="en-US" altLang="zh-TW" sz="5400" dirty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3199" y="459649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/>
              <a:t>The default parameters must go at t</a:t>
            </a:r>
            <a:r>
              <a:rPr lang="en-US" altLang="zh-TW" spc="-50" dirty="0"/>
              <a:t>he en</a:t>
            </a:r>
            <a:r>
              <a:rPr lang="en-US" altLang="zh-TW" spc="-100" dirty="0"/>
              <a:t>d</a:t>
            </a:r>
            <a:r>
              <a:rPr lang="en-US" altLang="zh-TW" dirty="0"/>
              <a:t>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03199" y="305366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rgbClr val="777777"/>
                </a:solidFill>
              </a:rPr>
              <a:t>The default parameters must go at t</a:t>
            </a:r>
            <a:r>
              <a:rPr lang="en-US" altLang="zh-TW" spc="-50" dirty="0">
                <a:solidFill>
                  <a:srgbClr val="777777"/>
                </a:solidFill>
              </a:rPr>
              <a:t>he en</a:t>
            </a:r>
            <a:r>
              <a:rPr lang="en-US" altLang="zh-TW" spc="-100" dirty="0">
                <a:solidFill>
                  <a:srgbClr val="777777"/>
                </a:solidFill>
              </a:rPr>
              <a:t>d</a:t>
            </a:r>
            <a:r>
              <a:rPr lang="en-US" altLang="zh-TW" dirty="0">
                <a:solidFill>
                  <a:srgbClr val="77777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29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13477E-7 3.33333E-6 L -0.00049 -0.22454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-1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5" grpId="1" build="allAtOnce"/>
      <p:bldP spid="6" grpId="0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199" y="1102102"/>
            <a:ext cx="9599315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takes a variable-number of arguments.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also has default parameters. </a:t>
            </a:r>
            <a:b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these can only be set by name. 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default parameters must go at t</a:t>
            </a:r>
            <a:r>
              <a:rPr lang="en-US" altLang="zh-TW" spc="-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 en</a:t>
            </a:r>
            <a:r>
              <a:rPr lang="en-US" altLang="zh-TW" spc="-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altLang="zh-TW" dirty="0"/>
              <a:t>Combining the above 3 observations, we can infer that the declaration of the print function looks something like this:</a:t>
            </a:r>
          </a:p>
          <a:p>
            <a:pPr marL="0" indent="0">
              <a:buNone/>
            </a:pPr>
            <a:r>
              <a:rPr lang="en-US" altLang="zh-TW" dirty="0"/>
              <a:t>  </a:t>
            </a:r>
            <a:r>
              <a:rPr lang="en-US" altLang="zh-TW" sz="3200" b="1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32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 print(*</a:t>
            </a:r>
            <a:r>
              <a:rPr lang="en-US" altLang="zh-TW" sz="3200" b="1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args,end</a:t>
            </a:r>
            <a:r>
              <a:rPr lang="en-US" altLang="zh-TW" sz="3200" b="1" dirty="0">
                <a:solidFill>
                  <a:srgbClr val="F987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"\n",</a:t>
            </a:r>
            <a:r>
              <a:rPr lang="en-US" altLang="zh-TW" sz="3200" b="1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3200" b="1" dirty="0">
                <a:solidFill>
                  <a:srgbClr val="F987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" "):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altLang="zh-TW" sz="32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	...</a:t>
            </a:r>
            <a:endParaRPr lang="zh-TW" altLang="en-US" sz="3200" b="1" dirty="0">
              <a:solidFill>
                <a:srgbClr val="F987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prin</a:t>
            </a:r>
            <a:r>
              <a:rPr lang="en-US" altLang="zh-TW" spc="-900" dirty="0">
                <a:solidFill>
                  <a:srgbClr val="0070C0"/>
                </a:solidFill>
              </a:rPr>
              <a:t>t</a:t>
            </a:r>
            <a:r>
              <a:rPr lang="en-US" altLang="zh-TW" sz="5400" dirty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3199" y="305366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rgbClr val="777777"/>
                </a:solidFill>
              </a:rPr>
              <a:t>The default parameters must go at t</a:t>
            </a:r>
            <a:r>
              <a:rPr lang="en-US" altLang="zh-TW" spc="-50" dirty="0">
                <a:solidFill>
                  <a:srgbClr val="777777"/>
                </a:solidFill>
              </a:rPr>
              <a:t>he en</a:t>
            </a:r>
            <a:r>
              <a:rPr lang="en-US" altLang="zh-TW" spc="-100" dirty="0">
                <a:solidFill>
                  <a:srgbClr val="777777"/>
                </a:solidFill>
              </a:rPr>
              <a:t>d</a:t>
            </a:r>
            <a:r>
              <a:rPr lang="en-US" altLang="zh-TW" dirty="0">
                <a:solidFill>
                  <a:srgbClr val="77777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671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199" y="1102102"/>
            <a:ext cx="9599315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takes a </a:t>
            </a:r>
            <a:r>
              <a:rPr lang="en-US" altLang="zh-TW" b="1" dirty="0">
                <a:solidFill>
                  <a:srgbClr val="7030A0"/>
                </a:solidFill>
              </a:rPr>
              <a:t>variable-number of arguments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also has </a:t>
            </a:r>
            <a:r>
              <a:rPr lang="en-US" altLang="zh-TW" b="1" dirty="0">
                <a:solidFill>
                  <a:srgbClr val="FF0000"/>
                </a:solidFill>
              </a:rPr>
              <a:t>default parameters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b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these can only be set by name. 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default parameters must go at t</a:t>
            </a:r>
            <a:r>
              <a:rPr lang="en-US" altLang="zh-TW" spc="-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 en</a:t>
            </a:r>
            <a:r>
              <a:rPr lang="en-US" altLang="zh-TW" spc="-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rgbClr val="777777"/>
                </a:solidFill>
              </a:rPr>
              <a:t>Combining the above 3 observations, we can infer that the declaration of the print function looks something like this:</a:t>
            </a:r>
          </a:p>
          <a:p>
            <a:pPr marL="0" indent="0">
              <a:buNone/>
            </a:pPr>
            <a:r>
              <a:rPr lang="en-US" altLang="zh-TW" dirty="0"/>
              <a:t>  </a:t>
            </a:r>
            <a:r>
              <a:rPr lang="en-US" altLang="zh-TW" sz="3200" b="1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3200" b="1" dirty="0">
                <a:solidFill>
                  <a:srgbClr val="777777"/>
                </a:solidFill>
                <a:latin typeface="Lucida Console" panose="020B0609040504020204" pitchFamily="49" charset="0"/>
              </a:rPr>
              <a:t> print(</a:t>
            </a:r>
            <a:r>
              <a:rPr lang="en-US" altLang="zh-TW" sz="32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32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zh-TW" sz="3200" b="1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2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end</a:t>
            </a:r>
            <a:r>
              <a:rPr lang="en-US" altLang="zh-TW" sz="3200" b="1" dirty="0">
                <a:solidFill>
                  <a:srgbClr val="FF00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"\n"</a:t>
            </a:r>
            <a:r>
              <a:rPr lang="en-US" altLang="zh-TW" sz="3200" b="1" dirty="0">
                <a:solidFill>
                  <a:srgbClr val="777777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2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3200" b="1" dirty="0">
                <a:solidFill>
                  <a:srgbClr val="FF00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" "</a:t>
            </a:r>
            <a:r>
              <a:rPr lang="en-US" altLang="zh-TW" sz="3200" b="1" dirty="0">
                <a:solidFill>
                  <a:srgbClr val="777777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altLang="zh-TW" sz="3200" b="1" dirty="0">
                <a:solidFill>
                  <a:srgbClr val="777777"/>
                </a:solidFill>
                <a:latin typeface="Lucida Console" panose="020B0609040504020204" pitchFamily="49" charset="0"/>
              </a:rPr>
              <a:t>	...</a:t>
            </a:r>
            <a:endParaRPr lang="zh-TW" altLang="en-US" sz="3200" b="1" dirty="0">
              <a:solidFill>
                <a:srgbClr val="77777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prin</a:t>
            </a:r>
            <a:r>
              <a:rPr lang="en-US" altLang="zh-TW" spc="-900" dirty="0">
                <a:solidFill>
                  <a:srgbClr val="0070C0"/>
                </a:solidFill>
              </a:rPr>
              <a:t>t</a:t>
            </a:r>
            <a:r>
              <a:rPr lang="en-US" altLang="zh-TW" sz="5400" dirty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3199" y="305366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rgbClr val="777777"/>
                </a:solidFill>
              </a:rPr>
              <a:t>The default parameters must go at t</a:t>
            </a:r>
            <a:r>
              <a:rPr lang="en-US" altLang="zh-TW" spc="-50" dirty="0">
                <a:solidFill>
                  <a:srgbClr val="777777"/>
                </a:solidFill>
              </a:rPr>
              <a:t>he en</a:t>
            </a:r>
            <a:r>
              <a:rPr lang="en-US" altLang="zh-TW" spc="-100" dirty="0">
                <a:solidFill>
                  <a:srgbClr val="777777"/>
                </a:solidFill>
              </a:rPr>
              <a:t>d</a:t>
            </a:r>
            <a:r>
              <a:rPr lang="en-US" altLang="zh-TW" dirty="0">
                <a:solidFill>
                  <a:srgbClr val="77777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998574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63198785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Defining Function Parameters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417764" y="3809329"/>
            <a:ext cx="5008909" cy="1234562"/>
          </a:xfrm>
          <a:prstGeom prst="wedgeRoundRectCallout">
            <a:avLst>
              <a:gd name="adj1" fmla="val -103541"/>
              <a:gd name="adj2" fmla="val -10170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spc="100" dirty="0">
                <a:solidFill>
                  <a:srgbClr val="FF0000"/>
                </a:solidFill>
                <a:latin typeface="Times New Roman" charset="0"/>
              </a:rPr>
              <a:t>What if a default value </a:t>
            </a:r>
            <a:br>
              <a:rPr lang="en-US" sz="3200" spc="100" dirty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>
                <a:solidFill>
                  <a:srgbClr val="FF0000"/>
                </a:solidFill>
                <a:latin typeface="Times New Roman" charset="0"/>
              </a:rPr>
              <a:t>is </a:t>
            </a:r>
            <a:r>
              <a:rPr lang="en-US" sz="3200" b="1" spc="100" dirty="0">
                <a:solidFill>
                  <a:srgbClr val="FF0000"/>
                </a:solidFill>
                <a:latin typeface="Times New Roman" charset="0"/>
              </a:rPr>
              <a:t>mutable</a:t>
            </a:r>
            <a:r>
              <a:rPr lang="en-US" sz="3200" spc="100" dirty="0">
                <a:solidFill>
                  <a:srgbClr val="FF0000"/>
                </a:solidFill>
                <a:latin typeface="Times New Roman" charset="0"/>
              </a:rPr>
              <a:t>?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417764" y="2233914"/>
            <a:ext cx="5008909" cy="1234562"/>
          </a:xfrm>
          <a:prstGeom prst="wedgeRoundRectCallout">
            <a:avLst>
              <a:gd name="adj1" fmla="val -21501"/>
              <a:gd name="adj2" fmla="val 9729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FF0000"/>
                </a:solidFill>
                <a:latin typeface="Times New Roman" charset="0"/>
              </a:rPr>
              <a:t>Then there is a concern that you may not have realized…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417764" y="669520"/>
            <a:ext cx="5008909" cy="1234562"/>
          </a:xfrm>
          <a:prstGeom prst="wedgeRoundRectCallout">
            <a:avLst>
              <a:gd name="adj1" fmla="val -21501"/>
              <a:gd name="adj2" fmla="val 92836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spc="100" dirty="0">
                <a:solidFill>
                  <a:srgbClr val="FF0000"/>
                </a:solidFill>
                <a:latin typeface="Times New Roman" charset="0"/>
              </a:rPr>
              <a:t>It is a concern that </a:t>
            </a:r>
            <a:br>
              <a:rPr lang="en-US" sz="3200" spc="100" dirty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>
                <a:solidFill>
                  <a:srgbClr val="FF0000"/>
                </a:solidFill>
                <a:latin typeface="Times New Roman" charset="0"/>
              </a:rPr>
              <a:t>C programs also have...</a:t>
            </a:r>
          </a:p>
        </p:txBody>
      </p:sp>
    </p:spTree>
    <p:extLst>
      <p:ext uri="{BB962C8B-B14F-4D97-AF65-F5344CB8AC3E}">
        <p14:creationId xmlns:p14="http://schemas.microsoft.com/office/powerpoint/2010/main" val="401778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0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10866</TotalTime>
  <Words>28855</Words>
  <Application>Microsoft Office PowerPoint</Application>
  <PresentationFormat>自訂</PresentationFormat>
  <Paragraphs>3587</Paragraphs>
  <Slides>253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26</vt:i4>
      </vt:variant>
      <vt:variant>
        <vt:lpstr>佈景主題</vt:lpstr>
      </vt:variant>
      <vt:variant>
        <vt:i4>7</vt:i4>
      </vt:variant>
      <vt:variant>
        <vt:lpstr>投影片標題</vt:lpstr>
      </vt:variant>
      <vt:variant>
        <vt:i4>253</vt:i4>
      </vt:variant>
    </vt:vector>
  </HeadingPairs>
  <TitlesOfParts>
    <vt:vector size="286" baseType="lpstr">
      <vt:lpstr>Arial Unicode MS</vt:lpstr>
      <vt:lpstr>Agency FB</vt:lpstr>
      <vt:lpstr>Arial</vt:lpstr>
      <vt:lpstr>Arial Black</vt:lpstr>
      <vt:lpstr>Arial Narrow</vt:lpstr>
      <vt:lpstr>Arial Rounded MT Bold</vt:lpstr>
      <vt:lpstr>Bahnschrift</vt:lpstr>
      <vt:lpstr>Bernard MT Condensed</vt:lpstr>
      <vt:lpstr>Calibri</vt:lpstr>
      <vt:lpstr>Calibri Light</vt:lpstr>
      <vt:lpstr>Century</vt:lpstr>
      <vt:lpstr>Consolas</vt:lpstr>
      <vt:lpstr>Cooper Black</vt:lpstr>
      <vt:lpstr>Courier New</vt:lpstr>
      <vt:lpstr>Elephant</vt:lpstr>
      <vt:lpstr>Engravers MT</vt:lpstr>
      <vt:lpstr>Leelawadee UI</vt:lpstr>
      <vt:lpstr>Lucida Console</vt:lpstr>
      <vt:lpstr>Lucida Fax</vt:lpstr>
      <vt:lpstr>Lucida Sans Typewriter</vt:lpstr>
      <vt:lpstr>Rockwell Extra Bold</vt:lpstr>
      <vt:lpstr>Symbol</vt:lpstr>
      <vt:lpstr>Times</vt:lpstr>
      <vt:lpstr>Times New Roman</vt:lpstr>
      <vt:lpstr>Verdana</vt:lpstr>
      <vt:lpstr>Wingdings</vt:lpstr>
      <vt:lpstr>1_Office Theme</vt:lpstr>
      <vt:lpstr>5_Office Theme</vt:lpstr>
      <vt:lpstr>Office Theme</vt:lpstr>
      <vt:lpstr>2_Office Theme</vt:lpstr>
      <vt:lpstr>3_Office Theme</vt:lpstr>
      <vt:lpstr>4_Office Theme</vt:lpstr>
      <vt:lpstr>6_Office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Sidebar: Consider the following program…</vt:lpstr>
      <vt:lpstr>Sidebar: Consider the following program…</vt:lpstr>
      <vt:lpstr>Sidebar: Consider the following program…</vt:lpstr>
      <vt:lpstr>Sidebar: Consider the following program…</vt:lpstr>
      <vt:lpstr>But, of course, the process of total overwriting is not the same process as that of updating, so it doesn’t affect the original variable.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啟桓 黃</cp:lastModifiedBy>
  <cp:revision>470</cp:revision>
  <dcterms:created xsi:type="dcterms:W3CDTF">2017-03-07T03:26:49Z</dcterms:created>
  <dcterms:modified xsi:type="dcterms:W3CDTF">2021-03-23T09:50:04Z</dcterms:modified>
</cp:coreProperties>
</file>