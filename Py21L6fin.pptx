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notesMasterIdLst>
    <p:notesMasterId r:id="rId183"/>
  </p:notesMasterIdLst>
  <p:sldIdLst>
    <p:sldId id="1299" r:id="rId4"/>
    <p:sldId id="1300" r:id="rId5"/>
    <p:sldId id="1301" r:id="rId6"/>
    <p:sldId id="1303" r:id="rId7"/>
    <p:sldId id="1302" r:id="rId8"/>
    <p:sldId id="1304" r:id="rId9"/>
    <p:sldId id="1305" r:id="rId10"/>
    <p:sldId id="1306" r:id="rId11"/>
    <p:sldId id="1307" r:id="rId12"/>
    <p:sldId id="1308" r:id="rId13"/>
    <p:sldId id="1309" r:id="rId14"/>
    <p:sldId id="1313" r:id="rId15"/>
    <p:sldId id="1310" r:id="rId16"/>
    <p:sldId id="1311" r:id="rId17"/>
    <p:sldId id="759" r:id="rId18"/>
    <p:sldId id="1314" r:id="rId19"/>
    <p:sldId id="1315" r:id="rId20"/>
    <p:sldId id="1316" r:id="rId21"/>
    <p:sldId id="760" r:id="rId22"/>
    <p:sldId id="697" r:id="rId23"/>
    <p:sldId id="1579" r:id="rId24"/>
    <p:sldId id="943" r:id="rId25"/>
    <p:sldId id="1321" r:id="rId26"/>
    <p:sldId id="1320" r:id="rId27"/>
    <p:sldId id="1319" r:id="rId28"/>
    <p:sldId id="1318" r:id="rId29"/>
    <p:sldId id="1317" r:id="rId30"/>
    <p:sldId id="922" r:id="rId31"/>
    <p:sldId id="1326" r:id="rId32"/>
    <p:sldId id="1327" r:id="rId33"/>
    <p:sldId id="1324" r:id="rId34"/>
    <p:sldId id="1328" r:id="rId35"/>
    <p:sldId id="1325" r:id="rId36"/>
    <p:sldId id="1329" r:id="rId37"/>
    <p:sldId id="1330" r:id="rId38"/>
    <p:sldId id="1331" r:id="rId39"/>
    <p:sldId id="1332" r:id="rId40"/>
    <p:sldId id="1333" r:id="rId41"/>
    <p:sldId id="1335" r:id="rId42"/>
    <p:sldId id="1336" r:id="rId43"/>
    <p:sldId id="1337" r:id="rId44"/>
    <p:sldId id="1339" r:id="rId45"/>
    <p:sldId id="1340" r:id="rId46"/>
    <p:sldId id="1341" r:id="rId47"/>
    <p:sldId id="1001" r:id="rId48"/>
    <p:sldId id="1003" r:id="rId49"/>
    <p:sldId id="1004" r:id="rId50"/>
    <p:sldId id="1005" r:id="rId51"/>
    <p:sldId id="1011" r:id="rId52"/>
    <p:sldId id="1022" r:id="rId53"/>
    <p:sldId id="1015" r:id="rId54"/>
    <p:sldId id="1019" r:id="rId55"/>
    <p:sldId id="1020" r:id="rId56"/>
    <p:sldId id="1342" r:id="rId57"/>
    <p:sldId id="956" r:id="rId58"/>
    <p:sldId id="1344" r:id="rId59"/>
    <p:sldId id="1345" r:id="rId60"/>
    <p:sldId id="1346" r:id="rId61"/>
    <p:sldId id="1347" r:id="rId62"/>
    <p:sldId id="959" r:id="rId63"/>
    <p:sldId id="1348" r:id="rId64"/>
    <p:sldId id="1350" r:id="rId65"/>
    <p:sldId id="1349" r:id="rId66"/>
    <p:sldId id="1352" r:id="rId67"/>
    <p:sldId id="1353" r:id="rId68"/>
    <p:sldId id="1354" r:id="rId69"/>
    <p:sldId id="1355" r:id="rId70"/>
    <p:sldId id="1357" r:id="rId71"/>
    <p:sldId id="1359" r:id="rId72"/>
    <p:sldId id="1364" r:id="rId73"/>
    <p:sldId id="1363" r:id="rId74"/>
    <p:sldId id="1365" r:id="rId75"/>
    <p:sldId id="1380" r:id="rId76"/>
    <p:sldId id="1381" r:id="rId77"/>
    <p:sldId id="1228" r:id="rId78"/>
    <p:sldId id="1241" r:id="rId79"/>
    <p:sldId id="1230" r:id="rId80"/>
    <p:sldId id="1231" r:id="rId81"/>
    <p:sldId id="1377" r:id="rId82"/>
    <p:sldId id="1378" r:id="rId83"/>
    <p:sldId id="1376" r:id="rId84"/>
    <p:sldId id="1372" r:id="rId85"/>
    <p:sldId id="1366" r:id="rId86"/>
    <p:sldId id="1373" r:id="rId87"/>
    <p:sldId id="1369" r:id="rId88"/>
    <p:sldId id="1370" r:id="rId89"/>
    <p:sldId id="1374" r:id="rId90"/>
    <p:sldId id="1375" r:id="rId91"/>
    <p:sldId id="1379" r:id="rId92"/>
    <p:sldId id="1238" r:id="rId93"/>
    <p:sldId id="1383" r:id="rId94"/>
    <p:sldId id="1384" r:id="rId95"/>
    <p:sldId id="1387" r:id="rId96"/>
    <p:sldId id="1386" r:id="rId97"/>
    <p:sldId id="1388" r:id="rId98"/>
    <p:sldId id="1247" r:id="rId99"/>
    <p:sldId id="1390" r:id="rId100"/>
    <p:sldId id="1391" r:id="rId101"/>
    <p:sldId id="1392" r:id="rId102"/>
    <p:sldId id="1393" r:id="rId103"/>
    <p:sldId id="1395" r:id="rId104"/>
    <p:sldId id="1396" r:id="rId105"/>
    <p:sldId id="1397" r:id="rId106"/>
    <p:sldId id="1398" r:id="rId107"/>
    <p:sldId id="1261" r:id="rId108"/>
    <p:sldId id="1401" r:id="rId109"/>
    <p:sldId id="1402" r:id="rId110"/>
    <p:sldId id="1262" r:id="rId111"/>
    <p:sldId id="1404" r:id="rId112"/>
    <p:sldId id="1403" r:id="rId113"/>
    <p:sldId id="1405" r:id="rId114"/>
    <p:sldId id="1406" r:id="rId115"/>
    <p:sldId id="1407" r:id="rId116"/>
    <p:sldId id="1408" r:id="rId117"/>
    <p:sldId id="1410" r:id="rId118"/>
    <p:sldId id="1411" r:id="rId119"/>
    <p:sldId id="1412" r:id="rId120"/>
    <p:sldId id="1413" r:id="rId121"/>
    <p:sldId id="1414" r:id="rId122"/>
    <p:sldId id="1415" r:id="rId123"/>
    <p:sldId id="1416" r:id="rId124"/>
    <p:sldId id="1417" r:id="rId125"/>
    <p:sldId id="1426" r:id="rId126"/>
    <p:sldId id="1419" r:id="rId127"/>
    <p:sldId id="1418" r:id="rId128"/>
    <p:sldId id="1420" r:id="rId129"/>
    <p:sldId id="1421" r:id="rId130"/>
    <p:sldId id="1422" r:id="rId131"/>
    <p:sldId id="1423" r:id="rId132"/>
    <p:sldId id="1424" r:id="rId133"/>
    <p:sldId id="1425" r:id="rId134"/>
    <p:sldId id="1427" r:id="rId135"/>
    <p:sldId id="1428" r:id="rId136"/>
    <p:sldId id="1284" r:id="rId137"/>
    <p:sldId id="1285" r:id="rId138"/>
    <p:sldId id="1286" r:id="rId139"/>
    <p:sldId id="1287" r:id="rId140"/>
    <p:sldId id="1288" r:id="rId141"/>
    <p:sldId id="1429" r:id="rId142"/>
    <p:sldId id="1430" r:id="rId143"/>
    <p:sldId id="1432" r:id="rId144"/>
    <p:sldId id="1293" r:id="rId145"/>
    <p:sldId id="1294" r:id="rId146"/>
    <p:sldId id="1295" r:id="rId147"/>
    <p:sldId id="1296" r:id="rId148"/>
    <p:sldId id="1297" r:id="rId149"/>
    <p:sldId id="1434" r:id="rId150"/>
    <p:sldId id="1435" r:id="rId151"/>
    <p:sldId id="1439" r:id="rId152"/>
    <p:sldId id="1437" r:id="rId153"/>
    <p:sldId id="1438" r:id="rId154"/>
    <p:sldId id="1609" r:id="rId155"/>
    <p:sldId id="1610" r:id="rId156"/>
    <p:sldId id="1611" r:id="rId157"/>
    <p:sldId id="1612" r:id="rId158"/>
    <p:sldId id="1613" r:id="rId159"/>
    <p:sldId id="1614" r:id="rId160"/>
    <p:sldId id="1615" r:id="rId161"/>
    <p:sldId id="1616" r:id="rId162"/>
    <p:sldId id="1617" r:id="rId163"/>
    <p:sldId id="1618" r:id="rId164"/>
    <p:sldId id="1619" r:id="rId165"/>
    <p:sldId id="1620" r:id="rId166"/>
    <p:sldId id="1621" r:id="rId167"/>
    <p:sldId id="1622" r:id="rId168"/>
    <p:sldId id="1623" r:id="rId169"/>
    <p:sldId id="1624" r:id="rId170"/>
    <p:sldId id="1625" r:id="rId171"/>
    <p:sldId id="1626" r:id="rId172"/>
    <p:sldId id="1627" r:id="rId173"/>
    <p:sldId id="1628" r:id="rId174"/>
    <p:sldId id="1629" r:id="rId175"/>
    <p:sldId id="1630" r:id="rId176"/>
    <p:sldId id="1631" r:id="rId177"/>
    <p:sldId id="1632" r:id="rId178"/>
    <p:sldId id="1633" r:id="rId179"/>
    <p:sldId id="1634" r:id="rId180"/>
    <p:sldId id="1635" r:id="rId181"/>
    <p:sldId id="1636" r:id="rId182"/>
  </p:sldIdLst>
  <p:sldSz cx="9729788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08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7030A0"/>
    <a:srgbClr val="008000"/>
    <a:srgbClr val="7B430B"/>
    <a:srgbClr val="A2580E"/>
    <a:srgbClr val="894D0B"/>
    <a:srgbClr val="B86410"/>
    <a:srgbClr val="5B9BD5"/>
    <a:srgbClr val="BFBFBF"/>
    <a:srgbClr val="338D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>
        <p:scale>
          <a:sx n="69" d="100"/>
          <a:sy n="69" d="100"/>
        </p:scale>
        <p:origin x="-456" y="32"/>
      </p:cViewPr>
      <p:guideLst>
        <p:guide orient="horz" pos="2160"/>
        <p:guide pos="308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4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63" Type="http://schemas.openxmlformats.org/officeDocument/2006/relationships/slide" Target="slides/slide60.xml"/><Relationship Id="rId84" Type="http://schemas.openxmlformats.org/officeDocument/2006/relationships/slide" Target="slides/slide81.xml"/><Relationship Id="rId138" Type="http://schemas.openxmlformats.org/officeDocument/2006/relationships/slide" Target="slides/slide135.xml"/><Relationship Id="rId159" Type="http://schemas.openxmlformats.org/officeDocument/2006/relationships/slide" Target="slides/slide156.xml"/><Relationship Id="rId170" Type="http://schemas.openxmlformats.org/officeDocument/2006/relationships/slide" Target="slides/slide167.xml"/><Relationship Id="rId107" Type="http://schemas.openxmlformats.org/officeDocument/2006/relationships/slide" Target="slides/slide104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53" Type="http://schemas.openxmlformats.org/officeDocument/2006/relationships/slide" Target="slides/slide50.xml"/><Relationship Id="rId74" Type="http://schemas.openxmlformats.org/officeDocument/2006/relationships/slide" Target="slides/slide71.xml"/><Relationship Id="rId128" Type="http://schemas.openxmlformats.org/officeDocument/2006/relationships/slide" Target="slides/slide125.xml"/><Relationship Id="rId149" Type="http://schemas.openxmlformats.org/officeDocument/2006/relationships/slide" Target="slides/slide146.xml"/><Relationship Id="rId5" Type="http://schemas.openxmlformats.org/officeDocument/2006/relationships/slide" Target="slides/slide2.xml"/><Relationship Id="rId95" Type="http://schemas.openxmlformats.org/officeDocument/2006/relationships/slide" Target="slides/slide92.xml"/><Relationship Id="rId160" Type="http://schemas.openxmlformats.org/officeDocument/2006/relationships/slide" Target="slides/slide157.xml"/><Relationship Id="rId181" Type="http://schemas.openxmlformats.org/officeDocument/2006/relationships/slide" Target="slides/slide178.xml"/><Relationship Id="rId22" Type="http://schemas.openxmlformats.org/officeDocument/2006/relationships/slide" Target="slides/slide19.xml"/><Relationship Id="rId43" Type="http://schemas.openxmlformats.org/officeDocument/2006/relationships/slide" Target="slides/slide40.xml"/><Relationship Id="rId64" Type="http://schemas.openxmlformats.org/officeDocument/2006/relationships/slide" Target="slides/slide61.xml"/><Relationship Id="rId118" Type="http://schemas.openxmlformats.org/officeDocument/2006/relationships/slide" Target="slides/slide115.xml"/><Relationship Id="rId139" Type="http://schemas.openxmlformats.org/officeDocument/2006/relationships/slide" Target="slides/slide136.xml"/><Relationship Id="rId85" Type="http://schemas.openxmlformats.org/officeDocument/2006/relationships/slide" Target="slides/slide82.xml"/><Relationship Id="rId150" Type="http://schemas.openxmlformats.org/officeDocument/2006/relationships/slide" Target="slides/slide147.xml"/><Relationship Id="rId171" Type="http://schemas.openxmlformats.org/officeDocument/2006/relationships/slide" Target="slides/slide168.xml"/><Relationship Id="rId12" Type="http://schemas.openxmlformats.org/officeDocument/2006/relationships/slide" Target="slides/slide9.xml"/><Relationship Id="rId33" Type="http://schemas.openxmlformats.org/officeDocument/2006/relationships/slide" Target="slides/slide30.xml"/><Relationship Id="rId108" Type="http://schemas.openxmlformats.org/officeDocument/2006/relationships/slide" Target="slides/slide105.xml"/><Relationship Id="rId129" Type="http://schemas.openxmlformats.org/officeDocument/2006/relationships/slide" Target="slides/slide126.xml"/><Relationship Id="rId54" Type="http://schemas.openxmlformats.org/officeDocument/2006/relationships/slide" Target="slides/slide51.xml"/><Relationship Id="rId75" Type="http://schemas.openxmlformats.org/officeDocument/2006/relationships/slide" Target="slides/slide72.xml"/><Relationship Id="rId96" Type="http://schemas.openxmlformats.org/officeDocument/2006/relationships/slide" Target="slides/slide93.xml"/><Relationship Id="rId140" Type="http://schemas.openxmlformats.org/officeDocument/2006/relationships/slide" Target="slides/slide137.xml"/><Relationship Id="rId161" Type="http://schemas.openxmlformats.org/officeDocument/2006/relationships/slide" Target="slides/slide158.xml"/><Relationship Id="rId182" Type="http://schemas.openxmlformats.org/officeDocument/2006/relationships/slide" Target="slides/slide179.xml"/><Relationship Id="rId6" Type="http://schemas.openxmlformats.org/officeDocument/2006/relationships/slide" Target="slides/slide3.xml"/><Relationship Id="rId23" Type="http://schemas.openxmlformats.org/officeDocument/2006/relationships/slide" Target="slides/slide20.xml"/><Relationship Id="rId119" Type="http://schemas.openxmlformats.org/officeDocument/2006/relationships/slide" Target="slides/slide116.xml"/><Relationship Id="rId44" Type="http://schemas.openxmlformats.org/officeDocument/2006/relationships/slide" Target="slides/slide41.xml"/><Relationship Id="rId65" Type="http://schemas.openxmlformats.org/officeDocument/2006/relationships/slide" Target="slides/slide62.xml"/><Relationship Id="rId86" Type="http://schemas.openxmlformats.org/officeDocument/2006/relationships/slide" Target="slides/slide83.xml"/><Relationship Id="rId130" Type="http://schemas.openxmlformats.org/officeDocument/2006/relationships/slide" Target="slides/slide127.xml"/><Relationship Id="rId151" Type="http://schemas.openxmlformats.org/officeDocument/2006/relationships/slide" Target="slides/slide148.xml"/><Relationship Id="rId172" Type="http://schemas.openxmlformats.org/officeDocument/2006/relationships/slide" Target="slides/slide169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slide" Target="slides/slide10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slide" Target="slides/slide101.xml"/><Relationship Id="rId120" Type="http://schemas.openxmlformats.org/officeDocument/2006/relationships/slide" Target="slides/slide117.xml"/><Relationship Id="rId125" Type="http://schemas.openxmlformats.org/officeDocument/2006/relationships/slide" Target="slides/slide122.xml"/><Relationship Id="rId141" Type="http://schemas.openxmlformats.org/officeDocument/2006/relationships/slide" Target="slides/slide138.xml"/><Relationship Id="rId146" Type="http://schemas.openxmlformats.org/officeDocument/2006/relationships/slide" Target="slides/slide143.xml"/><Relationship Id="rId167" Type="http://schemas.openxmlformats.org/officeDocument/2006/relationships/slide" Target="slides/slide164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162" Type="http://schemas.openxmlformats.org/officeDocument/2006/relationships/slide" Target="slides/slide159.xml"/><Relationship Id="rId18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slide" Target="slides/slide107.xml"/><Relationship Id="rId115" Type="http://schemas.openxmlformats.org/officeDocument/2006/relationships/slide" Target="slides/slide112.xml"/><Relationship Id="rId131" Type="http://schemas.openxmlformats.org/officeDocument/2006/relationships/slide" Target="slides/slide128.xml"/><Relationship Id="rId136" Type="http://schemas.openxmlformats.org/officeDocument/2006/relationships/slide" Target="slides/slide133.xml"/><Relationship Id="rId157" Type="http://schemas.openxmlformats.org/officeDocument/2006/relationships/slide" Target="slides/slide154.xml"/><Relationship Id="rId178" Type="http://schemas.openxmlformats.org/officeDocument/2006/relationships/slide" Target="slides/slide175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52" Type="http://schemas.openxmlformats.org/officeDocument/2006/relationships/slide" Target="slides/slide149.xml"/><Relationship Id="rId173" Type="http://schemas.openxmlformats.org/officeDocument/2006/relationships/slide" Target="slides/slide170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slide" Target="slides/slide102.xml"/><Relationship Id="rId126" Type="http://schemas.openxmlformats.org/officeDocument/2006/relationships/slide" Target="slides/slide123.xml"/><Relationship Id="rId147" Type="http://schemas.openxmlformats.org/officeDocument/2006/relationships/slide" Target="slides/slide144.xml"/><Relationship Id="rId168" Type="http://schemas.openxmlformats.org/officeDocument/2006/relationships/slide" Target="slides/slide165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121" Type="http://schemas.openxmlformats.org/officeDocument/2006/relationships/slide" Target="slides/slide118.xml"/><Relationship Id="rId142" Type="http://schemas.openxmlformats.org/officeDocument/2006/relationships/slide" Target="slides/slide139.xml"/><Relationship Id="rId163" Type="http://schemas.openxmlformats.org/officeDocument/2006/relationships/slide" Target="slides/slide160.xml"/><Relationship Id="rId184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116" Type="http://schemas.openxmlformats.org/officeDocument/2006/relationships/slide" Target="slides/slide113.xml"/><Relationship Id="rId137" Type="http://schemas.openxmlformats.org/officeDocument/2006/relationships/slide" Target="slides/slide134.xml"/><Relationship Id="rId158" Type="http://schemas.openxmlformats.org/officeDocument/2006/relationships/slide" Target="slides/slide155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slide" Target="slides/slide108.xml"/><Relationship Id="rId132" Type="http://schemas.openxmlformats.org/officeDocument/2006/relationships/slide" Target="slides/slide129.xml"/><Relationship Id="rId153" Type="http://schemas.openxmlformats.org/officeDocument/2006/relationships/slide" Target="slides/slide150.xml"/><Relationship Id="rId174" Type="http://schemas.openxmlformats.org/officeDocument/2006/relationships/slide" Target="slides/slide171.xml"/><Relationship Id="rId179" Type="http://schemas.openxmlformats.org/officeDocument/2006/relationships/slide" Target="slides/slide176.xml"/><Relationship Id="rId15" Type="http://schemas.openxmlformats.org/officeDocument/2006/relationships/slide" Target="slides/slide12.xml"/><Relationship Id="rId36" Type="http://schemas.openxmlformats.org/officeDocument/2006/relationships/slide" Target="slides/slide33.xml"/><Relationship Id="rId57" Type="http://schemas.openxmlformats.org/officeDocument/2006/relationships/slide" Target="slides/slide54.xml"/><Relationship Id="rId106" Type="http://schemas.openxmlformats.org/officeDocument/2006/relationships/slide" Target="slides/slide103.xml"/><Relationship Id="rId127" Type="http://schemas.openxmlformats.org/officeDocument/2006/relationships/slide" Target="slides/slide12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52" Type="http://schemas.openxmlformats.org/officeDocument/2006/relationships/slide" Target="slides/slide49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122" Type="http://schemas.openxmlformats.org/officeDocument/2006/relationships/slide" Target="slides/slide119.xml"/><Relationship Id="rId143" Type="http://schemas.openxmlformats.org/officeDocument/2006/relationships/slide" Target="slides/slide140.xml"/><Relationship Id="rId148" Type="http://schemas.openxmlformats.org/officeDocument/2006/relationships/slide" Target="slides/slide145.xml"/><Relationship Id="rId164" Type="http://schemas.openxmlformats.org/officeDocument/2006/relationships/slide" Target="slides/slide161.xml"/><Relationship Id="rId169" Type="http://schemas.openxmlformats.org/officeDocument/2006/relationships/slide" Target="slides/slide166.xml"/><Relationship Id="rId185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80" Type="http://schemas.openxmlformats.org/officeDocument/2006/relationships/slide" Target="slides/slide177.xml"/><Relationship Id="rId26" Type="http://schemas.openxmlformats.org/officeDocument/2006/relationships/slide" Target="slides/slide23.xml"/><Relationship Id="rId47" Type="http://schemas.openxmlformats.org/officeDocument/2006/relationships/slide" Target="slides/slide44.xml"/><Relationship Id="rId68" Type="http://schemas.openxmlformats.org/officeDocument/2006/relationships/slide" Target="slides/slide65.xml"/><Relationship Id="rId89" Type="http://schemas.openxmlformats.org/officeDocument/2006/relationships/slide" Target="slides/slide86.xml"/><Relationship Id="rId112" Type="http://schemas.openxmlformats.org/officeDocument/2006/relationships/slide" Target="slides/slide109.xml"/><Relationship Id="rId133" Type="http://schemas.openxmlformats.org/officeDocument/2006/relationships/slide" Target="slides/slide130.xml"/><Relationship Id="rId154" Type="http://schemas.openxmlformats.org/officeDocument/2006/relationships/slide" Target="slides/slide151.xml"/><Relationship Id="rId175" Type="http://schemas.openxmlformats.org/officeDocument/2006/relationships/slide" Target="slides/slide172.xml"/><Relationship Id="rId16" Type="http://schemas.openxmlformats.org/officeDocument/2006/relationships/slide" Target="slides/slide13.xml"/><Relationship Id="rId37" Type="http://schemas.openxmlformats.org/officeDocument/2006/relationships/slide" Target="slides/slide34.xml"/><Relationship Id="rId58" Type="http://schemas.openxmlformats.org/officeDocument/2006/relationships/slide" Target="slides/slide55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123" Type="http://schemas.openxmlformats.org/officeDocument/2006/relationships/slide" Target="slides/slide120.xml"/><Relationship Id="rId144" Type="http://schemas.openxmlformats.org/officeDocument/2006/relationships/slide" Target="slides/slide141.xml"/><Relationship Id="rId90" Type="http://schemas.openxmlformats.org/officeDocument/2006/relationships/slide" Target="slides/slide87.xml"/><Relationship Id="rId165" Type="http://schemas.openxmlformats.org/officeDocument/2006/relationships/slide" Target="slides/slide162.xml"/><Relationship Id="rId186" Type="http://schemas.openxmlformats.org/officeDocument/2006/relationships/theme" Target="theme/theme1.xml"/><Relationship Id="rId27" Type="http://schemas.openxmlformats.org/officeDocument/2006/relationships/slide" Target="slides/slide24.xml"/><Relationship Id="rId48" Type="http://schemas.openxmlformats.org/officeDocument/2006/relationships/slide" Target="slides/slide45.xml"/><Relationship Id="rId69" Type="http://schemas.openxmlformats.org/officeDocument/2006/relationships/slide" Target="slides/slide66.xml"/><Relationship Id="rId113" Type="http://schemas.openxmlformats.org/officeDocument/2006/relationships/slide" Target="slides/slide110.xml"/><Relationship Id="rId134" Type="http://schemas.openxmlformats.org/officeDocument/2006/relationships/slide" Target="slides/slide131.xml"/><Relationship Id="rId80" Type="http://schemas.openxmlformats.org/officeDocument/2006/relationships/slide" Target="slides/slide77.xml"/><Relationship Id="rId155" Type="http://schemas.openxmlformats.org/officeDocument/2006/relationships/slide" Target="slides/slide152.xml"/><Relationship Id="rId176" Type="http://schemas.openxmlformats.org/officeDocument/2006/relationships/slide" Target="slides/slide173.xml"/><Relationship Id="rId17" Type="http://schemas.openxmlformats.org/officeDocument/2006/relationships/slide" Target="slides/slide14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24" Type="http://schemas.openxmlformats.org/officeDocument/2006/relationships/slide" Target="slides/slide121.xml"/><Relationship Id="rId70" Type="http://schemas.openxmlformats.org/officeDocument/2006/relationships/slide" Target="slides/slide67.xml"/><Relationship Id="rId91" Type="http://schemas.openxmlformats.org/officeDocument/2006/relationships/slide" Target="slides/slide88.xml"/><Relationship Id="rId145" Type="http://schemas.openxmlformats.org/officeDocument/2006/relationships/slide" Target="slides/slide142.xml"/><Relationship Id="rId166" Type="http://schemas.openxmlformats.org/officeDocument/2006/relationships/slide" Target="slides/slide163.xml"/><Relationship Id="rId18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5.xml"/><Relationship Id="rId49" Type="http://schemas.openxmlformats.org/officeDocument/2006/relationships/slide" Target="slides/slide46.xml"/><Relationship Id="rId114" Type="http://schemas.openxmlformats.org/officeDocument/2006/relationships/slide" Target="slides/slide111.xml"/><Relationship Id="rId60" Type="http://schemas.openxmlformats.org/officeDocument/2006/relationships/slide" Target="slides/slide57.xml"/><Relationship Id="rId81" Type="http://schemas.openxmlformats.org/officeDocument/2006/relationships/slide" Target="slides/slide78.xml"/><Relationship Id="rId135" Type="http://schemas.openxmlformats.org/officeDocument/2006/relationships/slide" Target="slides/slide132.xml"/><Relationship Id="rId156" Type="http://schemas.openxmlformats.org/officeDocument/2006/relationships/slide" Target="slides/slide153.xml"/><Relationship Id="rId177" Type="http://schemas.openxmlformats.org/officeDocument/2006/relationships/slide" Target="slides/slide17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D558E-8742-4BFA-AD8A-F33C97E8B945}" type="datetimeFigureOut">
              <a:rPr lang="en-US" smtClean="0"/>
              <a:pPr/>
              <a:t>3/30/2021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39838" y="1143000"/>
            <a:ext cx="43783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6E9357-523C-40C5-B7CE-88AC67A9F19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568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8C6C360-1AA6-426F-A8D9-CCF19AC95601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75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5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6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8525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8C6C360-1AA6-426F-A8D9-CCF19AC95601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76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5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6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8532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8C6C360-1AA6-426F-A8D9-CCF19AC95601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77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5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6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5423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8C6C360-1AA6-426F-A8D9-CCF19AC95601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78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5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6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38551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8C6C360-1AA6-426F-A8D9-CCF19AC95601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79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5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6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4056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8C6C360-1AA6-426F-A8D9-CCF19AC95601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80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5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6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65908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8C6C360-1AA6-426F-A8D9-CCF19AC95601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81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5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6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88240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8C6C360-1AA6-426F-A8D9-CCF19AC95601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82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5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6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61790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8C6C360-1AA6-426F-A8D9-CCF19AC95601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83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5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6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74068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8C6C360-1AA6-426F-A8D9-CCF19AC95601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84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5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6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65776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8C6C360-1AA6-426F-A8D9-CCF19AC95601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85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5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6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12143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8C6C360-1AA6-426F-A8D9-CCF19AC95601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86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5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6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95233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8C6C360-1AA6-426F-A8D9-CCF19AC95601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87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5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6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0443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8C6C360-1AA6-426F-A8D9-CCF19AC95601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88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5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6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58131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8C6C360-1AA6-426F-A8D9-CCF19AC95601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89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5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6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2690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8C6C360-1AA6-426F-A8D9-CCF19AC95601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90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5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6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30734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8C6C360-1AA6-426F-A8D9-CCF19AC95601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96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5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6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94061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8C6C360-1AA6-426F-A8D9-CCF19AC95601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99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5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6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25073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8C6C360-1AA6-426F-A8D9-CCF19AC95601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100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5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6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92424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8C6C360-1AA6-426F-A8D9-CCF19AC95601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101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5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6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5626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8C6C360-1AA6-426F-A8D9-CCF19AC95601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102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5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6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332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8C6C360-1AA6-426F-A8D9-CCF19AC95601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104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5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6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67631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8C6C360-1AA6-426F-A8D9-CCF19AC95601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105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5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6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67585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8C6C360-1AA6-426F-A8D9-CCF19AC95601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106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5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6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71869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8C6C360-1AA6-426F-A8D9-CCF19AC95601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107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5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6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5975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8C6C360-1AA6-426F-A8D9-CCF19AC95601}" type="slidenum">
              <a:rPr lang="en-GB" altLang="en-US" smtClean="0">
                <a:latin typeface="Times New Roman" pitchFamily="18" charset="0"/>
              </a:rPr>
              <a:pPr>
                <a:spcBef>
                  <a:spcPct val="0"/>
                </a:spcBef>
              </a:pPr>
              <a:t>134</a:t>
            </a:fld>
            <a:endParaRPr lang="en-GB" altLang="en-US">
              <a:latin typeface="Times New Roman" pitchFamily="18" charset="0"/>
            </a:endParaRPr>
          </a:p>
        </p:txBody>
      </p:sp>
      <p:sp>
        <p:nvSpPr>
          <p:cNvPr id="125955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25956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05123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8C6C360-1AA6-426F-A8D9-CCF19AC95601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135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5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6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34373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8C6C360-1AA6-426F-A8D9-CCF19AC95601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136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5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6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882781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8C6C360-1AA6-426F-A8D9-CCF19AC95601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137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5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6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668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8C6C360-1AA6-426F-A8D9-CCF19AC95601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138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5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6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743392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8C6C360-1AA6-426F-A8D9-CCF19AC95601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139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5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6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4080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8C6C360-1AA6-426F-A8D9-CCF19AC95601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140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5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6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22490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8C6C360-1AA6-426F-A8D9-CCF19AC95601}" type="slidenum">
              <a:rPr lang="en-GB" altLang="en-US" smtClean="0">
                <a:solidFill>
                  <a:prstClr val="black"/>
                </a:solidFill>
                <a:latin typeface="Times New Roman" pitchFamily="18" charset="0"/>
              </a:rPr>
              <a:pPr>
                <a:spcBef>
                  <a:spcPct val="0"/>
                </a:spcBef>
              </a:pPr>
              <a:t>141</a:t>
            </a:fld>
            <a:endParaRPr lang="en-GB" alt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5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2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25956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48061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149</a:t>
            </a:fld>
            <a:endParaRPr lang="en-GB" altLang="en-US" sz="1200" smtClean="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35748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29734" y="3124200"/>
            <a:ext cx="8270320" cy="8382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59470" y="4191000"/>
            <a:ext cx="6648689" cy="990600"/>
          </a:xfrm>
        </p:spPr>
        <p:txBody>
          <a:bodyPr/>
          <a:lstStyle>
            <a:lvl1pPr marL="0" indent="0" algn="ctr">
              <a:buFontTx/>
              <a:buNone/>
              <a:defRPr sz="4300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729734" y="6248400"/>
            <a:ext cx="2027039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24347" y="6248400"/>
            <a:ext cx="3081099" cy="457200"/>
          </a:xfrm>
        </p:spPr>
        <p:txBody>
          <a:bodyPr/>
          <a:lstStyle>
            <a:lvl1pPr algn="ctr">
              <a:defRPr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73016" y="6248400"/>
            <a:ext cx="2027039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6BD07A6F-49B2-46CC-8694-7874204663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6227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38781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586" y="4406906"/>
            <a:ext cx="827032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586" y="2906713"/>
            <a:ext cx="827032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D51563-9516-4805-BE0A-0F87CCE5BA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7295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7573" y="1676400"/>
            <a:ext cx="421624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5978" y="1676400"/>
            <a:ext cx="421624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BC43D5-2C6B-4F34-8BE0-B2269FA1DD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89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489" y="274638"/>
            <a:ext cx="875681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6492" y="1535113"/>
            <a:ext cx="429901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492" y="2174875"/>
            <a:ext cx="429901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42597" y="1535113"/>
            <a:ext cx="430070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42597" y="2174875"/>
            <a:ext cx="430070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A570E-81C1-4C02-A389-471327DFF6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022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92C82-554D-4A9F-B6FC-AEA270041A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3325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EB730-830B-4C2E-9CAC-497C9C0C71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114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492" y="273050"/>
            <a:ext cx="320103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4077" y="273056"/>
            <a:ext cx="543922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492" y="1435103"/>
            <a:ext cx="320103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C2BE9-C3A0-4A31-B6F8-4D3141C1FF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1667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109" y="4800600"/>
            <a:ext cx="583787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07109" y="612775"/>
            <a:ext cx="583787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7109" y="5367338"/>
            <a:ext cx="583787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A5D563-7C76-4E75-87F1-430831F83A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228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54E59-0785-479E-97CA-D3C26E97C4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753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3557" y="381000"/>
            <a:ext cx="2148661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7573" y="381000"/>
            <a:ext cx="6283821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C385D-0273-440B-8A17-C776D5F973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3398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9734" y="1122363"/>
            <a:ext cx="827032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6224" y="3602038"/>
            <a:ext cx="729734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/>
              <a:pPr/>
              <a:t>3/30/2021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729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/>
              <a:pPr/>
              <a:t>3/30/2021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2577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856" y="1709740"/>
            <a:ext cx="839194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856" y="4589465"/>
            <a:ext cx="839194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/>
              <a:pPr/>
              <a:t>3/30/2021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683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923" y="1825625"/>
            <a:ext cx="41351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5705" y="1825625"/>
            <a:ext cx="41351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/>
              <a:pPr/>
              <a:t>3/30/2021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1218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365127"/>
            <a:ext cx="839194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191" y="1681163"/>
            <a:ext cx="411615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191" y="2505075"/>
            <a:ext cx="411615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5706" y="1681163"/>
            <a:ext cx="413642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5706" y="2505075"/>
            <a:ext cx="413642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/>
              <a:pPr/>
              <a:t>3/30/2021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2127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/>
              <a:pPr/>
              <a:t>3/30/2021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397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/>
              <a:pPr/>
              <a:t>3/30/2021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9220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457200"/>
            <a:ext cx="313811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6427" y="987427"/>
            <a:ext cx="492570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0" y="2057400"/>
            <a:ext cx="313811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/>
              <a:pPr/>
              <a:t>3/30/2021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3909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457200"/>
            <a:ext cx="313811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6427" y="987427"/>
            <a:ext cx="4925705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0" y="2057400"/>
            <a:ext cx="313811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/>
              <a:pPr/>
              <a:t>3/30/2021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673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/>
              <a:pPr/>
              <a:t>3/30/2021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295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2880" y="365125"/>
            <a:ext cx="2097986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924" y="365125"/>
            <a:ext cx="6172334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/>
              <a:pPr/>
              <a:t>3/30/2021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3191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6224" y="1122363"/>
            <a:ext cx="7297341" cy="2387600"/>
          </a:xfrm>
        </p:spPr>
        <p:txBody>
          <a:bodyPr anchor="b"/>
          <a:lstStyle>
            <a:lvl1pPr algn="ctr">
              <a:defRPr sz="4789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6224" y="3602038"/>
            <a:ext cx="7297341" cy="1655762"/>
          </a:xfrm>
        </p:spPr>
        <p:txBody>
          <a:bodyPr/>
          <a:lstStyle>
            <a:lvl1pPr marL="0" indent="0" algn="ctr">
              <a:buNone/>
              <a:defRPr sz="1915"/>
            </a:lvl1pPr>
            <a:lvl2pPr marL="364871" indent="0" algn="ctr">
              <a:buNone/>
              <a:defRPr sz="1596"/>
            </a:lvl2pPr>
            <a:lvl3pPr marL="729742" indent="0" algn="ctr">
              <a:buNone/>
              <a:defRPr sz="1436"/>
            </a:lvl3pPr>
            <a:lvl4pPr marL="1094613" indent="0" algn="ctr">
              <a:buNone/>
              <a:defRPr sz="1277"/>
            </a:lvl4pPr>
            <a:lvl5pPr marL="1459484" indent="0" algn="ctr">
              <a:buNone/>
              <a:defRPr sz="1277"/>
            </a:lvl5pPr>
            <a:lvl6pPr marL="1824356" indent="0" algn="ctr">
              <a:buNone/>
              <a:defRPr sz="1277"/>
            </a:lvl6pPr>
            <a:lvl7pPr marL="2189226" indent="0" algn="ctr">
              <a:buNone/>
              <a:defRPr sz="1277"/>
            </a:lvl7pPr>
            <a:lvl8pPr marL="2554097" indent="0" algn="ctr">
              <a:buNone/>
              <a:defRPr sz="1277"/>
            </a:lvl8pPr>
            <a:lvl9pPr marL="2918969" indent="0" algn="ctr">
              <a:buNone/>
              <a:defRPr sz="1277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3/30/2021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0062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3/30/2021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19778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856" y="1709740"/>
            <a:ext cx="8391942" cy="2852737"/>
          </a:xfrm>
        </p:spPr>
        <p:txBody>
          <a:bodyPr anchor="b"/>
          <a:lstStyle>
            <a:lvl1pPr>
              <a:defRPr sz="4789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856" y="4589465"/>
            <a:ext cx="8391942" cy="1500187"/>
          </a:xfrm>
        </p:spPr>
        <p:txBody>
          <a:bodyPr/>
          <a:lstStyle>
            <a:lvl1pPr marL="0" indent="0">
              <a:buNone/>
              <a:defRPr sz="1915">
                <a:solidFill>
                  <a:schemeClr val="tx1">
                    <a:tint val="75000"/>
                  </a:schemeClr>
                </a:solidFill>
              </a:defRPr>
            </a:lvl1pPr>
            <a:lvl2pPr marL="364871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2pPr>
            <a:lvl3pPr marL="729742" indent="0">
              <a:buNone/>
              <a:defRPr sz="1436">
                <a:solidFill>
                  <a:schemeClr val="tx1">
                    <a:tint val="75000"/>
                  </a:schemeClr>
                </a:solidFill>
              </a:defRPr>
            </a:lvl3pPr>
            <a:lvl4pPr marL="1094613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4pPr>
            <a:lvl5pPr marL="1459484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5pPr>
            <a:lvl6pPr marL="1824356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6pPr>
            <a:lvl7pPr marL="2189226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7pPr>
            <a:lvl8pPr marL="2554097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8pPr>
            <a:lvl9pPr marL="2918969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3/30/2021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9928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923" y="1825625"/>
            <a:ext cx="41351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5705" y="1825625"/>
            <a:ext cx="41351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3/30/2021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6322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0" y="365127"/>
            <a:ext cx="839194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191" y="1681163"/>
            <a:ext cx="4116156" cy="823912"/>
          </a:xfrm>
        </p:spPr>
        <p:txBody>
          <a:bodyPr anchor="b"/>
          <a:lstStyle>
            <a:lvl1pPr marL="0" indent="0">
              <a:buNone/>
              <a:defRPr sz="1915" b="1"/>
            </a:lvl1pPr>
            <a:lvl2pPr marL="364871" indent="0">
              <a:buNone/>
              <a:defRPr sz="1596" b="1"/>
            </a:lvl2pPr>
            <a:lvl3pPr marL="729742" indent="0">
              <a:buNone/>
              <a:defRPr sz="1436" b="1"/>
            </a:lvl3pPr>
            <a:lvl4pPr marL="1094613" indent="0">
              <a:buNone/>
              <a:defRPr sz="1277" b="1"/>
            </a:lvl4pPr>
            <a:lvl5pPr marL="1459484" indent="0">
              <a:buNone/>
              <a:defRPr sz="1277" b="1"/>
            </a:lvl5pPr>
            <a:lvl6pPr marL="1824356" indent="0">
              <a:buNone/>
              <a:defRPr sz="1277" b="1"/>
            </a:lvl6pPr>
            <a:lvl7pPr marL="2189226" indent="0">
              <a:buNone/>
              <a:defRPr sz="1277" b="1"/>
            </a:lvl7pPr>
            <a:lvl8pPr marL="2554097" indent="0">
              <a:buNone/>
              <a:defRPr sz="1277" b="1"/>
            </a:lvl8pPr>
            <a:lvl9pPr marL="2918969" indent="0">
              <a:buNone/>
              <a:defRPr sz="1277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191" y="2505075"/>
            <a:ext cx="411615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5705" y="1681163"/>
            <a:ext cx="4136428" cy="823912"/>
          </a:xfrm>
        </p:spPr>
        <p:txBody>
          <a:bodyPr anchor="b"/>
          <a:lstStyle>
            <a:lvl1pPr marL="0" indent="0">
              <a:buNone/>
              <a:defRPr sz="1915" b="1"/>
            </a:lvl1pPr>
            <a:lvl2pPr marL="364871" indent="0">
              <a:buNone/>
              <a:defRPr sz="1596" b="1"/>
            </a:lvl2pPr>
            <a:lvl3pPr marL="729742" indent="0">
              <a:buNone/>
              <a:defRPr sz="1436" b="1"/>
            </a:lvl3pPr>
            <a:lvl4pPr marL="1094613" indent="0">
              <a:buNone/>
              <a:defRPr sz="1277" b="1"/>
            </a:lvl4pPr>
            <a:lvl5pPr marL="1459484" indent="0">
              <a:buNone/>
              <a:defRPr sz="1277" b="1"/>
            </a:lvl5pPr>
            <a:lvl6pPr marL="1824356" indent="0">
              <a:buNone/>
              <a:defRPr sz="1277" b="1"/>
            </a:lvl6pPr>
            <a:lvl7pPr marL="2189226" indent="0">
              <a:buNone/>
              <a:defRPr sz="1277" b="1"/>
            </a:lvl7pPr>
            <a:lvl8pPr marL="2554097" indent="0">
              <a:buNone/>
              <a:defRPr sz="1277" b="1"/>
            </a:lvl8pPr>
            <a:lvl9pPr marL="2918969" indent="0">
              <a:buNone/>
              <a:defRPr sz="1277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5705" y="2505075"/>
            <a:ext cx="413642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3/30/2021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01184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3/30/2021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8599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3/30/2021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51722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457200"/>
            <a:ext cx="3138110" cy="1600200"/>
          </a:xfrm>
        </p:spPr>
        <p:txBody>
          <a:bodyPr anchor="b"/>
          <a:lstStyle>
            <a:lvl1pPr>
              <a:defRPr sz="2553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6428" y="987427"/>
            <a:ext cx="4925705" cy="4873625"/>
          </a:xfrm>
        </p:spPr>
        <p:txBody>
          <a:bodyPr/>
          <a:lstStyle>
            <a:lvl1pPr>
              <a:defRPr sz="2553"/>
            </a:lvl1pPr>
            <a:lvl2pPr>
              <a:defRPr sz="2234"/>
            </a:lvl2pPr>
            <a:lvl3pPr>
              <a:defRPr sz="1915"/>
            </a:lvl3pPr>
            <a:lvl4pPr>
              <a:defRPr sz="1596"/>
            </a:lvl4pPr>
            <a:lvl5pPr>
              <a:defRPr sz="1596"/>
            </a:lvl5pPr>
            <a:lvl6pPr>
              <a:defRPr sz="1596"/>
            </a:lvl6pPr>
            <a:lvl7pPr>
              <a:defRPr sz="1596"/>
            </a:lvl7pPr>
            <a:lvl8pPr>
              <a:defRPr sz="1596"/>
            </a:lvl8pPr>
            <a:lvl9pPr>
              <a:defRPr sz="1596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1" y="2057400"/>
            <a:ext cx="3138110" cy="3811588"/>
          </a:xfrm>
        </p:spPr>
        <p:txBody>
          <a:bodyPr/>
          <a:lstStyle>
            <a:lvl1pPr marL="0" indent="0">
              <a:buNone/>
              <a:defRPr sz="1277"/>
            </a:lvl1pPr>
            <a:lvl2pPr marL="364871" indent="0">
              <a:buNone/>
              <a:defRPr sz="1117"/>
            </a:lvl2pPr>
            <a:lvl3pPr marL="729742" indent="0">
              <a:buNone/>
              <a:defRPr sz="958"/>
            </a:lvl3pPr>
            <a:lvl4pPr marL="1094613" indent="0">
              <a:buNone/>
              <a:defRPr sz="798"/>
            </a:lvl4pPr>
            <a:lvl5pPr marL="1459484" indent="0">
              <a:buNone/>
              <a:defRPr sz="798"/>
            </a:lvl5pPr>
            <a:lvl6pPr marL="1824356" indent="0">
              <a:buNone/>
              <a:defRPr sz="798"/>
            </a:lvl6pPr>
            <a:lvl7pPr marL="2189226" indent="0">
              <a:buNone/>
              <a:defRPr sz="798"/>
            </a:lvl7pPr>
            <a:lvl8pPr marL="2554097" indent="0">
              <a:buNone/>
              <a:defRPr sz="798"/>
            </a:lvl8pPr>
            <a:lvl9pPr marL="2918969" indent="0">
              <a:buNone/>
              <a:defRPr sz="798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3/30/2021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2365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191" y="457200"/>
            <a:ext cx="3138110" cy="1600200"/>
          </a:xfrm>
        </p:spPr>
        <p:txBody>
          <a:bodyPr anchor="b"/>
          <a:lstStyle>
            <a:lvl1pPr>
              <a:defRPr sz="2553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36428" y="987427"/>
            <a:ext cx="4925705" cy="4873625"/>
          </a:xfrm>
        </p:spPr>
        <p:txBody>
          <a:bodyPr/>
          <a:lstStyle>
            <a:lvl1pPr marL="0" indent="0">
              <a:buNone/>
              <a:defRPr sz="2553"/>
            </a:lvl1pPr>
            <a:lvl2pPr marL="364871" indent="0">
              <a:buNone/>
              <a:defRPr sz="2234"/>
            </a:lvl2pPr>
            <a:lvl3pPr marL="729742" indent="0">
              <a:buNone/>
              <a:defRPr sz="1915"/>
            </a:lvl3pPr>
            <a:lvl4pPr marL="1094613" indent="0">
              <a:buNone/>
              <a:defRPr sz="1596"/>
            </a:lvl4pPr>
            <a:lvl5pPr marL="1459484" indent="0">
              <a:buNone/>
              <a:defRPr sz="1596"/>
            </a:lvl5pPr>
            <a:lvl6pPr marL="1824356" indent="0">
              <a:buNone/>
              <a:defRPr sz="1596"/>
            </a:lvl6pPr>
            <a:lvl7pPr marL="2189226" indent="0">
              <a:buNone/>
              <a:defRPr sz="1596"/>
            </a:lvl7pPr>
            <a:lvl8pPr marL="2554097" indent="0">
              <a:buNone/>
              <a:defRPr sz="1596"/>
            </a:lvl8pPr>
            <a:lvl9pPr marL="2918969" indent="0">
              <a:buNone/>
              <a:defRPr sz="159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191" y="2057400"/>
            <a:ext cx="3138110" cy="3811588"/>
          </a:xfrm>
        </p:spPr>
        <p:txBody>
          <a:bodyPr/>
          <a:lstStyle>
            <a:lvl1pPr marL="0" indent="0">
              <a:buNone/>
              <a:defRPr sz="1277"/>
            </a:lvl1pPr>
            <a:lvl2pPr marL="364871" indent="0">
              <a:buNone/>
              <a:defRPr sz="1117"/>
            </a:lvl2pPr>
            <a:lvl3pPr marL="729742" indent="0">
              <a:buNone/>
              <a:defRPr sz="958"/>
            </a:lvl3pPr>
            <a:lvl4pPr marL="1094613" indent="0">
              <a:buNone/>
              <a:defRPr sz="798"/>
            </a:lvl4pPr>
            <a:lvl5pPr marL="1459484" indent="0">
              <a:buNone/>
              <a:defRPr sz="798"/>
            </a:lvl5pPr>
            <a:lvl6pPr marL="1824356" indent="0">
              <a:buNone/>
              <a:defRPr sz="798"/>
            </a:lvl6pPr>
            <a:lvl7pPr marL="2189226" indent="0">
              <a:buNone/>
              <a:defRPr sz="798"/>
            </a:lvl7pPr>
            <a:lvl8pPr marL="2554097" indent="0">
              <a:buNone/>
              <a:defRPr sz="798"/>
            </a:lvl8pPr>
            <a:lvl9pPr marL="2918969" indent="0">
              <a:buNone/>
              <a:defRPr sz="798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3/30/2021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55382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3/30/2021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149278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2879" y="365125"/>
            <a:ext cx="2097986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923" y="365125"/>
            <a:ext cx="6172334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924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375BA7AC-D5B2-4EAB-A1FF-2BEE77A7CE74}" type="datetimeFigureOut">
              <a:rPr lang="en-US">
                <a:solidFill>
                  <a:prstClr val="black"/>
                </a:solidFill>
              </a:rPr>
              <a:pPr/>
              <a:t>3/30/2021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/>
          <a:lstStyle/>
          <a:p>
            <a:fld id="{D192214B-8AB3-47AC-8DCC-1843CB75F973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438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67572" y="381000"/>
            <a:ext cx="8594646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7572" y="1295400"/>
            <a:ext cx="8594646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67572" y="6324600"/>
            <a:ext cx="624328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3016" y="6324600"/>
            <a:ext cx="218920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ECBAB90-F380-4A7C-A3EC-C9AFA9EB0263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5341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600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923" y="365127"/>
            <a:ext cx="83919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8923" y="1825625"/>
            <a:ext cx="839194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8923" y="6356352"/>
            <a:ext cx="21892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3/30/2021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22993" y="6356352"/>
            <a:ext cx="32838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1663" y="6356352"/>
            <a:ext cx="21892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130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729788" cy="11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9076" y="1161143"/>
            <a:ext cx="9034803" cy="5015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583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729742" rtl="0" eaLnBrk="1" latinLnBrk="0" hangingPunct="1">
        <a:lnSpc>
          <a:spcPct val="90000"/>
        </a:lnSpc>
        <a:spcBef>
          <a:spcPct val="0"/>
        </a:spcBef>
        <a:buNone/>
        <a:defRPr sz="3511" kern="1200">
          <a:solidFill>
            <a:srgbClr val="002060"/>
          </a:solidFill>
          <a:latin typeface="Elephant" panose="02020904090505020303" pitchFamily="18" charset="0"/>
          <a:ea typeface="+mj-ea"/>
          <a:cs typeface="+mj-cs"/>
        </a:defRPr>
      </a:lvl1pPr>
    </p:titleStyle>
    <p:bodyStyle>
      <a:lvl1pPr marL="182436" indent="-182436" algn="l" defTabSz="729742" rtl="0" eaLnBrk="1" latinLnBrk="0" hangingPunct="1">
        <a:lnSpc>
          <a:spcPct val="90000"/>
        </a:lnSpc>
        <a:spcBef>
          <a:spcPts val="798"/>
        </a:spcBef>
        <a:buFont typeface="Arial" panose="020B0604020202020204" pitchFamily="34" charset="0"/>
        <a:buChar char="•"/>
        <a:defRPr sz="3192" kern="1200">
          <a:solidFill>
            <a:schemeClr val="tx1"/>
          </a:solidFill>
          <a:latin typeface="+mn-lt"/>
          <a:ea typeface="+mn-ea"/>
          <a:cs typeface="+mn-cs"/>
        </a:defRPr>
      </a:lvl1pPr>
      <a:lvl2pPr marL="547307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873" kern="1200">
          <a:solidFill>
            <a:schemeClr val="tx1"/>
          </a:solidFill>
          <a:latin typeface="+mn-lt"/>
          <a:ea typeface="+mn-ea"/>
          <a:cs typeface="+mn-cs"/>
        </a:defRPr>
      </a:lvl2pPr>
      <a:lvl3pPr marL="912177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553" kern="1200">
          <a:solidFill>
            <a:schemeClr val="tx1"/>
          </a:solidFill>
          <a:latin typeface="+mn-lt"/>
          <a:ea typeface="+mn-ea"/>
          <a:cs typeface="+mn-cs"/>
        </a:defRPr>
      </a:lvl3pPr>
      <a:lvl4pPr marL="1277049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234" kern="1200">
          <a:solidFill>
            <a:schemeClr val="tx1"/>
          </a:solidFill>
          <a:latin typeface="+mn-lt"/>
          <a:ea typeface="+mn-ea"/>
          <a:cs typeface="+mn-cs"/>
        </a:defRPr>
      </a:lvl4pPr>
      <a:lvl5pPr marL="1641920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234" kern="1200">
          <a:solidFill>
            <a:schemeClr val="tx1"/>
          </a:solidFill>
          <a:latin typeface="+mn-lt"/>
          <a:ea typeface="+mn-ea"/>
          <a:cs typeface="+mn-cs"/>
        </a:defRPr>
      </a:lvl5pPr>
      <a:lvl6pPr marL="2006790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6pPr>
      <a:lvl7pPr marL="2371662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7pPr>
      <a:lvl8pPr marL="2736533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8pPr>
      <a:lvl9pPr marL="3101404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1pPr>
      <a:lvl2pPr marL="364871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2pPr>
      <a:lvl3pPr marL="729742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3pPr>
      <a:lvl4pPr marL="1094613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4pPr>
      <a:lvl5pPr marL="1459484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5pPr>
      <a:lvl6pPr marL="1824356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6pPr>
      <a:lvl7pPr marL="2189226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7pPr>
      <a:lvl8pPr marL="2554097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8pPr>
      <a:lvl9pPr marL="2918969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4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4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8209" y="1034880"/>
            <a:ext cx="9081135" cy="51898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302" dirty="0">
                <a:cs typeface="Courier New" pitchFamily="49" charset="0"/>
              </a:rPr>
              <a:t>There are 5 possible types of parameter definitions:</a:t>
            </a:r>
          </a:p>
          <a:p>
            <a:pPr marL="525636" indent="-362558"/>
            <a:r>
              <a:rPr lang="en-US" sz="3302" dirty="0" smtClean="0">
                <a:cs typeface="Courier New" pitchFamily="49" charset="0"/>
              </a:rPr>
              <a:t>Positional </a:t>
            </a:r>
            <a:r>
              <a:rPr lang="en-US" sz="3302" dirty="0">
                <a:cs typeface="Courier New" pitchFamily="49" charset="0"/>
              </a:rPr>
              <a:t>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Keyword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Default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Variable-length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Keyword-only arguments</a:t>
            </a:r>
          </a:p>
          <a:p>
            <a:endParaRPr lang="en-US" sz="3302" dirty="0">
              <a:solidFill>
                <a:srgbClr val="660066"/>
              </a:solidFill>
              <a:cs typeface="Courier New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 smtClean="0">
                <a:solidFill>
                  <a:srgbClr val="0070C0"/>
                </a:solidFill>
              </a:rPr>
              <a:t>Defining Function Parameters</a:t>
            </a:r>
            <a:endParaRPr lang="en-US" sz="4400" dirty="0">
              <a:solidFill>
                <a:srgbClr val="0070C0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 flipH="1">
            <a:off x="8138459" y="151719"/>
            <a:ext cx="2143638" cy="720501"/>
            <a:chOff x="2289" y="199343"/>
            <a:chExt cx="2143638" cy="720501"/>
          </a:xfrm>
        </p:grpSpPr>
        <p:sp>
          <p:nvSpPr>
            <p:cNvPr id="6" name="Trapezoid 5"/>
            <p:cNvSpPr/>
            <p:nvPr/>
          </p:nvSpPr>
          <p:spPr bwMode="auto">
            <a:xfrm rot="18900000">
              <a:off x="2289" y="230680"/>
              <a:ext cx="2143638" cy="660774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en-US" sz="2800" dirty="0">
                <a:latin typeface="Arial" charset="0"/>
                <a:ea typeface="新細明體" charset="-12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 rot="18900000">
              <a:off x="54350" y="199343"/>
              <a:ext cx="2034192" cy="7205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from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5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743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8209" y="1034880"/>
            <a:ext cx="9081135" cy="51898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302" dirty="0">
                <a:cs typeface="Courier New" pitchFamily="49" charset="0"/>
              </a:rPr>
              <a:t>There are 5 possible types of parameter definitions:</a:t>
            </a:r>
          </a:p>
          <a:p>
            <a:pPr marL="525636" indent="-362558"/>
            <a:r>
              <a:rPr lang="en-US" sz="3302" dirty="0" smtClean="0">
                <a:solidFill>
                  <a:srgbClr val="FF0000"/>
                </a:solidFill>
                <a:cs typeface="Courier New" pitchFamily="49" charset="0"/>
              </a:rPr>
              <a:t>Positional arguments</a:t>
            </a:r>
            <a:endParaRPr lang="en-US" sz="3302" dirty="0">
              <a:solidFill>
                <a:srgbClr val="FF0000"/>
              </a:solidFill>
              <a:cs typeface="Courier New" pitchFamily="49" charset="0"/>
            </a:endParaRPr>
          </a:p>
          <a:p>
            <a:pPr marL="525636" indent="-362558"/>
            <a:r>
              <a:rPr lang="en-US" sz="3302" dirty="0">
                <a:cs typeface="Courier New" pitchFamily="49" charset="0"/>
              </a:rPr>
              <a:t>Keyword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Default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Variable-length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Keyword-only arguments</a:t>
            </a:r>
          </a:p>
          <a:p>
            <a:endParaRPr lang="en-US" sz="3302" dirty="0">
              <a:solidFill>
                <a:srgbClr val="660066"/>
              </a:solidFill>
              <a:cs typeface="Courier New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 smtClean="0">
                <a:solidFill>
                  <a:srgbClr val="0070C0"/>
                </a:solidFill>
              </a:rPr>
              <a:t>Defining Function Parameters</a:t>
            </a:r>
            <a:endParaRPr lang="en-US" sz="4400" dirty="0">
              <a:solidFill>
                <a:srgbClr val="0070C0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 flipH="1">
            <a:off x="8138459" y="151719"/>
            <a:ext cx="2143638" cy="720501"/>
            <a:chOff x="2289" y="199343"/>
            <a:chExt cx="2143638" cy="720501"/>
          </a:xfrm>
        </p:grpSpPr>
        <p:sp>
          <p:nvSpPr>
            <p:cNvPr id="6" name="Trapezoid 5"/>
            <p:cNvSpPr/>
            <p:nvPr/>
          </p:nvSpPr>
          <p:spPr bwMode="auto">
            <a:xfrm rot="18900000">
              <a:off x="2289" y="230680"/>
              <a:ext cx="2143638" cy="660774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en-US" sz="2800" dirty="0">
                <a:latin typeface="Arial" charset="0"/>
                <a:ea typeface="新細明體" charset="-12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 rot="18900000">
              <a:off x="54350" y="199343"/>
              <a:ext cx="2034192" cy="7205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from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5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6186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59891" y="444749"/>
            <a:ext cx="9479422" cy="5779999"/>
            <a:chOff x="272955" y="175490"/>
            <a:chExt cx="10334720" cy="6301510"/>
          </a:xfrm>
        </p:grpSpPr>
        <p:sp>
          <p:nvSpPr>
            <p:cNvPr id="4" name="Content Placeholder 2"/>
            <p:cNvSpPr txBox="1">
              <a:spLocks/>
            </p:cNvSpPr>
            <p:nvPr/>
          </p:nvSpPr>
          <p:spPr>
            <a:xfrm>
              <a:off x="272955" y="818866"/>
              <a:ext cx="10334720" cy="5658134"/>
            </a:xfrm>
            <a:prstGeom prst="rect">
              <a:avLst/>
            </a:prstGeom>
          </p:spPr>
          <p:txBody>
            <a:bodyPr vert="horz" lIns="83872" tIns="41936" rIns="83872" bIns="41936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4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Aft>
                  <a:spcPts val="1101"/>
                </a:spcAft>
                <a:buNone/>
              </a:pPr>
              <a:r>
                <a:rPr lang="en-US" sz="3600" dirty="0"/>
                <a:t/>
              </a:r>
              <a:br>
                <a:rPr lang="en-US" sz="3600" dirty="0"/>
              </a:br>
              <a:r>
                <a:rPr lang="en-US" sz="3600" dirty="0"/>
                <a:t>  </a:t>
              </a:r>
            </a:p>
            <a:p>
              <a:pPr lvl="1">
                <a:buFontTx/>
                <a:buNone/>
              </a:pPr>
              <a:endParaRPr lang="en-US" sz="2800" dirty="0">
                <a:latin typeface="Consolas" panose="020B0609020204030204" pitchFamily="49" charset="0"/>
                <a:cs typeface="Courier New" pitchFamily="49" charset="0"/>
              </a:endParaRPr>
            </a:p>
            <a:p>
              <a:pPr lvl="1">
                <a:buFontTx/>
                <a:buNone/>
              </a:pPr>
              <a:endPara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endParaRPr>
            </a:p>
            <a:p>
              <a:pPr lvl="1">
                <a:buFontTx/>
                <a:buNone/>
              </a:pPr>
              <a:r>
                <a:rPr lang="en-US" sz="2800" dirty="0">
                  <a:solidFill>
                    <a:srgbClr val="FF0000"/>
                  </a:solidFill>
                  <a:latin typeface="Consolas" panose="020B0609020204030204" pitchFamily="49" charset="0"/>
                  <a:cs typeface="Courier New" pitchFamily="49" charset="0"/>
                </a:rPr>
                <a:t>	  </a:t>
              </a:r>
              <a:r>
                <a:rPr lang="en-US" sz="2800" dirty="0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  <a:cs typeface="Courier New" pitchFamily="49" charset="0"/>
                </a:rPr>
                <a:t>print ("Name:", name, " Age:", age) </a:t>
              </a:r>
            </a:p>
            <a:p>
              <a:pPr lvl="1">
                <a:buFontTx/>
                <a:buNone/>
              </a:pPr>
              <a:endParaRPr lang="en-US" sz="2800" dirty="0">
                <a:latin typeface="Consolas" panose="020B0609020204030204" pitchFamily="49" charset="0"/>
                <a:cs typeface="Courier New" pitchFamily="49" charset="0"/>
              </a:endParaRPr>
            </a:p>
            <a:p>
              <a:pPr lvl="1">
                <a:buFontTx/>
                <a:buNone/>
              </a:pPr>
              <a:endParaRPr lang="en-US" sz="2800" dirty="0">
                <a:latin typeface="Consolas" panose="020B0609020204030204" pitchFamily="49" charset="0"/>
                <a:cs typeface="Courier New" pitchFamily="49" charset="0"/>
              </a:endParaRPr>
            </a:p>
            <a:p>
              <a:endParaRPr lang="en-US" sz="4800" dirty="0">
                <a:solidFill>
                  <a:srgbClr val="660066"/>
                </a:solidFill>
                <a:latin typeface="Consolas" panose="020B0609020204030204" pitchFamily="49" charset="0"/>
                <a:cs typeface="Courier New" pitchFamily="49" charset="0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272955" y="175490"/>
              <a:ext cx="161154" cy="6433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51" dirty="0"/>
            </a:p>
          </p:txBody>
        </p:sp>
      </p:grp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250366" y="1034880"/>
            <a:ext cx="9479422" cy="5189869"/>
          </a:xfrm>
        </p:spPr>
        <p:txBody>
          <a:bodyPr>
            <a:noAutofit/>
          </a:bodyPr>
          <a:lstStyle/>
          <a:p>
            <a:pPr>
              <a:spcAft>
                <a:spcPts val="1101"/>
              </a:spcAft>
            </a:pPr>
            <a:r>
              <a:rPr lang="en-US" sz="3600" dirty="0" smtClean="0"/>
              <a:t>Positional arguments are </a:t>
            </a:r>
            <a:r>
              <a:rPr lang="en-US" sz="3600" dirty="0"/>
              <a:t>passed to a </a:t>
            </a:r>
            <a:r>
              <a:rPr lang="en-US" sz="3600" dirty="0" smtClean="0"/>
              <a:t>function based on their position in the argument list. </a:t>
            </a:r>
            <a:endParaRPr lang="en-US" sz="3600" dirty="0"/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cat test.py</a:t>
            </a:r>
          </a:p>
          <a:p>
            <a:pPr lvl="1">
              <a:buFontTx/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 name, age ):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  print ("Name:", name, " Age:", age) </a:t>
            </a:r>
          </a:p>
          <a:p>
            <a:pPr lvl="1">
              <a:buFontTx/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("Sally", 20)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python3 test.py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lvl="1">
              <a:buFontTx/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Name: Sally  Age: 20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</a:p>
          <a:p>
            <a:endParaRPr lang="en-US" sz="4800" dirty="0">
              <a:solidFill>
                <a:srgbClr val="660066"/>
              </a:solidFill>
              <a:latin typeface="Consolas" panose="020B0609020204030204" pitchFamily="49" charset="0"/>
              <a:cs typeface="Courier New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 smtClean="0">
                <a:solidFill>
                  <a:srgbClr val="0070C0"/>
                </a:solidFill>
              </a:rPr>
              <a:t>Positional arguments</a:t>
            </a:r>
            <a:endParaRPr lang="en-US" sz="4400" dirty="0">
              <a:solidFill>
                <a:srgbClr val="0070C0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 flipH="1">
            <a:off x="8138459" y="151719"/>
            <a:ext cx="2143638" cy="720501"/>
            <a:chOff x="2289" y="199343"/>
            <a:chExt cx="2143638" cy="720501"/>
          </a:xfrm>
        </p:grpSpPr>
        <p:sp>
          <p:nvSpPr>
            <p:cNvPr id="9" name="Trapezoid 8"/>
            <p:cNvSpPr/>
            <p:nvPr/>
          </p:nvSpPr>
          <p:spPr bwMode="auto">
            <a:xfrm rot="18900000">
              <a:off x="2289" y="230680"/>
              <a:ext cx="2143638" cy="660774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en-US" sz="2800" dirty="0">
                <a:latin typeface="Arial" charset="0"/>
                <a:ea typeface="新細明體" charset="-12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 rot="18900000">
              <a:off x="54350" y="199343"/>
              <a:ext cx="2034192" cy="7205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from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5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5561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250366" y="1034880"/>
            <a:ext cx="9479422" cy="5189869"/>
          </a:xfrm>
        </p:spPr>
        <p:txBody>
          <a:bodyPr>
            <a:noAutofit/>
          </a:bodyPr>
          <a:lstStyle/>
          <a:p>
            <a:pPr>
              <a:spcAft>
                <a:spcPts val="1101"/>
              </a:spcAft>
            </a:pPr>
            <a:r>
              <a:rPr lang="en-US" sz="3600" dirty="0" smtClean="0"/>
              <a:t>Positional arguments </a:t>
            </a:r>
            <a:r>
              <a:rPr lang="en-US" sz="3600" dirty="0"/>
              <a:t>are passed to a function based on their position in the argument list. 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cat test.py</a:t>
            </a:r>
          </a:p>
          <a:p>
            <a:pPr lvl="1">
              <a:buFontTx/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def </a:t>
            </a: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 name, age ):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  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print ("Name:", name, " Age:", age) </a:t>
            </a:r>
          </a:p>
          <a:p>
            <a:pPr lvl="1">
              <a:buFontTx/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("Sally")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python3 test.py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sz="2568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Traceback</a:t>
            </a:r>
            <a:r>
              <a:rPr lang="en-US" sz="2568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 (most recent call last): </a:t>
            </a: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568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File "test.py", line 4, in &lt;module&gt; </a:t>
            </a:r>
            <a:r>
              <a:rPr lang="en-US" sz="2568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568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(); </a:t>
            </a: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568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TypeError</a:t>
            </a:r>
            <a:r>
              <a:rPr lang="en-US" sz="2568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: </a:t>
            </a:r>
            <a:r>
              <a:rPr lang="en-US" sz="2568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568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() takes exactly 2 arguments (1 given)</a:t>
            </a: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568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</a:t>
            </a:r>
          </a:p>
          <a:p>
            <a:pPr lvl="1">
              <a:buFontTx/>
              <a:buNone/>
            </a:pPr>
            <a:endParaRPr lang="en-US" sz="2568" dirty="0"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buFontTx/>
              <a:buNone/>
            </a:pPr>
            <a:endParaRPr lang="en-US" sz="2568" dirty="0">
              <a:latin typeface="Consolas" panose="020B0609020204030204" pitchFamily="49" charset="0"/>
              <a:cs typeface="Courier New" pitchFamily="49" charset="0"/>
            </a:endParaRPr>
          </a:p>
          <a:p>
            <a:endParaRPr lang="en-US" sz="4403" dirty="0">
              <a:solidFill>
                <a:srgbClr val="660066"/>
              </a:solidFill>
              <a:latin typeface="Consolas" panose="020B0609020204030204" pitchFamily="49" charset="0"/>
              <a:cs typeface="Courier New" pitchFamily="49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50366" y="1034880"/>
            <a:ext cx="9479422" cy="5189869"/>
          </a:xfrm>
          <a:prstGeom prst="rect">
            <a:avLst/>
          </a:prstGeom>
        </p:spPr>
        <p:txBody>
          <a:bodyPr vert="horz" lIns="83872" tIns="41936" rIns="83872" bIns="41936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101"/>
              </a:spcAft>
              <a:buNone/>
            </a:pPr>
            <a:r>
              <a:rPr lang="en-US" sz="3302" dirty="0"/>
              <a:t/>
            </a:r>
            <a:br>
              <a:rPr lang="en-US" sz="3302" dirty="0"/>
            </a:br>
            <a:r>
              <a:rPr lang="en-US" sz="3302" dirty="0"/>
              <a:t>  </a:t>
            </a:r>
          </a:p>
          <a:p>
            <a:pPr lvl="1">
              <a:buFontTx/>
              <a:buNone/>
            </a:pPr>
            <a:endParaRPr lang="en-US" sz="2568" dirty="0"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buFontTx/>
              <a:buNone/>
            </a:pPr>
            <a:endParaRPr lang="en-US" sz="2568" dirty="0">
              <a:solidFill>
                <a:srgbClr val="FF0000"/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buFontTx/>
              <a:buNone/>
            </a:pPr>
            <a:r>
              <a:rPr lang="en-US" sz="2568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</a:p>
          <a:p>
            <a:pPr lvl="1">
              <a:buFontTx/>
              <a:buNone/>
            </a:pPr>
            <a:endParaRPr lang="en-US" sz="2568" dirty="0"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buFontTx/>
              <a:buNone/>
            </a:pPr>
            <a:endParaRPr lang="en-US" sz="2568" dirty="0">
              <a:latin typeface="Consolas" panose="020B0609020204030204" pitchFamily="49" charset="0"/>
              <a:cs typeface="Courier New" pitchFamily="49" charset="0"/>
            </a:endParaRPr>
          </a:p>
          <a:p>
            <a:endParaRPr lang="en-US" sz="4403" dirty="0">
              <a:solidFill>
                <a:srgbClr val="660066"/>
              </a:solidFill>
              <a:latin typeface="Consolas" panose="020B0609020204030204" pitchFamily="49" charset="0"/>
              <a:cs typeface="Courier New" pitchFamily="49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 smtClean="0">
                <a:solidFill>
                  <a:srgbClr val="0070C0"/>
                </a:solidFill>
              </a:rPr>
              <a:t>Positional arguments</a:t>
            </a:r>
            <a:endParaRPr lang="en-US" sz="4400" dirty="0">
              <a:solidFill>
                <a:srgbClr val="0070C0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 flipH="1">
            <a:off x="8138459" y="151719"/>
            <a:ext cx="2143638" cy="720501"/>
            <a:chOff x="2289" y="199343"/>
            <a:chExt cx="2143638" cy="720501"/>
          </a:xfrm>
        </p:grpSpPr>
        <p:sp>
          <p:nvSpPr>
            <p:cNvPr id="8" name="Trapezoid 7"/>
            <p:cNvSpPr/>
            <p:nvPr/>
          </p:nvSpPr>
          <p:spPr bwMode="auto">
            <a:xfrm rot="18900000">
              <a:off x="2289" y="230680"/>
              <a:ext cx="2143638" cy="660774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en-US" sz="2800" dirty="0">
                <a:latin typeface="Arial" charset="0"/>
                <a:ea typeface="新細明體" charset="-12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 rot="18900000">
              <a:off x="54350" y="199343"/>
              <a:ext cx="2034192" cy="7205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from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5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6391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93" y="514667"/>
            <a:ext cx="9669421" cy="5710082"/>
            <a:chOff x="76199" y="251716"/>
            <a:chExt cx="10541861" cy="6225284"/>
          </a:xfrm>
        </p:grpSpPr>
        <p:sp>
          <p:nvSpPr>
            <p:cNvPr id="5" name="Content Placeholder 2"/>
            <p:cNvSpPr txBox="1">
              <a:spLocks/>
            </p:cNvSpPr>
            <p:nvPr/>
          </p:nvSpPr>
          <p:spPr>
            <a:xfrm>
              <a:off x="283340" y="818866"/>
              <a:ext cx="10334720" cy="5658134"/>
            </a:xfrm>
            <a:prstGeom prst="rect">
              <a:avLst/>
            </a:prstGeom>
          </p:spPr>
          <p:txBody>
            <a:bodyPr vert="horz" lIns="83872" tIns="41936" rIns="83872" bIns="41936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4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Aft>
                  <a:spcPts val="1101"/>
                </a:spcAft>
                <a:buNone/>
              </a:pPr>
              <a:r>
                <a:rPr lang="en-US" sz="3600" dirty="0"/>
                <a:t/>
              </a:r>
              <a:br>
                <a:rPr lang="en-US" sz="3600" dirty="0"/>
              </a:br>
              <a:r>
                <a:rPr lang="en-US" sz="3600" dirty="0"/>
                <a:t>  </a:t>
              </a:r>
            </a:p>
            <a:p>
              <a:pPr lvl="1">
                <a:buFontTx/>
                <a:buNone/>
              </a:pPr>
              <a:endParaRPr lang="en-US" sz="2800" dirty="0">
                <a:latin typeface="Consolas" panose="020B0609020204030204" pitchFamily="49" charset="0"/>
                <a:cs typeface="Courier New" pitchFamily="49" charset="0"/>
              </a:endParaRPr>
            </a:p>
            <a:p>
              <a:pPr lvl="1">
                <a:buFontTx/>
                <a:buNone/>
              </a:pPr>
              <a:endPara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endParaRPr>
            </a:p>
            <a:p>
              <a:pPr lvl="1">
                <a:buFontTx/>
                <a:buNone/>
              </a:pPr>
              <a:r>
                <a:rPr lang="en-US" sz="2800" dirty="0">
                  <a:solidFill>
                    <a:srgbClr val="FF0000"/>
                  </a:solidFill>
                  <a:latin typeface="Consolas" panose="020B0609020204030204" pitchFamily="49" charset="0"/>
                  <a:cs typeface="Courier New" pitchFamily="49" charset="0"/>
                </a:rPr>
                <a:t>	  </a:t>
              </a:r>
              <a:r>
                <a:rPr lang="en-US" sz="2800" dirty="0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  <a:cs typeface="Courier New" pitchFamily="49" charset="0"/>
                </a:rPr>
                <a:t>print ("Name:", name, " Age:", age) </a:t>
              </a:r>
            </a:p>
            <a:p>
              <a:pPr lvl="1">
                <a:buFontTx/>
                <a:buNone/>
              </a:pPr>
              <a:endParaRPr lang="en-US" sz="2800" dirty="0">
                <a:latin typeface="Consolas" panose="020B0609020204030204" pitchFamily="49" charset="0"/>
                <a:cs typeface="Courier New" pitchFamily="49" charset="0"/>
              </a:endParaRPr>
            </a:p>
            <a:p>
              <a:pPr lvl="1">
                <a:buFontTx/>
                <a:buNone/>
              </a:pPr>
              <a:endParaRPr lang="en-US" sz="2800" dirty="0">
                <a:latin typeface="Consolas" panose="020B0609020204030204" pitchFamily="49" charset="0"/>
                <a:cs typeface="Courier New" pitchFamily="49" charset="0"/>
              </a:endParaRPr>
            </a:p>
            <a:p>
              <a:endParaRPr lang="en-US" sz="4800" dirty="0">
                <a:solidFill>
                  <a:srgbClr val="660066"/>
                </a:solidFill>
                <a:latin typeface="Consolas" panose="020B0609020204030204" pitchFamily="49" charset="0"/>
                <a:cs typeface="Courier New" pitchFamily="49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76199" y="251716"/>
              <a:ext cx="371475" cy="5671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51" dirty="0"/>
            </a:p>
          </p:txBody>
        </p:sp>
      </p:grp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250366" y="1034880"/>
            <a:ext cx="9479422" cy="5189869"/>
          </a:xfrm>
        </p:spPr>
        <p:txBody>
          <a:bodyPr>
            <a:noAutofit/>
          </a:bodyPr>
          <a:lstStyle/>
          <a:p>
            <a:pPr>
              <a:spcAft>
                <a:spcPts val="1101"/>
              </a:spcAft>
            </a:pPr>
            <a:r>
              <a:rPr lang="en-US" sz="3600" dirty="0" smtClean="0"/>
              <a:t>Positional arguments </a:t>
            </a:r>
            <a:r>
              <a:rPr lang="en-US" sz="3600" dirty="0"/>
              <a:t>are passed to a function based on </a:t>
            </a:r>
            <a:r>
              <a:rPr lang="en-US" sz="3600" u="sng" dirty="0">
                <a:solidFill>
                  <a:srgbClr val="0000FF"/>
                </a:solidFill>
              </a:rPr>
              <a:t>their position</a:t>
            </a:r>
            <a:r>
              <a:rPr lang="en-US" sz="3600" dirty="0">
                <a:solidFill>
                  <a:srgbClr val="0000FF"/>
                </a:solidFill>
              </a:rPr>
              <a:t> </a:t>
            </a:r>
            <a:r>
              <a:rPr lang="en-US" sz="3600" dirty="0"/>
              <a:t>in the argument list. 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cat test.py</a:t>
            </a:r>
          </a:p>
          <a:p>
            <a:pPr lvl="1">
              <a:buFontTx/>
              <a:buNone/>
            </a:pP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 name, age ):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  print ("Name:", name, " Age:", age) </a:t>
            </a:r>
          </a:p>
          <a:p>
            <a:pPr lvl="1">
              <a:buFontTx/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(20, "Sally")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python3 test.py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lvl="1">
              <a:buFontTx/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Name: 20  Age: Sally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</a:p>
          <a:p>
            <a:endParaRPr lang="en-US" sz="4800" dirty="0">
              <a:solidFill>
                <a:srgbClr val="660066"/>
              </a:solidFill>
              <a:latin typeface="Consolas" panose="020B0609020204030204" pitchFamily="49" charset="0"/>
              <a:cs typeface="Courier New" pitchFamily="49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 smtClean="0">
                <a:solidFill>
                  <a:srgbClr val="0070C0"/>
                </a:solidFill>
              </a:rPr>
              <a:t>Positional arguments</a:t>
            </a:r>
            <a:endParaRPr lang="en-US" sz="4400" dirty="0">
              <a:solidFill>
                <a:srgbClr val="0070C0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 flipH="1">
            <a:off x="8138459" y="151719"/>
            <a:ext cx="2143638" cy="720501"/>
            <a:chOff x="2289" y="199343"/>
            <a:chExt cx="2143638" cy="720501"/>
          </a:xfrm>
        </p:grpSpPr>
        <p:sp>
          <p:nvSpPr>
            <p:cNvPr id="9" name="Trapezoid 8"/>
            <p:cNvSpPr/>
            <p:nvPr/>
          </p:nvSpPr>
          <p:spPr bwMode="auto">
            <a:xfrm rot="18900000">
              <a:off x="2289" y="230680"/>
              <a:ext cx="2143638" cy="660774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en-US" sz="2800" dirty="0">
                <a:latin typeface="Arial" charset="0"/>
                <a:ea typeface="新細明體" charset="-12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 rot="18900000">
              <a:off x="54350" y="199343"/>
              <a:ext cx="2034192" cy="7205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from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5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3937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8209" y="1034880"/>
            <a:ext cx="9081135" cy="51898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302" dirty="0">
                <a:cs typeface="Courier New" pitchFamily="49" charset="0"/>
              </a:rPr>
              <a:t>There are 5 possible types of parameter definitions:</a:t>
            </a:r>
          </a:p>
          <a:p>
            <a:pPr marL="525636" indent="-362558"/>
            <a:r>
              <a:rPr lang="en-US" sz="3302" dirty="0" smtClean="0">
                <a:solidFill>
                  <a:srgbClr val="FF0000"/>
                </a:solidFill>
                <a:cs typeface="Courier New" pitchFamily="49" charset="0"/>
              </a:rPr>
              <a:t>Positional arguments</a:t>
            </a:r>
            <a:endParaRPr lang="en-US" sz="3302" dirty="0">
              <a:solidFill>
                <a:srgbClr val="FF0000"/>
              </a:solidFill>
              <a:cs typeface="Courier New" pitchFamily="49" charset="0"/>
            </a:endParaRPr>
          </a:p>
          <a:p>
            <a:pPr marL="525636" indent="-362558"/>
            <a:r>
              <a:rPr lang="en-US" sz="3302" dirty="0">
                <a:cs typeface="Courier New" pitchFamily="49" charset="0"/>
              </a:rPr>
              <a:t>Keyword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Default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Variable-length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Keyword-only arguments</a:t>
            </a:r>
          </a:p>
          <a:p>
            <a:endParaRPr lang="en-US" sz="3302" dirty="0">
              <a:solidFill>
                <a:srgbClr val="660066"/>
              </a:solidFill>
              <a:cs typeface="Courier New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 smtClean="0">
                <a:solidFill>
                  <a:srgbClr val="0070C0"/>
                </a:solidFill>
              </a:rPr>
              <a:t>Defining Function Parameters</a:t>
            </a:r>
            <a:endParaRPr lang="en-US" sz="4400" dirty="0">
              <a:solidFill>
                <a:srgbClr val="0070C0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 flipH="1">
            <a:off x="8138459" y="151719"/>
            <a:ext cx="2143638" cy="720501"/>
            <a:chOff x="2289" y="199343"/>
            <a:chExt cx="2143638" cy="720501"/>
          </a:xfrm>
        </p:grpSpPr>
        <p:sp>
          <p:nvSpPr>
            <p:cNvPr id="6" name="Trapezoid 5"/>
            <p:cNvSpPr/>
            <p:nvPr/>
          </p:nvSpPr>
          <p:spPr bwMode="auto">
            <a:xfrm rot="18900000">
              <a:off x="2289" y="230680"/>
              <a:ext cx="2143638" cy="660774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en-US" sz="2800" dirty="0">
                <a:latin typeface="Arial" charset="0"/>
                <a:ea typeface="新細明體" charset="-12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 rot="18900000">
              <a:off x="54350" y="199343"/>
              <a:ext cx="2034192" cy="7205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from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5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8062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8209" y="1034880"/>
            <a:ext cx="9081135" cy="51898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302" dirty="0">
                <a:cs typeface="Courier New" pitchFamily="49" charset="0"/>
              </a:rPr>
              <a:t>There are 5 possible types of parameter definitions:</a:t>
            </a:r>
          </a:p>
          <a:p>
            <a:pPr marL="525636" indent="-362558"/>
            <a:r>
              <a:rPr lang="en-US" sz="3302" dirty="0" smtClean="0">
                <a:cs typeface="Courier New" pitchFamily="49" charset="0"/>
              </a:rPr>
              <a:t>Positional arguments</a:t>
            </a:r>
            <a:endParaRPr lang="en-US" sz="3302" dirty="0">
              <a:cs typeface="Courier New" pitchFamily="49" charset="0"/>
            </a:endParaRPr>
          </a:p>
          <a:p>
            <a:pPr marL="525636" indent="-362558"/>
            <a:r>
              <a:rPr lang="en-US" sz="3302" dirty="0">
                <a:solidFill>
                  <a:srgbClr val="FF0000"/>
                </a:solidFill>
                <a:cs typeface="Courier New" pitchFamily="49" charset="0"/>
              </a:rPr>
              <a:t>Keyword</a:t>
            </a:r>
            <a:r>
              <a:rPr lang="en-US" sz="3302" dirty="0">
                <a:cs typeface="Courier New" pitchFamily="49" charset="0"/>
              </a:rPr>
              <a:t> </a:t>
            </a:r>
            <a:r>
              <a:rPr lang="en-US" sz="3302" dirty="0">
                <a:solidFill>
                  <a:srgbClr val="FF0000"/>
                </a:solidFill>
                <a:cs typeface="Courier New" pitchFamily="49" charset="0"/>
              </a:rPr>
              <a:t>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Default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Variable-length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Keyword-only arguments</a:t>
            </a:r>
          </a:p>
          <a:p>
            <a:endParaRPr lang="en-US" sz="3302" dirty="0">
              <a:solidFill>
                <a:srgbClr val="660066"/>
              </a:solidFill>
              <a:cs typeface="Courier New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 smtClean="0">
                <a:solidFill>
                  <a:srgbClr val="0070C0"/>
                </a:solidFill>
              </a:rPr>
              <a:t>Defining Function Parameters</a:t>
            </a:r>
            <a:endParaRPr lang="en-US" sz="4400" dirty="0">
              <a:solidFill>
                <a:srgbClr val="0070C0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 flipH="1">
            <a:off x="8138459" y="151719"/>
            <a:ext cx="2143638" cy="720501"/>
            <a:chOff x="2289" y="199343"/>
            <a:chExt cx="2143638" cy="720501"/>
          </a:xfrm>
        </p:grpSpPr>
        <p:sp>
          <p:nvSpPr>
            <p:cNvPr id="6" name="Trapezoid 5"/>
            <p:cNvSpPr/>
            <p:nvPr/>
          </p:nvSpPr>
          <p:spPr bwMode="auto">
            <a:xfrm rot="18900000">
              <a:off x="2289" y="230680"/>
              <a:ext cx="2143638" cy="660774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en-US" sz="2800" dirty="0">
                <a:latin typeface="Arial" charset="0"/>
                <a:ea typeface="新細明體" charset="-12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 rot="18900000">
              <a:off x="54350" y="199343"/>
              <a:ext cx="2034192" cy="7205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from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5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224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225622" y="431257"/>
            <a:ext cx="9601272" cy="5822359"/>
            <a:chOff x="147782" y="129308"/>
            <a:chExt cx="10467564" cy="6347692"/>
          </a:xfrm>
        </p:grpSpPr>
        <p:sp>
          <p:nvSpPr>
            <p:cNvPr id="11" name="Content Placeholder 2"/>
            <p:cNvSpPr txBox="1">
              <a:spLocks/>
            </p:cNvSpPr>
            <p:nvPr/>
          </p:nvSpPr>
          <p:spPr>
            <a:xfrm>
              <a:off x="280626" y="818866"/>
              <a:ext cx="10334720" cy="5658134"/>
            </a:xfrm>
            <a:prstGeom prst="rect">
              <a:avLst/>
            </a:prstGeom>
          </p:spPr>
          <p:txBody>
            <a:bodyPr vert="horz" lIns="83872" tIns="41936" rIns="83872" bIns="41936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4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Aft>
                  <a:spcPts val="1101"/>
                </a:spcAft>
                <a:buNone/>
              </a:pPr>
              <a:r>
                <a:rPr lang="en-US" sz="3600" dirty="0"/>
                <a:t/>
              </a:r>
              <a:br>
                <a:rPr lang="en-US" sz="3600" dirty="0"/>
              </a:br>
              <a:r>
                <a:rPr lang="en-US" sz="3600" dirty="0"/>
                <a:t>  </a:t>
              </a:r>
            </a:p>
            <a:p>
              <a:pPr marL="0" indent="0">
                <a:spcAft>
                  <a:spcPts val="1101"/>
                </a:spcAft>
                <a:buNone/>
              </a:pPr>
              <a:endParaRPr lang="en-US" sz="3600" dirty="0"/>
            </a:p>
            <a:p>
              <a:pPr lvl="1">
                <a:lnSpc>
                  <a:spcPct val="85000"/>
                </a:lnSpc>
                <a:buFontTx/>
                <a:buNone/>
              </a:pPr>
              <a:endParaRPr lang="en-US" sz="2800" dirty="0">
                <a:latin typeface="Consolas" panose="020B0609020204030204" pitchFamily="49" charset="0"/>
                <a:cs typeface="Courier New" pitchFamily="49" charset="0"/>
              </a:endParaRPr>
            </a:p>
            <a:p>
              <a:pPr lvl="1">
                <a:lnSpc>
                  <a:spcPct val="85000"/>
                </a:lnSpc>
                <a:buFontTx/>
                <a:buNone/>
              </a:pPr>
              <a:endPara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endParaRPr>
            </a:p>
            <a:p>
              <a:pPr lvl="1">
                <a:lnSpc>
                  <a:spcPct val="85000"/>
                </a:lnSpc>
                <a:buFontTx/>
                <a:buNone/>
              </a:pPr>
              <a:r>
                <a:rPr lang="en-US" sz="2800" dirty="0">
                  <a:solidFill>
                    <a:srgbClr val="FF0000"/>
                  </a:solidFill>
                  <a:latin typeface="Consolas" panose="020B0609020204030204" pitchFamily="49" charset="0"/>
                  <a:cs typeface="Courier New" pitchFamily="49" charset="0"/>
                </a:rPr>
                <a:t>	  </a:t>
              </a:r>
              <a:r>
                <a:rPr lang="en-US" sz="2800" dirty="0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  <a:cs typeface="Courier New" pitchFamily="49" charset="0"/>
                </a:rPr>
                <a:t>print ("Name:", name, " Age:", age) </a:t>
              </a:r>
            </a:p>
            <a:p>
              <a:pPr lvl="1">
                <a:lnSpc>
                  <a:spcPct val="85000"/>
                </a:lnSpc>
                <a:buFontTx/>
                <a:buNone/>
              </a:pPr>
              <a:endParaRPr lang="en-US" sz="2800" dirty="0">
                <a:latin typeface="Consolas" panose="020B0609020204030204" pitchFamily="49" charset="0"/>
                <a:cs typeface="Courier New" pitchFamily="49" charset="0"/>
              </a:endParaRPr>
            </a:p>
            <a:p>
              <a:pPr lvl="1">
                <a:lnSpc>
                  <a:spcPct val="85000"/>
                </a:lnSpc>
                <a:buFontTx/>
                <a:buNone/>
              </a:pPr>
              <a:endParaRPr lang="en-US" sz="2800" dirty="0">
                <a:latin typeface="Consolas" panose="020B0609020204030204" pitchFamily="49" charset="0"/>
                <a:cs typeface="Courier New" pitchFamily="49" charset="0"/>
              </a:endParaRPr>
            </a:p>
            <a:p>
              <a:pPr lvl="1">
                <a:lnSpc>
                  <a:spcPct val="85000"/>
                </a:lnSpc>
                <a:buFontTx/>
                <a:buNone/>
              </a:pPr>
              <a:endParaRPr lang="en-US" sz="2800" dirty="0">
                <a:latin typeface="Consolas" panose="020B0609020204030204" pitchFamily="49" charset="0"/>
                <a:cs typeface="Courier New" pitchFamily="49" charset="0"/>
              </a:endParaRPr>
            </a:p>
            <a:p>
              <a:endParaRPr lang="en-US" sz="4800" dirty="0">
                <a:solidFill>
                  <a:srgbClr val="660066"/>
                </a:solidFill>
                <a:latin typeface="Consolas" panose="020B0609020204030204" pitchFamily="49" charset="0"/>
                <a:cs typeface="Courier New" pitchFamily="49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47782" y="129308"/>
              <a:ext cx="559395" cy="6895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51" dirty="0"/>
            </a:p>
          </p:txBody>
        </p:sp>
      </p:grp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7472" y="1033272"/>
            <a:ext cx="9081135" cy="5539337"/>
          </a:xfrm>
        </p:spPr>
        <p:txBody>
          <a:bodyPr>
            <a:noAutofit/>
          </a:bodyPr>
          <a:lstStyle/>
          <a:p>
            <a:r>
              <a:rPr lang="en-US" sz="3600" dirty="0"/>
              <a:t>When you use keyword arguments, the caller identifies the arguments </a:t>
            </a:r>
            <a:r>
              <a:rPr lang="en-US" sz="3600" dirty="0" smtClean="0"/>
              <a:t>by </a:t>
            </a:r>
            <a:r>
              <a:rPr lang="en-US" sz="3600" dirty="0"/>
              <a:t>parameter name.</a:t>
            </a:r>
          </a:p>
          <a:p>
            <a:r>
              <a:rPr lang="en-US" sz="3600" dirty="0" smtClean="0"/>
              <a:t>So they can </a:t>
            </a:r>
            <a:r>
              <a:rPr lang="en-US" sz="3600" dirty="0"/>
              <a:t>be out of order, because </a:t>
            </a:r>
            <a:r>
              <a:rPr lang="en-US" sz="3600" dirty="0" smtClean="0"/>
              <a:t>the given keywords can match </a:t>
            </a:r>
            <a:r>
              <a:rPr lang="en-US" sz="3600" dirty="0"/>
              <a:t>values with parameters.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cat test.py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 name, age ):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endParaRPr lang="en-US" sz="2800" dirty="0">
              <a:solidFill>
                <a:schemeClr val="bg1"/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  <a:cs typeface="Courier New" pitchFamily="49" charset="0"/>
              </a:rPr>
              <a:t>20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"Sally"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)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endParaRPr lang="en-US" sz="2800" dirty="0">
              <a:solidFill>
                <a:srgbClr val="FF0000"/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endParaRPr lang="en-US" sz="2800" dirty="0">
              <a:solidFill>
                <a:srgbClr val="FF0000"/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python3 test.py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endParaRPr lang="en-US" sz="2800" dirty="0">
              <a:solidFill>
                <a:srgbClr val="FF0000"/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  <a:cs typeface="Courier New" pitchFamily="49" charset="0"/>
              </a:rPr>
              <a:t>Name: Sally  Age: 20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 smtClean="0">
                <a:solidFill>
                  <a:srgbClr val="0070C0"/>
                </a:solidFill>
              </a:rPr>
              <a:t>Keyword Arguments</a:t>
            </a:r>
            <a:endParaRPr lang="en-US" sz="4400" dirty="0">
              <a:solidFill>
                <a:srgbClr val="0070C0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 flipH="1">
            <a:off x="8138459" y="151719"/>
            <a:ext cx="2143638" cy="720501"/>
            <a:chOff x="2289" y="199343"/>
            <a:chExt cx="2143638" cy="720501"/>
          </a:xfrm>
        </p:grpSpPr>
        <p:sp>
          <p:nvSpPr>
            <p:cNvPr id="9" name="Trapezoid 8"/>
            <p:cNvSpPr/>
            <p:nvPr/>
          </p:nvSpPr>
          <p:spPr bwMode="auto">
            <a:xfrm rot="18900000">
              <a:off x="2289" y="230680"/>
              <a:ext cx="2143638" cy="660774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en-US" sz="2800" dirty="0">
                <a:latin typeface="Arial" charset="0"/>
                <a:ea typeface="新細明體" charset="-12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 rot="18900000">
              <a:off x="54350" y="199343"/>
              <a:ext cx="2034192" cy="7205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from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5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77154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8209" y="1034880"/>
            <a:ext cx="9081135" cy="5539337"/>
          </a:xfrm>
        </p:spPr>
        <p:txBody>
          <a:bodyPr>
            <a:noAutofit/>
          </a:bodyPr>
          <a:lstStyle/>
          <a:p>
            <a:r>
              <a:rPr lang="en-US" sz="3600" dirty="0"/>
              <a:t>When you use keyword arguments, the caller identifies the arguments by parameter name.</a:t>
            </a:r>
          </a:p>
          <a:p>
            <a:r>
              <a:rPr lang="en-US" sz="3600" dirty="0"/>
              <a:t>So they can be out of order, because the given keywords can match values with parameters.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cat test.py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  <a:cs typeface="Courier New" pitchFamily="49" charset="0"/>
              </a:rPr>
              <a:t>name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age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 ):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  print ("Name:", name, " Age:", age) 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  <a:cs typeface="Courier New" pitchFamily="49" charset="0"/>
              </a:rPr>
              <a:t>20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"Sally"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)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age = 20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  <a:cs typeface="Courier New" pitchFamily="49" charset="0"/>
              </a:rPr>
              <a:t>name = "Sally"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)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endParaRPr lang="en-US" sz="2800" dirty="0">
              <a:solidFill>
                <a:srgbClr val="FF0000"/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python3 test.py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lvl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Name: 20  Age: Sally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  <a:cs typeface="Courier New" pitchFamily="49" charset="0"/>
              </a:rPr>
              <a:t>Name: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  <a:cs typeface="Courier New" pitchFamily="49" charset="0"/>
              </a:rPr>
              <a:t> Sally  Age: 20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46739" y="443759"/>
            <a:ext cx="9585847" cy="5806814"/>
            <a:chOff x="147782" y="129308"/>
            <a:chExt cx="10450747" cy="6330744"/>
          </a:xfrm>
        </p:grpSpPr>
        <p:sp>
          <p:nvSpPr>
            <p:cNvPr id="5" name="Content Placeholder 2"/>
            <p:cNvSpPr txBox="1">
              <a:spLocks/>
            </p:cNvSpPr>
            <p:nvPr/>
          </p:nvSpPr>
          <p:spPr>
            <a:xfrm>
              <a:off x="263809" y="801918"/>
              <a:ext cx="10334720" cy="5658134"/>
            </a:xfrm>
            <a:prstGeom prst="rect">
              <a:avLst/>
            </a:prstGeom>
          </p:spPr>
          <p:txBody>
            <a:bodyPr vert="horz" lIns="83872" tIns="41936" rIns="83872" bIns="41936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4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Aft>
                  <a:spcPts val="1101"/>
                </a:spcAft>
                <a:buNone/>
              </a:pPr>
              <a:r>
                <a:rPr lang="en-US" sz="3600" dirty="0"/>
                <a:t/>
              </a:r>
              <a:br>
                <a:rPr lang="en-US" sz="3600" dirty="0"/>
              </a:br>
              <a:r>
                <a:rPr lang="en-US" sz="3600" dirty="0"/>
                <a:t>  </a:t>
              </a:r>
            </a:p>
            <a:p>
              <a:pPr marL="0" indent="0">
                <a:spcAft>
                  <a:spcPts val="1101"/>
                </a:spcAft>
                <a:buNone/>
              </a:pPr>
              <a:endParaRPr lang="en-US" sz="3600" dirty="0"/>
            </a:p>
            <a:p>
              <a:pPr lvl="1">
                <a:lnSpc>
                  <a:spcPct val="85000"/>
                </a:lnSpc>
                <a:buFontTx/>
                <a:buNone/>
              </a:pPr>
              <a:endParaRPr lang="en-US" sz="2800" dirty="0">
                <a:latin typeface="Consolas" panose="020B0609020204030204" pitchFamily="49" charset="0"/>
                <a:cs typeface="Courier New" pitchFamily="49" charset="0"/>
              </a:endParaRPr>
            </a:p>
            <a:p>
              <a:pPr lvl="1">
                <a:lnSpc>
                  <a:spcPct val="85000"/>
                </a:lnSpc>
                <a:buFontTx/>
                <a:buNone/>
              </a:pPr>
              <a:endPara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endParaRPr>
            </a:p>
            <a:p>
              <a:pPr lvl="1">
                <a:lnSpc>
                  <a:spcPct val="85000"/>
                </a:lnSpc>
                <a:buFontTx/>
                <a:buNone/>
              </a:pPr>
              <a:r>
                <a:rPr lang="en-US" sz="2800" dirty="0">
                  <a:solidFill>
                    <a:srgbClr val="FF0000"/>
                  </a:solidFill>
                  <a:latin typeface="Consolas" panose="020B0609020204030204" pitchFamily="49" charset="0"/>
                  <a:cs typeface="Courier New" pitchFamily="49" charset="0"/>
                </a:rPr>
                <a:t>	  </a:t>
              </a:r>
              <a:r>
                <a:rPr lang="en-US" sz="2800" dirty="0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  <a:cs typeface="Courier New" pitchFamily="49" charset="0"/>
                </a:rPr>
                <a:t>print ("Name:", name, " Age:", age) </a:t>
              </a:r>
            </a:p>
            <a:p>
              <a:pPr lvl="1">
                <a:lnSpc>
                  <a:spcPct val="85000"/>
                </a:lnSpc>
                <a:buFontTx/>
                <a:buNone/>
              </a:pPr>
              <a:endParaRPr lang="en-US" sz="2800" dirty="0">
                <a:latin typeface="Consolas" panose="020B0609020204030204" pitchFamily="49" charset="0"/>
                <a:cs typeface="Courier New" pitchFamily="49" charset="0"/>
              </a:endParaRPr>
            </a:p>
            <a:p>
              <a:pPr lvl="1">
                <a:lnSpc>
                  <a:spcPct val="85000"/>
                </a:lnSpc>
                <a:buFontTx/>
                <a:buNone/>
              </a:pPr>
              <a:endParaRPr lang="en-US" sz="2800" dirty="0">
                <a:latin typeface="Consolas" panose="020B0609020204030204" pitchFamily="49" charset="0"/>
                <a:cs typeface="Courier New" pitchFamily="49" charset="0"/>
              </a:endParaRPr>
            </a:p>
            <a:p>
              <a:pPr>
                <a:lnSpc>
                  <a:spcPct val="85000"/>
                </a:lnSpc>
              </a:pPr>
              <a:endParaRPr lang="en-US" sz="4800" dirty="0">
                <a:solidFill>
                  <a:srgbClr val="660066"/>
                </a:solidFill>
                <a:latin typeface="Consolas" panose="020B0609020204030204" pitchFamily="49" charset="0"/>
                <a:cs typeface="Courier New" pitchFamily="49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47782" y="129308"/>
              <a:ext cx="559395" cy="6895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51" dirty="0"/>
            </a:p>
          </p:txBody>
        </p:sp>
      </p:grpSp>
      <p:sp>
        <p:nvSpPr>
          <p:cNvPr id="8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 smtClean="0">
                <a:solidFill>
                  <a:srgbClr val="0070C0"/>
                </a:solidFill>
              </a:rPr>
              <a:t>Keyword Arguments</a:t>
            </a:r>
            <a:endParaRPr lang="en-US" sz="4400" dirty="0">
              <a:solidFill>
                <a:srgbClr val="0070C0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 flipH="1">
            <a:off x="8138459" y="151719"/>
            <a:ext cx="2143638" cy="720501"/>
            <a:chOff x="2289" y="199343"/>
            <a:chExt cx="2143638" cy="720501"/>
          </a:xfrm>
        </p:grpSpPr>
        <p:sp>
          <p:nvSpPr>
            <p:cNvPr id="9" name="Trapezoid 8"/>
            <p:cNvSpPr/>
            <p:nvPr/>
          </p:nvSpPr>
          <p:spPr bwMode="auto">
            <a:xfrm rot="18900000">
              <a:off x="2289" y="230680"/>
              <a:ext cx="2143638" cy="660774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en-US" sz="2800" dirty="0">
                <a:latin typeface="Arial" charset="0"/>
                <a:ea typeface="新細明體" charset="-12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 rot="18900000">
              <a:off x="54350" y="199343"/>
              <a:ext cx="2034192" cy="7205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from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5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3444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8209" y="1034880"/>
            <a:ext cx="9081135" cy="5539337"/>
          </a:xfrm>
        </p:spPr>
        <p:txBody>
          <a:bodyPr>
            <a:noAutofit/>
          </a:bodyPr>
          <a:lstStyle/>
          <a:p>
            <a:r>
              <a:rPr lang="en-US" sz="3600" dirty="0"/>
              <a:t>When you use keyword arguments, the caller identifies the arguments by parameter name.</a:t>
            </a:r>
          </a:p>
          <a:p>
            <a:r>
              <a:rPr lang="en-US" sz="3600" dirty="0"/>
              <a:t>So they can be out of order, because the given keywords can match values with parameters.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cat test.py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  <a:cs typeface="Courier New" pitchFamily="49" charset="0"/>
              </a:rPr>
              <a:t>name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age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):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  print ("Name:", name, " Age:", age) 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(20, "Sally")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altLang="zh-TW" sz="2800" dirty="0"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altLang="zh-TW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age = 20</a:t>
            </a:r>
            <a:r>
              <a:rPr lang="en-US" altLang="zh-TW" sz="2800" dirty="0"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altLang="zh-TW" sz="2800" dirty="0">
                <a:solidFill>
                  <a:srgbClr val="008000"/>
                </a:solidFill>
                <a:latin typeface="Consolas" panose="020B0609020204030204" pitchFamily="49" charset="0"/>
                <a:cs typeface="Courier New" pitchFamily="49" charset="0"/>
              </a:rPr>
              <a:t>name = "Sally"</a:t>
            </a:r>
            <a:r>
              <a:rPr lang="en-US" altLang="zh-TW" sz="2800" dirty="0">
                <a:latin typeface="Consolas" panose="020B0609020204030204" pitchFamily="49" charset="0"/>
                <a:cs typeface="Courier New" pitchFamily="49" charset="0"/>
              </a:rPr>
              <a:t>)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  </a:t>
            </a:r>
            <a:endParaRPr lang="en-US" altLang="zh-TW" sz="2800" dirty="0"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python3 test.py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lvl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Name: 20  Age: Sally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Name: Sally  Age: 20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 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endParaRPr lang="en-US" sz="2800" dirty="0">
              <a:solidFill>
                <a:srgbClr val="FF0000"/>
              </a:solidFill>
              <a:latin typeface="Arial Narrow" panose="020B0606020202030204" pitchFamily="34" charset="0"/>
              <a:cs typeface="Courier New" pitchFamily="49" charset="0"/>
            </a:endParaRP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endParaRPr lang="en-US" sz="2800" dirty="0">
              <a:solidFill>
                <a:prstClr val="black"/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spcBef>
                <a:spcPts val="0"/>
              </a:spcBef>
              <a:buNone/>
            </a:pPr>
            <a:endParaRPr lang="en-US" sz="2800" dirty="0">
              <a:solidFill>
                <a:prstClr val="black"/>
              </a:solidFill>
              <a:latin typeface="Consolas" panose="020B0609020204030204" pitchFamily="49" charset="0"/>
              <a:cs typeface="Courier New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 smtClean="0">
                <a:solidFill>
                  <a:srgbClr val="0070C0"/>
                </a:solidFill>
              </a:rPr>
              <a:t>Keyword Arguments</a:t>
            </a:r>
            <a:endParaRPr lang="en-US" sz="4400" dirty="0">
              <a:solidFill>
                <a:srgbClr val="0070C0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 flipH="1">
            <a:off x="8138459" y="151719"/>
            <a:ext cx="2143638" cy="720501"/>
            <a:chOff x="2289" y="199343"/>
            <a:chExt cx="2143638" cy="720501"/>
          </a:xfrm>
        </p:grpSpPr>
        <p:sp>
          <p:nvSpPr>
            <p:cNvPr id="6" name="Trapezoid 5"/>
            <p:cNvSpPr/>
            <p:nvPr/>
          </p:nvSpPr>
          <p:spPr bwMode="auto">
            <a:xfrm rot="18900000">
              <a:off x="2289" y="230680"/>
              <a:ext cx="2143638" cy="660774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en-US" sz="2800" dirty="0">
                <a:latin typeface="Arial" charset="0"/>
                <a:ea typeface="新細明體" charset="-12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 rot="18900000">
              <a:off x="54350" y="199343"/>
              <a:ext cx="2034192" cy="7205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from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5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7694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8209" y="1034880"/>
            <a:ext cx="9081135" cy="5539337"/>
          </a:xfrm>
        </p:spPr>
        <p:txBody>
          <a:bodyPr>
            <a:noAutofit/>
          </a:bodyPr>
          <a:lstStyle/>
          <a:p>
            <a:r>
              <a:rPr lang="en-US" sz="3600" dirty="0"/>
              <a:t>When you use keyword arguments, the caller identifies the arguments by parameter name.</a:t>
            </a:r>
          </a:p>
          <a:p>
            <a:r>
              <a:rPr lang="en-US" sz="3600" dirty="0"/>
              <a:t>So they can be out of order, because the given keywords can match values with parameters.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cat test.py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  <a:cs typeface="Courier New" pitchFamily="49" charset="0"/>
              </a:rPr>
              <a:t>name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age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):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  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print ("Name:", name, " Age:", age) 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(20, "Sally")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altLang="zh-TW" sz="2800" dirty="0">
                <a:latin typeface="Consolas" panose="020B0609020204030204" pitchFamily="49" charset="0"/>
                <a:cs typeface="Courier New" pitchFamily="49" charset="0"/>
              </a:rPr>
              <a:t>(age = 20, name = "Sally")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altLang="zh-TW" sz="2800" dirty="0"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altLang="zh-TW" sz="2800" dirty="0">
                <a:solidFill>
                  <a:srgbClr val="008000"/>
                </a:solidFill>
                <a:latin typeface="Consolas" panose="020B0609020204030204" pitchFamily="49" charset="0"/>
                <a:cs typeface="Courier New" pitchFamily="49" charset="0"/>
              </a:rPr>
              <a:t>name = "Sally", </a:t>
            </a:r>
            <a:r>
              <a:rPr lang="en-US" altLang="zh-TW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20</a:t>
            </a:r>
            <a:r>
              <a:rPr lang="en-US" altLang="zh-TW" sz="2800" dirty="0">
                <a:latin typeface="Consolas" panose="020B0609020204030204" pitchFamily="49" charset="0"/>
                <a:cs typeface="Courier New" pitchFamily="49" charset="0"/>
              </a:rPr>
              <a:t>)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python3 test.py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lvl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Name: 20  Age: Sally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Name: Sally  Age: 20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File "&lt;test.py&gt;", line 5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SyntaxError</a:t>
            </a:r>
            <a:r>
              <a:rPr lang="en-US" sz="28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: </a:t>
            </a:r>
            <a:r>
              <a:rPr lang="en-US" sz="2800" dirty="0">
                <a:solidFill>
                  <a:srgbClr val="7030A0"/>
                </a:solidFill>
                <a:latin typeface="Arial Narrow" panose="020B0606020202030204" pitchFamily="34" charset="0"/>
                <a:cs typeface="Courier New" pitchFamily="49" charset="0"/>
              </a:rPr>
              <a:t>positional argument </a:t>
            </a:r>
            <a:r>
              <a:rPr lang="en-US" sz="28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follows keyword argument</a:t>
            </a:r>
          </a:p>
          <a:p>
            <a:pPr lvl="1">
              <a:lnSpc>
                <a:spcPct val="6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 smtClean="0">
                <a:solidFill>
                  <a:srgbClr val="0070C0"/>
                </a:solidFill>
              </a:rPr>
              <a:t>Keyword Arguments</a:t>
            </a:r>
            <a:endParaRPr lang="en-US" sz="4400" dirty="0">
              <a:solidFill>
                <a:srgbClr val="0070C0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 flipH="1">
            <a:off x="8138459" y="151719"/>
            <a:ext cx="2143638" cy="720501"/>
            <a:chOff x="2289" y="199343"/>
            <a:chExt cx="2143638" cy="720501"/>
          </a:xfrm>
        </p:grpSpPr>
        <p:sp>
          <p:nvSpPr>
            <p:cNvPr id="7" name="Trapezoid 6"/>
            <p:cNvSpPr/>
            <p:nvPr/>
          </p:nvSpPr>
          <p:spPr bwMode="auto">
            <a:xfrm rot="18900000">
              <a:off x="2289" y="230680"/>
              <a:ext cx="2143638" cy="660774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en-US" sz="2800" dirty="0">
                <a:latin typeface="Arial" charset="0"/>
                <a:ea typeface="新細明體" charset="-12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 rot="18900000">
              <a:off x="54350" y="199343"/>
              <a:ext cx="2034192" cy="7205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from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5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3672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8209" y="1034880"/>
            <a:ext cx="9081135" cy="5539337"/>
          </a:xfrm>
        </p:spPr>
        <p:txBody>
          <a:bodyPr>
            <a:noAutofit/>
          </a:bodyPr>
          <a:lstStyle/>
          <a:p>
            <a:r>
              <a:rPr lang="en-US" sz="3600" dirty="0"/>
              <a:t>When you use keyword arguments, the caller identifies the arguments by parameter name.</a:t>
            </a:r>
          </a:p>
          <a:p>
            <a:r>
              <a:rPr lang="en-US" sz="3600" dirty="0"/>
              <a:t>So they can be out of order, because the given keywords can match values with parameters.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 err="1" smtClean="0"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 smtClean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  <a:cs typeface="Courier New" pitchFamily="49" charset="0"/>
              </a:rPr>
              <a:t>name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age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):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  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print ("Name:", name, " Age:", age) 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(20, "Sally")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altLang="zh-TW" sz="2800" dirty="0">
                <a:latin typeface="Consolas" panose="020B0609020204030204" pitchFamily="49" charset="0"/>
                <a:cs typeface="Courier New" pitchFamily="49" charset="0"/>
              </a:rPr>
              <a:t>(age = 20, name = "Sally")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altLang="zh-TW" sz="2800" dirty="0"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altLang="zh-TW" sz="2800" dirty="0">
                <a:solidFill>
                  <a:srgbClr val="008000"/>
                </a:solidFill>
                <a:latin typeface="Consolas" panose="020B0609020204030204" pitchFamily="49" charset="0"/>
                <a:cs typeface="Courier New" pitchFamily="49" charset="0"/>
              </a:rPr>
              <a:t>name = "Sally", </a:t>
            </a:r>
            <a:r>
              <a:rPr lang="en-US" altLang="zh-TW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20</a:t>
            </a:r>
            <a:r>
              <a:rPr lang="en-US" altLang="zh-TW" sz="2800" dirty="0">
                <a:latin typeface="Consolas" panose="020B0609020204030204" pitchFamily="49" charset="0"/>
                <a:cs typeface="Courier New" pitchFamily="49" charset="0"/>
              </a:rPr>
              <a:t>)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python3 test.py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lvl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Name: 20  Age: Sally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Name: Sally  Age: 20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File "&lt;test.py&gt;", line 5</a:t>
            </a:r>
          </a:p>
          <a:p>
            <a:pPr lvl="1">
              <a:lnSpc>
                <a:spcPct val="75000"/>
              </a:lnSpc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SyntaxError</a:t>
            </a:r>
            <a:r>
              <a:rPr lang="en-US" sz="28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: </a:t>
            </a:r>
            <a:r>
              <a:rPr lang="en-US" sz="2800" dirty="0">
                <a:solidFill>
                  <a:srgbClr val="7030A0"/>
                </a:solidFill>
                <a:latin typeface="Arial Narrow" panose="020B0606020202030204" pitchFamily="34" charset="0"/>
                <a:cs typeface="Courier New" pitchFamily="49" charset="0"/>
              </a:rPr>
              <a:t>positional argument </a:t>
            </a:r>
            <a:r>
              <a:rPr lang="en-US" sz="28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follows keyword argument</a:t>
            </a:r>
          </a:p>
          <a:p>
            <a:pPr lvl="1">
              <a:lnSpc>
                <a:spcPct val="6500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</a:p>
          <a:p>
            <a:pPr lvl="1">
              <a:spcBef>
                <a:spcPts val="0"/>
              </a:spcBef>
              <a:buNone/>
            </a:pPr>
            <a:endParaRPr lang="en-US" sz="2800" dirty="0">
              <a:solidFill>
                <a:prstClr val="black"/>
              </a:solidFill>
              <a:latin typeface="Consolas" panose="020B0609020204030204" pitchFamily="49" charset="0"/>
              <a:cs typeface="Courier New" pitchFamily="49" charset="0"/>
            </a:endParaRPr>
          </a:p>
        </p:txBody>
      </p:sp>
      <p:cxnSp>
        <p:nvCxnSpPr>
          <p:cNvPr id="3" name="直線單箭頭接點 2"/>
          <p:cNvCxnSpPr>
            <a:cxnSpLocks noChangeAspect="1"/>
          </p:cNvCxnSpPr>
          <p:nvPr/>
        </p:nvCxnSpPr>
        <p:spPr>
          <a:xfrm flipV="1">
            <a:off x="3951489" y="4914900"/>
            <a:ext cx="2014716" cy="1436021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 smtClean="0">
                <a:solidFill>
                  <a:srgbClr val="0070C0"/>
                </a:solidFill>
              </a:rPr>
              <a:t>Keyword Arguments</a:t>
            </a:r>
            <a:endParaRPr lang="en-US" sz="4400" dirty="0">
              <a:solidFill>
                <a:srgbClr val="0070C0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 flipH="1">
            <a:off x="8138459" y="151719"/>
            <a:ext cx="2143638" cy="720501"/>
            <a:chOff x="2289" y="199343"/>
            <a:chExt cx="2143638" cy="720501"/>
          </a:xfrm>
        </p:grpSpPr>
        <p:sp>
          <p:nvSpPr>
            <p:cNvPr id="7" name="Trapezoid 6"/>
            <p:cNvSpPr/>
            <p:nvPr/>
          </p:nvSpPr>
          <p:spPr bwMode="auto">
            <a:xfrm rot="18900000">
              <a:off x="2289" y="230680"/>
              <a:ext cx="2143638" cy="660774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en-US" sz="2800" dirty="0">
                <a:latin typeface="Arial" charset="0"/>
                <a:ea typeface="新細明體" charset="-12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 rot="18900000">
              <a:off x="54350" y="199343"/>
              <a:ext cx="2034192" cy="7205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from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5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9644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8209" y="1034880"/>
            <a:ext cx="9081135" cy="51898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302" dirty="0">
                <a:cs typeface="Courier New" pitchFamily="49" charset="0"/>
              </a:rPr>
              <a:t>There are 5 possible types of parameter definitions:</a:t>
            </a:r>
          </a:p>
          <a:p>
            <a:pPr marL="525636" indent="-362558"/>
            <a:r>
              <a:rPr lang="en-US" sz="3302" dirty="0" smtClean="0">
                <a:solidFill>
                  <a:srgbClr val="FF0000"/>
                </a:solidFill>
                <a:cs typeface="Courier New" pitchFamily="49" charset="0"/>
              </a:rPr>
              <a:t>Positional arguments</a:t>
            </a:r>
            <a:endParaRPr lang="en-US" sz="3302" dirty="0">
              <a:solidFill>
                <a:srgbClr val="FF0000"/>
              </a:solidFill>
              <a:cs typeface="Courier New" pitchFamily="49" charset="0"/>
            </a:endParaRPr>
          </a:p>
          <a:p>
            <a:pPr marL="525636" indent="-362558"/>
            <a:r>
              <a:rPr lang="en-US" sz="3302" dirty="0">
                <a:solidFill>
                  <a:srgbClr val="FF0000"/>
                </a:solidFill>
                <a:cs typeface="Courier New" pitchFamily="49" charset="0"/>
              </a:rPr>
              <a:t>Keyword arguments</a:t>
            </a:r>
          </a:p>
          <a:p>
            <a:pPr marL="525636" indent="-362558"/>
            <a:r>
              <a:rPr lang="en-US" sz="3302" dirty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Default </a:t>
            </a:r>
            <a:r>
              <a:rPr lang="en-US" sz="3302" dirty="0" smtClean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arguments  		</a:t>
            </a:r>
            <a:endParaRPr lang="en-US" sz="3302" dirty="0">
              <a:solidFill>
                <a:schemeClr val="bg1">
                  <a:lumMod val="65000"/>
                </a:schemeClr>
              </a:solidFill>
              <a:cs typeface="Courier New" pitchFamily="49" charset="0"/>
            </a:endParaRPr>
          </a:p>
          <a:p>
            <a:pPr marL="525636" indent="-362558"/>
            <a:r>
              <a:rPr lang="en-US" sz="3302" dirty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Variable-length </a:t>
            </a:r>
            <a:r>
              <a:rPr lang="en-US" sz="3302" dirty="0" smtClean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arguments</a:t>
            </a:r>
            <a:endParaRPr lang="en-US" sz="3302" dirty="0">
              <a:solidFill>
                <a:schemeClr val="bg1">
                  <a:lumMod val="65000"/>
                </a:schemeClr>
              </a:solidFill>
              <a:cs typeface="Courier New" pitchFamily="49" charset="0"/>
            </a:endParaRPr>
          </a:p>
          <a:p>
            <a:pPr marL="525636" indent="-362558"/>
            <a:r>
              <a:rPr lang="en-US" sz="3302" dirty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Keyword-only </a:t>
            </a:r>
            <a:r>
              <a:rPr lang="en-US" sz="3302" dirty="0" smtClean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arguments</a:t>
            </a:r>
            <a:r>
              <a:rPr lang="en-US" sz="3302" dirty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	</a:t>
            </a:r>
          </a:p>
          <a:p>
            <a:pPr marL="525636" indent="-362558"/>
            <a:endParaRPr lang="en-US" sz="3302" dirty="0">
              <a:cs typeface="Courier New" pitchFamily="49" charset="0"/>
            </a:endParaRPr>
          </a:p>
          <a:p>
            <a:endParaRPr lang="en-US" sz="3302" dirty="0">
              <a:solidFill>
                <a:srgbClr val="660066"/>
              </a:solidFill>
              <a:cs typeface="Courier New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 smtClean="0">
                <a:solidFill>
                  <a:srgbClr val="0070C0"/>
                </a:solidFill>
              </a:rPr>
              <a:t>Defining Function Parameters</a:t>
            </a:r>
            <a:endParaRPr lang="en-US" sz="4400" dirty="0">
              <a:solidFill>
                <a:srgbClr val="0070C0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 flipH="1">
            <a:off x="8138459" y="151719"/>
            <a:ext cx="2143638" cy="720501"/>
            <a:chOff x="2289" y="199343"/>
            <a:chExt cx="2143638" cy="720501"/>
          </a:xfrm>
        </p:grpSpPr>
        <p:sp>
          <p:nvSpPr>
            <p:cNvPr id="6" name="Trapezoid 5"/>
            <p:cNvSpPr/>
            <p:nvPr/>
          </p:nvSpPr>
          <p:spPr bwMode="auto">
            <a:xfrm rot="18900000">
              <a:off x="2289" y="230680"/>
              <a:ext cx="2143638" cy="660774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en-US" sz="2800" dirty="0">
                <a:latin typeface="Arial" charset="0"/>
                <a:ea typeface="新細明體" charset="-12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 rot="18900000">
              <a:off x="54350" y="199343"/>
              <a:ext cx="2034192" cy="7205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from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5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0953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8209" y="1034880"/>
            <a:ext cx="9081135" cy="51898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302" dirty="0">
                <a:cs typeface="Courier New" pitchFamily="49" charset="0"/>
              </a:rPr>
              <a:t>There are 5 possible types of parameter definitions:</a:t>
            </a:r>
          </a:p>
          <a:p>
            <a:pPr marL="525636" indent="-362558"/>
            <a:r>
              <a:rPr lang="en-US" sz="3302" dirty="0" smtClean="0">
                <a:cs typeface="Courier New" pitchFamily="49" charset="0"/>
              </a:rPr>
              <a:t>Positional arguments</a:t>
            </a:r>
            <a:endParaRPr lang="en-US" sz="3302" dirty="0">
              <a:cs typeface="Courier New" pitchFamily="49" charset="0"/>
            </a:endParaRPr>
          </a:p>
          <a:p>
            <a:pPr marL="525636" indent="-362558"/>
            <a:r>
              <a:rPr lang="en-US" sz="3302" dirty="0">
                <a:cs typeface="Courier New" pitchFamily="49" charset="0"/>
              </a:rPr>
              <a:t>Keyword arguments</a:t>
            </a:r>
          </a:p>
          <a:p>
            <a:pPr marL="525636" indent="-362558"/>
            <a:r>
              <a:rPr lang="en-US" sz="3302" dirty="0">
                <a:solidFill>
                  <a:srgbClr val="FF0000"/>
                </a:solidFill>
                <a:cs typeface="Courier New" pitchFamily="49" charset="0"/>
              </a:rPr>
              <a:t>Default </a:t>
            </a:r>
            <a:r>
              <a:rPr lang="en-US" sz="3302" dirty="0" smtClean="0">
                <a:solidFill>
                  <a:srgbClr val="FF0000"/>
                </a:solidFill>
                <a:cs typeface="Courier New" pitchFamily="49" charset="0"/>
              </a:rPr>
              <a:t>arguments  </a:t>
            </a:r>
            <a:r>
              <a:rPr lang="en-US" sz="3302" dirty="0" smtClean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		</a:t>
            </a:r>
            <a:endParaRPr lang="en-US" sz="3302" dirty="0">
              <a:solidFill>
                <a:schemeClr val="bg1">
                  <a:lumMod val="65000"/>
                </a:schemeClr>
              </a:solidFill>
              <a:cs typeface="Courier New" pitchFamily="49" charset="0"/>
            </a:endParaRPr>
          </a:p>
          <a:p>
            <a:pPr marL="525636" indent="-362558"/>
            <a:r>
              <a:rPr lang="en-US" sz="3302" dirty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Variable-length </a:t>
            </a:r>
            <a:r>
              <a:rPr lang="en-US" sz="3302" dirty="0" smtClean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arguments	</a:t>
            </a:r>
            <a:endParaRPr lang="en-US" sz="3302" dirty="0">
              <a:solidFill>
                <a:schemeClr val="bg1">
                  <a:lumMod val="65000"/>
                </a:schemeClr>
              </a:solidFill>
              <a:cs typeface="Courier New" pitchFamily="49" charset="0"/>
            </a:endParaRPr>
          </a:p>
          <a:p>
            <a:pPr marL="525636" indent="-362558"/>
            <a:r>
              <a:rPr lang="en-US" sz="3302" dirty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Keyword-only </a:t>
            </a:r>
            <a:r>
              <a:rPr lang="en-US" sz="3302" dirty="0" smtClean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arguments</a:t>
            </a:r>
            <a:r>
              <a:rPr lang="en-US" sz="3302" dirty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	</a:t>
            </a:r>
          </a:p>
          <a:p>
            <a:pPr marL="525636" indent="-362558"/>
            <a:endParaRPr lang="en-US" sz="3302" dirty="0">
              <a:cs typeface="Courier New" pitchFamily="49" charset="0"/>
            </a:endParaRPr>
          </a:p>
          <a:p>
            <a:endParaRPr lang="en-US" sz="3302" dirty="0">
              <a:solidFill>
                <a:srgbClr val="660066"/>
              </a:solidFill>
              <a:cs typeface="Courier New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 smtClean="0">
                <a:solidFill>
                  <a:srgbClr val="0070C0"/>
                </a:solidFill>
              </a:rPr>
              <a:t>Defining Function Parameters</a:t>
            </a:r>
            <a:endParaRPr lang="en-US" sz="4400" dirty="0">
              <a:solidFill>
                <a:srgbClr val="0070C0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 flipH="1">
            <a:off x="8138459" y="151719"/>
            <a:ext cx="2143638" cy="720501"/>
            <a:chOff x="2289" y="199343"/>
            <a:chExt cx="2143638" cy="720501"/>
          </a:xfrm>
        </p:grpSpPr>
        <p:sp>
          <p:nvSpPr>
            <p:cNvPr id="6" name="Trapezoid 5"/>
            <p:cNvSpPr/>
            <p:nvPr/>
          </p:nvSpPr>
          <p:spPr bwMode="auto">
            <a:xfrm rot="18900000">
              <a:off x="2289" y="230680"/>
              <a:ext cx="2143638" cy="660774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en-US" sz="2800" dirty="0">
                <a:latin typeface="Arial" charset="0"/>
                <a:ea typeface="新細明體" charset="-12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 rot="18900000">
              <a:off x="54350" y="199343"/>
              <a:ext cx="2034192" cy="7205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from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5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73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 txBox="1">
            <a:spLocks/>
          </p:cNvSpPr>
          <p:nvPr/>
        </p:nvSpPr>
        <p:spPr>
          <a:xfrm>
            <a:off x="347472" y="1033272"/>
            <a:ext cx="9079992" cy="62727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/>
              <a:t>A default argument </a:t>
            </a:r>
            <a:r>
              <a:rPr lang="en-US" sz="3600" dirty="0" smtClean="0"/>
              <a:t>can take </a:t>
            </a:r>
            <a:r>
              <a:rPr lang="en-US" sz="3600" dirty="0"/>
              <a:t>a default value if no other value is provided in the function call.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cat test.py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 name, age=20):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  print ("Name:", name, " Age:", age) 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(name="Sally")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("Sally",19)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("Sally")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python3 test.py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Name: Sally  Age: 20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Name: Sally  Age: 19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Name: Sally  Age: 20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cat </a:t>
            </a:r>
            <a:r>
              <a:rPr lang="en-US" sz="2800" dirty="0" smtClean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broken.py</a:t>
            </a:r>
            <a:endParaRPr lang="en-US" sz="2800" dirty="0">
              <a:solidFill>
                <a:srgbClr val="0070C0"/>
              </a:solidFill>
              <a:latin typeface="Consolas" panose="020B0609020204030204" pitchFamily="49" charset="0"/>
              <a:cs typeface="Courier New" pitchFamily="49" charset="0"/>
            </a:endParaRPr>
          </a:p>
        </p:txBody>
      </p:sp>
      <p:sp>
        <p:nvSpPr>
          <p:cNvPr id="12" name="Rounded Rectangular Callout 11"/>
          <p:cNvSpPr/>
          <p:nvPr/>
        </p:nvSpPr>
        <p:spPr>
          <a:xfrm>
            <a:off x="5497838" y="5255538"/>
            <a:ext cx="3946788" cy="871165"/>
          </a:xfrm>
          <a:prstGeom prst="wedgeRoundRectCallout">
            <a:avLst>
              <a:gd name="adj1" fmla="val -64673"/>
              <a:gd name="adj2" fmla="val -3818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1" algn="ctr"/>
            <a:r>
              <a:rPr lang="en-US" sz="2800" dirty="0"/>
              <a:t>Yes, it worked. But 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how </a:t>
            </a:r>
            <a:r>
              <a:rPr lang="en-US" sz="2800" dirty="0"/>
              <a:t>did Python know?</a:t>
            </a:r>
          </a:p>
        </p:txBody>
      </p:sp>
      <p:sp>
        <p:nvSpPr>
          <p:cNvPr id="11" name="Rounded Rectangular Callout 10"/>
          <p:cNvSpPr/>
          <p:nvPr/>
        </p:nvSpPr>
        <p:spPr>
          <a:xfrm>
            <a:off x="5497838" y="3057090"/>
            <a:ext cx="3934261" cy="2142698"/>
          </a:xfrm>
          <a:prstGeom prst="wedgeRoundRectCallout">
            <a:avLst>
              <a:gd name="adj1" fmla="val -76822"/>
              <a:gd name="adj2" fmla="val -2108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2800" spc="-30" dirty="0"/>
              <a:t>I wonder: Will this work</a:t>
            </a:r>
            <a:r>
              <a:rPr lang="en-US" sz="2800" dirty="0"/>
              <a:t>?</a:t>
            </a:r>
          </a:p>
          <a:p>
            <a:pPr algn="ctr"/>
            <a:r>
              <a:rPr lang="en-US" sz="2800" dirty="0"/>
              <a:t>After all, how is Python supposed to know that you didn’t mean for “Sally” to be the age?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0"/>
            <a:ext cx="9726745" cy="71195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70C0"/>
                </a:solidFill>
              </a:rPr>
              <a:t>Default  Arguments:</a:t>
            </a:r>
          </a:p>
        </p:txBody>
      </p:sp>
      <p:grpSp>
        <p:nvGrpSpPr>
          <p:cNvPr id="6" name="Group 5"/>
          <p:cNvGrpSpPr/>
          <p:nvPr/>
        </p:nvGrpSpPr>
        <p:grpSpPr>
          <a:xfrm flipH="1">
            <a:off x="8138459" y="151719"/>
            <a:ext cx="2143638" cy="720501"/>
            <a:chOff x="2289" y="199343"/>
            <a:chExt cx="2143638" cy="720501"/>
          </a:xfrm>
        </p:grpSpPr>
        <p:sp>
          <p:nvSpPr>
            <p:cNvPr id="7" name="Trapezoid 6"/>
            <p:cNvSpPr/>
            <p:nvPr/>
          </p:nvSpPr>
          <p:spPr bwMode="auto">
            <a:xfrm rot="18900000">
              <a:off x="2289" y="230680"/>
              <a:ext cx="2143638" cy="660774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en-US" sz="2800" dirty="0">
                <a:latin typeface="Arial" charset="0"/>
                <a:ea typeface="新細明體" charset="-12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 rot="18900000">
              <a:off x="54350" y="199343"/>
              <a:ext cx="2034192" cy="7205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from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5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044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ular Callout 7"/>
          <p:cNvSpPr/>
          <p:nvPr/>
        </p:nvSpPr>
        <p:spPr>
          <a:xfrm>
            <a:off x="5497838" y="5255538"/>
            <a:ext cx="3946788" cy="871165"/>
          </a:xfrm>
          <a:prstGeom prst="wedgeRoundRectCallout">
            <a:avLst>
              <a:gd name="adj1" fmla="val -64673"/>
              <a:gd name="adj2" fmla="val -3818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1" algn="ctr"/>
            <a:r>
              <a:rPr lang="en-US" sz="2800" dirty="0"/>
              <a:t>Yes, it worked. But 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how </a:t>
            </a:r>
            <a:r>
              <a:rPr lang="en-US" sz="2800" dirty="0"/>
              <a:t>did Python know?</a:t>
            </a:r>
          </a:p>
        </p:txBody>
      </p:sp>
      <p:sp>
        <p:nvSpPr>
          <p:cNvPr id="11" name="Rounded Rectangular Callout 10"/>
          <p:cNvSpPr/>
          <p:nvPr/>
        </p:nvSpPr>
        <p:spPr>
          <a:xfrm>
            <a:off x="5497838" y="3057090"/>
            <a:ext cx="3934261" cy="2142698"/>
          </a:xfrm>
          <a:prstGeom prst="wedgeRoundRectCallout">
            <a:avLst>
              <a:gd name="adj1" fmla="val -76822"/>
              <a:gd name="adj2" fmla="val -2108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2800" spc="-30" dirty="0"/>
              <a:t>I wonder: Will this work</a:t>
            </a:r>
            <a:r>
              <a:rPr lang="en-US" sz="2800" dirty="0"/>
              <a:t>?</a:t>
            </a:r>
          </a:p>
          <a:p>
            <a:pPr algn="ctr"/>
            <a:r>
              <a:rPr lang="en-US" sz="2800" dirty="0"/>
              <a:t>After all, how is Python supposed to know that you didn’t mean for “Sally” to be the age?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347472" y="1033272"/>
            <a:ext cx="9079992" cy="62727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/>
              <a:t>A default argument </a:t>
            </a:r>
            <a:r>
              <a:rPr lang="en-US" sz="3600" dirty="0" smtClean="0"/>
              <a:t>can take </a:t>
            </a:r>
            <a:r>
              <a:rPr lang="en-US" sz="3600" dirty="0"/>
              <a:t>a default value if no other value is provided in the function call.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cat test.py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 name, age=20):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	  print ("Name:", name, " Age:", age) 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(name="Sally")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("Sally",19)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("Sally")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</a:t>
            </a:r>
            <a:r>
              <a:rPr lang="en-US" sz="2800" dirty="0">
                <a:solidFill>
                  <a:srgbClr val="BFBFBF"/>
                </a:solidFill>
                <a:latin typeface="Consolas" panose="020B0609020204030204" pitchFamily="49" charset="0"/>
                <a:cs typeface="Courier New" pitchFamily="49" charset="0"/>
              </a:rPr>
              <a:t>python3 test.py</a:t>
            </a:r>
            <a:endParaRPr lang="en-US" sz="2800" dirty="0">
              <a:solidFill>
                <a:srgbClr val="BFBFBF"/>
              </a:solidFill>
              <a:latin typeface="Consolas" panose="020B06090202040302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Name: Sally  Age: 20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Name: Sally  Age: 19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Name: Sally  Age: 20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cat broken.py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( name="Sally", age):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   print ("Name: ", name, ", Age: ", age)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python3 broken.py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rgbClr val="FFCCCC"/>
                </a:solidFill>
                <a:latin typeface="Consolas" panose="020B0609020204030204" pitchFamily="49" charset="0"/>
                <a:cs typeface="Courier New" pitchFamily="49" charset="0"/>
              </a:rPr>
              <a:t>File “broken.py", line 1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SyntaxError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: non-default argument follows default argument</a:t>
            </a:r>
          </a:p>
          <a:p>
            <a:pPr lvl="1">
              <a:spcBef>
                <a:spcPts val="0"/>
              </a:spcBef>
              <a:buNone/>
            </a:pPr>
            <a:endParaRPr lang="en-US" sz="2800" dirty="0">
              <a:solidFill>
                <a:srgbClr val="FF0000"/>
              </a:solidFill>
              <a:latin typeface="Consolas" panose="020B0609020204030204" pitchFamily="49" charset="0"/>
              <a:cs typeface="Courier New" pitchFamily="49" charset="0"/>
            </a:endParaRPr>
          </a:p>
        </p:txBody>
      </p:sp>
      <p:sp>
        <p:nvSpPr>
          <p:cNvPr id="13" name="Rounded Rectangular Callout 12"/>
          <p:cNvSpPr/>
          <p:nvPr/>
        </p:nvSpPr>
        <p:spPr>
          <a:xfrm>
            <a:off x="5237747" y="2745055"/>
            <a:ext cx="3212756" cy="1754658"/>
          </a:xfrm>
          <a:prstGeom prst="wedgeRoundRectCallout">
            <a:avLst>
              <a:gd name="adj1" fmla="val -143325"/>
              <a:gd name="adj2" fmla="val 141409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1"/>
            <a:r>
              <a:rPr lang="en-US" sz="2800" dirty="0"/>
              <a:t>That’s how it knew: It has a special rule.</a:t>
            </a:r>
          </a:p>
          <a:p>
            <a:pPr marL="0" lvl="1" algn="ctr"/>
            <a:r>
              <a:rPr lang="en-US" sz="2800" dirty="0"/>
              <a:t>(Actually, C++ has this same rule.)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0"/>
            <a:ext cx="9726745" cy="71195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70C0"/>
                </a:solidFill>
              </a:rPr>
              <a:t>Default  Arguments:</a:t>
            </a:r>
          </a:p>
        </p:txBody>
      </p:sp>
      <p:grpSp>
        <p:nvGrpSpPr>
          <p:cNvPr id="7" name="Group 6"/>
          <p:cNvGrpSpPr/>
          <p:nvPr/>
        </p:nvGrpSpPr>
        <p:grpSpPr>
          <a:xfrm flipH="1">
            <a:off x="8138459" y="151719"/>
            <a:ext cx="2143638" cy="720501"/>
            <a:chOff x="2289" y="199343"/>
            <a:chExt cx="2143638" cy="720501"/>
          </a:xfrm>
        </p:grpSpPr>
        <p:sp>
          <p:nvSpPr>
            <p:cNvPr id="12" name="Trapezoid 11"/>
            <p:cNvSpPr/>
            <p:nvPr/>
          </p:nvSpPr>
          <p:spPr bwMode="auto">
            <a:xfrm rot="18900000">
              <a:off x="2289" y="230680"/>
              <a:ext cx="2143638" cy="660774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en-US" sz="2800" dirty="0">
                <a:latin typeface="Arial" charset="0"/>
                <a:ea typeface="新細明體" charset="-12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 rot="18900000">
              <a:off x="54350" y="199343"/>
              <a:ext cx="2034192" cy="7205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from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5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1783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64" presetClass="pat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0" grpId="0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8209" y="1034880"/>
            <a:ext cx="9081135" cy="51898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302" dirty="0">
                <a:cs typeface="Courier New" pitchFamily="49" charset="0"/>
              </a:rPr>
              <a:t>There are 5 possible types of parameter definitions:</a:t>
            </a:r>
          </a:p>
          <a:p>
            <a:pPr marL="525636" indent="-362558"/>
            <a:r>
              <a:rPr lang="en-US" sz="3302" dirty="0" smtClean="0">
                <a:cs typeface="Courier New" pitchFamily="49" charset="0"/>
              </a:rPr>
              <a:t>Positional arguments</a:t>
            </a:r>
            <a:endParaRPr lang="en-US" sz="3302" dirty="0">
              <a:cs typeface="Courier New" pitchFamily="49" charset="0"/>
            </a:endParaRPr>
          </a:p>
          <a:p>
            <a:pPr marL="525636" indent="-362558"/>
            <a:r>
              <a:rPr lang="en-US" sz="3302" dirty="0">
                <a:cs typeface="Courier New" pitchFamily="49" charset="0"/>
              </a:rPr>
              <a:t>Keyword arguments</a:t>
            </a:r>
          </a:p>
          <a:p>
            <a:pPr marL="525636" indent="-362558"/>
            <a:r>
              <a:rPr lang="en-US" sz="3302" dirty="0">
                <a:solidFill>
                  <a:srgbClr val="FF0000"/>
                </a:solidFill>
                <a:cs typeface="Courier New" pitchFamily="49" charset="0"/>
              </a:rPr>
              <a:t>Default </a:t>
            </a:r>
            <a:r>
              <a:rPr lang="en-US" sz="3302" dirty="0" smtClean="0">
                <a:solidFill>
                  <a:srgbClr val="FF0000"/>
                </a:solidFill>
                <a:cs typeface="Courier New" pitchFamily="49" charset="0"/>
              </a:rPr>
              <a:t>arguments  </a:t>
            </a:r>
            <a:r>
              <a:rPr lang="en-US" sz="3302" dirty="0" smtClean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		</a:t>
            </a:r>
            <a:endParaRPr lang="en-US" sz="3302" dirty="0">
              <a:solidFill>
                <a:schemeClr val="bg1">
                  <a:lumMod val="65000"/>
                </a:schemeClr>
              </a:solidFill>
              <a:cs typeface="Courier New" pitchFamily="49" charset="0"/>
            </a:endParaRPr>
          </a:p>
          <a:p>
            <a:pPr marL="525636" indent="-362558"/>
            <a:r>
              <a:rPr lang="en-US" sz="3302" dirty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Variable-length </a:t>
            </a:r>
            <a:r>
              <a:rPr lang="en-US" sz="3302" dirty="0" smtClean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arguments	</a:t>
            </a:r>
            <a:endParaRPr lang="en-US" sz="3302" dirty="0">
              <a:solidFill>
                <a:schemeClr val="bg1">
                  <a:lumMod val="65000"/>
                </a:schemeClr>
              </a:solidFill>
              <a:cs typeface="Courier New" pitchFamily="49" charset="0"/>
            </a:endParaRPr>
          </a:p>
          <a:p>
            <a:pPr marL="525636" indent="-362558"/>
            <a:r>
              <a:rPr lang="en-US" sz="3302" dirty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Keyword-only </a:t>
            </a:r>
            <a:r>
              <a:rPr lang="en-US" sz="3302" dirty="0" smtClean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arguments</a:t>
            </a:r>
            <a:r>
              <a:rPr lang="en-US" sz="3302" dirty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	</a:t>
            </a:r>
          </a:p>
          <a:p>
            <a:pPr marL="525636" indent="-362558"/>
            <a:endParaRPr lang="en-US" sz="3302" dirty="0">
              <a:cs typeface="Courier New" pitchFamily="49" charset="0"/>
            </a:endParaRPr>
          </a:p>
          <a:p>
            <a:endParaRPr lang="en-US" sz="3302" dirty="0">
              <a:solidFill>
                <a:srgbClr val="660066"/>
              </a:solidFill>
              <a:cs typeface="Courier New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 smtClean="0">
                <a:solidFill>
                  <a:srgbClr val="0070C0"/>
                </a:solidFill>
              </a:rPr>
              <a:t>Defining Function Parameters</a:t>
            </a:r>
            <a:endParaRPr lang="en-US" sz="4400" dirty="0">
              <a:solidFill>
                <a:srgbClr val="0070C0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 flipH="1">
            <a:off x="8138459" y="151719"/>
            <a:ext cx="2143638" cy="720501"/>
            <a:chOff x="2289" y="199343"/>
            <a:chExt cx="2143638" cy="720501"/>
          </a:xfrm>
        </p:grpSpPr>
        <p:sp>
          <p:nvSpPr>
            <p:cNvPr id="6" name="Trapezoid 5"/>
            <p:cNvSpPr/>
            <p:nvPr/>
          </p:nvSpPr>
          <p:spPr bwMode="auto">
            <a:xfrm rot="18900000">
              <a:off x="2289" y="230680"/>
              <a:ext cx="2143638" cy="660774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en-US" sz="2800" dirty="0">
                <a:latin typeface="Arial" charset="0"/>
                <a:ea typeface="新細明體" charset="-12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 rot="18900000">
              <a:off x="54350" y="199343"/>
              <a:ext cx="2034192" cy="7205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from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5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95799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8209" y="1034880"/>
            <a:ext cx="9081135" cy="51898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302" dirty="0">
                <a:cs typeface="Courier New" pitchFamily="49" charset="0"/>
              </a:rPr>
              <a:t>There are 5 possible types of parameter definitions:</a:t>
            </a:r>
          </a:p>
          <a:p>
            <a:pPr marL="525636" indent="-362558"/>
            <a:r>
              <a:rPr lang="en-US" sz="3302" dirty="0" smtClean="0">
                <a:cs typeface="Courier New" pitchFamily="49" charset="0"/>
              </a:rPr>
              <a:t>Positional arguments</a:t>
            </a:r>
            <a:endParaRPr lang="en-US" sz="3302" dirty="0">
              <a:cs typeface="Courier New" pitchFamily="49" charset="0"/>
            </a:endParaRPr>
          </a:p>
          <a:p>
            <a:pPr marL="525636" indent="-362558"/>
            <a:r>
              <a:rPr lang="en-US" sz="3302" dirty="0">
                <a:cs typeface="Courier New" pitchFamily="49" charset="0"/>
              </a:rPr>
              <a:t>Keyword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Default </a:t>
            </a:r>
            <a:r>
              <a:rPr lang="en-US" sz="3302" dirty="0" smtClean="0">
                <a:cs typeface="Courier New" pitchFamily="49" charset="0"/>
              </a:rPr>
              <a:t>arguments  </a:t>
            </a:r>
            <a:r>
              <a:rPr lang="en-US" sz="3302" dirty="0" smtClean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		</a:t>
            </a:r>
            <a:endParaRPr lang="en-US" sz="3302" dirty="0">
              <a:solidFill>
                <a:schemeClr val="bg1">
                  <a:lumMod val="65000"/>
                </a:schemeClr>
              </a:solidFill>
              <a:cs typeface="Courier New" pitchFamily="49" charset="0"/>
            </a:endParaRPr>
          </a:p>
          <a:p>
            <a:pPr marL="525636" indent="-362558"/>
            <a:r>
              <a:rPr lang="en-US" sz="3302" dirty="0">
                <a:solidFill>
                  <a:srgbClr val="FF0000"/>
                </a:solidFill>
                <a:cs typeface="Courier New" pitchFamily="49" charset="0"/>
              </a:rPr>
              <a:t>Variable-length </a:t>
            </a:r>
            <a:r>
              <a:rPr lang="en-US" sz="3302" dirty="0" smtClean="0">
                <a:solidFill>
                  <a:srgbClr val="FF0000"/>
                </a:solidFill>
                <a:cs typeface="Courier New" pitchFamily="49" charset="0"/>
              </a:rPr>
              <a:t>arguments</a:t>
            </a:r>
            <a:r>
              <a:rPr lang="en-US" sz="3302" dirty="0" smtClean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	</a:t>
            </a:r>
            <a:endParaRPr lang="en-US" sz="3302" dirty="0">
              <a:solidFill>
                <a:schemeClr val="bg1">
                  <a:lumMod val="65000"/>
                </a:schemeClr>
              </a:solidFill>
              <a:cs typeface="Courier New" pitchFamily="49" charset="0"/>
            </a:endParaRPr>
          </a:p>
          <a:p>
            <a:pPr marL="525636" indent="-362558"/>
            <a:r>
              <a:rPr lang="en-US" sz="3302" dirty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Keyword-only </a:t>
            </a:r>
            <a:r>
              <a:rPr lang="en-US" sz="3302" dirty="0" smtClean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arguments</a:t>
            </a:r>
            <a:r>
              <a:rPr lang="en-US" sz="3302" dirty="0">
                <a:solidFill>
                  <a:schemeClr val="bg1">
                    <a:lumMod val="65000"/>
                  </a:schemeClr>
                </a:solidFill>
                <a:cs typeface="Courier New" pitchFamily="49" charset="0"/>
              </a:rPr>
              <a:t>	</a:t>
            </a:r>
          </a:p>
          <a:p>
            <a:pPr marL="525636" indent="-362558"/>
            <a:endParaRPr lang="en-US" sz="3302" dirty="0">
              <a:cs typeface="Courier New" pitchFamily="49" charset="0"/>
            </a:endParaRPr>
          </a:p>
          <a:p>
            <a:endParaRPr lang="en-US" sz="3302" dirty="0">
              <a:solidFill>
                <a:srgbClr val="660066"/>
              </a:solidFill>
              <a:cs typeface="Courier New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 smtClean="0">
                <a:solidFill>
                  <a:srgbClr val="0070C0"/>
                </a:solidFill>
              </a:rPr>
              <a:t>Defining Function Parameters</a:t>
            </a:r>
            <a:endParaRPr lang="en-US" sz="4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520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268235" y="26152"/>
            <a:ext cx="945851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70C0"/>
                </a:solidFill>
              </a:rPr>
              <a:t>Variable-Length  Arguments: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74320" y="914400"/>
            <a:ext cx="9079992" cy="62727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/>
              <a:t>Some functions (</a:t>
            </a:r>
            <a:r>
              <a:rPr lang="en-US" sz="3600" dirty="0" err="1"/>
              <a:t>eg</a:t>
            </a:r>
            <a:r>
              <a:rPr lang="en-US" sz="3600" dirty="0"/>
              <a:t>., </a:t>
            </a:r>
            <a:r>
              <a:rPr lang="en-US" sz="3600" b="1" dirty="0">
                <a:latin typeface="Consolas" panose="020B0609020204030204" pitchFamily="49" charset="0"/>
              </a:rPr>
              <a:t>print</a:t>
            </a:r>
            <a:r>
              <a:rPr lang="en-US" sz="3600" dirty="0"/>
              <a:t>) can receive a variable number of arguments</a:t>
            </a:r>
          </a:p>
          <a:p>
            <a:r>
              <a:rPr lang="en-US" sz="3600" dirty="0"/>
              <a:t>To do this, put an asterisk, *, before the name of a variable that will hold </a:t>
            </a:r>
            <a:r>
              <a:rPr lang="en-US" sz="3600" dirty="0" smtClean="0"/>
              <a:t>an indeterminate number </a:t>
            </a:r>
            <a:r>
              <a:rPr lang="en-US" sz="3600" dirty="0"/>
              <a:t>arguments. </a:t>
            </a:r>
            <a:endParaRPr lang="en-US" sz="3600" dirty="0" smtClean="0"/>
          </a:p>
          <a:p>
            <a:pPr lvl="1"/>
            <a:r>
              <a:rPr lang="en-US" dirty="0" smtClean="0"/>
              <a:t>This </a:t>
            </a:r>
            <a:r>
              <a:rPr lang="en-US" dirty="0"/>
              <a:t>will be </a:t>
            </a:r>
            <a:r>
              <a:rPr lang="en-US" dirty="0">
                <a:solidFill>
                  <a:srgbClr val="0000FF"/>
                </a:solidFill>
              </a:rPr>
              <a:t>a tuple </a:t>
            </a:r>
            <a:r>
              <a:rPr lang="en-US" dirty="0"/>
              <a:t>and will be empty if no additional arguments are sent in.</a:t>
            </a:r>
          </a:p>
        </p:txBody>
      </p:sp>
    </p:spTree>
    <p:extLst>
      <p:ext uri="{BB962C8B-B14F-4D97-AF65-F5344CB8AC3E}">
        <p14:creationId xmlns:p14="http://schemas.microsoft.com/office/powerpoint/2010/main" val="1057963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438943" y="1066800"/>
            <a:ext cx="10342483" cy="304800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68235" y="668740"/>
            <a:ext cx="9458510" cy="61892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cat c</a:t>
            </a:r>
            <a:r>
              <a:rPr lang="en-US" sz="280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all.py</a:t>
            </a:r>
            <a:endParaRPr lang="en-US" sz="28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C000"/>
                </a:solidFill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 </a:t>
            </a:r>
            <a:r>
              <a:rPr lang="en-US" sz="2800" dirty="0">
                <a:solidFill>
                  <a:srgbClr val="92D050"/>
                </a:solidFill>
                <a:latin typeface="Consolas" panose="020B0609020204030204" pitchFamily="49" charset="0"/>
                <a:cs typeface="Courier New" pitchFamily="49" charset="0"/>
              </a:rPr>
              <a:t>arg1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sz="2800" dirty="0">
                <a:solidFill>
                  <a:srgbClr val="00B0F0"/>
                </a:solidFill>
                <a:latin typeface="Consolas" panose="020B0609020204030204" pitchFamily="49" charset="0"/>
                <a:cs typeface="Courier New" pitchFamily="49" charset="0"/>
              </a:rPr>
              <a:t>*</a:t>
            </a:r>
            <a:r>
              <a:rPr lang="en-US" sz="2800" dirty="0" err="1">
                <a:solidFill>
                  <a:srgbClr val="00B0F0"/>
                </a:solidFill>
                <a:latin typeface="Consolas" panose="020B0609020204030204" pitchFamily="49" charset="0"/>
                <a:cs typeface="Courier New" pitchFamily="49" charset="0"/>
              </a:rPr>
              <a:t>vartuple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): 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2800" dirty="0">
                <a:solidFill>
                  <a:srgbClr val="FFC000"/>
                </a:solidFill>
                <a:latin typeface="Consolas" panose="020B0609020204030204" pitchFamily="49" charset="0"/>
                <a:cs typeface="Courier New" pitchFamily="49" charset="0"/>
              </a:rPr>
              <a:t>print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("Output is:") 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2800" dirty="0">
                <a:solidFill>
                  <a:srgbClr val="FFC000"/>
                </a:solidFill>
                <a:latin typeface="Consolas" panose="020B0609020204030204" pitchFamily="49" charset="0"/>
                <a:cs typeface="Courier New" pitchFamily="49" charset="0"/>
              </a:rPr>
              <a:t>print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(</a:t>
            </a:r>
            <a:r>
              <a:rPr lang="en-US" sz="2800" dirty="0">
                <a:solidFill>
                  <a:srgbClr val="92D050"/>
                </a:solidFill>
                <a:latin typeface="Consolas" panose="020B0609020204030204" pitchFamily="49" charset="0"/>
                <a:cs typeface="Courier New" pitchFamily="49" charset="0"/>
              </a:rPr>
              <a:t>arg1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)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 	</a:t>
            </a:r>
            <a:r>
              <a:rPr lang="en-US" sz="2800" dirty="0">
                <a:solidFill>
                  <a:srgbClr val="FFC000"/>
                </a:solidFill>
                <a:latin typeface="Consolas" panose="020B0609020204030204" pitchFamily="49" charset="0"/>
                <a:cs typeface="Courier New" pitchFamily="49" charset="0"/>
              </a:rPr>
              <a:t>for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Consolas" panose="020B0609020204030204" pitchFamily="49" charset="0"/>
                <a:cs typeface="Courier New" pitchFamily="49" charset="0"/>
              </a:rPr>
              <a:t>var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>
                <a:solidFill>
                  <a:srgbClr val="FFC000"/>
                </a:solidFill>
                <a:latin typeface="Consolas" panose="020B0609020204030204" pitchFamily="49" charset="0"/>
                <a:cs typeface="Courier New" pitchFamily="49" charset="0"/>
              </a:rPr>
              <a:t>in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Consolas" panose="020B0609020204030204" pitchFamily="49" charset="0"/>
                <a:cs typeface="Courier New" pitchFamily="49" charset="0"/>
              </a:rPr>
              <a:t>vartuple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: 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			</a:t>
            </a:r>
            <a:r>
              <a:rPr lang="en-US" sz="2800" dirty="0">
                <a:solidFill>
                  <a:srgbClr val="FFC000"/>
                </a:solidFill>
                <a:latin typeface="Consolas" panose="020B0609020204030204" pitchFamily="49" charset="0"/>
                <a:cs typeface="Courier New" pitchFamily="49" charset="0"/>
              </a:rPr>
              <a:t>print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(</a:t>
            </a:r>
            <a:r>
              <a:rPr lang="en-US" sz="2800" dirty="0" err="1">
                <a:solidFill>
                  <a:srgbClr val="00B0F0"/>
                </a:solidFill>
                <a:latin typeface="Consolas" panose="020B0609020204030204" pitchFamily="49" charset="0"/>
                <a:cs typeface="Courier New" pitchFamily="49" charset="0"/>
              </a:rPr>
              <a:t>var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) 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 </a:t>
            </a:r>
            <a:r>
              <a:rPr lang="en-US" sz="2800" dirty="0">
                <a:solidFill>
                  <a:srgbClr val="92D050"/>
                </a:solidFill>
                <a:latin typeface="Consolas" panose="020B0609020204030204" pitchFamily="49" charset="0"/>
                <a:cs typeface="Courier New" pitchFamily="49" charset="0"/>
              </a:rPr>
              <a:t>10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)</a:t>
            </a:r>
          </a:p>
          <a:p>
            <a:pPr lvl="1" indent="-685800">
              <a:spcBef>
                <a:spcPts val="0"/>
              </a:spcBef>
              <a:buNone/>
            </a:pPr>
            <a:endParaRPr lang="en-US" sz="2800" dirty="0">
              <a:latin typeface="Consolas" panose="020B0609020204030204" pitchFamily="49" charset="0"/>
              <a:cs typeface="Courier New" pitchFamily="49" charset="0"/>
            </a:endParaRPr>
          </a:p>
          <a:p>
            <a:pPr marL="685800" indent="-685800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% python3 </a:t>
            </a:r>
            <a:r>
              <a:rPr lang="en-US" sz="280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call.py</a:t>
            </a:r>
            <a:endParaRPr lang="en-US" sz="28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Output is: 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solidFill>
                  <a:srgbClr val="92D050"/>
                </a:solidFill>
                <a:latin typeface="Consolas" panose="020B0609020204030204" pitchFamily="49" charset="0"/>
                <a:cs typeface="Courier New" pitchFamily="49" charset="0"/>
              </a:rPr>
              <a:t>10 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  <a:endParaRPr lang="en-US" sz="28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268235" y="26152"/>
            <a:ext cx="945851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70C0"/>
                </a:solidFill>
              </a:rPr>
              <a:t>Variable-Length  Arguments:</a:t>
            </a:r>
          </a:p>
        </p:txBody>
      </p:sp>
    </p:spTree>
    <p:extLst>
      <p:ext uri="{BB962C8B-B14F-4D97-AF65-F5344CB8AC3E}">
        <p14:creationId xmlns:p14="http://schemas.microsoft.com/office/powerpoint/2010/main" val="2494856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438943" y="1066800"/>
            <a:ext cx="10342483" cy="304800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68235" y="668740"/>
            <a:ext cx="9458510" cy="61892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cat c</a:t>
            </a:r>
            <a:r>
              <a:rPr lang="en-US" sz="280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allTwice.py</a:t>
            </a:r>
            <a:endParaRPr lang="en-US" sz="28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C000"/>
                </a:solidFill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 </a:t>
            </a:r>
            <a:r>
              <a:rPr lang="en-US" sz="2800" dirty="0">
                <a:solidFill>
                  <a:srgbClr val="92D050"/>
                </a:solidFill>
                <a:latin typeface="Consolas" panose="020B0609020204030204" pitchFamily="49" charset="0"/>
                <a:cs typeface="Courier New" pitchFamily="49" charset="0"/>
              </a:rPr>
              <a:t>arg1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sz="2800" dirty="0">
                <a:solidFill>
                  <a:srgbClr val="00B0F0"/>
                </a:solidFill>
                <a:latin typeface="Consolas" panose="020B0609020204030204" pitchFamily="49" charset="0"/>
                <a:cs typeface="Courier New" pitchFamily="49" charset="0"/>
              </a:rPr>
              <a:t>*</a:t>
            </a:r>
            <a:r>
              <a:rPr lang="en-US" sz="2800" dirty="0" err="1">
                <a:solidFill>
                  <a:srgbClr val="00B0F0"/>
                </a:solidFill>
                <a:latin typeface="Consolas" panose="020B0609020204030204" pitchFamily="49" charset="0"/>
                <a:cs typeface="Courier New" pitchFamily="49" charset="0"/>
              </a:rPr>
              <a:t>vartuple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): 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2800" dirty="0">
                <a:solidFill>
                  <a:srgbClr val="FFC000"/>
                </a:solidFill>
                <a:latin typeface="Consolas" panose="020B0609020204030204" pitchFamily="49" charset="0"/>
                <a:cs typeface="Courier New" pitchFamily="49" charset="0"/>
              </a:rPr>
              <a:t>print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("Output is:") 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2800" dirty="0">
                <a:solidFill>
                  <a:srgbClr val="FFC000"/>
                </a:solidFill>
                <a:latin typeface="Consolas" panose="020B0609020204030204" pitchFamily="49" charset="0"/>
                <a:cs typeface="Courier New" pitchFamily="49" charset="0"/>
              </a:rPr>
              <a:t>print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(</a:t>
            </a:r>
            <a:r>
              <a:rPr lang="en-US" sz="2800" dirty="0">
                <a:solidFill>
                  <a:srgbClr val="92D050"/>
                </a:solidFill>
                <a:latin typeface="Consolas" panose="020B0609020204030204" pitchFamily="49" charset="0"/>
                <a:cs typeface="Courier New" pitchFamily="49" charset="0"/>
              </a:rPr>
              <a:t>arg1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)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 	</a:t>
            </a:r>
            <a:r>
              <a:rPr lang="en-US" sz="2800" dirty="0">
                <a:solidFill>
                  <a:srgbClr val="FFC000"/>
                </a:solidFill>
                <a:latin typeface="Consolas" panose="020B0609020204030204" pitchFamily="49" charset="0"/>
                <a:cs typeface="Courier New" pitchFamily="49" charset="0"/>
              </a:rPr>
              <a:t>for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Consolas" panose="020B0609020204030204" pitchFamily="49" charset="0"/>
                <a:cs typeface="Courier New" pitchFamily="49" charset="0"/>
              </a:rPr>
              <a:t>var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>
                <a:solidFill>
                  <a:srgbClr val="FFC000"/>
                </a:solidFill>
                <a:latin typeface="Consolas" panose="020B0609020204030204" pitchFamily="49" charset="0"/>
                <a:cs typeface="Courier New" pitchFamily="49" charset="0"/>
              </a:rPr>
              <a:t>in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Consolas" panose="020B0609020204030204" pitchFamily="49" charset="0"/>
                <a:cs typeface="Courier New" pitchFamily="49" charset="0"/>
              </a:rPr>
              <a:t>vartuple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: 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			</a:t>
            </a:r>
            <a:r>
              <a:rPr lang="en-US" sz="2800" dirty="0">
                <a:solidFill>
                  <a:srgbClr val="FFC000"/>
                </a:solidFill>
                <a:latin typeface="Consolas" panose="020B0609020204030204" pitchFamily="49" charset="0"/>
                <a:cs typeface="Courier New" pitchFamily="49" charset="0"/>
              </a:rPr>
              <a:t>print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(</a:t>
            </a:r>
            <a:r>
              <a:rPr lang="en-US" sz="2800" dirty="0" err="1">
                <a:solidFill>
                  <a:srgbClr val="00B0F0"/>
                </a:solidFill>
                <a:latin typeface="Consolas" panose="020B0609020204030204" pitchFamily="49" charset="0"/>
                <a:cs typeface="Courier New" pitchFamily="49" charset="0"/>
              </a:rPr>
              <a:t>var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) 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 </a:t>
            </a:r>
            <a:r>
              <a:rPr lang="en-US" sz="2800" dirty="0">
                <a:solidFill>
                  <a:srgbClr val="92D050"/>
                </a:solidFill>
                <a:latin typeface="Consolas" panose="020B0609020204030204" pitchFamily="49" charset="0"/>
                <a:cs typeface="Courier New" pitchFamily="49" charset="0"/>
              </a:rPr>
              <a:t>10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)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 </a:t>
            </a:r>
            <a:r>
              <a:rPr lang="en-US" sz="2800" dirty="0">
                <a:solidFill>
                  <a:srgbClr val="92D050"/>
                </a:solidFill>
                <a:latin typeface="Consolas" panose="020B0609020204030204" pitchFamily="49" charset="0"/>
                <a:cs typeface="Courier New" pitchFamily="49" charset="0"/>
              </a:rPr>
              <a:t>70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sz="2800" dirty="0">
                <a:solidFill>
                  <a:srgbClr val="00B0F0"/>
                </a:solidFill>
                <a:latin typeface="Consolas" panose="020B0609020204030204" pitchFamily="49" charset="0"/>
                <a:cs typeface="Courier New" pitchFamily="49" charset="0"/>
              </a:rPr>
              <a:t>60, 50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)</a:t>
            </a:r>
          </a:p>
          <a:p>
            <a:pPr marL="685800" indent="-685800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% python3 </a:t>
            </a:r>
            <a:r>
              <a:rPr lang="en-US" altLang="zh-TW" sz="2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callTwice</a:t>
            </a:r>
            <a:r>
              <a:rPr lang="en-US" sz="2800" dirty="0" smtClean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.py</a:t>
            </a:r>
            <a:endParaRPr lang="en-US" sz="28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Output is: 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solidFill>
                  <a:srgbClr val="92D050"/>
                </a:solidFill>
                <a:latin typeface="Consolas" panose="020B0609020204030204" pitchFamily="49" charset="0"/>
                <a:cs typeface="Courier New" pitchFamily="49" charset="0"/>
              </a:rPr>
              <a:t>10 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Output is: 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solidFill>
                  <a:srgbClr val="92D050"/>
                </a:solidFill>
                <a:latin typeface="Consolas" panose="020B0609020204030204" pitchFamily="49" charset="0"/>
                <a:cs typeface="Courier New" pitchFamily="49" charset="0"/>
              </a:rPr>
              <a:t>70 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solidFill>
                  <a:srgbClr val="00B0F0"/>
                </a:solidFill>
                <a:latin typeface="Consolas" panose="020B0609020204030204" pitchFamily="49" charset="0"/>
                <a:cs typeface="Courier New" pitchFamily="49" charset="0"/>
              </a:rPr>
              <a:t>60 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solidFill>
                  <a:srgbClr val="00B0F0"/>
                </a:solidFill>
                <a:latin typeface="Consolas" panose="020B0609020204030204" pitchFamily="49" charset="0"/>
                <a:cs typeface="Courier New" pitchFamily="49" charset="0"/>
              </a:rPr>
              <a:t>50 </a:t>
            </a:r>
          </a:p>
          <a:p>
            <a:pPr lvl="1" indent="-685800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</a:p>
          <a:p>
            <a:pPr>
              <a:spcBef>
                <a:spcPts val="0"/>
              </a:spcBef>
              <a:buNone/>
            </a:pP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268235" y="26152"/>
            <a:ext cx="945851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70C0"/>
                </a:solidFill>
              </a:rPr>
              <a:t>Variable-Length  Arguments:</a:t>
            </a:r>
          </a:p>
        </p:txBody>
      </p:sp>
    </p:spTree>
    <p:extLst>
      <p:ext uri="{BB962C8B-B14F-4D97-AF65-F5344CB8AC3E}">
        <p14:creationId xmlns:p14="http://schemas.microsoft.com/office/powerpoint/2010/main" val="1645801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 txBox="1">
            <a:spLocks/>
          </p:cNvSpPr>
          <p:nvPr/>
        </p:nvSpPr>
        <p:spPr>
          <a:xfrm>
            <a:off x="274320" y="914400"/>
            <a:ext cx="9144000" cy="62727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TW" sz="4300" dirty="0"/>
              <a:t>So, putting an asterisked variable </a:t>
            </a:r>
            <a:r>
              <a:rPr lang="en-US" altLang="zh-TW" sz="4300" dirty="0" smtClean="0"/>
              <a:t>at </a:t>
            </a:r>
            <a:r>
              <a:rPr lang="en-US" altLang="zh-TW" sz="4300" dirty="0"/>
              <a:t>the end of the </a:t>
            </a:r>
            <a:r>
              <a:rPr lang="en-US" altLang="zh-TW" sz="900" dirty="0"/>
              <a:t> </a:t>
            </a:r>
            <a:r>
              <a:rPr lang="en-US" altLang="zh-TW" sz="4300" dirty="0" smtClean="0"/>
              <a:t>parameters </a:t>
            </a:r>
            <a:r>
              <a:rPr lang="en-US" altLang="zh-TW" sz="1300" dirty="0" smtClean="0"/>
              <a:t> </a:t>
            </a:r>
            <a:r>
              <a:rPr lang="en-US" altLang="zh-TW" sz="4300" dirty="0"/>
              <a:t>creates a tuple that holds </a:t>
            </a:r>
            <a:r>
              <a:rPr lang="en-US" altLang="zh-TW" sz="4300" dirty="0" smtClean="0"/>
              <a:t>all </a:t>
            </a:r>
            <a:r>
              <a:rPr lang="en-US" altLang="zh-TW" sz="4300" dirty="0"/>
              <a:t>“extra” parameters.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4300" dirty="0" smtClean="0"/>
              <a:t>This </a:t>
            </a:r>
            <a:r>
              <a:rPr lang="en-US" altLang="zh-TW" sz="4300" dirty="0"/>
              <a:t>takes 2 or more parameters: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</a:t>
            </a:r>
            <a:r>
              <a:rPr lang="en-US" altLang="zh-TW" sz="3000" i="1" dirty="0" err="1">
                <a:latin typeface="Lucida Console" panose="020B0609040504020204" pitchFamily="49" charset="0"/>
                <a:cs typeface="Courier New" pitchFamily="49" charset="0"/>
              </a:rPr>
              <a:t>a,b</a:t>
            </a:r>
            <a:r>
              <a:rPr lang="en-US" altLang="zh-TW" sz="3000" i="1" dirty="0">
                <a:latin typeface="Lucida Console" panose="020B0609040504020204" pitchFamily="49" charset="0"/>
                <a:cs typeface="Courier New" pitchFamily="49" charset="0"/>
              </a:rPr>
              <a:t>,*c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6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altLang="zh-TW" sz="300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0070C0"/>
                </a:solidFill>
              </a:rPr>
              <a:t>Asterisked </a:t>
            </a:r>
            <a:r>
              <a:rPr lang="en-US" altLang="zh-TW" dirty="0">
                <a:solidFill>
                  <a:srgbClr val="0070C0"/>
                </a:solidFill>
              </a:rPr>
              <a:t>Variable Goes </a:t>
            </a:r>
            <a:r>
              <a:rPr lang="en-US" altLang="zh-TW" dirty="0" smtClean="0">
                <a:solidFill>
                  <a:srgbClr val="0070C0"/>
                </a:solidFill>
              </a:rPr>
              <a:t>at </a:t>
            </a:r>
            <a:r>
              <a:rPr lang="en-US" altLang="zh-TW" dirty="0">
                <a:solidFill>
                  <a:srgbClr val="0070C0"/>
                </a:solidFill>
              </a:rPr>
              <a:t>End</a:t>
            </a:r>
            <a:endParaRPr lang="zh-TW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5626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 txBox="1">
            <a:spLocks/>
          </p:cNvSpPr>
          <p:nvPr/>
        </p:nvSpPr>
        <p:spPr>
          <a:xfrm>
            <a:off x="274320" y="914400"/>
            <a:ext cx="9144000" cy="62727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TW" sz="4300" dirty="0"/>
              <a:t>So, putting </a:t>
            </a:r>
            <a:r>
              <a:rPr lang="en-US" altLang="zh-TW" sz="4300" dirty="0">
                <a:solidFill>
                  <a:srgbClr val="FF0000"/>
                </a:solidFill>
              </a:rPr>
              <a:t>an asterisked variable </a:t>
            </a:r>
            <a:r>
              <a:rPr lang="en-US" altLang="zh-TW" sz="4300" dirty="0" smtClean="0"/>
              <a:t>at </a:t>
            </a:r>
            <a:r>
              <a:rPr lang="en-US" altLang="zh-TW" sz="4300" dirty="0"/>
              <a:t>the end of the </a:t>
            </a:r>
            <a:r>
              <a:rPr lang="en-US" altLang="zh-TW" sz="900" dirty="0"/>
              <a:t> </a:t>
            </a:r>
            <a:r>
              <a:rPr lang="en-US" altLang="zh-TW" sz="4300" dirty="0" smtClean="0"/>
              <a:t>parameters </a:t>
            </a:r>
            <a:r>
              <a:rPr lang="en-US" altLang="zh-TW" sz="1300" dirty="0" smtClean="0"/>
              <a:t> </a:t>
            </a:r>
            <a:r>
              <a:rPr lang="en-US" altLang="zh-TW" sz="4300" dirty="0"/>
              <a:t>creates a tuple that holds </a:t>
            </a:r>
            <a:r>
              <a:rPr lang="en-US" altLang="zh-TW" sz="4300" dirty="0" smtClean="0"/>
              <a:t>all </a:t>
            </a:r>
            <a:r>
              <a:rPr lang="en-US" altLang="zh-TW" sz="4300" dirty="0"/>
              <a:t>“extra” parameters.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4300" dirty="0" smtClean="0"/>
              <a:t>This </a:t>
            </a:r>
            <a:r>
              <a:rPr lang="en-US" altLang="zh-TW" sz="4300" dirty="0"/>
              <a:t>takes 2 or more parameters: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</a:t>
            </a:r>
            <a:r>
              <a:rPr lang="en-US" altLang="zh-TW" sz="3000" i="1" dirty="0" err="1">
                <a:latin typeface="Lucida Console" panose="020B0609040504020204" pitchFamily="49" charset="0"/>
                <a:cs typeface="Courier New" pitchFamily="49" charset="0"/>
              </a:rPr>
              <a:t>a,b</a:t>
            </a:r>
            <a:r>
              <a:rPr lang="en-US" altLang="zh-TW" sz="3000" i="1" dirty="0"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altLang="zh-TW" sz="3000" i="1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altLang="zh-TW" sz="3000" i="1" dirty="0">
                <a:latin typeface="Lucida Console" panose="020B0609040504020204" pitchFamily="49" charset="0"/>
                <a:cs typeface="Courier New" pitchFamily="49" charset="0"/>
              </a:rPr>
              <a:t>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6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altLang="zh-TW" sz="300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0070C0"/>
                </a:solidFill>
              </a:rPr>
              <a:t>Asterisked </a:t>
            </a:r>
            <a:r>
              <a:rPr lang="en-US" altLang="zh-TW" dirty="0">
                <a:solidFill>
                  <a:srgbClr val="0070C0"/>
                </a:solidFill>
              </a:rPr>
              <a:t>Variable Goes </a:t>
            </a:r>
            <a:r>
              <a:rPr lang="en-US" altLang="zh-TW" dirty="0" smtClean="0">
                <a:solidFill>
                  <a:srgbClr val="0070C0"/>
                </a:solidFill>
              </a:rPr>
              <a:t>at </a:t>
            </a:r>
            <a:r>
              <a:rPr lang="en-US" altLang="zh-TW" dirty="0">
                <a:solidFill>
                  <a:srgbClr val="0070C0"/>
                </a:solidFill>
              </a:rPr>
              <a:t>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3806190" y="1417320"/>
            <a:ext cx="811530" cy="1817370"/>
          </a:xfrm>
          <a:prstGeom prst="straightConnector1">
            <a:avLst/>
          </a:prstGeom>
          <a:ln w="762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9329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 txBox="1">
            <a:spLocks/>
          </p:cNvSpPr>
          <p:nvPr/>
        </p:nvSpPr>
        <p:spPr>
          <a:xfrm>
            <a:off x="274320" y="914400"/>
            <a:ext cx="9144000" cy="62727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TW" sz="4300" dirty="0"/>
              <a:t>So, putting </a:t>
            </a:r>
            <a:r>
              <a:rPr lang="en-US" altLang="zh-TW" sz="4300" dirty="0">
                <a:solidFill>
                  <a:srgbClr val="FF0000"/>
                </a:solidFill>
              </a:rPr>
              <a:t>an asterisked variable </a:t>
            </a:r>
            <a:r>
              <a:rPr lang="en-US" altLang="zh-TW" sz="4300" dirty="0" smtClean="0">
                <a:solidFill>
                  <a:srgbClr val="FFC000"/>
                </a:solidFill>
              </a:rPr>
              <a:t>at </a:t>
            </a:r>
            <a:r>
              <a:rPr lang="en-US" altLang="zh-TW" sz="4300" dirty="0">
                <a:solidFill>
                  <a:srgbClr val="FFC000"/>
                </a:solidFill>
              </a:rPr>
              <a:t>the end </a:t>
            </a:r>
            <a:r>
              <a:rPr lang="en-US" altLang="zh-TW" sz="4300" dirty="0"/>
              <a:t>of the </a:t>
            </a:r>
            <a:r>
              <a:rPr lang="en-US" altLang="zh-TW" sz="900" dirty="0"/>
              <a:t> </a:t>
            </a:r>
            <a:r>
              <a:rPr lang="en-US" altLang="zh-TW" sz="4300" dirty="0" smtClean="0"/>
              <a:t>parameters </a:t>
            </a:r>
            <a:r>
              <a:rPr lang="en-US" altLang="zh-TW" sz="1300" dirty="0" smtClean="0"/>
              <a:t> </a:t>
            </a:r>
            <a:r>
              <a:rPr lang="en-US" altLang="zh-TW" sz="4300" dirty="0"/>
              <a:t>creates a tuple that holds </a:t>
            </a:r>
            <a:r>
              <a:rPr lang="en-US" altLang="zh-TW" sz="4300" dirty="0" smtClean="0"/>
              <a:t>all </a:t>
            </a:r>
            <a:r>
              <a:rPr lang="en-US" altLang="zh-TW" sz="4300" dirty="0"/>
              <a:t>“extra” parameters.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4300" dirty="0" smtClean="0"/>
              <a:t>This </a:t>
            </a:r>
            <a:r>
              <a:rPr lang="en-US" altLang="zh-TW" sz="4300" dirty="0"/>
              <a:t>takes 2 or more parameters: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</a:t>
            </a:r>
            <a:r>
              <a:rPr lang="en-US" altLang="zh-TW" sz="3000" i="1" dirty="0" err="1">
                <a:latin typeface="Lucida Console" panose="020B0609040504020204" pitchFamily="49" charset="0"/>
                <a:cs typeface="Courier New" pitchFamily="49" charset="0"/>
              </a:rPr>
              <a:t>a,b</a:t>
            </a:r>
            <a:r>
              <a:rPr lang="en-US" altLang="zh-TW" sz="3000" i="1" dirty="0"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altLang="zh-TW" sz="3000" i="1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altLang="zh-TW" sz="3000" i="1" dirty="0">
                <a:latin typeface="Lucida Console" panose="020B0609040504020204" pitchFamily="49" charset="0"/>
                <a:cs typeface="Courier New" pitchFamily="49" charset="0"/>
              </a:rPr>
              <a:t>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6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altLang="zh-TW" sz="300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0070C0"/>
                </a:solidFill>
              </a:rPr>
              <a:t>Asterisked </a:t>
            </a:r>
            <a:r>
              <a:rPr lang="en-US" altLang="zh-TW" dirty="0">
                <a:solidFill>
                  <a:srgbClr val="0070C0"/>
                </a:solidFill>
              </a:rPr>
              <a:t>Variable Goes </a:t>
            </a:r>
            <a:r>
              <a:rPr lang="en-US" altLang="zh-TW" dirty="0" smtClean="0">
                <a:solidFill>
                  <a:srgbClr val="0070C0"/>
                </a:solidFill>
              </a:rPr>
              <a:t>at </a:t>
            </a:r>
            <a:r>
              <a:rPr lang="en-US" altLang="zh-TW" dirty="0">
                <a:solidFill>
                  <a:srgbClr val="0070C0"/>
                </a:solidFill>
              </a:rPr>
              <a:t>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3806190" y="1417320"/>
            <a:ext cx="811530" cy="1817370"/>
          </a:xfrm>
          <a:prstGeom prst="straightConnector1">
            <a:avLst/>
          </a:prstGeom>
          <a:ln w="762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1748790" y="1943100"/>
            <a:ext cx="1840230" cy="1485900"/>
          </a:xfrm>
          <a:prstGeom prst="straightConnector1">
            <a:avLst/>
          </a:prstGeom>
          <a:ln w="762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513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 txBox="1">
            <a:spLocks/>
          </p:cNvSpPr>
          <p:nvPr/>
        </p:nvSpPr>
        <p:spPr>
          <a:xfrm>
            <a:off x="274320" y="914400"/>
            <a:ext cx="9144000" cy="62727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TW" sz="4300" dirty="0"/>
              <a:t>So, putting an asterisked variable at the end of the </a:t>
            </a:r>
            <a:r>
              <a:rPr lang="en-US" altLang="zh-TW" sz="900" dirty="0"/>
              <a:t> </a:t>
            </a:r>
            <a:r>
              <a:rPr lang="en-US" altLang="zh-TW" sz="4300" dirty="0" smtClean="0"/>
              <a:t>parameters </a:t>
            </a:r>
            <a:r>
              <a:rPr lang="en-US" altLang="zh-TW" sz="1300" dirty="0" smtClean="0"/>
              <a:t> </a:t>
            </a:r>
            <a:r>
              <a:rPr lang="en-US" altLang="zh-TW" sz="4300" dirty="0"/>
              <a:t>creates a tuple that holds </a:t>
            </a:r>
            <a:r>
              <a:rPr lang="en-US" altLang="zh-TW" sz="4300" dirty="0" smtClean="0"/>
              <a:t>all </a:t>
            </a:r>
            <a:r>
              <a:rPr lang="en-US" altLang="zh-TW" sz="4300" dirty="0"/>
              <a:t>“extra” parameters.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4300" dirty="0" smtClean="0"/>
              <a:t>This </a:t>
            </a:r>
            <a:r>
              <a:rPr lang="en-US" altLang="zh-TW" sz="4300" dirty="0"/>
              <a:t>takes </a:t>
            </a:r>
            <a:r>
              <a:rPr lang="en-US" altLang="zh-TW" sz="4300" dirty="0">
                <a:solidFill>
                  <a:srgbClr val="008000"/>
                </a:solidFill>
              </a:rPr>
              <a:t>2</a:t>
            </a:r>
            <a:r>
              <a:rPr lang="en-US" altLang="zh-TW" sz="4300" dirty="0">
                <a:solidFill>
                  <a:srgbClr val="FF0000"/>
                </a:solidFill>
              </a:rPr>
              <a:t> </a:t>
            </a:r>
            <a:r>
              <a:rPr lang="en-US" altLang="zh-TW" sz="4300" dirty="0"/>
              <a:t>or more parameters: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</a:t>
            </a:r>
            <a:r>
              <a:rPr lang="en-US" altLang="zh-TW" sz="3000" i="1" dirty="0" err="1">
                <a:latin typeface="Lucida Console" panose="020B0609040504020204" pitchFamily="49" charset="0"/>
                <a:cs typeface="Courier New" pitchFamily="49" charset="0"/>
              </a:rPr>
              <a:t>a,b</a:t>
            </a:r>
            <a:r>
              <a:rPr lang="en-US" altLang="zh-TW" sz="3000" i="1" dirty="0">
                <a:latin typeface="Lucida Console" panose="020B0609040504020204" pitchFamily="49" charset="0"/>
                <a:cs typeface="Courier New" pitchFamily="49" charset="0"/>
              </a:rPr>
              <a:t>,*c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6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f(</a:t>
            </a:r>
            <a:r>
              <a:rPr lang="en-US" altLang="zh-TW" sz="3000" b="1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1,2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       #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len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(c) will be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altLang="zh-TW" sz="300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0070C0"/>
                </a:solidFill>
              </a:rPr>
              <a:t>Asterisked </a:t>
            </a:r>
            <a:r>
              <a:rPr lang="en-US" altLang="zh-TW" dirty="0">
                <a:solidFill>
                  <a:srgbClr val="0070C0"/>
                </a:solidFill>
              </a:rPr>
              <a:t>Variable Goes </a:t>
            </a:r>
            <a:r>
              <a:rPr lang="en-US" altLang="zh-TW" dirty="0" smtClean="0">
                <a:solidFill>
                  <a:srgbClr val="0070C0"/>
                </a:solidFill>
              </a:rPr>
              <a:t>at </a:t>
            </a:r>
            <a:r>
              <a:rPr lang="en-US" altLang="zh-TW" dirty="0">
                <a:solidFill>
                  <a:srgbClr val="0070C0"/>
                </a:solidFill>
              </a:rPr>
              <a:t>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2023110" y="3086100"/>
            <a:ext cx="640080" cy="902970"/>
          </a:xfrm>
          <a:prstGeom prst="straightConnector1">
            <a:avLst/>
          </a:prstGeom>
          <a:ln w="76200">
            <a:solidFill>
              <a:srgbClr val="008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48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 txBox="1">
            <a:spLocks/>
          </p:cNvSpPr>
          <p:nvPr/>
        </p:nvSpPr>
        <p:spPr>
          <a:xfrm>
            <a:off x="274320" y="914400"/>
            <a:ext cx="9144000" cy="62727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TW" sz="4300" dirty="0"/>
              <a:t>So, putting an asterisked variable at the end of the </a:t>
            </a:r>
            <a:r>
              <a:rPr lang="en-US" altLang="zh-TW" sz="900" dirty="0"/>
              <a:t> </a:t>
            </a:r>
            <a:r>
              <a:rPr lang="en-US" altLang="zh-TW" sz="4300" dirty="0" smtClean="0"/>
              <a:t>parameters </a:t>
            </a:r>
            <a:r>
              <a:rPr lang="en-US" altLang="zh-TW" sz="1300" dirty="0" smtClean="0"/>
              <a:t> </a:t>
            </a:r>
            <a:r>
              <a:rPr lang="en-US" altLang="zh-TW" sz="4300" dirty="0"/>
              <a:t>creates a tuple that holds </a:t>
            </a:r>
            <a:r>
              <a:rPr lang="en-US" altLang="zh-TW" sz="4300" dirty="0" smtClean="0"/>
              <a:t>all </a:t>
            </a:r>
            <a:r>
              <a:rPr lang="en-US" altLang="zh-TW" sz="4300" dirty="0"/>
              <a:t>“extra” parameters.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4300" dirty="0" smtClean="0"/>
              <a:t>This </a:t>
            </a:r>
            <a:r>
              <a:rPr lang="en-US" altLang="zh-TW" sz="4300" dirty="0"/>
              <a:t>takes 2</a:t>
            </a:r>
            <a:r>
              <a:rPr lang="en-US" altLang="zh-TW" sz="4300" dirty="0">
                <a:solidFill>
                  <a:srgbClr val="FF0000"/>
                </a:solidFill>
              </a:rPr>
              <a:t> </a:t>
            </a:r>
            <a:r>
              <a:rPr lang="en-US" altLang="zh-TW" sz="4300" dirty="0">
                <a:solidFill>
                  <a:srgbClr val="0000FF"/>
                </a:solidFill>
              </a:rPr>
              <a:t>or more </a:t>
            </a:r>
            <a:r>
              <a:rPr lang="en-US" altLang="zh-TW" sz="4300" dirty="0"/>
              <a:t>parameters: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</a:t>
            </a:r>
            <a:r>
              <a:rPr lang="en-US" altLang="zh-TW" sz="3000" i="1" dirty="0" err="1">
                <a:latin typeface="Lucida Console" panose="020B0609040504020204" pitchFamily="49" charset="0"/>
                <a:cs typeface="Courier New" pitchFamily="49" charset="0"/>
              </a:rPr>
              <a:t>a,b</a:t>
            </a:r>
            <a:r>
              <a:rPr lang="en-US" altLang="zh-TW" sz="3000" i="1" dirty="0">
                <a:latin typeface="Lucida Console" panose="020B0609040504020204" pitchFamily="49" charset="0"/>
                <a:cs typeface="Courier New" pitchFamily="49" charset="0"/>
              </a:rPr>
              <a:t>,*c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6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f(</a:t>
            </a:r>
            <a:r>
              <a:rPr lang="en-US" altLang="zh-TW" sz="3000" b="1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1,2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       #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len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(c) will be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</a:t>
            </a:r>
            <a:r>
              <a:rPr lang="en-US" altLang="zh-TW" sz="3000" b="1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1,2,3,4,5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 #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len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(c) will be 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altLang="zh-TW" sz="300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0070C0"/>
                </a:solidFill>
              </a:rPr>
              <a:t>Asterisked </a:t>
            </a:r>
            <a:r>
              <a:rPr lang="en-US" altLang="zh-TW" dirty="0">
                <a:solidFill>
                  <a:srgbClr val="0070C0"/>
                </a:solidFill>
              </a:rPr>
              <a:t>Variable Goes </a:t>
            </a:r>
            <a:r>
              <a:rPr lang="en-US" altLang="zh-TW" dirty="0" smtClean="0">
                <a:solidFill>
                  <a:srgbClr val="0070C0"/>
                </a:solidFill>
              </a:rPr>
              <a:t>at </a:t>
            </a:r>
            <a:r>
              <a:rPr lang="en-US" altLang="zh-TW" dirty="0">
                <a:solidFill>
                  <a:srgbClr val="0070C0"/>
                </a:solidFill>
              </a:rPr>
              <a:t>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2823210" y="3097530"/>
            <a:ext cx="971550" cy="1200150"/>
          </a:xfrm>
          <a:prstGeom prst="straightConnector1">
            <a:avLst/>
          </a:prstGeom>
          <a:ln w="76200">
            <a:solidFill>
              <a:srgbClr val="0000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712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 txBox="1">
            <a:spLocks/>
          </p:cNvSpPr>
          <p:nvPr/>
        </p:nvSpPr>
        <p:spPr>
          <a:xfrm>
            <a:off x="274320" y="914400"/>
            <a:ext cx="9144000" cy="62727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TW" sz="4300" dirty="0"/>
              <a:t>So, putting an asterisked variable at the end of the </a:t>
            </a:r>
            <a:r>
              <a:rPr lang="en-US" altLang="zh-TW" sz="900" dirty="0"/>
              <a:t> </a:t>
            </a:r>
            <a:r>
              <a:rPr lang="en-US" altLang="zh-TW" sz="4300" dirty="0" smtClean="0"/>
              <a:t>parameters </a:t>
            </a:r>
            <a:r>
              <a:rPr lang="en-US" altLang="zh-TW" sz="1300" dirty="0" smtClean="0"/>
              <a:t> </a:t>
            </a:r>
            <a:r>
              <a:rPr lang="en-US" altLang="zh-TW" sz="4300" dirty="0"/>
              <a:t>creates a tuple that holds </a:t>
            </a:r>
            <a:r>
              <a:rPr lang="en-US" altLang="zh-TW" sz="4300" dirty="0" smtClean="0"/>
              <a:t>all </a:t>
            </a:r>
            <a:r>
              <a:rPr lang="en-US" altLang="zh-TW" sz="4300" dirty="0"/>
              <a:t>“extra” parameters.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4300" dirty="0" smtClean="0"/>
              <a:t>This </a:t>
            </a:r>
            <a:r>
              <a:rPr lang="en-US" altLang="zh-TW" sz="4300" dirty="0"/>
              <a:t>takes </a:t>
            </a:r>
            <a:r>
              <a:rPr lang="en-US" altLang="zh-TW" sz="4300" dirty="0">
                <a:solidFill>
                  <a:srgbClr val="FF0000"/>
                </a:solidFill>
              </a:rPr>
              <a:t>2 or more </a:t>
            </a:r>
            <a:r>
              <a:rPr lang="en-US" altLang="zh-TW" sz="4300" dirty="0"/>
              <a:t>parameters: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</a:t>
            </a:r>
            <a:r>
              <a:rPr lang="en-US" altLang="zh-TW" sz="3000" i="1" dirty="0" err="1">
                <a:latin typeface="Lucida Console" panose="020B0609040504020204" pitchFamily="49" charset="0"/>
                <a:cs typeface="Courier New" pitchFamily="49" charset="0"/>
              </a:rPr>
              <a:t>a,b</a:t>
            </a:r>
            <a:r>
              <a:rPr lang="en-US" altLang="zh-TW" sz="3000" i="1" dirty="0">
                <a:latin typeface="Lucida Console" panose="020B0609040504020204" pitchFamily="49" charset="0"/>
                <a:cs typeface="Courier New" pitchFamily="49" charset="0"/>
              </a:rPr>
              <a:t>,*c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6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f(</a:t>
            </a:r>
            <a:r>
              <a:rPr lang="en-US" altLang="zh-TW" sz="3000" b="1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1,2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       #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len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(c) will be 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</a:t>
            </a:r>
            <a:r>
              <a:rPr lang="en-US" altLang="zh-TW" sz="3000" b="1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1,2,3,4,5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 #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len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(c) will be 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</a:t>
            </a:r>
            <a:r>
              <a:rPr lang="en-US" altLang="zh-TW" sz="30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1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         # this </a:t>
            </a:r>
            <a:r>
              <a:rPr lang="en-US" altLang="zh-TW" sz="3000" dirty="0" smtClean="0">
                <a:latin typeface="Lucida Console" panose="020B0609040504020204" pitchFamily="49" charset="0"/>
                <a:cs typeface="Courier New" pitchFamily="49" charset="0"/>
              </a:rPr>
              <a:t>is 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an error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Traceback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  File "&lt;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stdin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&gt;", line 1, in &lt;module&gt;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TypeError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:</a:t>
            </a:r>
            <a:r>
              <a:rPr lang="en-US" altLang="zh-TW" sz="2600" dirty="0">
                <a:solidFill>
                  <a:srgbClr val="FFCCCC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 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f()</a:t>
            </a:r>
            <a:r>
              <a:rPr lang="en-US" altLang="zh-TW" sz="2600" dirty="0">
                <a:solidFill>
                  <a:srgbClr val="FFCCCC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 </a:t>
            </a:r>
            <a:r>
              <a:rPr lang="en-US" altLang="zh-TW" sz="3500" dirty="0">
                <a:solidFill>
                  <a:srgbClr val="FF0000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missing</a:t>
            </a:r>
            <a:r>
              <a:rPr lang="en-US" altLang="zh-TW" sz="2600" dirty="0">
                <a:solidFill>
                  <a:srgbClr val="FF0000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 </a:t>
            </a:r>
            <a:r>
              <a:rPr lang="en-US" altLang="zh-TW" sz="3500" dirty="0">
                <a:solidFill>
                  <a:srgbClr val="FF0000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1</a:t>
            </a:r>
            <a:r>
              <a:rPr lang="en-US" altLang="zh-TW" sz="2600" dirty="0">
                <a:solidFill>
                  <a:srgbClr val="FFCCCC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 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required</a:t>
            </a:r>
            <a:r>
              <a:rPr lang="en-US" altLang="zh-TW" sz="2600" dirty="0">
                <a:solidFill>
                  <a:srgbClr val="FFCCCC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 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positional</a:t>
            </a:r>
            <a:r>
              <a:rPr lang="en-US" altLang="zh-TW" sz="2600" dirty="0">
                <a:solidFill>
                  <a:srgbClr val="FFCCCC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 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argument:</a:t>
            </a:r>
            <a:r>
              <a:rPr lang="en-US" altLang="zh-TW" sz="3000" dirty="0">
                <a:solidFill>
                  <a:srgbClr val="FFCCCC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 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ea typeface="Arial Unicode MS" panose="020B0604020202020204" pitchFamily="34" charset="-120"/>
                <a:cs typeface="Arial Unicode MS" panose="020B0604020202020204" pitchFamily="34" charset="-120"/>
              </a:rPr>
              <a:t>'b'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1977392" y="3051810"/>
            <a:ext cx="1405888" cy="17145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0070C0"/>
                </a:solidFill>
              </a:rPr>
              <a:t>Asterisked </a:t>
            </a:r>
            <a:r>
              <a:rPr lang="en-US" altLang="zh-TW" dirty="0">
                <a:solidFill>
                  <a:srgbClr val="0070C0"/>
                </a:solidFill>
              </a:rPr>
              <a:t>Variable Goes </a:t>
            </a:r>
            <a:r>
              <a:rPr lang="en-US" altLang="zh-TW" dirty="0" smtClean="0">
                <a:solidFill>
                  <a:srgbClr val="0070C0"/>
                </a:solidFill>
              </a:rPr>
              <a:t>at </a:t>
            </a:r>
            <a:r>
              <a:rPr lang="en-US" altLang="zh-TW" dirty="0">
                <a:solidFill>
                  <a:srgbClr val="0070C0"/>
                </a:solidFill>
              </a:rPr>
              <a:t>End</a:t>
            </a:r>
            <a:endParaRPr lang="zh-TW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4387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74320" y="914400"/>
            <a:ext cx="9144000" cy="59010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zh-TW" sz="4300" dirty="0"/>
              <a:t>But, if the asterisked-variable wasn’t at the </a:t>
            </a:r>
            <a:r>
              <a:rPr lang="en-US" altLang="zh-TW" sz="4300" dirty="0" smtClean="0"/>
              <a:t>end …</a:t>
            </a:r>
            <a:endParaRPr lang="en-US" altLang="zh-TW" sz="43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f(a,*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b,c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altLang="zh-TW" sz="30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0070C0"/>
                </a:solidFill>
              </a:rPr>
              <a:t>Asterisked </a:t>
            </a:r>
            <a:r>
              <a:rPr lang="en-US" altLang="zh-TW" dirty="0">
                <a:solidFill>
                  <a:srgbClr val="0070C0"/>
                </a:solidFill>
              </a:rPr>
              <a:t>Variable Goes </a:t>
            </a:r>
            <a:r>
              <a:rPr lang="en-US" altLang="zh-TW" dirty="0" smtClean="0">
                <a:solidFill>
                  <a:srgbClr val="0070C0"/>
                </a:solidFill>
              </a:rPr>
              <a:t>at </a:t>
            </a:r>
            <a:r>
              <a:rPr lang="en-US" altLang="zh-TW" dirty="0">
                <a:solidFill>
                  <a:srgbClr val="0070C0"/>
                </a:solidFill>
              </a:rPr>
              <a:t>End</a:t>
            </a:r>
            <a:endParaRPr lang="zh-TW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3160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74320" y="914400"/>
            <a:ext cx="9144000" cy="5943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zh-TW" sz="4300" dirty="0"/>
              <a:t>But, if the </a:t>
            </a:r>
            <a:r>
              <a:rPr lang="en-US" altLang="zh-TW" sz="4300" dirty="0">
                <a:solidFill>
                  <a:srgbClr val="008000"/>
                </a:solidFill>
              </a:rPr>
              <a:t>asterisked-variable</a:t>
            </a:r>
            <a:r>
              <a:rPr lang="en-US" altLang="zh-TW" sz="4300" dirty="0"/>
              <a:t> wasn’t at the </a:t>
            </a:r>
            <a:r>
              <a:rPr lang="en-US" altLang="zh-TW" sz="4300" dirty="0" smtClean="0"/>
              <a:t>end</a:t>
            </a:r>
            <a:r>
              <a:rPr lang="en-US" altLang="zh-TW" sz="4300" dirty="0" smtClean="0">
                <a:solidFill>
                  <a:srgbClr val="FFC000"/>
                </a:solidFill>
              </a:rPr>
              <a:t> </a:t>
            </a:r>
            <a:r>
              <a:rPr lang="en-US" altLang="zh-TW" sz="4300" dirty="0" smtClean="0"/>
              <a:t>…</a:t>
            </a:r>
            <a:endParaRPr lang="en-US" altLang="zh-TW" sz="43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f(a,</a:t>
            </a:r>
            <a:r>
              <a:rPr lang="en-US" altLang="zh-TW" sz="300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altLang="zh-TW" sz="300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b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,c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altLang="zh-TW" sz="30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0070C0"/>
                </a:solidFill>
              </a:rPr>
              <a:t>Asterisked </a:t>
            </a:r>
            <a:r>
              <a:rPr lang="en-US" altLang="zh-TW" dirty="0">
                <a:solidFill>
                  <a:srgbClr val="0070C0"/>
                </a:solidFill>
              </a:rPr>
              <a:t>Variable Goes </a:t>
            </a:r>
            <a:r>
              <a:rPr lang="en-US" altLang="zh-TW" dirty="0" smtClean="0">
                <a:solidFill>
                  <a:srgbClr val="0070C0"/>
                </a:solidFill>
              </a:rPr>
              <a:t>at </a:t>
            </a:r>
            <a:r>
              <a:rPr lang="en-US" altLang="zh-TW" dirty="0">
                <a:solidFill>
                  <a:srgbClr val="0070C0"/>
                </a:solidFill>
              </a:rPr>
              <a:t>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3525253" y="1419726"/>
            <a:ext cx="782052" cy="757990"/>
          </a:xfrm>
          <a:prstGeom prst="straightConnector1">
            <a:avLst/>
          </a:prstGeom>
          <a:ln w="76200">
            <a:solidFill>
              <a:srgbClr val="008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8431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74320" y="914400"/>
            <a:ext cx="9144000" cy="5943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zh-TW" sz="4300" dirty="0"/>
              <a:t>But, if the </a:t>
            </a:r>
            <a:r>
              <a:rPr lang="en-US" altLang="zh-TW" sz="4300" dirty="0">
                <a:solidFill>
                  <a:srgbClr val="008000"/>
                </a:solidFill>
              </a:rPr>
              <a:t>asterisked-variable</a:t>
            </a:r>
            <a:r>
              <a:rPr lang="en-US" altLang="zh-TW" sz="4300" dirty="0"/>
              <a:t> </a:t>
            </a:r>
            <a:r>
              <a:rPr lang="en-US" altLang="zh-TW" sz="4300" dirty="0">
                <a:solidFill>
                  <a:srgbClr val="FFC000"/>
                </a:solidFill>
              </a:rPr>
              <a:t>wasn’t at the </a:t>
            </a:r>
            <a:r>
              <a:rPr lang="en-US" altLang="zh-TW" sz="4300" dirty="0" smtClean="0">
                <a:solidFill>
                  <a:srgbClr val="FFC000"/>
                </a:solidFill>
              </a:rPr>
              <a:t>end </a:t>
            </a:r>
            <a:r>
              <a:rPr lang="en-US" altLang="zh-TW" sz="4300" dirty="0" smtClean="0"/>
              <a:t>…</a:t>
            </a:r>
            <a:endParaRPr lang="en-US" altLang="zh-TW" sz="43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f(a,</a:t>
            </a:r>
            <a:r>
              <a:rPr lang="en-US" altLang="zh-TW" sz="300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altLang="zh-TW" sz="300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b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,c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altLang="zh-TW" sz="30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0070C0"/>
                </a:solidFill>
              </a:rPr>
              <a:t>Asterisked </a:t>
            </a:r>
            <a:r>
              <a:rPr lang="en-US" altLang="zh-TW" dirty="0">
                <a:solidFill>
                  <a:srgbClr val="0070C0"/>
                </a:solidFill>
              </a:rPr>
              <a:t>Variable Goes </a:t>
            </a:r>
            <a:r>
              <a:rPr lang="en-US" altLang="zh-TW" dirty="0" smtClean="0">
                <a:solidFill>
                  <a:srgbClr val="0070C0"/>
                </a:solidFill>
              </a:rPr>
              <a:t>at </a:t>
            </a:r>
            <a:r>
              <a:rPr lang="en-US" altLang="zh-TW" dirty="0">
                <a:solidFill>
                  <a:srgbClr val="0070C0"/>
                </a:solidFill>
              </a:rPr>
              <a:t>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3525253" y="1419726"/>
            <a:ext cx="782052" cy="757990"/>
          </a:xfrm>
          <a:prstGeom prst="straightConnector1">
            <a:avLst/>
          </a:prstGeom>
          <a:ln w="76200">
            <a:solidFill>
              <a:srgbClr val="008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 7"/>
          <p:cNvSpPr/>
          <p:nvPr/>
        </p:nvSpPr>
        <p:spPr>
          <a:xfrm rot="1390882" flipV="1">
            <a:off x="1451076" y="1620520"/>
            <a:ext cx="2474304" cy="820318"/>
          </a:xfrm>
          <a:prstGeom prst="arc">
            <a:avLst>
              <a:gd name="adj1" fmla="val 11728559"/>
              <a:gd name="adj2" fmla="val 142863"/>
            </a:avLst>
          </a:prstGeom>
          <a:ln w="76200">
            <a:solidFill>
              <a:srgbClr val="FFC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751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74320" y="914400"/>
            <a:ext cx="9144000" cy="5943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zh-TW" sz="4300" dirty="0"/>
              <a:t>But, if the asterisked-variable wasn’t at the </a:t>
            </a:r>
            <a:r>
              <a:rPr lang="en-US" altLang="zh-TW" sz="4300" dirty="0" smtClean="0"/>
              <a:t>end </a:t>
            </a:r>
            <a:r>
              <a:rPr lang="en-US" altLang="zh-TW" sz="4300" dirty="0"/>
              <a:t>then </a:t>
            </a:r>
            <a:r>
              <a:rPr lang="en-US" altLang="zh-TW" sz="4300" dirty="0">
                <a:solidFill>
                  <a:srgbClr val="0000FF"/>
                </a:solidFill>
              </a:rPr>
              <a:t>this </a:t>
            </a:r>
            <a:r>
              <a:rPr lang="en-US" altLang="zh-TW" sz="4300" dirty="0" smtClean="0">
                <a:solidFill>
                  <a:srgbClr val="0000FF"/>
                </a:solidFill>
              </a:rPr>
              <a:t>call</a:t>
            </a:r>
            <a:r>
              <a:rPr lang="en-US" altLang="zh-TW" sz="4300" dirty="0" smtClean="0"/>
              <a:t>:</a:t>
            </a:r>
            <a:endParaRPr lang="en-US" altLang="zh-TW" sz="43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f(a,</a:t>
            </a:r>
            <a:r>
              <a:rPr lang="en-US" altLang="zh-TW" sz="300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altLang="zh-TW" sz="300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b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,c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f(1,2,3</a:t>
            </a:r>
            <a:r>
              <a:rPr lang="en-US" altLang="zh-TW" sz="3000" dirty="0" smtClean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  <a:endParaRPr lang="en-US" altLang="zh-TW" sz="3000" dirty="0">
              <a:solidFill>
                <a:srgbClr val="0000FF"/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0070C0"/>
                </a:solidFill>
              </a:rPr>
              <a:t>Asterisked </a:t>
            </a:r>
            <a:r>
              <a:rPr lang="en-US" altLang="zh-TW" dirty="0">
                <a:solidFill>
                  <a:srgbClr val="0070C0"/>
                </a:solidFill>
              </a:rPr>
              <a:t>Variable Goes </a:t>
            </a:r>
            <a:r>
              <a:rPr lang="en-US" altLang="zh-TW" dirty="0" smtClean="0">
                <a:solidFill>
                  <a:srgbClr val="0070C0"/>
                </a:solidFill>
              </a:rPr>
              <a:t>at </a:t>
            </a:r>
            <a:r>
              <a:rPr lang="en-US" altLang="zh-TW" dirty="0">
                <a:solidFill>
                  <a:srgbClr val="0070C0"/>
                </a:solidFill>
              </a:rPr>
              <a:t>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2860158" y="1929468"/>
            <a:ext cx="1158169" cy="920058"/>
          </a:xfrm>
          <a:prstGeom prst="straightConnector1">
            <a:avLst/>
          </a:prstGeom>
          <a:ln w="76200">
            <a:solidFill>
              <a:srgbClr val="0000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504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74320" y="914400"/>
            <a:ext cx="9144000" cy="5943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zh-TW" sz="4300" dirty="0"/>
              <a:t>But, if the asterisked-variable wasn’t at the </a:t>
            </a:r>
            <a:r>
              <a:rPr lang="en-US" altLang="zh-TW" sz="4300" dirty="0" smtClean="0"/>
              <a:t>end </a:t>
            </a:r>
            <a:r>
              <a:rPr lang="en-US" altLang="zh-TW" sz="4300" dirty="0"/>
              <a:t>then </a:t>
            </a:r>
            <a:r>
              <a:rPr lang="en-US" altLang="zh-TW" sz="4300" dirty="0">
                <a:solidFill>
                  <a:srgbClr val="0000FF"/>
                </a:solidFill>
              </a:rPr>
              <a:t>this call </a:t>
            </a:r>
            <a:r>
              <a:rPr lang="en-US" altLang="zh-TW" sz="4300" dirty="0"/>
              <a:t>is </a:t>
            </a:r>
            <a:r>
              <a:rPr lang="en-US" altLang="zh-TW" sz="4300" dirty="0">
                <a:solidFill>
                  <a:srgbClr val="FF0000"/>
                </a:solidFill>
              </a:rPr>
              <a:t>an error</a:t>
            </a:r>
            <a:r>
              <a:rPr lang="en-US" altLang="zh-TW" sz="4300" dirty="0"/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f(a,</a:t>
            </a:r>
            <a:r>
              <a:rPr lang="en-US" altLang="zh-TW" sz="300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altLang="zh-TW" sz="300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b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,c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f(1,2,3)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spc="-100" dirty="0" err="1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r>
              <a:rPr lang="en-US" altLang="zh-TW" sz="3500" spc="-50" dirty="0" err="1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yp</a:t>
            </a:r>
            <a:r>
              <a:rPr lang="en-US" altLang="zh-TW" sz="3500" spc="-100" dirty="0" err="1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eE</a:t>
            </a:r>
            <a:r>
              <a:rPr lang="en-US" altLang="zh-TW" sz="3500" dirty="0" err="1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60" dirty="0" err="1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100" dirty="0" err="1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or</a:t>
            </a:r>
            <a:r>
              <a:rPr lang="en-US" altLang="zh-TW" sz="35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f()</a:t>
            </a:r>
            <a:r>
              <a:rPr lang="en-US" altLang="zh-TW" sz="32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missing</a:t>
            </a:r>
            <a:r>
              <a:rPr lang="en-US" altLang="zh-TW" sz="32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1</a:t>
            </a:r>
            <a:r>
              <a:rPr lang="en-US" altLang="zh-TW" sz="32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require</a:t>
            </a:r>
            <a:r>
              <a:rPr lang="en-US" altLang="zh-TW" sz="35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32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3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500" spc="-2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500" spc="-13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w</a:t>
            </a:r>
            <a:r>
              <a:rPr lang="en-US" altLang="zh-TW" sz="35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ord-only</a:t>
            </a:r>
            <a:r>
              <a:rPr lang="en-US" altLang="zh-TW" sz="32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5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r>
              <a:rPr lang="en-US" altLang="zh-TW" sz="35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c'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altLang="zh-TW" sz="30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0070C0"/>
                </a:solidFill>
              </a:rPr>
              <a:t>Asterisked </a:t>
            </a:r>
            <a:r>
              <a:rPr lang="en-US" altLang="zh-TW" dirty="0">
                <a:solidFill>
                  <a:srgbClr val="0070C0"/>
                </a:solidFill>
              </a:rPr>
              <a:t>Variable Goes </a:t>
            </a:r>
            <a:r>
              <a:rPr lang="en-US" altLang="zh-TW" dirty="0" smtClean="0">
                <a:solidFill>
                  <a:srgbClr val="0070C0"/>
                </a:solidFill>
              </a:rPr>
              <a:t>at </a:t>
            </a:r>
            <a:r>
              <a:rPr lang="en-US" altLang="zh-TW" dirty="0">
                <a:solidFill>
                  <a:srgbClr val="0070C0"/>
                </a:solidFill>
              </a:rPr>
              <a:t>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1924493" y="1912690"/>
            <a:ext cx="4568586" cy="2393496"/>
          </a:xfrm>
          <a:prstGeom prst="straightConnector1">
            <a:avLst/>
          </a:prstGeom>
          <a:ln w="762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2860158" y="1929468"/>
            <a:ext cx="1158169" cy="920058"/>
          </a:xfrm>
          <a:prstGeom prst="straightConnector1">
            <a:avLst/>
          </a:prstGeom>
          <a:ln w="76200">
            <a:solidFill>
              <a:srgbClr val="0000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8109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74320" y="914400"/>
            <a:ext cx="9144000" cy="5943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zh-TW" sz="4300" dirty="0"/>
              <a:t>But, if the asterisked-variable wasn’t at the </a:t>
            </a:r>
            <a:r>
              <a:rPr lang="en-US" altLang="zh-TW" sz="4300" dirty="0" smtClean="0"/>
              <a:t>end </a:t>
            </a:r>
            <a:r>
              <a:rPr lang="en-US" altLang="zh-TW" sz="4300" dirty="0"/>
              <a:t>then </a:t>
            </a:r>
            <a:r>
              <a:rPr lang="en-US" altLang="zh-TW" sz="4300" dirty="0">
                <a:solidFill>
                  <a:srgbClr val="0000FF"/>
                </a:solidFill>
              </a:rPr>
              <a:t>this call </a:t>
            </a:r>
            <a:r>
              <a:rPr lang="en-US" altLang="zh-TW" sz="4300" dirty="0"/>
              <a:t>is </a:t>
            </a:r>
            <a:r>
              <a:rPr lang="en-US" altLang="zh-TW" sz="4300" dirty="0">
                <a:solidFill>
                  <a:srgbClr val="FF0000"/>
                </a:solidFill>
              </a:rPr>
              <a:t>an error</a:t>
            </a:r>
            <a:r>
              <a:rPr lang="en-US" altLang="zh-TW" sz="4300" dirty="0"/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f(a,</a:t>
            </a:r>
            <a:r>
              <a:rPr lang="en-US" altLang="zh-TW" sz="300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altLang="zh-TW" sz="300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b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,c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B7B7FF"/>
                </a:solidFill>
                <a:latin typeface="Lucida Console" panose="020B0609040504020204" pitchFamily="49" charset="0"/>
                <a:cs typeface="Courier New" pitchFamily="49" charset="0"/>
              </a:rPr>
              <a:t>f(1,2,3)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spc="-1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r>
              <a:rPr lang="en-US" altLang="zh-TW" sz="3500" spc="-5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yp</a:t>
            </a:r>
            <a:r>
              <a:rPr lang="en-US" altLang="zh-TW" sz="3500" spc="-1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eE</a:t>
            </a:r>
            <a:r>
              <a:rPr lang="en-US" altLang="zh-TW" sz="35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6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1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f()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missing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1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require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3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500" spc="-2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500" spc="-13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w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ord-only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c'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 smtClean="0">
                <a:solidFill>
                  <a:srgbClr val="FFCCCC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f(1,2)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spc="-1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r>
              <a:rPr lang="en-US" altLang="zh-TW" sz="3500" spc="-5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yp</a:t>
            </a:r>
            <a:r>
              <a:rPr lang="en-US" altLang="zh-TW" sz="3500" spc="-1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eE</a:t>
            </a:r>
            <a:r>
              <a:rPr lang="en-US" altLang="zh-TW" sz="35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6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1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or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f()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missing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1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require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3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500" spc="-2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500" spc="-13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w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ord-only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r>
              <a:rPr lang="en-US" altLang="zh-TW" sz="35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c'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altLang="zh-TW" sz="30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0070C0"/>
                </a:solidFill>
              </a:rPr>
              <a:t>Asterisked </a:t>
            </a:r>
            <a:r>
              <a:rPr lang="en-US" altLang="zh-TW" dirty="0">
                <a:solidFill>
                  <a:srgbClr val="0070C0"/>
                </a:solidFill>
              </a:rPr>
              <a:t>Variable Goes </a:t>
            </a:r>
            <a:r>
              <a:rPr lang="en-US" altLang="zh-TW" dirty="0" smtClean="0">
                <a:solidFill>
                  <a:srgbClr val="0070C0"/>
                </a:solidFill>
              </a:rPr>
              <a:t>at </a:t>
            </a:r>
            <a:r>
              <a:rPr lang="en-US" altLang="zh-TW" dirty="0">
                <a:solidFill>
                  <a:srgbClr val="0070C0"/>
                </a:solidFill>
              </a:rPr>
              <a:t>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1455823" y="1904301"/>
            <a:ext cx="5070812" cy="4195710"/>
          </a:xfrm>
          <a:prstGeom prst="straightConnector1">
            <a:avLst/>
          </a:prstGeom>
          <a:ln w="762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2105528" y="1921079"/>
            <a:ext cx="1946355" cy="2867489"/>
          </a:xfrm>
          <a:prstGeom prst="straightConnector1">
            <a:avLst/>
          </a:prstGeom>
          <a:ln w="76200">
            <a:solidFill>
              <a:srgbClr val="0000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7974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74320" y="914400"/>
            <a:ext cx="9144000" cy="5943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zh-TW" sz="4300" dirty="0"/>
              <a:t>But, if the asterisked-variable wasn’t at the </a:t>
            </a:r>
            <a:r>
              <a:rPr lang="en-US" altLang="zh-TW" sz="4300" dirty="0" smtClean="0"/>
              <a:t>end </a:t>
            </a:r>
            <a:r>
              <a:rPr lang="en-US" altLang="zh-TW" sz="4300" dirty="0"/>
              <a:t>then </a:t>
            </a:r>
            <a:r>
              <a:rPr lang="en-US" altLang="zh-TW" sz="4300" dirty="0">
                <a:solidFill>
                  <a:srgbClr val="0000FF"/>
                </a:solidFill>
              </a:rPr>
              <a:t>this call </a:t>
            </a:r>
            <a:r>
              <a:rPr lang="en-US" altLang="zh-TW" sz="4300" dirty="0"/>
              <a:t>is </a:t>
            </a:r>
            <a:r>
              <a:rPr lang="en-US" altLang="zh-TW" sz="4300" dirty="0">
                <a:solidFill>
                  <a:srgbClr val="FF0000"/>
                </a:solidFill>
              </a:rPr>
              <a:t>an error</a:t>
            </a:r>
            <a:r>
              <a:rPr lang="en-US" altLang="zh-TW" sz="4300" dirty="0"/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rgbClr val="FD3E31"/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f(a,</a:t>
            </a:r>
            <a:r>
              <a:rPr lang="en-US" altLang="zh-TW" sz="300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altLang="zh-TW" sz="300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b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,c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rgbClr val="FD3E31"/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rgbClr val="FD3E31"/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B7B7FF"/>
                </a:solidFill>
                <a:latin typeface="Lucida Console" panose="020B0609040504020204" pitchFamily="49" charset="0"/>
                <a:cs typeface="Courier New" pitchFamily="49" charset="0"/>
              </a:rPr>
              <a:t>f(1,2,3)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spc="-1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r>
              <a:rPr lang="en-US" altLang="zh-TW" sz="3500" spc="-5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yp</a:t>
            </a:r>
            <a:r>
              <a:rPr lang="en-US" altLang="zh-TW" sz="3500" spc="-1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eE</a:t>
            </a:r>
            <a:r>
              <a:rPr lang="en-US" altLang="zh-TW" sz="35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6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1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f()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missing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1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require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3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500" spc="-2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500" spc="-13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w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ord-only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c'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 smtClean="0">
                <a:solidFill>
                  <a:srgbClr val="FFCCCC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>
                <a:solidFill>
                  <a:srgbClr val="B7B7FF"/>
                </a:solidFill>
                <a:latin typeface="Lucida Console" panose="020B0609040504020204" pitchFamily="49" charset="0"/>
                <a:cs typeface="Courier New" pitchFamily="49" charset="0"/>
              </a:rPr>
              <a:t>f(1,2)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r>
              <a:rPr lang="en-US" altLang="zh-TW" sz="3500" spc="-5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yp</a:t>
            </a: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eE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6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f()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missing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1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require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3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500" spc="-2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500" spc="-13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w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ord-only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c'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altLang="zh-TW" sz="30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0070C0"/>
                </a:solidFill>
              </a:rPr>
              <a:t>Asterisked </a:t>
            </a:r>
            <a:r>
              <a:rPr lang="en-US" altLang="zh-TW" dirty="0">
                <a:solidFill>
                  <a:srgbClr val="0070C0"/>
                </a:solidFill>
              </a:rPr>
              <a:t>Variable Goes </a:t>
            </a:r>
            <a:r>
              <a:rPr lang="en-US" altLang="zh-TW" dirty="0" smtClean="0">
                <a:solidFill>
                  <a:srgbClr val="0070C0"/>
                </a:solidFill>
              </a:rPr>
              <a:t>at </a:t>
            </a:r>
            <a:r>
              <a:rPr lang="en-US" altLang="zh-TW" dirty="0">
                <a:solidFill>
                  <a:srgbClr val="0070C0"/>
                </a:solidFill>
              </a:rPr>
              <a:t>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10" name="Rounded Rectangular Callout 9"/>
          <p:cNvSpPr/>
          <p:nvPr/>
        </p:nvSpPr>
        <p:spPr>
          <a:xfrm>
            <a:off x="4359235" y="3284916"/>
            <a:ext cx="5170528" cy="1828800"/>
          </a:xfrm>
          <a:prstGeom prst="wedgeRoundRectCallout">
            <a:avLst>
              <a:gd name="adj1" fmla="val -111468"/>
              <a:gd name="adj2" fmla="val -60316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1" algn="ctr">
              <a:lnSpc>
                <a:spcPct val="90000"/>
              </a:lnSpc>
            </a:pPr>
            <a:r>
              <a:rPr lang="en-US" sz="4000" dirty="0"/>
              <a:t>Notice that there was not any error when the function was defined.</a:t>
            </a:r>
          </a:p>
        </p:txBody>
      </p:sp>
    </p:spTree>
    <p:extLst>
      <p:ext uri="{BB962C8B-B14F-4D97-AF65-F5344CB8AC3E}">
        <p14:creationId xmlns:p14="http://schemas.microsoft.com/office/powerpoint/2010/main" val="260442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74320" y="914400"/>
            <a:ext cx="9144000" cy="5943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zh-TW" sz="4300" dirty="0"/>
              <a:t>But, if the asterisked-variable wasn’t at the </a:t>
            </a:r>
            <a:r>
              <a:rPr lang="en-US" altLang="zh-TW" sz="4300" dirty="0" smtClean="0"/>
              <a:t>end </a:t>
            </a:r>
            <a:r>
              <a:rPr lang="en-US" altLang="zh-TW" sz="4300" dirty="0"/>
              <a:t>then </a:t>
            </a:r>
            <a:r>
              <a:rPr lang="en-US" altLang="zh-TW" sz="4300" dirty="0">
                <a:solidFill>
                  <a:srgbClr val="0000FF"/>
                </a:solidFill>
              </a:rPr>
              <a:t>this call </a:t>
            </a:r>
            <a:r>
              <a:rPr lang="en-US" altLang="zh-TW" sz="4300" dirty="0"/>
              <a:t>is </a:t>
            </a:r>
            <a:r>
              <a:rPr lang="en-US" altLang="zh-TW" sz="4300" dirty="0">
                <a:solidFill>
                  <a:srgbClr val="FF0000"/>
                </a:solidFill>
              </a:rPr>
              <a:t>an error</a:t>
            </a:r>
            <a:r>
              <a:rPr lang="en-US" altLang="zh-TW" sz="4300" dirty="0"/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f(a,</a:t>
            </a:r>
            <a:r>
              <a:rPr lang="en-US" altLang="zh-TW" sz="300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altLang="zh-TW" sz="300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b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,c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f(1,2,3)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spc="-1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r>
              <a:rPr lang="en-US" altLang="zh-TW" sz="3500" spc="-5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yp</a:t>
            </a:r>
            <a:r>
              <a:rPr lang="en-US" altLang="zh-TW" sz="3500" spc="-1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eE</a:t>
            </a:r>
            <a:r>
              <a:rPr lang="en-US" altLang="zh-TW" sz="35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6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1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f()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missing</a:t>
            </a:r>
            <a:r>
              <a:rPr lang="en-US" altLang="zh-TW" sz="32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1</a:t>
            </a:r>
            <a:r>
              <a:rPr lang="en-US" altLang="zh-TW" sz="32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require</a:t>
            </a:r>
            <a:r>
              <a:rPr lang="en-US" altLang="zh-TW" sz="35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32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3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500" spc="-2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500" spc="-13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w</a:t>
            </a:r>
            <a:r>
              <a:rPr lang="en-US" altLang="zh-TW" sz="35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ord-only</a:t>
            </a:r>
            <a:r>
              <a:rPr lang="en-US" altLang="zh-TW" sz="32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5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r>
              <a:rPr lang="en-US" altLang="zh-TW" sz="35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c'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 smtClean="0">
                <a:solidFill>
                  <a:srgbClr val="FFCCCC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>
                <a:solidFill>
                  <a:srgbClr val="B7B7FF"/>
                </a:solidFill>
                <a:latin typeface="Lucida Console" panose="020B0609040504020204" pitchFamily="49" charset="0"/>
                <a:cs typeface="Courier New" pitchFamily="49" charset="0"/>
              </a:rPr>
              <a:t>f(1,2)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r>
              <a:rPr lang="en-US" altLang="zh-TW" sz="3500" spc="-5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yp</a:t>
            </a: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eE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6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f()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missing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1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require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3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500" spc="-2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500" spc="-13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w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ord-only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c'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altLang="zh-TW" sz="30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0070C0"/>
                </a:solidFill>
              </a:rPr>
              <a:t>Asterisked </a:t>
            </a:r>
            <a:r>
              <a:rPr lang="en-US" altLang="zh-TW" dirty="0">
                <a:solidFill>
                  <a:srgbClr val="0070C0"/>
                </a:solidFill>
              </a:rPr>
              <a:t>Variable Goes </a:t>
            </a:r>
            <a:r>
              <a:rPr lang="en-US" altLang="zh-TW" dirty="0" smtClean="0">
                <a:solidFill>
                  <a:srgbClr val="0070C0"/>
                </a:solidFill>
              </a:rPr>
              <a:t>at </a:t>
            </a:r>
            <a:r>
              <a:rPr lang="en-US" altLang="zh-TW" dirty="0">
                <a:solidFill>
                  <a:srgbClr val="0070C0"/>
                </a:solidFill>
              </a:rPr>
              <a:t>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6" name="Rounded Rectangular Callout 5"/>
          <p:cNvSpPr/>
          <p:nvPr/>
        </p:nvSpPr>
        <p:spPr>
          <a:xfrm>
            <a:off x="197963" y="5029200"/>
            <a:ext cx="4111144" cy="1828800"/>
          </a:xfrm>
          <a:prstGeom prst="wedgeRoundRectCallout">
            <a:avLst>
              <a:gd name="adj1" fmla="val 45072"/>
              <a:gd name="adj2" fmla="val -77992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1" algn="ctr">
              <a:lnSpc>
                <a:spcPct val="90000"/>
              </a:lnSpc>
            </a:pPr>
            <a:r>
              <a:rPr lang="en-US" sz="4000" dirty="0"/>
              <a:t>Notice </a:t>
            </a:r>
            <a:r>
              <a:rPr lang="en-US" sz="4000" b="1" i="1" dirty="0">
                <a:solidFill>
                  <a:schemeClr val="tx1"/>
                </a:solidFill>
              </a:rPr>
              <a:t>what</a:t>
            </a:r>
            <a:r>
              <a:rPr lang="en-US" sz="4000" dirty="0"/>
              <a:t> the actual error message was.</a:t>
            </a:r>
          </a:p>
        </p:txBody>
      </p:sp>
      <p:sp>
        <p:nvSpPr>
          <p:cNvPr id="8" name="Rounded Rectangular Callout 7"/>
          <p:cNvSpPr/>
          <p:nvPr/>
        </p:nvSpPr>
        <p:spPr>
          <a:xfrm>
            <a:off x="5435682" y="5029200"/>
            <a:ext cx="4114800" cy="1828800"/>
          </a:xfrm>
          <a:prstGeom prst="wedgeRoundRectCallout">
            <a:avLst>
              <a:gd name="adj1" fmla="val -35035"/>
              <a:gd name="adj2" fmla="val -75775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marL="0" lvl="1" algn="ctr">
              <a:lnSpc>
                <a:spcPct val="90000"/>
              </a:lnSpc>
            </a:pPr>
            <a:r>
              <a:rPr lang="en-US" sz="4000" spc="-80" dirty="0" smtClean="0"/>
              <a:t>What’s </a:t>
            </a:r>
            <a:r>
              <a:rPr lang="en-US" sz="4000" spc="-80" dirty="0"/>
              <a:t>a </a:t>
            </a:r>
            <a:r>
              <a:rPr lang="en-US" sz="4000" spc="-80" dirty="0" smtClean="0"/>
              <a:t>keyword?</a:t>
            </a:r>
            <a:r>
              <a:rPr lang="en-US" sz="4000" dirty="0"/>
              <a:t/>
            </a:r>
            <a:br>
              <a:rPr lang="en-US" sz="4000" dirty="0"/>
            </a:br>
            <a:r>
              <a:rPr lang="en-US" sz="4000" dirty="0" smtClean="0"/>
              <a:t>Let’s </a:t>
            </a:r>
            <a:r>
              <a:rPr lang="en-US" sz="4000" dirty="0"/>
              <a:t>recall 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/>
              <a:t>slide #10…</a:t>
            </a:r>
            <a:endParaRPr lang="en-US" sz="4000" dirty="0"/>
          </a:p>
        </p:txBody>
      </p:sp>
      <p:sp>
        <p:nvSpPr>
          <p:cNvPr id="10" name="Rounded Rectangular Callout 9"/>
          <p:cNvSpPr/>
          <p:nvPr/>
        </p:nvSpPr>
        <p:spPr>
          <a:xfrm>
            <a:off x="4359235" y="3284916"/>
            <a:ext cx="5170528" cy="1828800"/>
          </a:xfrm>
          <a:prstGeom prst="wedgeRoundRectCallout">
            <a:avLst>
              <a:gd name="adj1" fmla="val -111468"/>
              <a:gd name="adj2" fmla="val -60316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1" algn="ctr">
              <a:lnSpc>
                <a:spcPct val="90000"/>
              </a:lnSpc>
            </a:pPr>
            <a:r>
              <a:rPr lang="en-US" sz="4000" dirty="0"/>
              <a:t>Notice that there was not any error when the function was defined.</a:t>
            </a:r>
          </a:p>
        </p:txBody>
      </p:sp>
    </p:spTree>
    <p:extLst>
      <p:ext uri="{BB962C8B-B14F-4D97-AF65-F5344CB8AC3E}">
        <p14:creationId xmlns:p14="http://schemas.microsoft.com/office/powerpoint/2010/main" val="3832699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8209" y="1034880"/>
            <a:ext cx="9081135" cy="5539337"/>
          </a:xfrm>
        </p:spPr>
        <p:txBody>
          <a:bodyPr>
            <a:noAutofit/>
          </a:bodyPr>
          <a:lstStyle/>
          <a:p>
            <a:r>
              <a:rPr lang="en-US" sz="3600" dirty="0" smtClean="0"/>
              <a:t>When you use keyword arguments, the caller identifies the arguments by parameter name.</a:t>
            </a:r>
            <a:endParaRPr lang="en-US" sz="3600" dirty="0"/>
          </a:p>
          <a:p>
            <a:r>
              <a:rPr lang="en-US" sz="3600" dirty="0"/>
              <a:t>So they can be out of order, because the given keywords can match values with parameters.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 smtClean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% 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cat test.py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  <a:cs typeface="Courier New" pitchFamily="49" charset="0"/>
              </a:rPr>
              <a:t>name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age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):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  print ("Name:", name, " Age:", age) 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(20, "Sally")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altLang="zh-TW" sz="2800" dirty="0"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altLang="zh-TW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age = 20</a:t>
            </a:r>
            <a:r>
              <a:rPr lang="en-US" altLang="zh-TW" sz="2800" dirty="0"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altLang="zh-TW" sz="2800" dirty="0">
                <a:solidFill>
                  <a:srgbClr val="008000"/>
                </a:solidFill>
                <a:latin typeface="Consolas" panose="020B0609020204030204" pitchFamily="49" charset="0"/>
                <a:cs typeface="Courier New" pitchFamily="49" charset="0"/>
              </a:rPr>
              <a:t>name = "Sally"</a:t>
            </a:r>
            <a:r>
              <a:rPr lang="en-US" altLang="zh-TW" sz="2800" dirty="0">
                <a:latin typeface="Consolas" panose="020B0609020204030204" pitchFamily="49" charset="0"/>
                <a:cs typeface="Courier New" pitchFamily="49" charset="0"/>
              </a:rPr>
              <a:t>)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  </a:t>
            </a:r>
            <a:endParaRPr lang="en-US" altLang="zh-TW" sz="2800" dirty="0"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% python3 test.py</a:t>
            </a:r>
            <a:endParaRPr lang="en-US" sz="28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lvl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Name: 20  Age: Sally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Name: Sally  Age: 20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 </a:t>
            </a: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endParaRPr lang="en-US" sz="2800" dirty="0">
              <a:solidFill>
                <a:srgbClr val="FF0000"/>
              </a:solidFill>
              <a:latin typeface="Arial Narrow" panose="020B0606020202030204" pitchFamily="34" charset="0"/>
              <a:cs typeface="Courier New" pitchFamily="49" charset="0"/>
            </a:endParaRPr>
          </a:p>
          <a:p>
            <a:pPr lvl="1">
              <a:lnSpc>
                <a:spcPct val="85000"/>
              </a:lnSpc>
              <a:spcBef>
                <a:spcPts val="0"/>
              </a:spcBef>
              <a:buNone/>
            </a:pPr>
            <a:endParaRPr lang="en-US" sz="2800" dirty="0">
              <a:solidFill>
                <a:prstClr val="black"/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spcBef>
                <a:spcPts val="0"/>
              </a:spcBef>
              <a:buNone/>
            </a:pPr>
            <a:endParaRPr lang="en-US" sz="2800" dirty="0">
              <a:solidFill>
                <a:prstClr val="black"/>
              </a:solidFill>
              <a:latin typeface="Consolas" panose="020B0609020204030204" pitchFamily="49" charset="0"/>
              <a:cs typeface="Courier New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 smtClean="0">
                <a:solidFill>
                  <a:srgbClr val="0070C0"/>
                </a:solidFill>
              </a:rPr>
              <a:t>Keyword Arguments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87166" y="1035688"/>
            <a:ext cx="9357043" cy="1077667"/>
          </a:xfrm>
          <a:prstGeom prst="rect">
            <a:avLst/>
          </a:prstGeom>
          <a:solidFill>
            <a:srgbClr val="FFFF00"/>
          </a:solidFill>
          <a:ln>
            <a:solidFill>
              <a:srgbClr val="FD3E3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5288" indent="-168275">
              <a:buClr>
                <a:srgbClr val="FFFF00"/>
              </a:buClr>
            </a:pPr>
            <a:r>
              <a:rPr lang="en-US" sz="3600" dirty="0">
                <a:solidFill>
                  <a:srgbClr val="FD3E31"/>
                </a:solidFill>
              </a:rPr>
              <a:t>When you use keyword arguments, the caller identifies the arguments by parameter name.</a:t>
            </a:r>
          </a:p>
        </p:txBody>
      </p:sp>
      <p:grpSp>
        <p:nvGrpSpPr>
          <p:cNvPr id="4" name="Group 3"/>
          <p:cNvGrpSpPr/>
          <p:nvPr/>
        </p:nvGrpSpPr>
        <p:grpSpPr>
          <a:xfrm flipH="1">
            <a:off x="8138459" y="151719"/>
            <a:ext cx="2143638" cy="720501"/>
            <a:chOff x="2289" y="199343"/>
            <a:chExt cx="2143638" cy="720501"/>
          </a:xfrm>
        </p:grpSpPr>
        <p:sp>
          <p:nvSpPr>
            <p:cNvPr id="6" name="Trapezoid 5"/>
            <p:cNvSpPr/>
            <p:nvPr/>
          </p:nvSpPr>
          <p:spPr bwMode="auto">
            <a:xfrm rot="18900000">
              <a:off x="2289" y="230680"/>
              <a:ext cx="2143638" cy="660774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en-US" sz="2800" dirty="0">
                <a:latin typeface="Arial" charset="0"/>
                <a:ea typeface="新細明體" charset="-12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 rot="18900000">
              <a:off x="54350" y="199343"/>
              <a:ext cx="2034192" cy="7205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from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5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  <p:sp>
        <p:nvSpPr>
          <p:cNvPr id="10" name="Rounded Rectangular Callout 9"/>
          <p:cNvSpPr/>
          <p:nvPr/>
        </p:nvSpPr>
        <p:spPr>
          <a:xfrm>
            <a:off x="5435682" y="5029200"/>
            <a:ext cx="4114800" cy="1828800"/>
          </a:xfrm>
          <a:prstGeom prst="wedgeRoundRectCallout">
            <a:avLst>
              <a:gd name="adj1" fmla="val -67108"/>
              <a:gd name="adj2" fmla="val -209796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marL="0" lvl="1" algn="ctr">
              <a:lnSpc>
                <a:spcPct val="90000"/>
              </a:lnSpc>
            </a:pPr>
            <a:r>
              <a:rPr lang="en-US" sz="4000" spc="-80" dirty="0" smtClean="0"/>
              <a:t>What’s </a:t>
            </a:r>
            <a:r>
              <a:rPr lang="en-US" sz="4000" spc="-80" dirty="0"/>
              <a:t>a </a:t>
            </a:r>
            <a:r>
              <a:rPr lang="en-US" sz="4000" spc="-80" dirty="0" smtClean="0"/>
              <a:t>keyword?</a:t>
            </a:r>
            <a:r>
              <a:rPr lang="en-US" sz="4000" dirty="0"/>
              <a:t/>
            </a:r>
            <a:br>
              <a:rPr lang="en-US" sz="4000" dirty="0"/>
            </a:br>
            <a:r>
              <a:rPr lang="en-US" sz="4000" dirty="0" smtClean="0"/>
              <a:t>Let’s </a:t>
            </a:r>
            <a:r>
              <a:rPr lang="en-US" sz="4000" dirty="0"/>
              <a:t>recall 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/>
              <a:t>slide #10…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502101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2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20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20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20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20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20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20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2000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2000"/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2000"/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2000"/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2000"/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uiExpand="1" build="p"/>
      <p:bldP spid="5" grpId="0"/>
      <p:bldP spid="9" grpId="0" animBg="1"/>
      <p:bldP spid="9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74320" y="914400"/>
            <a:ext cx="9144000" cy="5943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zh-TW" sz="4300" dirty="0">
                <a:solidFill>
                  <a:schemeClr val="bg1"/>
                </a:solidFill>
              </a:rPr>
              <a:t>But, if the asterisked-variable wasn’t at </a:t>
            </a:r>
            <a:r>
              <a:rPr lang="en-US" altLang="zh-TW" sz="4300" dirty="0"/>
              <a:t>the </a:t>
            </a:r>
            <a:r>
              <a:rPr lang="en-US" altLang="zh-TW" sz="4300" dirty="0" smtClean="0"/>
              <a:t>end </a:t>
            </a:r>
            <a:r>
              <a:rPr lang="en-US" altLang="zh-TW" sz="4300" dirty="0"/>
              <a:t>then </a:t>
            </a:r>
            <a:r>
              <a:rPr lang="en-US" altLang="zh-TW" sz="4300" dirty="0">
                <a:solidFill>
                  <a:srgbClr val="0000FF"/>
                </a:solidFill>
              </a:rPr>
              <a:t>this call </a:t>
            </a:r>
            <a:r>
              <a:rPr lang="en-US" altLang="zh-TW" sz="4300" dirty="0"/>
              <a:t>is </a:t>
            </a:r>
            <a:r>
              <a:rPr lang="en-US" altLang="zh-TW" sz="4300" dirty="0">
                <a:solidFill>
                  <a:srgbClr val="FF0000"/>
                </a:solidFill>
              </a:rPr>
              <a:t>an error</a:t>
            </a:r>
            <a:r>
              <a:rPr lang="en-US" altLang="zh-TW" sz="4300" dirty="0"/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f(a,</a:t>
            </a:r>
            <a:r>
              <a:rPr lang="en-US" altLang="zh-TW" sz="300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altLang="zh-TW" sz="300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b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,c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f(1,2,3)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spc="-100" dirty="0" err="1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r>
              <a:rPr lang="en-US" altLang="zh-TW" sz="3500" spc="-50" dirty="0" err="1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yp</a:t>
            </a:r>
            <a:r>
              <a:rPr lang="en-US" altLang="zh-TW" sz="3500" spc="-100" dirty="0" err="1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eE</a:t>
            </a:r>
            <a:r>
              <a:rPr lang="en-US" altLang="zh-TW" sz="3500" dirty="0" err="1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60" dirty="0" err="1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100" dirty="0" err="1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or</a:t>
            </a:r>
            <a:r>
              <a:rPr lang="en-US" altLang="zh-TW" sz="35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f()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missing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1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require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3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500" spc="-2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500" spc="-13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w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ord-only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c'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 smtClean="0">
                <a:solidFill>
                  <a:srgbClr val="FFCCCC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>
                <a:solidFill>
                  <a:srgbClr val="B7B7FF"/>
                </a:solidFill>
                <a:latin typeface="Lucida Console" panose="020B0609040504020204" pitchFamily="49" charset="0"/>
                <a:cs typeface="Courier New" pitchFamily="49" charset="0"/>
              </a:rPr>
              <a:t>f(1,2)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r>
              <a:rPr lang="en-US" altLang="zh-TW" sz="3500" spc="-5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yp</a:t>
            </a: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eE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6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f()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missing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1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require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3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500" spc="-2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500" spc="-13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w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ord-only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c'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altLang="zh-TW" sz="30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0070C0"/>
                </a:solidFill>
              </a:rPr>
              <a:t>Asterisked </a:t>
            </a:r>
            <a:r>
              <a:rPr lang="en-US" altLang="zh-TW" dirty="0">
                <a:solidFill>
                  <a:srgbClr val="0070C0"/>
                </a:solidFill>
              </a:rPr>
              <a:t>Variable Goes </a:t>
            </a:r>
            <a:r>
              <a:rPr lang="en-US" altLang="zh-TW" dirty="0" smtClean="0">
                <a:solidFill>
                  <a:srgbClr val="0070C0"/>
                </a:solidFill>
              </a:rPr>
              <a:t>at </a:t>
            </a:r>
            <a:r>
              <a:rPr lang="en-US" altLang="zh-TW" dirty="0">
                <a:solidFill>
                  <a:srgbClr val="0070C0"/>
                </a:solidFill>
              </a:rPr>
              <a:t>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6" name="Rounded Rectangular Callout 5"/>
          <p:cNvSpPr/>
          <p:nvPr/>
        </p:nvSpPr>
        <p:spPr>
          <a:xfrm>
            <a:off x="197963" y="5029200"/>
            <a:ext cx="4111144" cy="1828800"/>
          </a:xfrm>
          <a:prstGeom prst="wedgeRoundRectCallout">
            <a:avLst>
              <a:gd name="adj1" fmla="val 45072"/>
              <a:gd name="adj2" fmla="val -77992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1" algn="ctr">
              <a:lnSpc>
                <a:spcPct val="90000"/>
              </a:lnSpc>
            </a:pPr>
            <a:r>
              <a:rPr lang="en-US" sz="4000" dirty="0"/>
              <a:t>Notice </a:t>
            </a:r>
            <a:r>
              <a:rPr lang="en-US" sz="4000" b="1" i="1" dirty="0">
                <a:solidFill>
                  <a:schemeClr val="tx1"/>
                </a:solidFill>
              </a:rPr>
              <a:t>what</a:t>
            </a:r>
            <a:r>
              <a:rPr lang="en-US" sz="4000" dirty="0"/>
              <a:t> the actual error message was.</a:t>
            </a:r>
          </a:p>
        </p:txBody>
      </p:sp>
      <p:sp>
        <p:nvSpPr>
          <p:cNvPr id="8" name="Rounded Rectangular Callout 7"/>
          <p:cNvSpPr/>
          <p:nvPr/>
        </p:nvSpPr>
        <p:spPr>
          <a:xfrm>
            <a:off x="5435682" y="5029200"/>
            <a:ext cx="4114800" cy="1828800"/>
          </a:xfrm>
          <a:prstGeom prst="wedgeRoundRectCallout">
            <a:avLst>
              <a:gd name="adj1" fmla="val -35035"/>
              <a:gd name="adj2" fmla="val -75775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marL="0" lvl="1" algn="ctr">
              <a:lnSpc>
                <a:spcPct val="90000"/>
              </a:lnSpc>
            </a:pPr>
            <a:r>
              <a:rPr lang="en-US" sz="4000" spc="-80" dirty="0" smtClean="0"/>
              <a:t>What’s </a:t>
            </a:r>
            <a:r>
              <a:rPr lang="en-US" sz="4000" spc="-80" dirty="0"/>
              <a:t>a </a:t>
            </a:r>
            <a:r>
              <a:rPr lang="en-US" sz="4000" spc="-80" dirty="0" smtClean="0"/>
              <a:t>keyword?</a:t>
            </a:r>
            <a:r>
              <a:rPr lang="en-US" sz="4000" dirty="0"/>
              <a:t/>
            </a:r>
            <a:br>
              <a:rPr lang="en-US" sz="4000" dirty="0"/>
            </a:br>
            <a:r>
              <a:rPr lang="en-US" sz="4000" dirty="0" smtClean="0"/>
              <a:t>Let’s </a:t>
            </a:r>
            <a:r>
              <a:rPr lang="en-US" sz="4000" dirty="0"/>
              <a:t>recall 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/>
              <a:t>slide #10…</a:t>
            </a:r>
            <a:endParaRPr lang="en-US" sz="400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87166" y="1025528"/>
            <a:ext cx="9357043" cy="1077667"/>
          </a:xfrm>
          <a:prstGeom prst="rect">
            <a:avLst/>
          </a:prstGeom>
          <a:solidFill>
            <a:srgbClr val="FFFF00"/>
          </a:solidFill>
          <a:ln>
            <a:solidFill>
              <a:srgbClr val="FD3E3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5288" indent="-168275">
              <a:buClr>
                <a:srgbClr val="FFFF00"/>
              </a:buClr>
            </a:pPr>
            <a:r>
              <a:rPr lang="en-US" sz="3600" dirty="0">
                <a:solidFill>
                  <a:srgbClr val="FD3E31"/>
                </a:solidFill>
              </a:rPr>
              <a:t>When you use keyword arguments, the caller identifies the arguments by parameter name.</a:t>
            </a:r>
          </a:p>
        </p:txBody>
      </p:sp>
      <p:sp>
        <p:nvSpPr>
          <p:cNvPr id="14" name="Rounded Rectangular Callout 13"/>
          <p:cNvSpPr/>
          <p:nvPr/>
        </p:nvSpPr>
        <p:spPr>
          <a:xfrm>
            <a:off x="4559260" y="2527279"/>
            <a:ext cx="5170528" cy="1303867"/>
          </a:xfrm>
          <a:prstGeom prst="wedgeRoundRectCallout">
            <a:avLst>
              <a:gd name="adj1" fmla="val -101006"/>
              <a:gd name="adj2" fmla="val 91934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1" algn="ctr"/>
            <a:r>
              <a:rPr lang="en-US" sz="4000" dirty="0"/>
              <a:t>So the error is that </a:t>
            </a:r>
            <a:r>
              <a:rPr lang="en-US" sz="4000" dirty="0">
                <a:solidFill>
                  <a:schemeClr val="bg1"/>
                </a:solidFill>
              </a:rPr>
              <a:t>“c</a:t>
            </a:r>
            <a:r>
              <a:rPr lang="en-US" sz="4000" dirty="0"/>
              <a:t>” must be named</a:t>
            </a:r>
          </a:p>
        </p:txBody>
      </p:sp>
    </p:spTree>
    <p:extLst>
      <p:ext uri="{BB962C8B-B14F-4D97-AF65-F5344CB8AC3E}">
        <p14:creationId xmlns:p14="http://schemas.microsoft.com/office/powerpoint/2010/main" val="1879005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74320" y="914400"/>
            <a:ext cx="9144000" cy="5943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zh-TW" sz="4300" dirty="0">
                <a:solidFill>
                  <a:schemeClr val="bg1"/>
                </a:solidFill>
              </a:rPr>
              <a:t>But, if the asterisked-variable wasn’t at </a:t>
            </a:r>
            <a:r>
              <a:rPr lang="en-US" altLang="zh-TW" sz="4300" dirty="0"/>
              <a:t>the </a:t>
            </a:r>
            <a:r>
              <a:rPr lang="en-US" altLang="zh-TW" sz="4300" dirty="0" smtClean="0"/>
              <a:t>end </a:t>
            </a:r>
            <a:r>
              <a:rPr lang="en-US" altLang="zh-TW" sz="4300" dirty="0"/>
              <a:t>then </a:t>
            </a:r>
            <a:r>
              <a:rPr lang="en-US" altLang="zh-TW" sz="4300" dirty="0">
                <a:solidFill>
                  <a:srgbClr val="0000FF"/>
                </a:solidFill>
              </a:rPr>
              <a:t>this call </a:t>
            </a:r>
            <a:r>
              <a:rPr lang="en-US" altLang="zh-TW" sz="4300" dirty="0"/>
              <a:t>is </a:t>
            </a:r>
            <a:r>
              <a:rPr lang="en-US" altLang="zh-TW" sz="4300" dirty="0">
                <a:solidFill>
                  <a:srgbClr val="FF0000"/>
                </a:solidFill>
              </a:rPr>
              <a:t>an error</a:t>
            </a:r>
            <a:r>
              <a:rPr lang="en-US" altLang="zh-TW" sz="4300" dirty="0"/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f(a,</a:t>
            </a:r>
            <a:r>
              <a:rPr lang="en-US" altLang="zh-TW" sz="300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altLang="zh-TW" sz="300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b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altLang="zh-TW" sz="3000" b="1" dirty="0" err="1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f(1,2,3)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spc="-100" dirty="0" err="1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r>
              <a:rPr lang="en-US" altLang="zh-TW" sz="3500" spc="-50" dirty="0" err="1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yp</a:t>
            </a:r>
            <a:r>
              <a:rPr lang="en-US" altLang="zh-TW" sz="3500" spc="-100" dirty="0" err="1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eE</a:t>
            </a:r>
            <a:r>
              <a:rPr lang="en-US" altLang="zh-TW" sz="3500" dirty="0" err="1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60" dirty="0" err="1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100" dirty="0" err="1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or</a:t>
            </a:r>
            <a:r>
              <a:rPr lang="en-US" altLang="zh-TW" sz="35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f()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missing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1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require</a:t>
            </a:r>
            <a:r>
              <a:rPr lang="en-US" altLang="zh-TW" sz="35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32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3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500" spc="-2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500" spc="-13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w</a:t>
            </a:r>
            <a:r>
              <a:rPr lang="en-US" altLang="zh-TW" sz="35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ord-only</a:t>
            </a:r>
            <a:r>
              <a:rPr lang="en-US" altLang="zh-TW" sz="32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5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28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r>
              <a:rPr lang="en-US" altLang="zh-TW" sz="3500" b="1" dirty="0" smtClean="0">
                <a:solidFill>
                  <a:srgbClr val="0000FF"/>
                </a:solidFill>
                <a:latin typeface="Arial Narrow" panose="020B0606020202030204" pitchFamily="34" charset="0"/>
                <a:cs typeface="Courier New" pitchFamily="49" charset="0"/>
              </a:rPr>
              <a:t>c</a:t>
            </a:r>
            <a:r>
              <a:rPr lang="en-US" altLang="zh-TW" sz="35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 smtClean="0">
                <a:solidFill>
                  <a:srgbClr val="FFCCCC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>
                <a:solidFill>
                  <a:srgbClr val="B7B7FF"/>
                </a:solidFill>
                <a:latin typeface="Lucida Console" panose="020B0609040504020204" pitchFamily="49" charset="0"/>
                <a:cs typeface="Courier New" pitchFamily="49" charset="0"/>
              </a:rPr>
              <a:t>f(1,2)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r>
              <a:rPr lang="en-US" altLang="zh-TW" sz="3500" spc="-5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yp</a:t>
            </a: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eE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6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1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f()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missing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1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require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3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500" spc="-2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500" spc="-13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w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ord-only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c'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altLang="zh-TW" sz="30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0070C0"/>
                </a:solidFill>
              </a:rPr>
              <a:t>Asterisked </a:t>
            </a:r>
            <a:r>
              <a:rPr lang="en-US" altLang="zh-TW" dirty="0">
                <a:solidFill>
                  <a:srgbClr val="0070C0"/>
                </a:solidFill>
              </a:rPr>
              <a:t>Variable Goes </a:t>
            </a:r>
            <a:r>
              <a:rPr lang="en-US" altLang="zh-TW" dirty="0" smtClean="0">
                <a:solidFill>
                  <a:srgbClr val="0070C0"/>
                </a:solidFill>
              </a:rPr>
              <a:t>at </a:t>
            </a:r>
            <a:r>
              <a:rPr lang="en-US" altLang="zh-TW" dirty="0">
                <a:solidFill>
                  <a:srgbClr val="0070C0"/>
                </a:solidFill>
              </a:rPr>
              <a:t>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8" name="Rounded Rectangular Callout 7"/>
          <p:cNvSpPr/>
          <p:nvPr/>
        </p:nvSpPr>
        <p:spPr>
          <a:xfrm>
            <a:off x="5435682" y="5029200"/>
            <a:ext cx="4114800" cy="1828800"/>
          </a:xfrm>
          <a:prstGeom prst="wedgeRoundRectCallout">
            <a:avLst>
              <a:gd name="adj1" fmla="val -35035"/>
              <a:gd name="adj2" fmla="val -75775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marL="0" lvl="1" algn="ctr">
              <a:lnSpc>
                <a:spcPct val="90000"/>
              </a:lnSpc>
            </a:pPr>
            <a:r>
              <a:rPr lang="en-US" sz="4000" spc="-80" dirty="0" smtClean="0"/>
              <a:t>What’s </a:t>
            </a:r>
            <a:r>
              <a:rPr lang="en-US" sz="4000" spc="-80" dirty="0"/>
              <a:t>a </a:t>
            </a:r>
            <a:r>
              <a:rPr lang="en-US" sz="4000" spc="-80" dirty="0" smtClean="0"/>
              <a:t>keyword?</a:t>
            </a:r>
            <a:r>
              <a:rPr lang="en-US" sz="4000" dirty="0"/>
              <a:t/>
            </a:r>
            <a:br>
              <a:rPr lang="en-US" sz="4000" dirty="0"/>
            </a:br>
            <a:r>
              <a:rPr lang="en-US" sz="4000" dirty="0" smtClean="0"/>
              <a:t>Let’s </a:t>
            </a:r>
            <a:r>
              <a:rPr lang="en-US" sz="4000" dirty="0"/>
              <a:t>recall 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/>
              <a:t>slide #10…</a:t>
            </a:r>
            <a:endParaRPr lang="en-US" sz="400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87166" y="1025528"/>
            <a:ext cx="9357043" cy="1077667"/>
          </a:xfrm>
          <a:prstGeom prst="rect">
            <a:avLst/>
          </a:prstGeom>
          <a:solidFill>
            <a:srgbClr val="FFFF00"/>
          </a:solidFill>
          <a:ln>
            <a:solidFill>
              <a:srgbClr val="FD3E3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5288" indent="-168275">
              <a:buClr>
                <a:srgbClr val="FFFF00"/>
              </a:buClr>
            </a:pPr>
            <a:r>
              <a:rPr lang="en-US" sz="3600" dirty="0">
                <a:solidFill>
                  <a:srgbClr val="FD3E31"/>
                </a:solidFill>
              </a:rPr>
              <a:t>When you use keyword arguments, the caller identifies the arguments by parameter name.</a:t>
            </a:r>
          </a:p>
        </p:txBody>
      </p:sp>
      <p:sp>
        <p:nvSpPr>
          <p:cNvPr id="11" name="Rounded Rectangular Callout 10"/>
          <p:cNvSpPr/>
          <p:nvPr/>
        </p:nvSpPr>
        <p:spPr>
          <a:xfrm>
            <a:off x="4559260" y="2527279"/>
            <a:ext cx="5170528" cy="1303867"/>
          </a:xfrm>
          <a:prstGeom prst="wedgeRoundRectCallout">
            <a:avLst>
              <a:gd name="adj1" fmla="val -101006"/>
              <a:gd name="adj2" fmla="val 91934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1" algn="ctr"/>
            <a:r>
              <a:rPr lang="en-US" sz="4000" dirty="0"/>
              <a:t>So the error is that “</a:t>
            </a:r>
            <a:r>
              <a:rPr lang="en-US" sz="4000" dirty="0">
                <a:solidFill>
                  <a:srgbClr val="0000FF"/>
                </a:solidFill>
              </a:rPr>
              <a:t>c</a:t>
            </a:r>
            <a:r>
              <a:rPr lang="en-US" sz="4000" dirty="0"/>
              <a:t>” must be named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9106293" y="3035431"/>
            <a:ext cx="28280" cy="1291472"/>
          </a:xfrm>
          <a:prstGeom prst="straightConnector1">
            <a:avLst/>
          </a:prstGeom>
          <a:ln w="57150">
            <a:solidFill>
              <a:srgbClr val="0000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4053526" y="2366128"/>
            <a:ext cx="4967167" cy="2039288"/>
          </a:xfrm>
          <a:prstGeom prst="straightConnector1">
            <a:avLst/>
          </a:prstGeom>
          <a:ln w="57150">
            <a:solidFill>
              <a:srgbClr val="0000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253765" y="4647414"/>
            <a:ext cx="1489435" cy="414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ular Callout 5"/>
          <p:cNvSpPr/>
          <p:nvPr/>
        </p:nvSpPr>
        <p:spPr>
          <a:xfrm>
            <a:off x="197963" y="5029200"/>
            <a:ext cx="4111144" cy="1828800"/>
          </a:xfrm>
          <a:prstGeom prst="wedgeRoundRectCallout">
            <a:avLst>
              <a:gd name="adj1" fmla="val 45072"/>
              <a:gd name="adj2" fmla="val -77992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1" algn="ctr">
              <a:lnSpc>
                <a:spcPct val="90000"/>
              </a:lnSpc>
            </a:pPr>
            <a:r>
              <a:rPr lang="en-US" sz="4000" dirty="0"/>
              <a:t>Notice </a:t>
            </a:r>
            <a:r>
              <a:rPr lang="en-US" sz="4000" b="1" i="1" dirty="0">
                <a:solidFill>
                  <a:schemeClr val="tx1"/>
                </a:solidFill>
              </a:rPr>
              <a:t>what</a:t>
            </a:r>
            <a:r>
              <a:rPr lang="en-US" sz="4000" dirty="0"/>
              <a:t> the actual error message was.</a:t>
            </a:r>
          </a:p>
        </p:txBody>
      </p:sp>
    </p:spTree>
    <p:extLst>
      <p:ext uri="{BB962C8B-B14F-4D97-AF65-F5344CB8AC3E}">
        <p14:creationId xmlns:p14="http://schemas.microsoft.com/office/powerpoint/2010/main" val="1200377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74320" y="914400"/>
            <a:ext cx="9144000" cy="5943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zh-TW" sz="4300" dirty="0">
                <a:solidFill>
                  <a:schemeClr val="bg1"/>
                </a:solidFill>
              </a:rPr>
              <a:t>But, if the asterisked-variable wasn’t at </a:t>
            </a:r>
            <a:r>
              <a:rPr lang="en-US" altLang="zh-TW" sz="4300" dirty="0"/>
              <a:t>the </a:t>
            </a:r>
            <a:r>
              <a:rPr lang="en-US" altLang="zh-TW" sz="4300" dirty="0" smtClean="0"/>
              <a:t>end </a:t>
            </a:r>
            <a:r>
              <a:rPr lang="en-US" altLang="zh-TW" sz="4300" dirty="0"/>
              <a:t>then </a:t>
            </a:r>
            <a:r>
              <a:rPr lang="en-US" altLang="zh-TW" sz="4300" dirty="0">
                <a:solidFill>
                  <a:srgbClr val="0000FF"/>
                </a:solidFill>
              </a:rPr>
              <a:t>this call </a:t>
            </a:r>
            <a:r>
              <a:rPr lang="en-US" altLang="zh-TW" sz="4300" dirty="0"/>
              <a:t>is </a:t>
            </a:r>
            <a:r>
              <a:rPr lang="en-US" altLang="zh-TW" sz="4300" dirty="0">
                <a:solidFill>
                  <a:srgbClr val="FF0000"/>
                </a:solidFill>
              </a:rPr>
              <a:t>an error</a:t>
            </a:r>
            <a:r>
              <a:rPr lang="en-US" altLang="zh-TW" sz="4300" dirty="0"/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f(a,</a:t>
            </a:r>
            <a:r>
              <a:rPr lang="en-US" altLang="zh-TW" sz="300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altLang="zh-TW" sz="300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b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altLang="zh-TW" sz="3000" b="1" dirty="0" err="1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f(1,2,3)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spc="-1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r>
              <a:rPr lang="en-US" altLang="zh-TW" sz="3500" spc="-5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yp</a:t>
            </a:r>
            <a:r>
              <a:rPr lang="en-US" altLang="zh-TW" sz="3500" spc="-1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eE</a:t>
            </a:r>
            <a:r>
              <a:rPr lang="en-US" altLang="zh-TW" sz="35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6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1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f()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missing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1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require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3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500" spc="-2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500" spc="-13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w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ord-only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28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r>
              <a:rPr lang="en-US" altLang="zh-TW" sz="3500" b="1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c</a:t>
            </a: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 smtClean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 smtClean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f(1,2,c=3)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#Le</a:t>
            </a:r>
            <a:r>
              <a:rPr lang="en-US" altLang="zh-TW" sz="3000" spc="-500" dirty="0" smtClean="0">
                <a:latin typeface="Lucida Console" panose="020B0609040504020204" pitchFamily="49" charset="0"/>
                <a:cs typeface="Courier New" pitchFamily="49" charset="0"/>
              </a:rPr>
              <a:t>t'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s</a:t>
            </a:r>
            <a:r>
              <a:rPr lang="en-US" altLang="zh-TW" sz="2800" spc="-160" dirty="0" smtClean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give</a:t>
            </a:r>
            <a:r>
              <a:rPr lang="en-US" altLang="zh-TW" sz="2800" spc="-160" dirty="0" smtClean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it</a:t>
            </a:r>
            <a:r>
              <a:rPr lang="en-US" altLang="zh-TW" sz="2800" spc="-160" dirty="0" smtClean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what</a:t>
            </a:r>
            <a:r>
              <a:rPr lang="en-US" altLang="zh-TW" sz="2800" spc="-160" dirty="0" smtClean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it</a:t>
            </a:r>
            <a:r>
              <a:rPr lang="en-US" altLang="zh-TW" sz="2800" spc="-160" dirty="0" smtClean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wants</a:t>
            </a:r>
            <a:endParaRPr lang="en-US" altLang="zh-TW" sz="3000" spc="-160" dirty="0">
              <a:latin typeface="Lucida Console" panose="020B0609040504020204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 smtClean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 smtClean="0">
                <a:latin typeface="Lucida Console" panose="020B0609040504020204" pitchFamily="49" charset="0"/>
                <a:cs typeface="Courier New" pitchFamily="49" charset="0"/>
              </a:rPr>
              <a:t>###########Yep, it worked.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 smtClean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f(1,c=3</a:t>
            </a:r>
            <a:r>
              <a:rPr lang="en-US" altLang="zh-TW" sz="3000" dirty="0" smtClean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  <a:r>
              <a:rPr lang="en-US" altLang="zh-TW" sz="3000" dirty="0" smtClean="0">
                <a:latin typeface="Lucida Console" panose="020B0609040504020204" pitchFamily="49" charset="0"/>
                <a:cs typeface="Courier New" pitchFamily="49" charset="0"/>
              </a:rPr>
              <a:t>#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b is optional, so this works</a:t>
            </a:r>
            <a:endParaRPr lang="en-US" altLang="zh-TW" sz="3000" spc="-160" dirty="0">
              <a:latin typeface="Lucida Console" panose="020B0609040504020204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 smtClean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smtClean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f(1,</a:t>
            </a:r>
            <a:r>
              <a:rPr lang="en-US" altLang="zh-TW" sz="3000" dirty="0" smtClean="0">
                <a:solidFill>
                  <a:srgbClr val="FF0066"/>
                </a:solidFill>
                <a:latin typeface="Lucida Console" panose="020B0609040504020204" pitchFamily="49" charset="0"/>
                <a:cs typeface="Courier New" pitchFamily="49" charset="0"/>
              </a:rPr>
              <a:t>3</a:t>
            </a:r>
            <a:r>
              <a:rPr lang="en-US" altLang="zh-TW" sz="3000" dirty="0" smtClean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  <a:r>
              <a:rPr lang="en-US" altLang="zh-TW" sz="3000" dirty="0" smtClean="0">
                <a:latin typeface="Lucida Console" panose="020B0609040504020204" pitchFamily="49" charset="0"/>
                <a:cs typeface="Courier New" pitchFamily="49" charset="0"/>
              </a:rPr>
              <a:t>#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Wo</a:t>
            </a:r>
            <a:r>
              <a:rPr lang="en-US" altLang="zh-TW" sz="3000" spc="-500" dirty="0" smtClean="0">
                <a:latin typeface="Lucida Console" panose="020B0609040504020204" pitchFamily="49" charset="0"/>
                <a:cs typeface="Courier New" pitchFamily="49" charset="0"/>
              </a:rPr>
              <a:t>n'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t</a:t>
            </a:r>
            <a:r>
              <a:rPr lang="en-US" altLang="zh-TW" sz="2400" spc="-160" dirty="0" smtClean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assume</a:t>
            </a:r>
            <a:r>
              <a:rPr lang="en-US" altLang="zh-TW" sz="2400" spc="-160" dirty="0" smtClean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210" dirty="0" smtClean="0">
                <a:latin typeface="Lucida Console" panose="020B0609040504020204" pitchFamily="49" charset="0"/>
                <a:cs typeface="Courier New" pitchFamily="49" charset="0"/>
              </a:rPr>
              <a:t>i</a:t>
            </a:r>
            <a:r>
              <a:rPr lang="en-US" altLang="zh-TW" sz="3000" spc="-500" dirty="0" smtClean="0">
                <a:latin typeface="Lucida Console" panose="020B0609040504020204" pitchFamily="49" charset="0"/>
                <a:cs typeface="Courier New" pitchFamily="49" charset="0"/>
              </a:rPr>
              <a:t>t'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s</a:t>
            </a:r>
            <a:r>
              <a:rPr lang="en-US" altLang="zh-TW" sz="2400" spc="-160" dirty="0" smtClean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450" dirty="0" smtClean="0">
                <a:latin typeface="Lucida Console" panose="020B0609040504020204" pitchFamily="49" charset="0"/>
                <a:cs typeface="Courier New" pitchFamily="49" charset="0"/>
              </a:rPr>
              <a:t>c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.</a:t>
            </a:r>
            <a:r>
              <a:rPr lang="en-US" altLang="zh-TW" sz="2400" spc="-160" dirty="0" smtClean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260" dirty="0" smtClean="0">
                <a:latin typeface="Lucida Console" panose="020B0609040504020204" pitchFamily="49" charset="0"/>
                <a:cs typeface="Courier New" pitchFamily="49" charset="0"/>
              </a:rPr>
              <a:t>K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eyw</a:t>
            </a:r>
            <a:r>
              <a:rPr lang="en-US" altLang="zh-TW" sz="3000" spc="-350" dirty="0" smtClean="0">
                <a:latin typeface="Lucida Console" panose="020B0609040504020204" pitchFamily="49" charset="0"/>
                <a:cs typeface="Courier New" pitchFamily="49" charset="0"/>
              </a:rPr>
              <a:t>o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rd-O</a:t>
            </a:r>
            <a:r>
              <a:rPr lang="en-US" altLang="zh-TW" sz="3000" spc="-400" dirty="0" smtClean="0">
                <a:latin typeface="Lucida Console" panose="020B0609040504020204" pitchFamily="49" charset="0"/>
                <a:cs typeface="Courier New" pitchFamily="49" charset="0"/>
              </a:rPr>
              <a:t>nl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y</a:t>
            </a:r>
            <a:endParaRPr lang="en-US" altLang="zh-TW" sz="3000" spc="-160" dirty="0"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0070C0"/>
                </a:solidFill>
              </a:rPr>
              <a:t>Asterisked </a:t>
            </a:r>
            <a:r>
              <a:rPr lang="en-US" altLang="zh-TW" dirty="0">
                <a:solidFill>
                  <a:srgbClr val="0070C0"/>
                </a:solidFill>
              </a:rPr>
              <a:t>Variable Goes </a:t>
            </a:r>
            <a:r>
              <a:rPr lang="en-US" altLang="zh-TW" dirty="0" smtClean="0">
                <a:solidFill>
                  <a:srgbClr val="0070C0"/>
                </a:solidFill>
              </a:rPr>
              <a:t>at </a:t>
            </a:r>
            <a:r>
              <a:rPr lang="en-US" altLang="zh-TW" dirty="0">
                <a:solidFill>
                  <a:srgbClr val="0070C0"/>
                </a:solidFill>
              </a:rPr>
              <a:t>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87166" y="1025528"/>
            <a:ext cx="9357043" cy="1077667"/>
          </a:xfrm>
          <a:prstGeom prst="rect">
            <a:avLst/>
          </a:prstGeom>
          <a:solidFill>
            <a:srgbClr val="FFFF00"/>
          </a:solidFill>
          <a:ln>
            <a:solidFill>
              <a:srgbClr val="FD3E3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5288" indent="-168275">
              <a:buClr>
                <a:srgbClr val="FFFF00"/>
              </a:buClr>
            </a:pPr>
            <a:r>
              <a:rPr lang="en-US" sz="3600" dirty="0">
                <a:solidFill>
                  <a:srgbClr val="FD3E31"/>
                </a:solidFill>
              </a:rPr>
              <a:t>When you use keyword arguments, the caller identifies the arguments by parameter name.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2875280" y="2468880"/>
            <a:ext cx="1026160" cy="2286000"/>
          </a:xfrm>
          <a:prstGeom prst="straightConnector1">
            <a:avLst/>
          </a:prstGeom>
          <a:ln w="57150">
            <a:solidFill>
              <a:srgbClr val="0000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281602" y="4635355"/>
            <a:ext cx="881973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</a:pPr>
            <a:r>
              <a:rPr lang="en-US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</a:pPr>
            <a:r>
              <a:rPr lang="en-US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</a:pPr>
            <a:r>
              <a:rPr lang="en-US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2600960" y="2479040"/>
            <a:ext cx="1290320" cy="3149600"/>
          </a:xfrm>
          <a:prstGeom prst="straightConnector1">
            <a:avLst/>
          </a:prstGeom>
          <a:ln w="57150">
            <a:solidFill>
              <a:srgbClr val="0000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2377440" y="2489200"/>
            <a:ext cx="1513840" cy="3423920"/>
          </a:xfrm>
          <a:prstGeom prst="straightConnector1">
            <a:avLst/>
          </a:prstGeom>
          <a:ln w="57150">
            <a:solidFill>
              <a:srgbClr val="FF0066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6990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74320" y="914400"/>
            <a:ext cx="9144000" cy="5943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zh-TW" sz="4300" dirty="0">
                <a:solidFill>
                  <a:schemeClr val="bg1"/>
                </a:solidFill>
              </a:rPr>
              <a:t>But, if the asterisked-variable wasn’t at </a:t>
            </a:r>
            <a:r>
              <a:rPr lang="en-US" altLang="zh-TW" sz="4300" dirty="0"/>
              <a:t>the </a:t>
            </a:r>
            <a:r>
              <a:rPr lang="en-US" altLang="zh-TW" sz="4300" dirty="0" smtClean="0"/>
              <a:t>end </a:t>
            </a:r>
            <a:r>
              <a:rPr lang="en-US" altLang="zh-TW" sz="4300" dirty="0"/>
              <a:t>then </a:t>
            </a:r>
            <a:r>
              <a:rPr lang="en-US" altLang="zh-TW" sz="4300" dirty="0">
                <a:solidFill>
                  <a:srgbClr val="0000FF"/>
                </a:solidFill>
              </a:rPr>
              <a:t>this call </a:t>
            </a:r>
            <a:r>
              <a:rPr lang="en-US" altLang="zh-TW" sz="4300" dirty="0"/>
              <a:t>is </a:t>
            </a:r>
            <a:r>
              <a:rPr lang="en-US" altLang="zh-TW" sz="4300" dirty="0">
                <a:solidFill>
                  <a:srgbClr val="FF0000"/>
                </a:solidFill>
              </a:rPr>
              <a:t>an error</a:t>
            </a:r>
            <a:r>
              <a:rPr lang="en-US" altLang="zh-TW" sz="4300" dirty="0"/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f(a,</a:t>
            </a:r>
            <a:r>
              <a:rPr lang="en-US" altLang="zh-TW" sz="300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altLang="zh-TW" sz="300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b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altLang="zh-TW" sz="3000" b="1" dirty="0" err="1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f(1,2,3)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spc="-1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r>
              <a:rPr lang="en-US" altLang="zh-TW" sz="3500" spc="-5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yp</a:t>
            </a:r>
            <a:r>
              <a:rPr lang="en-US" altLang="zh-TW" sz="3500" spc="-1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eE</a:t>
            </a:r>
            <a:r>
              <a:rPr lang="en-US" altLang="zh-TW" sz="35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6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1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f()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missing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1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require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3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500" spc="-2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500" spc="-13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w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ord-only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28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r>
              <a:rPr lang="en-US" altLang="zh-TW" sz="3500" b="1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c</a:t>
            </a: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 smtClean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 smtClean="0">
                <a:solidFill>
                  <a:srgbClr val="B7B7FF"/>
                </a:solidFill>
                <a:latin typeface="Lucida Console" panose="020B0609040504020204" pitchFamily="49" charset="0"/>
                <a:cs typeface="Courier New" pitchFamily="49" charset="0"/>
              </a:rPr>
              <a:t>f(1,2,c=3)</a:t>
            </a:r>
            <a:r>
              <a:rPr lang="en-US" altLang="zh-TW" sz="30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#Le</a:t>
            </a:r>
            <a:r>
              <a:rPr lang="en-US" altLang="zh-TW" sz="3000" spc="-5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t'</a:t>
            </a:r>
            <a:r>
              <a:rPr lang="en-US" altLang="zh-TW" sz="30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s</a:t>
            </a:r>
            <a:r>
              <a:rPr lang="en-US" altLang="zh-TW" sz="28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give</a:t>
            </a:r>
            <a:r>
              <a:rPr lang="en-US" altLang="zh-TW" sz="28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it</a:t>
            </a:r>
            <a:r>
              <a:rPr lang="en-US" altLang="zh-TW" sz="28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what</a:t>
            </a:r>
            <a:r>
              <a:rPr lang="en-US" altLang="zh-TW" sz="28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it</a:t>
            </a:r>
            <a:r>
              <a:rPr lang="en-US" altLang="zh-TW" sz="28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wants</a:t>
            </a:r>
            <a:endParaRPr lang="en-US" altLang="zh-TW" sz="3000" spc="-16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 smtClean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###########Yep, it worked.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 smtClean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B7B7FF"/>
                </a:solidFill>
                <a:latin typeface="Lucida Console" panose="020B0609040504020204" pitchFamily="49" charset="0"/>
                <a:cs typeface="Courier New" pitchFamily="49" charset="0"/>
              </a:rPr>
              <a:t>f(1,c=3</a:t>
            </a:r>
            <a:r>
              <a:rPr lang="en-US" altLang="zh-TW" sz="3000" dirty="0" smtClean="0">
                <a:solidFill>
                  <a:srgbClr val="B7B7FF"/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  <a:r>
              <a:rPr lang="en-US" altLang="zh-TW" sz="30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#</a:t>
            </a:r>
            <a:r>
              <a:rPr lang="en-US" altLang="zh-TW" sz="30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b is optional, so this works</a:t>
            </a:r>
            <a:endParaRPr lang="en-US" altLang="zh-TW" sz="3000" spc="-16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 smtClean="0">
                <a:solidFill>
                  <a:schemeClr val="bg1"/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smtClean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f(1,</a:t>
            </a:r>
            <a:r>
              <a:rPr lang="en-US" altLang="zh-TW" sz="3000" dirty="0" smtClean="0">
                <a:solidFill>
                  <a:srgbClr val="FF0066"/>
                </a:solidFill>
                <a:latin typeface="Lucida Console" panose="020B0609040504020204" pitchFamily="49" charset="0"/>
                <a:cs typeface="Courier New" pitchFamily="49" charset="0"/>
              </a:rPr>
              <a:t>3</a:t>
            </a:r>
            <a:r>
              <a:rPr lang="en-US" altLang="zh-TW" sz="3000" dirty="0" smtClean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  <a:r>
              <a:rPr lang="en-US" altLang="zh-TW" sz="3000" dirty="0" smtClean="0">
                <a:latin typeface="Lucida Console" panose="020B0609040504020204" pitchFamily="49" charset="0"/>
                <a:cs typeface="Courier New" pitchFamily="49" charset="0"/>
              </a:rPr>
              <a:t>#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Wo</a:t>
            </a:r>
            <a:r>
              <a:rPr lang="en-US" altLang="zh-TW" sz="3000" spc="-500" dirty="0" smtClean="0">
                <a:latin typeface="Lucida Console" panose="020B0609040504020204" pitchFamily="49" charset="0"/>
                <a:cs typeface="Courier New" pitchFamily="49" charset="0"/>
              </a:rPr>
              <a:t>n'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t</a:t>
            </a:r>
            <a:r>
              <a:rPr lang="en-US" altLang="zh-TW" sz="2400" spc="-160" dirty="0" smtClean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assume</a:t>
            </a:r>
            <a:r>
              <a:rPr lang="en-US" altLang="zh-TW" sz="2400" spc="-160" dirty="0" smtClean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210" dirty="0" smtClean="0">
                <a:latin typeface="Lucida Console" panose="020B0609040504020204" pitchFamily="49" charset="0"/>
                <a:cs typeface="Courier New" pitchFamily="49" charset="0"/>
              </a:rPr>
              <a:t>i</a:t>
            </a:r>
            <a:r>
              <a:rPr lang="en-US" altLang="zh-TW" sz="3000" spc="-500" dirty="0" smtClean="0">
                <a:latin typeface="Lucida Console" panose="020B0609040504020204" pitchFamily="49" charset="0"/>
                <a:cs typeface="Courier New" pitchFamily="49" charset="0"/>
              </a:rPr>
              <a:t>t'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s</a:t>
            </a:r>
            <a:r>
              <a:rPr lang="en-US" altLang="zh-TW" sz="2400" spc="-160" dirty="0" smtClean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450" dirty="0" smtClean="0">
                <a:latin typeface="Lucida Console" panose="020B0609040504020204" pitchFamily="49" charset="0"/>
                <a:cs typeface="Courier New" pitchFamily="49" charset="0"/>
              </a:rPr>
              <a:t>c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.</a:t>
            </a:r>
            <a:r>
              <a:rPr lang="en-US" altLang="zh-TW" sz="2400" spc="-160" dirty="0" smtClean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260" dirty="0" smtClean="0">
                <a:latin typeface="Lucida Console" panose="020B0609040504020204" pitchFamily="49" charset="0"/>
                <a:cs typeface="Courier New" pitchFamily="49" charset="0"/>
              </a:rPr>
              <a:t>K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eyw</a:t>
            </a:r>
            <a:r>
              <a:rPr lang="en-US" altLang="zh-TW" sz="3000" spc="-350" dirty="0" smtClean="0">
                <a:latin typeface="Lucida Console" panose="020B0609040504020204" pitchFamily="49" charset="0"/>
                <a:cs typeface="Courier New" pitchFamily="49" charset="0"/>
              </a:rPr>
              <a:t>o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rd-O</a:t>
            </a:r>
            <a:r>
              <a:rPr lang="en-US" altLang="zh-TW" sz="3000" spc="-400" dirty="0" smtClean="0">
                <a:latin typeface="Lucida Console" panose="020B0609040504020204" pitchFamily="49" charset="0"/>
                <a:cs typeface="Courier New" pitchFamily="49" charset="0"/>
              </a:rPr>
              <a:t>nl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y</a:t>
            </a:r>
            <a:endParaRPr lang="en-US" altLang="zh-TW" sz="3000" spc="-160" dirty="0"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0" indent="0">
              <a:lnSpc>
                <a:spcPct val="75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lvl="0" indent="0">
              <a:lnSpc>
                <a:spcPct val="75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</a:t>
            </a:r>
            <a:endParaRPr lang="en-US" altLang="zh-TW" sz="3500" dirty="0">
              <a:solidFill>
                <a:srgbClr val="FF0000"/>
              </a:solidFill>
              <a:latin typeface="Arial Narrow" panose="020B0606020202030204" pitchFamily="34" charset="0"/>
              <a:cs typeface="Courier New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0070C0"/>
                </a:solidFill>
              </a:rPr>
              <a:t>Asterisked </a:t>
            </a:r>
            <a:r>
              <a:rPr lang="en-US" altLang="zh-TW" dirty="0">
                <a:solidFill>
                  <a:srgbClr val="0070C0"/>
                </a:solidFill>
              </a:rPr>
              <a:t>Variable Goes </a:t>
            </a:r>
            <a:r>
              <a:rPr lang="en-US" altLang="zh-TW" dirty="0" smtClean="0">
                <a:solidFill>
                  <a:srgbClr val="0070C0"/>
                </a:solidFill>
              </a:rPr>
              <a:t>at </a:t>
            </a:r>
            <a:r>
              <a:rPr lang="en-US" altLang="zh-TW" dirty="0">
                <a:solidFill>
                  <a:srgbClr val="0070C0"/>
                </a:solidFill>
              </a:rPr>
              <a:t>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87166" y="1025528"/>
            <a:ext cx="9357043" cy="1077667"/>
          </a:xfrm>
          <a:prstGeom prst="rect">
            <a:avLst/>
          </a:prstGeom>
          <a:solidFill>
            <a:srgbClr val="FFFF00"/>
          </a:solidFill>
          <a:ln>
            <a:solidFill>
              <a:srgbClr val="FD3E3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5288" indent="-168275">
              <a:buClr>
                <a:srgbClr val="FFFF00"/>
              </a:buClr>
            </a:pPr>
            <a:r>
              <a:rPr lang="en-US" sz="3600" dirty="0">
                <a:solidFill>
                  <a:srgbClr val="FD3E31"/>
                </a:solidFill>
              </a:rPr>
              <a:t>When you use keyword arguments, the caller identifies the arguments by parameter name.</a:t>
            </a:r>
          </a:p>
        </p:txBody>
      </p:sp>
      <p:sp>
        <p:nvSpPr>
          <p:cNvPr id="2" name="Rectangle 1"/>
          <p:cNvSpPr/>
          <p:nvPr/>
        </p:nvSpPr>
        <p:spPr>
          <a:xfrm>
            <a:off x="281602" y="4635355"/>
            <a:ext cx="881973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</a:pPr>
            <a:r>
              <a:rPr lang="en-US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</a:pPr>
            <a:r>
              <a:rPr lang="en-US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  <a:p>
            <a:pPr>
              <a:lnSpc>
                <a:spcPct val="90000"/>
              </a:lnSpc>
            </a:pPr>
            <a:r>
              <a:rPr lang="en-US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2377440" y="2489200"/>
            <a:ext cx="1513840" cy="3423920"/>
          </a:xfrm>
          <a:prstGeom prst="straightConnector1">
            <a:avLst/>
          </a:prstGeom>
          <a:ln w="57150">
            <a:solidFill>
              <a:srgbClr val="FF0066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4398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74320" y="1026160"/>
            <a:ext cx="9144000" cy="57302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zh-TW" sz="4300" dirty="0" smtClean="0"/>
              <a:t>the end </a:t>
            </a:r>
            <a:r>
              <a:rPr lang="en-US" altLang="zh-TW" sz="4300" dirty="0"/>
              <a:t>then </a:t>
            </a:r>
            <a:r>
              <a:rPr lang="en-US" altLang="zh-TW" sz="4300" dirty="0">
                <a:solidFill>
                  <a:srgbClr val="0000FF"/>
                </a:solidFill>
              </a:rPr>
              <a:t>this call </a:t>
            </a:r>
            <a:r>
              <a:rPr lang="en-US" altLang="zh-TW" sz="4300" dirty="0"/>
              <a:t>is </a:t>
            </a:r>
            <a:r>
              <a:rPr lang="en-US" altLang="zh-TW" sz="4300" dirty="0">
                <a:solidFill>
                  <a:srgbClr val="FF0000"/>
                </a:solidFill>
              </a:rPr>
              <a:t>an error</a:t>
            </a:r>
            <a:r>
              <a:rPr lang="en-US" altLang="zh-TW" sz="4300" dirty="0"/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f(a,</a:t>
            </a:r>
            <a:r>
              <a:rPr lang="en-US" altLang="zh-TW" sz="300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altLang="zh-TW" sz="300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b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altLang="zh-TW" sz="3000" b="1" dirty="0" err="1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f(1,2,3)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spc="-1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r>
              <a:rPr lang="en-US" altLang="zh-TW" sz="3500" spc="-5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yp</a:t>
            </a:r>
            <a:r>
              <a:rPr lang="en-US" altLang="zh-TW" sz="3500" spc="-1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eE</a:t>
            </a:r>
            <a:r>
              <a:rPr lang="en-US" altLang="zh-TW" sz="35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6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1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f()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missing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1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require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3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500" spc="-2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500" spc="-13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w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ord-only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28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r>
              <a:rPr lang="en-US" altLang="zh-TW" sz="3500" b="1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c</a:t>
            </a: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 smtClean="0">
                <a:solidFill>
                  <a:srgbClr val="B7B7FF"/>
                </a:solidFill>
                <a:latin typeface="Lucida Console" panose="020B0609040504020204" pitchFamily="49" charset="0"/>
                <a:cs typeface="Courier New" pitchFamily="49" charset="0"/>
              </a:rPr>
              <a:t>f(1,2,c=3)</a:t>
            </a:r>
            <a:r>
              <a:rPr lang="en-US" altLang="zh-TW" sz="30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#Le</a:t>
            </a:r>
            <a:r>
              <a:rPr lang="en-US" altLang="zh-TW" sz="3000" spc="-5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t'</a:t>
            </a:r>
            <a:r>
              <a:rPr lang="en-US" altLang="zh-TW" sz="30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s</a:t>
            </a:r>
            <a:r>
              <a:rPr lang="en-US" altLang="zh-TW" sz="28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give</a:t>
            </a:r>
            <a:r>
              <a:rPr lang="en-US" altLang="zh-TW" sz="28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it</a:t>
            </a:r>
            <a:r>
              <a:rPr lang="en-US" altLang="zh-TW" sz="28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what</a:t>
            </a:r>
            <a:r>
              <a:rPr lang="en-US" altLang="zh-TW" sz="28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it</a:t>
            </a:r>
            <a:r>
              <a:rPr lang="en-US" altLang="zh-TW" sz="28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wants</a:t>
            </a:r>
            <a:endParaRPr lang="en-US" altLang="zh-TW" sz="3000" spc="-16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###########Yep, it worked.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B7B7FF"/>
                </a:solidFill>
                <a:latin typeface="Lucida Console" panose="020B0609040504020204" pitchFamily="49" charset="0"/>
                <a:cs typeface="Courier New" pitchFamily="49" charset="0"/>
              </a:rPr>
              <a:t>f(1,c=3</a:t>
            </a:r>
            <a:r>
              <a:rPr lang="en-US" altLang="zh-TW" sz="3000" dirty="0" smtClean="0">
                <a:solidFill>
                  <a:srgbClr val="B7B7FF"/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  <a:r>
              <a:rPr lang="en-US" altLang="zh-TW" sz="30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#</a:t>
            </a:r>
            <a:r>
              <a:rPr lang="en-US" altLang="zh-TW" sz="30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b is optional, so this works</a:t>
            </a:r>
            <a:endParaRPr lang="en-US" altLang="zh-TW" sz="3000" spc="-16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smtClean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f(1,</a:t>
            </a:r>
            <a:r>
              <a:rPr lang="en-US" altLang="zh-TW" sz="3000" dirty="0" smtClean="0">
                <a:solidFill>
                  <a:srgbClr val="FF0066"/>
                </a:solidFill>
                <a:latin typeface="Lucida Console" panose="020B0609040504020204" pitchFamily="49" charset="0"/>
                <a:cs typeface="Courier New" pitchFamily="49" charset="0"/>
              </a:rPr>
              <a:t>3</a:t>
            </a:r>
            <a:r>
              <a:rPr lang="en-US" altLang="zh-TW" sz="3000" dirty="0" smtClean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  <a:r>
              <a:rPr lang="en-US" altLang="zh-TW" sz="3000" dirty="0" smtClean="0">
                <a:latin typeface="Lucida Console" panose="020B0609040504020204" pitchFamily="49" charset="0"/>
                <a:cs typeface="Courier New" pitchFamily="49" charset="0"/>
              </a:rPr>
              <a:t>#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Wo</a:t>
            </a:r>
            <a:r>
              <a:rPr lang="en-US" altLang="zh-TW" sz="3000" spc="-500" dirty="0" smtClean="0">
                <a:latin typeface="Lucida Console" panose="020B0609040504020204" pitchFamily="49" charset="0"/>
                <a:cs typeface="Courier New" pitchFamily="49" charset="0"/>
              </a:rPr>
              <a:t>n'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t</a:t>
            </a:r>
            <a:r>
              <a:rPr lang="en-US" altLang="zh-TW" sz="2400" spc="-160" dirty="0" smtClean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assume</a:t>
            </a:r>
            <a:r>
              <a:rPr lang="en-US" altLang="zh-TW" sz="2400" spc="-160" dirty="0" smtClean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210" dirty="0" smtClean="0">
                <a:latin typeface="Lucida Console" panose="020B0609040504020204" pitchFamily="49" charset="0"/>
                <a:cs typeface="Courier New" pitchFamily="49" charset="0"/>
              </a:rPr>
              <a:t>i</a:t>
            </a:r>
            <a:r>
              <a:rPr lang="en-US" altLang="zh-TW" sz="3000" spc="-500" dirty="0" smtClean="0">
                <a:latin typeface="Lucida Console" panose="020B0609040504020204" pitchFamily="49" charset="0"/>
                <a:cs typeface="Courier New" pitchFamily="49" charset="0"/>
              </a:rPr>
              <a:t>t'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s</a:t>
            </a:r>
            <a:r>
              <a:rPr lang="en-US" altLang="zh-TW" sz="2400" spc="-160" dirty="0" smtClean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450" dirty="0" smtClean="0">
                <a:latin typeface="Lucida Console" panose="020B0609040504020204" pitchFamily="49" charset="0"/>
                <a:cs typeface="Courier New" pitchFamily="49" charset="0"/>
              </a:rPr>
              <a:t>c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.</a:t>
            </a:r>
            <a:r>
              <a:rPr lang="en-US" altLang="zh-TW" sz="2400" spc="-160" dirty="0" smtClean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260" dirty="0" smtClean="0">
                <a:latin typeface="Lucida Console" panose="020B0609040504020204" pitchFamily="49" charset="0"/>
                <a:cs typeface="Courier New" pitchFamily="49" charset="0"/>
              </a:rPr>
              <a:t>K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eyw</a:t>
            </a:r>
            <a:r>
              <a:rPr lang="en-US" altLang="zh-TW" sz="3000" spc="-350" dirty="0" smtClean="0">
                <a:latin typeface="Lucida Console" panose="020B0609040504020204" pitchFamily="49" charset="0"/>
                <a:cs typeface="Courier New" pitchFamily="49" charset="0"/>
              </a:rPr>
              <a:t>o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rd-O</a:t>
            </a:r>
            <a:r>
              <a:rPr lang="en-US" altLang="zh-TW" sz="3000" spc="-400" dirty="0" smtClean="0">
                <a:latin typeface="Lucida Console" panose="020B0609040504020204" pitchFamily="49" charset="0"/>
                <a:cs typeface="Courier New" pitchFamily="49" charset="0"/>
              </a:rPr>
              <a:t>nl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y</a:t>
            </a:r>
            <a:endParaRPr lang="en-US" altLang="zh-TW" sz="3000" spc="-160" dirty="0"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0" indent="0">
              <a:lnSpc>
                <a:spcPct val="75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lvl="0" indent="0">
              <a:lnSpc>
                <a:spcPct val="75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</a:t>
            </a: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</a:t>
            </a:r>
            <a:endParaRPr lang="en-US" altLang="zh-TW" sz="3500" dirty="0">
              <a:solidFill>
                <a:srgbClr val="FFCCCC"/>
              </a:solidFill>
              <a:latin typeface="Arial Narrow" panose="020B0606020202030204" pitchFamily="34" charset="0"/>
              <a:cs typeface="Courier New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0070C0"/>
                </a:solidFill>
              </a:rPr>
              <a:t>Asterisked </a:t>
            </a:r>
            <a:r>
              <a:rPr lang="en-US" altLang="zh-TW" dirty="0">
                <a:solidFill>
                  <a:srgbClr val="0070C0"/>
                </a:solidFill>
              </a:rPr>
              <a:t>Variable Goes </a:t>
            </a:r>
            <a:r>
              <a:rPr lang="en-US" altLang="zh-TW" dirty="0" smtClean="0">
                <a:solidFill>
                  <a:srgbClr val="0070C0"/>
                </a:solidFill>
              </a:rPr>
              <a:t>at </a:t>
            </a:r>
            <a:r>
              <a:rPr lang="en-US" altLang="zh-TW" dirty="0">
                <a:solidFill>
                  <a:srgbClr val="0070C0"/>
                </a:solidFill>
              </a:rPr>
              <a:t>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87166" y="588648"/>
            <a:ext cx="9357043" cy="1077667"/>
          </a:xfrm>
          <a:prstGeom prst="rect">
            <a:avLst/>
          </a:prstGeom>
          <a:solidFill>
            <a:srgbClr val="FFFF00"/>
          </a:solidFill>
          <a:ln>
            <a:solidFill>
              <a:srgbClr val="FD3E3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5288" indent="-168275">
              <a:buClr>
                <a:srgbClr val="FFFF00"/>
              </a:buClr>
            </a:pPr>
            <a:r>
              <a:rPr lang="en-US" sz="3600" dirty="0">
                <a:solidFill>
                  <a:srgbClr val="FD3E31"/>
                </a:solidFill>
              </a:rPr>
              <a:t>When you use keyword arguments, the caller identifies the arguments by parameter name.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2377440" y="2082800"/>
            <a:ext cx="1513840" cy="3423920"/>
          </a:xfrm>
          <a:prstGeom prst="straightConnector1">
            <a:avLst/>
          </a:prstGeom>
          <a:ln w="57150">
            <a:solidFill>
              <a:srgbClr val="FF0066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6653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74320" y="1026160"/>
            <a:ext cx="9144000" cy="57302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endParaRPr lang="en-US" altLang="zh-TW" sz="180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 smtClean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f(a,</a:t>
            </a:r>
            <a:r>
              <a:rPr lang="en-US" altLang="zh-TW" sz="300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altLang="zh-TW" sz="300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b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altLang="zh-TW" sz="3000" b="1" dirty="0" err="1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f(1,2,3)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spc="-1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r>
              <a:rPr lang="en-US" altLang="zh-TW" sz="3500" spc="-5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yp</a:t>
            </a:r>
            <a:r>
              <a:rPr lang="en-US" altLang="zh-TW" sz="3500" spc="-1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eE</a:t>
            </a:r>
            <a:r>
              <a:rPr lang="en-US" altLang="zh-TW" sz="35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6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1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f()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missing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1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require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3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500" spc="-2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500" spc="-13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w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ord-only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28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r>
              <a:rPr lang="en-US" altLang="zh-TW" sz="3500" b="1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c</a:t>
            </a: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 smtClean="0">
                <a:solidFill>
                  <a:srgbClr val="B7B7FF"/>
                </a:solidFill>
                <a:latin typeface="Lucida Console" panose="020B0609040504020204" pitchFamily="49" charset="0"/>
                <a:cs typeface="Courier New" pitchFamily="49" charset="0"/>
              </a:rPr>
              <a:t>f(1,2,c=3)</a:t>
            </a:r>
            <a:r>
              <a:rPr lang="en-US" altLang="zh-TW" sz="30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#Le</a:t>
            </a:r>
            <a:r>
              <a:rPr lang="en-US" altLang="zh-TW" sz="3000" spc="-5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t'</a:t>
            </a:r>
            <a:r>
              <a:rPr lang="en-US" altLang="zh-TW" sz="30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s</a:t>
            </a:r>
            <a:r>
              <a:rPr lang="en-US" altLang="zh-TW" sz="28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give</a:t>
            </a:r>
            <a:r>
              <a:rPr lang="en-US" altLang="zh-TW" sz="28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it</a:t>
            </a:r>
            <a:r>
              <a:rPr lang="en-US" altLang="zh-TW" sz="28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what</a:t>
            </a:r>
            <a:r>
              <a:rPr lang="en-US" altLang="zh-TW" sz="28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it</a:t>
            </a:r>
            <a:r>
              <a:rPr lang="en-US" altLang="zh-TW" sz="28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wants</a:t>
            </a:r>
            <a:endParaRPr lang="en-US" altLang="zh-TW" sz="3000" spc="-16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###########Yep, it worked.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B7B7FF"/>
                </a:solidFill>
                <a:latin typeface="Lucida Console" panose="020B0609040504020204" pitchFamily="49" charset="0"/>
                <a:cs typeface="Courier New" pitchFamily="49" charset="0"/>
              </a:rPr>
              <a:t>f(1,c=3</a:t>
            </a:r>
            <a:r>
              <a:rPr lang="en-US" altLang="zh-TW" sz="3000" dirty="0" smtClean="0">
                <a:solidFill>
                  <a:srgbClr val="B7B7FF"/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  <a:r>
              <a:rPr lang="en-US" altLang="zh-TW" sz="30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#</a:t>
            </a:r>
            <a:r>
              <a:rPr lang="en-US" altLang="zh-TW" sz="3000" spc="-16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b is optional, so this works</a:t>
            </a:r>
            <a:endParaRPr lang="en-US" altLang="zh-TW" sz="3000" spc="-16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smtClean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f(1,</a:t>
            </a:r>
            <a:r>
              <a:rPr lang="en-US" altLang="zh-TW" sz="3000" dirty="0" smtClean="0">
                <a:solidFill>
                  <a:srgbClr val="FF0066"/>
                </a:solidFill>
                <a:latin typeface="Lucida Console" panose="020B0609040504020204" pitchFamily="49" charset="0"/>
                <a:cs typeface="Courier New" pitchFamily="49" charset="0"/>
              </a:rPr>
              <a:t>3</a:t>
            </a:r>
            <a:r>
              <a:rPr lang="en-US" altLang="zh-TW" sz="3000" dirty="0" smtClean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  <a:r>
              <a:rPr lang="en-US" altLang="zh-TW" sz="3000" dirty="0" smtClean="0">
                <a:latin typeface="Lucida Console" panose="020B0609040504020204" pitchFamily="49" charset="0"/>
                <a:cs typeface="Courier New" pitchFamily="49" charset="0"/>
              </a:rPr>
              <a:t>#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Wo</a:t>
            </a:r>
            <a:r>
              <a:rPr lang="en-US" altLang="zh-TW" sz="3000" spc="-500" dirty="0" smtClean="0">
                <a:latin typeface="Lucida Console" panose="020B0609040504020204" pitchFamily="49" charset="0"/>
                <a:cs typeface="Courier New" pitchFamily="49" charset="0"/>
              </a:rPr>
              <a:t>n'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t</a:t>
            </a:r>
            <a:r>
              <a:rPr lang="en-US" altLang="zh-TW" sz="2400" spc="-160" dirty="0" smtClean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assume</a:t>
            </a:r>
            <a:r>
              <a:rPr lang="en-US" altLang="zh-TW" sz="2400" spc="-160" dirty="0" smtClean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210" dirty="0" smtClean="0">
                <a:latin typeface="Lucida Console" panose="020B0609040504020204" pitchFamily="49" charset="0"/>
                <a:cs typeface="Courier New" pitchFamily="49" charset="0"/>
              </a:rPr>
              <a:t>i</a:t>
            </a:r>
            <a:r>
              <a:rPr lang="en-US" altLang="zh-TW" sz="3000" spc="-500" dirty="0" smtClean="0">
                <a:latin typeface="Lucida Console" panose="020B0609040504020204" pitchFamily="49" charset="0"/>
                <a:cs typeface="Courier New" pitchFamily="49" charset="0"/>
              </a:rPr>
              <a:t>t'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s</a:t>
            </a:r>
            <a:r>
              <a:rPr lang="en-US" altLang="zh-TW" sz="2400" spc="-160" dirty="0" smtClean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450" dirty="0" smtClean="0">
                <a:latin typeface="Lucida Console" panose="020B0609040504020204" pitchFamily="49" charset="0"/>
                <a:cs typeface="Courier New" pitchFamily="49" charset="0"/>
              </a:rPr>
              <a:t>c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.</a:t>
            </a:r>
            <a:r>
              <a:rPr lang="en-US" altLang="zh-TW" sz="2400" spc="-160" dirty="0" smtClean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spc="-260" dirty="0" smtClean="0">
                <a:latin typeface="Lucida Console" panose="020B0609040504020204" pitchFamily="49" charset="0"/>
                <a:cs typeface="Courier New" pitchFamily="49" charset="0"/>
              </a:rPr>
              <a:t>K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eyw</a:t>
            </a:r>
            <a:r>
              <a:rPr lang="en-US" altLang="zh-TW" sz="3000" spc="-350" dirty="0" smtClean="0">
                <a:latin typeface="Lucida Console" panose="020B0609040504020204" pitchFamily="49" charset="0"/>
                <a:cs typeface="Courier New" pitchFamily="49" charset="0"/>
              </a:rPr>
              <a:t>o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rd-O</a:t>
            </a:r>
            <a:r>
              <a:rPr lang="en-US" altLang="zh-TW" sz="3000" spc="-400" dirty="0" smtClean="0">
                <a:latin typeface="Lucida Console" panose="020B0609040504020204" pitchFamily="49" charset="0"/>
                <a:cs typeface="Courier New" pitchFamily="49" charset="0"/>
              </a:rPr>
              <a:t>nl</a:t>
            </a:r>
            <a:r>
              <a:rPr lang="en-US" altLang="zh-TW" sz="3000" spc="-160" dirty="0" smtClean="0">
                <a:latin typeface="Lucida Console" panose="020B0609040504020204" pitchFamily="49" charset="0"/>
                <a:cs typeface="Courier New" pitchFamily="49" charset="0"/>
              </a:rPr>
              <a:t>y</a:t>
            </a:r>
            <a:endParaRPr lang="en-US" altLang="zh-TW" sz="3000" spc="-160" dirty="0">
              <a:latin typeface="Lucida Console" panose="020B0609040504020204" pitchFamily="49" charset="0"/>
              <a:cs typeface="Courier New" pitchFamily="49" charset="0"/>
            </a:endParaRPr>
          </a:p>
          <a:p>
            <a:pPr marL="0" lvl="0" indent="0">
              <a:lnSpc>
                <a:spcPct val="75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lvl="0" indent="0">
              <a:lnSpc>
                <a:spcPct val="75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  <a:p>
            <a:pPr marL="0" lvl="0" indent="0">
              <a:lnSpc>
                <a:spcPct val="75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spc="-1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r>
              <a:rPr lang="en-US" altLang="zh-TW" sz="3500" spc="-5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yp</a:t>
            </a:r>
            <a:r>
              <a:rPr lang="en-US" altLang="zh-TW" sz="3500" spc="-1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eE</a:t>
            </a:r>
            <a:r>
              <a:rPr lang="en-US" altLang="zh-TW" sz="35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6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1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or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f()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missing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1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require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3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500" spc="-2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500" spc="-13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w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ord-only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28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r>
              <a:rPr lang="en-US" altLang="zh-TW" sz="3500" b="1" dirty="0">
                <a:solidFill>
                  <a:srgbClr val="0000FF"/>
                </a:solidFill>
                <a:latin typeface="Arial Narrow" panose="020B0606020202030204" pitchFamily="34" charset="0"/>
                <a:cs typeface="Courier New" pitchFamily="49" charset="0"/>
              </a:rPr>
              <a:t>c</a:t>
            </a:r>
            <a:r>
              <a:rPr lang="en-US" altLang="zh-TW" sz="35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endParaRPr lang="en-US" altLang="zh-TW" sz="3500" dirty="0">
              <a:solidFill>
                <a:srgbClr val="FF0000"/>
              </a:solidFill>
              <a:latin typeface="Arial Narrow" panose="020B0606020202030204" pitchFamily="34" charset="0"/>
              <a:cs typeface="Courier New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0070C0"/>
                </a:solidFill>
              </a:rPr>
              <a:t>Asterisked </a:t>
            </a:r>
            <a:r>
              <a:rPr lang="en-US" altLang="zh-TW" dirty="0">
                <a:solidFill>
                  <a:srgbClr val="0070C0"/>
                </a:solidFill>
              </a:rPr>
              <a:t>Variable Goes </a:t>
            </a:r>
            <a:r>
              <a:rPr lang="en-US" altLang="zh-TW" dirty="0" smtClean="0">
                <a:solidFill>
                  <a:srgbClr val="0070C0"/>
                </a:solidFill>
              </a:rPr>
              <a:t>at </a:t>
            </a:r>
            <a:r>
              <a:rPr lang="en-US" altLang="zh-TW" dirty="0">
                <a:solidFill>
                  <a:srgbClr val="0070C0"/>
                </a:solidFill>
              </a:rPr>
              <a:t>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87166" y="141608"/>
            <a:ext cx="9357043" cy="1077667"/>
          </a:xfrm>
          <a:prstGeom prst="rect">
            <a:avLst/>
          </a:prstGeom>
          <a:solidFill>
            <a:srgbClr val="FFFF00"/>
          </a:solidFill>
          <a:ln>
            <a:solidFill>
              <a:srgbClr val="FD3E3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5288" indent="-168275">
              <a:buClr>
                <a:srgbClr val="FFFF00"/>
              </a:buClr>
            </a:pPr>
            <a:r>
              <a:rPr lang="en-US" sz="3600" dirty="0">
                <a:solidFill>
                  <a:srgbClr val="FD3E31"/>
                </a:solidFill>
              </a:rPr>
              <a:t>When you use keyword arguments, the caller identifies the arguments by parameter name.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2377440" y="1676400"/>
            <a:ext cx="1513840" cy="3423920"/>
          </a:xfrm>
          <a:prstGeom prst="straightConnector1">
            <a:avLst/>
          </a:prstGeom>
          <a:ln w="57150">
            <a:solidFill>
              <a:srgbClr val="FF0066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 txBox="1">
            <a:spLocks/>
          </p:cNvSpPr>
          <p:nvPr/>
        </p:nvSpPr>
        <p:spPr>
          <a:xfrm>
            <a:off x="-438941" y="6"/>
            <a:ext cx="10607675" cy="135466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b="1" dirty="0"/>
              <a:t> </a:t>
            </a:r>
            <a:br>
              <a:rPr lang="en-US" altLang="zh-TW" b="1" dirty="0"/>
            </a:br>
            <a:r>
              <a:rPr lang="en-US" altLang="zh-TW" sz="3800" b="1" spc="-160" dirty="0">
                <a:solidFill>
                  <a:srgbClr val="FF0000"/>
                </a:solidFill>
                <a:latin typeface="Agency FB" panose="020B0503020202020204" pitchFamily="34" charset="0"/>
              </a:rPr>
              <a:t>(</a:t>
            </a:r>
            <a:r>
              <a:rPr lang="en-US" altLang="zh-TW" sz="3800" spc="-100" dirty="0">
                <a:solidFill>
                  <a:srgbClr val="FF0000"/>
                </a:solidFill>
              </a:rPr>
              <a:t>u</a:t>
            </a:r>
            <a:r>
              <a:rPr lang="en-US" altLang="zh-TW" sz="3800" spc="-140" dirty="0">
                <a:solidFill>
                  <a:srgbClr val="FF0000"/>
                </a:solidFill>
              </a:rPr>
              <a:t>nl</a:t>
            </a:r>
            <a:r>
              <a:rPr lang="en-US" altLang="zh-TW" sz="3800" spc="-100" dirty="0">
                <a:solidFill>
                  <a:srgbClr val="FF0000"/>
                </a:solidFill>
              </a:rPr>
              <a:t>ess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r</a:t>
            </a:r>
            <a:r>
              <a:rPr lang="en-US" altLang="zh-TW" sz="3800" spc="-150" dirty="0" smtClean="0">
                <a:solidFill>
                  <a:srgbClr val="FF0000"/>
                </a:solidFill>
              </a:rPr>
              <a:t>e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maining</a:t>
            </a:r>
            <a:r>
              <a:rPr lang="en-US" altLang="zh-TW" sz="3600" spc="-100" dirty="0" smtClean="0">
                <a:solidFill>
                  <a:srgbClr val="FF0000"/>
                </a:solidFill>
              </a:rPr>
              <a:t> 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para</a:t>
            </a:r>
            <a:r>
              <a:rPr lang="en-US" altLang="zh-TW" sz="3800" spc="-140" dirty="0" smtClean="0">
                <a:solidFill>
                  <a:srgbClr val="FF0000"/>
                </a:solidFill>
              </a:rPr>
              <a:t>m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et</a:t>
            </a:r>
            <a:r>
              <a:rPr lang="en-US" altLang="zh-TW" sz="3800" spc="-140" dirty="0" smtClean="0">
                <a:solidFill>
                  <a:srgbClr val="FF0000"/>
                </a:solidFill>
              </a:rPr>
              <a:t>e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rs</a:t>
            </a:r>
            <a:r>
              <a:rPr lang="en-US" altLang="zh-TW" sz="3600" spc="-100" dirty="0" smtClean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are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40" dirty="0">
                <a:solidFill>
                  <a:srgbClr val="FF0000"/>
                </a:solidFill>
              </a:rPr>
              <a:t>n</a:t>
            </a:r>
            <a:r>
              <a:rPr lang="en-US" altLang="zh-TW" sz="3800" spc="-100" dirty="0">
                <a:solidFill>
                  <a:srgbClr val="FF0000"/>
                </a:solidFill>
              </a:rPr>
              <a:t>a</a:t>
            </a:r>
            <a:r>
              <a:rPr lang="en-US" altLang="zh-TW" sz="3800" spc="-180" dirty="0">
                <a:solidFill>
                  <a:srgbClr val="FF0000"/>
                </a:solidFill>
              </a:rPr>
              <a:t>m</a:t>
            </a:r>
            <a:r>
              <a:rPr lang="en-US" altLang="zh-TW" sz="3800" spc="-40" dirty="0">
                <a:solidFill>
                  <a:srgbClr val="FF0000"/>
                </a:solidFill>
              </a:rPr>
              <a:t>e</a:t>
            </a:r>
            <a:r>
              <a:rPr lang="en-US" altLang="zh-TW" sz="3800" spc="-150" dirty="0">
                <a:solidFill>
                  <a:srgbClr val="FF0000"/>
                </a:solidFill>
              </a:rPr>
              <a:t>d</a:t>
            </a:r>
            <a:r>
              <a:rPr lang="en-US" altLang="zh-TW" sz="3800" b="1" spc="-100" dirty="0">
                <a:solidFill>
                  <a:srgbClr val="FF0000"/>
                </a:solidFill>
                <a:latin typeface="Agency FB" panose="020B0503020202020204" pitchFamily="34" charset="0"/>
              </a:rPr>
              <a:t>)</a:t>
            </a:r>
            <a:endParaRPr lang="zh-TW" altLang="en-US" sz="3800" b="1" spc="-100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122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56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74319" y="1026160"/>
            <a:ext cx="9227489" cy="57302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endParaRPr lang="en-US" altLang="zh-TW" sz="180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 smtClean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f(a,</a:t>
            </a:r>
            <a:r>
              <a:rPr lang="en-US" altLang="zh-TW" sz="300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altLang="zh-TW" sz="300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b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altLang="zh-TW" sz="3000" b="1" dirty="0" err="1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f(1,2,3)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spc="-1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r>
              <a:rPr lang="en-US" altLang="zh-TW" sz="3500" spc="-5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yp</a:t>
            </a:r>
            <a:r>
              <a:rPr lang="en-US" altLang="zh-TW" sz="3500" spc="-1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eE</a:t>
            </a:r>
            <a:r>
              <a:rPr lang="en-US" altLang="zh-TW" sz="35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6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1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f()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missing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1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require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3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500" spc="-2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500" spc="-13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w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ord-only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28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r>
              <a:rPr lang="en-US" altLang="zh-TW" sz="3500" b="1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c</a:t>
            </a: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 smtClean="0">
                <a:latin typeface="Lucida Console" panose="020B0609040504020204" pitchFamily="49" charset="0"/>
                <a:cs typeface="Courier New" pitchFamily="49" charset="0"/>
              </a:rPr>
              <a:t>f(1,2,</a:t>
            </a:r>
            <a:r>
              <a:rPr lang="en-US" altLang="zh-TW" sz="3000" dirty="0" smtClean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c=3</a:t>
            </a:r>
            <a:r>
              <a:rPr lang="en-US" altLang="zh-TW" sz="3000" dirty="0" smtClean="0">
                <a:latin typeface="Lucida Console" panose="020B0609040504020204" pitchFamily="49" charset="0"/>
                <a:cs typeface="Courier New" pitchFamily="49" charset="0"/>
              </a:rPr>
              <a:t>)</a:t>
            </a:r>
          </a:p>
          <a:p>
            <a:pPr marL="0" lv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altLang="zh-TW" sz="3500" dirty="0">
              <a:solidFill>
                <a:srgbClr val="FF0000"/>
              </a:solidFill>
              <a:latin typeface="Arial Narrow" panose="020B0606020202030204" pitchFamily="34" charset="0"/>
              <a:cs typeface="Courier New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0070C0"/>
                </a:solidFill>
              </a:rPr>
              <a:t>Asterisked </a:t>
            </a:r>
            <a:r>
              <a:rPr lang="en-US" altLang="zh-TW" dirty="0">
                <a:solidFill>
                  <a:srgbClr val="0070C0"/>
                </a:solidFill>
              </a:rPr>
              <a:t>Variable Goes </a:t>
            </a:r>
            <a:r>
              <a:rPr lang="en-US" altLang="zh-TW" dirty="0" smtClean="0">
                <a:solidFill>
                  <a:srgbClr val="0070C0"/>
                </a:solidFill>
              </a:rPr>
              <a:t>at </a:t>
            </a:r>
            <a:r>
              <a:rPr lang="en-US" altLang="zh-TW" dirty="0">
                <a:solidFill>
                  <a:srgbClr val="0070C0"/>
                </a:solidFill>
              </a:rPr>
              <a:t>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-438941" y="6"/>
            <a:ext cx="10607675" cy="135466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b="1" dirty="0"/>
              <a:t> </a:t>
            </a:r>
            <a:br>
              <a:rPr lang="en-US" altLang="zh-TW" b="1" dirty="0"/>
            </a:br>
            <a:r>
              <a:rPr lang="en-US" altLang="zh-TW" sz="3800" b="1" spc="-160" dirty="0">
                <a:solidFill>
                  <a:srgbClr val="FF0000"/>
                </a:solidFill>
                <a:latin typeface="Agency FB" panose="020B0503020202020204" pitchFamily="34" charset="0"/>
              </a:rPr>
              <a:t>(</a:t>
            </a:r>
            <a:r>
              <a:rPr lang="en-US" altLang="zh-TW" sz="3800" spc="-100" dirty="0">
                <a:solidFill>
                  <a:srgbClr val="FF0000"/>
                </a:solidFill>
              </a:rPr>
              <a:t>u</a:t>
            </a:r>
            <a:r>
              <a:rPr lang="en-US" altLang="zh-TW" sz="3800" spc="-140" dirty="0">
                <a:solidFill>
                  <a:srgbClr val="FF0000"/>
                </a:solidFill>
              </a:rPr>
              <a:t>nl</a:t>
            </a:r>
            <a:r>
              <a:rPr lang="en-US" altLang="zh-TW" sz="3800" spc="-100" dirty="0">
                <a:solidFill>
                  <a:srgbClr val="FF0000"/>
                </a:solidFill>
              </a:rPr>
              <a:t>ess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r</a:t>
            </a:r>
            <a:r>
              <a:rPr lang="en-US" altLang="zh-TW" sz="3800" spc="-150" dirty="0" smtClean="0">
                <a:solidFill>
                  <a:srgbClr val="FF0000"/>
                </a:solidFill>
              </a:rPr>
              <a:t>e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maining</a:t>
            </a:r>
            <a:r>
              <a:rPr lang="en-US" altLang="zh-TW" sz="3600" spc="-100" dirty="0" smtClean="0">
                <a:solidFill>
                  <a:srgbClr val="FF0000"/>
                </a:solidFill>
              </a:rPr>
              <a:t> 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para</a:t>
            </a:r>
            <a:r>
              <a:rPr lang="en-US" altLang="zh-TW" sz="3800" spc="-140" dirty="0" smtClean="0">
                <a:solidFill>
                  <a:srgbClr val="FF0000"/>
                </a:solidFill>
              </a:rPr>
              <a:t>m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et</a:t>
            </a:r>
            <a:r>
              <a:rPr lang="en-US" altLang="zh-TW" sz="3800" spc="-140" dirty="0" smtClean="0">
                <a:solidFill>
                  <a:srgbClr val="FF0000"/>
                </a:solidFill>
              </a:rPr>
              <a:t>e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rs</a:t>
            </a:r>
            <a:r>
              <a:rPr lang="en-US" altLang="zh-TW" sz="3600" spc="-100" dirty="0" smtClean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are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40" dirty="0">
                <a:solidFill>
                  <a:srgbClr val="FF0000"/>
                </a:solidFill>
              </a:rPr>
              <a:t>n</a:t>
            </a:r>
            <a:r>
              <a:rPr lang="en-US" altLang="zh-TW" sz="3800" spc="-100" dirty="0">
                <a:solidFill>
                  <a:srgbClr val="FF0000"/>
                </a:solidFill>
              </a:rPr>
              <a:t>a</a:t>
            </a:r>
            <a:r>
              <a:rPr lang="en-US" altLang="zh-TW" sz="3800" spc="-180" dirty="0">
                <a:solidFill>
                  <a:srgbClr val="FF0000"/>
                </a:solidFill>
              </a:rPr>
              <a:t>m</a:t>
            </a:r>
            <a:r>
              <a:rPr lang="en-US" altLang="zh-TW" sz="3800" spc="-40" dirty="0">
                <a:solidFill>
                  <a:srgbClr val="FF0000"/>
                </a:solidFill>
              </a:rPr>
              <a:t>e</a:t>
            </a:r>
            <a:r>
              <a:rPr lang="en-US" altLang="zh-TW" sz="3800" spc="-150" dirty="0">
                <a:solidFill>
                  <a:srgbClr val="FF0000"/>
                </a:solidFill>
              </a:rPr>
              <a:t>d</a:t>
            </a:r>
            <a:r>
              <a:rPr lang="en-US" altLang="zh-TW" sz="3800" b="1" spc="-100" dirty="0">
                <a:solidFill>
                  <a:srgbClr val="FF0000"/>
                </a:solidFill>
                <a:latin typeface="Agency FB" panose="020B0503020202020204" pitchFamily="34" charset="0"/>
              </a:rPr>
              <a:t>)</a:t>
            </a:r>
            <a:endParaRPr lang="zh-TW" altLang="en-US" sz="3800" b="1" spc="-100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sp>
        <p:nvSpPr>
          <p:cNvPr id="16" name="Rounded Rectangular Callout 15"/>
          <p:cNvSpPr/>
          <p:nvPr/>
        </p:nvSpPr>
        <p:spPr>
          <a:xfrm>
            <a:off x="4663440" y="2168983"/>
            <a:ext cx="4782312" cy="1441584"/>
          </a:xfrm>
          <a:prstGeom prst="wedgeRoundRectCallout">
            <a:avLst>
              <a:gd name="adj1" fmla="val -75106"/>
              <a:gd name="adj2" fmla="val 67746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>
            <a:noAutofit/>
          </a:bodyPr>
          <a:lstStyle/>
          <a:p>
            <a:pPr marL="0" lvl="1" algn="ctr">
              <a:lnSpc>
                <a:spcPct val="75000"/>
              </a:lnSpc>
            </a:pPr>
            <a:r>
              <a:rPr lang="en-US" sz="4000" dirty="0"/>
              <a:t>Any parameter that comes</a:t>
            </a:r>
            <a:r>
              <a:rPr lang="en-US" sz="2800" dirty="0"/>
              <a:t> </a:t>
            </a:r>
            <a:r>
              <a:rPr lang="en-US" sz="4000" dirty="0"/>
              <a:t>after</a:t>
            </a:r>
            <a:r>
              <a:rPr lang="en-US" sz="2800" dirty="0"/>
              <a:t> </a:t>
            </a:r>
            <a:r>
              <a:rPr lang="en-US" sz="4000" dirty="0"/>
              <a:t>the</a:t>
            </a:r>
            <a:r>
              <a:rPr lang="en-US" sz="2800" dirty="0"/>
              <a:t> </a:t>
            </a:r>
            <a:r>
              <a:rPr lang="en-US" sz="4000" dirty="0"/>
              <a:t>*</a:t>
            </a:r>
            <a:r>
              <a:rPr lang="en-US" sz="4000" dirty="0" smtClean="0"/>
              <a:t> </a:t>
            </a:r>
            <a:r>
              <a:rPr lang="en-US" sz="4000" dirty="0"/>
              <a:t>must be named. </a:t>
            </a:r>
          </a:p>
        </p:txBody>
      </p:sp>
    </p:spTree>
    <p:extLst>
      <p:ext uri="{BB962C8B-B14F-4D97-AF65-F5344CB8AC3E}">
        <p14:creationId xmlns:p14="http://schemas.microsoft.com/office/powerpoint/2010/main" val="2835926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74319" y="1026160"/>
            <a:ext cx="9227489" cy="57302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endParaRPr lang="en-US" altLang="zh-TW" sz="180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 smtClean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f(a,</a:t>
            </a:r>
            <a:r>
              <a:rPr lang="en-US" altLang="zh-TW" sz="300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altLang="zh-TW" sz="300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b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altLang="zh-TW" sz="3000" b="1" dirty="0" err="1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f(1,2,3)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spc="-1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r>
              <a:rPr lang="en-US" altLang="zh-TW" sz="3500" spc="-5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yp</a:t>
            </a:r>
            <a:r>
              <a:rPr lang="en-US" altLang="zh-TW" sz="3500" spc="-1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eE</a:t>
            </a:r>
            <a:r>
              <a:rPr lang="en-US" altLang="zh-TW" sz="35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6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1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f()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missing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1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require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3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500" spc="-2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500" spc="-13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w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ord-only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28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r>
              <a:rPr lang="en-US" altLang="zh-TW" sz="3500" b="1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c</a:t>
            </a: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f(1,2,</a:t>
            </a:r>
            <a:r>
              <a:rPr lang="en-US" altLang="zh-TW" sz="3000" dirty="0" smtClean="0">
                <a:solidFill>
                  <a:srgbClr val="8989FF"/>
                </a:solidFill>
                <a:latin typeface="Lucida Console" panose="020B0609040504020204" pitchFamily="49" charset="0"/>
                <a:cs typeface="Courier New" pitchFamily="49" charset="0"/>
              </a:rPr>
              <a:t>c=3</a:t>
            </a:r>
            <a:r>
              <a:rPr lang="en-US" altLang="zh-TW" sz="30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</a:p>
          <a:p>
            <a:pPr marL="0" lv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solidFill>
                  <a:prstClr val="black"/>
                </a:solidFill>
                <a:latin typeface="Lucida Console" panose="020B0609040504020204" pitchFamily="49" charset="0"/>
                <a:cs typeface="Courier New" pitchFamily="49" charset="0"/>
              </a:rPr>
              <a:t> f(1,</a:t>
            </a:r>
            <a:r>
              <a:rPr lang="en-US" altLang="zh-TW" sz="3000" b="1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c=3</a:t>
            </a:r>
            <a:r>
              <a:rPr lang="en-US" altLang="zh-TW" sz="3000" dirty="0">
                <a:solidFill>
                  <a:prstClr val="black"/>
                </a:solidFill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altLang="zh-TW" sz="3000" b="1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2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</a:t>
            </a:r>
          </a:p>
          <a:p>
            <a:pPr marL="0" lv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800" dirty="0">
                <a:solidFill>
                  <a:prstClr val="black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800" dirty="0" err="1">
                <a:solidFill>
                  <a:prstClr val="black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800" dirty="0">
                <a:solidFill>
                  <a:prstClr val="black"/>
                </a:solidFill>
                <a:latin typeface="Arial Narrow" panose="020B0606020202030204" pitchFamily="34" charset="0"/>
                <a:cs typeface="Courier New" pitchFamily="49" charset="0"/>
              </a:rPr>
              <a:t>&gt;", line 1</a:t>
            </a:r>
          </a:p>
          <a:p>
            <a:pPr marL="0" lv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600" spc="-16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S</a:t>
            </a:r>
            <a:r>
              <a:rPr lang="en-US" altLang="zh-TW" sz="3600" spc="-1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600" spc="-14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n</a:t>
            </a:r>
            <a:r>
              <a:rPr lang="en-US" altLang="zh-TW" sz="3600" spc="-1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taxError</a:t>
            </a:r>
            <a:r>
              <a:rPr lang="en-US" altLang="zh-TW" sz="36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28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600" spc="-100" dirty="0">
                <a:solidFill>
                  <a:srgbClr val="008000"/>
                </a:solidFill>
                <a:latin typeface="Arial Narrow" panose="020B0606020202030204" pitchFamily="34" charset="0"/>
                <a:cs typeface="Courier New" pitchFamily="49" charset="0"/>
              </a:rPr>
              <a:t>positional</a:t>
            </a:r>
            <a:r>
              <a:rPr lang="en-US" altLang="zh-TW" sz="3200" spc="-100" dirty="0">
                <a:solidFill>
                  <a:srgbClr val="008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600" spc="-100" dirty="0">
                <a:solidFill>
                  <a:srgbClr val="008000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200" spc="-100" dirty="0">
                <a:solidFill>
                  <a:srgbClr val="008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6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follows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600" spc="-230" dirty="0" smtClean="0">
                <a:solidFill>
                  <a:srgbClr val="0000FF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600" spc="-80" dirty="0" smtClean="0">
                <a:solidFill>
                  <a:srgbClr val="0000FF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600" spc="-160" dirty="0" smtClean="0">
                <a:solidFill>
                  <a:srgbClr val="0000FF"/>
                </a:solidFill>
                <a:latin typeface="Arial Narrow" panose="020B0606020202030204" pitchFamily="34" charset="0"/>
                <a:cs typeface="Courier New" pitchFamily="49" charset="0"/>
              </a:rPr>
              <a:t>wo</a:t>
            </a:r>
            <a:r>
              <a:rPr lang="en-US" altLang="zh-TW" sz="3600" spc="-100" dirty="0" smtClean="0">
                <a:solidFill>
                  <a:srgbClr val="0000FF"/>
                </a:solidFill>
                <a:latin typeface="Arial Narrow" panose="020B0606020202030204" pitchFamily="34" charset="0"/>
                <a:cs typeface="Courier New" pitchFamily="49" charset="0"/>
              </a:rPr>
              <a:t>rd</a:t>
            </a:r>
            <a:r>
              <a:rPr lang="en-US" altLang="zh-TW" sz="3200" spc="-100" dirty="0" smtClean="0">
                <a:solidFill>
                  <a:srgbClr val="0000FF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600" spc="-100" dirty="0" smtClean="0">
                <a:solidFill>
                  <a:srgbClr val="0000FF"/>
                </a:solidFill>
                <a:latin typeface="Arial Narrow" panose="020B0606020202030204" pitchFamily="34" charset="0"/>
                <a:cs typeface="Courier New" pitchFamily="49" charset="0"/>
              </a:rPr>
              <a:t>argu</a:t>
            </a:r>
            <a:r>
              <a:rPr lang="en-US" altLang="zh-TW" sz="3600" spc="-130" dirty="0" smtClean="0">
                <a:solidFill>
                  <a:srgbClr val="0000FF"/>
                </a:solidFill>
                <a:latin typeface="Arial Narrow" panose="020B0606020202030204" pitchFamily="34" charset="0"/>
                <a:cs typeface="Courier New" pitchFamily="49" charset="0"/>
              </a:rPr>
              <a:t>men</a:t>
            </a:r>
            <a:r>
              <a:rPr lang="en-US" altLang="zh-TW" sz="3600" spc="-100" dirty="0" smtClean="0">
                <a:solidFill>
                  <a:srgbClr val="0000FF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endParaRPr lang="en-US" altLang="zh-TW" sz="3000" dirty="0">
              <a:solidFill>
                <a:srgbClr val="0000FF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altLang="zh-TW" sz="3500" dirty="0">
              <a:solidFill>
                <a:srgbClr val="FF0000"/>
              </a:solidFill>
              <a:latin typeface="Arial Narrow" panose="020B0606020202030204" pitchFamily="34" charset="0"/>
              <a:cs typeface="Courier New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0070C0"/>
                </a:solidFill>
              </a:rPr>
              <a:t>Asterisked </a:t>
            </a:r>
            <a:r>
              <a:rPr lang="en-US" altLang="zh-TW" dirty="0">
                <a:solidFill>
                  <a:srgbClr val="0070C0"/>
                </a:solidFill>
              </a:rPr>
              <a:t>Variable Goes </a:t>
            </a:r>
            <a:r>
              <a:rPr lang="en-US" altLang="zh-TW" dirty="0" smtClean="0">
                <a:solidFill>
                  <a:srgbClr val="0070C0"/>
                </a:solidFill>
              </a:rPr>
              <a:t>at </a:t>
            </a:r>
            <a:r>
              <a:rPr lang="en-US" altLang="zh-TW" dirty="0">
                <a:solidFill>
                  <a:srgbClr val="0070C0"/>
                </a:solidFill>
              </a:rPr>
              <a:t>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-438941" y="6"/>
            <a:ext cx="10607675" cy="135466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b="1" dirty="0"/>
              <a:t> </a:t>
            </a:r>
            <a:br>
              <a:rPr lang="en-US" altLang="zh-TW" b="1" dirty="0"/>
            </a:br>
            <a:r>
              <a:rPr lang="en-US" altLang="zh-TW" sz="3800" b="1" spc="-160" dirty="0">
                <a:solidFill>
                  <a:srgbClr val="FF0000"/>
                </a:solidFill>
                <a:latin typeface="Agency FB" panose="020B0503020202020204" pitchFamily="34" charset="0"/>
              </a:rPr>
              <a:t>(</a:t>
            </a:r>
            <a:r>
              <a:rPr lang="en-US" altLang="zh-TW" sz="3800" spc="-100" dirty="0">
                <a:solidFill>
                  <a:srgbClr val="FF0000"/>
                </a:solidFill>
              </a:rPr>
              <a:t>u</a:t>
            </a:r>
            <a:r>
              <a:rPr lang="en-US" altLang="zh-TW" sz="3800" spc="-140" dirty="0">
                <a:solidFill>
                  <a:srgbClr val="FF0000"/>
                </a:solidFill>
              </a:rPr>
              <a:t>nl</a:t>
            </a:r>
            <a:r>
              <a:rPr lang="en-US" altLang="zh-TW" sz="3800" spc="-100" dirty="0">
                <a:solidFill>
                  <a:srgbClr val="FF0000"/>
                </a:solidFill>
              </a:rPr>
              <a:t>ess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r</a:t>
            </a:r>
            <a:r>
              <a:rPr lang="en-US" altLang="zh-TW" sz="3800" spc="-150" dirty="0" smtClean="0">
                <a:solidFill>
                  <a:srgbClr val="FF0000"/>
                </a:solidFill>
              </a:rPr>
              <a:t>e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maining</a:t>
            </a:r>
            <a:r>
              <a:rPr lang="en-US" altLang="zh-TW" sz="3600" spc="-100" dirty="0" smtClean="0">
                <a:solidFill>
                  <a:srgbClr val="FF0000"/>
                </a:solidFill>
              </a:rPr>
              <a:t> 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para</a:t>
            </a:r>
            <a:r>
              <a:rPr lang="en-US" altLang="zh-TW" sz="3800" spc="-140" dirty="0" smtClean="0">
                <a:solidFill>
                  <a:srgbClr val="FF0000"/>
                </a:solidFill>
              </a:rPr>
              <a:t>m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et</a:t>
            </a:r>
            <a:r>
              <a:rPr lang="en-US" altLang="zh-TW" sz="3800" spc="-140" dirty="0" smtClean="0">
                <a:solidFill>
                  <a:srgbClr val="FF0000"/>
                </a:solidFill>
              </a:rPr>
              <a:t>e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rs</a:t>
            </a:r>
            <a:r>
              <a:rPr lang="en-US" altLang="zh-TW" sz="3600" spc="-100" dirty="0" smtClean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are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40" dirty="0">
                <a:solidFill>
                  <a:srgbClr val="FF0000"/>
                </a:solidFill>
              </a:rPr>
              <a:t>n</a:t>
            </a:r>
            <a:r>
              <a:rPr lang="en-US" altLang="zh-TW" sz="3800" spc="-100" dirty="0">
                <a:solidFill>
                  <a:srgbClr val="FF0000"/>
                </a:solidFill>
              </a:rPr>
              <a:t>a</a:t>
            </a:r>
            <a:r>
              <a:rPr lang="en-US" altLang="zh-TW" sz="3800" spc="-180" dirty="0">
                <a:solidFill>
                  <a:srgbClr val="FF0000"/>
                </a:solidFill>
              </a:rPr>
              <a:t>m</a:t>
            </a:r>
            <a:r>
              <a:rPr lang="en-US" altLang="zh-TW" sz="3800" spc="-40" dirty="0">
                <a:solidFill>
                  <a:srgbClr val="FF0000"/>
                </a:solidFill>
              </a:rPr>
              <a:t>e</a:t>
            </a:r>
            <a:r>
              <a:rPr lang="en-US" altLang="zh-TW" sz="3800" spc="-150" dirty="0">
                <a:solidFill>
                  <a:srgbClr val="FF0000"/>
                </a:solidFill>
              </a:rPr>
              <a:t>d</a:t>
            </a:r>
            <a:r>
              <a:rPr lang="en-US" altLang="zh-TW" sz="3800" b="1" spc="-100" dirty="0">
                <a:solidFill>
                  <a:srgbClr val="FF0000"/>
                </a:solidFill>
                <a:latin typeface="Agency FB" panose="020B0503020202020204" pitchFamily="34" charset="0"/>
              </a:rPr>
              <a:t>)</a:t>
            </a:r>
            <a:endParaRPr lang="zh-TW" altLang="en-US" sz="3800" b="1" spc="-100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sp>
        <p:nvSpPr>
          <p:cNvPr id="11" name="Rounded Rectangular Callout 10"/>
          <p:cNvSpPr/>
          <p:nvPr/>
        </p:nvSpPr>
        <p:spPr>
          <a:xfrm>
            <a:off x="4663440" y="2168983"/>
            <a:ext cx="4782312" cy="1441584"/>
          </a:xfrm>
          <a:prstGeom prst="wedgeRoundRectCallout">
            <a:avLst>
              <a:gd name="adj1" fmla="val -75106"/>
              <a:gd name="adj2" fmla="val 67746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>
            <a:noAutofit/>
          </a:bodyPr>
          <a:lstStyle/>
          <a:p>
            <a:pPr marL="0" lvl="1" algn="ctr">
              <a:lnSpc>
                <a:spcPct val="75000"/>
              </a:lnSpc>
            </a:pPr>
            <a:r>
              <a:rPr lang="en-US" sz="4000" dirty="0"/>
              <a:t>Any parameter that comes</a:t>
            </a:r>
            <a:r>
              <a:rPr lang="en-US" sz="2800" dirty="0"/>
              <a:t> </a:t>
            </a:r>
            <a:r>
              <a:rPr lang="en-US" sz="4000" dirty="0"/>
              <a:t>after</a:t>
            </a:r>
            <a:r>
              <a:rPr lang="en-US" sz="2800" dirty="0"/>
              <a:t> </a:t>
            </a:r>
            <a:r>
              <a:rPr lang="en-US" sz="4000" dirty="0"/>
              <a:t>the</a:t>
            </a:r>
            <a:r>
              <a:rPr lang="en-US" sz="2800" dirty="0"/>
              <a:t> </a:t>
            </a:r>
            <a:r>
              <a:rPr lang="en-US" sz="4000" dirty="0"/>
              <a:t>*</a:t>
            </a:r>
            <a:r>
              <a:rPr lang="en-US" sz="4000" dirty="0" smtClean="0"/>
              <a:t> </a:t>
            </a:r>
            <a:r>
              <a:rPr lang="en-US" sz="4000" dirty="0"/>
              <a:t>must be named. 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3210339" y="4552122"/>
            <a:ext cx="576470" cy="795131"/>
          </a:xfrm>
          <a:prstGeom prst="straightConnector1">
            <a:avLst/>
          </a:prstGeom>
          <a:ln w="76200">
            <a:solidFill>
              <a:srgbClr val="008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" y="5703631"/>
            <a:ext cx="9729788" cy="1154370"/>
          </a:xfrm>
          <a:prstGeom prst="roundRect">
            <a:avLst/>
          </a:prstGeom>
          <a:solidFill>
            <a:srgbClr val="FFFF00"/>
          </a:solidFill>
          <a:ln>
            <a:solidFill>
              <a:srgbClr val="B864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marL="0" lvl="1" algn="ctr">
              <a:lnSpc>
                <a:spcPct val="80000"/>
              </a:lnSpc>
            </a:pPr>
            <a:r>
              <a:rPr lang="en-US" altLang="zh-TW" sz="4000" dirty="0" smtClean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This</a:t>
            </a:r>
            <a:r>
              <a:rPr lang="en-US" altLang="zh-TW" sz="3600" dirty="0" smtClean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 </a:t>
            </a:r>
            <a:r>
              <a:rPr lang="en-US" altLang="zh-TW" sz="4000" dirty="0" smtClean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was a design decision to allow</a:t>
            </a:r>
            <a:endParaRPr lang="en-US" altLang="zh-TW" sz="4000" dirty="0">
              <a:solidFill>
                <a:srgbClr val="B8641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lephant" panose="02020904090505020303" pitchFamily="18" charset="0"/>
            </a:endParaRPr>
          </a:p>
          <a:p>
            <a:pPr marL="0" lvl="1" algn="ctr">
              <a:lnSpc>
                <a:spcPct val="80000"/>
              </a:lnSpc>
            </a:pPr>
            <a:r>
              <a:rPr lang="en-US" altLang="zh-TW" sz="4000" dirty="0" smtClean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you</a:t>
            </a:r>
            <a:r>
              <a:rPr lang="en-US" altLang="zh-TW" sz="3600" dirty="0" smtClean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 </a:t>
            </a:r>
            <a:r>
              <a:rPr lang="en-US" altLang="zh-TW" sz="4000" dirty="0" smtClean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to</a:t>
            </a:r>
            <a:r>
              <a:rPr lang="en-US" altLang="zh-TW" sz="3600" dirty="0" smtClean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 </a:t>
            </a:r>
            <a:r>
              <a:rPr lang="en-US" altLang="zh-TW" sz="4000" dirty="0" smtClean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create</a:t>
            </a:r>
            <a:r>
              <a:rPr lang="en-US" altLang="zh-TW" sz="3600" dirty="0" smtClean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 </a:t>
            </a:r>
            <a:r>
              <a:rPr lang="en-US" altLang="zh-TW" sz="4000" dirty="0" smtClean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always-named</a:t>
            </a:r>
            <a:r>
              <a:rPr lang="en-US" altLang="zh-TW" sz="3600" dirty="0" smtClean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 </a:t>
            </a:r>
            <a:r>
              <a:rPr lang="en-US" altLang="zh-TW" sz="4000" dirty="0" smtClean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arguments</a:t>
            </a:r>
            <a:endParaRPr lang="en-US" altLang="zh-TW" sz="4000" dirty="0">
              <a:solidFill>
                <a:srgbClr val="B8641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lephant" panose="02020904090505020303" pitchFamily="18" charset="0"/>
            </a:endParaRPr>
          </a:p>
        </p:txBody>
      </p:sp>
      <p:sp>
        <p:nvSpPr>
          <p:cNvPr id="12" name="Rounded Rectangular Callout 11"/>
          <p:cNvSpPr/>
          <p:nvPr/>
        </p:nvSpPr>
        <p:spPr>
          <a:xfrm>
            <a:off x="4663440" y="3614948"/>
            <a:ext cx="4782312" cy="1412065"/>
          </a:xfrm>
          <a:prstGeom prst="wedgeRoundRectCallout">
            <a:avLst>
              <a:gd name="adj1" fmla="val -79975"/>
              <a:gd name="adj2" fmla="val 11144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>
            <a:noAutofit/>
          </a:bodyPr>
          <a:lstStyle/>
          <a:p>
            <a:pPr marL="0" lvl="1" algn="ctr">
              <a:lnSpc>
                <a:spcPct val="75000"/>
              </a:lnSpc>
            </a:pPr>
            <a:r>
              <a:rPr lang="en-US" sz="4000" dirty="0">
                <a:solidFill>
                  <a:schemeClr val="bg1"/>
                </a:solidFill>
              </a:rPr>
              <a:t>And</a:t>
            </a:r>
            <a:r>
              <a:rPr lang="en-US" sz="4000" dirty="0"/>
              <a:t>, it </a:t>
            </a:r>
            <a:r>
              <a:rPr lang="en-US" sz="4000" b="1" i="1" dirty="0">
                <a:solidFill>
                  <a:srgbClr val="FFFF00"/>
                </a:solidFill>
              </a:rPr>
              <a:t>must be </a:t>
            </a:r>
            <a:r>
              <a:rPr lang="en-US" sz="4000" b="1" i="1" dirty="0" smtClean="0">
                <a:solidFill>
                  <a:srgbClr val="FFFF00"/>
                </a:solidFill>
              </a:rPr>
              <a:t>at</a:t>
            </a:r>
            <a:br>
              <a:rPr lang="en-US" sz="4000" b="1" i="1" dirty="0" smtClean="0">
                <a:solidFill>
                  <a:srgbClr val="FFFF00"/>
                </a:solidFill>
              </a:rPr>
            </a:br>
            <a:r>
              <a:rPr lang="en-US" sz="4000" b="1" i="1" dirty="0" smtClean="0">
                <a:solidFill>
                  <a:srgbClr val="FFFF00"/>
                </a:solidFill>
              </a:rPr>
              <a:t>the </a:t>
            </a:r>
            <a:r>
              <a:rPr lang="en-US" sz="4000" b="1" i="1" dirty="0">
                <a:solidFill>
                  <a:srgbClr val="FFFF00"/>
                </a:solidFill>
              </a:rPr>
              <a:t>end</a:t>
            </a:r>
            <a:r>
              <a:rPr lang="en-US" sz="4000" dirty="0"/>
              <a:t> of the </a:t>
            </a:r>
            <a:r>
              <a:rPr lang="en-US" sz="4000" dirty="0" smtClean="0"/>
              <a:t>call arguments</a:t>
            </a:r>
            <a:r>
              <a:rPr lang="en-US" sz="4000" dirty="0"/>
              <a:t>.</a:t>
            </a:r>
          </a:p>
        </p:txBody>
      </p:sp>
      <p:sp>
        <p:nvSpPr>
          <p:cNvPr id="14" name="Arc 13"/>
          <p:cNvSpPr/>
          <p:nvPr/>
        </p:nvSpPr>
        <p:spPr>
          <a:xfrm rot="795317" flipH="1">
            <a:off x="2408286" y="4315559"/>
            <a:ext cx="5061959" cy="1266363"/>
          </a:xfrm>
          <a:prstGeom prst="arc">
            <a:avLst>
              <a:gd name="adj1" fmla="val 11082044"/>
              <a:gd name="adj2" fmla="val 61930"/>
            </a:avLst>
          </a:prstGeom>
          <a:ln w="76200">
            <a:solidFill>
              <a:srgbClr val="0000FF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Autofit/>
          </a:bodyPr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2559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4" grpId="0" animBg="1"/>
      <p:bldP spid="14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/>
          <p:cNvSpPr txBox="1">
            <a:spLocks/>
          </p:cNvSpPr>
          <p:nvPr/>
        </p:nvSpPr>
        <p:spPr>
          <a:xfrm>
            <a:off x="-59316" y="3230861"/>
            <a:ext cx="9900497" cy="34668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/>
              <a:t>The Python 3 designers decided to add a feature:</a:t>
            </a:r>
          </a:p>
          <a:p>
            <a:pPr lvl="1"/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They wanted to provide a way for the </a:t>
            </a:r>
            <a:r>
              <a:rPr lang="en-US" sz="3200" dirty="0" smtClean="0">
                <a:solidFill>
                  <a:prstClr val="black"/>
                </a:solidFill>
                <a:cs typeface="Courier New" pitchFamily="49" charset="0"/>
              </a:rPr>
              <a:t>programmer</a:t>
            </a:r>
            <a:br>
              <a:rPr lang="en-US" sz="3200" dirty="0" smtClean="0">
                <a:solidFill>
                  <a:prstClr val="black"/>
                </a:solidFill>
                <a:cs typeface="Courier New" pitchFamily="49" charset="0"/>
              </a:rPr>
            </a:br>
            <a:r>
              <a:rPr lang="en-US" sz="3200" dirty="0" smtClean="0">
                <a:solidFill>
                  <a:prstClr val="black"/>
                </a:solidFill>
                <a:cs typeface="Courier New" pitchFamily="49" charset="0"/>
              </a:rPr>
              <a:t>of </a:t>
            </a:r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a function to insist that a specific parameter </a:t>
            </a:r>
            <a:r>
              <a:rPr lang="en-US" sz="3200" dirty="0" smtClean="0">
                <a:solidFill>
                  <a:prstClr val="black"/>
                </a:solidFill>
                <a:cs typeface="Courier New" pitchFamily="49" charset="0"/>
              </a:rPr>
              <a:t>of</a:t>
            </a:r>
            <a:br>
              <a:rPr lang="en-US" sz="3200" dirty="0" smtClean="0">
                <a:solidFill>
                  <a:prstClr val="black"/>
                </a:solidFill>
                <a:cs typeface="Courier New" pitchFamily="49" charset="0"/>
              </a:rPr>
            </a:br>
            <a:r>
              <a:rPr lang="en-US" sz="3200" dirty="0" smtClean="0">
                <a:solidFill>
                  <a:prstClr val="black"/>
                </a:solidFill>
                <a:cs typeface="Courier New" pitchFamily="49" charset="0"/>
              </a:rPr>
              <a:t>that </a:t>
            </a:r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function can only be passed in by name.</a:t>
            </a:r>
          </a:p>
          <a:p>
            <a:pPr marL="0" indent="0">
              <a:buNone/>
            </a:pPr>
            <a:endParaRPr lang="en-US" sz="2800" dirty="0">
              <a:solidFill>
                <a:prstClr val="black"/>
              </a:solidFill>
              <a:cs typeface="Courier New" pitchFamily="49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-3313" y="5424384"/>
            <a:ext cx="9733101" cy="1441928"/>
            <a:chOff x="82400" y="2875153"/>
            <a:chExt cx="10525275" cy="1441928"/>
          </a:xfrm>
        </p:grpSpPr>
        <p:sp>
          <p:nvSpPr>
            <p:cNvPr id="22" name="Rounded Rectangle 21"/>
            <p:cNvSpPr/>
            <p:nvPr/>
          </p:nvSpPr>
          <p:spPr>
            <a:xfrm>
              <a:off x="5437147" y="2899326"/>
              <a:ext cx="5170528" cy="1412065"/>
            </a:xfrm>
            <a:prstGeom prst="roundRect">
              <a:avLst/>
            </a:prstGeom>
            <a:solidFill>
              <a:srgbClr val="FD3E3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>
              <a:noAutofit/>
            </a:bodyPr>
            <a:lstStyle/>
            <a:p>
              <a:pPr marL="0" lvl="1" algn="ctr">
                <a:lnSpc>
                  <a:spcPct val="80000"/>
                </a:lnSpc>
              </a:pPr>
              <a:r>
                <a:rPr lang="en-US" altLang="zh-TW" sz="4000" dirty="0">
                  <a:solidFill>
                    <a:prstClr val="white"/>
                  </a:solidFill>
                </a:rPr>
                <a:t>And, it </a:t>
              </a:r>
              <a:r>
                <a:rPr lang="en-US" altLang="zh-TW" sz="4000" b="1" i="1" dirty="0">
                  <a:solidFill>
                    <a:srgbClr val="FFFF00"/>
                  </a:solidFill>
                </a:rPr>
                <a:t>must be at </a:t>
              </a:r>
              <a:endParaRPr lang="en-US" altLang="zh-TW" sz="4000" b="1" i="1" dirty="0" smtClean="0">
                <a:solidFill>
                  <a:srgbClr val="FFFF00"/>
                </a:solidFill>
              </a:endParaRPr>
            </a:p>
            <a:p>
              <a:pPr marL="0" lvl="1" algn="ctr">
                <a:lnSpc>
                  <a:spcPct val="75000"/>
                </a:lnSpc>
              </a:pPr>
              <a:r>
                <a:rPr lang="en-US" altLang="zh-TW" sz="4000" b="1" i="1" dirty="0" smtClean="0">
                  <a:solidFill>
                    <a:srgbClr val="FFFF00"/>
                  </a:solidFill>
                </a:rPr>
                <a:t>the </a:t>
              </a:r>
              <a:r>
                <a:rPr lang="en-US" altLang="zh-TW" sz="4000" b="1" i="1" dirty="0">
                  <a:solidFill>
                    <a:srgbClr val="FFFF00"/>
                  </a:solidFill>
                </a:rPr>
                <a:t>end</a:t>
              </a:r>
              <a:r>
                <a:rPr lang="en-US" altLang="zh-TW" sz="4000" dirty="0">
                  <a:solidFill>
                    <a:prstClr val="white"/>
                  </a:solidFill>
                </a:rPr>
                <a:t> of the </a:t>
              </a:r>
              <a:r>
                <a:rPr lang="en-US" altLang="zh-TW" sz="4000" dirty="0" smtClean="0">
                  <a:solidFill>
                    <a:prstClr val="white"/>
                  </a:solidFill>
                </a:rPr>
                <a:t>call </a:t>
              </a:r>
              <a:r>
                <a:rPr lang="en-US" altLang="zh-TW" sz="4000" dirty="0">
                  <a:solidFill>
                    <a:prstClr val="white"/>
                  </a:solidFill>
                </a:rPr>
                <a:t>arguments.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82400" y="2875153"/>
              <a:ext cx="5170528" cy="1441928"/>
            </a:xfrm>
            <a:prstGeom prst="roundRect">
              <a:avLst/>
            </a:prstGeom>
            <a:solidFill>
              <a:srgbClr val="FD3E3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>
              <a:noAutofit/>
            </a:bodyPr>
            <a:lstStyle/>
            <a:p>
              <a:pPr marL="0" lvl="1" algn="ctr">
                <a:lnSpc>
                  <a:spcPct val="75000"/>
                </a:lnSpc>
              </a:pPr>
              <a:r>
                <a:rPr lang="en-US" altLang="zh-TW" sz="4000" dirty="0"/>
                <a:t>Any parameter that comes</a:t>
              </a:r>
              <a:r>
                <a:rPr lang="en-US" altLang="zh-TW" sz="2800" dirty="0"/>
                <a:t> </a:t>
              </a:r>
              <a:r>
                <a:rPr lang="en-US" altLang="zh-TW" sz="4000" dirty="0"/>
                <a:t>after</a:t>
              </a:r>
              <a:r>
                <a:rPr lang="en-US" altLang="zh-TW" sz="2800" dirty="0"/>
                <a:t> </a:t>
              </a:r>
              <a:r>
                <a:rPr lang="en-US" altLang="zh-TW" sz="4000" dirty="0"/>
                <a:t>the</a:t>
              </a:r>
              <a:r>
                <a:rPr lang="en-US" altLang="zh-TW" sz="2800" dirty="0"/>
                <a:t> </a:t>
              </a:r>
              <a:r>
                <a:rPr lang="en-US" altLang="zh-TW" sz="4000" dirty="0"/>
                <a:t>*</a:t>
              </a:r>
              <a:r>
                <a:rPr lang="en-US" altLang="zh-TW" sz="4000" dirty="0" smtClean="0"/>
                <a:t> </a:t>
              </a:r>
              <a:r>
                <a:rPr lang="en-US" altLang="zh-TW" sz="4000" dirty="0"/>
                <a:t>must be named. </a:t>
              </a:r>
            </a:p>
          </p:txBody>
        </p:sp>
      </p:grpSp>
      <p:sp>
        <p:nvSpPr>
          <p:cNvPr id="28" name="Rounded Rectangle 27"/>
          <p:cNvSpPr/>
          <p:nvPr/>
        </p:nvSpPr>
        <p:spPr>
          <a:xfrm>
            <a:off x="4663440" y="2167128"/>
            <a:ext cx="4782312" cy="1441928"/>
          </a:xfrm>
          <a:prstGeom prst="roundRect">
            <a:avLst/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>
            <a:noAutofit/>
          </a:bodyPr>
          <a:lstStyle/>
          <a:p>
            <a:pPr marL="0" lvl="1" algn="ctr">
              <a:lnSpc>
                <a:spcPct val="75000"/>
              </a:lnSpc>
            </a:pPr>
            <a:r>
              <a:rPr lang="en-US" altLang="zh-TW" sz="4000" dirty="0"/>
              <a:t>Any parameter that comes</a:t>
            </a:r>
            <a:r>
              <a:rPr lang="en-US" altLang="zh-TW" sz="2800" dirty="0"/>
              <a:t> </a:t>
            </a:r>
            <a:r>
              <a:rPr lang="en-US" altLang="zh-TW" sz="4000" dirty="0"/>
              <a:t>after</a:t>
            </a:r>
            <a:r>
              <a:rPr lang="en-US" altLang="zh-TW" sz="2800" dirty="0"/>
              <a:t> </a:t>
            </a:r>
            <a:r>
              <a:rPr lang="en-US" altLang="zh-TW" sz="4000" dirty="0"/>
              <a:t>the</a:t>
            </a:r>
            <a:r>
              <a:rPr lang="en-US" altLang="zh-TW" sz="2800" dirty="0"/>
              <a:t> </a:t>
            </a:r>
            <a:r>
              <a:rPr lang="en-US" altLang="zh-TW" sz="4000" dirty="0"/>
              <a:t>*</a:t>
            </a:r>
            <a:r>
              <a:rPr lang="en-US" altLang="zh-TW" sz="4000" dirty="0" smtClean="0"/>
              <a:t> </a:t>
            </a:r>
            <a:r>
              <a:rPr lang="en-US" altLang="zh-TW" sz="4000" dirty="0"/>
              <a:t>must be named. 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4528881" y="2583195"/>
            <a:ext cx="534203" cy="779646"/>
          </a:xfrm>
          <a:prstGeom prst="downArrow">
            <a:avLst/>
          </a:prstGeom>
          <a:solidFill>
            <a:srgbClr val="FFFF00"/>
          </a:solidFill>
          <a:ln w="57150">
            <a:solidFill>
              <a:srgbClr val="B864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27" name="Rounded Rectangle 26"/>
          <p:cNvSpPr/>
          <p:nvPr/>
        </p:nvSpPr>
        <p:spPr>
          <a:xfrm>
            <a:off x="4663440" y="3611880"/>
            <a:ext cx="4782312" cy="1412065"/>
          </a:xfrm>
          <a:prstGeom prst="roundRect">
            <a:avLst/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>
            <a:noAutofit/>
          </a:bodyPr>
          <a:lstStyle/>
          <a:p>
            <a:pPr marL="0" lvl="1" algn="ctr">
              <a:lnSpc>
                <a:spcPct val="75000"/>
              </a:lnSpc>
            </a:pPr>
            <a:r>
              <a:rPr lang="en-US" altLang="zh-TW" sz="4000" dirty="0">
                <a:solidFill>
                  <a:prstClr val="white"/>
                </a:solidFill>
              </a:rPr>
              <a:t>And, it </a:t>
            </a:r>
            <a:r>
              <a:rPr lang="en-US" altLang="zh-TW" sz="4000" b="1" i="1" dirty="0">
                <a:solidFill>
                  <a:srgbClr val="FFFF00"/>
                </a:solidFill>
              </a:rPr>
              <a:t>must be at </a:t>
            </a:r>
            <a:r>
              <a:rPr lang="en-US" altLang="zh-TW" sz="4000" b="1" i="1" dirty="0" smtClean="0">
                <a:solidFill>
                  <a:srgbClr val="FFFF00"/>
                </a:solidFill>
              </a:rPr>
              <a:t/>
            </a:r>
            <a:br>
              <a:rPr lang="en-US" altLang="zh-TW" sz="4000" b="1" i="1" dirty="0" smtClean="0">
                <a:solidFill>
                  <a:srgbClr val="FFFF00"/>
                </a:solidFill>
              </a:rPr>
            </a:br>
            <a:r>
              <a:rPr lang="en-US" altLang="zh-TW" sz="4000" b="1" i="1" dirty="0" smtClean="0">
                <a:solidFill>
                  <a:srgbClr val="FFFF00"/>
                </a:solidFill>
              </a:rPr>
              <a:t>the </a:t>
            </a:r>
            <a:r>
              <a:rPr lang="en-US" altLang="zh-TW" sz="4000" b="1" i="1" dirty="0">
                <a:solidFill>
                  <a:srgbClr val="FFFF00"/>
                </a:solidFill>
              </a:rPr>
              <a:t>end</a:t>
            </a:r>
            <a:r>
              <a:rPr lang="en-US" altLang="zh-TW" sz="4000" dirty="0">
                <a:solidFill>
                  <a:prstClr val="white"/>
                </a:solidFill>
              </a:rPr>
              <a:t> of the </a:t>
            </a:r>
            <a:r>
              <a:rPr lang="en-US" altLang="zh-TW" sz="4000" dirty="0" smtClean="0">
                <a:solidFill>
                  <a:prstClr val="white"/>
                </a:solidFill>
              </a:rPr>
              <a:t>call </a:t>
            </a:r>
            <a:r>
              <a:rPr lang="en-US" altLang="zh-TW" sz="4000" dirty="0">
                <a:solidFill>
                  <a:prstClr val="white"/>
                </a:solidFill>
              </a:rPr>
              <a:t>arguments.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0070C0"/>
                </a:solidFill>
              </a:rPr>
              <a:t>Asterisked </a:t>
            </a:r>
            <a:r>
              <a:rPr lang="en-US" altLang="zh-TW" dirty="0">
                <a:solidFill>
                  <a:srgbClr val="0070C0"/>
                </a:solidFill>
              </a:rPr>
              <a:t>Variable Goes </a:t>
            </a:r>
            <a:r>
              <a:rPr lang="en-US" altLang="zh-TW" dirty="0" smtClean="0">
                <a:solidFill>
                  <a:srgbClr val="0070C0"/>
                </a:solidFill>
              </a:rPr>
              <a:t>at </a:t>
            </a:r>
            <a:r>
              <a:rPr lang="en-US" altLang="zh-TW" dirty="0">
                <a:solidFill>
                  <a:srgbClr val="0070C0"/>
                </a:solidFill>
              </a:rPr>
              <a:t>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-438941" y="6"/>
            <a:ext cx="10607675" cy="135466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b="1" dirty="0"/>
              <a:t> </a:t>
            </a:r>
            <a:br>
              <a:rPr lang="en-US" altLang="zh-TW" b="1" dirty="0"/>
            </a:br>
            <a:r>
              <a:rPr lang="en-US" altLang="zh-TW" sz="3800" b="1" spc="-160" dirty="0">
                <a:solidFill>
                  <a:srgbClr val="FF0000"/>
                </a:solidFill>
                <a:latin typeface="Agency FB" panose="020B0503020202020204" pitchFamily="34" charset="0"/>
              </a:rPr>
              <a:t>(</a:t>
            </a:r>
            <a:r>
              <a:rPr lang="en-US" altLang="zh-TW" sz="3800" spc="-100" dirty="0">
                <a:solidFill>
                  <a:srgbClr val="FF0000"/>
                </a:solidFill>
              </a:rPr>
              <a:t>u</a:t>
            </a:r>
            <a:r>
              <a:rPr lang="en-US" altLang="zh-TW" sz="3800" spc="-140" dirty="0">
                <a:solidFill>
                  <a:srgbClr val="FF0000"/>
                </a:solidFill>
              </a:rPr>
              <a:t>nl</a:t>
            </a:r>
            <a:r>
              <a:rPr lang="en-US" altLang="zh-TW" sz="3800" spc="-100" dirty="0">
                <a:solidFill>
                  <a:srgbClr val="FF0000"/>
                </a:solidFill>
              </a:rPr>
              <a:t>ess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r</a:t>
            </a:r>
            <a:r>
              <a:rPr lang="en-US" altLang="zh-TW" sz="3800" spc="-150" dirty="0" smtClean="0">
                <a:solidFill>
                  <a:srgbClr val="FF0000"/>
                </a:solidFill>
              </a:rPr>
              <a:t>e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maining</a:t>
            </a:r>
            <a:r>
              <a:rPr lang="en-US" altLang="zh-TW" sz="3600" spc="-100" dirty="0" smtClean="0">
                <a:solidFill>
                  <a:srgbClr val="FF0000"/>
                </a:solidFill>
              </a:rPr>
              <a:t> 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para</a:t>
            </a:r>
            <a:r>
              <a:rPr lang="en-US" altLang="zh-TW" sz="3800" spc="-140" dirty="0" smtClean="0">
                <a:solidFill>
                  <a:srgbClr val="FF0000"/>
                </a:solidFill>
              </a:rPr>
              <a:t>m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et</a:t>
            </a:r>
            <a:r>
              <a:rPr lang="en-US" altLang="zh-TW" sz="3800" spc="-140" dirty="0" smtClean="0">
                <a:solidFill>
                  <a:srgbClr val="FF0000"/>
                </a:solidFill>
              </a:rPr>
              <a:t>e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rs</a:t>
            </a:r>
            <a:r>
              <a:rPr lang="en-US" altLang="zh-TW" sz="3600" spc="-100" dirty="0" smtClean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are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40" dirty="0">
                <a:solidFill>
                  <a:srgbClr val="FF0000"/>
                </a:solidFill>
              </a:rPr>
              <a:t>n</a:t>
            </a:r>
            <a:r>
              <a:rPr lang="en-US" altLang="zh-TW" sz="3800" spc="-100" dirty="0">
                <a:solidFill>
                  <a:srgbClr val="FF0000"/>
                </a:solidFill>
              </a:rPr>
              <a:t>a</a:t>
            </a:r>
            <a:r>
              <a:rPr lang="en-US" altLang="zh-TW" sz="3800" spc="-180" dirty="0">
                <a:solidFill>
                  <a:srgbClr val="FF0000"/>
                </a:solidFill>
              </a:rPr>
              <a:t>m</a:t>
            </a:r>
            <a:r>
              <a:rPr lang="en-US" altLang="zh-TW" sz="3800" spc="-40" dirty="0">
                <a:solidFill>
                  <a:srgbClr val="FF0000"/>
                </a:solidFill>
              </a:rPr>
              <a:t>e</a:t>
            </a:r>
            <a:r>
              <a:rPr lang="en-US" altLang="zh-TW" sz="3800" spc="-150" dirty="0">
                <a:solidFill>
                  <a:srgbClr val="FF0000"/>
                </a:solidFill>
              </a:rPr>
              <a:t>d</a:t>
            </a:r>
            <a:r>
              <a:rPr lang="en-US" altLang="zh-TW" sz="3800" b="1" spc="-100" dirty="0">
                <a:solidFill>
                  <a:srgbClr val="FF0000"/>
                </a:solidFill>
                <a:latin typeface="Agency FB" panose="020B0503020202020204" pitchFamily="34" charset="0"/>
              </a:rPr>
              <a:t>)</a:t>
            </a:r>
            <a:endParaRPr lang="zh-TW" altLang="en-US" sz="3800" b="1" spc="-100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" y="1608719"/>
            <a:ext cx="9729788" cy="1154370"/>
          </a:xfrm>
          <a:prstGeom prst="roundRect">
            <a:avLst/>
          </a:prstGeom>
          <a:solidFill>
            <a:srgbClr val="FFFF00"/>
          </a:solidFill>
          <a:ln>
            <a:solidFill>
              <a:srgbClr val="B864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marL="0" lvl="1" algn="ctr">
              <a:lnSpc>
                <a:spcPct val="80000"/>
              </a:lnSpc>
            </a:pPr>
            <a:r>
              <a:rPr lang="en-US" altLang="zh-TW" sz="4000" dirty="0" smtClean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This</a:t>
            </a:r>
            <a:r>
              <a:rPr lang="en-US" altLang="zh-TW" sz="3600" dirty="0" smtClean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 </a:t>
            </a:r>
            <a:r>
              <a:rPr lang="en-US" altLang="zh-TW" sz="4000" dirty="0" smtClean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was a design decision to allow</a:t>
            </a:r>
            <a:endParaRPr lang="en-US" altLang="zh-TW" sz="4000" dirty="0">
              <a:solidFill>
                <a:srgbClr val="B8641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lephant" panose="02020904090505020303" pitchFamily="18" charset="0"/>
            </a:endParaRPr>
          </a:p>
          <a:p>
            <a:pPr marL="0" lvl="1" algn="ctr">
              <a:lnSpc>
                <a:spcPct val="80000"/>
              </a:lnSpc>
            </a:pPr>
            <a:r>
              <a:rPr lang="en-US" altLang="zh-TW" sz="4000" dirty="0" smtClean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you</a:t>
            </a:r>
            <a:r>
              <a:rPr lang="en-US" altLang="zh-TW" sz="3600" dirty="0" smtClean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 </a:t>
            </a:r>
            <a:r>
              <a:rPr lang="en-US" altLang="zh-TW" sz="4000" dirty="0" smtClean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to</a:t>
            </a:r>
            <a:r>
              <a:rPr lang="en-US" altLang="zh-TW" sz="3600" dirty="0" smtClean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 </a:t>
            </a:r>
            <a:r>
              <a:rPr lang="en-US" altLang="zh-TW" sz="4000" dirty="0" smtClean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create</a:t>
            </a:r>
            <a:r>
              <a:rPr lang="en-US" altLang="zh-TW" sz="3600" dirty="0" smtClean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 </a:t>
            </a:r>
            <a:r>
              <a:rPr lang="en-US" altLang="zh-TW" sz="4000" dirty="0" smtClean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always-named</a:t>
            </a:r>
            <a:r>
              <a:rPr lang="en-US" altLang="zh-TW" sz="3600" dirty="0" smtClean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 </a:t>
            </a:r>
            <a:r>
              <a:rPr lang="en-US" altLang="zh-TW" sz="4000" dirty="0" smtClean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arguments</a:t>
            </a:r>
            <a:endParaRPr lang="en-US" altLang="zh-TW" sz="4000" dirty="0">
              <a:solidFill>
                <a:srgbClr val="B8641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lephant" panose="02020904090505020303" pitchFamily="18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" y="5703631"/>
            <a:ext cx="9729788" cy="1154370"/>
          </a:xfrm>
          <a:prstGeom prst="roundRect">
            <a:avLst/>
          </a:prstGeom>
          <a:solidFill>
            <a:srgbClr val="FFFF00"/>
          </a:solidFill>
          <a:ln>
            <a:solidFill>
              <a:srgbClr val="B864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marL="0" lvl="1" algn="ctr">
              <a:lnSpc>
                <a:spcPct val="80000"/>
              </a:lnSpc>
            </a:pPr>
            <a:r>
              <a:rPr lang="en-US" altLang="zh-TW" sz="4000" dirty="0" smtClean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This</a:t>
            </a:r>
            <a:r>
              <a:rPr lang="en-US" altLang="zh-TW" sz="3600" dirty="0" smtClean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 </a:t>
            </a:r>
            <a:r>
              <a:rPr lang="en-US" altLang="zh-TW" sz="4000" dirty="0" smtClean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was a design decision to allow</a:t>
            </a:r>
            <a:endParaRPr lang="en-US" altLang="zh-TW" sz="4000" dirty="0">
              <a:solidFill>
                <a:srgbClr val="B8641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lephant" panose="02020904090505020303" pitchFamily="18" charset="0"/>
            </a:endParaRPr>
          </a:p>
          <a:p>
            <a:pPr marL="0" lvl="1" algn="ctr">
              <a:lnSpc>
                <a:spcPct val="80000"/>
              </a:lnSpc>
            </a:pPr>
            <a:r>
              <a:rPr lang="en-US" altLang="zh-TW" sz="4000" dirty="0" smtClean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you</a:t>
            </a:r>
            <a:r>
              <a:rPr lang="en-US" altLang="zh-TW" sz="3600" dirty="0" smtClean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 </a:t>
            </a:r>
            <a:r>
              <a:rPr lang="en-US" altLang="zh-TW" sz="4000" dirty="0" smtClean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to</a:t>
            </a:r>
            <a:r>
              <a:rPr lang="en-US" altLang="zh-TW" sz="3600" dirty="0" smtClean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 </a:t>
            </a:r>
            <a:r>
              <a:rPr lang="en-US" altLang="zh-TW" sz="4000" dirty="0" smtClean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create</a:t>
            </a:r>
            <a:r>
              <a:rPr lang="en-US" altLang="zh-TW" sz="3600" dirty="0" smtClean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 </a:t>
            </a:r>
            <a:r>
              <a:rPr lang="en-US" altLang="zh-TW" sz="4000" dirty="0" smtClean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always-named</a:t>
            </a:r>
            <a:r>
              <a:rPr lang="en-US" altLang="zh-TW" sz="3600" dirty="0" smtClean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 </a:t>
            </a:r>
            <a:r>
              <a:rPr lang="en-US" altLang="zh-TW" sz="4000" dirty="0" smtClean="0">
                <a:solidFill>
                  <a:srgbClr val="B8641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arguments</a:t>
            </a:r>
            <a:endParaRPr lang="en-US" altLang="zh-TW" sz="4000" dirty="0">
              <a:solidFill>
                <a:srgbClr val="B8641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355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49959E-6 -4.81481E-6 L -0.48002 0.4745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001" y="2372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57938E-6 -7.40741E-7 L 0.00016 -0.59699 " pathEditMode="relative" rAng="0" ptsTypes="AA">
                                      <p:cBhvr>
                                        <p:cTn id="8" dur="1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9861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49959E-6 3.7037E-7 L 0.02937 0.2673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68" y="133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28" grpId="0" animBg="1"/>
      <p:bldP spid="28" grpId="1" animBg="1"/>
      <p:bldP spid="29" grpId="0" animBg="1"/>
      <p:bldP spid="29" grpId="1" animBg="1"/>
      <p:bldP spid="27" grpId="1" animBg="1"/>
      <p:bldP spid="27" grpId="2" animBg="1"/>
      <p:bldP spid="17" grpId="0" animBg="1"/>
      <p:bldP spid="18" grpId="0" animBg="1"/>
      <p:bldP spid="18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/>
          <p:cNvSpPr txBox="1">
            <a:spLocks/>
          </p:cNvSpPr>
          <p:nvPr/>
        </p:nvSpPr>
        <p:spPr>
          <a:xfrm>
            <a:off x="-59316" y="3230861"/>
            <a:ext cx="9900497" cy="34668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25425"/>
            <a:r>
              <a:rPr lang="en-US" sz="3600" dirty="0"/>
              <a:t>The Python 3 </a:t>
            </a:r>
            <a:r>
              <a:rPr lang="en-US" sz="3600" spc="-20" dirty="0"/>
              <a:t>designers de</a:t>
            </a:r>
            <a:r>
              <a:rPr lang="en-US" sz="3600" dirty="0"/>
              <a:t>c</a:t>
            </a:r>
            <a:r>
              <a:rPr lang="en-US" sz="3600" spc="-20" dirty="0"/>
              <a:t>ide</a:t>
            </a:r>
            <a:r>
              <a:rPr lang="en-US" sz="3600" dirty="0"/>
              <a:t>d to </a:t>
            </a:r>
            <a:r>
              <a:rPr lang="en-US" sz="3600" spc="-50" dirty="0"/>
              <a:t>ad</a:t>
            </a:r>
            <a:r>
              <a:rPr lang="en-US" sz="3600" dirty="0"/>
              <a:t>d a </a:t>
            </a:r>
            <a:r>
              <a:rPr lang="en-US" sz="3600" spc="-30" dirty="0"/>
              <a:t>featu</a:t>
            </a:r>
            <a:r>
              <a:rPr lang="en-US" sz="3600" dirty="0"/>
              <a:t>r</a:t>
            </a:r>
            <a:r>
              <a:rPr lang="en-US" sz="3600" spc="-100" dirty="0"/>
              <a:t>e</a:t>
            </a:r>
            <a:r>
              <a:rPr lang="en-US" sz="3600" dirty="0"/>
              <a:t>:</a:t>
            </a:r>
          </a:p>
          <a:p>
            <a:pPr lvl="1"/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They wanted to provide a way for the </a:t>
            </a:r>
            <a:r>
              <a:rPr lang="en-US" sz="3200" dirty="0" smtClean="0">
                <a:solidFill>
                  <a:prstClr val="black"/>
                </a:solidFill>
                <a:cs typeface="Courier New" pitchFamily="49" charset="0"/>
              </a:rPr>
              <a:t>programmer</a:t>
            </a:r>
            <a:br>
              <a:rPr lang="en-US" sz="3200" dirty="0" smtClean="0">
                <a:solidFill>
                  <a:prstClr val="black"/>
                </a:solidFill>
                <a:cs typeface="Courier New" pitchFamily="49" charset="0"/>
              </a:rPr>
            </a:br>
            <a:r>
              <a:rPr lang="en-US" sz="3200" dirty="0" smtClean="0">
                <a:solidFill>
                  <a:prstClr val="black"/>
                </a:solidFill>
                <a:cs typeface="Courier New" pitchFamily="49" charset="0"/>
              </a:rPr>
              <a:t>of </a:t>
            </a:r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a function to insist that a specific parameter </a:t>
            </a:r>
            <a:r>
              <a:rPr lang="en-US" sz="3200" dirty="0" smtClean="0">
                <a:solidFill>
                  <a:prstClr val="black"/>
                </a:solidFill>
                <a:cs typeface="Courier New" pitchFamily="49" charset="0"/>
              </a:rPr>
              <a:t>of</a:t>
            </a:r>
            <a:br>
              <a:rPr lang="en-US" sz="3200" dirty="0" smtClean="0">
                <a:solidFill>
                  <a:prstClr val="black"/>
                </a:solidFill>
                <a:cs typeface="Courier New" pitchFamily="49" charset="0"/>
              </a:rPr>
            </a:br>
            <a:r>
              <a:rPr lang="en-US" sz="3200" dirty="0" smtClean="0">
                <a:solidFill>
                  <a:prstClr val="black"/>
                </a:solidFill>
                <a:cs typeface="Courier New" pitchFamily="49" charset="0"/>
              </a:rPr>
              <a:t>that </a:t>
            </a:r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function can only be passed in by name.</a:t>
            </a:r>
          </a:p>
          <a:p>
            <a:pPr marL="0" indent="0">
              <a:buNone/>
            </a:pPr>
            <a:endParaRPr lang="en-US" sz="2800" dirty="0">
              <a:solidFill>
                <a:prstClr val="black"/>
              </a:solidFill>
              <a:cs typeface="Courier New" pitchFamily="49" charset="0"/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-59315" y="1497081"/>
            <a:ext cx="9789104" cy="52006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25425"/>
            <a:r>
              <a:rPr lang="en-US" sz="3600" dirty="0"/>
              <a:t>The Python 3 </a:t>
            </a:r>
            <a:r>
              <a:rPr lang="en-US" sz="3600" spc="-20" dirty="0"/>
              <a:t>designers de</a:t>
            </a:r>
            <a:r>
              <a:rPr lang="en-US" sz="3600" dirty="0"/>
              <a:t>c</a:t>
            </a:r>
            <a:r>
              <a:rPr lang="en-US" sz="3600" spc="-20" dirty="0"/>
              <a:t>ide</a:t>
            </a:r>
            <a:r>
              <a:rPr lang="en-US" sz="3600" dirty="0"/>
              <a:t>d to </a:t>
            </a:r>
            <a:r>
              <a:rPr lang="en-US" sz="3600" spc="-50" dirty="0"/>
              <a:t>ad</a:t>
            </a:r>
            <a:r>
              <a:rPr lang="en-US" sz="3600" dirty="0"/>
              <a:t>d a </a:t>
            </a:r>
            <a:r>
              <a:rPr lang="en-US" sz="3600" spc="-30" dirty="0"/>
              <a:t>featu</a:t>
            </a:r>
            <a:r>
              <a:rPr lang="en-US" sz="3600" dirty="0"/>
              <a:t>r</a:t>
            </a:r>
            <a:r>
              <a:rPr lang="en-US" sz="3600" spc="-100" dirty="0"/>
              <a:t>e</a:t>
            </a:r>
            <a:r>
              <a:rPr lang="en-US" sz="3600" dirty="0"/>
              <a:t>:</a:t>
            </a:r>
          </a:p>
          <a:p>
            <a:pPr lvl="1"/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They wanted to provide a way for the </a:t>
            </a:r>
            <a:r>
              <a:rPr lang="en-US" sz="3200" dirty="0" smtClean="0">
                <a:solidFill>
                  <a:prstClr val="black"/>
                </a:solidFill>
                <a:cs typeface="Courier New" pitchFamily="49" charset="0"/>
              </a:rPr>
              <a:t>progr</a:t>
            </a:r>
            <a:r>
              <a:rPr lang="en-US" sz="3200" spc="-40" dirty="0" smtClean="0">
                <a:solidFill>
                  <a:prstClr val="black"/>
                </a:solidFill>
                <a:cs typeface="Courier New" pitchFamily="49" charset="0"/>
              </a:rPr>
              <a:t>amme</a:t>
            </a:r>
            <a:r>
              <a:rPr lang="en-US" sz="3200" dirty="0" smtClean="0">
                <a:solidFill>
                  <a:prstClr val="black"/>
                </a:solidFill>
                <a:cs typeface="Courier New" pitchFamily="49" charset="0"/>
              </a:rPr>
              <a:t>r</a:t>
            </a:r>
            <a:br>
              <a:rPr lang="en-US" sz="3200" dirty="0" smtClean="0">
                <a:solidFill>
                  <a:prstClr val="black"/>
                </a:solidFill>
                <a:cs typeface="Courier New" pitchFamily="49" charset="0"/>
              </a:rPr>
            </a:br>
            <a:r>
              <a:rPr lang="en-US" sz="3200" spc="-50" dirty="0" smtClean="0">
                <a:solidFill>
                  <a:prstClr val="black"/>
                </a:solidFill>
                <a:cs typeface="Courier New" pitchFamily="49" charset="0"/>
              </a:rPr>
              <a:t>o</a:t>
            </a:r>
            <a:r>
              <a:rPr lang="en-US" sz="3200" dirty="0" smtClean="0">
                <a:solidFill>
                  <a:prstClr val="black"/>
                </a:solidFill>
                <a:cs typeface="Courier New" pitchFamily="49" charset="0"/>
              </a:rPr>
              <a:t>f a </a:t>
            </a:r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function to insist that a specific parameter </a:t>
            </a:r>
            <a:r>
              <a:rPr lang="en-US" sz="3200" dirty="0" smtClean="0">
                <a:solidFill>
                  <a:prstClr val="black"/>
                </a:solidFill>
                <a:cs typeface="Courier New" pitchFamily="49" charset="0"/>
              </a:rPr>
              <a:t>of</a:t>
            </a:r>
            <a:br>
              <a:rPr lang="en-US" sz="3200" dirty="0" smtClean="0">
                <a:solidFill>
                  <a:prstClr val="black"/>
                </a:solidFill>
                <a:cs typeface="Courier New" pitchFamily="49" charset="0"/>
              </a:rPr>
            </a:br>
            <a:r>
              <a:rPr lang="en-US" sz="3200" dirty="0" smtClean="0">
                <a:solidFill>
                  <a:prstClr val="black"/>
                </a:solidFill>
                <a:cs typeface="Courier New" pitchFamily="49" charset="0"/>
              </a:rPr>
              <a:t>that </a:t>
            </a:r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function can only be passed in by name.</a:t>
            </a:r>
          </a:p>
          <a:p>
            <a:pPr marL="0" indent="0">
              <a:buNone/>
            </a:pPr>
            <a:endParaRPr lang="en-US" sz="2800" dirty="0">
              <a:solidFill>
                <a:prstClr val="black"/>
              </a:solidFill>
              <a:cs typeface="Courier New" pitchFamily="49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0070C0"/>
                </a:solidFill>
              </a:rPr>
              <a:t>Asterisked </a:t>
            </a:r>
            <a:r>
              <a:rPr lang="en-US" altLang="zh-TW" dirty="0">
                <a:solidFill>
                  <a:srgbClr val="0070C0"/>
                </a:solidFill>
              </a:rPr>
              <a:t>Variable Goes </a:t>
            </a:r>
            <a:r>
              <a:rPr lang="en-US" altLang="zh-TW" dirty="0" smtClean="0">
                <a:solidFill>
                  <a:srgbClr val="0070C0"/>
                </a:solidFill>
              </a:rPr>
              <a:t>at </a:t>
            </a:r>
            <a:r>
              <a:rPr lang="en-US" altLang="zh-TW" dirty="0">
                <a:solidFill>
                  <a:srgbClr val="0070C0"/>
                </a:solidFill>
              </a:rPr>
              <a:t>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-438941" y="6"/>
            <a:ext cx="10607675" cy="135466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b="1" dirty="0"/>
              <a:t> </a:t>
            </a:r>
            <a:br>
              <a:rPr lang="en-US" altLang="zh-TW" b="1" dirty="0"/>
            </a:br>
            <a:r>
              <a:rPr lang="en-US" altLang="zh-TW" sz="3800" b="1" spc="-160" dirty="0">
                <a:solidFill>
                  <a:srgbClr val="FF0000"/>
                </a:solidFill>
                <a:latin typeface="Agency FB" panose="020B0503020202020204" pitchFamily="34" charset="0"/>
              </a:rPr>
              <a:t>(</a:t>
            </a:r>
            <a:r>
              <a:rPr lang="en-US" altLang="zh-TW" sz="3800" spc="-100" dirty="0">
                <a:solidFill>
                  <a:srgbClr val="FF0000"/>
                </a:solidFill>
              </a:rPr>
              <a:t>u</a:t>
            </a:r>
            <a:r>
              <a:rPr lang="en-US" altLang="zh-TW" sz="3800" spc="-140" dirty="0">
                <a:solidFill>
                  <a:srgbClr val="FF0000"/>
                </a:solidFill>
              </a:rPr>
              <a:t>nl</a:t>
            </a:r>
            <a:r>
              <a:rPr lang="en-US" altLang="zh-TW" sz="3800" spc="-100" dirty="0">
                <a:solidFill>
                  <a:srgbClr val="FF0000"/>
                </a:solidFill>
              </a:rPr>
              <a:t>ess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r</a:t>
            </a:r>
            <a:r>
              <a:rPr lang="en-US" altLang="zh-TW" sz="3800" spc="-150" dirty="0" smtClean="0">
                <a:solidFill>
                  <a:srgbClr val="FF0000"/>
                </a:solidFill>
              </a:rPr>
              <a:t>e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maining</a:t>
            </a:r>
            <a:r>
              <a:rPr lang="en-US" altLang="zh-TW" sz="3600" spc="-100" dirty="0" smtClean="0">
                <a:solidFill>
                  <a:srgbClr val="FF0000"/>
                </a:solidFill>
              </a:rPr>
              <a:t> 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para</a:t>
            </a:r>
            <a:r>
              <a:rPr lang="en-US" altLang="zh-TW" sz="3800" spc="-140" dirty="0" smtClean="0">
                <a:solidFill>
                  <a:srgbClr val="FF0000"/>
                </a:solidFill>
              </a:rPr>
              <a:t>m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et</a:t>
            </a:r>
            <a:r>
              <a:rPr lang="en-US" altLang="zh-TW" sz="3800" spc="-140" dirty="0" smtClean="0">
                <a:solidFill>
                  <a:srgbClr val="FF0000"/>
                </a:solidFill>
              </a:rPr>
              <a:t>e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rs</a:t>
            </a:r>
            <a:r>
              <a:rPr lang="en-US" altLang="zh-TW" sz="3600" spc="-100" dirty="0" smtClean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are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40" dirty="0">
                <a:solidFill>
                  <a:srgbClr val="FF0000"/>
                </a:solidFill>
              </a:rPr>
              <a:t>n</a:t>
            </a:r>
            <a:r>
              <a:rPr lang="en-US" altLang="zh-TW" sz="3800" spc="-100" dirty="0">
                <a:solidFill>
                  <a:srgbClr val="FF0000"/>
                </a:solidFill>
              </a:rPr>
              <a:t>a</a:t>
            </a:r>
            <a:r>
              <a:rPr lang="en-US" altLang="zh-TW" sz="3800" spc="-180" dirty="0">
                <a:solidFill>
                  <a:srgbClr val="FF0000"/>
                </a:solidFill>
              </a:rPr>
              <a:t>m</a:t>
            </a:r>
            <a:r>
              <a:rPr lang="en-US" altLang="zh-TW" sz="3800" spc="-40" dirty="0">
                <a:solidFill>
                  <a:srgbClr val="FF0000"/>
                </a:solidFill>
              </a:rPr>
              <a:t>e</a:t>
            </a:r>
            <a:r>
              <a:rPr lang="en-US" altLang="zh-TW" sz="3800" spc="-150" dirty="0">
                <a:solidFill>
                  <a:srgbClr val="FF0000"/>
                </a:solidFill>
              </a:rPr>
              <a:t>d</a:t>
            </a:r>
            <a:r>
              <a:rPr lang="en-US" altLang="zh-TW" sz="3800" b="1" spc="-100" dirty="0">
                <a:solidFill>
                  <a:srgbClr val="FF0000"/>
                </a:solidFill>
                <a:latin typeface="Agency FB" panose="020B0503020202020204" pitchFamily="34" charset="0"/>
              </a:rPr>
              <a:t>)</a:t>
            </a:r>
            <a:endParaRPr lang="zh-TW" altLang="en-US" sz="3800" b="1" spc="-100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-3313" y="5424384"/>
            <a:ext cx="9733101" cy="1441928"/>
            <a:chOff x="82400" y="2875153"/>
            <a:chExt cx="10525275" cy="1441928"/>
          </a:xfrm>
        </p:grpSpPr>
        <p:sp>
          <p:nvSpPr>
            <p:cNvPr id="13" name="Rounded Rectangle 12"/>
            <p:cNvSpPr/>
            <p:nvPr/>
          </p:nvSpPr>
          <p:spPr>
            <a:xfrm>
              <a:off x="5437147" y="2899326"/>
              <a:ext cx="5170528" cy="1412065"/>
            </a:xfrm>
            <a:prstGeom prst="roundRect">
              <a:avLst/>
            </a:prstGeom>
            <a:solidFill>
              <a:srgbClr val="FD3E3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>
              <a:noAutofit/>
            </a:bodyPr>
            <a:lstStyle/>
            <a:p>
              <a:pPr marL="0" lvl="1" algn="ctr">
                <a:lnSpc>
                  <a:spcPct val="80000"/>
                </a:lnSpc>
              </a:pPr>
              <a:r>
                <a:rPr lang="en-US" altLang="zh-TW" sz="4000" dirty="0">
                  <a:solidFill>
                    <a:prstClr val="white"/>
                  </a:solidFill>
                </a:rPr>
                <a:t>And, it </a:t>
              </a:r>
              <a:r>
                <a:rPr lang="en-US" altLang="zh-TW" sz="4000" b="1" i="1" dirty="0">
                  <a:solidFill>
                    <a:srgbClr val="FFFF00"/>
                  </a:solidFill>
                </a:rPr>
                <a:t>must be at </a:t>
              </a:r>
              <a:endParaRPr lang="en-US" altLang="zh-TW" sz="4000" b="1" i="1" dirty="0" smtClean="0">
                <a:solidFill>
                  <a:srgbClr val="FFFF00"/>
                </a:solidFill>
              </a:endParaRPr>
            </a:p>
            <a:p>
              <a:pPr marL="0" lvl="1" algn="ctr">
                <a:lnSpc>
                  <a:spcPct val="75000"/>
                </a:lnSpc>
              </a:pPr>
              <a:r>
                <a:rPr lang="en-US" altLang="zh-TW" sz="4000" b="1" i="1" dirty="0" smtClean="0">
                  <a:solidFill>
                    <a:srgbClr val="FFFF00"/>
                  </a:solidFill>
                </a:rPr>
                <a:t>the </a:t>
              </a:r>
              <a:r>
                <a:rPr lang="en-US" altLang="zh-TW" sz="4000" b="1" i="1" dirty="0">
                  <a:solidFill>
                    <a:srgbClr val="FFFF00"/>
                  </a:solidFill>
                </a:rPr>
                <a:t>end</a:t>
              </a:r>
              <a:r>
                <a:rPr lang="en-US" altLang="zh-TW" sz="4000" dirty="0">
                  <a:solidFill>
                    <a:prstClr val="white"/>
                  </a:solidFill>
                </a:rPr>
                <a:t> of the </a:t>
              </a:r>
              <a:r>
                <a:rPr lang="en-US" altLang="zh-TW" sz="4000" dirty="0" smtClean="0">
                  <a:solidFill>
                    <a:prstClr val="white"/>
                  </a:solidFill>
                </a:rPr>
                <a:t>call </a:t>
              </a:r>
              <a:r>
                <a:rPr lang="en-US" altLang="zh-TW" sz="4000" dirty="0">
                  <a:solidFill>
                    <a:prstClr val="white"/>
                  </a:solidFill>
                </a:rPr>
                <a:t>arguments.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2400" y="2875153"/>
              <a:ext cx="5170528" cy="1441928"/>
            </a:xfrm>
            <a:prstGeom prst="roundRect">
              <a:avLst/>
            </a:prstGeom>
            <a:solidFill>
              <a:srgbClr val="FD3E3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>
              <a:noAutofit/>
            </a:bodyPr>
            <a:lstStyle/>
            <a:p>
              <a:pPr marL="0" lvl="1" algn="ctr">
                <a:lnSpc>
                  <a:spcPct val="75000"/>
                </a:lnSpc>
              </a:pPr>
              <a:r>
                <a:rPr lang="en-US" altLang="zh-TW" sz="4000" dirty="0"/>
                <a:t>Any parameter that comes</a:t>
              </a:r>
              <a:r>
                <a:rPr lang="en-US" altLang="zh-TW" sz="2800" dirty="0"/>
                <a:t> </a:t>
              </a:r>
              <a:r>
                <a:rPr lang="en-US" altLang="zh-TW" sz="4000" dirty="0"/>
                <a:t>after</a:t>
              </a:r>
              <a:r>
                <a:rPr lang="en-US" altLang="zh-TW" sz="2800" dirty="0"/>
                <a:t> </a:t>
              </a:r>
              <a:r>
                <a:rPr lang="en-US" altLang="zh-TW" sz="4000" dirty="0"/>
                <a:t>the</a:t>
              </a:r>
              <a:r>
                <a:rPr lang="en-US" altLang="zh-TW" sz="2800" dirty="0"/>
                <a:t> </a:t>
              </a:r>
              <a:r>
                <a:rPr lang="en-US" altLang="zh-TW" sz="4000" dirty="0"/>
                <a:t>*</a:t>
              </a:r>
              <a:r>
                <a:rPr lang="en-US" altLang="zh-TW" sz="4000" dirty="0" smtClean="0"/>
                <a:t> </a:t>
              </a:r>
              <a:r>
                <a:rPr lang="en-US" altLang="zh-TW" sz="4000" dirty="0"/>
                <a:t>must be named.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932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9267E-6 -2.59259E-6 L 0.00015 -0.2527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6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1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 txBox="1">
            <a:spLocks/>
          </p:cNvSpPr>
          <p:nvPr/>
        </p:nvSpPr>
        <p:spPr>
          <a:xfrm>
            <a:off x="-59316" y="1497081"/>
            <a:ext cx="9900497" cy="52006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25425"/>
            <a:r>
              <a:rPr lang="en-US" sz="3600" dirty="0"/>
              <a:t>The Python 3 </a:t>
            </a:r>
            <a:r>
              <a:rPr lang="en-US" sz="3600" spc="-20" dirty="0"/>
              <a:t>designers de</a:t>
            </a:r>
            <a:r>
              <a:rPr lang="en-US" sz="3600" dirty="0"/>
              <a:t>c</a:t>
            </a:r>
            <a:r>
              <a:rPr lang="en-US" sz="3600" spc="-20" dirty="0"/>
              <a:t>ide</a:t>
            </a:r>
            <a:r>
              <a:rPr lang="en-US" sz="3600" dirty="0"/>
              <a:t>d to </a:t>
            </a:r>
            <a:r>
              <a:rPr lang="en-US" sz="3600" spc="-50" dirty="0"/>
              <a:t>ad</a:t>
            </a:r>
            <a:r>
              <a:rPr lang="en-US" sz="3600" dirty="0"/>
              <a:t>d a </a:t>
            </a:r>
            <a:r>
              <a:rPr lang="en-US" sz="3600" spc="-30" dirty="0"/>
              <a:t>featu</a:t>
            </a:r>
            <a:r>
              <a:rPr lang="en-US" sz="3600" dirty="0"/>
              <a:t>r</a:t>
            </a:r>
            <a:r>
              <a:rPr lang="en-US" sz="3600" spc="-100" dirty="0"/>
              <a:t>e</a:t>
            </a:r>
            <a:r>
              <a:rPr lang="en-US" sz="3600" dirty="0"/>
              <a:t>:</a:t>
            </a:r>
          </a:p>
          <a:p>
            <a:pPr lvl="1"/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They wanted to provide a way for the </a:t>
            </a:r>
            <a:r>
              <a:rPr lang="en-US" sz="3200" dirty="0" smtClean="0">
                <a:solidFill>
                  <a:prstClr val="black"/>
                </a:solidFill>
                <a:cs typeface="Courier New" pitchFamily="49" charset="0"/>
              </a:rPr>
              <a:t>progr</a:t>
            </a:r>
            <a:r>
              <a:rPr lang="en-US" sz="3200" spc="-40" dirty="0" smtClean="0">
                <a:solidFill>
                  <a:prstClr val="black"/>
                </a:solidFill>
                <a:cs typeface="Courier New" pitchFamily="49" charset="0"/>
              </a:rPr>
              <a:t>amme</a:t>
            </a:r>
            <a:r>
              <a:rPr lang="en-US" sz="3200" dirty="0" smtClean="0">
                <a:solidFill>
                  <a:prstClr val="black"/>
                </a:solidFill>
                <a:cs typeface="Courier New" pitchFamily="49" charset="0"/>
              </a:rPr>
              <a:t>r</a:t>
            </a:r>
            <a:br>
              <a:rPr lang="en-US" sz="3200" dirty="0" smtClean="0">
                <a:solidFill>
                  <a:prstClr val="black"/>
                </a:solidFill>
                <a:cs typeface="Courier New" pitchFamily="49" charset="0"/>
              </a:rPr>
            </a:br>
            <a:r>
              <a:rPr lang="en-US" sz="3200" spc="-50" dirty="0" smtClean="0">
                <a:solidFill>
                  <a:prstClr val="black"/>
                </a:solidFill>
                <a:cs typeface="Courier New" pitchFamily="49" charset="0"/>
              </a:rPr>
              <a:t>o</a:t>
            </a:r>
            <a:r>
              <a:rPr lang="en-US" sz="3200" dirty="0" smtClean="0">
                <a:solidFill>
                  <a:prstClr val="black"/>
                </a:solidFill>
                <a:cs typeface="Courier New" pitchFamily="49" charset="0"/>
              </a:rPr>
              <a:t>f a </a:t>
            </a:r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function to insist that a specific parameter </a:t>
            </a:r>
            <a:r>
              <a:rPr lang="en-US" sz="3200" dirty="0" smtClean="0">
                <a:solidFill>
                  <a:prstClr val="black"/>
                </a:solidFill>
                <a:cs typeface="Courier New" pitchFamily="49" charset="0"/>
              </a:rPr>
              <a:t>of</a:t>
            </a:r>
            <a:br>
              <a:rPr lang="en-US" sz="3200" dirty="0" smtClean="0">
                <a:solidFill>
                  <a:prstClr val="black"/>
                </a:solidFill>
                <a:cs typeface="Courier New" pitchFamily="49" charset="0"/>
              </a:rPr>
            </a:br>
            <a:r>
              <a:rPr lang="en-US" sz="3200" dirty="0" smtClean="0">
                <a:solidFill>
                  <a:prstClr val="black"/>
                </a:solidFill>
                <a:cs typeface="Courier New" pitchFamily="49" charset="0"/>
              </a:rPr>
              <a:t>that </a:t>
            </a:r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function can only be passed in by name.</a:t>
            </a:r>
          </a:p>
          <a:p>
            <a:pPr marL="400050" indent="-225425"/>
            <a:r>
              <a:rPr lang="en-US" sz="3600" spc="-100" dirty="0">
                <a:solidFill>
                  <a:prstClr val="black"/>
                </a:solidFill>
                <a:cs typeface="Courier New" pitchFamily="49" charset="0"/>
              </a:rPr>
              <a:t>A</a:t>
            </a:r>
            <a:r>
              <a:rPr lang="en-US" sz="3600" spc="-170" dirty="0">
                <a:solidFill>
                  <a:prstClr val="black"/>
                </a:solidFill>
                <a:cs typeface="Courier New" pitchFamily="49" charset="0"/>
              </a:rPr>
              <a:t>n</a:t>
            </a:r>
            <a:r>
              <a:rPr lang="en-US" sz="3600" spc="-40" dirty="0">
                <a:solidFill>
                  <a:prstClr val="black"/>
                </a:solidFill>
                <a:cs typeface="Courier New" pitchFamily="49" charset="0"/>
              </a:rPr>
              <a:t>y p</a:t>
            </a:r>
            <a:r>
              <a:rPr lang="en-US" sz="3600" spc="-90" dirty="0">
                <a:solidFill>
                  <a:prstClr val="black"/>
                </a:solidFill>
                <a:cs typeface="Courier New" pitchFamily="49" charset="0"/>
              </a:rPr>
              <a:t>a</a:t>
            </a:r>
            <a:r>
              <a:rPr lang="en-US" sz="3600" dirty="0">
                <a:solidFill>
                  <a:prstClr val="black"/>
                </a:solidFill>
                <a:cs typeface="Courier New" pitchFamily="49" charset="0"/>
              </a:rPr>
              <a:t>rameters aft</a:t>
            </a:r>
            <a:r>
              <a:rPr lang="en-US" sz="3600" spc="-100" dirty="0">
                <a:solidFill>
                  <a:prstClr val="black"/>
                </a:solidFill>
                <a:cs typeface="Courier New" pitchFamily="49" charset="0"/>
              </a:rPr>
              <a:t>e</a:t>
            </a:r>
            <a:r>
              <a:rPr lang="en-US" sz="3600" dirty="0">
                <a:solidFill>
                  <a:prstClr val="black"/>
                </a:solidFill>
                <a:cs typeface="Courier New" pitchFamily="49" charset="0"/>
              </a:rPr>
              <a:t>r t</a:t>
            </a:r>
            <a:r>
              <a:rPr lang="en-US" sz="3600" spc="-160" dirty="0">
                <a:solidFill>
                  <a:prstClr val="black"/>
                </a:solidFill>
                <a:cs typeface="Courier New" pitchFamily="49" charset="0"/>
              </a:rPr>
              <a:t>h</a:t>
            </a:r>
            <a:r>
              <a:rPr lang="en-US" sz="3600" dirty="0">
                <a:solidFill>
                  <a:prstClr val="black"/>
                </a:solidFill>
                <a:cs typeface="Courier New" pitchFamily="49" charset="0"/>
              </a:rPr>
              <a:t>e</a:t>
            </a:r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 </a:t>
            </a:r>
            <a:r>
              <a:rPr lang="en-US" sz="3600" dirty="0">
                <a:solidFill>
                  <a:prstClr val="black"/>
                </a:solidFill>
                <a:cs typeface="Courier New" pitchFamily="49" charset="0"/>
              </a:rPr>
              <a:t>aster</a:t>
            </a:r>
            <a:r>
              <a:rPr lang="en-US" sz="3600" spc="-50" dirty="0">
                <a:solidFill>
                  <a:prstClr val="black"/>
                </a:solidFill>
                <a:cs typeface="Courier New" pitchFamily="49" charset="0"/>
              </a:rPr>
              <a:t>is</a:t>
            </a:r>
            <a:r>
              <a:rPr lang="en-US" sz="3600" dirty="0">
                <a:solidFill>
                  <a:prstClr val="black"/>
                </a:solidFill>
                <a:cs typeface="Courier New" pitchFamily="49" charset="0"/>
              </a:rPr>
              <a:t>k</a:t>
            </a:r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 </a:t>
            </a:r>
            <a:r>
              <a:rPr lang="en-US" sz="3600" spc="-100" dirty="0">
                <a:solidFill>
                  <a:prstClr val="black"/>
                </a:solidFill>
                <a:cs typeface="Courier New" pitchFamily="49" charset="0"/>
              </a:rPr>
              <a:t>mu</a:t>
            </a:r>
            <a:r>
              <a:rPr lang="en-US" sz="3600" dirty="0">
                <a:solidFill>
                  <a:prstClr val="black"/>
                </a:solidFill>
                <a:cs typeface="Courier New" pitchFamily="49" charset="0"/>
              </a:rPr>
              <a:t>st </a:t>
            </a:r>
            <a:r>
              <a:rPr lang="en-US" sz="3600" spc="-100" dirty="0">
                <a:solidFill>
                  <a:prstClr val="black"/>
                </a:solidFill>
                <a:cs typeface="Courier New" pitchFamily="49" charset="0"/>
              </a:rPr>
              <a:t>be na</a:t>
            </a:r>
            <a:r>
              <a:rPr lang="en-US" sz="3600" spc="-50" dirty="0">
                <a:solidFill>
                  <a:prstClr val="black"/>
                </a:solidFill>
                <a:cs typeface="Courier New" pitchFamily="49" charset="0"/>
              </a:rPr>
              <a:t>me</a:t>
            </a:r>
            <a:r>
              <a:rPr lang="en-US" sz="3600" spc="-100" dirty="0">
                <a:solidFill>
                  <a:prstClr val="black"/>
                </a:solidFill>
                <a:cs typeface="Courier New" pitchFamily="49" charset="0"/>
              </a:rPr>
              <a:t>d</a:t>
            </a:r>
            <a:r>
              <a:rPr lang="en-US" sz="3600" dirty="0">
                <a:solidFill>
                  <a:prstClr val="black"/>
                </a:solidFill>
                <a:cs typeface="Courier New" pitchFamily="49" charset="0"/>
              </a:rPr>
              <a:t>.</a:t>
            </a:r>
          </a:p>
          <a:p>
            <a:pPr lvl="1"/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And must go at the end of the </a:t>
            </a:r>
            <a:r>
              <a:rPr lang="en-US" sz="3200" dirty="0" smtClean="0">
                <a:solidFill>
                  <a:prstClr val="black"/>
                </a:solidFill>
                <a:cs typeface="Courier New" pitchFamily="49" charset="0"/>
              </a:rPr>
              <a:t>call </a:t>
            </a:r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argument list.</a:t>
            </a:r>
          </a:p>
          <a:p>
            <a:r>
              <a:rPr lang="en-US" sz="3600" dirty="0">
                <a:solidFill>
                  <a:schemeClr val="bg1"/>
                </a:solidFill>
                <a:cs typeface="Courier New" pitchFamily="49" charset="0"/>
              </a:rPr>
              <a:t>w</a:t>
            </a:r>
            <a:endParaRPr lang="en-US" sz="2800" dirty="0">
              <a:solidFill>
                <a:schemeClr val="bg1"/>
              </a:solidFill>
              <a:cs typeface="Courier New" pitchFamily="49" charset="0"/>
            </a:endParaRPr>
          </a:p>
        </p:txBody>
      </p:sp>
      <p:sp>
        <p:nvSpPr>
          <p:cNvPr id="8" name="Down Arrow 7"/>
          <p:cNvSpPr/>
          <p:nvPr/>
        </p:nvSpPr>
        <p:spPr>
          <a:xfrm flipH="1" flipV="1">
            <a:off x="7161835" y="4464848"/>
            <a:ext cx="534203" cy="997058"/>
          </a:xfrm>
          <a:prstGeom prst="downArrow">
            <a:avLst/>
          </a:prstGeom>
          <a:solidFill>
            <a:srgbClr val="FD3E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9" name="Down Arrow 8"/>
          <p:cNvSpPr/>
          <p:nvPr/>
        </p:nvSpPr>
        <p:spPr>
          <a:xfrm flipH="1" flipV="1">
            <a:off x="1892002" y="3990758"/>
            <a:ext cx="534203" cy="1448975"/>
          </a:xfrm>
          <a:prstGeom prst="downArrow">
            <a:avLst/>
          </a:prstGeom>
          <a:solidFill>
            <a:srgbClr val="FD3E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0070C0"/>
                </a:solidFill>
              </a:rPr>
              <a:t>Asterisked </a:t>
            </a:r>
            <a:r>
              <a:rPr lang="en-US" altLang="zh-TW" dirty="0">
                <a:solidFill>
                  <a:srgbClr val="0070C0"/>
                </a:solidFill>
              </a:rPr>
              <a:t>Variable Goes </a:t>
            </a:r>
            <a:r>
              <a:rPr lang="en-US" altLang="zh-TW" dirty="0" smtClean="0">
                <a:solidFill>
                  <a:srgbClr val="0070C0"/>
                </a:solidFill>
              </a:rPr>
              <a:t>at </a:t>
            </a:r>
            <a:r>
              <a:rPr lang="en-US" altLang="zh-TW" dirty="0">
                <a:solidFill>
                  <a:srgbClr val="0070C0"/>
                </a:solidFill>
              </a:rPr>
              <a:t>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-438941" y="6"/>
            <a:ext cx="10607675" cy="135466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b="1" dirty="0"/>
              <a:t> </a:t>
            </a:r>
            <a:br>
              <a:rPr lang="en-US" altLang="zh-TW" b="1" dirty="0"/>
            </a:br>
            <a:r>
              <a:rPr lang="en-US" altLang="zh-TW" sz="3800" b="1" spc="-160" dirty="0">
                <a:solidFill>
                  <a:srgbClr val="FF0000"/>
                </a:solidFill>
                <a:latin typeface="Agency FB" panose="020B0503020202020204" pitchFamily="34" charset="0"/>
              </a:rPr>
              <a:t>(</a:t>
            </a:r>
            <a:r>
              <a:rPr lang="en-US" altLang="zh-TW" sz="3800" spc="-100" dirty="0">
                <a:solidFill>
                  <a:srgbClr val="FF0000"/>
                </a:solidFill>
              </a:rPr>
              <a:t>u</a:t>
            </a:r>
            <a:r>
              <a:rPr lang="en-US" altLang="zh-TW" sz="3800" spc="-140" dirty="0">
                <a:solidFill>
                  <a:srgbClr val="FF0000"/>
                </a:solidFill>
              </a:rPr>
              <a:t>nl</a:t>
            </a:r>
            <a:r>
              <a:rPr lang="en-US" altLang="zh-TW" sz="3800" spc="-100" dirty="0">
                <a:solidFill>
                  <a:srgbClr val="FF0000"/>
                </a:solidFill>
              </a:rPr>
              <a:t>ess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r</a:t>
            </a:r>
            <a:r>
              <a:rPr lang="en-US" altLang="zh-TW" sz="3800" spc="-150" dirty="0" smtClean="0">
                <a:solidFill>
                  <a:srgbClr val="FF0000"/>
                </a:solidFill>
              </a:rPr>
              <a:t>e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maining</a:t>
            </a:r>
            <a:r>
              <a:rPr lang="en-US" altLang="zh-TW" sz="3600" spc="-100" dirty="0" smtClean="0">
                <a:solidFill>
                  <a:srgbClr val="FF0000"/>
                </a:solidFill>
              </a:rPr>
              <a:t> 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para</a:t>
            </a:r>
            <a:r>
              <a:rPr lang="en-US" altLang="zh-TW" sz="3800" spc="-140" dirty="0" smtClean="0">
                <a:solidFill>
                  <a:srgbClr val="FF0000"/>
                </a:solidFill>
              </a:rPr>
              <a:t>m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et</a:t>
            </a:r>
            <a:r>
              <a:rPr lang="en-US" altLang="zh-TW" sz="3800" spc="-140" dirty="0" smtClean="0">
                <a:solidFill>
                  <a:srgbClr val="FF0000"/>
                </a:solidFill>
              </a:rPr>
              <a:t>e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rs</a:t>
            </a:r>
            <a:r>
              <a:rPr lang="en-US" altLang="zh-TW" sz="3600" spc="-100" dirty="0" smtClean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are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40" dirty="0">
                <a:solidFill>
                  <a:srgbClr val="FF0000"/>
                </a:solidFill>
              </a:rPr>
              <a:t>n</a:t>
            </a:r>
            <a:r>
              <a:rPr lang="en-US" altLang="zh-TW" sz="3800" spc="-100" dirty="0">
                <a:solidFill>
                  <a:srgbClr val="FF0000"/>
                </a:solidFill>
              </a:rPr>
              <a:t>a</a:t>
            </a:r>
            <a:r>
              <a:rPr lang="en-US" altLang="zh-TW" sz="3800" spc="-180" dirty="0">
                <a:solidFill>
                  <a:srgbClr val="FF0000"/>
                </a:solidFill>
              </a:rPr>
              <a:t>m</a:t>
            </a:r>
            <a:r>
              <a:rPr lang="en-US" altLang="zh-TW" sz="3800" spc="-40" dirty="0">
                <a:solidFill>
                  <a:srgbClr val="FF0000"/>
                </a:solidFill>
              </a:rPr>
              <a:t>e</a:t>
            </a:r>
            <a:r>
              <a:rPr lang="en-US" altLang="zh-TW" sz="3800" spc="-150" dirty="0">
                <a:solidFill>
                  <a:srgbClr val="FF0000"/>
                </a:solidFill>
              </a:rPr>
              <a:t>d</a:t>
            </a:r>
            <a:r>
              <a:rPr lang="en-US" altLang="zh-TW" sz="3800" b="1" spc="-100" dirty="0">
                <a:solidFill>
                  <a:srgbClr val="FF0000"/>
                </a:solidFill>
                <a:latin typeface="Agency FB" panose="020B0503020202020204" pitchFamily="34" charset="0"/>
              </a:rPr>
              <a:t>)</a:t>
            </a:r>
            <a:endParaRPr lang="zh-TW" altLang="en-US" sz="3800" b="1" spc="-100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948414" y="5448557"/>
            <a:ext cx="4781374" cy="1412065"/>
          </a:xfrm>
          <a:prstGeom prst="roundRect">
            <a:avLst/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>
            <a:noAutofit/>
          </a:bodyPr>
          <a:lstStyle/>
          <a:p>
            <a:pPr marL="0" lvl="1" algn="ctr">
              <a:lnSpc>
                <a:spcPct val="80000"/>
              </a:lnSpc>
            </a:pPr>
            <a:r>
              <a:rPr lang="en-US" altLang="zh-TW" sz="4000" dirty="0">
                <a:solidFill>
                  <a:prstClr val="white"/>
                </a:solidFill>
              </a:rPr>
              <a:t>And, it </a:t>
            </a:r>
            <a:r>
              <a:rPr lang="en-US" altLang="zh-TW" sz="4000" b="1" i="1" dirty="0">
                <a:solidFill>
                  <a:srgbClr val="FFFF00"/>
                </a:solidFill>
              </a:rPr>
              <a:t>must be at </a:t>
            </a:r>
            <a:endParaRPr lang="en-US" altLang="zh-TW" sz="4000" b="1" i="1" dirty="0" smtClean="0">
              <a:solidFill>
                <a:srgbClr val="FFFF00"/>
              </a:solidFill>
            </a:endParaRPr>
          </a:p>
          <a:p>
            <a:pPr marL="0" lvl="1" algn="ctr">
              <a:lnSpc>
                <a:spcPct val="75000"/>
              </a:lnSpc>
            </a:pPr>
            <a:r>
              <a:rPr lang="en-US" altLang="zh-TW" sz="4000" b="1" i="1" dirty="0" smtClean="0">
                <a:solidFill>
                  <a:srgbClr val="FFFF00"/>
                </a:solidFill>
              </a:rPr>
              <a:t>the </a:t>
            </a:r>
            <a:r>
              <a:rPr lang="en-US" altLang="zh-TW" sz="4000" b="1" i="1" dirty="0">
                <a:solidFill>
                  <a:srgbClr val="FFFF00"/>
                </a:solidFill>
              </a:rPr>
              <a:t>end</a:t>
            </a:r>
            <a:r>
              <a:rPr lang="en-US" altLang="zh-TW" sz="4000" dirty="0">
                <a:solidFill>
                  <a:prstClr val="white"/>
                </a:solidFill>
              </a:rPr>
              <a:t> of the </a:t>
            </a:r>
            <a:r>
              <a:rPr lang="en-US" altLang="zh-TW" sz="4000" dirty="0" smtClean="0">
                <a:solidFill>
                  <a:prstClr val="white"/>
                </a:solidFill>
              </a:rPr>
              <a:t>call </a:t>
            </a:r>
            <a:r>
              <a:rPr lang="en-US" altLang="zh-TW" sz="4000" dirty="0">
                <a:solidFill>
                  <a:prstClr val="white"/>
                </a:solidFill>
              </a:rPr>
              <a:t>arguments.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-3313" y="5424384"/>
            <a:ext cx="4781374" cy="1441928"/>
          </a:xfrm>
          <a:prstGeom prst="roundRect">
            <a:avLst/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>
            <a:noAutofit/>
          </a:bodyPr>
          <a:lstStyle/>
          <a:p>
            <a:pPr marL="0" lvl="1" algn="ctr">
              <a:lnSpc>
                <a:spcPct val="75000"/>
              </a:lnSpc>
            </a:pPr>
            <a:r>
              <a:rPr lang="en-US" altLang="zh-TW" sz="4000" dirty="0"/>
              <a:t>Any parameter that comes</a:t>
            </a:r>
            <a:r>
              <a:rPr lang="en-US" altLang="zh-TW" sz="2800" dirty="0"/>
              <a:t> </a:t>
            </a:r>
            <a:r>
              <a:rPr lang="en-US" altLang="zh-TW" sz="4000" dirty="0"/>
              <a:t>after</a:t>
            </a:r>
            <a:r>
              <a:rPr lang="en-US" altLang="zh-TW" sz="2800" dirty="0"/>
              <a:t> </a:t>
            </a:r>
            <a:r>
              <a:rPr lang="en-US" altLang="zh-TW" sz="4000" dirty="0"/>
              <a:t>the</a:t>
            </a:r>
            <a:r>
              <a:rPr lang="en-US" altLang="zh-TW" sz="2800" dirty="0"/>
              <a:t> </a:t>
            </a:r>
            <a:r>
              <a:rPr lang="en-US" altLang="zh-TW" sz="4000" dirty="0"/>
              <a:t>*</a:t>
            </a:r>
            <a:r>
              <a:rPr lang="en-US" altLang="zh-TW" sz="4000" dirty="0" smtClean="0"/>
              <a:t> </a:t>
            </a:r>
            <a:r>
              <a:rPr lang="en-US" altLang="zh-TW" sz="4000" dirty="0"/>
              <a:t>must be named. </a:t>
            </a:r>
          </a:p>
        </p:txBody>
      </p:sp>
    </p:spTree>
    <p:extLst>
      <p:ext uri="{BB962C8B-B14F-4D97-AF65-F5344CB8AC3E}">
        <p14:creationId xmlns:p14="http://schemas.microsoft.com/office/powerpoint/2010/main" val="2646528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xit" presetSubtype="4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xit" presetSubtype="4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5" grpId="0" animBg="1"/>
      <p:bldP spid="1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 txBox="1">
            <a:spLocks/>
          </p:cNvSpPr>
          <p:nvPr/>
        </p:nvSpPr>
        <p:spPr>
          <a:xfrm>
            <a:off x="-59316" y="1497081"/>
            <a:ext cx="9900497" cy="52006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225425"/>
            <a:r>
              <a:rPr lang="en-US" sz="3600" dirty="0"/>
              <a:t>The Python 3 </a:t>
            </a:r>
            <a:r>
              <a:rPr lang="en-US" sz="3600" spc="-20" dirty="0"/>
              <a:t>designers de</a:t>
            </a:r>
            <a:r>
              <a:rPr lang="en-US" sz="3600" dirty="0"/>
              <a:t>c</a:t>
            </a:r>
            <a:r>
              <a:rPr lang="en-US" sz="3600" spc="-20" dirty="0"/>
              <a:t>ide</a:t>
            </a:r>
            <a:r>
              <a:rPr lang="en-US" sz="3600" dirty="0"/>
              <a:t>d to </a:t>
            </a:r>
            <a:r>
              <a:rPr lang="en-US" sz="3600" spc="-50" dirty="0"/>
              <a:t>ad</a:t>
            </a:r>
            <a:r>
              <a:rPr lang="en-US" sz="3600" dirty="0"/>
              <a:t>d a </a:t>
            </a:r>
            <a:r>
              <a:rPr lang="en-US" sz="3600" spc="-30" dirty="0"/>
              <a:t>featu</a:t>
            </a:r>
            <a:r>
              <a:rPr lang="en-US" sz="3600" dirty="0"/>
              <a:t>r</a:t>
            </a:r>
            <a:r>
              <a:rPr lang="en-US" sz="3600" spc="-100" dirty="0"/>
              <a:t>e</a:t>
            </a:r>
            <a:r>
              <a:rPr lang="en-US" sz="3600" dirty="0"/>
              <a:t>:</a:t>
            </a:r>
          </a:p>
          <a:p>
            <a:pPr lvl="1"/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They wanted to provide a way for the </a:t>
            </a:r>
            <a:r>
              <a:rPr lang="en-US" sz="3200" dirty="0" smtClean="0">
                <a:solidFill>
                  <a:prstClr val="black"/>
                </a:solidFill>
                <a:cs typeface="Courier New" pitchFamily="49" charset="0"/>
              </a:rPr>
              <a:t>progr</a:t>
            </a:r>
            <a:r>
              <a:rPr lang="en-US" sz="3200" spc="-40" dirty="0" smtClean="0">
                <a:solidFill>
                  <a:prstClr val="black"/>
                </a:solidFill>
                <a:cs typeface="Courier New" pitchFamily="49" charset="0"/>
              </a:rPr>
              <a:t>amme</a:t>
            </a:r>
            <a:r>
              <a:rPr lang="en-US" sz="3200" dirty="0" smtClean="0">
                <a:solidFill>
                  <a:prstClr val="black"/>
                </a:solidFill>
                <a:cs typeface="Courier New" pitchFamily="49" charset="0"/>
              </a:rPr>
              <a:t>r</a:t>
            </a:r>
            <a:br>
              <a:rPr lang="en-US" sz="3200" dirty="0" smtClean="0">
                <a:solidFill>
                  <a:prstClr val="black"/>
                </a:solidFill>
                <a:cs typeface="Courier New" pitchFamily="49" charset="0"/>
              </a:rPr>
            </a:br>
            <a:r>
              <a:rPr lang="en-US" sz="3200" spc="-50" dirty="0" smtClean="0">
                <a:solidFill>
                  <a:prstClr val="black"/>
                </a:solidFill>
                <a:cs typeface="Courier New" pitchFamily="49" charset="0"/>
              </a:rPr>
              <a:t>o</a:t>
            </a:r>
            <a:r>
              <a:rPr lang="en-US" sz="3200" dirty="0" smtClean="0">
                <a:solidFill>
                  <a:prstClr val="black"/>
                </a:solidFill>
                <a:cs typeface="Courier New" pitchFamily="49" charset="0"/>
              </a:rPr>
              <a:t>f a </a:t>
            </a:r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function to insist that a specific parameter </a:t>
            </a:r>
            <a:r>
              <a:rPr lang="en-US" sz="3200" dirty="0" smtClean="0">
                <a:solidFill>
                  <a:prstClr val="black"/>
                </a:solidFill>
                <a:cs typeface="Courier New" pitchFamily="49" charset="0"/>
              </a:rPr>
              <a:t>of</a:t>
            </a:r>
            <a:br>
              <a:rPr lang="en-US" sz="3200" dirty="0" smtClean="0">
                <a:solidFill>
                  <a:prstClr val="black"/>
                </a:solidFill>
                <a:cs typeface="Courier New" pitchFamily="49" charset="0"/>
              </a:rPr>
            </a:br>
            <a:r>
              <a:rPr lang="en-US" sz="3200" dirty="0" smtClean="0">
                <a:solidFill>
                  <a:prstClr val="black"/>
                </a:solidFill>
                <a:cs typeface="Courier New" pitchFamily="49" charset="0"/>
              </a:rPr>
              <a:t>that </a:t>
            </a:r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function can only be passed in by name.</a:t>
            </a:r>
          </a:p>
          <a:p>
            <a:pPr marL="400050" indent="-225425"/>
            <a:r>
              <a:rPr lang="en-US" sz="3600" spc="-100" dirty="0">
                <a:solidFill>
                  <a:prstClr val="black"/>
                </a:solidFill>
                <a:cs typeface="Courier New" pitchFamily="49" charset="0"/>
              </a:rPr>
              <a:t>A</a:t>
            </a:r>
            <a:r>
              <a:rPr lang="en-US" sz="3600" spc="-170" dirty="0">
                <a:solidFill>
                  <a:prstClr val="black"/>
                </a:solidFill>
                <a:cs typeface="Courier New" pitchFamily="49" charset="0"/>
              </a:rPr>
              <a:t>n</a:t>
            </a:r>
            <a:r>
              <a:rPr lang="en-US" sz="3600" spc="-40" dirty="0">
                <a:solidFill>
                  <a:prstClr val="black"/>
                </a:solidFill>
                <a:cs typeface="Courier New" pitchFamily="49" charset="0"/>
              </a:rPr>
              <a:t>y p</a:t>
            </a:r>
            <a:r>
              <a:rPr lang="en-US" sz="3600" spc="-90" dirty="0">
                <a:solidFill>
                  <a:prstClr val="black"/>
                </a:solidFill>
                <a:cs typeface="Courier New" pitchFamily="49" charset="0"/>
              </a:rPr>
              <a:t>a</a:t>
            </a:r>
            <a:r>
              <a:rPr lang="en-US" sz="3600" dirty="0">
                <a:solidFill>
                  <a:prstClr val="black"/>
                </a:solidFill>
                <a:cs typeface="Courier New" pitchFamily="49" charset="0"/>
              </a:rPr>
              <a:t>rameters aft</a:t>
            </a:r>
            <a:r>
              <a:rPr lang="en-US" sz="3600" spc="-100" dirty="0">
                <a:solidFill>
                  <a:prstClr val="black"/>
                </a:solidFill>
                <a:cs typeface="Courier New" pitchFamily="49" charset="0"/>
              </a:rPr>
              <a:t>e</a:t>
            </a:r>
            <a:r>
              <a:rPr lang="en-US" sz="3600" dirty="0">
                <a:solidFill>
                  <a:prstClr val="black"/>
                </a:solidFill>
                <a:cs typeface="Courier New" pitchFamily="49" charset="0"/>
              </a:rPr>
              <a:t>r t</a:t>
            </a:r>
            <a:r>
              <a:rPr lang="en-US" sz="3600" spc="-160" dirty="0">
                <a:solidFill>
                  <a:prstClr val="black"/>
                </a:solidFill>
                <a:cs typeface="Courier New" pitchFamily="49" charset="0"/>
              </a:rPr>
              <a:t>h</a:t>
            </a:r>
            <a:r>
              <a:rPr lang="en-US" sz="3600" dirty="0">
                <a:solidFill>
                  <a:prstClr val="black"/>
                </a:solidFill>
                <a:cs typeface="Courier New" pitchFamily="49" charset="0"/>
              </a:rPr>
              <a:t>e</a:t>
            </a:r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 </a:t>
            </a:r>
            <a:r>
              <a:rPr lang="en-US" sz="3600" dirty="0">
                <a:solidFill>
                  <a:prstClr val="black"/>
                </a:solidFill>
                <a:cs typeface="Courier New" pitchFamily="49" charset="0"/>
              </a:rPr>
              <a:t>aster</a:t>
            </a:r>
            <a:r>
              <a:rPr lang="en-US" sz="3600" spc="-50" dirty="0">
                <a:solidFill>
                  <a:prstClr val="black"/>
                </a:solidFill>
                <a:cs typeface="Courier New" pitchFamily="49" charset="0"/>
              </a:rPr>
              <a:t>is</a:t>
            </a:r>
            <a:r>
              <a:rPr lang="en-US" sz="3600" dirty="0">
                <a:solidFill>
                  <a:prstClr val="black"/>
                </a:solidFill>
                <a:cs typeface="Courier New" pitchFamily="49" charset="0"/>
              </a:rPr>
              <a:t>k</a:t>
            </a:r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 </a:t>
            </a:r>
            <a:r>
              <a:rPr lang="en-US" sz="3600" spc="-100" dirty="0">
                <a:solidFill>
                  <a:prstClr val="black"/>
                </a:solidFill>
                <a:cs typeface="Courier New" pitchFamily="49" charset="0"/>
              </a:rPr>
              <a:t>mu</a:t>
            </a:r>
            <a:r>
              <a:rPr lang="en-US" sz="3600" dirty="0">
                <a:solidFill>
                  <a:prstClr val="black"/>
                </a:solidFill>
                <a:cs typeface="Courier New" pitchFamily="49" charset="0"/>
              </a:rPr>
              <a:t>st </a:t>
            </a:r>
            <a:r>
              <a:rPr lang="en-US" sz="3600" spc="-100" dirty="0">
                <a:solidFill>
                  <a:prstClr val="black"/>
                </a:solidFill>
                <a:cs typeface="Courier New" pitchFamily="49" charset="0"/>
              </a:rPr>
              <a:t>be na</a:t>
            </a:r>
            <a:r>
              <a:rPr lang="en-US" sz="3600" spc="-50" dirty="0">
                <a:solidFill>
                  <a:prstClr val="black"/>
                </a:solidFill>
                <a:cs typeface="Courier New" pitchFamily="49" charset="0"/>
              </a:rPr>
              <a:t>me</a:t>
            </a:r>
            <a:r>
              <a:rPr lang="en-US" sz="3600" spc="-100" dirty="0">
                <a:solidFill>
                  <a:prstClr val="black"/>
                </a:solidFill>
                <a:cs typeface="Courier New" pitchFamily="49" charset="0"/>
              </a:rPr>
              <a:t>d</a:t>
            </a:r>
            <a:r>
              <a:rPr lang="en-US" sz="3600" dirty="0">
                <a:solidFill>
                  <a:prstClr val="black"/>
                </a:solidFill>
                <a:cs typeface="Courier New" pitchFamily="49" charset="0"/>
              </a:rPr>
              <a:t>.</a:t>
            </a:r>
            <a:r>
              <a:rPr lang="en-US" sz="3600" dirty="0" smtClean="0">
                <a:solidFill>
                  <a:prstClr val="black"/>
                </a:solidFill>
                <a:cs typeface="Courier New" pitchFamily="49" charset="0"/>
              </a:rPr>
              <a:t> </a:t>
            </a:r>
          </a:p>
          <a:p>
            <a:pPr lvl="1"/>
            <a:r>
              <a:rPr lang="en-US" sz="3200" dirty="0" smtClean="0">
                <a:solidFill>
                  <a:prstClr val="black"/>
                </a:solidFill>
                <a:cs typeface="Courier New" pitchFamily="49" charset="0"/>
              </a:rPr>
              <a:t>And </a:t>
            </a:r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must go at the end of the </a:t>
            </a:r>
            <a:r>
              <a:rPr lang="en-US" sz="3200" dirty="0" smtClean="0">
                <a:solidFill>
                  <a:prstClr val="black"/>
                </a:solidFill>
                <a:cs typeface="Courier New" pitchFamily="49" charset="0"/>
              </a:rPr>
              <a:t>call </a:t>
            </a:r>
            <a:r>
              <a:rPr lang="en-US" sz="3200" dirty="0">
                <a:solidFill>
                  <a:prstClr val="black"/>
                </a:solidFill>
                <a:cs typeface="Courier New" pitchFamily="49" charset="0"/>
              </a:rPr>
              <a:t>argument list</a:t>
            </a:r>
            <a:r>
              <a:rPr lang="en-US" sz="3200" dirty="0" smtClean="0">
                <a:solidFill>
                  <a:prstClr val="black"/>
                </a:solidFill>
                <a:cs typeface="Courier New" pitchFamily="49" charset="0"/>
              </a:rPr>
              <a:t>.</a:t>
            </a:r>
            <a:endParaRPr lang="en-US" sz="2800" dirty="0" smtClean="0">
              <a:cs typeface="Courier New" pitchFamily="49" charset="0"/>
            </a:endParaRPr>
          </a:p>
          <a:p>
            <a:pPr marL="400050" indent="-225425"/>
            <a:r>
              <a:rPr lang="en-US" sz="3600" dirty="0" smtClean="0">
                <a:cs typeface="Courier New" pitchFamily="49" charset="0"/>
              </a:rPr>
              <a:t>But </a:t>
            </a:r>
            <a:r>
              <a:rPr lang="en-US" sz="3600" dirty="0">
                <a:cs typeface="Courier New" pitchFamily="49" charset="0"/>
              </a:rPr>
              <a:t>what if a funct</a:t>
            </a:r>
            <a:r>
              <a:rPr lang="en-US" sz="3600" spc="-40" dirty="0">
                <a:cs typeface="Courier New" pitchFamily="49" charset="0"/>
              </a:rPr>
              <a:t>ion ou</a:t>
            </a:r>
            <a:r>
              <a:rPr lang="en-US" sz="3600" dirty="0">
                <a:cs typeface="Courier New" pitchFamily="49" charset="0"/>
              </a:rPr>
              <a:t>ght not receive var</a:t>
            </a:r>
            <a:r>
              <a:rPr lang="en-US" sz="3600" spc="-30" dirty="0">
                <a:cs typeface="Courier New" pitchFamily="49" charset="0"/>
              </a:rPr>
              <a:t>iabl</a:t>
            </a:r>
            <a:r>
              <a:rPr lang="en-US" sz="3600" dirty="0">
                <a:cs typeface="Courier New" pitchFamily="49" charset="0"/>
              </a:rPr>
              <a:t>e-</a:t>
            </a:r>
            <a:r>
              <a:rPr lang="en-US" sz="3600" spc="-40" dirty="0">
                <a:cs typeface="Courier New" pitchFamily="49" charset="0"/>
              </a:rPr>
              <a:t>len</a:t>
            </a:r>
            <a:r>
              <a:rPr lang="en-US" sz="3600" dirty="0">
                <a:cs typeface="Courier New" pitchFamily="49" charset="0"/>
              </a:rPr>
              <a:t>gth arg</a:t>
            </a:r>
            <a:r>
              <a:rPr lang="en-US" sz="3600" spc="-40" dirty="0">
                <a:cs typeface="Courier New" pitchFamily="49" charset="0"/>
              </a:rPr>
              <a:t>umen</a:t>
            </a:r>
            <a:r>
              <a:rPr lang="en-US" sz="3600" dirty="0">
                <a:cs typeface="Courier New" pitchFamily="49" charset="0"/>
              </a:rPr>
              <a:t>t</a:t>
            </a:r>
            <a:r>
              <a:rPr lang="en-US" sz="3600" spc="-50" dirty="0">
                <a:cs typeface="Courier New" pitchFamily="49" charset="0"/>
              </a:rPr>
              <a:t>s</a:t>
            </a:r>
            <a:r>
              <a:rPr lang="en-US" sz="3200" spc="-50" dirty="0">
                <a:cs typeface="Courier New" pitchFamily="49" charset="0"/>
              </a:rPr>
              <a:t> </a:t>
            </a:r>
            <a:r>
              <a:rPr lang="en-US" sz="3600" spc="-100" dirty="0">
                <a:cs typeface="Courier New" pitchFamily="49" charset="0"/>
              </a:rPr>
              <a:t>(</a:t>
            </a:r>
            <a:r>
              <a:rPr lang="en-US" sz="3600" i="1" spc="-100" dirty="0">
                <a:cs typeface="Courier New" pitchFamily="49" charset="0"/>
              </a:rPr>
              <a:t>i.</a:t>
            </a:r>
            <a:r>
              <a:rPr lang="en-US" sz="3600" i="1" spc="-60" dirty="0">
                <a:cs typeface="Courier New" pitchFamily="49" charset="0"/>
              </a:rPr>
              <a:t>e</a:t>
            </a:r>
            <a:r>
              <a:rPr lang="en-US" sz="3600" i="1" spc="-300" dirty="0">
                <a:cs typeface="Courier New" pitchFamily="49" charset="0"/>
              </a:rPr>
              <a:t>.</a:t>
            </a:r>
            <a:r>
              <a:rPr lang="en-US" sz="3600" spc="-50" dirty="0">
                <a:cs typeface="Courier New" pitchFamily="49" charset="0"/>
              </a:rPr>
              <a:t>,</a:t>
            </a:r>
            <a:r>
              <a:rPr lang="en-US" sz="3200" spc="-50" dirty="0">
                <a:cs typeface="Courier New" pitchFamily="49" charset="0"/>
              </a:rPr>
              <a:t> </a:t>
            </a:r>
            <a:r>
              <a:rPr lang="en-US" sz="3600" spc="-100" dirty="0">
                <a:cs typeface="Courier New" pitchFamily="49" charset="0"/>
              </a:rPr>
              <a:t>h</a:t>
            </a:r>
            <a:r>
              <a:rPr lang="en-US" sz="3600" spc="-80" dirty="0">
                <a:cs typeface="Courier New" pitchFamily="49" charset="0"/>
              </a:rPr>
              <a:t>as n</a:t>
            </a:r>
            <a:r>
              <a:rPr lang="en-US" sz="3600" spc="-50" dirty="0">
                <a:cs typeface="Courier New" pitchFamily="49" charset="0"/>
              </a:rPr>
              <a:t>o </a:t>
            </a:r>
            <a:r>
              <a:rPr lang="en-US" sz="3600" spc="-50" dirty="0">
                <a:solidFill>
                  <a:srgbClr val="002060"/>
                </a:solidFill>
                <a:cs typeface="Courier New" pitchFamily="49" charset="0"/>
              </a:rPr>
              <a:t>a</a:t>
            </a:r>
            <a:r>
              <a:rPr lang="en-US" sz="3600" dirty="0">
                <a:solidFill>
                  <a:srgbClr val="002060"/>
                </a:solidFill>
                <a:cs typeface="Courier New" pitchFamily="49" charset="0"/>
              </a:rPr>
              <a:t>st</a:t>
            </a:r>
            <a:r>
              <a:rPr lang="en-US" sz="3600" spc="-30" dirty="0">
                <a:solidFill>
                  <a:srgbClr val="002060"/>
                </a:solidFill>
                <a:cs typeface="Courier New" pitchFamily="49" charset="0"/>
              </a:rPr>
              <a:t>e</a:t>
            </a:r>
            <a:r>
              <a:rPr lang="en-US" sz="3600" dirty="0">
                <a:solidFill>
                  <a:srgbClr val="002060"/>
                </a:solidFill>
                <a:cs typeface="Courier New" pitchFamily="49" charset="0"/>
              </a:rPr>
              <a:t>r</a:t>
            </a:r>
            <a:r>
              <a:rPr lang="en-US" sz="3600" spc="-50" dirty="0">
                <a:solidFill>
                  <a:srgbClr val="002060"/>
                </a:solidFill>
                <a:cs typeface="Courier New" pitchFamily="49" charset="0"/>
              </a:rPr>
              <a:t>is</a:t>
            </a:r>
            <a:r>
              <a:rPr lang="en-US" sz="3600" spc="-30" dirty="0">
                <a:solidFill>
                  <a:srgbClr val="002060"/>
                </a:solidFill>
                <a:cs typeface="Courier New" pitchFamily="49" charset="0"/>
              </a:rPr>
              <a:t>k</a:t>
            </a:r>
            <a:r>
              <a:rPr lang="en-US" sz="3600" spc="-50" dirty="0">
                <a:solidFill>
                  <a:srgbClr val="002060"/>
                </a:solidFill>
                <a:cs typeface="Courier New" pitchFamily="49" charset="0"/>
              </a:rPr>
              <a:t>e</a:t>
            </a:r>
            <a:r>
              <a:rPr lang="en-US" sz="3600" spc="-30" dirty="0">
                <a:solidFill>
                  <a:srgbClr val="002060"/>
                </a:solidFill>
                <a:cs typeface="Courier New" pitchFamily="49" charset="0"/>
              </a:rPr>
              <a:t>d-</a:t>
            </a:r>
            <a:r>
              <a:rPr lang="en-US" sz="3600" dirty="0">
                <a:solidFill>
                  <a:srgbClr val="002060"/>
                </a:solidFill>
                <a:cs typeface="Courier New" pitchFamily="49" charset="0"/>
              </a:rPr>
              <a:t>v</a:t>
            </a:r>
            <a:r>
              <a:rPr lang="en-US" sz="3600" spc="-100" dirty="0">
                <a:solidFill>
                  <a:srgbClr val="002060"/>
                </a:solidFill>
                <a:cs typeface="Courier New" pitchFamily="49" charset="0"/>
              </a:rPr>
              <a:t>a</a:t>
            </a:r>
            <a:r>
              <a:rPr lang="en-US" sz="3600" dirty="0">
                <a:solidFill>
                  <a:srgbClr val="002060"/>
                </a:solidFill>
                <a:cs typeface="Courier New" pitchFamily="49" charset="0"/>
              </a:rPr>
              <a:t>ri</a:t>
            </a:r>
            <a:r>
              <a:rPr lang="en-US" sz="3600" spc="-50" dirty="0">
                <a:solidFill>
                  <a:srgbClr val="002060"/>
                </a:solidFill>
                <a:cs typeface="Courier New" pitchFamily="49" charset="0"/>
              </a:rPr>
              <a:t>abl</a:t>
            </a:r>
            <a:r>
              <a:rPr lang="en-US" sz="3600" spc="-250" dirty="0">
                <a:solidFill>
                  <a:srgbClr val="002060"/>
                </a:solidFill>
                <a:cs typeface="Courier New" pitchFamily="49" charset="0"/>
              </a:rPr>
              <a:t>e</a:t>
            </a:r>
            <a:r>
              <a:rPr lang="en-US" sz="3600" spc="-200" dirty="0">
                <a:cs typeface="Courier New" pitchFamily="49" charset="0"/>
              </a:rPr>
              <a:t>)</a:t>
            </a:r>
            <a:r>
              <a:rPr lang="en-US" sz="3600" dirty="0">
                <a:cs typeface="Courier New" pitchFamily="49" charset="0"/>
              </a:rPr>
              <a:t>?</a:t>
            </a:r>
          </a:p>
          <a:p>
            <a:pPr lvl="1"/>
            <a:r>
              <a:rPr lang="en-US" sz="3200" spc="-30" dirty="0">
                <a:cs typeface="Courier New" pitchFamily="49" charset="0"/>
              </a:rPr>
              <a:t>Then you could do:</a:t>
            </a:r>
            <a:r>
              <a:rPr lang="en-US" sz="2800" spc="-30" dirty="0">
                <a:cs typeface="Courier New" pitchFamily="49" charset="0"/>
              </a:rPr>
              <a:t> </a:t>
            </a:r>
            <a:r>
              <a:rPr lang="en-US" sz="2800" spc="-3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sz="1800" spc="-3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sz="2800" spc="-3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f(a,</a:t>
            </a:r>
            <a:r>
              <a:rPr lang="en-US" sz="2800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sz="2800" spc="-30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junk</a:t>
            </a:r>
            <a:r>
              <a:rPr lang="en-US" sz="2800" spc="-3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,PassByName</a:t>
            </a:r>
            <a:r>
              <a:rPr lang="en-US" sz="2800" spc="-3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=7)</a:t>
            </a:r>
          </a:p>
          <a:p>
            <a:pPr lvl="1"/>
            <a:r>
              <a:rPr lang="en-US" sz="3200" spc="-30" dirty="0">
                <a:cs typeface="Courier New" pitchFamily="49" charset="0"/>
              </a:rPr>
              <a:t>But the better way is: </a:t>
            </a:r>
            <a:r>
              <a:rPr lang="en-US" altLang="zh-TW" sz="2800" spc="-3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1800" spc="-3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2800" spc="-3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f(a, </a:t>
            </a:r>
            <a:r>
              <a:rPr lang="en-US" altLang="zh-TW" sz="2800" spc="-30" dirty="0">
                <a:solidFill>
                  <a:srgbClr val="FF0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altLang="zh-TW" sz="2800" spc="-3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, </a:t>
            </a:r>
            <a:r>
              <a:rPr lang="en-US" altLang="zh-TW" sz="2800" spc="-3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PassByName</a:t>
            </a:r>
            <a:r>
              <a:rPr lang="en-US" altLang="zh-TW" sz="2800" spc="-3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=7)</a:t>
            </a:r>
            <a:endParaRPr lang="en-US" sz="2400" spc="-30" dirty="0">
              <a:cs typeface="Courier New" pitchFamily="49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0070C0"/>
                </a:solidFill>
              </a:rPr>
              <a:t>Asterisked </a:t>
            </a:r>
            <a:r>
              <a:rPr lang="en-US" altLang="zh-TW" dirty="0">
                <a:solidFill>
                  <a:srgbClr val="0070C0"/>
                </a:solidFill>
              </a:rPr>
              <a:t>Variable Goes </a:t>
            </a:r>
            <a:r>
              <a:rPr lang="en-US" altLang="zh-TW" dirty="0" smtClean="0">
                <a:solidFill>
                  <a:srgbClr val="0070C0"/>
                </a:solidFill>
              </a:rPr>
              <a:t>at </a:t>
            </a:r>
            <a:r>
              <a:rPr lang="en-US" altLang="zh-TW" dirty="0">
                <a:solidFill>
                  <a:srgbClr val="0070C0"/>
                </a:solidFill>
              </a:rPr>
              <a:t>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-438941" y="6"/>
            <a:ext cx="10607675" cy="135466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b="1" dirty="0"/>
              <a:t> </a:t>
            </a:r>
            <a:br>
              <a:rPr lang="en-US" altLang="zh-TW" b="1" dirty="0"/>
            </a:br>
            <a:r>
              <a:rPr lang="en-US" altLang="zh-TW" sz="3800" b="1" spc="-160" dirty="0">
                <a:solidFill>
                  <a:srgbClr val="FF0000"/>
                </a:solidFill>
                <a:latin typeface="Agency FB" panose="020B0503020202020204" pitchFamily="34" charset="0"/>
              </a:rPr>
              <a:t>(</a:t>
            </a:r>
            <a:r>
              <a:rPr lang="en-US" altLang="zh-TW" sz="3800" spc="-100" dirty="0">
                <a:solidFill>
                  <a:srgbClr val="FF0000"/>
                </a:solidFill>
              </a:rPr>
              <a:t>u</a:t>
            </a:r>
            <a:r>
              <a:rPr lang="en-US" altLang="zh-TW" sz="3800" spc="-140" dirty="0">
                <a:solidFill>
                  <a:srgbClr val="FF0000"/>
                </a:solidFill>
              </a:rPr>
              <a:t>nl</a:t>
            </a:r>
            <a:r>
              <a:rPr lang="en-US" altLang="zh-TW" sz="3800" spc="-100" dirty="0">
                <a:solidFill>
                  <a:srgbClr val="FF0000"/>
                </a:solidFill>
              </a:rPr>
              <a:t>ess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r</a:t>
            </a:r>
            <a:r>
              <a:rPr lang="en-US" altLang="zh-TW" sz="3800" spc="-150" dirty="0" smtClean="0">
                <a:solidFill>
                  <a:srgbClr val="FF0000"/>
                </a:solidFill>
              </a:rPr>
              <a:t>e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maining</a:t>
            </a:r>
            <a:r>
              <a:rPr lang="en-US" altLang="zh-TW" sz="3600" spc="-100" dirty="0" smtClean="0">
                <a:solidFill>
                  <a:srgbClr val="FF0000"/>
                </a:solidFill>
              </a:rPr>
              <a:t> 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para</a:t>
            </a:r>
            <a:r>
              <a:rPr lang="en-US" altLang="zh-TW" sz="3800" spc="-140" dirty="0" smtClean="0">
                <a:solidFill>
                  <a:srgbClr val="FF0000"/>
                </a:solidFill>
              </a:rPr>
              <a:t>m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et</a:t>
            </a:r>
            <a:r>
              <a:rPr lang="en-US" altLang="zh-TW" sz="3800" spc="-140" dirty="0" smtClean="0">
                <a:solidFill>
                  <a:srgbClr val="FF0000"/>
                </a:solidFill>
              </a:rPr>
              <a:t>e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rs</a:t>
            </a:r>
            <a:r>
              <a:rPr lang="en-US" altLang="zh-TW" sz="3600" spc="-100" dirty="0" smtClean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are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40" dirty="0">
                <a:solidFill>
                  <a:srgbClr val="FF0000"/>
                </a:solidFill>
              </a:rPr>
              <a:t>n</a:t>
            </a:r>
            <a:r>
              <a:rPr lang="en-US" altLang="zh-TW" sz="3800" spc="-100" dirty="0">
                <a:solidFill>
                  <a:srgbClr val="FF0000"/>
                </a:solidFill>
              </a:rPr>
              <a:t>a</a:t>
            </a:r>
            <a:r>
              <a:rPr lang="en-US" altLang="zh-TW" sz="3800" spc="-180" dirty="0">
                <a:solidFill>
                  <a:srgbClr val="FF0000"/>
                </a:solidFill>
              </a:rPr>
              <a:t>m</a:t>
            </a:r>
            <a:r>
              <a:rPr lang="en-US" altLang="zh-TW" sz="3800" spc="-40" dirty="0">
                <a:solidFill>
                  <a:srgbClr val="FF0000"/>
                </a:solidFill>
              </a:rPr>
              <a:t>e</a:t>
            </a:r>
            <a:r>
              <a:rPr lang="en-US" altLang="zh-TW" sz="3800" spc="-150" dirty="0">
                <a:solidFill>
                  <a:srgbClr val="FF0000"/>
                </a:solidFill>
              </a:rPr>
              <a:t>d</a:t>
            </a:r>
            <a:r>
              <a:rPr lang="en-US" altLang="zh-TW" sz="3800" b="1" spc="-100" dirty="0">
                <a:solidFill>
                  <a:srgbClr val="FF0000"/>
                </a:solidFill>
                <a:latin typeface="Agency FB" panose="020B0503020202020204" pitchFamily="34" charset="0"/>
              </a:rPr>
              <a:t>)</a:t>
            </a:r>
            <a:endParaRPr lang="zh-TW" altLang="en-US" sz="3800" b="1" spc="-100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 flipH="1" flipV="1">
            <a:off x="3527131" y="627967"/>
            <a:ext cx="3134814" cy="4658413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ular Callout 6"/>
          <p:cNvSpPr/>
          <p:nvPr/>
        </p:nvSpPr>
        <p:spPr>
          <a:xfrm>
            <a:off x="268357" y="2699658"/>
            <a:ext cx="3788500" cy="2281918"/>
          </a:xfrm>
          <a:prstGeom prst="wedgeRoundRectCallout">
            <a:avLst>
              <a:gd name="adj1" fmla="val 52801"/>
              <a:gd name="adj2" fmla="val 84672"/>
              <a:gd name="adj3" fmla="val 16667"/>
            </a:avLst>
          </a:prstGeom>
          <a:solidFill>
            <a:srgbClr val="008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zh-TW" sz="4000" dirty="0">
                <a:solidFill>
                  <a:srgbClr val="99FF66"/>
                </a:solidFill>
              </a:rPr>
              <a:t>Let’s take a few minutes to explain these two choices…</a:t>
            </a:r>
            <a:endParaRPr lang="zh-TW" altLang="en-US" sz="4000" dirty="0">
              <a:solidFill>
                <a:srgbClr val="99FF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66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 txBox="1">
            <a:spLocks/>
          </p:cNvSpPr>
          <p:nvPr/>
        </p:nvSpPr>
        <p:spPr>
          <a:xfrm>
            <a:off x="219076" y="854811"/>
            <a:ext cx="9220199" cy="1581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 smtClean="0"/>
              <a:t>Notice that </a:t>
            </a:r>
            <a:r>
              <a:rPr lang="en-US" sz="3600" dirty="0">
                <a:solidFill>
                  <a:srgbClr val="FF0000"/>
                </a:solidFill>
              </a:rPr>
              <a:t>parameters are </a:t>
            </a:r>
            <a:r>
              <a:rPr lang="en-US" sz="3600" u="sng" dirty="0">
                <a:solidFill>
                  <a:srgbClr val="FF0000"/>
                </a:solidFill>
              </a:rPr>
              <a:t>not</a:t>
            </a:r>
            <a:r>
              <a:rPr lang="en-US" sz="3600" dirty="0"/>
              <a:t>, by default, </a:t>
            </a:r>
            <a:r>
              <a:rPr lang="en-US" sz="3600" dirty="0">
                <a:solidFill>
                  <a:srgbClr val="FF0000"/>
                </a:solidFill>
              </a:rPr>
              <a:t>keyword-only</a:t>
            </a:r>
            <a:r>
              <a:rPr lang="en-US" sz="3600" dirty="0"/>
              <a:t>: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52400" y="1828800"/>
            <a:ext cx="9577388" cy="46373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1600" dirty="0"/>
              <a:t/>
            </a:r>
            <a:br>
              <a:rPr lang="en-GB" altLang="en-US" sz="1600" dirty="0"/>
            </a:b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area(</a:t>
            </a:r>
            <a:r>
              <a:rPr lang="en-US" altLang="en-US" sz="3200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 err="1" smtClean="0">
                <a:solidFill>
                  <a:srgbClr val="F987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3200" dirty="0" err="1" smtClean="0">
                <a:solidFill>
                  <a:srgbClr val="F987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err="1" smtClean="0">
                <a:solidFill>
                  <a:srgbClr val="7B430B"/>
                </a:solidFill>
                <a:latin typeface="Lucida Console" panose="020B0609040504020204" pitchFamily="49" charset="0"/>
              </a:rPr>
              <a:t>unit</a:t>
            </a:r>
            <a:r>
              <a:rPr lang="en-US" altLang="en-US" sz="3200" dirty="0" smtClean="0">
                <a:solidFill>
                  <a:srgbClr val="7B430B"/>
                </a:solidFill>
                <a:latin typeface="Lucida Console" panose="020B0609040504020204" pitchFamily="49" charset="0"/>
              </a:rPr>
              <a:t>="</a:t>
            </a:r>
            <a:r>
              <a:rPr lang="en-US" altLang="en-US" sz="3200" dirty="0">
                <a:solidFill>
                  <a:srgbClr val="7B430B"/>
                </a:solidFill>
                <a:latin typeface="Lucida Console" panose="020B0609040504020204" pitchFamily="49" charset="0"/>
              </a:rPr>
              <a:t>meters"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):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3200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    print 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, "square %</a:t>
            </a:r>
            <a:r>
              <a:rPr lang="en-US" altLang="en-US" sz="320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s"%</a:t>
            </a:r>
            <a:r>
              <a:rPr lang="en-US" altLang="en-US" sz="3200" dirty="0" err="1" smtClean="0">
                <a:solidFill>
                  <a:srgbClr val="F98700"/>
                </a:solidFill>
                <a:latin typeface="Lucida Console" panose="020B0609040504020204" pitchFamily="49" charset="0"/>
              </a:rPr>
              <a:t>unit</a:t>
            </a:r>
            <a:r>
              <a:rPr lang="en-US" altLang="en-US" sz="3200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)</a:t>
            </a:r>
            <a:endParaRPr lang="en-US" altLang="en-US" sz="3200" dirty="0">
              <a:solidFill>
                <a:srgbClr val="F9870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4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 area(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6 square meters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area(</a:t>
            </a:r>
            <a:r>
              <a:rPr lang="en-US" altLang="en-US" sz="32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32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sz="32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smtClean="0">
                <a:solidFill>
                  <a:srgbClr val="7B430B"/>
                </a:solidFill>
                <a:latin typeface="Lucida Console" panose="020B0609040504020204" pitchFamily="49" charset="0"/>
              </a:rPr>
              <a:t>unit="</a:t>
            </a:r>
            <a:r>
              <a:rPr lang="en-US" altLang="en-US" sz="3200" dirty="0">
                <a:solidFill>
                  <a:srgbClr val="7B430B"/>
                </a:solidFill>
                <a:latin typeface="Lucida Console" panose="020B0609040504020204" pitchFamily="49" charset="0"/>
              </a:rPr>
              <a:t>feet"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6 square feet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 area(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B430B"/>
                </a:solidFill>
                <a:latin typeface="Lucida Console" panose="020B0609040504020204" pitchFamily="49" charset="0"/>
              </a:rPr>
              <a:t>"miles"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spc="-100" dirty="0">
                <a:solidFill>
                  <a:srgbClr val="FF1493"/>
                </a:solidFill>
                <a:latin typeface="Lucida Console" panose="020B0609040504020204" pitchFamily="49" charset="0"/>
              </a:rPr>
              <a:t>#No nam</a:t>
            </a:r>
            <a:r>
              <a:rPr lang="en-US" altLang="en-US" sz="3200" spc="-500" dirty="0">
                <a:solidFill>
                  <a:srgbClr val="FF1493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3200" spc="-100" dirty="0">
                <a:solidFill>
                  <a:srgbClr val="FF1493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000" spc="-100" dirty="0">
                <a:solidFill>
                  <a:srgbClr val="FF149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spc="-100" dirty="0">
                <a:solidFill>
                  <a:srgbClr val="FF1493"/>
                </a:solidFill>
                <a:latin typeface="Lucida Console" panose="020B0609040504020204" pitchFamily="49" charset="0"/>
              </a:rPr>
              <a:t>no</a:t>
            </a:r>
            <a:r>
              <a:rPr lang="en-US" altLang="en-US" sz="2800" spc="-100" dirty="0">
                <a:solidFill>
                  <a:srgbClr val="FF149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spc="-100" dirty="0">
                <a:solidFill>
                  <a:srgbClr val="FF1493"/>
                </a:solidFill>
                <a:latin typeface="Lucida Console" panose="020B0609040504020204" pitchFamily="49" charset="0"/>
              </a:rPr>
              <a:t>error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6 square miles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2"/>
            <a:ext cx="9729788" cy="85997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sz="4000" dirty="0">
                <a:solidFill>
                  <a:srgbClr val="0070C0"/>
                </a:solidFill>
              </a:rPr>
              <a:t>Use </a:t>
            </a:r>
            <a:r>
              <a:rPr lang="en-US" altLang="zh-TW" sz="4000" dirty="0">
                <a:solidFill>
                  <a:srgbClr val="0070C0"/>
                </a:solidFill>
                <a:latin typeface="Rockwell Extra Bold" panose="02060903040505020403" pitchFamily="18" charset="0"/>
              </a:rPr>
              <a:t>*</a:t>
            </a:r>
            <a:r>
              <a:rPr lang="en-US" altLang="zh-TW" sz="4000" dirty="0">
                <a:solidFill>
                  <a:srgbClr val="0070C0"/>
                </a:solidFill>
              </a:rPr>
              <a:t> </a:t>
            </a:r>
            <a:r>
              <a:rPr lang="en-US" altLang="zh-TW" sz="4000" dirty="0" smtClean="0">
                <a:solidFill>
                  <a:srgbClr val="0070C0"/>
                </a:solidFill>
              </a:rPr>
              <a:t>for </a:t>
            </a:r>
            <a:r>
              <a:rPr lang="en-US" altLang="zh-TW" sz="4000" dirty="0">
                <a:solidFill>
                  <a:srgbClr val="0070C0"/>
                </a:solidFill>
              </a:rPr>
              <a:t>Keyword-only Parameters</a:t>
            </a:r>
            <a:endParaRPr lang="zh-TW" altLang="en-US" sz="4000" dirty="0">
              <a:solidFill>
                <a:srgbClr val="0070C0"/>
              </a:solidFill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52400" y="2354580"/>
            <a:ext cx="1070919" cy="410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0" indent="0"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3200" dirty="0" smtClean="0">
              <a:solidFill>
                <a:srgbClr val="00800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1200" dirty="0" smtClean="0"/>
              <a:t/>
            </a:r>
            <a:br>
              <a:rPr lang="en-GB" altLang="en-US" sz="1200" dirty="0" smtClean="0"/>
            </a:br>
            <a:r>
              <a:rPr lang="en-US" altLang="en-US" sz="32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dirty="0">
              <a:solidFill>
                <a:srgbClr val="00800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dirty="0">
              <a:solidFill>
                <a:srgbClr val="00800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spc="-100" dirty="0">
              <a:solidFill>
                <a:srgbClr val="FF1493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3306953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 txBox="1">
            <a:spLocks/>
          </p:cNvSpPr>
          <p:nvPr/>
        </p:nvSpPr>
        <p:spPr>
          <a:xfrm>
            <a:off x="219456" y="859536"/>
            <a:ext cx="9200769" cy="1581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 smtClean="0"/>
              <a:t>Notice</a:t>
            </a:r>
            <a:r>
              <a:rPr lang="en-US" sz="2800" dirty="0" smtClean="0"/>
              <a:t> </a:t>
            </a:r>
            <a:r>
              <a:rPr lang="en-US" sz="3600" dirty="0"/>
              <a:t>that</a:t>
            </a:r>
            <a:r>
              <a:rPr lang="en-US" sz="2800" dirty="0"/>
              <a:t> </a:t>
            </a:r>
            <a:r>
              <a:rPr lang="en-US" sz="3600" dirty="0">
                <a:solidFill>
                  <a:srgbClr val="FF0000"/>
                </a:solidFill>
              </a:rPr>
              <a:t>keyword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3600" dirty="0">
                <a:solidFill>
                  <a:srgbClr val="FF0000"/>
                </a:solidFill>
              </a:rPr>
              <a:t>parameters</a:t>
            </a:r>
            <a:r>
              <a:rPr lang="en-US" sz="3600" dirty="0"/>
              <a:t>, if used, </a:t>
            </a:r>
            <a:r>
              <a:rPr lang="en-US" sz="3600" dirty="0">
                <a:solidFill>
                  <a:srgbClr val="FF0000"/>
                </a:solidFill>
              </a:rPr>
              <a:t>must go at the end</a:t>
            </a:r>
            <a:r>
              <a:rPr lang="en-US" sz="3600" dirty="0"/>
              <a:t>: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55448" y="1828800"/>
            <a:ext cx="9574340" cy="46373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1600" dirty="0"/>
              <a:t/>
            </a:r>
            <a:br>
              <a:rPr lang="en-GB" altLang="en-US" sz="1600" dirty="0"/>
            </a:b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area(</a:t>
            </a:r>
            <a:r>
              <a:rPr lang="en-US" altLang="en-US" sz="3200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 err="1" smtClean="0">
                <a:solidFill>
                  <a:srgbClr val="F987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3200" dirty="0" err="1" smtClean="0">
                <a:solidFill>
                  <a:srgbClr val="F987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err="1" smtClean="0">
                <a:solidFill>
                  <a:srgbClr val="7B430B"/>
                </a:solidFill>
                <a:latin typeface="Lucida Console" panose="020B0609040504020204" pitchFamily="49" charset="0"/>
              </a:rPr>
              <a:t>unit</a:t>
            </a:r>
            <a:r>
              <a:rPr lang="en-US" altLang="en-US" sz="3200" dirty="0" smtClean="0">
                <a:solidFill>
                  <a:srgbClr val="7B430B"/>
                </a:solidFill>
                <a:latin typeface="Lucida Console" panose="020B0609040504020204" pitchFamily="49" charset="0"/>
              </a:rPr>
              <a:t>="</a:t>
            </a:r>
            <a:r>
              <a:rPr lang="en-US" altLang="en-US" sz="3200" dirty="0">
                <a:solidFill>
                  <a:srgbClr val="7B430B"/>
                </a:solidFill>
                <a:latin typeface="Lucida Console" panose="020B0609040504020204" pitchFamily="49" charset="0"/>
              </a:rPr>
              <a:t>meters"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):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3200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   print 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, "square %</a:t>
            </a:r>
            <a:r>
              <a:rPr lang="en-US" altLang="en-US" sz="320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s"%</a:t>
            </a:r>
            <a:r>
              <a:rPr lang="en-US" altLang="en-US" sz="3200" dirty="0" err="1" smtClean="0">
                <a:solidFill>
                  <a:srgbClr val="F98700"/>
                </a:solidFill>
                <a:latin typeface="Lucida Console" panose="020B0609040504020204" pitchFamily="49" charset="0"/>
              </a:rPr>
              <a:t>unit</a:t>
            </a:r>
            <a:r>
              <a:rPr lang="en-US" altLang="en-US" sz="3200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)</a:t>
            </a:r>
            <a:endParaRPr lang="en-US" altLang="en-US" sz="3200" dirty="0">
              <a:solidFill>
                <a:srgbClr val="F9870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4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 area(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B430B"/>
                </a:solidFill>
                <a:latin typeface="Lucida Console" panose="020B0609040504020204" pitchFamily="49" charset="0"/>
              </a:rPr>
              <a:t>"feet"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6 square feet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 area(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"miles"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B430B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dirty="0">
                <a:solidFill>
                  <a:srgbClr val="FF1493"/>
                </a:solidFill>
                <a:latin typeface="Lucida Console" panose="020B0609040504020204" pitchFamily="49" charset="0"/>
              </a:rPr>
              <a:t># Watch this: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milesmiles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 square 3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area(</a:t>
            </a:r>
            <a:r>
              <a:rPr lang="en-US" altLang="en-US" sz="32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32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smtClean="0">
                <a:solidFill>
                  <a:srgbClr val="7B430B"/>
                </a:solidFill>
                <a:latin typeface="Lucida Console" panose="020B0609040504020204" pitchFamily="49" charset="0"/>
              </a:rPr>
              <a:t>unit="miles"</a:t>
            </a:r>
            <a:r>
              <a:rPr lang="en-US" altLang="en-US" sz="32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3)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FF0000"/>
                </a:solidFill>
                <a:latin typeface="Arial Narrow" panose="020B0606020202030204" pitchFamily="34" charset="0"/>
              </a:rPr>
              <a:t>   File "&lt;</a:t>
            </a:r>
            <a:r>
              <a:rPr lang="en-US" altLang="en-US" sz="32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stdin</a:t>
            </a:r>
            <a:r>
              <a:rPr lang="en-US" altLang="en-US" sz="3200" dirty="0">
                <a:solidFill>
                  <a:srgbClr val="FF0000"/>
                </a:solidFill>
                <a:latin typeface="Arial Narrow" panose="020B0606020202030204" pitchFamily="34" charset="0"/>
              </a:rPr>
              <a:t>&gt;", line 1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SyntaxError</a:t>
            </a:r>
            <a:r>
              <a:rPr lang="en-US" altLang="en-US" sz="3200" dirty="0">
                <a:solidFill>
                  <a:srgbClr val="FF0000"/>
                </a:solidFill>
                <a:latin typeface="Arial Narrow" panose="020B0606020202030204" pitchFamily="34" charset="0"/>
              </a:rPr>
              <a:t>: positional argument follows keyword argument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2"/>
            <a:ext cx="9729788" cy="85997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sz="4000" dirty="0">
                <a:solidFill>
                  <a:srgbClr val="0070C0"/>
                </a:solidFill>
              </a:rPr>
              <a:t>Use </a:t>
            </a:r>
            <a:r>
              <a:rPr lang="en-US" altLang="zh-TW" sz="4000" dirty="0">
                <a:solidFill>
                  <a:srgbClr val="0070C0"/>
                </a:solidFill>
                <a:latin typeface="Rockwell Extra Bold" panose="02060903040505020403" pitchFamily="18" charset="0"/>
              </a:rPr>
              <a:t>*</a:t>
            </a:r>
            <a:r>
              <a:rPr lang="en-US" altLang="zh-TW" sz="4000" dirty="0">
                <a:solidFill>
                  <a:srgbClr val="0070C0"/>
                </a:solidFill>
              </a:rPr>
              <a:t> </a:t>
            </a:r>
            <a:r>
              <a:rPr lang="en-US" altLang="zh-TW" sz="4000" dirty="0" smtClean="0">
                <a:solidFill>
                  <a:srgbClr val="0070C0"/>
                </a:solidFill>
              </a:rPr>
              <a:t>for </a:t>
            </a:r>
            <a:r>
              <a:rPr lang="en-US" altLang="zh-TW" sz="4000" dirty="0">
                <a:solidFill>
                  <a:srgbClr val="0070C0"/>
                </a:solidFill>
              </a:rPr>
              <a:t>Keyword-only Parameters</a:t>
            </a:r>
            <a:endParaRPr lang="zh-TW" altLang="en-US" sz="4000" dirty="0">
              <a:solidFill>
                <a:srgbClr val="0070C0"/>
              </a:solidFill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52400" y="2354580"/>
            <a:ext cx="1070919" cy="410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0" indent="0"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3200" dirty="0" smtClean="0">
              <a:solidFill>
                <a:srgbClr val="00800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1200" dirty="0" smtClean="0"/>
              <a:t/>
            </a:r>
            <a:br>
              <a:rPr lang="en-GB" altLang="en-US" sz="1200" dirty="0" smtClean="0"/>
            </a:br>
            <a:r>
              <a:rPr lang="en-US" altLang="en-US" sz="32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dirty="0">
              <a:solidFill>
                <a:srgbClr val="00800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dirty="0">
              <a:solidFill>
                <a:srgbClr val="00800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spc="-100" dirty="0">
              <a:solidFill>
                <a:srgbClr val="FF1493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 smtClean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627826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55448" y="1828800"/>
            <a:ext cx="9574340" cy="46373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1600" dirty="0"/>
              <a:t/>
            </a:r>
            <a:br>
              <a:rPr lang="en-GB" altLang="en-US" sz="1600" dirty="0"/>
            </a:b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area(</a:t>
            </a:r>
            <a:r>
              <a:rPr lang="en-US" altLang="en-US" sz="3200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 err="1" smtClean="0">
                <a:solidFill>
                  <a:srgbClr val="F987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3200" dirty="0" err="1" smtClean="0">
                <a:solidFill>
                  <a:srgbClr val="F987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err="1" smtClean="0">
                <a:solidFill>
                  <a:srgbClr val="7B430B"/>
                </a:solidFill>
                <a:latin typeface="Lucida Console" panose="020B0609040504020204" pitchFamily="49" charset="0"/>
              </a:rPr>
              <a:t>unit</a:t>
            </a:r>
            <a:r>
              <a:rPr lang="en-US" altLang="en-US" sz="3200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):</a:t>
            </a:r>
            <a:endParaRPr lang="en-US" altLang="en-US" sz="3200" dirty="0">
              <a:solidFill>
                <a:srgbClr val="F9870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3200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   print 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, "square %</a:t>
            </a:r>
            <a:r>
              <a:rPr lang="en-US" altLang="en-US" sz="320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s"%</a:t>
            </a:r>
            <a:r>
              <a:rPr lang="en-US" altLang="en-US" sz="3200" dirty="0" err="1" smtClean="0">
                <a:solidFill>
                  <a:srgbClr val="F98700"/>
                </a:solidFill>
                <a:latin typeface="Lucida Console" panose="020B0609040504020204" pitchFamily="49" charset="0"/>
              </a:rPr>
              <a:t>unit</a:t>
            </a:r>
            <a:r>
              <a:rPr lang="en-US" altLang="en-US" sz="3200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)</a:t>
            </a:r>
            <a:endParaRPr lang="en-US" altLang="en-US" sz="3200" dirty="0">
              <a:solidFill>
                <a:srgbClr val="F9870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4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 area(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B430B"/>
                </a:solidFill>
                <a:latin typeface="Lucida Console" panose="020B0609040504020204" pitchFamily="49" charset="0"/>
              </a:rPr>
              <a:t>"feet"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6 square feet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area(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"feet"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B430B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feetfeet</a:t>
            </a: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 square 3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area(</a:t>
            </a:r>
            <a:r>
              <a:rPr lang="en-US" altLang="en-US" sz="32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x=2</a:t>
            </a:r>
            <a:r>
              <a:rPr lang="en-US" altLang="en-US" sz="32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smtClean="0">
                <a:solidFill>
                  <a:srgbClr val="7B430B"/>
                </a:solidFill>
                <a:latin typeface="Lucida Console" panose="020B0609040504020204" pitchFamily="49" charset="0"/>
              </a:rPr>
              <a:t>unit="</a:t>
            </a:r>
            <a:r>
              <a:rPr lang="en-US" altLang="en-US" sz="3200" dirty="0" err="1">
                <a:solidFill>
                  <a:srgbClr val="7B430B"/>
                </a:solidFill>
                <a:latin typeface="Lucida Console" panose="020B0609040504020204" pitchFamily="49" charset="0"/>
              </a:rPr>
              <a:t>feet</a:t>
            </a:r>
            <a:r>
              <a:rPr lang="en-US" altLang="en-US" sz="3200" spc="-300" dirty="0" err="1">
                <a:solidFill>
                  <a:srgbClr val="7B430B"/>
                </a:solidFill>
                <a:latin typeface="Lucida Console" panose="020B0609040504020204" pitchFamily="49" charset="0"/>
              </a:rPr>
              <a:t>"</a:t>
            </a:r>
            <a:r>
              <a:rPr lang="en-US" altLang="en-US" sz="3200" spc="-300" dirty="0" err="1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3200" spc="-200" dirty="0">
                <a:solidFill>
                  <a:srgbClr val="7030A0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dirty="0">
                <a:solidFill>
                  <a:srgbClr val="FF1493"/>
                </a:solidFill>
                <a:latin typeface="Lucida Console" panose="020B0609040504020204" pitchFamily="49" charset="0"/>
              </a:rPr>
              <a:t>#O</a:t>
            </a:r>
            <a:r>
              <a:rPr lang="en-US" altLang="en-US" sz="3200" spc="-400" dirty="0">
                <a:solidFill>
                  <a:srgbClr val="FF1493"/>
                </a:solidFill>
                <a:latin typeface="Lucida Console" panose="020B0609040504020204" pitchFamily="49" charset="0"/>
              </a:rPr>
              <a:t>K</a:t>
            </a:r>
            <a:r>
              <a:rPr lang="en-US" altLang="en-US" sz="3200" dirty="0">
                <a:solidFill>
                  <a:srgbClr val="FF1493"/>
                </a:solidFill>
                <a:latin typeface="Lucida Console" panose="020B0609040504020204" pitchFamily="49" charset="0"/>
              </a:rPr>
              <a:t>.</a:t>
            </a:r>
            <a:r>
              <a:rPr lang="en-US" altLang="en-US" sz="2800" dirty="0">
                <a:solidFill>
                  <a:srgbClr val="FF149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>
                <a:solidFill>
                  <a:srgbClr val="FF1493"/>
                </a:solidFill>
                <a:latin typeface="Lucida Console" panose="020B0609040504020204" pitchFamily="49" charset="0"/>
              </a:rPr>
              <a:t>W</a:t>
            </a:r>
            <a:r>
              <a:rPr lang="en-US" altLang="en-US" sz="3200" spc="-200" dirty="0">
                <a:solidFill>
                  <a:srgbClr val="FF1493"/>
                </a:solidFill>
                <a:latin typeface="Lucida Console" panose="020B0609040504020204" pitchFamily="49" charset="0"/>
              </a:rPr>
              <a:t>hy</a:t>
            </a:r>
            <a:r>
              <a:rPr lang="en-US" altLang="en-US" sz="3200" dirty="0">
                <a:solidFill>
                  <a:srgbClr val="FF1493"/>
                </a:solidFill>
                <a:latin typeface="Lucida Console" panose="020B0609040504020204" pitchFamily="49" charset="0"/>
              </a:rPr>
              <a:t>?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 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6 square feet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area(</a:t>
            </a:r>
            <a:r>
              <a:rPr lang="en-US" altLang="en-US" sz="32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x=2</a:t>
            </a:r>
            <a:r>
              <a:rPr lang="en-US" altLang="en-US" sz="32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smtClean="0">
                <a:solidFill>
                  <a:srgbClr val="7B430B"/>
                </a:solidFill>
                <a:latin typeface="Lucida Console" panose="020B0609040504020204" pitchFamily="49" charset="0"/>
              </a:rPr>
              <a:t>unit="feet</a:t>
            </a:r>
            <a:r>
              <a:rPr lang="en-US" altLang="en-US" sz="3200" spc="-300" dirty="0" smtClean="0">
                <a:solidFill>
                  <a:srgbClr val="7B430B"/>
                </a:solidFill>
                <a:latin typeface="Lucida Console" panose="020B0609040504020204" pitchFamily="49" charset="0"/>
              </a:rPr>
              <a:t>"</a:t>
            </a:r>
            <a:r>
              <a:rPr lang="en-US" altLang="en-US" sz="3200" spc="-3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spc="-2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dirty="0">
                <a:solidFill>
                  <a:srgbClr val="FF1493"/>
                </a:solidFill>
                <a:latin typeface="Lucida Console" panose="020B0609040504020204" pitchFamily="49" charset="0"/>
              </a:rPr>
              <a:t># Ba</a:t>
            </a:r>
            <a:r>
              <a:rPr lang="en-US" altLang="en-US" sz="3200" spc="-500" dirty="0">
                <a:solidFill>
                  <a:srgbClr val="FF1493"/>
                </a:solidFill>
                <a:latin typeface="Lucida Console" panose="020B0609040504020204" pitchFamily="49" charset="0"/>
              </a:rPr>
              <a:t>d</a:t>
            </a:r>
            <a:r>
              <a:rPr lang="en-US" altLang="en-US" sz="3200" dirty="0">
                <a:solidFill>
                  <a:srgbClr val="FF1493"/>
                </a:solidFill>
                <a:latin typeface="Lucida Console" panose="020B0609040504020204" pitchFamily="49" charset="0"/>
              </a:rPr>
              <a:t>.</a:t>
            </a:r>
            <a:r>
              <a:rPr lang="en-US" altLang="en-US" sz="2800" dirty="0">
                <a:solidFill>
                  <a:srgbClr val="FF149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>
                <a:solidFill>
                  <a:srgbClr val="FF1493"/>
                </a:solidFill>
                <a:latin typeface="Lucida Console" panose="020B0609040504020204" pitchFamily="49" charset="0"/>
              </a:rPr>
              <a:t>W</a:t>
            </a:r>
            <a:r>
              <a:rPr lang="en-US" altLang="en-US" sz="3200" spc="-200" dirty="0">
                <a:solidFill>
                  <a:srgbClr val="FF1493"/>
                </a:solidFill>
                <a:latin typeface="Lucida Console" panose="020B0609040504020204" pitchFamily="49" charset="0"/>
              </a:rPr>
              <a:t>hy</a:t>
            </a:r>
            <a:r>
              <a:rPr lang="en-US" altLang="en-US" sz="3200" dirty="0">
                <a:solidFill>
                  <a:srgbClr val="FF1493"/>
                </a:solidFill>
                <a:latin typeface="Lucida Console" panose="020B0609040504020204" pitchFamily="49" charset="0"/>
              </a:rPr>
              <a:t>?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FF0000"/>
                </a:solidFill>
                <a:latin typeface="Arial Narrow" panose="020B0606020202030204" pitchFamily="34" charset="0"/>
              </a:rPr>
              <a:t>  File "&lt;</a:t>
            </a:r>
            <a:r>
              <a:rPr lang="en-US" altLang="en-US" sz="32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stdin</a:t>
            </a:r>
            <a:r>
              <a:rPr lang="en-US" altLang="en-US" sz="3200" dirty="0">
                <a:solidFill>
                  <a:srgbClr val="FF0000"/>
                </a:solidFill>
                <a:latin typeface="Arial Narrow" panose="020B0606020202030204" pitchFamily="34" charset="0"/>
              </a:rPr>
              <a:t>&gt;", line 1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SyntaxError</a:t>
            </a:r>
            <a:r>
              <a:rPr lang="en-US" altLang="en-US" sz="3200" dirty="0">
                <a:solidFill>
                  <a:srgbClr val="FF0000"/>
                </a:solidFill>
                <a:latin typeface="Arial Narrow" panose="020B0606020202030204" pitchFamily="34" charset="0"/>
              </a:rPr>
              <a:t>: positional argument follows keyword argument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2"/>
            <a:ext cx="9729788" cy="85997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sz="4000" dirty="0">
                <a:solidFill>
                  <a:srgbClr val="0070C0"/>
                </a:solidFill>
              </a:rPr>
              <a:t>Use </a:t>
            </a:r>
            <a:r>
              <a:rPr lang="en-US" altLang="zh-TW" sz="4000" dirty="0">
                <a:solidFill>
                  <a:srgbClr val="0070C0"/>
                </a:solidFill>
                <a:latin typeface="Rockwell Extra Bold" panose="02060903040505020403" pitchFamily="18" charset="0"/>
              </a:rPr>
              <a:t>*</a:t>
            </a:r>
            <a:r>
              <a:rPr lang="en-US" altLang="zh-TW" sz="4000" dirty="0">
                <a:solidFill>
                  <a:srgbClr val="0070C0"/>
                </a:solidFill>
              </a:rPr>
              <a:t> </a:t>
            </a:r>
            <a:r>
              <a:rPr lang="en-US" altLang="zh-TW" sz="4000" dirty="0" smtClean="0">
                <a:solidFill>
                  <a:srgbClr val="0070C0"/>
                </a:solidFill>
              </a:rPr>
              <a:t>for </a:t>
            </a:r>
            <a:r>
              <a:rPr lang="en-US" altLang="zh-TW" sz="4000" dirty="0">
                <a:solidFill>
                  <a:srgbClr val="0070C0"/>
                </a:solidFill>
              </a:rPr>
              <a:t>Keyword-only Parameters</a:t>
            </a:r>
            <a:endParaRPr lang="zh-TW" altLang="en-US" sz="4000" dirty="0">
              <a:solidFill>
                <a:srgbClr val="0070C0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19456" y="859536"/>
            <a:ext cx="9510332" cy="1581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 smtClean="0"/>
              <a:t>Notice</a:t>
            </a:r>
            <a:r>
              <a:rPr lang="en-US" sz="2800" dirty="0" smtClean="0"/>
              <a:t> </a:t>
            </a:r>
            <a:r>
              <a:rPr lang="en-US" sz="3600" dirty="0"/>
              <a:t>that</a:t>
            </a:r>
            <a:r>
              <a:rPr lang="en-US" sz="2800" dirty="0"/>
              <a:t> </a:t>
            </a:r>
            <a:r>
              <a:rPr lang="en-US" sz="3600" dirty="0"/>
              <a:t>keyword</a:t>
            </a:r>
            <a:r>
              <a:rPr lang="en-US" sz="2800" dirty="0"/>
              <a:t> </a:t>
            </a:r>
            <a:r>
              <a:rPr lang="en-US" sz="3600" dirty="0"/>
              <a:t>parameters go at the end, and </a:t>
            </a:r>
            <a:r>
              <a:rPr lang="en-US" sz="3600" dirty="0">
                <a:solidFill>
                  <a:srgbClr val="FF0000"/>
                </a:solidFill>
              </a:rPr>
              <a:t>they don’t need default values</a:t>
            </a:r>
            <a:r>
              <a:rPr lang="en-US" sz="3600" dirty="0"/>
              <a:t>.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152400" y="2354580"/>
            <a:ext cx="1070919" cy="410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0" indent="0"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3200" dirty="0" smtClean="0">
              <a:solidFill>
                <a:srgbClr val="00800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1200" dirty="0" smtClean="0"/>
              <a:t/>
            </a:r>
            <a:br>
              <a:rPr lang="en-GB" altLang="en-US" sz="1200" dirty="0" smtClean="0"/>
            </a:br>
            <a:r>
              <a:rPr lang="en-US" altLang="en-US" sz="32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dirty="0">
              <a:solidFill>
                <a:srgbClr val="00800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dirty="0">
              <a:solidFill>
                <a:srgbClr val="00800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spc="-100" dirty="0">
              <a:solidFill>
                <a:srgbClr val="FF1493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 smtClean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84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 txBox="1">
            <a:spLocks/>
          </p:cNvSpPr>
          <p:nvPr/>
        </p:nvSpPr>
        <p:spPr>
          <a:xfrm>
            <a:off x="219456" y="854811"/>
            <a:ext cx="9961804" cy="1581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3600" dirty="0" smtClean="0"/>
              <a:t>Can a</a:t>
            </a:r>
            <a:r>
              <a:rPr lang="en-US" altLang="zh-TW" sz="2800" dirty="0" smtClean="0"/>
              <a:t> </a:t>
            </a:r>
            <a:r>
              <a:rPr lang="en-US" altLang="zh-TW" sz="3600" dirty="0">
                <a:solidFill>
                  <a:srgbClr val="FF0000"/>
                </a:solidFill>
              </a:rPr>
              <a:t>variable-length</a:t>
            </a:r>
            <a:r>
              <a:rPr lang="en-US" altLang="zh-TW" sz="2800" dirty="0">
                <a:solidFill>
                  <a:srgbClr val="FF0000"/>
                </a:solidFill>
              </a:rPr>
              <a:t> </a:t>
            </a:r>
            <a:r>
              <a:rPr lang="en-US" altLang="zh-TW" sz="3600" dirty="0">
                <a:solidFill>
                  <a:srgbClr val="FF0000"/>
                </a:solidFill>
              </a:rPr>
              <a:t>argument </a:t>
            </a:r>
            <a:r>
              <a:rPr lang="en-US" altLang="zh-TW" sz="3600" dirty="0" smtClean="0"/>
              <a:t>be used to</a:t>
            </a:r>
            <a:r>
              <a:rPr lang="en-US" altLang="zh-TW" sz="3600" dirty="0" smtClean="0">
                <a:solidFill>
                  <a:srgbClr val="FF0000"/>
                </a:solidFill>
              </a:rPr>
              <a:t> force</a:t>
            </a:r>
            <a:r>
              <a:rPr lang="en-US" altLang="zh-TW" sz="3600" dirty="0" smtClean="0"/>
              <a:t> remaining parameters </a:t>
            </a:r>
            <a:r>
              <a:rPr lang="en-US" altLang="zh-TW" sz="3600" dirty="0"/>
              <a:t>to be </a:t>
            </a:r>
            <a:r>
              <a:rPr lang="en-US" altLang="zh-TW" sz="3600" dirty="0" smtClean="0">
                <a:solidFill>
                  <a:srgbClr val="FF0000"/>
                </a:solidFill>
              </a:rPr>
              <a:t>keyword-only</a:t>
            </a:r>
            <a:r>
              <a:rPr lang="en-US" altLang="zh-TW" sz="3600" dirty="0" smtClean="0"/>
              <a:t>?</a:t>
            </a:r>
            <a:endParaRPr lang="en-US" sz="3600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55448" y="1828800"/>
            <a:ext cx="9574340" cy="5029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1600" dirty="0"/>
              <a:t/>
            </a:r>
            <a:br>
              <a:rPr lang="en-GB" altLang="en-US" sz="1600" dirty="0"/>
            </a:b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 area(</a:t>
            </a:r>
            <a:r>
              <a:rPr lang="en-US" altLang="en-US" sz="32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sz="32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jun</a:t>
            </a:r>
            <a:r>
              <a:rPr lang="en-US" altLang="en-US" sz="3200" spc="-2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k</a:t>
            </a:r>
            <a:r>
              <a:rPr lang="en-US" altLang="en-US" sz="3200" spc="-20" dirty="0" err="1" smtClean="0">
                <a:solidFill>
                  <a:srgbClr val="F987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spc="-20" dirty="0" err="1" smtClean="0">
                <a:solidFill>
                  <a:srgbClr val="7B430B"/>
                </a:solidFill>
                <a:latin typeface="Lucida Console" panose="020B0609040504020204" pitchFamily="49" charset="0"/>
              </a:rPr>
              <a:t>unit</a:t>
            </a:r>
            <a:r>
              <a:rPr lang="en-US" altLang="en-US" sz="3200" spc="-20" dirty="0" smtClean="0">
                <a:solidFill>
                  <a:srgbClr val="7B430B"/>
                </a:solidFill>
                <a:latin typeface="Lucida Console" panose="020B0609040504020204" pitchFamily="49" charset="0"/>
              </a:rPr>
              <a:t>="</a:t>
            </a:r>
            <a:r>
              <a:rPr lang="en-US" altLang="en-US" sz="3200" spc="-20" dirty="0">
                <a:solidFill>
                  <a:srgbClr val="7B430B"/>
                </a:solidFill>
                <a:latin typeface="Lucida Console" panose="020B0609040504020204" pitchFamily="49" charset="0"/>
              </a:rPr>
              <a:t>meter</a:t>
            </a:r>
            <a:r>
              <a:rPr lang="en-US" altLang="en-US" sz="3200" spc="-200" dirty="0">
                <a:solidFill>
                  <a:srgbClr val="7B430B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3200" spc="-100" dirty="0">
                <a:solidFill>
                  <a:srgbClr val="7B430B"/>
                </a:solidFill>
                <a:latin typeface="Lucida Console" panose="020B0609040504020204" pitchFamily="49" charset="0"/>
              </a:rPr>
              <a:t>"</a:t>
            </a:r>
            <a:r>
              <a:rPr lang="en-US" altLang="en-US" sz="3200" spc="-500" dirty="0">
                <a:solidFill>
                  <a:srgbClr val="F987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spc="-100" dirty="0">
                <a:solidFill>
                  <a:srgbClr val="F98700"/>
                </a:solidFill>
                <a:latin typeface="Lucida Console" panose="020B0609040504020204" pitchFamily="49" charset="0"/>
              </a:rPr>
              <a:t>: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3200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   print 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, "square %</a:t>
            </a:r>
            <a:r>
              <a:rPr lang="en-US" altLang="en-US" sz="320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s"%</a:t>
            </a:r>
            <a:r>
              <a:rPr lang="en-US" altLang="en-US" sz="3200" dirty="0" err="1" smtClean="0">
                <a:solidFill>
                  <a:srgbClr val="F98700"/>
                </a:solidFill>
                <a:latin typeface="Lucida Console" panose="020B0609040504020204" pitchFamily="49" charset="0"/>
              </a:rPr>
              <a:t>unit</a:t>
            </a:r>
            <a:r>
              <a:rPr lang="en-US" altLang="en-US" sz="3200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)</a:t>
            </a:r>
            <a:endParaRPr lang="en-US" altLang="en-US" sz="3200" dirty="0">
              <a:solidFill>
                <a:srgbClr val="F9870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4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32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area(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6 square meters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area(</a:t>
            </a:r>
            <a:r>
              <a:rPr lang="en-US" altLang="en-US" sz="32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32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sz="32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smtClean="0">
                <a:solidFill>
                  <a:srgbClr val="7B430B"/>
                </a:solidFill>
                <a:latin typeface="Lucida Console" panose="020B0609040504020204" pitchFamily="49" charset="0"/>
              </a:rPr>
              <a:t>unit="</a:t>
            </a:r>
            <a:r>
              <a:rPr lang="en-US" altLang="en-US" sz="3200" dirty="0">
                <a:solidFill>
                  <a:srgbClr val="7B430B"/>
                </a:solidFill>
                <a:latin typeface="Lucida Console" panose="020B0609040504020204" pitchFamily="49" charset="0"/>
              </a:rPr>
              <a:t>feet"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6 square feet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 area(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"miles</a:t>
            </a:r>
            <a:r>
              <a:rPr lang="en-US" altLang="en-US" sz="3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"</a:t>
            </a:r>
            <a:r>
              <a:rPr lang="en-US" altLang="en-US" sz="32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dirty="0" smtClean="0">
                <a:solidFill>
                  <a:srgbClr val="FF1493"/>
                </a:solidFill>
                <a:latin typeface="Lucida Console" panose="020B0609040504020204" pitchFamily="49" charset="0"/>
              </a:rPr>
              <a:t>#</a:t>
            </a:r>
            <a:r>
              <a:rPr lang="en-US" altLang="en-US" sz="3200" dirty="0" err="1" smtClean="0">
                <a:solidFill>
                  <a:srgbClr val="FF1493"/>
                </a:solidFill>
                <a:latin typeface="Lucida Console" panose="020B0609040504020204" pitchFamily="49" charset="0"/>
              </a:rPr>
              <a:t>Q:Why</a:t>
            </a:r>
            <a:r>
              <a:rPr lang="en-US" altLang="en-US" sz="2400" dirty="0" smtClean="0">
                <a:solidFill>
                  <a:srgbClr val="FF149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 smtClean="0">
                <a:solidFill>
                  <a:srgbClr val="FF1493"/>
                </a:solidFill>
                <a:latin typeface="Lucida Console" panose="020B0609040504020204" pitchFamily="49" charset="0"/>
              </a:rPr>
              <a:t>get</a:t>
            </a:r>
            <a:r>
              <a:rPr lang="en-US" altLang="en-US" sz="2400" dirty="0" smtClean="0">
                <a:solidFill>
                  <a:srgbClr val="FF149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 smtClean="0">
                <a:solidFill>
                  <a:srgbClr val="FF1493"/>
                </a:solidFill>
                <a:latin typeface="Lucida Console" panose="020B0609040504020204" pitchFamily="49" charset="0"/>
              </a:rPr>
              <a:t>this</a:t>
            </a:r>
            <a:r>
              <a:rPr lang="en-US" altLang="en-US" sz="3200" spc="-500" dirty="0" smtClean="0">
                <a:solidFill>
                  <a:srgbClr val="FF1493"/>
                </a:solidFill>
                <a:latin typeface="Lucida Console" panose="020B0609040504020204" pitchFamily="49" charset="0"/>
              </a:rPr>
              <a:t>?</a:t>
            </a:r>
            <a:r>
              <a:rPr lang="en-US" altLang="en-US" sz="3200" dirty="0" smtClean="0">
                <a:solidFill>
                  <a:srgbClr val="FF1493"/>
                </a:solidFill>
                <a:latin typeface="Lucida Console" panose="020B0609040504020204" pitchFamily="49" charset="0"/>
              </a:rPr>
              <a:t>:</a:t>
            </a:r>
            <a:endParaRPr lang="en-US" altLang="en-US" sz="3200" dirty="0">
              <a:solidFill>
                <a:srgbClr val="FF1493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6 square meters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 smtClean="0">
                <a:solidFill>
                  <a:srgbClr val="FF1493"/>
                </a:solidFill>
                <a:latin typeface="Lucida Console" panose="020B0609040504020204" pitchFamily="49" charset="0"/>
              </a:rPr>
              <a:t>#A: Because ("miles</a:t>
            </a:r>
            <a:r>
              <a:rPr lang="en-US" altLang="en-US" sz="3200" spc="-300" dirty="0" smtClean="0">
                <a:solidFill>
                  <a:srgbClr val="FF1493"/>
                </a:solidFill>
                <a:latin typeface="Lucida Console" panose="020B0609040504020204" pitchFamily="49" charset="0"/>
              </a:rPr>
              <a:t>"</a:t>
            </a:r>
            <a:r>
              <a:rPr lang="en-US" altLang="en-US" sz="3200" spc="-200" dirty="0" smtClean="0">
                <a:solidFill>
                  <a:srgbClr val="FF1493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smtClean="0">
                <a:solidFill>
                  <a:srgbClr val="FF1493"/>
                </a:solidFill>
                <a:latin typeface="Lucida Console" panose="020B0609040504020204" pitchFamily="49" charset="0"/>
              </a:rPr>
              <a:t>) </a:t>
            </a:r>
            <a:r>
              <a:rPr lang="en-US" altLang="en-US" sz="2800" dirty="0" smtClean="0">
                <a:solidFill>
                  <a:srgbClr val="FF1493"/>
                </a:solidFill>
                <a:latin typeface="Lucida Console" panose="020B0609040504020204" pitchFamily="49" charset="0"/>
                <a:sym typeface="Wingdings" panose="05000000000000000000" pitchFamily="2" charset="2"/>
              </a:rPr>
              <a:t> </a:t>
            </a:r>
            <a:r>
              <a:rPr lang="en-US" altLang="en-US" sz="3200" dirty="0" smtClean="0">
                <a:solidFill>
                  <a:srgbClr val="FF1493"/>
                </a:solidFill>
                <a:latin typeface="Lucida Console" panose="020B0609040504020204" pitchFamily="49" charset="0"/>
              </a:rPr>
              <a:t>junk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 smtClean="0">
                <a:latin typeface="Lucida Console" panose="020B0609040504020204" pitchFamily="49" charset="0"/>
              </a:rPr>
              <a:t>#So nothing but keywords can go</a:t>
            </a:r>
            <a:endParaRPr lang="en-US" altLang="en-US" sz="3200" spc="-150" dirty="0"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 smtClean="0">
                <a:latin typeface="Lucida Console" panose="020B0609040504020204" pitchFamily="49" charset="0"/>
              </a:rPr>
              <a:t>#after </a:t>
            </a:r>
            <a:r>
              <a:rPr lang="en-US" altLang="en-US" sz="3200" dirty="0">
                <a:latin typeface="Lucida Console" panose="020B0609040504020204" pitchFamily="49" charset="0"/>
              </a:rPr>
              <a:t>a</a:t>
            </a:r>
            <a:r>
              <a:rPr lang="en-US" altLang="en-US" sz="1800" spc="-100" dirty="0">
                <a:latin typeface="Lucida Console" panose="020B0609040504020204" pitchFamily="49" charset="0"/>
              </a:rPr>
              <a:t> </a:t>
            </a:r>
            <a:r>
              <a:rPr lang="en-US" altLang="en-US" sz="3200" spc="-200" dirty="0">
                <a:latin typeface="Lucida Console" panose="020B0609040504020204" pitchFamily="49" charset="0"/>
              </a:rPr>
              <a:t>v</a:t>
            </a:r>
            <a:r>
              <a:rPr lang="en-US" altLang="en-US" sz="3200" spc="-100" dirty="0">
                <a:latin typeface="Lucida Console" panose="020B0609040504020204" pitchFamily="49" charset="0"/>
              </a:rPr>
              <a:t>aria</a:t>
            </a:r>
            <a:r>
              <a:rPr lang="en-US" altLang="en-US" sz="3200" spc="-300" dirty="0">
                <a:latin typeface="Lucida Console" panose="020B0609040504020204" pitchFamily="49" charset="0"/>
              </a:rPr>
              <a:t>bl</a:t>
            </a:r>
            <a:r>
              <a:rPr lang="en-US" altLang="en-US" sz="3200" spc="-100" dirty="0">
                <a:latin typeface="Lucida Console" panose="020B0609040504020204" pitchFamily="49" charset="0"/>
              </a:rPr>
              <a:t>e</a:t>
            </a:r>
            <a:r>
              <a:rPr lang="en-US" altLang="en-US" sz="2400" spc="-100" dirty="0">
                <a:latin typeface="Lucida Console" panose="020B0609040504020204" pitchFamily="49" charset="0"/>
              </a:rPr>
              <a:t> </a:t>
            </a:r>
            <a:r>
              <a:rPr lang="en-US" altLang="en-US" sz="3200" spc="-300" dirty="0">
                <a:latin typeface="Lucida Console" panose="020B0609040504020204" pitchFamily="49" charset="0"/>
              </a:rPr>
              <a:t>l</a:t>
            </a:r>
            <a:r>
              <a:rPr lang="en-US" altLang="en-US" sz="3200" spc="-100" dirty="0">
                <a:latin typeface="Lucida Console" panose="020B0609040504020204" pitchFamily="49" charset="0"/>
              </a:rPr>
              <a:t>ength</a:t>
            </a:r>
            <a:r>
              <a:rPr lang="en-US" altLang="en-US" sz="2400" spc="-100" dirty="0">
                <a:latin typeface="Lucida Console" panose="020B0609040504020204" pitchFamily="49" charset="0"/>
              </a:rPr>
              <a:t> </a:t>
            </a:r>
            <a:r>
              <a:rPr lang="en-US" altLang="en-US" sz="3200" spc="-100" dirty="0" smtClean="0">
                <a:latin typeface="Lucida Console" panose="020B0609040504020204" pitchFamily="49" charset="0"/>
              </a:rPr>
              <a:t>arguments.</a:t>
            </a:r>
            <a:endParaRPr lang="en-US" altLang="en-US" sz="3200" dirty="0">
              <a:latin typeface="Lucida Console" panose="020B060904050402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2"/>
            <a:ext cx="9729788" cy="85997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sz="4000" dirty="0">
                <a:solidFill>
                  <a:srgbClr val="0070C0"/>
                </a:solidFill>
              </a:rPr>
              <a:t>Use </a:t>
            </a:r>
            <a:r>
              <a:rPr lang="en-US" altLang="zh-TW" sz="4000" dirty="0">
                <a:solidFill>
                  <a:srgbClr val="0070C0"/>
                </a:solidFill>
                <a:latin typeface="Rockwell Extra Bold" panose="02060903040505020403" pitchFamily="18" charset="0"/>
              </a:rPr>
              <a:t>*</a:t>
            </a:r>
            <a:r>
              <a:rPr lang="en-US" altLang="zh-TW" sz="4000" dirty="0">
                <a:solidFill>
                  <a:srgbClr val="0070C0"/>
                </a:solidFill>
              </a:rPr>
              <a:t> </a:t>
            </a:r>
            <a:r>
              <a:rPr lang="en-US" altLang="zh-TW" sz="4000" dirty="0" smtClean="0">
                <a:solidFill>
                  <a:srgbClr val="0070C0"/>
                </a:solidFill>
              </a:rPr>
              <a:t>for </a:t>
            </a:r>
            <a:r>
              <a:rPr lang="en-US" altLang="zh-TW" sz="4000" dirty="0">
                <a:solidFill>
                  <a:srgbClr val="0070C0"/>
                </a:solidFill>
              </a:rPr>
              <a:t>Keyword-only Parameters</a:t>
            </a:r>
            <a:endParaRPr lang="zh-TW" altLang="en-US" sz="4000" dirty="0">
              <a:solidFill>
                <a:srgbClr val="0070C0"/>
              </a:solidFill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52400" y="2354580"/>
            <a:ext cx="1070919" cy="410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0" indent="0"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3200" dirty="0" smtClean="0">
              <a:solidFill>
                <a:srgbClr val="00800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1200" dirty="0" smtClean="0"/>
              <a:t/>
            </a:r>
            <a:br>
              <a:rPr lang="en-GB" altLang="en-US" sz="1200" dirty="0" smtClean="0"/>
            </a:br>
            <a:r>
              <a:rPr lang="en-US" altLang="en-US" sz="32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dirty="0">
              <a:solidFill>
                <a:srgbClr val="00800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dirty="0">
              <a:solidFill>
                <a:srgbClr val="00800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spc="-100" dirty="0">
              <a:solidFill>
                <a:srgbClr val="FF1493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 smtClean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7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 txBox="1">
            <a:spLocks/>
          </p:cNvSpPr>
          <p:nvPr/>
        </p:nvSpPr>
        <p:spPr>
          <a:xfrm>
            <a:off x="219456" y="854811"/>
            <a:ext cx="9510332" cy="1581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3600" dirty="0"/>
              <a:t>The</a:t>
            </a:r>
            <a:r>
              <a:rPr lang="en-US" altLang="zh-TW" sz="2400" dirty="0"/>
              <a:t> </a:t>
            </a:r>
            <a:r>
              <a:rPr lang="en-US" altLang="zh-TW" sz="3600" dirty="0" smtClean="0"/>
              <a:t>following</a:t>
            </a:r>
            <a:r>
              <a:rPr lang="en-US" altLang="zh-TW" sz="2400" dirty="0" smtClean="0"/>
              <a:t> </a:t>
            </a:r>
            <a:r>
              <a:rPr lang="en-US" altLang="zh-TW" sz="3600" dirty="0"/>
              <a:t>shows</a:t>
            </a:r>
            <a:r>
              <a:rPr lang="en-US" altLang="zh-TW" sz="2400" dirty="0"/>
              <a:t> </a:t>
            </a:r>
            <a:r>
              <a:rPr lang="en-US" altLang="zh-TW" sz="3600" dirty="0"/>
              <a:t>how</a:t>
            </a:r>
            <a:r>
              <a:rPr lang="en-US" altLang="zh-TW" sz="2400" dirty="0"/>
              <a:t> </a:t>
            </a:r>
            <a:r>
              <a:rPr lang="en-US" altLang="zh-TW" sz="3600" dirty="0"/>
              <a:t>using</a:t>
            </a:r>
            <a:r>
              <a:rPr lang="en-US" altLang="zh-TW" sz="2400" dirty="0"/>
              <a:t> </a:t>
            </a:r>
            <a:r>
              <a:rPr lang="en-US" altLang="zh-TW" sz="3600" dirty="0"/>
              <a:t>an</a:t>
            </a:r>
            <a:r>
              <a:rPr lang="en-US" altLang="zh-TW" sz="2400" dirty="0"/>
              <a:t> </a:t>
            </a:r>
            <a:r>
              <a:rPr lang="en-US" altLang="zh-TW" sz="3600" dirty="0"/>
              <a:t>unnecessary variable-length argument has the side effect of </a:t>
            </a:r>
            <a:r>
              <a:rPr lang="en-US" altLang="zh-TW" sz="3600" dirty="0">
                <a:solidFill>
                  <a:srgbClr val="FF0000"/>
                </a:solidFill>
              </a:rPr>
              <a:t>preventing detection</a:t>
            </a:r>
            <a:r>
              <a:rPr lang="en-US" altLang="zh-TW" sz="3600" dirty="0"/>
              <a:t> of a</a:t>
            </a:r>
            <a:r>
              <a:rPr lang="en-US" altLang="zh-TW" sz="3600" dirty="0" smtClean="0"/>
              <a:t> </a:t>
            </a:r>
            <a:r>
              <a:rPr lang="en-US" altLang="zh-TW" sz="3600" dirty="0">
                <a:solidFill>
                  <a:srgbClr val="FF0000"/>
                </a:solidFill>
              </a:rPr>
              <a:t>bad </a:t>
            </a:r>
            <a:r>
              <a:rPr lang="en-US" altLang="zh-TW" sz="3600" dirty="0" smtClean="0">
                <a:solidFill>
                  <a:srgbClr val="FF0000"/>
                </a:solidFill>
              </a:rPr>
              <a:t>call</a:t>
            </a:r>
            <a:r>
              <a:rPr lang="en-US" altLang="zh-TW" sz="3600" dirty="0" smtClean="0"/>
              <a:t>:</a:t>
            </a:r>
            <a:endParaRPr lang="en-US" altLang="zh-TW" sz="3600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55448" y="2220691"/>
            <a:ext cx="10145626" cy="46373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0" indent="0"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1600" dirty="0"/>
              <a:t/>
            </a:r>
            <a:br>
              <a:rPr lang="en-GB" altLang="en-US" sz="1600" dirty="0"/>
            </a:b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 area(</a:t>
            </a:r>
            <a:r>
              <a:rPr lang="en-US" altLang="en-US" sz="32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sz="32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jun</a:t>
            </a:r>
            <a:r>
              <a:rPr lang="en-US" altLang="en-US" sz="3200" spc="-2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</a:t>
            </a:r>
            <a:r>
              <a:rPr lang="en-US" altLang="en-US" sz="3200" spc="-2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spc="-20" dirty="0" err="1">
                <a:solidFill>
                  <a:srgbClr val="7B430B"/>
                </a:solidFill>
                <a:latin typeface="Lucida Console" panose="020B0609040504020204" pitchFamily="49" charset="0"/>
              </a:rPr>
              <a:t>unit</a:t>
            </a:r>
            <a:r>
              <a:rPr lang="en-US" altLang="en-US" sz="3200" spc="-20" dirty="0">
                <a:solidFill>
                  <a:srgbClr val="7B430B"/>
                </a:solidFill>
                <a:latin typeface="Lucida Console" panose="020B0609040504020204" pitchFamily="49" charset="0"/>
              </a:rPr>
              <a:t>="meter</a:t>
            </a:r>
            <a:r>
              <a:rPr lang="en-US" altLang="en-US" sz="3200" spc="-200" dirty="0">
                <a:solidFill>
                  <a:srgbClr val="7B430B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3200" spc="-100" dirty="0" smtClean="0">
                <a:solidFill>
                  <a:srgbClr val="7B430B"/>
                </a:solidFill>
                <a:latin typeface="Lucida Console" panose="020B0609040504020204" pitchFamily="49" charset="0"/>
              </a:rPr>
              <a:t>"</a:t>
            </a:r>
            <a:r>
              <a:rPr lang="en-US" altLang="en-US" sz="3200" spc="-500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spc="-100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:</a:t>
            </a:r>
            <a:endParaRPr lang="en-US" altLang="en-US" sz="3200" dirty="0">
              <a:solidFill>
                <a:srgbClr val="F98700"/>
              </a:solidFill>
              <a:latin typeface="Lucida Console" panose="020B0609040504020204" pitchFamily="49" charset="0"/>
            </a:endParaRPr>
          </a:p>
          <a:p>
            <a:pPr marL="95250" indent="0"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3200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   print 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, "square %</a:t>
            </a:r>
            <a:r>
              <a:rPr lang="en-US" altLang="en-US" sz="320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s"%</a:t>
            </a:r>
            <a:r>
              <a:rPr lang="en-US" altLang="en-US" sz="3200" dirty="0" err="1" smtClean="0">
                <a:solidFill>
                  <a:srgbClr val="F98700"/>
                </a:solidFill>
                <a:latin typeface="Lucida Console" panose="020B0609040504020204" pitchFamily="49" charset="0"/>
              </a:rPr>
              <a:t>unit</a:t>
            </a:r>
            <a:r>
              <a:rPr lang="en-US" altLang="en-US" sz="3200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)</a:t>
            </a:r>
            <a:endParaRPr lang="en-US" altLang="en-US" sz="3200" dirty="0">
              <a:solidFill>
                <a:srgbClr val="F9870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50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 area(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6 square meters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area(</a:t>
            </a:r>
            <a:r>
              <a:rPr lang="en-US" altLang="en-US" sz="32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32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sz="32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smtClean="0">
                <a:solidFill>
                  <a:srgbClr val="7B430B"/>
                </a:solidFill>
                <a:latin typeface="Lucida Console" panose="020B0609040504020204" pitchFamily="49" charset="0"/>
              </a:rPr>
              <a:t>unit="</a:t>
            </a:r>
            <a:r>
              <a:rPr lang="en-US" altLang="en-US" sz="3200" dirty="0">
                <a:solidFill>
                  <a:srgbClr val="894D0B"/>
                </a:solidFill>
                <a:latin typeface="Lucida Console" panose="020B0609040504020204" pitchFamily="49" charset="0"/>
              </a:rPr>
              <a:t>feet</a:t>
            </a:r>
            <a:r>
              <a:rPr lang="en-US" altLang="en-US" sz="3200" dirty="0">
                <a:solidFill>
                  <a:srgbClr val="7B430B"/>
                </a:solidFill>
                <a:latin typeface="Lucida Console" panose="020B0609040504020204" pitchFamily="49" charset="0"/>
              </a:rPr>
              <a:t>"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6 square feet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area(</a:t>
            </a:r>
            <a:r>
              <a:rPr lang="en-US" altLang="en-US" sz="32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32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sz="32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4</a:t>
            </a:r>
            <a:r>
              <a:rPr lang="en-US" altLang="en-US" sz="32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5</a:t>
            </a:r>
            <a:r>
              <a:rPr lang="en-US" altLang="en-US" sz="32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smtClean="0">
                <a:solidFill>
                  <a:srgbClr val="7B430B"/>
                </a:solidFill>
                <a:latin typeface="Lucida Console" panose="020B0609040504020204" pitchFamily="49" charset="0"/>
              </a:rPr>
              <a:t>unit="</a:t>
            </a:r>
            <a:r>
              <a:rPr lang="en-US" altLang="en-US" sz="3200" dirty="0">
                <a:solidFill>
                  <a:srgbClr val="7B430B"/>
                </a:solidFill>
                <a:latin typeface="Lucida Console" panose="020B0609040504020204" pitchFamily="49" charset="0"/>
              </a:rPr>
              <a:t>km</a:t>
            </a:r>
            <a:r>
              <a:rPr lang="en-US" altLang="en-US" sz="3200" dirty="0" smtClean="0">
                <a:solidFill>
                  <a:srgbClr val="7B430B"/>
                </a:solidFill>
                <a:latin typeface="Lucida Console" panose="020B0609040504020204" pitchFamily="49" charset="0"/>
              </a:rPr>
              <a:t>"</a:t>
            </a:r>
            <a:r>
              <a:rPr lang="en-US" altLang="en-US" sz="32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dirty="0" smtClean="0">
                <a:solidFill>
                  <a:srgbClr val="FF1493"/>
                </a:solidFill>
                <a:latin typeface="Lucida Console" panose="020B0609040504020204" pitchFamily="49" charset="0"/>
              </a:rPr>
              <a:t>#Bad call:</a:t>
            </a:r>
            <a:endParaRPr lang="en-US" altLang="en-US" sz="3200" dirty="0">
              <a:solidFill>
                <a:srgbClr val="FF1493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6 square km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>
                <a:solidFill>
                  <a:srgbClr val="FF1493"/>
                </a:solidFill>
                <a:latin typeface="Lucida Console" panose="020B0609040504020204" pitchFamily="49" charset="0"/>
              </a:rPr>
              <a:t># </a:t>
            </a:r>
            <a:r>
              <a:rPr lang="en-US" altLang="en-US" sz="3200" dirty="0" smtClean="0">
                <a:solidFill>
                  <a:srgbClr val="FF1493"/>
                </a:solidFill>
                <a:latin typeface="Lucida Console" panose="020B0609040504020204" pitchFamily="49" charset="0"/>
              </a:rPr>
              <a:t>But no error. (4,5</a:t>
            </a:r>
            <a:r>
              <a:rPr lang="en-US" altLang="en-US" sz="3200" dirty="0">
                <a:solidFill>
                  <a:srgbClr val="FF1493"/>
                </a:solidFill>
                <a:latin typeface="Lucida Console" panose="020B0609040504020204" pitchFamily="49" charset="0"/>
              </a:rPr>
              <a:t>) </a:t>
            </a:r>
            <a:r>
              <a:rPr lang="en-US" altLang="en-US" sz="3200" dirty="0" smtClean="0">
                <a:solidFill>
                  <a:srgbClr val="FF1493"/>
                </a:solidFill>
                <a:latin typeface="Lucida Console" panose="020B0609040504020204" pitchFamily="49" charset="0"/>
                <a:sym typeface="Wingdings" panose="05000000000000000000" pitchFamily="2" charset="2"/>
              </a:rPr>
              <a:t></a:t>
            </a:r>
            <a:r>
              <a:rPr lang="en-US" altLang="en-US" sz="3200" dirty="0" smtClean="0">
                <a:solidFill>
                  <a:srgbClr val="FF149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>
                <a:solidFill>
                  <a:srgbClr val="FF1493"/>
                </a:solidFill>
                <a:latin typeface="Lucida Console" panose="020B0609040504020204" pitchFamily="49" charset="0"/>
              </a:rPr>
              <a:t>junk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2"/>
            <a:ext cx="9729788" cy="85997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sz="4000" dirty="0">
                <a:solidFill>
                  <a:srgbClr val="0070C0"/>
                </a:solidFill>
              </a:rPr>
              <a:t>Use </a:t>
            </a:r>
            <a:r>
              <a:rPr lang="en-US" altLang="zh-TW" sz="4000" dirty="0">
                <a:solidFill>
                  <a:srgbClr val="0070C0"/>
                </a:solidFill>
                <a:latin typeface="Rockwell Extra Bold" panose="02060903040505020403" pitchFamily="18" charset="0"/>
              </a:rPr>
              <a:t>*</a:t>
            </a:r>
            <a:r>
              <a:rPr lang="en-US" altLang="zh-TW" sz="4000" dirty="0">
                <a:solidFill>
                  <a:srgbClr val="0070C0"/>
                </a:solidFill>
              </a:rPr>
              <a:t> </a:t>
            </a:r>
            <a:r>
              <a:rPr lang="en-US" altLang="zh-TW" sz="4000" dirty="0" smtClean="0">
                <a:solidFill>
                  <a:srgbClr val="0070C0"/>
                </a:solidFill>
              </a:rPr>
              <a:t>for </a:t>
            </a:r>
            <a:r>
              <a:rPr lang="en-US" altLang="zh-TW" sz="4000" dirty="0">
                <a:solidFill>
                  <a:srgbClr val="0070C0"/>
                </a:solidFill>
              </a:rPr>
              <a:t>Keyword-only Parameters</a:t>
            </a:r>
            <a:endParaRPr lang="zh-TW" altLang="en-US" sz="4000" dirty="0">
              <a:solidFill>
                <a:srgbClr val="0070C0"/>
              </a:solidFill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52400" y="2864032"/>
            <a:ext cx="1070919" cy="410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0" indent="0"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1200" dirty="0" smtClean="0">
                <a:solidFill>
                  <a:schemeClr val="bg1">
                    <a:lumMod val="65000"/>
                  </a:schemeClr>
                </a:solidFill>
              </a:rPr>
              <a:t/>
            </a:r>
            <a:br>
              <a:rPr lang="en-GB" altLang="en-US" sz="1200" dirty="0" smtClean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altLang="en-US" sz="32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spc="-1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841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 txBox="1">
            <a:spLocks/>
          </p:cNvSpPr>
          <p:nvPr/>
        </p:nvSpPr>
        <p:spPr>
          <a:xfrm>
            <a:off x="219456" y="854811"/>
            <a:ext cx="9510332" cy="1581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3600" dirty="0"/>
              <a:t>The</a:t>
            </a:r>
            <a:r>
              <a:rPr lang="en-US" altLang="zh-TW" sz="2400" dirty="0"/>
              <a:t> </a:t>
            </a:r>
            <a:r>
              <a:rPr lang="en-US" altLang="zh-TW" sz="3600" dirty="0" smtClean="0"/>
              <a:t>following</a:t>
            </a:r>
            <a:r>
              <a:rPr lang="en-US" altLang="zh-TW" sz="2400" dirty="0" smtClean="0"/>
              <a:t> </a:t>
            </a:r>
            <a:r>
              <a:rPr lang="en-US" altLang="zh-TW" sz="3600" dirty="0"/>
              <a:t>shows</a:t>
            </a:r>
            <a:r>
              <a:rPr lang="en-US" altLang="zh-TW" sz="2400" dirty="0"/>
              <a:t> </a:t>
            </a:r>
            <a:r>
              <a:rPr lang="en-US" altLang="zh-TW" sz="3600" dirty="0" smtClean="0"/>
              <a:t>how</a:t>
            </a:r>
            <a:r>
              <a:rPr lang="en-US" altLang="zh-TW" sz="2400" dirty="0" smtClean="0"/>
              <a:t> </a:t>
            </a:r>
            <a:r>
              <a:rPr lang="en-US" altLang="zh-TW" sz="3600" dirty="0" smtClean="0"/>
              <a:t>a plain * </a:t>
            </a:r>
            <a:r>
              <a:rPr lang="en-US" altLang="zh-TW" sz="3600" dirty="0"/>
              <a:t>is able to create keyword-only parameters, without sacrificing detection of bad call </a:t>
            </a:r>
            <a:r>
              <a:rPr lang="en-US" altLang="zh-TW" sz="3600" dirty="0" smtClean="0"/>
              <a:t>statements:</a:t>
            </a:r>
            <a:endParaRPr lang="en-US" altLang="zh-TW" sz="3600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55448" y="2220691"/>
            <a:ext cx="10145626" cy="46373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0" indent="0"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1600" dirty="0"/>
              <a:t/>
            </a:r>
            <a:br>
              <a:rPr lang="en-GB" altLang="en-US" sz="1600" dirty="0"/>
            </a:b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 area(</a:t>
            </a:r>
            <a:r>
              <a:rPr lang="en-US" altLang="en-US" sz="32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3200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sz="3200" spc="-20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spc="-20" dirty="0" smtClean="0">
                <a:solidFill>
                  <a:srgbClr val="7B430B"/>
                </a:solidFill>
                <a:latin typeface="Lucida Console" panose="020B0609040504020204" pitchFamily="49" charset="0"/>
              </a:rPr>
              <a:t>unit</a:t>
            </a:r>
            <a:r>
              <a:rPr lang="en-US" altLang="en-US" sz="3200" spc="-20" dirty="0">
                <a:solidFill>
                  <a:srgbClr val="7B430B"/>
                </a:solidFill>
                <a:latin typeface="Lucida Console" panose="020B0609040504020204" pitchFamily="49" charset="0"/>
              </a:rPr>
              <a:t>="meter</a:t>
            </a:r>
            <a:r>
              <a:rPr lang="en-US" altLang="en-US" sz="3200" spc="-200" dirty="0">
                <a:solidFill>
                  <a:srgbClr val="7B430B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3200" spc="-100" dirty="0" smtClean="0">
                <a:solidFill>
                  <a:srgbClr val="7B430B"/>
                </a:solidFill>
                <a:latin typeface="Lucida Console" panose="020B0609040504020204" pitchFamily="49" charset="0"/>
              </a:rPr>
              <a:t>"</a:t>
            </a:r>
            <a:r>
              <a:rPr lang="en-US" altLang="en-US" sz="3200" spc="-500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3200" spc="-100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:</a:t>
            </a:r>
            <a:endParaRPr lang="en-US" altLang="en-US" sz="3200" dirty="0">
              <a:solidFill>
                <a:srgbClr val="F98700"/>
              </a:solidFill>
              <a:latin typeface="Lucida Console" panose="020B0609040504020204" pitchFamily="49" charset="0"/>
            </a:endParaRPr>
          </a:p>
          <a:p>
            <a:pPr marL="95250" indent="0"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3200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   print 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3200" dirty="0">
                <a:solidFill>
                  <a:srgbClr val="F98700"/>
                </a:solidFill>
                <a:latin typeface="Lucida Console" panose="020B0609040504020204" pitchFamily="49" charset="0"/>
              </a:rPr>
              <a:t>, "square %</a:t>
            </a:r>
            <a:r>
              <a:rPr lang="en-US" altLang="en-US" sz="320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s"%</a:t>
            </a:r>
            <a:r>
              <a:rPr lang="en-US" altLang="en-US" sz="3200" dirty="0" err="1" smtClean="0">
                <a:solidFill>
                  <a:srgbClr val="F98700"/>
                </a:solidFill>
                <a:latin typeface="Lucida Console" panose="020B0609040504020204" pitchFamily="49" charset="0"/>
              </a:rPr>
              <a:t>unit</a:t>
            </a:r>
            <a:r>
              <a:rPr lang="en-US" altLang="en-US" sz="3200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)</a:t>
            </a:r>
            <a:endParaRPr lang="en-US" altLang="en-US" sz="3200" dirty="0">
              <a:solidFill>
                <a:srgbClr val="F9870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50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 area(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B430B"/>
                </a:solidFill>
                <a:latin typeface="Lucida Console" panose="020B0609040504020204" pitchFamily="49" charset="0"/>
              </a:rPr>
              <a:t>unit="feet</a:t>
            </a:r>
            <a:r>
              <a:rPr lang="en-US" altLang="en-US" sz="3200" dirty="0" smtClean="0">
                <a:solidFill>
                  <a:srgbClr val="7B430B"/>
                </a:solidFill>
                <a:latin typeface="Lucida Console" panose="020B0609040504020204" pitchFamily="49" charset="0"/>
              </a:rPr>
              <a:t>"</a:t>
            </a:r>
            <a:r>
              <a:rPr lang="en-US" altLang="en-US" sz="32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)</a:t>
            </a:r>
            <a:endParaRPr lang="en-US" altLang="en-US" sz="3200" dirty="0">
              <a:solidFill>
                <a:srgbClr val="008000"/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00B0F0"/>
                </a:solidFill>
                <a:latin typeface="Lucida Console" panose="020B0609040504020204" pitchFamily="49" charset="0"/>
              </a:rPr>
              <a:t>6 square </a:t>
            </a:r>
            <a:r>
              <a:rPr lang="en-US" altLang="en-US" sz="3200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feet</a:t>
            </a:r>
            <a:endParaRPr lang="en-US" altLang="en-US" sz="3200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95250" indent="0"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320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area(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"feet"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TW" sz="3200" dirty="0" err="1" smtClean="0">
                <a:solidFill>
                  <a:srgbClr val="FF0000"/>
                </a:solidFill>
                <a:latin typeface="Arial Narrow" panose="020B0606020202030204" pitchFamily="34" charset="0"/>
              </a:rPr>
              <a:t>TypeError</a:t>
            </a:r>
            <a:r>
              <a:rPr lang="en-US" altLang="zh-TW" sz="3200" dirty="0">
                <a:solidFill>
                  <a:srgbClr val="FF0000"/>
                </a:solidFill>
                <a:latin typeface="Arial Narrow" panose="020B0606020202030204" pitchFamily="34" charset="0"/>
              </a:rPr>
              <a:t>: area() takes 2 positional arguments but 3 were given</a:t>
            </a:r>
          </a:p>
          <a:p>
            <a:pPr marL="95250" indent="0">
              <a:spcBef>
                <a:spcPts val="60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area(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030A0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4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FF0000"/>
                </a:solidFill>
                <a:latin typeface="Lucida Console" panose="020B0609040504020204" pitchFamily="49" charset="0"/>
              </a:rPr>
              <a:t>5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3200" dirty="0">
                <a:solidFill>
                  <a:srgbClr val="7B430B"/>
                </a:solidFill>
                <a:latin typeface="Lucida Console" panose="020B0609040504020204" pitchFamily="49" charset="0"/>
              </a:rPr>
              <a:t>unit="km"</a:t>
            </a:r>
            <a:r>
              <a:rPr lang="en-US" altLang="en-US" sz="3200" dirty="0">
                <a:solidFill>
                  <a:srgbClr val="008000"/>
                </a:solidFill>
                <a:latin typeface="Lucida Console" panose="020B0609040504020204" pitchFamily="49" charset="0"/>
              </a:rPr>
              <a:t>)</a:t>
            </a:r>
            <a:endParaRPr lang="en-US" altLang="en-US" sz="3200" dirty="0">
              <a:solidFill>
                <a:srgbClr val="FF1493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altLang="zh-TW" sz="3200" dirty="0" err="1" smtClean="0">
                <a:solidFill>
                  <a:srgbClr val="FF0000"/>
                </a:solidFill>
                <a:latin typeface="Arial Narrow" panose="020B0606020202030204" pitchFamily="34" charset="0"/>
              </a:rPr>
              <a:t>TypeError</a:t>
            </a:r>
            <a:r>
              <a:rPr lang="en-US" altLang="zh-TW" sz="3200" dirty="0">
                <a:solidFill>
                  <a:srgbClr val="FF0000"/>
                </a:solidFill>
                <a:latin typeface="Arial Narrow" panose="020B0606020202030204" pitchFamily="34" charset="0"/>
              </a:rPr>
              <a:t>: area() takes 2 positional arguments but 4 positional arguments (and 1 keyword-only argument) were given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2"/>
            <a:ext cx="9729788" cy="85997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sz="4000" dirty="0">
                <a:solidFill>
                  <a:srgbClr val="0070C0"/>
                </a:solidFill>
              </a:rPr>
              <a:t>Use </a:t>
            </a:r>
            <a:r>
              <a:rPr lang="en-US" altLang="zh-TW" sz="4000" dirty="0">
                <a:solidFill>
                  <a:srgbClr val="0070C0"/>
                </a:solidFill>
                <a:latin typeface="Rockwell Extra Bold" panose="02060903040505020403" pitchFamily="18" charset="0"/>
              </a:rPr>
              <a:t>*</a:t>
            </a:r>
            <a:r>
              <a:rPr lang="en-US" altLang="zh-TW" sz="4000" dirty="0">
                <a:solidFill>
                  <a:srgbClr val="0070C0"/>
                </a:solidFill>
              </a:rPr>
              <a:t> </a:t>
            </a:r>
            <a:r>
              <a:rPr lang="en-US" altLang="zh-TW" sz="4000" dirty="0" smtClean="0">
                <a:solidFill>
                  <a:srgbClr val="0070C0"/>
                </a:solidFill>
              </a:rPr>
              <a:t>for </a:t>
            </a:r>
            <a:r>
              <a:rPr lang="en-US" altLang="zh-TW" sz="4000" dirty="0">
                <a:solidFill>
                  <a:srgbClr val="0070C0"/>
                </a:solidFill>
              </a:rPr>
              <a:t>Keyword-only Parameters</a:t>
            </a:r>
            <a:endParaRPr lang="zh-TW" altLang="en-US" sz="4000" dirty="0">
              <a:solidFill>
                <a:srgbClr val="0070C0"/>
              </a:solidFill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52400" y="2864032"/>
            <a:ext cx="1070919" cy="4106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0" indent="0"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1200" dirty="0" smtClean="0">
                <a:solidFill>
                  <a:schemeClr val="bg1">
                    <a:lumMod val="65000"/>
                  </a:schemeClr>
                </a:solidFill>
              </a:rPr>
              <a:t/>
            </a:r>
            <a:br>
              <a:rPr lang="en-GB" altLang="en-US" sz="1200" dirty="0" smtClean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altLang="en-US" sz="32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4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1600" dirty="0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3200" spc="-1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95250" indent="0">
              <a:lnSpc>
                <a:spcPct val="85000"/>
              </a:lnSpc>
              <a:spcBef>
                <a:spcPct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849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288234" y="1351724"/>
            <a:ext cx="9650465" cy="55983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4300" dirty="0"/>
              <a:t>So, the </a:t>
            </a:r>
            <a:r>
              <a:rPr lang="en-US" altLang="zh-TW" sz="4300" i="1" dirty="0">
                <a:solidFill>
                  <a:srgbClr val="0000FF"/>
                </a:solidFill>
              </a:rPr>
              <a:t>asterisked-variable</a:t>
            </a:r>
            <a:r>
              <a:rPr lang="en-US" altLang="zh-TW" sz="4300" dirty="0"/>
              <a:t> goes </a:t>
            </a:r>
            <a:r>
              <a:rPr lang="en-US" altLang="zh-TW" sz="4300" dirty="0" smtClean="0"/>
              <a:t>at </a:t>
            </a:r>
            <a:r>
              <a:rPr lang="en-US" altLang="zh-TW" sz="4300" dirty="0"/>
              <a:t>end.</a:t>
            </a:r>
          </a:p>
          <a:p>
            <a:pPr marL="517525" indent="-517525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4300" dirty="0">
                <a:solidFill>
                  <a:srgbClr val="008000"/>
                </a:solidFill>
              </a:rPr>
              <a:t>Q:But, wait a minute. Didn’t we say that </a:t>
            </a:r>
            <a:r>
              <a:rPr lang="en-US" altLang="zh-TW" sz="4300" i="1" dirty="0">
                <a:solidFill>
                  <a:srgbClr val="0000FF"/>
                </a:solidFill>
              </a:rPr>
              <a:t>default arguments</a:t>
            </a:r>
            <a:r>
              <a:rPr lang="en-US" altLang="zh-TW" sz="4300" dirty="0"/>
              <a:t> </a:t>
            </a:r>
            <a:r>
              <a:rPr lang="en-US" altLang="zh-TW" sz="4300" dirty="0">
                <a:solidFill>
                  <a:srgbClr val="008000"/>
                </a:solidFill>
              </a:rPr>
              <a:t>also go at the end?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4300" dirty="0">
                <a:solidFill>
                  <a:srgbClr val="FF0000"/>
                </a:solidFill>
              </a:rPr>
              <a:t>A:Well, Let’s recall what we had said</a:t>
            </a:r>
            <a:r>
              <a:rPr lang="en-US" altLang="zh-TW" sz="4300" dirty="0" smtClean="0">
                <a:solidFill>
                  <a:srgbClr val="FF0000"/>
                </a:solidFill>
              </a:rPr>
              <a:t>…</a:t>
            </a:r>
            <a:endParaRPr lang="en-US" altLang="zh-TW" sz="4300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0070C0"/>
                </a:solidFill>
              </a:rPr>
              <a:t>Asterisked </a:t>
            </a:r>
            <a:r>
              <a:rPr lang="en-US" altLang="zh-TW" dirty="0">
                <a:solidFill>
                  <a:srgbClr val="0070C0"/>
                </a:solidFill>
              </a:rPr>
              <a:t>Variable Goes </a:t>
            </a:r>
            <a:r>
              <a:rPr lang="en-US" altLang="zh-TW" dirty="0" smtClean="0">
                <a:solidFill>
                  <a:srgbClr val="0070C0"/>
                </a:solidFill>
              </a:rPr>
              <a:t>at </a:t>
            </a:r>
            <a:r>
              <a:rPr lang="en-US" altLang="zh-TW" dirty="0">
                <a:solidFill>
                  <a:srgbClr val="0070C0"/>
                </a:solidFill>
              </a:rPr>
              <a:t>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135466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b="1" dirty="0"/>
              <a:t> </a:t>
            </a:r>
            <a:br>
              <a:rPr lang="en-US" altLang="zh-TW" b="1" dirty="0"/>
            </a:br>
            <a:r>
              <a:rPr lang="en-US" altLang="zh-TW" sz="3800" b="1" spc="-160" dirty="0">
                <a:solidFill>
                  <a:srgbClr val="FF0000"/>
                </a:solidFill>
                <a:latin typeface="Agency FB" panose="020B0503020202020204" pitchFamily="34" charset="0"/>
              </a:rPr>
              <a:t>(</a:t>
            </a:r>
            <a:r>
              <a:rPr lang="en-US" altLang="zh-TW" sz="3800" spc="-100" dirty="0">
                <a:solidFill>
                  <a:srgbClr val="FF0000"/>
                </a:solidFill>
              </a:rPr>
              <a:t>u</a:t>
            </a:r>
            <a:r>
              <a:rPr lang="en-US" altLang="zh-TW" sz="3800" spc="-140" dirty="0">
                <a:solidFill>
                  <a:srgbClr val="FF0000"/>
                </a:solidFill>
              </a:rPr>
              <a:t>nl</a:t>
            </a:r>
            <a:r>
              <a:rPr lang="en-US" altLang="zh-TW" sz="3800" spc="-100" dirty="0">
                <a:solidFill>
                  <a:srgbClr val="FF0000"/>
                </a:solidFill>
              </a:rPr>
              <a:t>ess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r</a:t>
            </a:r>
            <a:r>
              <a:rPr lang="en-US" altLang="zh-TW" sz="3800" spc="-150" dirty="0" smtClean="0">
                <a:solidFill>
                  <a:srgbClr val="FF0000"/>
                </a:solidFill>
              </a:rPr>
              <a:t>e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maining</a:t>
            </a:r>
            <a:r>
              <a:rPr lang="en-US" altLang="zh-TW" sz="3600" spc="-100" dirty="0" smtClean="0">
                <a:solidFill>
                  <a:srgbClr val="FF0000"/>
                </a:solidFill>
              </a:rPr>
              <a:t> 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para</a:t>
            </a:r>
            <a:r>
              <a:rPr lang="en-US" altLang="zh-TW" sz="3800" spc="-140" dirty="0" smtClean="0">
                <a:solidFill>
                  <a:srgbClr val="FF0000"/>
                </a:solidFill>
              </a:rPr>
              <a:t>m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et</a:t>
            </a:r>
            <a:r>
              <a:rPr lang="en-US" altLang="zh-TW" sz="3800" spc="-140" dirty="0" smtClean="0">
                <a:solidFill>
                  <a:srgbClr val="FF0000"/>
                </a:solidFill>
              </a:rPr>
              <a:t>e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rs</a:t>
            </a:r>
            <a:r>
              <a:rPr lang="en-US" altLang="zh-TW" sz="3600" spc="-100" dirty="0" smtClean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are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40" dirty="0">
                <a:solidFill>
                  <a:srgbClr val="FF0000"/>
                </a:solidFill>
              </a:rPr>
              <a:t>n</a:t>
            </a:r>
            <a:r>
              <a:rPr lang="en-US" altLang="zh-TW" sz="3800" spc="-100" dirty="0">
                <a:solidFill>
                  <a:srgbClr val="FF0000"/>
                </a:solidFill>
              </a:rPr>
              <a:t>a</a:t>
            </a:r>
            <a:r>
              <a:rPr lang="en-US" altLang="zh-TW" sz="3800" spc="-180" dirty="0">
                <a:solidFill>
                  <a:srgbClr val="FF0000"/>
                </a:solidFill>
              </a:rPr>
              <a:t>m</a:t>
            </a:r>
            <a:r>
              <a:rPr lang="en-US" altLang="zh-TW" sz="3800" spc="-40" dirty="0">
                <a:solidFill>
                  <a:srgbClr val="FF0000"/>
                </a:solidFill>
              </a:rPr>
              <a:t>e</a:t>
            </a:r>
            <a:r>
              <a:rPr lang="en-US" altLang="zh-TW" sz="3800" spc="-150" dirty="0">
                <a:solidFill>
                  <a:srgbClr val="FF0000"/>
                </a:solidFill>
              </a:rPr>
              <a:t>d</a:t>
            </a:r>
            <a:r>
              <a:rPr lang="en-US" altLang="zh-TW" sz="3800" b="1" spc="-100" dirty="0">
                <a:solidFill>
                  <a:srgbClr val="FF0000"/>
                </a:solidFill>
                <a:latin typeface="Agency FB" panose="020B0503020202020204" pitchFamily="34" charset="0"/>
              </a:rPr>
              <a:t>)</a:t>
            </a:r>
            <a:endParaRPr lang="zh-TW" altLang="en-US" sz="3800" b="1" spc="-100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963678" y="3314212"/>
            <a:ext cx="6941782" cy="778214"/>
          </a:xfrm>
          <a:prstGeom prst="rect">
            <a:avLst/>
          </a:prstGeom>
          <a:solidFill>
            <a:srgbClr val="FFFF00"/>
          </a:solidFill>
        </p:spPr>
        <p:txBody>
          <a:bodyPr vert="horz" wrap="none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4300" dirty="0"/>
              <a:t> </a:t>
            </a:r>
            <a:r>
              <a:rPr lang="en-US" altLang="zh-TW" sz="4300" dirty="0" smtClean="0"/>
              <a:t>Let’s </a:t>
            </a:r>
            <a:r>
              <a:rPr lang="en-US" altLang="zh-TW" sz="4300" dirty="0"/>
              <a:t>recall what we had said…</a:t>
            </a:r>
          </a:p>
        </p:txBody>
      </p:sp>
    </p:spTree>
    <p:extLst>
      <p:ext uri="{BB962C8B-B14F-4D97-AF65-F5344CB8AC3E}">
        <p14:creationId xmlns:p14="http://schemas.microsoft.com/office/powerpoint/2010/main" val="324060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 txBox="1">
            <a:spLocks/>
          </p:cNvSpPr>
          <p:nvPr/>
        </p:nvSpPr>
        <p:spPr>
          <a:xfrm>
            <a:off x="347472" y="655978"/>
            <a:ext cx="9079992" cy="6202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spcBef>
                <a:spcPts val="0"/>
              </a:spcBef>
              <a:buNone/>
            </a:pPr>
            <a:r>
              <a:rPr lang="en-US" sz="2800" dirty="0" err="1" smtClean="0"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 smtClean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 name, age=20):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	  print ("Name:", name, " Age:", age) 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(name="Sally")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("Sally",19)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("Sally")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% python3 test.py</a:t>
            </a:r>
            <a:endParaRPr lang="en-US" sz="28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Name: Sally  Age: 20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Name: Sally  Age: 19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Name: Sally  Age: 20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% </a:t>
            </a: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cat broken.py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( name="Sally", age):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   print ("Name: ", name, ", Age: ", age)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% python3 broken.py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rgbClr val="FFCCCC"/>
                </a:solidFill>
                <a:latin typeface="Consolas" panose="020B0609020204030204" pitchFamily="49" charset="0"/>
                <a:cs typeface="Courier New" pitchFamily="49" charset="0"/>
              </a:rPr>
              <a:t>File “broken.py", line 1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SyntaxError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: non-default argument follows default argument</a:t>
            </a:r>
          </a:p>
          <a:p>
            <a:pPr lvl="1">
              <a:spcBef>
                <a:spcPts val="0"/>
              </a:spcBef>
              <a:buNone/>
            </a:pPr>
            <a:endParaRPr lang="en-US" sz="2800" dirty="0">
              <a:solidFill>
                <a:srgbClr val="FF0000"/>
              </a:solidFill>
              <a:latin typeface="Consolas" panose="020B0609020204030204" pitchFamily="49" charset="0"/>
              <a:cs typeface="Courier New" pitchFamily="49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0"/>
            <a:ext cx="9726745" cy="71195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70C0"/>
                </a:solidFill>
              </a:rPr>
              <a:t>Default  Arguments:</a:t>
            </a:r>
          </a:p>
        </p:txBody>
      </p:sp>
      <p:grpSp>
        <p:nvGrpSpPr>
          <p:cNvPr id="8" name="Group 7"/>
          <p:cNvGrpSpPr/>
          <p:nvPr/>
        </p:nvGrpSpPr>
        <p:grpSpPr>
          <a:xfrm flipH="1">
            <a:off x="7344071" y="434793"/>
            <a:ext cx="3125129" cy="784901"/>
            <a:chOff x="-734800" y="434792"/>
            <a:chExt cx="3125129" cy="784901"/>
          </a:xfrm>
        </p:grpSpPr>
        <p:sp>
          <p:nvSpPr>
            <p:cNvPr id="11" name="Trapezoid 10"/>
            <p:cNvSpPr/>
            <p:nvPr/>
          </p:nvSpPr>
          <p:spPr bwMode="auto">
            <a:xfrm rot="-2700000">
              <a:off x="-734800" y="435836"/>
              <a:ext cx="3125129" cy="783857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en-US" sz="2800" dirty="0">
                <a:latin typeface="Arial" charset="0"/>
                <a:ea typeface="新細明體" charset="-12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 rot="-2700000">
              <a:off x="-514076" y="434792"/>
              <a:ext cx="2717649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>
              <a:noAutofit/>
            </a:bodyPr>
            <a:lstStyle/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Slide </a:t>
              </a: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#16,</a:t>
              </a:r>
              <a:r>
                <a:rPr kumimoji="1" lang="en-US" altLang="zh-TW" sz="240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/>
              </a:r>
              <a:br>
                <a:rPr kumimoji="1" lang="en-US" altLang="zh-TW" sz="240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Reproduced</a:t>
              </a:r>
            </a:p>
          </p:txBody>
        </p:sp>
      </p:grpSp>
      <p:sp>
        <p:nvSpPr>
          <p:cNvPr id="15" name="Content Placeholder 2"/>
          <p:cNvSpPr txBox="1">
            <a:spLocks/>
          </p:cNvSpPr>
          <p:nvPr/>
        </p:nvSpPr>
        <p:spPr>
          <a:xfrm>
            <a:off x="1963678" y="3314212"/>
            <a:ext cx="6941782" cy="778214"/>
          </a:xfrm>
          <a:prstGeom prst="rect">
            <a:avLst/>
          </a:prstGeom>
          <a:solidFill>
            <a:srgbClr val="FFFF00"/>
          </a:solidFill>
        </p:spPr>
        <p:txBody>
          <a:bodyPr vert="horz" wrap="none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4300" dirty="0"/>
              <a:t> </a:t>
            </a:r>
            <a:r>
              <a:rPr lang="en-US" altLang="zh-TW" sz="4300" dirty="0" smtClean="0"/>
              <a:t>Let’s </a:t>
            </a:r>
            <a:r>
              <a:rPr lang="en-US" altLang="zh-TW" sz="4300" dirty="0"/>
              <a:t>recall what we had said…</a:t>
            </a:r>
          </a:p>
        </p:txBody>
      </p:sp>
    </p:spTree>
    <p:extLst>
      <p:ext uri="{BB962C8B-B14F-4D97-AF65-F5344CB8AC3E}">
        <p14:creationId xmlns:p14="http://schemas.microsoft.com/office/powerpoint/2010/main" val="2333293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 txBox="1">
            <a:spLocks/>
          </p:cNvSpPr>
          <p:nvPr/>
        </p:nvSpPr>
        <p:spPr>
          <a:xfrm>
            <a:off x="347472" y="655978"/>
            <a:ext cx="9079992" cy="6202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spcBef>
                <a:spcPts val="0"/>
              </a:spcBef>
              <a:buNone/>
            </a:pPr>
            <a:r>
              <a:rPr lang="en-US" sz="2800" dirty="0" err="1" smtClean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 smtClean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( name, age=20):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	  print ("Name:", name, " Age:", age) 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(name="Sally")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("Sally",19)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("Sally")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python3 test.py</a:t>
            </a:r>
            <a:endParaRPr lang="en-US" sz="2800" dirty="0">
              <a:solidFill>
                <a:schemeClr val="bg1">
                  <a:lumMod val="85000"/>
                </a:schemeClr>
              </a:solidFill>
              <a:latin typeface="Consolas" panose="020B06090202040302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Name: Sally  Age: 20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Name: Sally  Age: 19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Name: Sally  Age: 20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cat broken.py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urier New" pitchFamily="49" charset="0"/>
              </a:rPr>
              <a:t>name="Sally"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,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  <a:cs typeface="Courier New" pitchFamily="49" charset="0"/>
              </a:rPr>
              <a:t>age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):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  <a:cs typeface="Courier New" pitchFamily="49" charset="0"/>
              </a:rPr>
              <a:t>   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print ("Name: ", name, ", Age: ", age)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python3 broken.py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>
                <a:solidFill>
                  <a:srgbClr val="FFCCCC"/>
                </a:solidFill>
                <a:latin typeface="Consolas" panose="020B0609020204030204" pitchFamily="49" charset="0"/>
                <a:cs typeface="Courier New" pitchFamily="49" charset="0"/>
              </a:rPr>
              <a:t>File “broken.py", line 1</a:t>
            </a:r>
          </a:p>
          <a:p>
            <a:pPr lvl="1">
              <a:spcBef>
                <a:spcPts val="0"/>
              </a:spcBef>
              <a:buNone/>
            </a:pP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SyntaxError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: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  <a:cs typeface="Courier New" pitchFamily="49" charset="0"/>
              </a:rPr>
              <a:t>non-default argument 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follows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urier New" pitchFamily="49" charset="0"/>
              </a:rPr>
              <a:t> default argument</a:t>
            </a:r>
          </a:p>
          <a:p>
            <a:pPr lvl="1">
              <a:spcBef>
                <a:spcPts val="0"/>
              </a:spcBef>
              <a:buNone/>
            </a:pPr>
            <a:endParaRPr lang="en-US" sz="2800" dirty="0">
              <a:solidFill>
                <a:srgbClr val="FF0000"/>
              </a:solidFill>
              <a:latin typeface="Consolas" panose="020B0609020204030204" pitchFamily="49" charset="0"/>
              <a:cs typeface="Courier New" pitchFamily="49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0"/>
            <a:ext cx="9726745" cy="71195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70C0"/>
                </a:solidFill>
              </a:rPr>
              <a:t>Default  Arguments:</a:t>
            </a:r>
          </a:p>
        </p:txBody>
      </p:sp>
      <p:grpSp>
        <p:nvGrpSpPr>
          <p:cNvPr id="8" name="Group 7"/>
          <p:cNvGrpSpPr/>
          <p:nvPr/>
        </p:nvGrpSpPr>
        <p:grpSpPr>
          <a:xfrm flipH="1">
            <a:off x="7344071" y="434793"/>
            <a:ext cx="3125129" cy="784901"/>
            <a:chOff x="-734800" y="434792"/>
            <a:chExt cx="3125129" cy="784901"/>
          </a:xfrm>
        </p:grpSpPr>
        <p:sp>
          <p:nvSpPr>
            <p:cNvPr id="11" name="Trapezoid 10"/>
            <p:cNvSpPr/>
            <p:nvPr/>
          </p:nvSpPr>
          <p:spPr bwMode="auto">
            <a:xfrm rot="-2700000">
              <a:off x="-734800" y="435836"/>
              <a:ext cx="3125129" cy="783857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en-US" sz="2800" dirty="0">
                <a:latin typeface="Arial" charset="0"/>
                <a:ea typeface="新細明體" charset="-12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 rot="-2700000">
              <a:off x="-514076" y="434792"/>
              <a:ext cx="2717649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>
              <a:noAutofit/>
            </a:bodyPr>
            <a:lstStyle/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Slide </a:t>
              </a: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#16,</a:t>
              </a:r>
              <a:r>
                <a:rPr kumimoji="1" lang="en-US" altLang="zh-TW" sz="240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/>
              </a:r>
              <a:br>
                <a:rPr kumimoji="1" lang="en-US" altLang="zh-TW" sz="240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Reproduced</a:t>
              </a:r>
            </a:p>
          </p:txBody>
        </p:sp>
      </p:grpSp>
      <p:sp>
        <p:nvSpPr>
          <p:cNvPr id="15" name="Content Placeholder 2"/>
          <p:cNvSpPr txBox="1">
            <a:spLocks/>
          </p:cNvSpPr>
          <p:nvPr/>
        </p:nvSpPr>
        <p:spPr>
          <a:xfrm>
            <a:off x="1963678" y="3314212"/>
            <a:ext cx="6941782" cy="778214"/>
          </a:xfrm>
          <a:prstGeom prst="rect">
            <a:avLst/>
          </a:prstGeom>
          <a:solidFill>
            <a:srgbClr val="FFFF00"/>
          </a:solidFill>
        </p:spPr>
        <p:txBody>
          <a:bodyPr vert="horz" wrap="none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4300" dirty="0"/>
              <a:t> </a:t>
            </a:r>
            <a:r>
              <a:rPr lang="en-US" altLang="zh-TW" sz="4300" dirty="0" smtClean="0"/>
              <a:t>Let’s </a:t>
            </a:r>
            <a:r>
              <a:rPr lang="en-US" altLang="zh-TW" sz="4300" dirty="0"/>
              <a:t>recall what we had said…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527942" y="1151404"/>
            <a:ext cx="5170528" cy="2031248"/>
          </a:xfrm>
          <a:prstGeom prst="wedgeRoundRectCallout">
            <a:avLst>
              <a:gd name="adj1" fmla="val -22194"/>
              <a:gd name="adj2" fmla="val 197540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1" algn="ctr"/>
            <a:r>
              <a:rPr lang="en-US" sz="4000" dirty="0"/>
              <a:t>So yes: we had said that default arguments must go last.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5199855" y="4867229"/>
            <a:ext cx="1543050" cy="1206408"/>
          </a:xfrm>
          <a:prstGeom prst="straightConnector1">
            <a:avLst/>
          </a:prstGeom>
          <a:ln w="76200">
            <a:solidFill>
              <a:srgbClr val="008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2240481" y="4887108"/>
            <a:ext cx="2038350" cy="1625508"/>
          </a:xfrm>
          <a:prstGeom prst="straightConnector1">
            <a:avLst/>
          </a:prstGeom>
          <a:ln w="76200">
            <a:solidFill>
              <a:srgbClr val="0000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2702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288234" y="1351724"/>
            <a:ext cx="9650465" cy="55983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TW" sz="4300" dirty="0"/>
              <a:t>So, the </a:t>
            </a:r>
            <a:r>
              <a:rPr lang="en-US" altLang="zh-TW" sz="4300" i="1" dirty="0">
                <a:solidFill>
                  <a:srgbClr val="0000FF"/>
                </a:solidFill>
              </a:rPr>
              <a:t>asterisked-variable</a:t>
            </a:r>
            <a:r>
              <a:rPr lang="en-US" altLang="zh-TW" sz="4300" dirty="0"/>
              <a:t> goes </a:t>
            </a:r>
            <a:r>
              <a:rPr lang="en-US" altLang="zh-TW" sz="4300" dirty="0" smtClean="0"/>
              <a:t>at </a:t>
            </a:r>
            <a:r>
              <a:rPr lang="en-US" altLang="zh-TW" sz="4300" dirty="0"/>
              <a:t>end.</a:t>
            </a:r>
          </a:p>
          <a:p>
            <a:pPr marL="517525" indent="-517525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TW" sz="4300" dirty="0">
                <a:solidFill>
                  <a:srgbClr val="008000"/>
                </a:solidFill>
              </a:rPr>
              <a:t>Q:But, wait a minute. Didn’t we say that </a:t>
            </a:r>
            <a:r>
              <a:rPr lang="en-US" altLang="zh-TW" sz="4300" i="1" dirty="0">
                <a:solidFill>
                  <a:srgbClr val="0000FF"/>
                </a:solidFill>
              </a:rPr>
              <a:t>default arguments</a:t>
            </a:r>
            <a:r>
              <a:rPr lang="en-US" altLang="zh-TW" sz="4300" dirty="0"/>
              <a:t> </a:t>
            </a:r>
            <a:r>
              <a:rPr lang="en-US" altLang="zh-TW" sz="4300" dirty="0">
                <a:solidFill>
                  <a:srgbClr val="008000"/>
                </a:solidFill>
              </a:rPr>
              <a:t>also go at the end? 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TW" sz="4300" dirty="0">
                <a:solidFill>
                  <a:srgbClr val="FF0000"/>
                </a:solidFill>
              </a:rPr>
              <a:t>A:Well, Let’s recall what we had said…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TW" sz="4300" dirty="0">
                <a:solidFill>
                  <a:schemeClr val="bg1"/>
                </a:solidFill>
              </a:rPr>
              <a:t>Q:Well, they can’t </a:t>
            </a:r>
            <a:r>
              <a:rPr lang="en-US" altLang="zh-TW" sz="4300" i="1" dirty="0">
                <a:solidFill>
                  <a:schemeClr val="bg1"/>
                </a:solidFill>
              </a:rPr>
              <a:t>both</a:t>
            </a:r>
            <a:r>
              <a:rPr lang="en-US" altLang="zh-TW" sz="4300" dirty="0">
                <a:solidFill>
                  <a:schemeClr val="bg1"/>
                </a:solidFill>
              </a:rPr>
              <a:t> go at the end. What if I want both types of arguments?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TW" sz="4300" dirty="0">
                <a:solidFill>
                  <a:schemeClr val="bg1"/>
                </a:solidFill>
              </a:rPr>
              <a:t>A:Then the defaults go at the end, and can </a:t>
            </a:r>
            <a:r>
              <a:rPr lang="en-US" altLang="zh-TW" sz="4300" i="1" dirty="0">
                <a:solidFill>
                  <a:schemeClr val="bg1"/>
                </a:solidFill>
              </a:rPr>
              <a:t>only</a:t>
            </a:r>
            <a:r>
              <a:rPr lang="en-US" altLang="zh-TW" sz="4300" dirty="0">
                <a:solidFill>
                  <a:schemeClr val="bg1"/>
                </a:solidFill>
              </a:rPr>
              <a:t> be changed from their defaults by name.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0070C0"/>
                </a:solidFill>
              </a:rPr>
              <a:t>Asterisked </a:t>
            </a:r>
            <a:r>
              <a:rPr lang="en-US" altLang="zh-TW" dirty="0">
                <a:solidFill>
                  <a:srgbClr val="0070C0"/>
                </a:solidFill>
              </a:rPr>
              <a:t>Variable Goes </a:t>
            </a:r>
            <a:r>
              <a:rPr lang="en-US" altLang="zh-TW" dirty="0" smtClean="0">
                <a:solidFill>
                  <a:srgbClr val="0070C0"/>
                </a:solidFill>
              </a:rPr>
              <a:t>at </a:t>
            </a:r>
            <a:r>
              <a:rPr lang="en-US" altLang="zh-TW" dirty="0">
                <a:solidFill>
                  <a:srgbClr val="0070C0"/>
                </a:solidFill>
              </a:rPr>
              <a:t>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135466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b="1" dirty="0"/>
              <a:t> </a:t>
            </a:r>
            <a:br>
              <a:rPr lang="en-US" altLang="zh-TW" b="1" dirty="0"/>
            </a:br>
            <a:r>
              <a:rPr lang="en-US" altLang="zh-TW" sz="3800" b="1" spc="-160" dirty="0">
                <a:solidFill>
                  <a:srgbClr val="FF0000"/>
                </a:solidFill>
                <a:latin typeface="Agency FB" panose="020B0503020202020204" pitchFamily="34" charset="0"/>
              </a:rPr>
              <a:t>(</a:t>
            </a:r>
            <a:r>
              <a:rPr lang="en-US" altLang="zh-TW" sz="3800" spc="-100" dirty="0">
                <a:solidFill>
                  <a:srgbClr val="FF0000"/>
                </a:solidFill>
              </a:rPr>
              <a:t>u</a:t>
            </a:r>
            <a:r>
              <a:rPr lang="en-US" altLang="zh-TW" sz="3800" spc="-140" dirty="0">
                <a:solidFill>
                  <a:srgbClr val="FF0000"/>
                </a:solidFill>
              </a:rPr>
              <a:t>nl</a:t>
            </a:r>
            <a:r>
              <a:rPr lang="en-US" altLang="zh-TW" sz="3800" spc="-100" dirty="0">
                <a:solidFill>
                  <a:srgbClr val="FF0000"/>
                </a:solidFill>
              </a:rPr>
              <a:t>ess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r</a:t>
            </a:r>
            <a:r>
              <a:rPr lang="en-US" altLang="zh-TW" sz="3800" spc="-150" dirty="0" smtClean="0">
                <a:solidFill>
                  <a:srgbClr val="FF0000"/>
                </a:solidFill>
              </a:rPr>
              <a:t>e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maining</a:t>
            </a:r>
            <a:r>
              <a:rPr lang="en-US" altLang="zh-TW" sz="3600" spc="-100" dirty="0" smtClean="0">
                <a:solidFill>
                  <a:srgbClr val="FF0000"/>
                </a:solidFill>
              </a:rPr>
              <a:t> 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para</a:t>
            </a:r>
            <a:r>
              <a:rPr lang="en-US" altLang="zh-TW" sz="3800" spc="-140" dirty="0" smtClean="0">
                <a:solidFill>
                  <a:srgbClr val="FF0000"/>
                </a:solidFill>
              </a:rPr>
              <a:t>m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et</a:t>
            </a:r>
            <a:r>
              <a:rPr lang="en-US" altLang="zh-TW" sz="3800" spc="-140" dirty="0" smtClean="0">
                <a:solidFill>
                  <a:srgbClr val="FF0000"/>
                </a:solidFill>
              </a:rPr>
              <a:t>e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rs</a:t>
            </a:r>
            <a:r>
              <a:rPr lang="en-US" altLang="zh-TW" sz="3600" spc="-100" dirty="0" smtClean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are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40" dirty="0">
                <a:solidFill>
                  <a:srgbClr val="FF0000"/>
                </a:solidFill>
              </a:rPr>
              <a:t>n</a:t>
            </a:r>
            <a:r>
              <a:rPr lang="en-US" altLang="zh-TW" sz="3800" spc="-100" dirty="0">
                <a:solidFill>
                  <a:srgbClr val="FF0000"/>
                </a:solidFill>
              </a:rPr>
              <a:t>a</a:t>
            </a:r>
            <a:r>
              <a:rPr lang="en-US" altLang="zh-TW" sz="3800" spc="-180" dirty="0">
                <a:solidFill>
                  <a:srgbClr val="FF0000"/>
                </a:solidFill>
              </a:rPr>
              <a:t>m</a:t>
            </a:r>
            <a:r>
              <a:rPr lang="en-US" altLang="zh-TW" sz="3800" spc="-40" dirty="0">
                <a:solidFill>
                  <a:srgbClr val="FF0000"/>
                </a:solidFill>
              </a:rPr>
              <a:t>e</a:t>
            </a:r>
            <a:r>
              <a:rPr lang="en-US" altLang="zh-TW" sz="3800" spc="-150" dirty="0">
                <a:solidFill>
                  <a:srgbClr val="FF0000"/>
                </a:solidFill>
              </a:rPr>
              <a:t>d</a:t>
            </a:r>
            <a:r>
              <a:rPr lang="en-US" altLang="zh-TW" sz="3800" b="1" spc="-100" dirty="0">
                <a:solidFill>
                  <a:srgbClr val="FF0000"/>
                </a:solidFill>
                <a:latin typeface="Agency FB" panose="020B0503020202020204" pitchFamily="34" charset="0"/>
              </a:rPr>
              <a:t>)</a:t>
            </a:r>
            <a:endParaRPr lang="zh-TW" altLang="en-US" sz="3800" b="1" spc="-100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963678" y="3314212"/>
            <a:ext cx="6941782" cy="778214"/>
          </a:xfrm>
          <a:prstGeom prst="rect">
            <a:avLst/>
          </a:prstGeom>
          <a:solidFill>
            <a:srgbClr val="FFFF00"/>
          </a:solidFill>
        </p:spPr>
        <p:txBody>
          <a:bodyPr vert="horz" wrap="none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4300" dirty="0"/>
              <a:t> </a:t>
            </a:r>
            <a:r>
              <a:rPr lang="en-US" altLang="zh-TW" sz="4300" dirty="0" smtClean="0"/>
              <a:t>Let’s </a:t>
            </a:r>
            <a:r>
              <a:rPr lang="en-US" altLang="zh-TW" sz="4300" dirty="0"/>
              <a:t>recall what we had said…</a:t>
            </a:r>
          </a:p>
        </p:txBody>
      </p:sp>
    </p:spTree>
    <p:extLst>
      <p:ext uri="{BB962C8B-B14F-4D97-AF65-F5344CB8AC3E}">
        <p14:creationId xmlns:p14="http://schemas.microsoft.com/office/powerpoint/2010/main" val="1614113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288235" y="1351724"/>
            <a:ext cx="9441554" cy="55983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TW" sz="4300" dirty="0"/>
              <a:t>So, the </a:t>
            </a:r>
            <a:r>
              <a:rPr lang="en-US" altLang="zh-TW" sz="4300" i="1" dirty="0">
                <a:solidFill>
                  <a:srgbClr val="0000FF"/>
                </a:solidFill>
              </a:rPr>
              <a:t>asterisked-variable</a:t>
            </a:r>
            <a:r>
              <a:rPr lang="en-US" altLang="zh-TW" sz="4300" dirty="0"/>
              <a:t> goes </a:t>
            </a:r>
            <a:r>
              <a:rPr lang="en-US" altLang="zh-TW" sz="4300" dirty="0" smtClean="0"/>
              <a:t>at </a:t>
            </a:r>
            <a:r>
              <a:rPr lang="en-US" altLang="zh-TW" sz="4300" dirty="0"/>
              <a:t>end.</a:t>
            </a:r>
          </a:p>
          <a:p>
            <a:pPr marL="517525" indent="-517525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TW" sz="4300" dirty="0">
                <a:solidFill>
                  <a:srgbClr val="008000"/>
                </a:solidFill>
              </a:rPr>
              <a:t>Q:But, wait a minute. Didn’t we say that </a:t>
            </a:r>
            <a:r>
              <a:rPr lang="en-US" altLang="zh-TW" sz="4300" i="1" dirty="0">
                <a:solidFill>
                  <a:srgbClr val="0000FF"/>
                </a:solidFill>
              </a:rPr>
              <a:t>default arguments</a:t>
            </a:r>
            <a:r>
              <a:rPr lang="en-US" altLang="zh-TW" sz="4300" dirty="0"/>
              <a:t> </a:t>
            </a:r>
            <a:r>
              <a:rPr lang="en-US" altLang="zh-TW" sz="4300" dirty="0">
                <a:solidFill>
                  <a:srgbClr val="008000"/>
                </a:solidFill>
              </a:rPr>
              <a:t>also go at the end? 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TW" sz="4300" dirty="0" smtClean="0">
                <a:solidFill>
                  <a:srgbClr val="FF0000"/>
                </a:solidFill>
              </a:rPr>
              <a:t>A:Now </a:t>
            </a:r>
            <a:r>
              <a:rPr lang="en-US" altLang="zh-TW" sz="4300" dirty="0">
                <a:solidFill>
                  <a:srgbClr val="FF0000"/>
                </a:solidFill>
              </a:rPr>
              <a:t>I remember. Yes, we </a:t>
            </a:r>
            <a:r>
              <a:rPr lang="en-US" altLang="zh-TW" sz="4300" dirty="0" smtClean="0">
                <a:solidFill>
                  <a:srgbClr val="FF0000"/>
                </a:solidFill>
              </a:rPr>
              <a:t>did say that.</a:t>
            </a:r>
          </a:p>
          <a:p>
            <a:pPr marL="517525" indent="-517525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TW" sz="4300" dirty="0">
                <a:solidFill>
                  <a:srgbClr val="008000"/>
                </a:solidFill>
              </a:rPr>
              <a:t>Q:Well, they can’t </a:t>
            </a:r>
            <a:r>
              <a:rPr lang="en-US" altLang="zh-TW" sz="4300" i="1" dirty="0">
                <a:solidFill>
                  <a:srgbClr val="008000"/>
                </a:solidFill>
              </a:rPr>
              <a:t>both</a:t>
            </a:r>
            <a:r>
              <a:rPr lang="en-US" altLang="zh-TW" sz="4300" dirty="0">
                <a:solidFill>
                  <a:srgbClr val="008000"/>
                </a:solidFill>
              </a:rPr>
              <a:t> go at the end. </a:t>
            </a:r>
            <a:r>
              <a:rPr lang="en-US" altLang="zh-TW" sz="4300" spc="-90" dirty="0">
                <a:solidFill>
                  <a:srgbClr val="008000"/>
                </a:solidFill>
              </a:rPr>
              <a:t>What if I want both types of arguments</a:t>
            </a:r>
            <a:r>
              <a:rPr lang="en-US" altLang="zh-TW" sz="4300" dirty="0">
                <a:solidFill>
                  <a:srgbClr val="008000"/>
                </a:solidFill>
              </a:rPr>
              <a:t>?</a:t>
            </a:r>
          </a:p>
          <a:p>
            <a:pPr marL="517525" indent="-517525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TW" sz="4300" dirty="0">
                <a:solidFill>
                  <a:srgbClr val="FF0000"/>
                </a:solidFill>
              </a:rPr>
              <a:t>A:Then the defaults go </a:t>
            </a:r>
            <a:r>
              <a:rPr lang="en-US" altLang="zh-TW" sz="4300" dirty="0" smtClean="0">
                <a:solidFill>
                  <a:srgbClr val="FF0000"/>
                </a:solidFill>
              </a:rPr>
              <a:t>at </a:t>
            </a:r>
            <a:r>
              <a:rPr lang="en-US" altLang="zh-TW" sz="4300" dirty="0">
                <a:solidFill>
                  <a:srgbClr val="FF0000"/>
                </a:solidFill>
              </a:rPr>
              <a:t>end</a:t>
            </a:r>
            <a:r>
              <a:rPr lang="en-US" altLang="zh-TW" sz="4300" dirty="0" smtClean="0">
                <a:solidFill>
                  <a:srgbClr val="FF0000"/>
                </a:solidFill>
              </a:rPr>
              <a:t>, </a:t>
            </a:r>
            <a:r>
              <a:rPr lang="en-US" altLang="zh-TW" sz="4300" dirty="0">
                <a:solidFill>
                  <a:srgbClr val="FF0000"/>
                </a:solidFill>
              </a:rPr>
              <a:t>so </a:t>
            </a:r>
            <a:r>
              <a:rPr lang="en-US" altLang="zh-TW" sz="4300" dirty="0" smtClean="0">
                <a:solidFill>
                  <a:srgbClr val="FF0000"/>
                </a:solidFill>
              </a:rPr>
              <a:t>their</a:t>
            </a:r>
            <a:br>
              <a:rPr lang="en-US" altLang="zh-TW" sz="4300" dirty="0" smtClean="0">
                <a:solidFill>
                  <a:srgbClr val="FF0000"/>
                </a:solidFill>
              </a:rPr>
            </a:br>
            <a:r>
              <a:rPr lang="en-US" altLang="zh-TW" sz="4300" dirty="0" smtClean="0">
                <a:solidFill>
                  <a:srgbClr val="FF0000"/>
                </a:solidFill>
              </a:rPr>
              <a:t>values can </a:t>
            </a:r>
            <a:r>
              <a:rPr lang="en-US" altLang="zh-TW" sz="4300" i="1" dirty="0">
                <a:solidFill>
                  <a:srgbClr val="FF0000"/>
                </a:solidFill>
              </a:rPr>
              <a:t>only</a:t>
            </a:r>
            <a:r>
              <a:rPr lang="en-US" altLang="zh-TW" sz="4300" dirty="0">
                <a:solidFill>
                  <a:srgbClr val="FF0000"/>
                </a:solidFill>
              </a:rPr>
              <a:t> be changed </a:t>
            </a:r>
            <a:r>
              <a:rPr lang="en-US" altLang="zh-TW" sz="4300" dirty="0" smtClean="0">
                <a:solidFill>
                  <a:srgbClr val="FF0000"/>
                </a:solidFill>
              </a:rPr>
              <a:t>by </a:t>
            </a:r>
            <a:r>
              <a:rPr lang="en-US" altLang="zh-TW" sz="4300" dirty="0">
                <a:solidFill>
                  <a:srgbClr val="FF0000"/>
                </a:solidFill>
              </a:rPr>
              <a:t>name</a:t>
            </a:r>
            <a:r>
              <a:rPr lang="en-US" altLang="zh-TW" sz="4300" dirty="0" smtClean="0">
                <a:solidFill>
                  <a:srgbClr val="FF0000"/>
                </a:solidFill>
              </a:rPr>
              <a:t>.</a:t>
            </a:r>
            <a:endParaRPr lang="en-US" altLang="zh-TW" sz="4300" dirty="0">
              <a:solidFill>
                <a:schemeClr val="bg1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0070C0"/>
                </a:solidFill>
              </a:rPr>
              <a:t>Asterisked </a:t>
            </a:r>
            <a:r>
              <a:rPr lang="en-US" altLang="zh-TW" dirty="0">
                <a:solidFill>
                  <a:srgbClr val="0070C0"/>
                </a:solidFill>
              </a:rPr>
              <a:t>Variable Goes </a:t>
            </a:r>
            <a:r>
              <a:rPr lang="en-US" altLang="zh-TW" dirty="0" smtClean="0">
                <a:solidFill>
                  <a:srgbClr val="0070C0"/>
                </a:solidFill>
              </a:rPr>
              <a:t>at </a:t>
            </a:r>
            <a:r>
              <a:rPr lang="en-US" altLang="zh-TW" dirty="0">
                <a:solidFill>
                  <a:srgbClr val="0070C0"/>
                </a:solidFill>
              </a:rPr>
              <a:t>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135466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b="1" dirty="0"/>
              <a:t> </a:t>
            </a:r>
            <a:br>
              <a:rPr lang="en-US" altLang="zh-TW" b="1" dirty="0"/>
            </a:br>
            <a:r>
              <a:rPr lang="en-US" altLang="zh-TW" sz="3800" b="1" spc="-160" dirty="0">
                <a:solidFill>
                  <a:srgbClr val="FF0000"/>
                </a:solidFill>
                <a:latin typeface="Agency FB" panose="020B0503020202020204" pitchFamily="34" charset="0"/>
              </a:rPr>
              <a:t>(</a:t>
            </a:r>
            <a:r>
              <a:rPr lang="en-US" altLang="zh-TW" sz="3800" spc="-100" dirty="0">
                <a:solidFill>
                  <a:srgbClr val="FF0000"/>
                </a:solidFill>
              </a:rPr>
              <a:t>u</a:t>
            </a:r>
            <a:r>
              <a:rPr lang="en-US" altLang="zh-TW" sz="3800" spc="-140" dirty="0">
                <a:solidFill>
                  <a:srgbClr val="FF0000"/>
                </a:solidFill>
              </a:rPr>
              <a:t>nl</a:t>
            </a:r>
            <a:r>
              <a:rPr lang="en-US" altLang="zh-TW" sz="3800" spc="-100" dirty="0">
                <a:solidFill>
                  <a:srgbClr val="FF0000"/>
                </a:solidFill>
              </a:rPr>
              <a:t>ess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r</a:t>
            </a:r>
            <a:r>
              <a:rPr lang="en-US" altLang="zh-TW" sz="3800" spc="-150" dirty="0" smtClean="0">
                <a:solidFill>
                  <a:srgbClr val="FF0000"/>
                </a:solidFill>
              </a:rPr>
              <a:t>e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maining</a:t>
            </a:r>
            <a:r>
              <a:rPr lang="en-US" altLang="zh-TW" sz="3600" spc="-100" dirty="0" smtClean="0">
                <a:solidFill>
                  <a:srgbClr val="FF0000"/>
                </a:solidFill>
              </a:rPr>
              <a:t> 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para</a:t>
            </a:r>
            <a:r>
              <a:rPr lang="en-US" altLang="zh-TW" sz="3800" spc="-140" dirty="0" smtClean="0">
                <a:solidFill>
                  <a:srgbClr val="FF0000"/>
                </a:solidFill>
              </a:rPr>
              <a:t>m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et</a:t>
            </a:r>
            <a:r>
              <a:rPr lang="en-US" altLang="zh-TW" sz="3800" spc="-140" dirty="0" smtClean="0">
                <a:solidFill>
                  <a:srgbClr val="FF0000"/>
                </a:solidFill>
              </a:rPr>
              <a:t>e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rs</a:t>
            </a:r>
            <a:r>
              <a:rPr lang="en-US" altLang="zh-TW" sz="3600" spc="-100" dirty="0" smtClean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are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40" dirty="0">
                <a:solidFill>
                  <a:srgbClr val="FF0000"/>
                </a:solidFill>
              </a:rPr>
              <a:t>n</a:t>
            </a:r>
            <a:r>
              <a:rPr lang="en-US" altLang="zh-TW" sz="3800" spc="-100" dirty="0">
                <a:solidFill>
                  <a:srgbClr val="FF0000"/>
                </a:solidFill>
              </a:rPr>
              <a:t>a</a:t>
            </a:r>
            <a:r>
              <a:rPr lang="en-US" altLang="zh-TW" sz="3800" spc="-180" dirty="0">
                <a:solidFill>
                  <a:srgbClr val="FF0000"/>
                </a:solidFill>
              </a:rPr>
              <a:t>m</a:t>
            </a:r>
            <a:r>
              <a:rPr lang="en-US" altLang="zh-TW" sz="3800" spc="-40" dirty="0">
                <a:solidFill>
                  <a:srgbClr val="FF0000"/>
                </a:solidFill>
              </a:rPr>
              <a:t>e</a:t>
            </a:r>
            <a:r>
              <a:rPr lang="en-US" altLang="zh-TW" sz="3800" spc="-150" dirty="0">
                <a:solidFill>
                  <a:srgbClr val="FF0000"/>
                </a:solidFill>
              </a:rPr>
              <a:t>d</a:t>
            </a:r>
            <a:r>
              <a:rPr lang="en-US" altLang="zh-TW" sz="3800" b="1" spc="-100" dirty="0">
                <a:solidFill>
                  <a:srgbClr val="FF0000"/>
                </a:solidFill>
                <a:latin typeface="Agency FB" panose="020B0503020202020204" pitchFamily="34" charset="0"/>
              </a:rPr>
              <a:t>)</a:t>
            </a:r>
            <a:endParaRPr lang="zh-TW" altLang="en-US" sz="3800" b="1" spc="-100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585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0" y="6"/>
            <a:ext cx="9729788" cy="135466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sz="4300" spc="-200" dirty="0">
                <a:solidFill>
                  <a:srgbClr val="0070C0"/>
                </a:solidFill>
              </a:rPr>
              <a:t>T</a:t>
            </a:r>
            <a:r>
              <a:rPr lang="en-US" altLang="zh-TW" sz="4300" spc="-50" dirty="0">
                <a:solidFill>
                  <a:srgbClr val="0070C0"/>
                </a:solidFill>
              </a:rPr>
              <a:t>o</a:t>
            </a:r>
            <a:r>
              <a:rPr lang="en-US" altLang="zh-TW" sz="4300" spc="-100" dirty="0">
                <a:solidFill>
                  <a:srgbClr val="0070C0"/>
                </a:solidFill>
              </a:rPr>
              <a:t>o</a:t>
            </a:r>
            <a:r>
              <a:rPr lang="en-US" altLang="zh-TW" sz="4000" spc="-100" dirty="0">
                <a:solidFill>
                  <a:srgbClr val="0070C0"/>
                </a:solidFill>
              </a:rPr>
              <a:t> </a:t>
            </a:r>
            <a:r>
              <a:rPr lang="en-US" altLang="zh-TW" sz="4300" spc="-100" dirty="0">
                <a:solidFill>
                  <a:srgbClr val="0070C0"/>
                </a:solidFill>
              </a:rPr>
              <a:t>abstrac</a:t>
            </a:r>
            <a:r>
              <a:rPr lang="en-US" altLang="zh-TW" sz="4300" spc="-300" dirty="0">
                <a:solidFill>
                  <a:srgbClr val="0070C0"/>
                </a:solidFill>
              </a:rPr>
              <a:t>t</a:t>
            </a:r>
            <a:r>
              <a:rPr lang="en-US" altLang="zh-TW" spc="-1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?</a:t>
            </a:r>
            <a:r>
              <a:rPr lang="en-US" altLang="zh-TW" spc="-100" dirty="0">
                <a:solidFill>
                  <a:srgbClr val="0070C0"/>
                </a:solidFill>
              </a:rPr>
              <a:t> T</a:t>
            </a:r>
            <a:r>
              <a:rPr lang="en-US" altLang="zh-TW" spc="-200" dirty="0">
                <a:solidFill>
                  <a:srgbClr val="0070C0"/>
                </a:solidFill>
              </a:rPr>
              <a:t>he</a:t>
            </a:r>
            <a:r>
              <a:rPr lang="en-US" altLang="zh-TW" spc="-100" dirty="0">
                <a:solidFill>
                  <a:srgbClr val="0070C0"/>
                </a:solidFill>
              </a:rPr>
              <a:t>n</a:t>
            </a:r>
            <a:r>
              <a:rPr lang="en-US" altLang="zh-TW" sz="4000" spc="-100" dirty="0">
                <a:solidFill>
                  <a:srgbClr val="0070C0"/>
                </a:solidFill>
              </a:rPr>
              <a:t> </a:t>
            </a:r>
            <a:r>
              <a:rPr lang="en-US" altLang="zh-TW" dirty="0">
                <a:solidFill>
                  <a:srgbClr val="0070C0"/>
                </a:solidFill>
              </a:rPr>
              <a:t>c</a:t>
            </a:r>
            <a:r>
              <a:rPr lang="en-US" altLang="zh-TW" spc="-150" dirty="0">
                <a:solidFill>
                  <a:srgbClr val="0070C0"/>
                </a:solidFill>
              </a:rPr>
              <a:t>o</a:t>
            </a:r>
            <a:r>
              <a:rPr lang="en-US" altLang="zh-TW" spc="-100" dirty="0">
                <a:solidFill>
                  <a:srgbClr val="0070C0"/>
                </a:solidFill>
              </a:rPr>
              <a:t>n</a:t>
            </a:r>
            <a:r>
              <a:rPr lang="en-US" altLang="zh-TW" spc="-150" dirty="0">
                <a:solidFill>
                  <a:srgbClr val="0070C0"/>
                </a:solidFill>
              </a:rPr>
              <a:t>sider </a:t>
            </a:r>
            <a:r>
              <a:rPr lang="en-US" altLang="zh-TW" dirty="0">
                <a:solidFill>
                  <a:srgbClr val="0070C0"/>
                </a:solidFill>
              </a:rPr>
              <a:t>pr</a:t>
            </a:r>
            <a:r>
              <a:rPr lang="en-US" altLang="zh-TW" spc="-100" dirty="0">
                <a:solidFill>
                  <a:srgbClr val="0070C0"/>
                </a:solidFill>
              </a:rPr>
              <a:t>in</a:t>
            </a:r>
            <a:r>
              <a:rPr lang="en-US" altLang="zh-TW" spc="-300" dirty="0">
                <a:solidFill>
                  <a:srgbClr val="0070C0"/>
                </a:solidFill>
              </a:rPr>
              <a:t>t</a:t>
            </a:r>
            <a:r>
              <a:rPr lang="en-US" altLang="zh-TW" sz="1800" spc="-300" dirty="0">
                <a:solidFill>
                  <a:srgbClr val="0070C0"/>
                </a:solidFill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Agency FB" panose="020B0503020202020204" pitchFamily="34" charset="0"/>
                <a:ea typeface="LiSu" panose="020105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TW" sz="1100" dirty="0">
                <a:solidFill>
                  <a:srgbClr val="0070C0"/>
                </a:solidFill>
                <a:latin typeface="Bernard MT Condensed" panose="02050806060905020404" pitchFamily="18" charset="0"/>
                <a:ea typeface="LiSu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Agency FB" panose="020B0503020202020204" pitchFamily="34" charset="0"/>
                <a:ea typeface="LiSu" panose="02010509060101010101" pitchFamily="49" charset="-122"/>
                <a:cs typeface="Times New Roman" panose="02020603050405020304" pitchFamily="18" charset="0"/>
              </a:rPr>
              <a:t>)</a:t>
            </a:r>
            <a:endParaRPr lang="zh-TW" altLang="en-US" b="1" dirty="0">
              <a:solidFill>
                <a:srgbClr val="0070C0"/>
              </a:solidFill>
              <a:latin typeface="Agency FB" panose="020B0503020202020204" pitchFamily="34" charset="0"/>
              <a:ea typeface="LiSu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40167" y="1087878"/>
            <a:ext cx="9489621" cy="58463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rgbClr val="F98700"/>
                </a:solidFill>
              </a:rPr>
              <a:t>print</a:t>
            </a:r>
            <a:r>
              <a:rPr lang="en-US" altLang="zh-TW" sz="5400" b="1" dirty="0">
                <a:solidFill>
                  <a:srgbClr val="F98700"/>
                </a:solidFill>
                <a:latin typeface="Agency FB" panose="020B0503020202020204" pitchFamily="34" charset="0"/>
              </a:rPr>
              <a:t>()</a:t>
            </a:r>
            <a:r>
              <a:rPr lang="en-US" altLang="zh-TW" sz="5400" dirty="0"/>
              <a:t> has</a:t>
            </a:r>
            <a:r>
              <a:rPr lang="en-US" altLang="zh-TW" sz="4800" dirty="0"/>
              <a:t> </a:t>
            </a:r>
            <a:r>
              <a:rPr lang="en-US" altLang="zh-TW" sz="5400" dirty="0" smtClean="0"/>
              <a:t>2</a:t>
            </a:r>
            <a:r>
              <a:rPr lang="en-US" altLang="zh-TW" sz="4800" dirty="0" smtClean="0"/>
              <a:t> </a:t>
            </a:r>
            <a:r>
              <a:rPr lang="en-US" altLang="zh-TW" sz="5400" dirty="0"/>
              <a:t>default parameters:</a:t>
            </a:r>
          </a:p>
          <a:p>
            <a:pPr marL="1550988" indent="-1550988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4300" dirty="0"/>
              <a:t>- </a:t>
            </a:r>
            <a:r>
              <a:rPr lang="en-US" altLang="zh-TW" sz="4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</a:t>
            </a:r>
            <a:r>
              <a:rPr lang="en-US" altLang="zh-TW" sz="4300" dirty="0"/>
              <a:t>:	By default, this is a newline.</a:t>
            </a:r>
          </a:p>
          <a:p>
            <a:pPr marL="1550988" indent="-15509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4300" dirty="0"/>
              <a:t>- </a:t>
            </a:r>
            <a:r>
              <a:rPr lang="en-US" altLang="zh-TW" sz="43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sep</a:t>
            </a:r>
            <a:r>
              <a:rPr lang="en-US" altLang="zh-TW" sz="4300" dirty="0"/>
              <a:t>:	By default, this is a space</a:t>
            </a:r>
            <a:r>
              <a:rPr lang="en-US" altLang="zh-TW" sz="4300" dirty="0" smtClean="0"/>
              <a:t>.</a:t>
            </a:r>
            <a:endParaRPr lang="en-US" altLang="zh-TW" sz="4300" dirty="0"/>
          </a:p>
        </p:txBody>
      </p:sp>
    </p:spTree>
    <p:extLst>
      <p:ext uri="{BB962C8B-B14F-4D97-AF65-F5344CB8AC3E}">
        <p14:creationId xmlns:p14="http://schemas.microsoft.com/office/powerpoint/2010/main" val="2752480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0" y="6"/>
            <a:ext cx="9729788" cy="135466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sz="4300" spc="-200" dirty="0">
                <a:solidFill>
                  <a:srgbClr val="0070C0"/>
                </a:solidFill>
              </a:rPr>
              <a:t>T</a:t>
            </a:r>
            <a:r>
              <a:rPr lang="en-US" altLang="zh-TW" sz="4300" spc="-50" dirty="0">
                <a:solidFill>
                  <a:srgbClr val="0070C0"/>
                </a:solidFill>
              </a:rPr>
              <a:t>o</a:t>
            </a:r>
            <a:r>
              <a:rPr lang="en-US" altLang="zh-TW" sz="4300" spc="-100" dirty="0">
                <a:solidFill>
                  <a:srgbClr val="0070C0"/>
                </a:solidFill>
              </a:rPr>
              <a:t>o</a:t>
            </a:r>
            <a:r>
              <a:rPr lang="en-US" altLang="zh-TW" sz="4000" spc="-100" dirty="0">
                <a:solidFill>
                  <a:srgbClr val="0070C0"/>
                </a:solidFill>
              </a:rPr>
              <a:t> </a:t>
            </a:r>
            <a:r>
              <a:rPr lang="en-US" altLang="zh-TW" sz="4300" spc="-100" dirty="0">
                <a:solidFill>
                  <a:srgbClr val="0070C0"/>
                </a:solidFill>
              </a:rPr>
              <a:t>abstrac</a:t>
            </a:r>
            <a:r>
              <a:rPr lang="en-US" altLang="zh-TW" sz="4300" spc="-300" dirty="0">
                <a:solidFill>
                  <a:srgbClr val="0070C0"/>
                </a:solidFill>
              </a:rPr>
              <a:t>t</a:t>
            </a:r>
            <a:r>
              <a:rPr lang="en-US" altLang="zh-TW" spc="-1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?</a:t>
            </a:r>
            <a:r>
              <a:rPr lang="en-US" altLang="zh-TW" spc="-100" dirty="0">
                <a:solidFill>
                  <a:srgbClr val="0070C0"/>
                </a:solidFill>
              </a:rPr>
              <a:t> T</a:t>
            </a:r>
            <a:r>
              <a:rPr lang="en-US" altLang="zh-TW" spc="-200" dirty="0">
                <a:solidFill>
                  <a:srgbClr val="0070C0"/>
                </a:solidFill>
              </a:rPr>
              <a:t>he</a:t>
            </a:r>
            <a:r>
              <a:rPr lang="en-US" altLang="zh-TW" spc="-100" dirty="0">
                <a:solidFill>
                  <a:srgbClr val="0070C0"/>
                </a:solidFill>
              </a:rPr>
              <a:t>n</a:t>
            </a:r>
            <a:r>
              <a:rPr lang="en-US" altLang="zh-TW" sz="4000" spc="-100" dirty="0">
                <a:solidFill>
                  <a:srgbClr val="0070C0"/>
                </a:solidFill>
              </a:rPr>
              <a:t> </a:t>
            </a:r>
            <a:r>
              <a:rPr lang="en-US" altLang="zh-TW" dirty="0">
                <a:solidFill>
                  <a:srgbClr val="0070C0"/>
                </a:solidFill>
              </a:rPr>
              <a:t>c</a:t>
            </a:r>
            <a:r>
              <a:rPr lang="en-US" altLang="zh-TW" spc="-150" dirty="0">
                <a:solidFill>
                  <a:srgbClr val="0070C0"/>
                </a:solidFill>
              </a:rPr>
              <a:t>o</a:t>
            </a:r>
            <a:r>
              <a:rPr lang="en-US" altLang="zh-TW" spc="-100" dirty="0">
                <a:solidFill>
                  <a:srgbClr val="0070C0"/>
                </a:solidFill>
              </a:rPr>
              <a:t>n</a:t>
            </a:r>
            <a:r>
              <a:rPr lang="en-US" altLang="zh-TW" spc="-150" dirty="0">
                <a:solidFill>
                  <a:srgbClr val="0070C0"/>
                </a:solidFill>
              </a:rPr>
              <a:t>sider </a:t>
            </a:r>
            <a:r>
              <a:rPr lang="en-US" altLang="zh-TW" dirty="0">
                <a:solidFill>
                  <a:srgbClr val="0070C0"/>
                </a:solidFill>
              </a:rPr>
              <a:t>pr</a:t>
            </a:r>
            <a:r>
              <a:rPr lang="en-US" altLang="zh-TW" spc="-100" dirty="0">
                <a:solidFill>
                  <a:srgbClr val="0070C0"/>
                </a:solidFill>
              </a:rPr>
              <a:t>in</a:t>
            </a:r>
            <a:r>
              <a:rPr lang="en-US" altLang="zh-TW" spc="-300" dirty="0">
                <a:solidFill>
                  <a:srgbClr val="0070C0"/>
                </a:solidFill>
              </a:rPr>
              <a:t>t</a:t>
            </a:r>
            <a:r>
              <a:rPr lang="en-US" altLang="zh-TW" sz="1800" spc="-300" dirty="0">
                <a:solidFill>
                  <a:srgbClr val="0070C0"/>
                </a:solidFill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Agency FB" panose="020B0503020202020204" pitchFamily="34" charset="0"/>
                <a:ea typeface="LiSu" panose="020105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TW" sz="1100" dirty="0">
                <a:solidFill>
                  <a:srgbClr val="0070C0"/>
                </a:solidFill>
                <a:latin typeface="Bernard MT Condensed" panose="02050806060905020404" pitchFamily="18" charset="0"/>
                <a:ea typeface="LiSu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Agency FB" panose="020B0503020202020204" pitchFamily="34" charset="0"/>
                <a:ea typeface="LiSu" panose="02010509060101010101" pitchFamily="49" charset="-122"/>
                <a:cs typeface="Times New Roman" panose="02020603050405020304" pitchFamily="18" charset="0"/>
              </a:rPr>
              <a:t>)</a:t>
            </a:r>
            <a:endParaRPr lang="zh-TW" altLang="en-US" b="1" dirty="0">
              <a:solidFill>
                <a:srgbClr val="0070C0"/>
              </a:solidFill>
              <a:latin typeface="Agency FB" panose="020B0503020202020204" pitchFamily="34" charset="0"/>
              <a:ea typeface="LiSu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40167" y="1087878"/>
            <a:ext cx="9489621" cy="58463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rgbClr val="F98700"/>
                </a:solidFill>
              </a:rPr>
              <a:t>print</a:t>
            </a:r>
            <a:r>
              <a:rPr lang="en-US" altLang="zh-TW" sz="5400" b="1" dirty="0">
                <a:solidFill>
                  <a:srgbClr val="F98700"/>
                </a:solidFill>
                <a:latin typeface="Agency FB" panose="020B0503020202020204" pitchFamily="34" charset="0"/>
              </a:rPr>
              <a:t>()</a:t>
            </a:r>
            <a:r>
              <a:rPr lang="en-US" altLang="zh-TW" sz="5400" dirty="0"/>
              <a:t> has</a:t>
            </a:r>
            <a:r>
              <a:rPr lang="en-US" altLang="zh-TW" sz="4800" dirty="0"/>
              <a:t> </a:t>
            </a:r>
            <a:r>
              <a:rPr lang="en-US" altLang="zh-TW" sz="5400" dirty="0" smtClean="0"/>
              <a:t>2</a:t>
            </a:r>
            <a:r>
              <a:rPr lang="en-US" altLang="zh-TW" sz="4800" dirty="0" smtClean="0"/>
              <a:t> </a:t>
            </a:r>
            <a:r>
              <a:rPr lang="en-US" altLang="zh-TW" sz="5400" dirty="0"/>
              <a:t>default parameters:</a:t>
            </a:r>
          </a:p>
          <a:p>
            <a:pPr marL="1550988" indent="-1550988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4300" dirty="0"/>
              <a:t>- </a:t>
            </a:r>
            <a:r>
              <a:rPr lang="en-US" altLang="zh-TW" sz="4300" b="1" dirty="0">
                <a:solidFill>
                  <a:srgbClr val="BFBFB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</a:t>
            </a:r>
            <a:r>
              <a:rPr lang="en-US" altLang="zh-TW" sz="4300" dirty="0">
                <a:solidFill>
                  <a:srgbClr val="BFBFBF"/>
                </a:solidFill>
              </a:rPr>
              <a:t>:	By default, this is a newline.</a:t>
            </a:r>
          </a:p>
          <a:p>
            <a:pPr marL="1550988" indent="-15509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4300" dirty="0"/>
              <a:t>- </a:t>
            </a:r>
            <a:r>
              <a:rPr lang="en-US" altLang="zh-TW" sz="4300" b="1" dirty="0" err="1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sep</a:t>
            </a:r>
            <a:r>
              <a:rPr lang="en-US" altLang="zh-TW" sz="4300" dirty="0">
                <a:solidFill>
                  <a:schemeClr val="bg1">
                    <a:lumMod val="75000"/>
                  </a:schemeClr>
                </a:solidFill>
              </a:rPr>
              <a:t>:	By default, this is a space.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zh-TW" altLang="zh-TW" sz="3600" dirty="0">
                <a:latin typeface="Lucida Console" panose="020B0609040504020204" pitchFamily="49" charset="0"/>
              </a:rPr>
              <a:t>a = [1, 2, 3, 4]</a:t>
            </a:r>
            <a:endParaRPr lang="en-US" altLang="zh-TW" sz="3600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en-US" altLang="zh-TW" sz="3600" b="1" dirty="0">
                <a:solidFill>
                  <a:srgbClr val="F98700"/>
                </a:solidFill>
                <a:latin typeface="Lucida Console" panose="020B0609040504020204" pitchFamily="49" charset="0"/>
              </a:rPr>
              <a:t>print</a:t>
            </a:r>
            <a:r>
              <a:rPr lang="en-US" altLang="zh-TW" sz="3600" dirty="0">
                <a:latin typeface="Lucida Console" panose="020B0609040504020204" pitchFamily="49" charset="0"/>
              </a:rPr>
              <a:t>(</a:t>
            </a:r>
            <a:r>
              <a:rPr lang="en-US" altLang="zh-TW" sz="3600" dirty="0">
                <a:solidFill>
                  <a:srgbClr val="008000"/>
                </a:solidFill>
                <a:latin typeface="Lucida Console" panose="020B0609040504020204" pitchFamily="49" charset="0"/>
              </a:rPr>
              <a:t>'a='</a:t>
            </a:r>
            <a:r>
              <a:rPr lang="en-US" altLang="zh-TW" sz="3600" dirty="0">
                <a:latin typeface="Lucida Console" panose="020B0609040504020204" pitchFamily="49" charset="0"/>
              </a:rPr>
              <a:t>,</a:t>
            </a:r>
            <a:r>
              <a:rPr lang="zh-TW" altLang="zh-TW" sz="3600" dirty="0">
                <a:solidFill>
                  <a:srgbClr val="0000FF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3600" dirty="0">
                <a:latin typeface="Lucida Console" panose="020B0609040504020204" pitchFamily="49" charset="0"/>
              </a:rPr>
              <a:t>,</a:t>
            </a:r>
            <a:r>
              <a:rPr lang="en-US" altLang="zh-TW" sz="3600" dirty="0">
                <a:solidFill>
                  <a:srgbClr val="FF0000"/>
                </a:solidFill>
                <a:latin typeface="Lucida Console" panose="020B0609040504020204" pitchFamily="49" charset="0"/>
              </a:rPr>
              <a:t>'.'</a:t>
            </a:r>
            <a:r>
              <a:rPr lang="en-US" altLang="zh-TW" sz="3600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rgbClr val="008000"/>
                </a:solidFill>
                <a:latin typeface="Lucida Console" panose="020B0609040504020204" pitchFamily="49" charset="0"/>
              </a:rPr>
              <a:t>a=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zh-TW" altLang="zh-TW" sz="3600" dirty="0">
                <a:solidFill>
                  <a:srgbClr val="0000FF"/>
                </a:solidFill>
                <a:latin typeface="Lucida Console" panose="020B0609040504020204" pitchFamily="49" charset="0"/>
              </a:rPr>
              <a:t>[1, 2, 3, 4]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en-US" altLang="zh-TW" sz="3600" dirty="0">
                <a:solidFill>
                  <a:srgbClr val="FF0000"/>
                </a:solidFill>
                <a:latin typeface="Lucida Console" panose="020B0609040504020204" pitchFamily="49" charset="0"/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zh-TW" sz="36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62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0" y="6"/>
            <a:ext cx="9729788" cy="135466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sz="4300" spc="-200" dirty="0">
                <a:solidFill>
                  <a:srgbClr val="0070C0"/>
                </a:solidFill>
              </a:rPr>
              <a:t>T</a:t>
            </a:r>
            <a:r>
              <a:rPr lang="en-US" altLang="zh-TW" sz="4300" spc="-50" dirty="0">
                <a:solidFill>
                  <a:srgbClr val="0070C0"/>
                </a:solidFill>
              </a:rPr>
              <a:t>o</a:t>
            </a:r>
            <a:r>
              <a:rPr lang="en-US" altLang="zh-TW" sz="4300" spc="-100" dirty="0">
                <a:solidFill>
                  <a:srgbClr val="0070C0"/>
                </a:solidFill>
              </a:rPr>
              <a:t>o</a:t>
            </a:r>
            <a:r>
              <a:rPr lang="en-US" altLang="zh-TW" sz="4000" spc="-100" dirty="0">
                <a:solidFill>
                  <a:srgbClr val="0070C0"/>
                </a:solidFill>
              </a:rPr>
              <a:t> </a:t>
            </a:r>
            <a:r>
              <a:rPr lang="en-US" altLang="zh-TW" sz="4300" spc="-100" dirty="0">
                <a:solidFill>
                  <a:srgbClr val="0070C0"/>
                </a:solidFill>
              </a:rPr>
              <a:t>abstrac</a:t>
            </a:r>
            <a:r>
              <a:rPr lang="en-US" altLang="zh-TW" sz="4300" spc="-300" dirty="0">
                <a:solidFill>
                  <a:srgbClr val="0070C0"/>
                </a:solidFill>
              </a:rPr>
              <a:t>t</a:t>
            </a:r>
            <a:r>
              <a:rPr lang="en-US" altLang="zh-TW" spc="-1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?</a:t>
            </a:r>
            <a:r>
              <a:rPr lang="en-US" altLang="zh-TW" spc="-100" dirty="0">
                <a:solidFill>
                  <a:srgbClr val="0070C0"/>
                </a:solidFill>
              </a:rPr>
              <a:t> T</a:t>
            </a:r>
            <a:r>
              <a:rPr lang="en-US" altLang="zh-TW" spc="-200" dirty="0">
                <a:solidFill>
                  <a:srgbClr val="0070C0"/>
                </a:solidFill>
              </a:rPr>
              <a:t>he</a:t>
            </a:r>
            <a:r>
              <a:rPr lang="en-US" altLang="zh-TW" spc="-100" dirty="0">
                <a:solidFill>
                  <a:srgbClr val="0070C0"/>
                </a:solidFill>
              </a:rPr>
              <a:t>n</a:t>
            </a:r>
            <a:r>
              <a:rPr lang="en-US" altLang="zh-TW" sz="4000" spc="-100" dirty="0">
                <a:solidFill>
                  <a:srgbClr val="0070C0"/>
                </a:solidFill>
              </a:rPr>
              <a:t> </a:t>
            </a:r>
            <a:r>
              <a:rPr lang="en-US" altLang="zh-TW" dirty="0">
                <a:solidFill>
                  <a:srgbClr val="0070C0"/>
                </a:solidFill>
              </a:rPr>
              <a:t>c</a:t>
            </a:r>
            <a:r>
              <a:rPr lang="en-US" altLang="zh-TW" spc="-150" dirty="0">
                <a:solidFill>
                  <a:srgbClr val="0070C0"/>
                </a:solidFill>
              </a:rPr>
              <a:t>o</a:t>
            </a:r>
            <a:r>
              <a:rPr lang="en-US" altLang="zh-TW" spc="-100" dirty="0">
                <a:solidFill>
                  <a:srgbClr val="0070C0"/>
                </a:solidFill>
              </a:rPr>
              <a:t>n</a:t>
            </a:r>
            <a:r>
              <a:rPr lang="en-US" altLang="zh-TW" spc="-150" dirty="0">
                <a:solidFill>
                  <a:srgbClr val="0070C0"/>
                </a:solidFill>
              </a:rPr>
              <a:t>sider </a:t>
            </a:r>
            <a:r>
              <a:rPr lang="en-US" altLang="zh-TW" dirty="0">
                <a:solidFill>
                  <a:srgbClr val="0070C0"/>
                </a:solidFill>
              </a:rPr>
              <a:t>pr</a:t>
            </a:r>
            <a:r>
              <a:rPr lang="en-US" altLang="zh-TW" spc="-100" dirty="0">
                <a:solidFill>
                  <a:srgbClr val="0070C0"/>
                </a:solidFill>
              </a:rPr>
              <a:t>in</a:t>
            </a:r>
            <a:r>
              <a:rPr lang="en-US" altLang="zh-TW" spc="-300" dirty="0">
                <a:solidFill>
                  <a:srgbClr val="0070C0"/>
                </a:solidFill>
              </a:rPr>
              <a:t>t</a:t>
            </a:r>
            <a:r>
              <a:rPr lang="en-US" altLang="zh-TW" sz="1800" spc="-300" dirty="0">
                <a:solidFill>
                  <a:srgbClr val="0070C0"/>
                </a:solidFill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Agency FB" panose="020B0503020202020204" pitchFamily="34" charset="0"/>
                <a:ea typeface="LiSu" panose="020105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TW" sz="1100" dirty="0">
                <a:solidFill>
                  <a:srgbClr val="0070C0"/>
                </a:solidFill>
                <a:latin typeface="Bernard MT Condensed" panose="02050806060905020404" pitchFamily="18" charset="0"/>
                <a:ea typeface="LiSu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Agency FB" panose="020B0503020202020204" pitchFamily="34" charset="0"/>
                <a:ea typeface="LiSu" panose="02010509060101010101" pitchFamily="49" charset="-122"/>
                <a:cs typeface="Times New Roman" panose="02020603050405020304" pitchFamily="18" charset="0"/>
              </a:rPr>
              <a:t>)</a:t>
            </a:r>
            <a:endParaRPr lang="zh-TW" altLang="en-US" b="1" dirty="0">
              <a:solidFill>
                <a:srgbClr val="0070C0"/>
              </a:solidFill>
              <a:latin typeface="Agency FB" panose="020B0503020202020204" pitchFamily="34" charset="0"/>
              <a:ea typeface="LiSu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40167" y="1087878"/>
            <a:ext cx="9489621" cy="58463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rgbClr val="F98700"/>
                </a:solidFill>
              </a:rPr>
              <a:t>print</a:t>
            </a:r>
            <a:r>
              <a:rPr lang="en-US" altLang="zh-TW" sz="5400" b="1" dirty="0">
                <a:solidFill>
                  <a:srgbClr val="F98700"/>
                </a:solidFill>
                <a:latin typeface="Agency FB" panose="020B0503020202020204" pitchFamily="34" charset="0"/>
              </a:rPr>
              <a:t>()</a:t>
            </a:r>
            <a:r>
              <a:rPr lang="en-US" altLang="zh-TW" sz="5400" dirty="0"/>
              <a:t> </a:t>
            </a:r>
            <a:r>
              <a:rPr lang="en-US" altLang="zh-TW" sz="5400" dirty="0">
                <a:solidFill>
                  <a:schemeClr val="bg1">
                    <a:lumMod val="65000"/>
                  </a:schemeClr>
                </a:solidFill>
              </a:rPr>
              <a:t>has</a:t>
            </a:r>
            <a:r>
              <a:rPr lang="en-US" altLang="zh-TW" sz="48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TW" sz="5400" dirty="0" smtClean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US" altLang="zh-TW" sz="4800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TW" sz="5400" dirty="0">
                <a:solidFill>
                  <a:schemeClr val="bg1">
                    <a:lumMod val="65000"/>
                  </a:schemeClr>
                </a:solidFill>
              </a:rPr>
              <a:t>default parameters:</a:t>
            </a:r>
          </a:p>
          <a:p>
            <a:pPr marL="1550988" indent="-1550988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4300" dirty="0"/>
              <a:t>- </a:t>
            </a:r>
            <a:r>
              <a:rPr lang="en-US" altLang="zh-TW" sz="4300" b="1" dirty="0">
                <a:solidFill>
                  <a:srgbClr val="BFBFB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</a:t>
            </a:r>
            <a:r>
              <a:rPr lang="en-US" altLang="zh-TW" sz="4300" dirty="0">
                <a:solidFill>
                  <a:srgbClr val="BFBFBF"/>
                </a:solidFill>
              </a:rPr>
              <a:t>:	By default, this is a newline.</a:t>
            </a:r>
          </a:p>
          <a:p>
            <a:pPr marL="1550988" indent="-15509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4300" dirty="0"/>
              <a:t>- </a:t>
            </a:r>
            <a:r>
              <a:rPr lang="en-US" altLang="zh-TW" sz="4300" b="1" dirty="0" err="1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sep</a:t>
            </a:r>
            <a:r>
              <a:rPr lang="en-US" altLang="zh-TW" sz="4300" dirty="0">
                <a:solidFill>
                  <a:schemeClr val="bg1">
                    <a:lumMod val="75000"/>
                  </a:schemeClr>
                </a:solidFill>
              </a:rPr>
              <a:t>:	By default, this is a space.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zh-TW" altLang="zh-TW" sz="3600" dirty="0">
                <a:latin typeface="Lucida Console" panose="020B0609040504020204" pitchFamily="49" charset="0"/>
              </a:rPr>
              <a:t>a = [1, 2, 3, 4]</a:t>
            </a:r>
            <a:endParaRPr lang="en-US" altLang="zh-TW" sz="3600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print('a=',</a:t>
            </a:r>
            <a:r>
              <a:rPr lang="zh-TW" altLang="zh-TW" sz="3600" dirty="0">
                <a:latin typeface="Lucida Console" panose="020B0609040504020204" pitchFamily="49" charset="0"/>
              </a:rPr>
              <a:t>a</a:t>
            </a:r>
            <a:r>
              <a:rPr lang="en-US" altLang="zh-TW" sz="3600" dirty="0">
                <a:latin typeface="Lucida Console" panose="020B0609040504020204" pitchFamily="49" charset="0"/>
              </a:rPr>
              <a:t>,'.')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latin typeface="Lucida Console" panose="020B0609040504020204" pitchFamily="49" charset="0"/>
              </a:rPr>
              <a:t>a= </a:t>
            </a:r>
            <a:r>
              <a:rPr lang="zh-TW" altLang="zh-TW" sz="3600" dirty="0">
                <a:latin typeface="Lucida Console" panose="020B0609040504020204" pitchFamily="49" charset="0"/>
              </a:rPr>
              <a:t>[1, 2, 3, 4]</a:t>
            </a:r>
            <a:r>
              <a:rPr lang="en-US" altLang="zh-TW" sz="3600" dirty="0">
                <a:latin typeface="Lucida Console" panose="020B0609040504020204" pitchFamily="49" charset="0"/>
              </a:rPr>
              <a:t> 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zh-TW" altLang="zh-TW" sz="3600" dirty="0">
                <a:latin typeface="Lucida Console" panose="020B0609040504020204" pitchFamily="49" charset="0"/>
              </a:rPr>
              <a:t>for x in range(len(a)):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zh-TW" sz="36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38482" y="5222585"/>
            <a:ext cx="11079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sz="3600" dirty="0">
                <a:latin typeface="Lucida Console" panose="020B0609040504020204" pitchFamily="49" charset="0"/>
              </a:rPr>
              <a:t>	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74090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0" y="6"/>
            <a:ext cx="9729788" cy="135466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sz="4300" spc="-200" dirty="0">
                <a:solidFill>
                  <a:srgbClr val="0070C0"/>
                </a:solidFill>
              </a:rPr>
              <a:t>T</a:t>
            </a:r>
            <a:r>
              <a:rPr lang="en-US" altLang="zh-TW" sz="4300" spc="-50" dirty="0">
                <a:solidFill>
                  <a:srgbClr val="0070C0"/>
                </a:solidFill>
              </a:rPr>
              <a:t>o</a:t>
            </a:r>
            <a:r>
              <a:rPr lang="en-US" altLang="zh-TW" sz="4300" spc="-100" dirty="0">
                <a:solidFill>
                  <a:srgbClr val="0070C0"/>
                </a:solidFill>
              </a:rPr>
              <a:t>o</a:t>
            </a:r>
            <a:r>
              <a:rPr lang="en-US" altLang="zh-TW" sz="4000" spc="-100" dirty="0">
                <a:solidFill>
                  <a:srgbClr val="0070C0"/>
                </a:solidFill>
              </a:rPr>
              <a:t> </a:t>
            </a:r>
            <a:r>
              <a:rPr lang="en-US" altLang="zh-TW" sz="4300" spc="-100" dirty="0">
                <a:solidFill>
                  <a:srgbClr val="0070C0"/>
                </a:solidFill>
              </a:rPr>
              <a:t>abstrac</a:t>
            </a:r>
            <a:r>
              <a:rPr lang="en-US" altLang="zh-TW" sz="4300" spc="-300" dirty="0">
                <a:solidFill>
                  <a:srgbClr val="0070C0"/>
                </a:solidFill>
              </a:rPr>
              <a:t>t</a:t>
            </a:r>
            <a:r>
              <a:rPr lang="en-US" altLang="zh-TW" spc="-1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?</a:t>
            </a:r>
            <a:r>
              <a:rPr lang="en-US" altLang="zh-TW" spc="-100" dirty="0">
                <a:solidFill>
                  <a:srgbClr val="0070C0"/>
                </a:solidFill>
              </a:rPr>
              <a:t> T</a:t>
            </a:r>
            <a:r>
              <a:rPr lang="en-US" altLang="zh-TW" spc="-200" dirty="0">
                <a:solidFill>
                  <a:srgbClr val="0070C0"/>
                </a:solidFill>
              </a:rPr>
              <a:t>he</a:t>
            </a:r>
            <a:r>
              <a:rPr lang="en-US" altLang="zh-TW" spc="-100" dirty="0">
                <a:solidFill>
                  <a:srgbClr val="0070C0"/>
                </a:solidFill>
              </a:rPr>
              <a:t>n</a:t>
            </a:r>
            <a:r>
              <a:rPr lang="en-US" altLang="zh-TW" sz="4000" spc="-100" dirty="0">
                <a:solidFill>
                  <a:srgbClr val="0070C0"/>
                </a:solidFill>
              </a:rPr>
              <a:t> </a:t>
            </a:r>
            <a:r>
              <a:rPr lang="en-US" altLang="zh-TW" dirty="0">
                <a:solidFill>
                  <a:srgbClr val="0070C0"/>
                </a:solidFill>
              </a:rPr>
              <a:t>c</a:t>
            </a:r>
            <a:r>
              <a:rPr lang="en-US" altLang="zh-TW" spc="-150" dirty="0">
                <a:solidFill>
                  <a:srgbClr val="0070C0"/>
                </a:solidFill>
              </a:rPr>
              <a:t>o</a:t>
            </a:r>
            <a:r>
              <a:rPr lang="en-US" altLang="zh-TW" spc="-100" dirty="0">
                <a:solidFill>
                  <a:srgbClr val="0070C0"/>
                </a:solidFill>
              </a:rPr>
              <a:t>n</a:t>
            </a:r>
            <a:r>
              <a:rPr lang="en-US" altLang="zh-TW" spc="-150" dirty="0">
                <a:solidFill>
                  <a:srgbClr val="0070C0"/>
                </a:solidFill>
              </a:rPr>
              <a:t>sider </a:t>
            </a:r>
            <a:r>
              <a:rPr lang="en-US" altLang="zh-TW" dirty="0">
                <a:solidFill>
                  <a:srgbClr val="0070C0"/>
                </a:solidFill>
              </a:rPr>
              <a:t>pr</a:t>
            </a:r>
            <a:r>
              <a:rPr lang="en-US" altLang="zh-TW" spc="-100" dirty="0">
                <a:solidFill>
                  <a:srgbClr val="0070C0"/>
                </a:solidFill>
              </a:rPr>
              <a:t>in</a:t>
            </a:r>
            <a:r>
              <a:rPr lang="en-US" altLang="zh-TW" spc="-300" dirty="0">
                <a:solidFill>
                  <a:srgbClr val="0070C0"/>
                </a:solidFill>
              </a:rPr>
              <a:t>t</a:t>
            </a:r>
            <a:r>
              <a:rPr lang="en-US" altLang="zh-TW" sz="1800" spc="-300" dirty="0">
                <a:solidFill>
                  <a:srgbClr val="0070C0"/>
                </a:solidFill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Agency FB" panose="020B0503020202020204" pitchFamily="34" charset="0"/>
                <a:ea typeface="LiSu" panose="020105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TW" sz="1100" dirty="0">
                <a:solidFill>
                  <a:srgbClr val="0070C0"/>
                </a:solidFill>
                <a:latin typeface="Bernard MT Condensed" panose="02050806060905020404" pitchFamily="18" charset="0"/>
                <a:ea typeface="LiSu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Agency FB" panose="020B0503020202020204" pitchFamily="34" charset="0"/>
                <a:ea typeface="LiSu" panose="02010509060101010101" pitchFamily="49" charset="-122"/>
                <a:cs typeface="Times New Roman" panose="02020603050405020304" pitchFamily="18" charset="0"/>
              </a:rPr>
              <a:t>)</a:t>
            </a:r>
            <a:endParaRPr lang="zh-TW" altLang="en-US" b="1" dirty="0">
              <a:solidFill>
                <a:srgbClr val="0070C0"/>
              </a:solidFill>
              <a:latin typeface="Agency FB" panose="020B0503020202020204" pitchFamily="34" charset="0"/>
              <a:ea typeface="LiSu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40167" y="1087878"/>
            <a:ext cx="9489621" cy="58463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rgbClr val="F98700"/>
                </a:solidFill>
              </a:rPr>
              <a:t>print</a:t>
            </a:r>
            <a:r>
              <a:rPr lang="en-US" altLang="zh-TW" sz="5400" b="1" dirty="0">
                <a:solidFill>
                  <a:srgbClr val="F98700"/>
                </a:solidFill>
                <a:latin typeface="Agency FB" panose="020B0503020202020204" pitchFamily="34" charset="0"/>
              </a:rPr>
              <a:t>()</a:t>
            </a:r>
            <a:r>
              <a:rPr lang="en-US" altLang="zh-TW" sz="5400" dirty="0"/>
              <a:t> </a:t>
            </a:r>
            <a:r>
              <a:rPr lang="en-US" altLang="zh-TW" sz="5400" dirty="0">
                <a:solidFill>
                  <a:schemeClr val="bg1">
                    <a:lumMod val="65000"/>
                  </a:schemeClr>
                </a:solidFill>
              </a:rPr>
              <a:t>has</a:t>
            </a:r>
            <a:r>
              <a:rPr lang="en-US" altLang="zh-TW" sz="48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TW" sz="5400" dirty="0" smtClean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US" altLang="zh-TW" sz="4800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TW" sz="5400" dirty="0">
                <a:solidFill>
                  <a:schemeClr val="bg1">
                    <a:lumMod val="65000"/>
                  </a:schemeClr>
                </a:solidFill>
              </a:rPr>
              <a:t>default parameters:</a:t>
            </a:r>
          </a:p>
          <a:p>
            <a:pPr marL="1550988" indent="-1550988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4300" dirty="0"/>
              <a:t>- </a:t>
            </a:r>
            <a:r>
              <a:rPr lang="en-US" altLang="zh-TW" sz="4300" b="1" dirty="0">
                <a:solidFill>
                  <a:srgbClr val="FF149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</a:t>
            </a:r>
            <a:r>
              <a:rPr lang="en-US" altLang="zh-TW" sz="4300" dirty="0"/>
              <a:t>:	By default, this is a newline.</a:t>
            </a:r>
          </a:p>
          <a:p>
            <a:pPr marL="1550988" indent="-15509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4300" dirty="0"/>
              <a:t>- </a:t>
            </a:r>
            <a:r>
              <a:rPr lang="en-US" altLang="zh-TW" sz="4300" b="1" dirty="0" err="1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sep</a:t>
            </a:r>
            <a:r>
              <a:rPr lang="en-US" altLang="zh-TW" sz="4300" dirty="0">
                <a:solidFill>
                  <a:schemeClr val="bg1">
                    <a:lumMod val="75000"/>
                  </a:schemeClr>
                </a:solidFill>
              </a:rPr>
              <a:t>:	By default, this is a space.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zh-TW" altLang="zh-TW" sz="3600" dirty="0">
                <a:latin typeface="Lucida Console" panose="020B0609040504020204" pitchFamily="49" charset="0"/>
              </a:rPr>
              <a:t>a = [1, 2, 3, 4]</a:t>
            </a:r>
            <a:endParaRPr lang="en-US" altLang="zh-TW" sz="3600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print('a=',</a:t>
            </a:r>
            <a:r>
              <a:rPr lang="zh-TW" altLang="zh-TW" sz="3600" dirty="0">
                <a:latin typeface="Lucida Console" panose="020B0609040504020204" pitchFamily="49" charset="0"/>
              </a:rPr>
              <a:t>a</a:t>
            </a:r>
            <a:r>
              <a:rPr lang="en-US" altLang="zh-TW" sz="3600" dirty="0">
                <a:latin typeface="Lucida Console" panose="020B0609040504020204" pitchFamily="49" charset="0"/>
              </a:rPr>
              <a:t>,'.')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latin typeface="Lucida Console" panose="020B0609040504020204" pitchFamily="49" charset="0"/>
              </a:rPr>
              <a:t>a= </a:t>
            </a:r>
            <a:r>
              <a:rPr lang="zh-TW" altLang="zh-TW" sz="3600" dirty="0">
                <a:latin typeface="Lucida Console" panose="020B0609040504020204" pitchFamily="49" charset="0"/>
              </a:rPr>
              <a:t>[1, 2, 3, 4]</a:t>
            </a:r>
            <a:r>
              <a:rPr lang="en-US" altLang="zh-TW" sz="3600" dirty="0">
                <a:latin typeface="Lucida Console" panose="020B0609040504020204" pitchFamily="49" charset="0"/>
              </a:rPr>
              <a:t> 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zh-TW" altLang="zh-TW" sz="3600" dirty="0">
                <a:latin typeface="Lucida Console" panose="020B0609040504020204" pitchFamily="49" charset="0"/>
              </a:rPr>
              <a:t>for x in range(len(a)):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/>
                </a:solidFill>
                <a:latin typeface="Lucida Console" panose="020B0609040504020204" pitchFamily="49" charset="0"/>
              </a:rPr>
              <a:t>...	</a:t>
            </a:r>
            <a:r>
              <a:rPr lang="en-US" altLang="zh-TW" sz="3600" dirty="0">
                <a:latin typeface="Lucida Console" panose="020B0609040504020204" pitchFamily="49" charset="0"/>
              </a:rPr>
              <a:t>  </a:t>
            </a:r>
            <a:r>
              <a:rPr lang="en-US" altLang="zh-TW" sz="3600" dirty="0" smtClean="0">
                <a:latin typeface="Lucida Console" panose="020B0609040504020204" pitchFamily="49" charset="0"/>
              </a:rPr>
              <a:t> </a:t>
            </a:r>
            <a:r>
              <a:rPr lang="en-US" altLang="zh-TW" sz="2400" dirty="0" smtClean="0">
                <a:latin typeface="Lucida Console" panose="020B0609040504020204" pitchFamily="49" charset="0"/>
              </a:rPr>
              <a:t> </a:t>
            </a:r>
            <a:r>
              <a:rPr lang="zh-TW" altLang="zh-TW" sz="3600" b="1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print</a:t>
            </a:r>
            <a:r>
              <a:rPr lang="en-US" altLang="zh-TW" sz="3600" dirty="0" smtClean="0">
                <a:latin typeface="Lucida Console" panose="020B0609040504020204" pitchFamily="49" charset="0"/>
              </a:rPr>
              <a:t>(</a:t>
            </a:r>
            <a:r>
              <a:rPr lang="zh-TW" altLang="zh-TW" sz="3600" dirty="0">
                <a:solidFill>
                  <a:srgbClr val="2DFF2D"/>
                </a:solidFill>
                <a:latin typeface="Lucida Console" panose="020B0609040504020204" pitchFamily="49" charset="0"/>
              </a:rPr>
              <a:t>a[x]</a:t>
            </a:r>
            <a:r>
              <a:rPr lang="en-US" altLang="zh-TW" sz="3600" dirty="0">
                <a:latin typeface="Lucida Console" panose="020B0609040504020204" pitchFamily="49" charset="0"/>
              </a:rPr>
              <a:t>, </a:t>
            </a:r>
            <a:r>
              <a:rPr lang="en-US" altLang="zh-TW" sz="3600" b="1" dirty="0">
                <a:solidFill>
                  <a:srgbClr val="FF149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end</a:t>
            </a:r>
            <a:r>
              <a:rPr lang="en-US" altLang="zh-TW" sz="3600" dirty="0">
                <a:solidFill>
                  <a:srgbClr val="0000FF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3600" dirty="0">
                <a:solidFill>
                  <a:srgbClr val="FF1493"/>
                </a:solidFill>
                <a:latin typeface="Lucida Console" panose="020B0609040504020204" pitchFamily="49" charset="0"/>
              </a:rPr>
              <a:t>= ", "</a:t>
            </a:r>
            <a:r>
              <a:rPr lang="en-US" altLang="zh-TW" sz="3600" dirty="0">
                <a:latin typeface="Lucida Console" panose="020B0609040504020204" pitchFamily="49" charset="0"/>
              </a:rPr>
              <a:t>)</a:t>
            </a:r>
            <a:endParaRPr lang="zh-TW" altLang="zh-TW" sz="3600" dirty="0">
              <a:latin typeface="Lucida Console" panose="020B06090405040202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>
              <a:spcBef>
                <a:spcPts val="0"/>
              </a:spcBef>
              <a:buNone/>
            </a:pPr>
            <a:r>
              <a:rPr lang="zh-TW" altLang="zh-TW" sz="3600" dirty="0">
                <a:solidFill>
                  <a:srgbClr val="2DFF2D"/>
                </a:solidFill>
                <a:latin typeface="Lucida Console" panose="020B0609040504020204" pitchFamily="49" charset="0"/>
              </a:rPr>
              <a:t>1</a:t>
            </a:r>
            <a:r>
              <a:rPr lang="zh-TW" altLang="zh-TW" sz="3600" b="1" dirty="0">
                <a:solidFill>
                  <a:srgbClr val="FF1493"/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600" dirty="0">
                <a:solidFill>
                  <a:srgbClr val="2DFF2D"/>
                </a:solidFill>
                <a:latin typeface="Lucida Console" panose="020B0609040504020204" pitchFamily="49" charset="0"/>
              </a:rPr>
              <a:t>2</a:t>
            </a:r>
            <a:r>
              <a:rPr lang="zh-TW" altLang="zh-TW" sz="3600" b="1" dirty="0">
                <a:solidFill>
                  <a:srgbClr val="FF1493"/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600" dirty="0">
                <a:solidFill>
                  <a:srgbClr val="2DFF2D"/>
                </a:solidFill>
                <a:latin typeface="Lucida Console" panose="020B0609040504020204" pitchFamily="49" charset="0"/>
              </a:rPr>
              <a:t>3</a:t>
            </a:r>
            <a:r>
              <a:rPr lang="zh-TW" altLang="zh-TW" sz="3600" b="1" dirty="0">
                <a:solidFill>
                  <a:srgbClr val="FF1493"/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600" dirty="0">
                <a:solidFill>
                  <a:srgbClr val="2DFF2D"/>
                </a:solidFill>
                <a:latin typeface="Lucida Console" panose="020B0609040504020204" pitchFamily="49" charset="0"/>
              </a:rPr>
              <a:t>4</a:t>
            </a:r>
            <a:r>
              <a:rPr lang="zh-TW" altLang="zh-TW" sz="3600" b="1" dirty="0">
                <a:solidFill>
                  <a:srgbClr val="FF1493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3600" b="1" dirty="0">
                <a:solidFill>
                  <a:srgbClr val="FF1493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238482" y="5222585"/>
            <a:ext cx="11079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sz="3600" dirty="0">
                <a:latin typeface="Lucida Console" panose="020B0609040504020204" pitchFamily="49" charset="0"/>
              </a:rPr>
              <a:t>	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451167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0" y="6"/>
            <a:ext cx="9729788" cy="135466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sz="4300" spc="-200" dirty="0">
                <a:solidFill>
                  <a:srgbClr val="0070C0"/>
                </a:solidFill>
              </a:rPr>
              <a:t>T</a:t>
            </a:r>
            <a:r>
              <a:rPr lang="en-US" altLang="zh-TW" sz="4300" spc="-50" dirty="0">
                <a:solidFill>
                  <a:srgbClr val="0070C0"/>
                </a:solidFill>
              </a:rPr>
              <a:t>o</a:t>
            </a:r>
            <a:r>
              <a:rPr lang="en-US" altLang="zh-TW" sz="4300" spc="-100" dirty="0">
                <a:solidFill>
                  <a:srgbClr val="0070C0"/>
                </a:solidFill>
              </a:rPr>
              <a:t>o</a:t>
            </a:r>
            <a:r>
              <a:rPr lang="en-US" altLang="zh-TW" sz="4000" spc="-100" dirty="0">
                <a:solidFill>
                  <a:srgbClr val="0070C0"/>
                </a:solidFill>
              </a:rPr>
              <a:t> </a:t>
            </a:r>
            <a:r>
              <a:rPr lang="en-US" altLang="zh-TW" sz="4300" spc="-100" dirty="0">
                <a:solidFill>
                  <a:srgbClr val="0070C0"/>
                </a:solidFill>
              </a:rPr>
              <a:t>abstrac</a:t>
            </a:r>
            <a:r>
              <a:rPr lang="en-US" altLang="zh-TW" sz="4300" spc="-300" dirty="0">
                <a:solidFill>
                  <a:srgbClr val="0070C0"/>
                </a:solidFill>
              </a:rPr>
              <a:t>t</a:t>
            </a:r>
            <a:r>
              <a:rPr lang="en-US" altLang="zh-TW" spc="-1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?</a:t>
            </a:r>
            <a:r>
              <a:rPr lang="en-US" altLang="zh-TW" spc="-100" dirty="0">
                <a:solidFill>
                  <a:srgbClr val="0070C0"/>
                </a:solidFill>
              </a:rPr>
              <a:t> T</a:t>
            </a:r>
            <a:r>
              <a:rPr lang="en-US" altLang="zh-TW" spc="-200" dirty="0">
                <a:solidFill>
                  <a:srgbClr val="0070C0"/>
                </a:solidFill>
              </a:rPr>
              <a:t>he</a:t>
            </a:r>
            <a:r>
              <a:rPr lang="en-US" altLang="zh-TW" spc="-100" dirty="0">
                <a:solidFill>
                  <a:srgbClr val="0070C0"/>
                </a:solidFill>
              </a:rPr>
              <a:t>n</a:t>
            </a:r>
            <a:r>
              <a:rPr lang="en-US" altLang="zh-TW" sz="4000" spc="-100" dirty="0">
                <a:solidFill>
                  <a:srgbClr val="0070C0"/>
                </a:solidFill>
              </a:rPr>
              <a:t> </a:t>
            </a:r>
            <a:r>
              <a:rPr lang="en-US" altLang="zh-TW" dirty="0">
                <a:solidFill>
                  <a:srgbClr val="0070C0"/>
                </a:solidFill>
              </a:rPr>
              <a:t>c</a:t>
            </a:r>
            <a:r>
              <a:rPr lang="en-US" altLang="zh-TW" spc="-150" dirty="0">
                <a:solidFill>
                  <a:srgbClr val="0070C0"/>
                </a:solidFill>
              </a:rPr>
              <a:t>o</a:t>
            </a:r>
            <a:r>
              <a:rPr lang="en-US" altLang="zh-TW" spc="-100" dirty="0">
                <a:solidFill>
                  <a:srgbClr val="0070C0"/>
                </a:solidFill>
              </a:rPr>
              <a:t>n</a:t>
            </a:r>
            <a:r>
              <a:rPr lang="en-US" altLang="zh-TW" spc="-150" dirty="0">
                <a:solidFill>
                  <a:srgbClr val="0070C0"/>
                </a:solidFill>
              </a:rPr>
              <a:t>sider </a:t>
            </a:r>
            <a:r>
              <a:rPr lang="en-US" altLang="zh-TW" dirty="0">
                <a:solidFill>
                  <a:srgbClr val="0070C0"/>
                </a:solidFill>
              </a:rPr>
              <a:t>pr</a:t>
            </a:r>
            <a:r>
              <a:rPr lang="en-US" altLang="zh-TW" spc="-100" dirty="0">
                <a:solidFill>
                  <a:srgbClr val="0070C0"/>
                </a:solidFill>
              </a:rPr>
              <a:t>in</a:t>
            </a:r>
            <a:r>
              <a:rPr lang="en-US" altLang="zh-TW" spc="-300" dirty="0">
                <a:solidFill>
                  <a:srgbClr val="0070C0"/>
                </a:solidFill>
              </a:rPr>
              <a:t>t</a:t>
            </a:r>
            <a:r>
              <a:rPr lang="en-US" altLang="zh-TW" sz="1800" spc="-300" dirty="0">
                <a:solidFill>
                  <a:srgbClr val="0070C0"/>
                </a:solidFill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Agency FB" panose="020B0503020202020204" pitchFamily="34" charset="0"/>
                <a:ea typeface="LiSu" panose="020105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TW" sz="1100" dirty="0">
                <a:solidFill>
                  <a:schemeClr val="bg1"/>
                </a:solidFill>
                <a:latin typeface="Bernard MT Condensed" panose="02050806060905020404" pitchFamily="18" charset="0"/>
                <a:ea typeface="LiSu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solidFill>
                  <a:schemeClr val="bg1"/>
                </a:solidFill>
                <a:latin typeface="Agency FB" panose="020B0503020202020204" pitchFamily="34" charset="0"/>
                <a:ea typeface="LiSu" panose="02010509060101010101" pitchFamily="49" charset="-122"/>
                <a:cs typeface="Times New Roman" panose="02020603050405020304" pitchFamily="18" charset="0"/>
              </a:rPr>
              <a:t>)</a:t>
            </a:r>
            <a:endParaRPr lang="zh-TW" altLang="en-US" b="1" dirty="0">
              <a:solidFill>
                <a:schemeClr val="bg1"/>
              </a:solidFill>
              <a:latin typeface="Agency FB" panose="020B0503020202020204" pitchFamily="34" charset="0"/>
              <a:ea typeface="LiSu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40167" y="1087878"/>
            <a:ext cx="9489621" cy="58463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rgbClr val="F98700"/>
                </a:solidFill>
              </a:rPr>
              <a:t>print</a:t>
            </a:r>
            <a:r>
              <a:rPr lang="en-US" altLang="zh-TW" sz="5400" b="1" dirty="0">
                <a:solidFill>
                  <a:srgbClr val="F98700"/>
                </a:solidFill>
                <a:latin typeface="Agency FB" panose="020B0503020202020204" pitchFamily="34" charset="0"/>
              </a:rPr>
              <a:t>()</a:t>
            </a:r>
            <a:r>
              <a:rPr lang="en-US" altLang="zh-TW" sz="5400" dirty="0"/>
              <a:t> </a:t>
            </a:r>
            <a:r>
              <a:rPr lang="en-US" altLang="zh-TW" sz="5400" dirty="0">
                <a:solidFill>
                  <a:schemeClr val="bg1">
                    <a:lumMod val="65000"/>
                  </a:schemeClr>
                </a:solidFill>
              </a:rPr>
              <a:t>has</a:t>
            </a:r>
            <a:r>
              <a:rPr lang="en-US" altLang="zh-TW" sz="48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TW" sz="5400" dirty="0" smtClean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US" altLang="zh-TW" sz="4800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TW" sz="5400" dirty="0">
                <a:solidFill>
                  <a:schemeClr val="bg1">
                    <a:lumMod val="65000"/>
                  </a:schemeClr>
                </a:solidFill>
              </a:rPr>
              <a:t>default parameters:</a:t>
            </a:r>
          </a:p>
          <a:p>
            <a:pPr marL="1550988" indent="-1550988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4300" dirty="0"/>
              <a:t>- </a:t>
            </a:r>
            <a:r>
              <a:rPr lang="en-US" altLang="zh-TW" sz="4300" b="1" dirty="0">
                <a:solidFill>
                  <a:srgbClr val="FF149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</a:t>
            </a:r>
            <a:r>
              <a:rPr lang="en-US" altLang="zh-TW" sz="4300" dirty="0"/>
              <a:t>:	By default, this is a newline.</a:t>
            </a:r>
          </a:p>
          <a:p>
            <a:pPr marL="1550988" indent="-15509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4300" dirty="0"/>
              <a:t>- </a:t>
            </a:r>
            <a:r>
              <a:rPr lang="en-US" altLang="zh-TW" sz="4300" b="1" dirty="0" err="1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sep</a:t>
            </a:r>
            <a:r>
              <a:rPr lang="en-US" altLang="zh-TW" sz="4300" dirty="0">
                <a:solidFill>
                  <a:schemeClr val="bg1">
                    <a:lumMod val="75000"/>
                  </a:schemeClr>
                </a:solidFill>
              </a:rPr>
              <a:t>:	By default, this is a space.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 = [1, 2, 3, 4]</a:t>
            </a:r>
            <a:endParaRPr lang="en-US" altLang="zh-TW" sz="36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en-US" altLang="zh-TW" sz="3600" b="1" dirty="0">
                <a:solidFill>
                  <a:srgbClr val="F98700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zh-TW" sz="3600" dirty="0">
                <a:latin typeface="Lucida Console" panose="020B0609040504020204" pitchFamily="49" charset="0"/>
              </a:rPr>
              <a:t>'a='</a:t>
            </a:r>
            <a:r>
              <a:rPr lang="en-US" altLang="zh-TW" sz="3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zh-TW" altLang="zh-TW" sz="3600" dirty="0">
                <a:latin typeface="Lucida Console" panose="020B0609040504020204" pitchFamily="49" charset="0"/>
              </a:rPr>
              <a:t>a</a:t>
            </a:r>
            <a:r>
              <a:rPr lang="en-US" altLang="zh-TW" sz="3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3600" dirty="0">
                <a:latin typeface="Lucida Console" panose="020B0609040504020204" pitchFamily="49" charset="0"/>
              </a:rPr>
              <a:t>'.'</a:t>
            </a:r>
            <a:r>
              <a:rPr lang="en-US" altLang="zh-TW" sz="3600" b="1" dirty="0">
                <a:solidFill>
                  <a:srgbClr val="F987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a=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[1, 2, 3, 4]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for x in range(len(a)):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sz="3600" dirty="0">
                <a:latin typeface="Lucida Console" panose="020B0609040504020204" pitchFamily="49" charset="0"/>
              </a:rPr>
              <a:t>	  </a:t>
            </a:r>
            <a:r>
              <a:rPr lang="en-US" altLang="zh-TW" sz="3600" dirty="0" smtClean="0">
                <a:latin typeface="Lucida Console" panose="020B0609040504020204" pitchFamily="49" charset="0"/>
              </a:rPr>
              <a:t> </a:t>
            </a:r>
            <a:r>
              <a:rPr lang="en-US" altLang="zh-TW" sz="2400" dirty="0" smtClean="0">
                <a:latin typeface="Lucida Console" panose="020B0609040504020204" pitchFamily="49" charset="0"/>
              </a:rPr>
              <a:t> </a:t>
            </a:r>
            <a:r>
              <a:rPr lang="zh-TW" altLang="zh-TW" sz="3600" b="1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print</a:t>
            </a:r>
            <a:r>
              <a:rPr lang="en-US" altLang="zh-TW" sz="3600" b="1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(</a:t>
            </a:r>
            <a:r>
              <a:rPr lang="zh-TW" altLang="zh-TW" sz="3600" dirty="0">
                <a:latin typeface="Lucida Console" panose="020B0609040504020204" pitchFamily="49" charset="0"/>
              </a:rPr>
              <a:t>a[x]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en-US" altLang="zh-TW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end</a:t>
            </a:r>
            <a:r>
              <a:rPr lang="en-US" altLang="zh-TW" sz="3600" dirty="0">
                <a:latin typeface="Lucida Console" panose="020B0609040504020204" pitchFamily="49" charset="0"/>
              </a:rPr>
              <a:t> = ", "</a:t>
            </a:r>
            <a:r>
              <a:rPr lang="en-US" altLang="zh-TW" sz="3600" b="1" dirty="0">
                <a:solidFill>
                  <a:srgbClr val="F98700"/>
                </a:solidFill>
                <a:latin typeface="Lucida Console" panose="020B0609040504020204" pitchFamily="49" charset="0"/>
              </a:rPr>
              <a:t>)</a:t>
            </a:r>
            <a:endParaRPr lang="zh-TW" altLang="zh-TW" sz="3600" b="1" dirty="0">
              <a:solidFill>
                <a:srgbClr val="F98700"/>
              </a:solidFill>
              <a:latin typeface="Lucida Console" panose="020B06090405040202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>
              <a:spcBef>
                <a:spcPts val="0"/>
              </a:spcBef>
              <a:buNone/>
            </a:pP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1</a:t>
            </a:r>
            <a:r>
              <a:rPr lang="zh-TW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2</a:t>
            </a:r>
            <a:r>
              <a:rPr lang="zh-TW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3</a:t>
            </a:r>
            <a:r>
              <a:rPr lang="zh-TW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4</a:t>
            </a:r>
            <a:r>
              <a:rPr lang="zh-TW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</p:txBody>
      </p:sp>
      <p:sp>
        <p:nvSpPr>
          <p:cNvPr id="9" name="Rounded Rectangular Callout 8"/>
          <p:cNvSpPr/>
          <p:nvPr/>
        </p:nvSpPr>
        <p:spPr>
          <a:xfrm>
            <a:off x="5179979" y="2504660"/>
            <a:ext cx="2105403" cy="828259"/>
          </a:xfrm>
          <a:prstGeom prst="wedgeRoundRectCallout">
            <a:avLst>
              <a:gd name="adj1" fmla="val -68350"/>
              <a:gd name="adj2" fmla="val 12665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TW" sz="4400" dirty="0" smtClean="0">
                <a:solidFill>
                  <a:schemeClr val="tx1"/>
                </a:solidFill>
              </a:rPr>
              <a:t>3 here.</a:t>
            </a:r>
            <a:endParaRPr lang="zh-TW" altLang="en-US" sz="4400" dirty="0">
              <a:solidFill>
                <a:schemeClr val="tx1"/>
              </a:solidFill>
            </a:endParaRPr>
          </a:p>
        </p:txBody>
      </p:sp>
      <p:sp>
        <p:nvSpPr>
          <p:cNvPr id="8" name="Rounded Rectangular Callout 7"/>
          <p:cNvSpPr/>
          <p:nvPr/>
        </p:nvSpPr>
        <p:spPr>
          <a:xfrm>
            <a:off x="5158408" y="0"/>
            <a:ext cx="4274828" cy="2514600"/>
          </a:xfrm>
          <a:prstGeom prst="wedgeRoundRectCallout">
            <a:avLst>
              <a:gd name="adj1" fmla="val -24270"/>
              <a:gd name="adj2" fmla="val 49798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85000"/>
              </a:lnSpc>
            </a:pPr>
            <a:r>
              <a:rPr lang="en-US" altLang="zh-TW" sz="4400" dirty="0">
                <a:solidFill>
                  <a:schemeClr val="tx1"/>
                </a:solidFill>
              </a:rPr>
              <a:t>See? </a:t>
            </a:r>
            <a:r>
              <a:rPr lang="en-US" altLang="zh-TW" sz="4400" b="1" dirty="0" smtClean="0">
                <a:solidFill>
                  <a:srgbClr val="FFC000"/>
                </a:solidFill>
              </a:rPr>
              <a:t>print</a:t>
            </a:r>
            <a:r>
              <a:rPr lang="en-US" altLang="zh-TW" sz="4400" b="1" dirty="0">
                <a:solidFill>
                  <a:srgbClr val="FFC000"/>
                </a:solidFill>
              </a:rPr>
              <a:t>() </a:t>
            </a:r>
            <a:r>
              <a:rPr lang="en-US" altLang="zh-TW" sz="4400" dirty="0">
                <a:solidFill>
                  <a:schemeClr val="tx1"/>
                </a:solidFill>
              </a:rPr>
              <a:t>can </a:t>
            </a:r>
            <a:r>
              <a:rPr lang="en-US" altLang="zh-TW" sz="4400" dirty="0" smtClean="0">
                <a:solidFill>
                  <a:schemeClr val="tx1"/>
                </a:solidFill>
              </a:rPr>
              <a:t/>
            </a:r>
            <a:br>
              <a:rPr lang="en-US" altLang="zh-TW" sz="4400" dirty="0" smtClean="0">
                <a:solidFill>
                  <a:schemeClr val="tx1"/>
                </a:solidFill>
              </a:rPr>
            </a:br>
            <a:r>
              <a:rPr lang="en-US" altLang="zh-TW" sz="4400" dirty="0" smtClean="0">
                <a:solidFill>
                  <a:schemeClr val="tx1"/>
                </a:solidFill>
              </a:rPr>
              <a:t>take </a:t>
            </a:r>
            <a:r>
              <a:rPr lang="en-US" altLang="zh-TW" sz="4400" dirty="0">
                <a:solidFill>
                  <a:schemeClr val="tx1"/>
                </a:solidFill>
              </a:rPr>
              <a:t>a variable number of arguments</a:t>
            </a:r>
            <a:r>
              <a:rPr lang="en-US" altLang="zh-TW" sz="4400" dirty="0" smtClean="0">
                <a:solidFill>
                  <a:schemeClr val="tx1"/>
                </a:solidFill>
              </a:rPr>
              <a:t>.</a:t>
            </a:r>
            <a:endParaRPr lang="zh-TW" altLang="en-US" sz="4400" dirty="0">
              <a:solidFill>
                <a:schemeClr val="tx1"/>
              </a:solidFill>
            </a:endParaRPr>
          </a:p>
        </p:txBody>
      </p:sp>
      <p:sp>
        <p:nvSpPr>
          <p:cNvPr id="10" name="Rounded Rectangular Callout 9"/>
          <p:cNvSpPr/>
          <p:nvPr/>
        </p:nvSpPr>
        <p:spPr>
          <a:xfrm>
            <a:off x="7340085" y="2527851"/>
            <a:ext cx="2105403" cy="828259"/>
          </a:xfrm>
          <a:prstGeom prst="wedgeRoundRectCallout">
            <a:avLst>
              <a:gd name="adj1" fmla="val -108962"/>
              <a:gd name="adj2" fmla="val 29462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TW" sz="4400" dirty="0" smtClean="0">
                <a:solidFill>
                  <a:schemeClr val="tx1"/>
                </a:solidFill>
              </a:rPr>
              <a:t>2 here.</a:t>
            </a:r>
            <a:endParaRPr lang="zh-TW" altLang="en-US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986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40167" y="1087878"/>
            <a:ext cx="9489621" cy="58463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rgbClr val="F98700"/>
                </a:solidFill>
              </a:rPr>
              <a:t>print</a:t>
            </a:r>
            <a:r>
              <a:rPr lang="en-US" altLang="zh-TW" sz="5400" b="1" dirty="0">
                <a:solidFill>
                  <a:srgbClr val="F98700"/>
                </a:solidFill>
                <a:latin typeface="Agency FB" panose="020B0503020202020204" pitchFamily="34" charset="0"/>
              </a:rPr>
              <a:t>()</a:t>
            </a:r>
            <a:r>
              <a:rPr lang="en-US" altLang="zh-TW" sz="5400" dirty="0"/>
              <a:t> </a:t>
            </a:r>
            <a:r>
              <a:rPr lang="en-US" altLang="zh-TW" sz="5400" dirty="0">
                <a:solidFill>
                  <a:schemeClr val="bg1">
                    <a:lumMod val="65000"/>
                  </a:schemeClr>
                </a:solidFill>
              </a:rPr>
              <a:t>has</a:t>
            </a:r>
            <a:r>
              <a:rPr lang="en-US" altLang="zh-TW" sz="48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TW" sz="5400" dirty="0" smtClean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US" altLang="zh-TW" sz="4800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TW" sz="5400" dirty="0">
                <a:solidFill>
                  <a:schemeClr val="bg1">
                    <a:lumMod val="65000"/>
                  </a:schemeClr>
                </a:solidFill>
              </a:rPr>
              <a:t>default parameters:</a:t>
            </a:r>
          </a:p>
          <a:p>
            <a:pPr marL="1550988" indent="-1550988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4300" dirty="0"/>
              <a:t>- </a:t>
            </a:r>
            <a:r>
              <a:rPr lang="en-US" altLang="zh-TW" sz="4300" b="1" dirty="0">
                <a:solidFill>
                  <a:srgbClr val="FF149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</a:t>
            </a:r>
            <a:r>
              <a:rPr lang="en-US" altLang="zh-TW" sz="4300" dirty="0"/>
              <a:t>:	By default, this is a newline.</a:t>
            </a:r>
          </a:p>
          <a:p>
            <a:pPr marL="1550988" indent="-15509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4300" dirty="0"/>
              <a:t>- </a:t>
            </a:r>
            <a:r>
              <a:rPr lang="en-US" altLang="zh-TW" sz="4300" b="1" dirty="0" err="1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sep</a:t>
            </a:r>
            <a:r>
              <a:rPr lang="en-US" altLang="zh-TW" sz="4300" dirty="0">
                <a:solidFill>
                  <a:schemeClr val="bg1">
                    <a:lumMod val="75000"/>
                  </a:schemeClr>
                </a:solidFill>
              </a:rPr>
              <a:t>:	By default, this is a space.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 = [1, 2, 3, 4]</a:t>
            </a:r>
            <a:endParaRPr lang="en-US" altLang="zh-TW" sz="36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en-US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'a=',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,'.'</a:t>
            </a:r>
            <a:r>
              <a:rPr lang="en-US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a=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[1, 2, 3, 4]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for x in range(len(a)):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sz="3600" dirty="0">
                <a:latin typeface="Lucida Console" panose="020B0609040504020204" pitchFamily="49" charset="0"/>
              </a:rPr>
              <a:t>	 </a:t>
            </a:r>
            <a:r>
              <a:rPr lang="en-US" altLang="zh-TW" sz="3600" dirty="0" smtClean="0">
                <a:latin typeface="Lucida Console" panose="020B0609040504020204" pitchFamily="49" charset="0"/>
              </a:rPr>
              <a:t>  </a:t>
            </a:r>
            <a:r>
              <a:rPr lang="en-US" altLang="zh-TW" sz="2400" dirty="0" smtClean="0">
                <a:latin typeface="Lucida Console" panose="020B0609040504020204" pitchFamily="49" charset="0"/>
              </a:rPr>
              <a:t> </a:t>
            </a:r>
            <a:r>
              <a:rPr lang="zh-TW" altLang="zh-TW" sz="3600" b="1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print</a:t>
            </a:r>
            <a:r>
              <a:rPr lang="en-US" altLang="zh-TW" sz="3600" b="1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(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a[x]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en-US" altLang="zh-TW" sz="3600" b="1" dirty="0">
                <a:solidFill>
                  <a:srgbClr val="FF149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end</a:t>
            </a:r>
            <a:r>
              <a:rPr lang="en-US" altLang="zh-TW" sz="3600" dirty="0">
                <a:solidFill>
                  <a:srgbClr val="FF149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 =</a:t>
            </a:r>
            <a:r>
              <a:rPr lang="en-US" altLang="zh-TW" sz="3600" dirty="0">
                <a:latin typeface="Lucida Console" panose="020B0609040504020204" pitchFamily="49" charset="0"/>
              </a:rPr>
              <a:t> ", "</a:t>
            </a:r>
            <a:r>
              <a:rPr lang="en-US" altLang="zh-TW" sz="3600" b="1" dirty="0">
                <a:solidFill>
                  <a:srgbClr val="F98700"/>
                </a:solidFill>
                <a:latin typeface="Lucida Console" panose="020B0609040504020204" pitchFamily="49" charset="0"/>
              </a:rPr>
              <a:t>)</a:t>
            </a:r>
            <a:endParaRPr lang="zh-TW" altLang="zh-TW" sz="3600" b="1" dirty="0">
              <a:solidFill>
                <a:srgbClr val="F98700"/>
              </a:solidFill>
              <a:latin typeface="Lucida Console" panose="020B06090405040202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>
              <a:spcBef>
                <a:spcPts val="0"/>
              </a:spcBef>
              <a:buNone/>
            </a:pP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1</a:t>
            </a:r>
            <a:r>
              <a:rPr lang="zh-TW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2</a:t>
            </a:r>
            <a:r>
              <a:rPr lang="zh-TW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3</a:t>
            </a:r>
            <a:r>
              <a:rPr lang="zh-TW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4</a:t>
            </a:r>
            <a:r>
              <a:rPr lang="zh-TW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6"/>
            <a:ext cx="9729788" cy="135466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sz="4300" spc="-200" dirty="0">
                <a:solidFill>
                  <a:srgbClr val="0070C0"/>
                </a:solidFill>
              </a:rPr>
              <a:t>T</a:t>
            </a:r>
            <a:r>
              <a:rPr lang="en-US" altLang="zh-TW" sz="4300" spc="-50" dirty="0">
                <a:solidFill>
                  <a:srgbClr val="0070C0"/>
                </a:solidFill>
              </a:rPr>
              <a:t>o</a:t>
            </a:r>
            <a:r>
              <a:rPr lang="en-US" altLang="zh-TW" sz="4300" spc="-100" dirty="0">
                <a:solidFill>
                  <a:srgbClr val="0070C0"/>
                </a:solidFill>
              </a:rPr>
              <a:t>o</a:t>
            </a:r>
            <a:r>
              <a:rPr lang="en-US" altLang="zh-TW" sz="4000" spc="-100" dirty="0">
                <a:solidFill>
                  <a:srgbClr val="0070C0"/>
                </a:solidFill>
              </a:rPr>
              <a:t> </a:t>
            </a:r>
            <a:r>
              <a:rPr lang="en-US" altLang="zh-TW" sz="4300" spc="-100" dirty="0">
                <a:solidFill>
                  <a:srgbClr val="0070C0"/>
                </a:solidFill>
              </a:rPr>
              <a:t>abstrac</a:t>
            </a:r>
            <a:r>
              <a:rPr lang="en-US" altLang="zh-TW" sz="4300" spc="-300" dirty="0">
                <a:solidFill>
                  <a:srgbClr val="0070C0"/>
                </a:solidFill>
              </a:rPr>
              <a:t>t</a:t>
            </a:r>
            <a:r>
              <a:rPr lang="en-US" altLang="zh-TW" spc="-1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?</a:t>
            </a:r>
            <a:r>
              <a:rPr lang="en-US" altLang="zh-TW" spc="-100" dirty="0">
                <a:solidFill>
                  <a:srgbClr val="0070C0"/>
                </a:solidFill>
              </a:rPr>
              <a:t> T</a:t>
            </a:r>
            <a:r>
              <a:rPr lang="en-US" altLang="zh-TW" spc="-200" dirty="0">
                <a:solidFill>
                  <a:srgbClr val="0070C0"/>
                </a:solidFill>
              </a:rPr>
              <a:t>he</a:t>
            </a:r>
            <a:r>
              <a:rPr lang="en-US" altLang="zh-TW" spc="-100" dirty="0">
                <a:solidFill>
                  <a:srgbClr val="0070C0"/>
                </a:solidFill>
              </a:rPr>
              <a:t>n</a:t>
            </a:r>
            <a:r>
              <a:rPr lang="en-US" altLang="zh-TW" sz="4000" spc="-100" dirty="0">
                <a:solidFill>
                  <a:srgbClr val="0070C0"/>
                </a:solidFill>
              </a:rPr>
              <a:t> </a:t>
            </a:r>
            <a:r>
              <a:rPr lang="en-US" altLang="zh-TW" dirty="0">
                <a:solidFill>
                  <a:srgbClr val="0070C0"/>
                </a:solidFill>
              </a:rPr>
              <a:t>c</a:t>
            </a:r>
            <a:r>
              <a:rPr lang="en-US" altLang="zh-TW" spc="-150" dirty="0">
                <a:solidFill>
                  <a:srgbClr val="0070C0"/>
                </a:solidFill>
              </a:rPr>
              <a:t>o</a:t>
            </a:r>
            <a:r>
              <a:rPr lang="en-US" altLang="zh-TW" spc="-100" dirty="0">
                <a:solidFill>
                  <a:srgbClr val="0070C0"/>
                </a:solidFill>
              </a:rPr>
              <a:t>n</a:t>
            </a:r>
            <a:r>
              <a:rPr lang="en-US" altLang="zh-TW" spc="-150" dirty="0">
                <a:solidFill>
                  <a:srgbClr val="0070C0"/>
                </a:solidFill>
              </a:rPr>
              <a:t>sider </a:t>
            </a:r>
            <a:r>
              <a:rPr lang="en-US" altLang="zh-TW" dirty="0">
                <a:solidFill>
                  <a:srgbClr val="0070C0"/>
                </a:solidFill>
              </a:rPr>
              <a:t>pr</a:t>
            </a:r>
            <a:r>
              <a:rPr lang="en-US" altLang="zh-TW" spc="-100" dirty="0">
                <a:solidFill>
                  <a:srgbClr val="0070C0"/>
                </a:solidFill>
              </a:rPr>
              <a:t>in</a:t>
            </a:r>
            <a:r>
              <a:rPr lang="en-US" altLang="zh-TW" spc="-300" dirty="0">
                <a:solidFill>
                  <a:srgbClr val="0070C0"/>
                </a:solidFill>
              </a:rPr>
              <a:t>t</a:t>
            </a:r>
            <a:r>
              <a:rPr lang="en-US" altLang="zh-TW" sz="1800" spc="-300" dirty="0">
                <a:solidFill>
                  <a:srgbClr val="0070C0"/>
                </a:solidFill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Agency FB" panose="020B0503020202020204" pitchFamily="34" charset="0"/>
                <a:ea typeface="LiSu" panose="020105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TW" sz="1100" dirty="0">
                <a:solidFill>
                  <a:srgbClr val="0070C0"/>
                </a:solidFill>
                <a:latin typeface="Bernard MT Condensed" panose="02050806060905020404" pitchFamily="18" charset="0"/>
                <a:ea typeface="LiSu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Agency FB" panose="020B0503020202020204" pitchFamily="34" charset="0"/>
                <a:ea typeface="LiSu" panose="02010509060101010101" pitchFamily="49" charset="-122"/>
                <a:cs typeface="Times New Roman" panose="02020603050405020304" pitchFamily="18" charset="0"/>
              </a:rPr>
              <a:t>)</a:t>
            </a:r>
            <a:endParaRPr lang="zh-TW" altLang="en-US" b="1" dirty="0">
              <a:solidFill>
                <a:srgbClr val="0070C0"/>
              </a:solidFill>
              <a:latin typeface="Agency FB" panose="020B0503020202020204" pitchFamily="34" charset="0"/>
              <a:ea typeface="LiSu" panose="020105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4865688" y="2472385"/>
            <a:ext cx="4564683" cy="2925487"/>
            <a:chOff x="4865688" y="2472385"/>
            <a:chExt cx="4564683" cy="2925487"/>
          </a:xfrm>
        </p:grpSpPr>
        <p:sp>
          <p:nvSpPr>
            <p:cNvPr id="14" name="Isosceles Triangle 13"/>
            <p:cNvSpPr/>
            <p:nvPr/>
          </p:nvSpPr>
          <p:spPr>
            <a:xfrm rot="12523596">
              <a:off x="6037192" y="3117671"/>
              <a:ext cx="573136" cy="2280201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5" name="Rounded Rectangular Callout 14"/>
            <p:cNvSpPr/>
            <p:nvPr/>
          </p:nvSpPr>
          <p:spPr>
            <a:xfrm>
              <a:off x="4865688" y="2472385"/>
              <a:ext cx="4564683" cy="1332700"/>
            </a:xfrm>
            <a:prstGeom prst="wedgeRoundRectCallout">
              <a:avLst>
                <a:gd name="adj1" fmla="val -122737"/>
                <a:gd name="adj2" fmla="val -61009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en-US" altLang="zh-TW" sz="3600" dirty="0">
                  <a:solidFill>
                    <a:schemeClr val="tx1"/>
                  </a:solidFill>
                </a:rPr>
                <a:t>See? One of its default arguments is “end”.</a:t>
              </a:r>
              <a:endParaRPr lang="zh-TW" altLang="en-US" sz="3600" dirty="0">
                <a:solidFill>
                  <a:schemeClr val="tx1"/>
                </a:solidFill>
              </a:endParaRPr>
            </a:p>
          </p:txBody>
        </p:sp>
        <p:sp>
          <p:nvSpPr>
            <p:cNvPr id="16" name="Isosceles Triangle 15"/>
            <p:cNvSpPr/>
            <p:nvPr/>
          </p:nvSpPr>
          <p:spPr>
            <a:xfrm flipV="1">
              <a:off x="6451742" y="3698174"/>
              <a:ext cx="551399" cy="503516"/>
            </a:xfrm>
            <a:prstGeom prst="triangle">
              <a:avLst>
                <a:gd name="adj" fmla="val 0"/>
              </a:avLst>
            </a:prstGeom>
            <a:ln>
              <a:solidFill>
                <a:srgbClr val="5B9B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34851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40167" y="1087878"/>
            <a:ext cx="9489621" cy="58463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rgbClr val="F98700"/>
                </a:solidFill>
              </a:rPr>
              <a:t>print</a:t>
            </a:r>
            <a:r>
              <a:rPr lang="en-US" altLang="zh-TW" sz="5400" b="1" dirty="0">
                <a:solidFill>
                  <a:srgbClr val="F98700"/>
                </a:solidFill>
                <a:latin typeface="Agency FB" panose="020B0503020202020204" pitchFamily="34" charset="0"/>
              </a:rPr>
              <a:t>()</a:t>
            </a:r>
            <a:r>
              <a:rPr lang="en-US" altLang="zh-TW" sz="5400" dirty="0"/>
              <a:t> </a:t>
            </a:r>
            <a:r>
              <a:rPr lang="en-US" altLang="zh-TW" sz="5400" dirty="0">
                <a:solidFill>
                  <a:schemeClr val="bg1">
                    <a:lumMod val="65000"/>
                  </a:schemeClr>
                </a:solidFill>
              </a:rPr>
              <a:t>has</a:t>
            </a:r>
            <a:r>
              <a:rPr lang="en-US" altLang="zh-TW" sz="48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TW" sz="5400" dirty="0" smtClean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US" altLang="zh-TW" sz="4800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TW" sz="5400" dirty="0">
                <a:solidFill>
                  <a:schemeClr val="bg1">
                    <a:lumMod val="65000"/>
                  </a:schemeClr>
                </a:solidFill>
              </a:rPr>
              <a:t>default parameters:</a:t>
            </a:r>
          </a:p>
          <a:p>
            <a:pPr marL="1550988" indent="-1550988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4300" dirty="0"/>
              <a:t>- </a:t>
            </a:r>
            <a:r>
              <a:rPr lang="en-US" altLang="zh-TW" sz="4300" b="1" dirty="0">
                <a:solidFill>
                  <a:srgbClr val="FF149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</a:t>
            </a:r>
            <a:r>
              <a:rPr lang="en-US" altLang="zh-TW" sz="4300" dirty="0"/>
              <a:t>:	By default, this is a newline.</a:t>
            </a:r>
          </a:p>
          <a:p>
            <a:pPr marL="1550988" indent="-15509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4300" dirty="0"/>
              <a:t>- </a:t>
            </a:r>
            <a:r>
              <a:rPr lang="en-US" altLang="zh-TW" sz="4300" b="1" dirty="0" err="1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sep</a:t>
            </a:r>
            <a:r>
              <a:rPr lang="en-US" altLang="zh-TW" sz="4300" dirty="0">
                <a:solidFill>
                  <a:schemeClr val="bg1">
                    <a:lumMod val="75000"/>
                  </a:schemeClr>
                </a:solidFill>
              </a:rPr>
              <a:t>:	By default, this is a space.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 = [1, 2, 3, 4]</a:t>
            </a:r>
            <a:endParaRPr lang="en-US" altLang="zh-TW" sz="36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en-US" altLang="zh-TW" sz="3600" b="1" dirty="0">
                <a:solidFill>
                  <a:srgbClr val="F98700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zh-TW" sz="3600" dirty="0">
                <a:solidFill>
                  <a:srgbClr val="FF1493"/>
                </a:solidFill>
                <a:latin typeface="Lucida Console" panose="020B0609040504020204" pitchFamily="49" charset="0"/>
              </a:rPr>
              <a:t>'a=',</a:t>
            </a:r>
            <a:r>
              <a:rPr lang="zh-TW" altLang="zh-TW" sz="3600" dirty="0">
                <a:solidFill>
                  <a:srgbClr val="FF1493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3600" dirty="0">
                <a:solidFill>
                  <a:srgbClr val="FF1493"/>
                </a:solidFill>
                <a:latin typeface="Lucida Console" panose="020B0609040504020204" pitchFamily="49" charset="0"/>
              </a:rPr>
              <a:t>,'.'</a:t>
            </a:r>
            <a:r>
              <a:rPr lang="en-US" altLang="zh-TW" sz="3600" b="1" dirty="0">
                <a:solidFill>
                  <a:srgbClr val="F987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a=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[1, 2, 3, 4]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for x in range(len(a)):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sz="3600" dirty="0">
                <a:latin typeface="Lucida Console" panose="020B0609040504020204" pitchFamily="49" charset="0"/>
              </a:rPr>
              <a:t>	  </a:t>
            </a:r>
            <a:r>
              <a:rPr lang="en-US" altLang="zh-TW" sz="3600" dirty="0" smtClean="0">
                <a:latin typeface="Lucida Console" panose="020B0609040504020204" pitchFamily="49" charset="0"/>
              </a:rPr>
              <a:t> </a:t>
            </a:r>
            <a:r>
              <a:rPr lang="en-US" altLang="zh-TW" sz="2400" dirty="0" smtClean="0">
                <a:latin typeface="Lucida Console" panose="020B0609040504020204" pitchFamily="49" charset="0"/>
              </a:rPr>
              <a:t> </a:t>
            </a:r>
            <a:r>
              <a:rPr lang="zh-TW" altLang="zh-TW" sz="3600" b="1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print</a:t>
            </a:r>
            <a:r>
              <a:rPr lang="en-US" altLang="zh-TW" sz="3600" b="1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(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a[x]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3600" b="1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end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 =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", "</a:t>
            </a:r>
            <a:r>
              <a:rPr lang="en-US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)</a:t>
            </a:r>
            <a:endParaRPr lang="zh-TW" altLang="zh-TW" sz="3600" b="1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>
              <a:spcBef>
                <a:spcPts val="0"/>
              </a:spcBef>
              <a:buNone/>
            </a:pP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1</a:t>
            </a:r>
            <a:r>
              <a:rPr lang="zh-TW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2</a:t>
            </a:r>
            <a:r>
              <a:rPr lang="zh-TW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3</a:t>
            </a:r>
            <a:r>
              <a:rPr lang="zh-TW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4</a:t>
            </a:r>
            <a:r>
              <a:rPr lang="zh-TW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6"/>
            <a:ext cx="9729788" cy="135466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sz="4300" spc="-200" dirty="0">
                <a:solidFill>
                  <a:srgbClr val="0070C0"/>
                </a:solidFill>
              </a:rPr>
              <a:t>T</a:t>
            </a:r>
            <a:r>
              <a:rPr lang="en-US" altLang="zh-TW" sz="4300" spc="-50" dirty="0">
                <a:solidFill>
                  <a:srgbClr val="0070C0"/>
                </a:solidFill>
              </a:rPr>
              <a:t>o</a:t>
            </a:r>
            <a:r>
              <a:rPr lang="en-US" altLang="zh-TW" sz="4300" spc="-100" dirty="0">
                <a:solidFill>
                  <a:srgbClr val="0070C0"/>
                </a:solidFill>
              </a:rPr>
              <a:t>o</a:t>
            </a:r>
            <a:r>
              <a:rPr lang="en-US" altLang="zh-TW" sz="4000" spc="-100" dirty="0">
                <a:solidFill>
                  <a:srgbClr val="0070C0"/>
                </a:solidFill>
              </a:rPr>
              <a:t> </a:t>
            </a:r>
            <a:r>
              <a:rPr lang="en-US" altLang="zh-TW" sz="4300" spc="-100" dirty="0">
                <a:solidFill>
                  <a:srgbClr val="0070C0"/>
                </a:solidFill>
              </a:rPr>
              <a:t>abstrac</a:t>
            </a:r>
            <a:r>
              <a:rPr lang="en-US" altLang="zh-TW" sz="4300" spc="-300" dirty="0">
                <a:solidFill>
                  <a:srgbClr val="0070C0"/>
                </a:solidFill>
              </a:rPr>
              <a:t>t</a:t>
            </a:r>
            <a:r>
              <a:rPr lang="en-US" altLang="zh-TW" spc="-1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?</a:t>
            </a:r>
            <a:r>
              <a:rPr lang="en-US" altLang="zh-TW" spc="-100" dirty="0">
                <a:solidFill>
                  <a:srgbClr val="0070C0"/>
                </a:solidFill>
              </a:rPr>
              <a:t> T</a:t>
            </a:r>
            <a:r>
              <a:rPr lang="en-US" altLang="zh-TW" spc="-200" dirty="0">
                <a:solidFill>
                  <a:srgbClr val="0070C0"/>
                </a:solidFill>
              </a:rPr>
              <a:t>he</a:t>
            </a:r>
            <a:r>
              <a:rPr lang="en-US" altLang="zh-TW" spc="-100" dirty="0">
                <a:solidFill>
                  <a:srgbClr val="0070C0"/>
                </a:solidFill>
              </a:rPr>
              <a:t>n</a:t>
            </a:r>
            <a:r>
              <a:rPr lang="en-US" altLang="zh-TW" sz="4000" spc="-100" dirty="0">
                <a:solidFill>
                  <a:srgbClr val="0070C0"/>
                </a:solidFill>
              </a:rPr>
              <a:t> </a:t>
            </a:r>
            <a:r>
              <a:rPr lang="en-US" altLang="zh-TW" dirty="0">
                <a:solidFill>
                  <a:srgbClr val="0070C0"/>
                </a:solidFill>
              </a:rPr>
              <a:t>c</a:t>
            </a:r>
            <a:r>
              <a:rPr lang="en-US" altLang="zh-TW" spc="-150" dirty="0">
                <a:solidFill>
                  <a:srgbClr val="0070C0"/>
                </a:solidFill>
              </a:rPr>
              <a:t>o</a:t>
            </a:r>
            <a:r>
              <a:rPr lang="en-US" altLang="zh-TW" spc="-100" dirty="0">
                <a:solidFill>
                  <a:srgbClr val="0070C0"/>
                </a:solidFill>
              </a:rPr>
              <a:t>n</a:t>
            </a:r>
            <a:r>
              <a:rPr lang="en-US" altLang="zh-TW" spc="-150" dirty="0">
                <a:solidFill>
                  <a:srgbClr val="0070C0"/>
                </a:solidFill>
              </a:rPr>
              <a:t>sider </a:t>
            </a:r>
            <a:r>
              <a:rPr lang="en-US" altLang="zh-TW" dirty="0">
                <a:solidFill>
                  <a:srgbClr val="0070C0"/>
                </a:solidFill>
              </a:rPr>
              <a:t>pr</a:t>
            </a:r>
            <a:r>
              <a:rPr lang="en-US" altLang="zh-TW" spc="-100" dirty="0">
                <a:solidFill>
                  <a:srgbClr val="0070C0"/>
                </a:solidFill>
              </a:rPr>
              <a:t>in</a:t>
            </a:r>
            <a:r>
              <a:rPr lang="en-US" altLang="zh-TW" spc="-300" dirty="0">
                <a:solidFill>
                  <a:srgbClr val="0070C0"/>
                </a:solidFill>
              </a:rPr>
              <a:t>t</a:t>
            </a:r>
            <a:r>
              <a:rPr lang="en-US" altLang="zh-TW" sz="1800" spc="-300" dirty="0">
                <a:solidFill>
                  <a:srgbClr val="0070C0"/>
                </a:solidFill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Agency FB" panose="020B0503020202020204" pitchFamily="34" charset="0"/>
                <a:ea typeface="LiSu" panose="020105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TW" sz="1100" dirty="0">
                <a:solidFill>
                  <a:srgbClr val="0070C0"/>
                </a:solidFill>
                <a:latin typeface="Bernard MT Condensed" panose="02050806060905020404" pitchFamily="18" charset="0"/>
                <a:ea typeface="LiSu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Agency FB" panose="020B0503020202020204" pitchFamily="34" charset="0"/>
                <a:ea typeface="LiSu" panose="02010509060101010101" pitchFamily="49" charset="-122"/>
                <a:cs typeface="Times New Roman" panose="02020603050405020304" pitchFamily="18" charset="0"/>
              </a:rPr>
              <a:t>)</a:t>
            </a:r>
            <a:endParaRPr lang="zh-TW" altLang="en-US" b="1" dirty="0">
              <a:solidFill>
                <a:srgbClr val="0070C0"/>
              </a:solidFill>
              <a:latin typeface="Agency FB" panose="020B0503020202020204" pitchFamily="34" charset="0"/>
              <a:ea typeface="LiSu" panose="020105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4865688" y="2472385"/>
            <a:ext cx="4564683" cy="2925487"/>
            <a:chOff x="4865688" y="2472385"/>
            <a:chExt cx="4564683" cy="2925487"/>
          </a:xfrm>
        </p:grpSpPr>
        <p:sp>
          <p:nvSpPr>
            <p:cNvPr id="9" name="Isosceles Triangle 8"/>
            <p:cNvSpPr/>
            <p:nvPr/>
          </p:nvSpPr>
          <p:spPr>
            <a:xfrm rot="12523596">
              <a:off x="6037192" y="3117671"/>
              <a:ext cx="573136" cy="2280201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0" name="Rounded Rectangular Callout 9"/>
            <p:cNvSpPr/>
            <p:nvPr/>
          </p:nvSpPr>
          <p:spPr>
            <a:xfrm>
              <a:off x="4865688" y="2472385"/>
              <a:ext cx="4564683" cy="1332700"/>
            </a:xfrm>
            <a:prstGeom prst="wedgeRoundRectCallout">
              <a:avLst>
                <a:gd name="adj1" fmla="val -122737"/>
                <a:gd name="adj2" fmla="val -61009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en-US" altLang="zh-TW" sz="3600" dirty="0">
                  <a:solidFill>
                    <a:schemeClr val="tx1"/>
                  </a:solidFill>
                </a:rPr>
                <a:t>See? One of its default arguments is “end”.</a:t>
              </a:r>
              <a:endParaRPr lang="zh-TW" altLang="en-US" sz="3600" dirty="0">
                <a:solidFill>
                  <a:schemeClr val="tx1"/>
                </a:solidFill>
              </a:endParaRPr>
            </a:p>
          </p:txBody>
        </p:sp>
        <p:sp>
          <p:nvSpPr>
            <p:cNvPr id="13" name="Isosceles Triangle 12"/>
            <p:cNvSpPr/>
            <p:nvPr/>
          </p:nvSpPr>
          <p:spPr>
            <a:xfrm flipV="1">
              <a:off x="6451742" y="3698174"/>
              <a:ext cx="551399" cy="503516"/>
            </a:xfrm>
            <a:prstGeom prst="triangle">
              <a:avLst>
                <a:gd name="adj" fmla="val 0"/>
              </a:avLst>
            </a:prstGeom>
            <a:ln>
              <a:solidFill>
                <a:srgbClr val="5B9B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ounded Rectangular Callout 14"/>
          <p:cNvSpPr/>
          <p:nvPr/>
        </p:nvSpPr>
        <p:spPr>
          <a:xfrm>
            <a:off x="252371" y="4838700"/>
            <a:ext cx="4370429" cy="1993788"/>
          </a:xfrm>
          <a:prstGeom prst="wedgeRoundRectCallout">
            <a:avLst>
              <a:gd name="adj1" fmla="val 74327"/>
              <a:gd name="adj2" fmla="val -85376"/>
              <a:gd name="adj3" fmla="val 16667"/>
            </a:avLst>
          </a:prstGeom>
          <a:solidFill>
            <a:srgbClr val="FF99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88000"/>
              </a:lnSpc>
            </a:pPr>
            <a:r>
              <a:rPr lang="en-US" altLang="zh-TW" sz="3600" spc="-100" dirty="0" smtClean="0">
                <a:solidFill>
                  <a:schemeClr val="tx1"/>
                </a:solidFill>
              </a:rPr>
              <a:t>and</a:t>
            </a:r>
            <a:r>
              <a:rPr lang="en-US" altLang="zh-TW" sz="3200" spc="-100" dirty="0" smtClean="0">
                <a:solidFill>
                  <a:schemeClr val="tx1"/>
                </a:solidFill>
              </a:rPr>
              <a:t> </a:t>
            </a:r>
            <a:r>
              <a:rPr lang="en-US" altLang="zh-TW" sz="3600" spc="-100" dirty="0" smtClean="0">
                <a:solidFill>
                  <a:schemeClr val="tx1"/>
                </a:solidFill>
              </a:rPr>
              <a:t>the</a:t>
            </a:r>
            <a:r>
              <a:rPr lang="en-US" altLang="zh-TW" sz="3200" spc="-100" dirty="0" smtClean="0">
                <a:solidFill>
                  <a:schemeClr val="tx1"/>
                </a:solidFill>
              </a:rPr>
              <a:t> </a:t>
            </a:r>
            <a:r>
              <a:rPr lang="en-US" altLang="zh-TW" sz="3600" spc="-100" dirty="0" smtClean="0">
                <a:solidFill>
                  <a:schemeClr val="tx1"/>
                </a:solidFill>
              </a:rPr>
              <a:t>value</a:t>
            </a:r>
            <a:r>
              <a:rPr lang="en-US" altLang="zh-TW" sz="3200" spc="-100" dirty="0" smtClean="0">
                <a:solidFill>
                  <a:schemeClr val="tx1"/>
                </a:solidFill>
              </a:rPr>
              <a:t> </a:t>
            </a:r>
            <a:r>
              <a:rPr lang="en-US" altLang="zh-TW" sz="3600" spc="-100" dirty="0" smtClean="0">
                <a:solidFill>
                  <a:schemeClr val="tx1"/>
                </a:solidFill>
              </a:rPr>
              <a:t>must</a:t>
            </a:r>
            <a:r>
              <a:rPr lang="en-US" altLang="zh-TW" sz="3200" spc="-100" dirty="0" smtClean="0">
                <a:solidFill>
                  <a:schemeClr val="tx1"/>
                </a:solidFill>
              </a:rPr>
              <a:t> </a:t>
            </a:r>
            <a:r>
              <a:rPr lang="en-US" altLang="zh-TW" sz="3600" spc="-100" dirty="0" smtClean="0">
                <a:solidFill>
                  <a:schemeClr val="tx1"/>
                </a:solidFill>
              </a:rPr>
              <a:t>have</a:t>
            </a:r>
          </a:p>
          <a:p>
            <a:pPr algn="ctr">
              <a:lnSpc>
                <a:spcPct val="88000"/>
              </a:lnSpc>
            </a:pPr>
            <a:r>
              <a:rPr lang="en-US" altLang="zh-TW" sz="3600" dirty="0" smtClean="0">
                <a:solidFill>
                  <a:schemeClr val="tx1"/>
                </a:solidFill>
              </a:rPr>
              <a:t> a default, because it</a:t>
            </a:r>
          </a:p>
          <a:p>
            <a:pPr algn="ctr">
              <a:lnSpc>
                <a:spcPct val="88000"/>
              </a:lnSpc>
            </a:pPr>
            <a:r>
              <a:rPr lang="en-US" altLang="zh-TW" sz="3600" dirty="0" smtClean="0">
                <a:solidFill>
                  <a:schemeClr val="tx1"/>
                </a:solidFill>
              </a:rPr>
              <a:t> </a:t>
            </a:r>
            <a:r>
              <a:rPr lang="en-US" altLang="zh-TW" sz="3600" dirty="0">
                <a:solidFill>
                  <a:schemeClr val="tx1"/>
                </a:solidFill>
              </a:rPr>
              <a:t>didn’t complain </a:t>
            </a:r>
            <a:r>
              <a:rPr lang="en-US" altLang="zh-TW" sz="3600" dirty="0" smtClean="0">
                <a:solidFill>
                  <a:schemeClr val="tx1"/>
                </a:solidFill>
              </a:rPr>
              <a:t>when</a:t>
            </a:r>
          </a:p>
          <a:p>
            <a:pPr algn="ctr">
              <a:lnSpc>
                <a:spcPct val="88000"/>
              </a:lnSpc>
            </a:pPr>
            <a:r>
              <a:rPr lang="en-US" altLang="zh-TW" sz="3600" dirty="0" smtClean="0">
                <a:solidFill>
                  <a:schemeClr val="tx1"/>
                </a:solidFill>
              </a:rPr>
              <a:t>I </a:t>
            </a:r>
            <a:r>
              <a:rPr lang="en-US" altLang="zh-TW" sz="3600" dirty="0">
                <a:solidFill>
                  <a:schemeClr val="tx1"/>
                </a:solidFill>
              </a:rPr>
              <a:t>didn’t give it one.</a:t>
            </a:r>
            <a:endParaRPr lang="zh-TW" alt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241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40167" y="1087878"/>
            <a:ext cx="9489621" cy="58463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rgbClr val="F98700"/>
                </a:solidFill>
              </a:rPr>
              <a:t>print</a:t>
            </a:r>
            <a:r>
              <a:rPr lang="en-US" altLang="zh-TW" sz="5400" b="1" dirty="0">
                <a:solidFill>
                  <a:srgbClr val="F98700"/>
                </a:solidFill>
                <a:latin typeface="Agency FB" panose="020B0503020202020204" pitchFamily="34" charset="0"/>
              </a:rPr>
              <a:t>()</a:t>
            </a:r>
            <a:r>
              <a:rPr lang="en-US" altLang="zh-TW" sz="5400" dirty="0"/>
              <a:t> </a:t>
            </a:r>
            <a:r>
              <a:rPr lang="en-US" altLang="zh-TW" sz="5400" dirty="0">
                <a:solidFill>
                  <a:schemeClr val="bg1">
                    <a:lumMod val="65000"/>
                  </a:schemeClr>
                </a:solidFill>
              </a:rPr>
              <a:t>has</a:t>
            </a:r>
            <a:r>
              <a:rPr lang="en-US" altLang="zh-TW" sz="48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TW" sz="5400" dirty="0" smtClean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US" altLang="zh-TW" sz="4800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TW" sz="5400" dirty="0">
                <a:solidFill>
                  <a:schemeClr val="bg1">
                    <a:lumMod val="65000"/>
                  </a:schemeClr>
                </a:solidFill>
              </a:rPr>
              <a:t>default parameters:</a:t>
            </a:r>
          </a:p>
          <a:p>
            <a:pPr marL="1550988" indent="-1550988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4300" dirty="0"/>
              <a:t>- </a:t>
            </a:r>
            <a:r>
              <a:rPr lang="en-US" altLang="zh-TW" sz="4300" b="1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</a:t>
            </a:r>
            <a:r>
              <a:rPr lang="en-US" altLang="zh-TW" sz="4300" dirty="0">
                <a:solidFill>
                  <a:schemeClr val="bg1">
                    <a:lumMod val="65000"/>
                  </a:schemeClr>
                </a:solidFill>
              </a:rPr>
              <a:t>:	By default, this is a newline.</a:t>
            </a:r>
          </a:p>
          <a:p>
            <a:pPr marL="1550988" indent="-15509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4300" dirty="0"/>
              <a:t>- </a:t>
            </a:r>
            <a:r>
              <a:rPr lang="en-US" altLang="zh-TW" sz="4300" b="1" dirty="0" err="1">
                <a:solidFill>
                  <a:srgbClr val="FF149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sep</a:t>
            </a:r>
            <a:r>
              <a:rPr lang="en-US" altLang="zh-TW" sz="4300" dirty="0">
                <a:solidFill>
                  <a:srgbClr val="FF1493"/>
                </a:solidFill>
              </a:rPr>
              <a:t>:</a:t>
            </a:r>
            <a:r>
              <a:rPr lang="en-US" altLang="zh-TW" sz="4300" dirty="0"/>
              <a:t>	By default, this is a space.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en-US" altLang="zh-TW" sz="3600" b="1" dirty="0">
                <a:solidFill>
                  <a:srgbClr val="F98700"/>
                </a:solidFill>
                <a:latin typeface="Lucida Console" panose="020B0609040504020204" pitchFamily="49" charset="0"/>
              </a:rPr>
              <a:t>print</a:t>
            </a:r>
            <a:r>
              <a:rPr lang="en-US" altLang="zh-TW" sz="3600" dirty="0">
                <a:latin typeface="Lucida Console" panose="020B0609040504020204" pitchFamily="49" charset="0"/>
              </a:rPr>
              <a:t>(0,1,2,3)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zh-TW" altLang="zh-TW" sz="3600" dirty="0">
                <a:latin typeface="Lucida Console" panose="020B0609040504020204" pitchFamily="49" charset="0"/>
              </a:rPr>
              <a:t>1 2 3 4</a:t>
            </a:r>
            <a:endParaRPr lang="en-US" altLang="zh-TW" sz="36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en-US" altLang="zh-TW" sz="3600" b="1" dirty="0">
                <a:solidFill>
                  <a:srgbClr val="F98700"/>
                </a:solidFill>
                <a:latin typeface="Lucida Console" panose="020B0609040504020204" pitchFamily="49" charset="0"/>
              </a:rPr>
              <a:t>print</a:t>
            </a:r>
            <a:r>
              <a:rPr lang="en-US" altLang="zh-TW" sz="3600" dirty="0">
                <a:latin typeface="Lucida Console" panose="020B0609040504020204" pitchFamily="49" charset="0"/>
              </a:rPr>
              <a:t>(0,1,2,3,</a:t>
            </a:r>
            <a:r>
              <a:rPr lang="en-US" altLang="zh-TW" sz="3600" b="1" dirty="0">
                <a:solidFill>
                  <a:srgbClr val="FF149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sep</a:t>
            </a:r>
            <a:r>
              <a:rPr lang="en-US" altLang="zh-TW" sz="3600" dirty="0">
                <a:solidFill>
                  <a:srgbClr val="FF1493"/>
                </a:solidFill>
                <a:latin typeface="Lucida Console" panose="020B0609040504020204" pitchFamily="49" charset="0"/>
              </a:rPr>
              <a:t>=', '</a:t>
            </a:r>
            <a:r>
              <a:rPr lang="en-US" altLang="zh-TW" sz="3600" dirty="0">
                <a:latin typeface="Lucida Console" panose="020B0609040504020204" pitchFamily="49" charset="0"/>
              </a:rPr>
              <a:t>)</a:t>
            </a:r>
          </a:p>
          <a:p>
            <a:pPr>
              <a:lnSpc>
                <a:spcPct val="95000"/>
              </a:lnSpc>
              <a:spcBef>
                <a:spcPts val="0"/>
              </a:spcBef>
              <a:buNone/>
            </a:pPr>
            <a:r>
              <a:rPr lang="zh-TW" altLang="zh-TW" sz="3600" dirty="0">
                <a:latin typeface="Lucida Console" panose="020B0609040504020204" pitchFamily="49" charset="0"/>
              </a:rPr>
              <a:t>1</a:t>
            </a:r>
            <a:r>
              <a:rPr lang="en-US" altLang="zh-TW" sz="3600" dirty="0">
                <a:solidFill>
                  <a:srgbClr val="FF1493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zh-TW" altLang="zh-TW" sz="3600" dirty="0">
                <a:latin typeface="Lucida Console" panose="020B0609040504020204" pitchFamily="49" charset="0"/>
              </a:rPr>
              <a:t>2</a:t>
            </a:r>
            <a:r>
              <a:rPr lang="en-US" altLang="zh-TW" sz="3600" dirty="0">
                <a:solidFill>
                  <a:srgbClr val="FF1493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zh-TW" altLang="zh-TW" sz="3600" dirty="0">
                <a:latin typeface="Lucida Console" panose="020B0609040504020204" pitchFamily="49" charset="0"/>
              </a:rPr>
              <a:t>3</a:t>
            </a:r>
            <a:r>
              <a:rPr lang="en-US" altLang="zh-TW" sz="3600" dirty="0">
                <a:solidFill>
                  <a:srgbClr val="FF1493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3600" dirty="0">
                <a:latin typeface="Lucida Console" panose="020B0609040504020204" pitchFamily="49" charset="0"/>
              </a:rPr>
              <a:t> </a:t>
            </a:r>
            <a:r>
              <a:rPr lang="zh-TW" altLang="zh-TW" sz="3600" dirty="0">
                <a:latin typeface="Lucida Console" panose="020B0609040504020204" pitchFamily="49" charset="0"/>
              </a:rPr>
              <a:t>4</a:t>
            </a:r>
            <a:endParaRPr lang="en-US" altLang="zh-TW" sz="3600" dirty="0">
              <a:latin typeface="Lucida Console" panose="020B0609040504020204" pitchFamily="49" charset="0"/>
            </a:endParaRPr>
          </a:p>
          <a:p>
            <a:pPr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360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altLang="zh-TW" sz="30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6"/>
            <a:ext cx="9729788" cy="135466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sz="4300" spc="-200" dirty="0">
                <a:solidFill>
                  <a:srgbClr val="0070C0"/>
                </a:solidFill>
              </a:rPr>
              <a:t>T</a:t>
            </a:r>
            <a:r>
              <a:rPr lang="en-US" altLang="zh-TW" sz="4300" spc="-50" dirty="0">
                <a:solidFill>
                  <a:srgbClr val="0070C0"/>
                </a:solidFill>
              </a:rPr>
              <a:t>o</a:t>
            </a:r>
            <a:r>
              <a:rPr lang="en-US" altLang="zh-TW" sz="4300" spc="-100" dirty="0">
                <a:solidFill>
                  <a:srgbClr val="0070C0"/>
                </a:solidFill>
              </a:rPr>
              <a:t>o</a:t>
            </a:r>
            <a:r>
              <a:rPr lang="en-US" altLang="zh-TW" sz="4000" spc="-100" dirty="0">
                <a:solidFill>
                  <a:srgbClr val="0070C0"/>
                </a:solidFill>
              </a:rPr>
              <a:t> </a:t>
            </a:r>
            <a:r>
              <a:rPr lang="en-US" altLang="zh-TW" sz="4300" spc="-100" dirty="0">
                <a:solidFill>
                  <a:srgbClr val="0070C0"/>
                </a:solidFill>
              </a:rPr>
              <a:t>abstrac</a:t>
            </a:r>
            <a:r>
              <a:rPr lang="en-US" altLang="zh-TW" sz="4300" spc="-300" dirty="0">
                <a:solidFill>
                  <a:srgbClr val="0070C0"/>
                </a:solidFill>
              </a:rPr>
              <a:t>t</a:t>
            </a:r>
            <a:r>
              <a:rPr lang="en-US" altLang="zh-TW" spc="-1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?</a:t>
            </a:r>
            <a:r>
              <a:rPr lang="en-US" altLang="zh-TW" spc="-100" dirty="0">
                <a:solidFill>
                  <a:srgbClr val="0070C0"/>
                </a:solidFill>
              </a:rPr>
              <a:t> T</a:t>
            </a:r>
            <a:r>
              <a:rPr lang="en-US" altLang="zh-TW" spc="-200" dirty="0">
                <a:solidFill>
                  <a:srgbClr val="0070C0"/>
                </a:solidFill>
              </a:rPr>
              <a:t>he</a:t>
            </a:r>
            <a:r>
              <a:rPr lang="en-US" altLang="zh-TW" spc="-100" dirty="0">
                <a:solidFill>
                  <a:srgbClr val="0070C0"/>
                </a:solidFill>
              </a:rPr>
              <a:t>n</a:t>
            </a:r>
            <a:r>
              <a:rPr lang="en-US" altLang="zh-TW" sz="4000" spc="-100" dirty="0">
                <a:solidFill>
                  <a:srgbClr val="0070C0"/>
                </a:solidFill>
              </a:rPr>
              <a:t> </a:t>
            </a:r>
            <a:r>
              <a:rPr lang="en-US" altLang="zh-TW" dirty="0">
                <a:solidFill>
                  <a:srgbClr val="0070C0"/>
                </a:solidFill>
              </a:rPr>
              <a:t>c</a:t>
            </a:r>
            <a:r>
              <a:rPr lang="en-US" altLang="zh-TW" spc="-150" dirty="0">
                <a:solidFill>
                  <a:srgbClr val="0070C0"/>
                </a:solidFill>
              </a:rPr>
              <a:t>o</a:t>
            </a:r>
            <a:r>
              <a:rPr lang="en-US" altLang="zh-TW" spc="-100" dirty="0">
                <a:solidFill>
                  <a:srgbClr val="0070C0"/>
                </a:solidFill>
              </a:rPr>
              <a:t>n</a:t>
            </a:r>
            <a:r>
              <a:rPr lang="en-US" altLang="zh-TW" spc="-150" dirty="0">
                <a:solidFill>
                  <a:srgbClr val="0070C0"/>
                </a:solidFill>
              </a:rPr>
              <a:t>sider </a:t>
            </a:r>
            <a:r>
              <a:rPr lang="en-US" altLang="zh-TW" dirty="0">
                <a:solidFill>
                  <a:srgbClr val="0070C0"/>
                </a:solidFill>
              </a:rPr>
              <a:t>pr</a:t>
            </a:r>
            <a:r>
              <a:rPr lang="en-US" altLang="zh-TW" spc="-100" dirty="0">
                <a:solidFill>
                  <a:srgbClr val="0070C0"/>
                </a:solidFill>
              </a:rPr>
              <a:t>in</a:t>
            </a:r>
            <a:r>
              <a:rPr lang="en-US" altLang="zh-TW" spc="-300" dirty="0">
                <a:solidFill>
                  <a:srgbClr val="0070C0"/>
                </a:solidFill>
              </a:rPr>
              <a:t>t</a:t>
            </a:r>
            <a:r>
              <a:rPr lang="en-US" altLang="zh-TW" sz="1800" spc="-300" dirty="0">
                <a:solidFill>
                  <a:srgbClr val="0070C0"/>
                </a:solidFill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Agency FB" panose="020B0503020202020204" pitchFamily="34" charset="0"/>
                <a:ea typeface="LiSu" panose="020105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TW" sz="1100" dirty="0">
                <a:solidFill>
                  <a:srgbClr val="0070C0"/>
                </a:solidFill>
                <a:latin typeface="Bernard MT Condensed" panose="02050806060905020404" pitchFamily="18" charset="0"/>
                <a:ea typeface="LiSu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Agency FB" panose="020B0503020202020204" pitchFamily="34" charset="0"/>
                <a:ea typeface="LiSu" panose="02010509060101010101" pitchFamily="49" charset="-122"/>
                <a:cs typeface="Times New Roman" panose="02020603050405020304" pitchFamily="18" charset="0"/>
              </a:rPr>
              <a:t>)</a:t>
            </a:r>
            <a:endParaRPr lang="zh-TW" altLang="en-US" b="1" dirty="0">
              <a:solidFill>
                <a:srgbClr val="0070C0"/>
              </a:solidFill>
              <a:latin typeface="Agency FB" panose="020B0503020202020204" pitchFamily="34" charset="0"/>
              <a:ea typeface="LiSu" panose="020105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4979988" y="1151585"/>
            <a:ext cx="4564683" cy="3402333"/>
            <a:chOff x="4865688" y="2472385"/>
            <a:chExt cx="4564683" cy="3402333"/>
          </a:xfrm>
        </p:grpSpPr>
        <p:sp>
          <p:nvSpPr>
            <p:cNvPr id="9" name="Isosceles Triangle 8"/>
            <p:cNvSpPr/>
            <p:nvPr/>
          </p:nvSpPr>
          <p:spPr>
            <a:xfrm rot="12493908">
              <a:off x="5994730" y="2956685"/>
              <a:ext cx="523220" cy="2918033"/>
            </a:xfrm>
            <a:prstGeom prst="triangle">
              <a:avLst>
                <a:gd name="adj" fmla="val 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0" name="Rounded Rectangular Callout 9"/>
            <p:cNvSpPr/>
            <p:nvPr/>
          </p:nvSpPr>
          <p:spPr>
            <a:xfrm>
              <a:off x="4865688" y="2472385"/>
              <a:ext cx="4564683" cy="1332700"/>
            </a:xfrm>
            <a:prstGeom prst="wedgeRoundRectCallout">
              <a:avLst>
                <a:gd name="adj1" fmla="val -127521"/>
                <a:gd name="adj2" fmla="val 80400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en-US" altLang="zh-TW" sz="3600" dirty="0">
                  <a:solidFill>
                    <a:schemeClr val="tx1"/>
                  </a:solidFill>
                </a:rPr>
                <a:t>See? One of its default arguments is </a:t>
              </a:r>
              <a:r>
                <a:rPr lang="en-US" altLang="zh-TW" sz="3600" dirty="0" smtClean="0">
                  <a:solidFill>
                    <a:schemeClr val="tx1"/>
                  </a:solidFill>
                </a:rPr>
                <a:t>“</a:t>
              </a:r>
              <a:r>
                <a:rPr lang="en-US" altLang="zh-TW" sz="3600" dirty="0" err="1" smtClean="0">
                  <a:solidFill>
                    <a:schemeClr val="tx1"/>
                  </a:solidFill>
                </a:rPr>
                <a:t>sep</a:t>
              </a:r>
              <a:r>
                <a:rPr lang="en-US" altLang="zh-TW" sz="3600" dirty="0" smtClean="0">
                  <a:solidFill>
                    <a:schemeClr val="tx1"/>
                  </a:solidFill>
                </a:rPr>
                <a:t>”.</a:t>
              </a:r>
              <a:endParaRPr lang="zh-TW" altLang="en-US" sz="3600" dirty="0">
                <a:solidFill>
                  <a:schemeClr val="tx1"/>
                </a:solidFill>
              </a:endParaRPr>
            </a:p>
          </p:txBody>
        </p:sp>
        <p:sp>
          <p:nvSpPr>
            <p:cNvPr id="13" name="Isosceles Triangle 12"/>
            <p:cNvSpPr/>
            <p:nvPr/>
          </p:nvSpPr>
          <p:spPr>
            <a:xfrm flipV="1">
              <a:off x="6462569" y="3654481"/>
              <a:ext cx="570271" cy="503516"/>
            </a:xfrm>
            <a:prstGeom prst="triangle">
              <a:avLst>
                <a:gd name="adj" fmla="val 0"/>
              </a:avLst>
            </a:prstGeom>
            <a:ln>
              <a:solidFill>
                <a:srgbClr val="5B9B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8641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40167" y="1087878"/>
            <a:ext cx="9489621" cy="58463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rgbClr val="F98700"/>
                </a:solidFill>
              </a:rPr>
              <a:t>print</a:t>
            </a:r>
            <a:r>
              <a:rPr lang="en-US" altLang="zh-TW" sz="5400" b="1" dirty="0">
                <a:solidFill>
                  <a:srgbClr val="F98700"/>
                </a:solidFill>
                <a:latin typeface="Agency FB" panose="020B0503020202020204" pitchFamily="34" charset="0"/>
              </a:rPr>
              <a:t>()</a:t>
            </a:r>
            <a:r>
              <a:rPr lang="en-US" altLang="zh-TW" sz="5400" dirty="0"/>
              <a:t> </a:t>
            </a:r>
            <a:r>
              <a:rPr lang="en-US" altLang="zh-TW" sz="5400" dirty="0">
                <a:solidFill>
                  <a:schemeClr val="bg1">
                    <a:lumMod val="65000"/>
                  </a:schemeClr>
                </a:solidFill>
              </a:rPr>
              <a:t>has</a:t>
            </a:r>
            <a:r>
              <a:rPr lang="en-US" altLang="zh-TW" sz="48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TW" sz="5400" dirty="0" smtClean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US" altLang="zh-TW" sz="4800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TW" sz="5400" dirty="0">
                <a:solidFill>
                  <a:schemeClr val="bg1">
                    <a:lumMod val="65000"/>
                  </a:schemeClr>
                </a:solidFill>
              </a:rPr>
              <a:t>default parameters:</a:t>
            </a:r>
          </a:p>
          <a:p>
            <a:pPr marL="1550988" indent="-1550988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4300" dirty="0"/>
              <a:t>- </a:t>
            </a:r>
            <a:r>
              <a:rPr lang="en-US" altLang="zh-TW" sz="4300" b="1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</a:t>
            </a:r>
            <a:r>
              <a:rPr lang="en-US" altLang="zh-TW" sz="4300" dirty="0">
                <a:solidFill>
                  <a:schemeClr val="bg1">
                    <a:lumMod val="65000"/>
                  </a:schemeClr>
                </a:solidFill>
              </a:rPr>
              <a:t>:	By default, this is a newline.</a:t>
            </a:r>
          </a:p>
          <a:p>
            <a:pPr marL="1550988" indent="-15509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TW" sz="4300" dirty="0"/>
              <a:t>- </a:t>
            </a:r>
            <a:r>
              <a:rPr lang="en-US" altLang="zh-TW" sz="4300" b="1" dirty="0" err="1">
                <a:solidFill>
                  <a:srgbClr val="FF149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sep</a:t>
            </a:r>
            <a:r>
              <a:rPr lang="en-US" altLang="zh-TW" sz="4300" dirty="0">
                <a:solidFill>
                  <a:srgbClr val="FF1493"/>
                </a:solidFill>
              </a:rPr>
              <a:t>:</a:t>
            </a:r>
            <a:r>
              <a:rPr lang="en-US" altLang="zh-TW" sz="4300" dirty="0"/>
              <a:t>	By default, this is a space.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print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(0,1,2,3)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1 2 3 4</a:t>
            </a:r>
            <a:endParaRPr lang="en-US" altLang="zh-TW" sz="36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3600" b="1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print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(0,1,2,3,</a:t>
            </a:r>
            <a:r>
              <a:rPr lang="en-US" altLang="zh-TW" sz="3600" b="1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</a:rPr>
              <a:t>sep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=', ')</a:t>
            </a:r>
          </a:p>
          <a:p>
            <a:pPr>
              <a:lnSpc>
                <a:spcPct val="95000"/>
              </a:lnSpc>
              <a:spcBef>
                <a:spcPts val="0"/>
              </a:spcBef>
              <a:buNone/>
            </a:pP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3</a:t>
            </a: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, </a:t>
            </a:r>
            <a:r>
              <a:rPr lang="zh-TW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4</a:t>
            </a:r>
            <a:endParaRPr lang="en-US" altLang="zh-TW" sz="36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3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600" dirty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600" b="1" dirty="0">
                <a:solidFill>
                  <a:srgbClr val="F98700"/>
                </a:solidFill>
                <a:latin typeface="Lucida Console" panose="020B0609040504020204" pitchFamily="49" charset="0"/>
                <a:cs typeface="Courier New" pitchFamily="49" charset="0"/>
              </a:rPr>
              <a:t>print</a:t>
            </a:r>
            <a:r>
              <a:rPr lang="en-US" altLang="zh-TW" sz="3600" dirty="0">
                <a:latin typeface="Lucida Console" panose="020B0609040504020204" pitchFamily="49" charset="0"/>
                <a:cs typeface="Courier New" pitchFamily="49" charset="0"/>
              </a:rPr>
              <a:t>(</a:t>
            </a:r>
            <a:r>
              <a:rPr lang="en-US" altLang="zh-TW" sz="3600" b="1" dirty="0" err="1">
                <a:solidFill>
                  <a:srgbClr val="FF149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Console" panose="020B0609040504020204" pitchFamily="49" charset="0"/>
                <a:cs typeface="Courier New" pitchFamily="49" charset="0"/>
              </a:rPr>
              <a:t>sep</a:t>
            </a:r>
            <a:r>
              <a:rPr lang="en-US" altLang="zh-TW" sz="3600" dirty="0">
                <a:solidFill>
                  <a:srgbClr val="FF1493"/>
                </a:solidFill>
                <a:latin typeface="Lucida Console" panose="020B0609040504020204" pitchFamily="49" charset="0"/>
                <a:cs typeface="Courier New" pitchFamily="49" charset="0"/>
              </a:rPr>
              <a:t>=', '</a:t>
            </a:r>
            <a:r>
              <a:rPr lang="en-US" altLang="zh-TW" sz="3600" dirty="0">
                <a:latin typeface="Lucida Console" panose="020B0609040504020204" pitchFamily="49" charset="0"/>
                <a:cs typeface="Courier New" pitchFamily="49" charset="0"/>
              </a:rPr>
              <a:t>,0,1,2,3)</a:t>
            </a:r>
          </a:p>
          <a:p>
            <a:pPr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36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6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6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&gt;", line 1</a:t>
            </a:r>
          </a:p>
          <a:p>
            <a:pPr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600" spc="-17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Sy</a:t>
            </a:r>
            <a:r>
              <a:rPr lang="en-US" altLang="zh-TW" sz="3600" spc="-1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ntaxE</a:t>
            </a:r>
            <a:r>
              <a:rPr lang="en-US" altLang="zh-TW" sz="36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rr</a:t>
            </a:r>
            <a:r>
              <a:rPr lang="en-US" altLang="zh-TW" sz="3600" spc="-1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o</a:t>
            </a:r>
            <a:r>
              <a:rPr lang="en-US" altLang="zh-TW" sz="36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6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24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6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posit</a:t>
            </a:r>
            <a:r>
              <a:rPr lang="en-US" altLang="zh-TW" sz="36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ional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6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200" spc="-100" dirty="0" smtClean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6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fo</a:t>
            </a:r>
            <a:r>
              <a:rPr lang="en-US" altLang="zh-TW" sz="36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l</a:t>
            </a:r>
            <a:r>
              <a:rPr lang="en-US" altLang="zh-TW" sz="36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l</a:t>
            </a:r>
            <a:r>
              <a:rPr lang="en-US" altLang="zh-TW" sz="3600" spc="-17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o</a:t>
            </a:r>
            <a:r>
              <a:rPr lang="en-US" altLang="zh-TW" sz="3600" spc="-7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ws</a:t>
            </a:r>
            <a:r>
              <a:rPr lang="en-US" altLang="zh-TW" sz="3200" spc="-7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600" spc="-17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6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ywo</a:t>
            </a:r>
            <a:r>
              <a:rPr lang="en-US" altLang="zh-TW" sz="36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600" spc="-7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2800" spc="-7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6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argumen</a:t>
            </a:r>
            <a:r>
              <a:rPr lang="en-US" altLang="zh-TW" sz="36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</a:p>
          <a:p>
            <a:pPr>
              <a:lnSpc>
                <a:spcPct val="95000"/>
              </a:lnSpc>
              <a:spcBef>
                <a:spcPts val="0"/>
              </a:spcBef>
              <a:buNone/>
            </a:pPr>
            <a:endParaRPr lang="en-US" altLang="zh-TW" sz="30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6"/>
            <a:ext cx="9729788" cy="135466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sz="4300" spc="-200" dirty="0">
                <a:solidFill>
                  <a:srgbClr val="0070C0"/>
                </a:solidFill>
              </a:rPr>
              <a:t>T</a:t>
            </a:r>
            <a:r>
              <a:rPr lang="en-US" altLang="zh-TW" sz="4300" spc="-50" dirty="0">
                <a:solidFill>
                  <a:srgbClr val="0070C0"/>
                </a:solidFill>
              </a:rPr>
              <a:t>o</a:t>
            </a:r>
            <a:r>
              <a:rPr lang="en-US" altLang="zh-TW" sz="4300" spc="-100" dirty="0">
                <a:solidFill>
                  <a:srgbClr val="0070C0"/>
                </a:solidFill>
              </a:rPr>
              <a:t>o</a:t>
            </a:r>
            <a:r>
              <a:rPr lang="en-US" altLang="zh-TW" sz="4000" spc="-100" dirty="0">
                <a:solidFill>
                  <a:srgbClr val="0070C0"/>
                </a:solidFill>
              </a:rPr>
              <a:t> </a:t>
            </a:r>
            <a:r>
              <a:rPr lang="en-US" altLang="zh-TW" sz="4300" spc="-100" dirty="0">
                <a:solidFill>
                  <a:srgbClr val="0070C0"/>
                </a:solidFill>
              </a:rPr>
              <a:t>abstrac</a:t>
            </a:r>
            <a:r>
              <a:rPr lang="en-US" altLang="zh-TW" sz="4300" spc="-300" dirty="0">
                <a:solidFill>
                  <a:srgbClr val="0070C0"/>
                </a:solidFill>
              </a:rPr>
              <a:t>t</a:t>
            </a:r>
            <a:r>
              <a:rPr lang="en-US" altLang="zh-TW" spc="-1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?</a:t>
            </a:r>
            <a:r>
              <a:rPr lang="en-US" altLang="zh-TW" spc="-100" dirty="0">
                <a:solidFill>
                  <a:srgbClr val="0070C0"/>
                </a:solidFill>
              </a:rPr>
              <a:t> T</a:t>
            </a:r>
            <a:r>
              <a:rPr lang="en-US" altLang="zh-TW" spc="-200" dirty="0">
                <a:solidFill>
                  <a:srgbClr val="0070C0"/>
                </a:solidFill>
              </a:rPr>
              <a:t>he</a:t>
            </a:r>
            <a:r>
              <a:rPr lang="en-US" altLang="zh-TW" spc="-100" dirty="0">
                <a:solidFill>
                  <a:srgbClr val="0070C0"/>
                </a:solidFill>
              </a:rPr>
              <a:t>n</a:t>
            </a:r>
            <a:r>
              <a:rPr lang="en-US" altLang="zh-TW" sz="4000" spc="-100" dirty="0">
                <a:solidFill>
                  <a:srgbClr val="0070C0"/>
                </a:solidFill>
              </a:rPr>
              <a:t> </a:t>
            </a:r>
            <a:r>
              <a:rPr lang="en-US" altLang="zh-TW" dirty="0">
                <a:solidFill>
                  <a:srgbClr val="0070C0"/>
                </a:solidFill>
              </a:rPr>
              <a:t>c</a:t>
            </a:r>
            <a:r>
              <a:rPr lang="en-US" altLang="zh-TW" spc="-150" dirty="0">
                <a:solidFill>
                  <a:srgbClr val="0070C0"/>
                </a:solidFill>
              </a:rPr>
              <a:t>o</a:t>
            </a:r>
            <a:r>
              <a:rPr lang="en-US" altLang="zh-TW" spc="-100" dirty="0">
                <a:solidFill>
                  <a:srgbClr val="0070C0"/>
                </a:solidFill>
              </a:rPr>
              <a:t>n</a:t>
            </a:r>
            <a:r>
              <a:rPr lang="en-US" altLang="zh-TW" spc="-150" dirty="0">
                <a:solidFill>
                  <a:srgbClr val="0070C0"/>
                </a:solidFill>
              </a:rPr>
              <a:t>sider </a:t>
            </a:r>
            <a:r>
              <a:rPr lang="en-US" altLang="zh-TW" dirty="0">
                <a:solidFill>
                  <a:srgbClr val="0070C0"/>
                </a:solidFill>
              </a:rPr>
              <a:t>pr</a:t>
            </a:r>
            <a:r>
              <a:rPr lang="en-US" altLang="zh-TW" spc="-100" dirty="0">
                <a:solidFill>
                  <a:srgbClr val="0070C0"/>
                </a:solidFill>
              </a:rPr>
              <a:t>in</a:t>
            </a:r>
            <a:r>
              <a:rPr lang="en-US" altLang="zh-TW" spc="-300" dirty="0">
                <a:solidFill>
                  <a:srgbClr val="0070C0"/>
                </a:solidFill>
              </a:rPr>
              <a:t>t</a:t>
            </a:r>
            <a:r>
              <a:rPr lang="en-US" altLang="zh-TW" sz="1800" spc="-300" dirty="0">
                <a:solidFill>
                  <a:srgbClr val="0070C0"/>
                </a:solidFill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Agency FB" panose="020B0503020202020204" pitchFamily="34" charset="0"/>
                <a:ea typeface="LiSu" panose="020105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TW" sz="1100" dirty="0">
                <a:solidFill>
                  <a:srgbClr val="0070C0"/>
                </a:solidFill>
                <a:latin typeface="Bernard MT Condensed" panose="02050806060905020404" pitchFamily="18" charset="0"/>
                <a:ea typeface="LiSu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solidFill>
                  <a:srgbClr val="0070C0"/>
                </a:solidFill>
                <a:latin typeface="Agency FB" panose="020B0503020202020204" pitchFamily="34" charset="0"/>
                <a:ea typeface="LiSu" panose="02010509060101010101" pitchFamily="49" charset="-122"/>
                <a:cs typeface="Times New Roman" panose="02020603050405020304" pitchFamily="18" charset="0"/>
              </a:rPr>
              <a:t>)</a:t>
            </a:r>
            <a:endParaRPr lang="zh-TW" altLang="en-US" b="1" dirty="0">
              <a:solidFill>
                <a:srgbClr val="0070C0"/>
              </a:solidFill>
              <a:latin typeface="Agency FB" panose="020B0503020202020204" pitchFamily="34" charset="0"/>
              <a:ea typeface="LiSu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Rounded Rectangular Callout 13"/>
          <p:cNvSpPr/>
          <p:nvPr/>
        </p:nvSpPr>
        <p:spPr>
          <a:xfrm>
            <a:off x="2434442" y="1940921"/>
            <a:ext cx="4180114" cy="2251068"/>
          </a:xfrm>
          <a:prstGeom prst="wedgeRoundRectCallout">
            <a:avLst>
              <a:gd name="adj1" fmla="val -23916"/>
              <a:gd name="adj2" fmla="val 10731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zh-TW" sz="3600" dirty="0">
                <a:solidFill>
                  <a:schemeClr val="tx1"/>
                </a:solidFill>
              </a:rPr>
              <a:t>Lets see if </a:t>
            </a:r>
            <a:r>
              <a:rPr lang="en-US" altLang="zh-TW" sz="3600" dirty="0" smtClean="0">
                <a:solidFill>
                  <a:schemeClr val="tx1"/>
                </a:solidFill>
              </a:rPr>
              <a:t>a </a:t>
            </a:r>
            <a:r>
              <a:rPr lang="en-US" altLang="zh-TW" sz="3600" dirty="0">
                <a:solidFill>
                  <a:schemeClr val="tx1"/>
                </a:solidFill>
              </a:rPr>
              <a:t>default argument can go </a:t>
            </a:r>
            <a:r>
              <a:rPr lang="en-US" altLang="zh-TW" sz="3600" dirty="0" smtClean="0">
                <a:solidFill>
                  <a:schemeClr val="tx1"/>
                </a:solidFill>
              </a:rPr>
              <a:t>anywhere </a:t>
            </a:r>
            <a:r>
              <a:rPr lang="en-US" altLang="zh-TW" sz="3600" dirty="0">
                <a:solidFill>
                  <a:schemeClr val="tx1"/>
                </a:solidFill>
              </a:rPr>
              <a:t>other than the end.</a:t>
            </a:r>
            <a:endParaRPr lang="zh-TW" altLang="en-US" sz="3600" dirty="0">
              <a:solidFill>
                <a:schemeClr val="tx1"/>
              </a:solidFill>
            </a:endParaRPr>
          </a:p>
        </p:txBody>
      </p:sp>
      <p:sp>
        <p:nvSpPr>
          <p:cNvPr id="15" name="Rounded Rectangular Callout 14"/>
          <p:cNvSpPr/>
          <p:nvPr/>
        </p:nvSpPr>
        <p:spPr>
          <a:xfrm>
            <a:off x="6152270" y="4565958"/>
            <a:ext cx="3320891" cy="798276"/>
          </a:xfrm>
          <a:prstGeom prst="wedgeRoundRectCallout">
            <a:avLst>
              <a:gd name="adj1" fmla="val -60641"/>
              <a:gd name="adj2" fmla="val 17962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TW" sz="3600" dirty="0">
                <a:solidFill>
                  <a:schemeClr val="tx1"/>
                </a:solidFill>
              </a:rPr>
              <a:t>Nope. It can’t.</a:t>
            </a:r>
          </a:p>
        </p:txBody>
      </p:sp>
    </p:spTree>
    <p:extLst>
      <p:ext uri="{BB962C8B-B14F-4D97-AF65-F5344CB8AC3E}">
        <p14:creationId xmlns:p14="http://schemas.microsoft.com/office/powerpoint/2010/main" val="2882286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03200" y="1102102"/>
            <a:ext cx="9227672" cy="57177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It takes a variable-number of arguments.</a:t>
            </a:r>
          </a:p>
          <a:p>
            <a:pPr>
              <a:spcBef>
                <a:spcPts val="1200"/>
              </a:spcBef>
            </a:pPr>
            <a:r>
              <a:rPr lang="en-US" altLang="zh-TW" dirty="0"/>
              <a:t>It also has default parameters. 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And </a:t>
            </a:r>
            <a:r>
              <a:rPr lang="en-US" altLang="zh-TW" dirty="0"/>
              <a:t>these can only be set by name. </a:t>
            </a:r>
          </a:p>
          <a:p>
            <a:pPr lvl="1"/>
            <a:r>
              <a:rPr lang="en-US" altLang="zh-TW" dirty="0"/>
              <a:t>(Slide </a:t>
            </a:r>
            <a:r>
              <a:rPr lang="en-US" altLang="zh-TW" dirty="0" smtClean="0"/>
              <a:t>15 showed </a:t>
            </a:r>
            <a:r>
              <a:rPr lang="en-US" altLang="zh-TW" dirty="0"/>
              <a:t>it is different when there is no asterisked-variable. ‘</a:t>
            </a:r>
            <a:r>
              <a:rPr lang="en-US" altLang="zh-TW" dirty="0" err="1"/>
              <a:t>printinfo</a:t>
            </a:r>
            <a:r>
              <a:rPr lang="en-US" altLang="zh-TW" dirty="0"/>
              <a:t>("Sally",19)’ worked, even though age had a default</a:t>
            </a:r>
            <a:r>
              <a:rPr lang="en-US" altLang="zh-TW" dirty="0" smtClean="0"/>
              <a:t>.)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9729788" cy="11611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70C0"/>
                </a:solidFill>
              </a:rPr>
              <a:t>So,</a:t>
            </a:r>
            <a:r>
              <a:rPr lang="en-US" altLang="zh-TW" sz="2800" dirty="0">
                <a:solidFill>
                  <a:srgbClr val="0070C0"/>
                </a:solidFill>
              </a:rPr>
              <a:t> </a:t>
            </a:r>
            <a:r>
              <a:rPr lang="en-US" altLang="zh-TW" dirty="0">
                <a:solidFill>
                  <a:srgbClr val="0070C0"/>
                </a:solidFill>
              </a:rPr>
              <a:t>what did we learn from </a:t>
            </a:r>
            <a:r>
              <a:rPr lang="en-US" altLang="zh-TW" dirty="0" smtClean="0">
                <a:solidFill>
                  <a:srgbClr val="0070C0"/>
                </a:solidFill>
              </a:rPr>
              <a:t>prin</a:t>
            </a:r>
            <a:r>
              <a:rPr lang="en-US" altLang="zh-TW" spc="-900" dirty="0" smtClean="0">
                <a:solidFill>
                  <a:srgbClr val="0070C0"/>
                </a:solidFill>
              </a:rPr>
              <a:t>t</a:t>
            </a:r>
            <a:r>
              <a:rPr lang="en-US" altLang="zh-TW" sz="5400" dirty="0" smtClean="0">
                <a:solidFill>
                  <a:srgbClr val="0070C0"/>
                </a:solidFill>
                <a:latin typeface="Engravers MT" panose="02090707080505020304" pitchFamily="18" charset="0"/>
              </a:rPr>
              <a:t>?</a:t>
            </a:r>
            <a:endParaRPr lang="zh-TW" altLang="en-US" dirty="0">
              <a:solidFill>
                <a:srgbClr val="0070C0"/>
              </a:solidFill>
              <a:latin typeface="Engravers MT" panose="0209070708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3055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03199" y="1102102"/>
            <a:ext cx="9599315" cy="57177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rgbClr val="777777"/>
                </a:solidFill>
              </a:rPr>
              <a:t>It takes a variable-number of arguments.</a:t>
            </a:r>
          </a:p>
          <a:p>
            <a:pPr>
              <a:spcBef>
                <a:spcPts val="1200"/>
              </a:spcBef>
            </a:pPr>
            <a:r>
              <a:rPr lang="en-US" altLang="zh-TW" dirty="0">
                <a:solidFill>
                  <a:srgbClr val="777777"/>
                </a:solidFill>
              </a:rPr>
              <a:t>It also has default parameters. </a:t>
            </a:r>
            <a:r>
              <a:rPr lang="en-US" altLang="zh-TW" dirty="0" smtClean="0">
                <a:solidFill>
                  <a:srgbClr val="777777"/>
                </a:solidFill>
              </a:rPr>
              <a:t/>
            </a:r>
            <a:br>
              <a:rPr lang="en-US" altLang="zh-TW" dirty="0" smtClean="0">
                <a:solidFill>
                  <a:srgbClr val="777777"/>
                </a:solidFill>
              </a:rPr>
            </a:br>
            <a:r>
              <a:rPr lang="en-US" altLang="zh-TW" dirty="0" smtClean="0">
                <a:solidFill>
                  <a:srgbClr val="777777"/>
                </a:solidFill>
              </a:rPr>
              <a:t>And </a:t>
            </a:r>
            <a:r>
              <a:rPr lang="en-US" altLang="zh-TW" dirty="0">
                <a:solidFill>
                  <a:srgbClr val="777777"/>
                </a:solidFill>
              </a:rPr>
              <a:t>these can only be set by name. </a:t>
            </a:r>
          </a:p>
          <a:p>
            <a:pPr lvl="1"/>
            <a:r>
              <a:rPr lang="en-US" altLang="zh-TW" dirty="0">
                <a:solidFill>
                  <a:srgbClr val="777777"/>
                </a:solidFill>
              </a:rPr>
              <a:t>(Slide </a:t>
            </a:r>
            <a:r>
              <a:rPr lang="en-US" altLang="zh-TW" dirty="0" smtClean="0">
                <a:solidFill>
                  <a:srgbClr val="777777"/>
                </a:solidFill>
              </a:rPr>
              <a:t>15 </a:t>
            </a:r>
            <a:r>
              <a:rPr lang="en-US" altLang="zh-TW" dirty="0">
                <a:solidFill>
                  <a:srgbClr val="777777"/>
                </a:solidFill>
              </a:rPr>
              <a:t>showed </a:t>
            </a:r>
            <a:r>
              <a:rPr lang="en-US" altLang="zh-TW" dirty="0" smtClean="0">
                <a:solidFill>
                  <a:srgbClr val="777777"/>
                </a:solidFill>
              </a:rPr>
              <a:t>it </a:t>
            </a:r>
            <a:r>
              <a:rPr lang="en-US" altLang="zh-TW" dirty="0">
                <a:solidFill>
                  <a:srgbClr val="777777"/>
                </a:solidFill>
              </a:rPr>
              <a:t>is different when there is no asterisked-variable. ‘</a:t>
            </a:r>
            <a:r>
              <a:rPr lang="en-US" altLang="zh-TW" dirty="0" err="1">
                <a:solidFill>
                  <a:srgbClr val="777777"/>
                </a:solidFill>
              </a:rPr>
              <a:t>printinfo</a:t>
            </a:r>
            <a:r>
              <a:rPr lang="en-US" altLang="zh-TW" dirty="0">
                <a:solidFill>
                  <a:srgbClr val="777777"/>
                </a:solidFill>
              </a:rPr>
              <a:t>("Sally",19)’ worked, even though age had a default</a:t>
            </a:r>
            <a:r>
              <a:rPr lang="en-US" altLang="zh-TW" dirty="0" smtClean="0">
                <a:solidFill>
                  <a:srgbClr val="777777"/>
                </a:solidFill>
              </a:rPr>
              <a:t>.)</a:t>
            </a:r>
            <a:endParaRPr lang="en-US" altLang="zh-TW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9729788" cy="11611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70C0"/>
                </a:solidFill>
              </a:rPr>
              <a:t>So,</a:t>
            </a:r>
            <a:r>
              <a:rPr lang="en-US" altLang="zh-TW" sz="2800" dirty="0">
                <a:solidFill>
                  <a:srgbClr val="0070C0"/>
                </a:solidFill>
              </a:rPr>
              <a:t> </a:t>
            </a:r>
            <a:r>
              <a:rPr lang="en-US" altLang="zh-TW" dirty="0">
                <a:solidFill>
                  <a:srgbClr val="0070C0"/>
                </a:solidFill>
              </a:rPr>
              <a:t>what did we learn from </a:t>
            </a:r>
            <a:r>
              <a:rPr lang="en-US" altLang="zh-TW" dirty="0" smtClean="0">
                <a:solidFill>
                  <a:srgbClr val="0070C0"/>
                </a:solidFill>
              </a:rPr>
              <a:t>prin</a:t>
            </a:r>
            <a:r>
              <a:rPr lang="en-US" altLang="zh-TW" spc="-900" dirty="0" smtClean="0">
                <a:solidFill>
                  <a:srgbClr val="0070C0"/>
                </a:solidFill>
              </a:rPr>
              <a:t>t</a:t>
            </a:r>
            <a:r>
              <a:rPr lang="en-US" altLang="zh-TW" sz="5400" dirty="0" smtClean="0">
                <a:solidFill>
                  <a:srgbClr val="0070C0"/>
                </a:solidFill>
                <a:latin typeface="Engravers MT" panose="02090707080505020304" pitchFamily="18" charset="0"/>
              </a:rPr>
              <a:t>?</a:t>
            </a:r>
            <a:endParaRPr lang="zh-TW" altLang="en-US" dirty="0">
              <a:solidFill>
                <a:srgbClr val="0070C0"/>
              </a:solidFill>
              <a:latin typeface="Engravers MT" panose="02090707080505020304" pitchFamily="18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03199" y="4596494"/>
            <a:ext cx="9599315" cy="68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zh-TW" dirty="0" smtClean="0"/>
              <a:t>The default parameters must go at t</a:t>
            </a:r>
            <a:r>
              <a:rPr lang="en-US" altLang="zh-TW" spc="-50" dirty="0" smtClean="0"/>
              <a:t>he en</a:t>
            </a:r>
            <a:r>
              <a:rPr lang="en-US" altLang="zh-TW" spc="-100" dirty="0" smtClean="0"/>
              <a:t>d</a:t>
            </a:r>
            <a:r>
              <a:rPr lang="en-US" altLang="zh-TW" dirty="0" smtClean="0"/>
              <a:t>.</a:t>
            </a:r>
            <a:endParaRPr lang="en-US" altLang="zh-TW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03199" y="3053664"/>
            <a:ext cx="9599315" cy="68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zh-TW" dirty="0" smtClean="0">
                <a:solidFill>
                  <a:srgbClr val="777777"/>
                </a:solidFill>
              </a:rPr>
              <a:t>The default parameters must go at t</a:t>
            </a:r>
            <a:r>
              <a:rPr lang="en-US" altLang="zh-TW" spc="-50" dirty="0" smtClean="0">
                <a:solidFill>
                  <a:srgbClr val="777777"/>
                </a:solidFill>
              </a:rPr>
              <a:t>he en</a:t>
            </a:r>
            <a:r>
              <a:rPr lang="en-US" altLang="zh-TW" spc="-100" dirty="0" smtClean="0">
                <a:solidFill>
                  <a:srgbClr val="777777"/>
                </a:solidFill>
              </a:rPr>
              <a:t>d</a:t>
            </a:r>
            <a:r>
              <a:rPr lang="en-US" altLang="zh-TW" dirty="0" smtClean="0">
                <a:solidFill>
                  <a:srgbClr val="777777"/>
                </a:solidFill>
              </a:rPr>
              <a:t>.</a:t>
            </a:r>
            <a:endParaRPr lang="en-US" altLang="zh-TW" dirty="0">
              <a:solidFill>
                <a:srgbClr val="77777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5480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64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13477E-7 3.33333E-6 L -0.00049 -0.22454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" y="-112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5" grpId="1" build="allAtOnce"/>
      <p:bldP spid="6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03199" y="1102102"/>
            <a:ext cx="9599315" cy="57177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It takes a variable-number of arguments.</a:t>
            </a:r>
          </a:p>
          <a:p>
            <a:pPr>
              <a:spcBef>
                <a:spcPts val="1200"/>
              </a:spcBef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It also has default parameters. </a:t>
            </a:r>
            <a:r>
              <a:rPr lang="en-US" altLang="zh-TW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/>
            </a:r>
            <a:br>
              <a:rPr lang="en-US" altLang="zh-TW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altLang="zh-TW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And 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these can only be set by name. </a:t>
            </a:r>
          </a:p>
          <a:p>
            <a:pPr>
              <a:spcBef>
                <a:spcPts val="1200"/>
              </a:spcBef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default parameters must go at t</a:t>
            </a:r>
            <a:r>
              <a:rPr lang="en-US" altLang="zh-TW" spc="-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he en</a:t>
            </a:r>
            <a:r>
              <a:rPr lang="en-US" altLang="zh-TW" spc="-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pPr>
              <a:spcBef>
                <a:spcPts val="1200"/>
              </a:spcBef>
            </a:pPr>
            <a:r>
              <a:rPr lang="en-US" altLang="zh-TW" dirty="0"/>
              <a:t>Combining the above 3 observations, we can infer that the declaration of the print function looks something like this:</a:t>
            </a:r>
          </a:p>
          <a:p>
            <a:pPr marL="0" indent="0">
              <a:buNone/>
            </a:pPr>
            <a:r>
              <a:rPr lang="en-US" altLang="zh-TW" dirty="0"/>
              <a:t>  </a:t>
            </a:r>
            <a:r>
              <a:rPr lang="en-US" altLang="zh-TW" sz="3200" b="1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sz="3200" b="1" dirty="0">
                <a:solidFill>
                  <a:srgbClr val="F98700"/>
                </a:solidFill>
                <a:latin typeface="Lucida Console" panose="020B0609040504020204" pitchFamily="49" charset="0"/>
              </a:rPr>
              <a:t> print</a:t>
            </a:r>
            <a:r>
              <a:rPr lang="en-US" altLang="zh-TW" sz="3200" b="1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(*</a:t>
            </a:r>
            <a:r>
              <a:rPr lang="en-US" altLang="zh-TW" sz="3200" b="1" dirty="0" err="1" smtClean="0">
                <a:solidFill>
                  <a:srgbClr val="F98700"/>
                </a:solidFill>
                <a:latin typeface="Lucida Console" panose="020B0609040504020204" pitchFamily="49" charset="0"/>
              </a:rPr>
              <a:t>args,end</a:t>
            </a:r>
            <a:r>
              <a:rPr lang="en-US" altLang="zh-TW" sz="3200" b="1" dirty="0">
                <a:solidFill>
                  <a:srgbClr val="F9870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=</a:t>
            </a:r>
            <a:r>
              <a:rPr lang="en-US" altLang="zh-TW" sz="3200" b="1" dirty="0">
                <a:solidFill>
                  <a:srgbClr val="F98700"/>
                </a:solidFill>
                <a:latin typeface="Lucida Console" panose="020B0609040504020204" pitchFamily="49" charset="0"/>
              </a:rPr>
              <a:t>"\n</a:t>
            </a:r>
            <a:r>
              <a:rPr lang="en-US" altLang="zh-TW" sz="3200" b="1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",</a:t>
            </a:r>
            <a:r>
              <a:rPr lang="en-US" altLang="zh-TW" sz="3200" b="1" dirty="0" err="1" smtClean="0">
                <a:solidFill>
                  <a:srgbClr val="F98700"/>
                </a:solidFill>
                <a:latin typeface="Lucida Console" panose="020B0609040504020204" pitchFamily="49" charset="0"/>
              </a:rPr>
              <a:t>sep</a:t>
            </a:r>
            <a:r>
              <a:rPr lang="en-US" altLang="zh-TW" sz="3200" b="1" dirty="0">
                <a:solidFill>
                  <a:srgbClr val="F9870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=</a:t>
            </a:r>
            <a:r>
              <a:rPr lang="en-US" altLang="zh-TW" sz="3200" b="1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" "):</a:t>
            </a:r>
            <a:endParaRPr lang="en-US" altLang="zh-TW" sz="3200" b="1" dirty="0">
              <a:solidFill>
                <a:srgbClr val="F987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TW" sz="3200" b="1" dirty="0">
                <a:solidFill>
                  <a:srgbClr val="F98700"/>
                </a:solidFill>
                <a:latin typeface="Lucida Console" panose="020B0609040504020204" pitchFamily="49" charset="0"/>
              </a:rPr>
              <a:t>	...</a:t>
            </a:r>
            <a:endParaRPr lang="zh-TW" altLang="en-US" sz="3200" b="1" dirty="0">
              <a:solidFill>
                <a:srgbClr val="F987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9729788" cy="11611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70C0"/>
                </a:solidFill>
              </a:rPr>
              <a:t>So,</a:t>
            </a:r>
            <a:r>
              <a:rPr lang="en-US" altLang="zh-TW" sz="2800" dirty="0">
                <a:solidFill>
                  <a:srgbClr val="0070C0"/>
                </a:solidFill>
              </a:rPr>
              <a:t> </a:t>
            </a:r>
            <a:r>
              <a:rPr lang="en-US" altLang="zh-TW" dirty="0">
                <a:solidFill>
                  <a:srgbClr val="0070C0"/>
                </a:solidFill>
              </a:rPr>
              <a:t>what did we learn from </a:t>
            </a:r>
            <a:r>
              <a:rPr lang="en-US" altLang="zh-TW" dirty="0" smtClean="0">
                <a:solidFill>
                  <a:srgbClr val="0070C0"/>
                </a:solidFill>
              </a:rPr>
              <a:t>prin</a:t>
            </a:r>
            <a:r>
              <a:rPr lang="en-US" altLang="zh-TW" spc="-900" dirty="0" smtClean="0">
                <a:solidFill>
                  <a:srgbClr val="0070C0"/>
                </a:solidFill>
              </a:rPr>
              <a:t>t</a:t>
            </a:r>
            <a:r>
              <a:rPr lang="en-US" altLang="zh-TW" sz="5400" dirty="0" smtClean="0">
                <a:solidFill>
                  <a:srgbClr val="0070C0"/>
                </a:solidFill>
                <a:latin typeface="Engravers MT" panose="02090707080505020304" pitchFamily="18" charset="0"/>
              </a:rPr>
              <a:t>?</a:t>
            </a:r>
            <a:endParaRPr lang="zh-TW" altLang="en-US" dirty="0">
              <a:solidFill>
                <a:srgbClr val="0070C0"/>
              </a:solidFill>
              <a:latin typeface="Engravers MT" panose="02090707080505020304" pitchFamily="18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03199" y="3053664"/>
            <a:ext cx="9599315" cy="68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zh-TW" dirty="0" smtClean="0">
                <a:solidFill>
                  <a:srgbClr val="777777"/>
                </a:solidFill>
              </a:rPr>
              <a:t>The default parameters must go at t</a:t>
            </a:r>
            <a:r>
              <a:rPr lang="en-US" altLang="zh-TW" spc="-50" dirty="0" smtClean="0">
                <a:solidFill>
                  <a:srgbClr val="777777"/>
                </a:solidFill>
              </a:rPr>
              <a:t>he en</a:t>
            </a:r>
            <a:r>
              <a:rPr lang="en-US" altLang="zh-TW" spc="-100" dirty="0" smtClean="0">
                <a:solidFill>
                  <a:srgbClr val="777777"/>
                </a:solidFill>
              </a:rPr>
              <a:t>d</a:t>
            </a:r>
            <a:r>
              <a:rPr lang="en-US" altLang="zh-TW" dirty="0" smtClean="0">
                <a:solidFill>
                  <a:srgbClr val="777777"/>
                </a:solidFill>
              </a:rPr>
              <a:t>.</a:t>
            </a:r>
            <a:endParaRPr lang="en-US" altLang="zh-TW" dirty="0">
              <a:solidFill>
                <a:srgbClr val="77777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0813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03199" y="1102102"/>
            <a:ext cx="9599315" cy="57177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It takes a </a:t>
            </a:r>
            <a:r>
              <a:rPr lang="en-US" altLang="zh-TW" b="1" dirty="0">
                <a:solidFill>
                  <a:srgbClr val="7030A0"/>
                </a:solidFill>
              </a:rPr>
              <a:t>variable-number of arguments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pPr>
              <a:spcBef>
                <a:spcPts val="1200"/>
              </a:spcBef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It also has </a:t>
            </a:r>
            <a:r>
              <a:rPr lang="en-US" altLang="zh-TW" b="1" dirty="0">
                <a:solidFill>
                  <a:srgbClr val="FF0000"/>
                </a:solidFill>
              </a:rPr>
              <a:t>default parameters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</a:t>
            </a:r>
            <a:r>
              <a:rPr lang="en-US" altLang="zh-TW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/>
            </a:r>
            <a:br>
              <a:rPr lang="en-US" altLang="zh-TW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altLang="zh-TW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And 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these can only be set by name. </a:t>
            </a:r>
          </a:p>
          <a:p>
            <a:pPr>
              <a:spcBef>
                <a:spcPts val="1200"/>
              </a:spcBef>
            </a:pP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default parameters must go at t</a:t>
            </a:r>
            <a:r>
              <a:rPr lang="en-US" altLang="zh-TW" spc="-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he en</a:t>
            </a:r>
            <a:r>
              <a:rPr lang="en-US" altLang="zh-TW" spc="-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pPr>
              <a:spcBef>
                <a:spcPts val="1200"/>
              </a:spcBef>
            </a:pPr>
            <a:r>
              <a:rPr lang="en-US" altLang="zh-TW" dirty="0">
                <a:solidFill>
                  <a:srgbClr val="777777"/>
                </a:solidFill>
              </a:rPr>
              <a:t>Combining the above 3 observations, we can infer that the declaration of the print function looks something like this:</a:t>
            </a:r>
          </a:p>
          <a:p>
            <a:pPr marL="0" indent="0">
              <a:buNone/>
            </a:pPr>
            <a:r>
              <a:rPr lang="en-US" altLang="zh-TW" dirty="0"/>
              <a:t>  </a:t>
            </a:r>
            <a:r>
              <a:rPr lang="en-US" altLang="zh-TW" sz="3200" b="1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sz="3200" b="1" dirty="0">
                <a:solidFill>
                  <a:srgbClr val="777777"/>
                </a:solidFill>
                <a:latin typeface="Lucida Console" panose="020B0609040504020204" pitchFamily="49" charset="0"/>
              </a:rPr>
              <a:t> print</a:t>
            </a:r>
            <a:r>
              <a:rPr lang="en-US" altLang="zh-TW" sz="3200" b="1" dirty="0" smtClean="0">
                <a:solidFill>
                  <a:srgbClr val="777777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3200" b="1" dirty="0" smtClean="0">
                <a:solidFill>
                  <a:srgbClr val="7030A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3200" b="1" dirty="0" err="1" smtClean="0">
                <a:solidFill>
                  <a:srgbClr val="7030A0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zh-TW" sz="3200" b="1" dirty="0" err="1" smtClean="0">
                <a:solidFill>
                  <a:srgbClr val="777777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3200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end</a:t>
            </a:r>
            <a:r>
              <a:rPr lang="en-US" altLang="zh-TW" sz="3200" b="1" dirty="0">
                <a:solidFill>
                  <a:srgbClr val="FF000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=</a:t>
            </a:r>
            <a:r>
              <a:rPr lang="en-US" altLang="zh-TW" sz="32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"\n</a:t>
            </a:r>
            <a:r>
              <a:rPr lang="en-US" altLang="zh-TW" sz="3200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TW" sz="3200" b="1" dirty="0" smtClean="0">
                <a:solidFill>
                  <a:srgbClr val="777777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3200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sep</a:t>
            </a:r>
            <a:r>
              <a:rPr lang="en-US" altLang="zh-TW" sz="3200" b="1" dirty="0">
                <a:solidFill>
                  <a:srgbClr val="FF0000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=</a:t>
            </a:r>
            <a:r>
              <a:rPr lang="en-US" altLang="zh-TW" sz="3200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" "</a:t>
            </a:r>
            <a:r>
              <a:rPr lang="en-US" altLang="zh-TW" sz="3200" b="1" dirty="0" smtClean="0">
                <a:solidFill>
                  <a:srgbClr val="777777"/>
                </a:solidFill>
                <a:latin typeface="Lucida Console" panose="020B0609040504020204" pitchFamily="49" charset="0"/>
              </a:rPr>
              <a:t>):</a:t>
            </a:r>
            <a:endParaRPr lang="en-US" altLang="zh-TW" sz="3200" b="1" dirty="0">
              <a:solidFill>
                <a:srgbClr val="777777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60000"/>
              </a:lnSpc>
              <a:buNone/>
            </a:pPr>
            <a:r>
              <a:rPr lang="en-US" altLang="zh-TW" sz="3200" b="1" dirty="0">
                <a:solidFill>
                  <a:srgbClr val="777777"/>
                </a:solidFill>
                <a:latin typeface="Lucida Console" panose="020B0609040504020204" pitchFamily="49" charset="0"/>
              </a:rPr>
              <a:t>	...</a:t>
            </a:r>
            <a:endParaRPr lang="zh-TW" altLang="en-US" sz="3200" b="1" dirty="0">
              <a:solidFill>
                <a:srgbClr val="777777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9729788" cy="11611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>
                <a:solidFill>
                  <a:srgbClr val="0070C0"/>
                </a:solidFill>
              </a:rPr>
              <a:t>So,</a:t>
            </a:r>
            <a:r>
              <a:rPr lang="en-US" altLang="zh-TW" sz="2800" dirty="0">
                <a:solidFill>
                  <a:srgbClr val="0070C0"/>
                </a:solidFill>
              </a:rPr>
              <a:t> </a:t>
            </a:r>
            <a:r>
              <a:rPr lang="en-US" altLang="zh-TW" dirty="0">
                <a:solidFill>
                  <a:srgbClr val="0070C0"/>
                </a:solidFill>
              </a:rPr>
              <a:t>what did we learn from </a:t>
            </a:r>
            <a:r>
              <a:rPr lang="en-US" altLang="zh-TW" dirty="0" smtClean="0">
                <a:solidFill>
                  <a:srgbClr val="0070C0"/>
                </a:solidFill>
              </a:rPr>
              <a:t>prin</a:t>
            </a:r>
            <a:r>
              <a:rPr lang="en-US" altLang="zh-TW" spc="-900" dirty="0" smtClean="0">
                <a:solidFill>
                  <a:srgbClr val="0070C0"/>
                </a:solidFill>
              </a:rPr>
              <a:t>t</a:t>
            </a:r>
            <a:r>
              <a:rPr lang="en-US" altLang="zh-TW" sz="5400" dirty="0" smtClean="0">
                <a:solidFill>
                  <a:srgbClr val="0070C0"/>
                </a:solidFill>
                <a:latin typeface="Engravers MT" panose="02090707080505020304" pitchFamily="18" charset="0"/>
              </a:rPr>
              <a:t>?</a:t>
            </a:r>
            <a:endParaRPr lang="zh-TW" altLang="en-US" dirty="0">
              <a:solidFill>
                <a:srgbClr val="0070C0"/>
              </a:solidFill>
              <a:latin typeface="Engravers MT" panose="02090707080505020304" pitchFamily="18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03199" y="3053664"/>
            <a:ext cx="9599315" cy="68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zh-TW" dirty="0" smtClean="0">
                <a:solidFill>
                  <a:srgbClr val="777777"/>
                </a:solidFill>
              </a:rPr>
              <a:t>The default parameters must go at t</a:t>
            </a:r>
            <a:r>
              <a:rPr lang="en-US" altLang="zh-TW" spc="-50" dirty="0" smtClean="0">
                <a:solidFill>
                  <a:srgbClr val="777777"/>
                </a:solidFill>
              </a:rPr>
              <a:t>he en</a:t>
            </a:r>
            <a:r>
              <a:rPr lang="en-US" altLang="zh-TW" spc="-100" dirty="0" smtClean="0">
                <a:solidFill>
                  <a:srgbClr val="777777"/>
                </a:solidFill>
              </a:rPr>
              <a:t>d</a:t>
            </a:r>
            <a:r>
              <a:rPr lang="en-US" altLang="zh-TW" dirty="0" smtClean="0">
                <a:solidFill>
                  <a:srgbClr val="777777"/>
                </a:solidFill>
              </a:rPr>
              <a:t>.</a:t>
            </a:r>
            <a:endParaRPr lang="en-US" altLang="zh-TW" dirty="0">
              <a:solidFill>
                <a:srgbClr val="77777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524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8209" y="1034880"/>
            <a:ext cx="9081135" cy="51898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302" dirty="0">
                <a:cs typeface="Courier New" pitchFamily="49" charset="0"/>
              </a:rPr>
              <a:t>There are 5 possible types of parameter definitions:</a:t>
            </a:r>
          </a:p>
          <a:p>
            <a:pPr marL="525636" indent="-362558"/>
            <a:r>
              <a:rPr lang="en-US" sz="3302" dirty="0" smtClean="0">
                <a:cs typeface="Courier New" pitchFamily="49" charset="0"/>
              </a:rPr>
              <a:t>Positional arguments</a:t>
            </a:r>
            <a:endParaRPr lang="en-US" sz="3302" dirty="0">
              <a:cs typeface="Courier New" pitchFamily="49" charset="0"/>
            </a:endParaRPr>
          </a:p>
          <a:p>
            <a:pPr marL="525636" indent="-362558"/>
            <a:r>
              <a:rPr lang="en-US" sz="3302" dirty="0">
                <a:cs typeface="Courier New" pitchFamily="49" charset="0"/>
              </a:rPr>
              <a:t>Keyword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Default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Variable-length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Keyword-only arguments</a:t>
            </a:r>
          </a:p>
          <a:p>
            <a:endParaRPr lang="en-US" sz="3302" dirty="0">
              <a:solidFill>
                <a:srgbClr val="660066"/>
              </a:solidFill>
              <a:cs typeface="Courier New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 smtClean="0">
                <a:solidFill>
                  <a:srgbClr val="0070C0"/>
                </a:solidFill>
              </a:rPr>
              <a:t>Defining Function Parameters</a:t>
            </a:r>
            <a:endParaRPr lang="en-US" sz="4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155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8209" y="1034880"/>
            <a:ext cx="9081135" cy="51898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302" dirty="0">
                <a:solidFill>
                  <a:schemeClr val="bg1">
                    <a:lumMod val="75000"/>
                  </a:schemeClr>
                </a:solidFill>
                <a:cs typeface="Courier New" pitchFamily="49" charset="0"/>
              </a:rPr>
              <a:t>There are 5 possible types of parameter definitions:</a:t>
            </a:r>
          </a:p>
          <a:p>
            <a:pPr marL="525636" indent="-362558"/>
            <a:r>
              <a:rPr lang="en-US" sz="3302" dirty="0" smtClean="0">
                <a:solidFill>
                  <a:schemeClr val="bg1">
                    <a:lumMod val="75000"/>
                  </a:schemeClr>
                </a:solidFill>
                <a:cs typeface="Courier New" pitchFamily="49" charset="0"/>
              </a:rPr>
              <a:t>Positional arguments</a:t>
            </a:r>
            <a:endParaRPr lang="en-US" sz="3302" dirty="0">
              <a:solidFill>
                <a:schemeClr val="bg1">
                  <a:lumMod val="75000"/>
                </a:schemeClr>
              </a:solidFill>
              <a:cs typeface="Courier New" pitchFamily="49" charset="0"/>
            </a:endParaRPr>
          </a:p>
          <a:p>
            <a:pPr marL="525636" indent="-362558"/>
            <a:r>
              <a:rPr lang="en-US" sz="3302" dirty="0">
                <a:solidFill>
                  <a:schemeClr val="bg1">
                    <a:lumMod val="75000"/>
                  </a:schemeClr>
                </a:solidFill>
                <a:cs typeface="Courier New" pitchFamily="49" charset="0"/>
              </a:rPr>
              <a:t>Keyword arguments</a:t>
            </a:r>
          </a:p>
          <a:p>
            <a:pPr marL="525636" indent="-362558"/>
            <a:r>
              <a:rPr lang="en-US" sz="3302" dirty="0">
                <a:solidFill>
                  <a:srgbClr val="FF0000"/>
                </a:solidFill>
                <a:cs typeface="Courier New" pitchFamily="49" charset="0"/>
              </a:rPr>
              <a:t>Default arguments</a:t>
            </a:r>
          </a:p>
          <a:p>
            <a:pPr marL="525636" indent="-362558"/>
            <a:r>
              <a:rPr lang="en-US" sz="3302" dirty="0">
                <a:solidFill>
                  <a:schemeClr val="bg1">
                    <a:lumMod val="75000"/>
                  </a:schemeClr>
                </a:solidFill>
                <a:cs typeface="Courier New" pitchFamily="49" charset="0"/>
              </a:rPr>
              <a:t>Variable-length arguments</a:t>
            </a:r>
          </a:p>
          <a:p>
            <a:pPr marL="525636" indent="-362558"/>
            <a:r>
              <a:rPr lang="en-US" sz="3302" dirty="0">
                <a:solidFill>
                  <a:schemeClr val="bg1">
                    <a:lumMod val="75000"/>
                  </a:schemeClr>
                </a:solidFill>
                <a:cs typeface="Courier New" pitchFamily="49" charset="0"/>
              </a:rPr>
              <a:t>Keyword-only arguments</a:t>
            </a:r>
          </a:p>
          <a:p>
            <a:endParaRPr lang="en-US" sz="3302" dirty="0">
              <a:solidFill>
                <a:srgbClr val="660066"/>
              </a:solidFill>
              <a:cs typeface="Courier New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 smtClean="0">
                <a:solidFill>
                  <a:srgbClr val="0070C0"/>
                </a:solidFill>
              </a:rPr>
              <a:t>Defining Function Parameters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4417764" y="3809329"/>
            <a:ext cx="5008909" cy="1234562"/>
          </a:xfrm>
          <a:prstGeom prst="wedgeRoundRectCallout">
            <a:avLst>
              <a:gd name="adj1" fmla="val -103541"/>
              <a:gd name="adj2" fmla="val -101700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3200" spc="100" dirty="0" smtClean="0">
                <a:solidFill>
                  <a:srgbClr val="FF0000"/>
                </a:solidFill>
                <a:latin typeface="Times New Roman" charset="0"/>
              </a:rPr>
              <a:t>What if a default value </a:t>
            </a:r>
            <a:br>
              <a:rPr lang="en-US" sz="3200" spc="100" dirty="0" smtClean="0">
                <a:solidFill>
                  <a:srgbClr val="FF0000"/>
                </a:solidFill>
                <a:latin typeface="Times New Roman" charset="0"/>
              </a:rPr>
            </a:br>
            <a:r>
              <a:rPr lang="en-US" sz="3200" spc="100" dirty="0" smtClean="0">
                <a:solidFill>
                  <a:srgbClr val="FF0000"/>
                </a:solidFill>
                <a:latin typeface="Times New Roman" charset="0"/>
              </a:rPr>
              <a:t>is </a:t>
            </a:r>
            <a:r>
              <a:rPr lang="en-US" sz="3200" b="1" spc="100" dirty="0" smtClean="0">
                <a:solidFill>
                  <a:srgbClr val="FF0000"/>
                </a:solidFill>
                <a:latin typeface="Times New Roman" charset="0"/>
              </a:rPr>
              <a:t>mutable</a:t>
            </a:r>
            <a:r>
              <a:rPr lang="en-US" sz="3200" spc="100" dirty="0" smtClean="0">
                <a:solidFill>
                  <a:srgbClr val="FF0000"/>
                </a:solidFill>
                <a:latin typeface="Times New Roman" charset="0"/>
              </a:rPr>
              <a:t>?</a:t>
            </a:r>
            <a:endParaRPr lang="en-US" sz="3200" spc="100" dirty="0">
              <a:solidFill>
                <a:srgbClr val="FF0000"/>
              </a:solidFill>
              <a:latin typeface="Times New Roman" charset="0"/>
            </a:endParaRPr>
          </a:p>
        </p:txBody>
      </p:sp>
      <p:sp>
        <p:nvSpPr>
          <p:cNvPr id="11" name="Rounded Rectangular Callout 10"/>
          <p:cNvSpPr/>
          <p:nvPr/>
        </p:nvSpPr>
        <p:spPr bwMode="auto">
          <a:xfrm>
            <a:off x="4417764" y="2233914"/>
            <a:ext cx="5008909" cy="1234562"/>
          </a:xfrm>
          <a:prstGeom prst="wedgeRoundRectCallout">
            <a:avLst>
              <a:gd name="adj1" fmla="val -21501"/>
              <a:gd name="adj2" fmla="val 97298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FF0000"/>
                </a:solidFill>
                <a:latin typeface="Times New Roman" charset="0"/>
              </a:rPr>
              <a:t>Then there is a concern that you may not have </a:t>
            </a:r>
            <a:r>
              <a:rPr lang="en-US" sz="3200" dirty="0" smtClean="0">
                <a:solidFill>
                  <a:srgbClr val="FF0000"/>
                </a:solidFill>
                <a:latin typeface="Times New Roman" charset="0"/>
              </a:rPr>
              <a:t>realized…</a:t>
            </a:r>
            <a:endParaRPr lang="en-US" sz="3200" dirty="0">
              <a:solidFill>
                <a:srgbClr val="FF0000"/>
              </a:solidFill>
              <a:latin typeface="Times New Roman" charset="0"/>
            </a:endParaRP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4417764" y="669520"/>
            <a:ext cx="5008909" cy="1234562"/>
          </a:xfrm>
          <a:prstGeom prst="wedgeRoundRectCallout">
            <a:avLst>
              <a:gd name="adj1" fmla="val -21501"/>
              <a:gd name="adj2" fmla="val 92836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3200" spc="100" dirty="0" smtClean="0">
                <a:solidFill>
                  <a:srgbClr val="FF0000"/>
                </a:solidFill>
                <a:latin typeface="Times New Roman" charset="0"/>
              </a:rPr>
              <a:t>It is a concern that </a:t>
            </a:r>
            <a:br>
              <a:rPr lang="en-US" sz="3200" spc="100" dirty="0" smtClean="0">
                <a:solidFill>
                  <a:srgbClr val="FF0000"/>
                </a:solidFill>
                <a:latin typeface="Times New Roman" charset="0"/>
              </a:rPr>
            </a:br>
            <a:r>
              <a:rPr lang="en-US" sz="3200" spc="100" dirty="0" smtClean="0">
                <a:solidFill>
                  <a:srgbClr val="FF0000"/>
                </a:solidFill>
                <a:latin typeface="Times New Roman" charset="0"/>
              </a:rPr>
              <a:t>C programs also have...</a:t>
            </a:r>
            <a:endParaRPr lang="en-US" sz="3200" spc="100" dirty="0">
              <a:solidFill>
                <a:srgbClr val="FF00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269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0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45294" y="843148"/>
            <a:ext cx="9067800" cy="6014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2400" kern="0" dirty="0">
                <a:latin typeface="Lucida Console" panose="020B0609040504020204" pitchFamily="49" charset="0"/>
              </a:rPr>
              <a:t>% cat </a:t>
            </a:r>
            <a:r>
              <a:rPr lang="en-US" sz="2400" kern="0" dirty="0" err="1">
                <a:latin typeface="Lucida Console" panose="020B0609040504020204" pitchFamily="49" charset="0"/>
              </a:rPr>
              <a:t>exampleOfStatic.c</a:t>
            </a:r>
            <a:endParaRPr lang="en-US" sz="2400" kern="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2400" kern="0" dirty="0">
                <a:latin typeface="Lucida Console" panose="020B0609040504020204" pitchFamily="49" charset="0"/>
              </a:rPr>
              <a:t>#include &lt;</a:t>
            </a:r>
            <a:r>
              <a:rPr lang="en-US" sz="2400" kern="0" dirty="0" err="1">
                <a:latin typeface="Lucida Console" panose="020B0609040504020204" pitchFamily="49" charset="0"/>
              </a:rPr>
              <a:t>stdio.h</a:t>
            </a:r>
            <a:r>
              <a:rPr lang="en-US" sz="2400" kern="0" dirty="0">
                <a:latin typeface="Lucida Console" panose="020B0609040504020204" pitchFamily="49" charset="0"/>
              </a:rPr>
              <a:t>&gt;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2400" kern="0" dirty="0">
                <a:latin typeface="Lucida Console" panose="020B0609040504020204" pitchFamily="49" charset="0"/>
              </a:rPr>
              <a:t>void f()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2400" kern="0" dirty="0">
                <a:latin typeface="Lucida Console" panose="020B0609040504020204" pitchFamily="49" charset="0"/>
              </a:rPr>
              <a:t>{ </a:t>
            </a:r>
            <a:r>
              <a:rPr lang="en-US" sz="2400" b="1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static</a:t>
            </a:r>
            <a:r>
              <a:rPr lang="en-US" sz="2400" kern="0" dirty="0">
                <a:latin typeface="Lucida Console" panose="020B0609040504020204" pitchFamily="49" charset="0"/>
              </a:rPr>
              <a:t> </a:t>
            </a:r>
            <a:r>
              <a:rPr lang="en-US" sz="2400" kern="0" dirty="0" err="1">
                <a:latin typeface="Lucida Console" panose="020B0609040504020204" pitchFamily="49" charset="0"/>
              </a:rPr>
              <a:t>int</a:t>
            </a:r>
            <a:r>
              <a:rPr lang="en-US" sz="2400" kern="0" dirty="0">
                <a:latin typeface="Lucida Console" panose="020B0609040504020204" pitchFamily="49" charset="0"/>
              </a:rPr>
              <a:t> </a:t>
            </a:r>
            <a:r>
              <a:rPr lang="en-US" sz="2400" b="1" kern="0" dirty="0">
                <a:solidFill>
                  <a:srgbClr val="339933"/>
                </a:solidFill>
                <a:latin typeface="Lucida Console" panose="020B0609040504020204" pitchFamily="49" charset="0"/>
              </a:rPr>
              <a:t>X</a:t>
            </a:r>
            <a:r>
              <a:rPr lang="en-US" sz="2400" kern="0" dirty="0">
                <a:latin typeface="Lucida Console" panose="020B0609040504020204" pitchFamily="49" charset="0"/>
              </a:rPr>
              <a:t>, </a:t>
            </a:r>
            <a:r>
              <a:rPr lang="en-US" sz="2400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Y=0</a:t>
            </a:r>
            <a:r>
              <a:rPr lang="en-US" sz="2400" kern="0" dirty="0">
                <a:latin typeface="Lucida Console" panose="020B0609040504020204" pitchFamily="49" charset="0"/>
              </a:rPr>
              <a:t>; </a:t>
            </a:r>
            <a:r>
              <a:rPr 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// Y initializes once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2400" kern="0" dirty="0">
                <a:latin typeface="Lucida Console" panose="020B0609040504020204" pitchFamily="49" charset="0"/>
              </a:rPr>
              <a:t>  </a:t>
            </a:r>
            <a:r>
              <a:rPr lang="en-US" sz="2400" b="1" kern="0" dirty="0">
                <a:solidFill>
                  <a:srgbClr val="339933"/>
                </a:solidFill>
                <a:latin typeface="Lucida Console" panose="020B0609040504020204" pitchFamily="49" charset="0"/>
              </a:rPr>
              <a:t>X=0</a:t>
            </a:r>
            <a:r>
              <a:rPr lang="en-US" sz="2400" kern="0" dirty="0">
                <a:latin typeface="Lucida Console" panose="020B0609040504020204" pitchFamily="49" charset="0"/>
              </a:rPr>
              <a:t>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2400" kern="0" dirty="0">
                <a:latin typeface="Lucida Console" panose="020B0609040504020204" pitchFamily="49" charset="0"/>
              </a:rPr>
              <a:t>  </a:t>
            </a:r>
            <a:r>
              <a:rPr lang="en-US" sz="2400" kern="0" dirty="0" err="1">
                <a:latin typeface="Lucida Console" panose="020B0609040504020204" pitchFamily="49" charset="0"/>
              </a:rPr>
              <a:t>printf</a:t>
            </a:r>
            <a:r>
              <a:rPr lang="en-US" sz="2400" kern="0" dirty="0">
                <a:latin typeface="Lucida Console" panose="020B0609040504020204" pitchFamily="49" charset="0"/>
              </a:rPr>
              <a:t>("</a:t>
            </a:r>
            <a:r>
              <a:rPr lang="en-US" sz="2400" kern="0" dirty="0">
                <a:solidFill>
                  <a:srgbClr val="339933"/>
                </a:solidFill>
                <a:latin typeface="Lucida Console" panose="020B0609040504020204" pitchFamily="49" charset="0"/>
              </a:rPr>
              <a:t>%</a:t>
            </a:r>
            <a:r>
              <a:rPr lang="en-US" sz="2400" kern="0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d</a:t>
            </a:r>
            <a:r>
              <a:rPr lang="en-US" sz="2400" kern="0" dirty="0" err="1">
                <a:latin typeface="Lucida Console" panose="020B0609040504020204" pitchFamily="49" charset="0"/>
              </a:rPr>
              <a:t>,</a:t>
            </a:r>
            <a:r>
              <a:rPr lang="en-US" sz="2400" b="1" kern="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%</a:t>
            </a:r>
            <a:r>
              <a:rPr lang="en-US" sz="2400" b="1" kern="0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d</a:t>
            </a:r>
            <a:r>
              <a:rPr lang="en-US" sz="2400" b="1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  <a:r>
              <a:rPr lang="en-US" sz="2400" kern="0" dirty="0" smtClean="0">
                <a:latin typeface="Lucida Console" panose="020B0609040504020204" pitchFamily="49" charset="0"/>
              </a:rPr>
              <a:t> </a:t>
            </a:r>
            <a:r>
              <a:rPr lang="en-US" sz="2400" b="1" kern="0" dirty="0">
                <a:solidFill>
                  <a:srgbClr val="339933"/>
                </a:solidFill>
                <a:latin typeface="Lucida Console" panose="020B0609040504020204" pitchFamily="49" charset="0"/>
              </a:rPr>
              <a:t>X</a:t>
            </a:r>
            <a:r>
              <a:rPr lang="en-US" sz="2400" kern="0" dirty="0">
                <a:latin typeface="Lucida Console" panose="020B0609040504020204" pitchFamily="49" charset="0"/>
              </a:rPr>
              <a:t> reset</a:t>
            </a:r>
            <a:r>
              <a:rPr lang="en-US" sz="2400" kern="0" spc="-200" dirty="0">
                <a:latin typeface="Lucida Console" panose="020B0609040504020204" pitchFamily="49" charset="0"/>
              </a:rPr>
              <a:t>s</a:t>
            </a:r>
            <a:r>
              <a:rPr lang="en-US" sz="2400" kern="0" dirty="0">
                <a:latin typeface="Lucida Console" panose="020B0609040504020204" pitchFamily="49" charset="0"/>
              </a:rPr>
              <a:t>,</a:t>
            </a:r>
            <a:r>
              <a:rPr lang="en-US" sz="2000" kern="0" dirty="0">
                <a:latin typeface="Lucida Console" panose="020B0609040504020204" pitchFamily="49" charset="0"/>
              </a:rPr>
              <a:t> </a:t>
            </a:r>
            <a:r>
              <a:rPr lang="en-US" sz="2400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Y</a:t>
            </a:r>
            <a:r>
              <a:rPr lang="en-US" sz="2400" kern="0" dirty="0">
                <a:latin typeface="Lucida Console" panose="020B0609040504020204" pitchFamily="49" charset="0"/>
              </a:rPr>
              <a:t> does</a:t>
            </a:r>
            <a:r>
              <a:rPr lang="en-US" sz="2400" kern="0" spc="-300" dirty="0">
                <a:latin typeface="Lucida Console" panose="020B0609040504020204" pitchFamily="49" charset="0"/>
              </a:rPr>
              <a:t>n'</a:t>
            </a:r>
            <a:r>
              <a:rPr lang="en-US" sz="2400" kern="0" dirty="0">
                <a:latin typeface="Lucida Console" panose="020B0609040504020204" pitchFamily="49" charset="0"/>
              </a:rPr>
              <a:t>t\</a:t>
            </a:r>
            <a:r>
              <a:rPr lang="en-US" sz="2400" kern="0" dirty="0" err="1">
                <a:latin typeface="Lucida Console" panose="020B0609040504020204" pitchFamily="49" charset="0"/>
              </a:rPr>
              <a:t>n",</a:t>
            </a:r>
            <a:r>
              <a:rPr lang="en-US" sz="2400" b="1" kern="0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X</a:t>
            </a:r>
            <a:r>
              <a:rPr lang="en-US" sz="2400" b="1" kern="0" dirty="0">
                <a:solidFill>
                  <a:srgbClr val="339933"/>
                </a:solidFill>
                <a:latin typeface="Lucida Console" panose="020B0609040504020204" pitchFamily="49" charset="0"/>
              </a:rPr>
              <a:t>++</a:t>
            </a:r>
            <a:r>
              <a:rPr lang="en-US" sz="2400" kern="0" dirty="0">
                <a:latin typeface="Lucida Console" panose="020B0609040504020204" pitchFamily="49" charset="0"/>
              </a:rPr>
              <a:t>,</a:t>
            </a:r>
            <a:r>
              <a:rPr lang="en-US" sz="2400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Y++</a:t>
            </a:r>
            <a:r>
              <a:rPr lang="en-US" sz="2400" kern="0" spc="-300" dirty="0">
                <a:latin typeface="Lucida Console" panose="020B0609040504020204" pitchFamily="49" charset="0"/>
              </a:rPr>
              <a:t>)</a:t>
            </a:r>
            <a:r>
              <a:rPr lang="en-US" sz="2400" kern="0" dirty="0">
                <a:latin typeface="Lucida Console" panose="020B0609040504020204" pitchFamily="49" charset="0"/>
              </a:rPr>
              <a:t>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2400" kern="0" dirty="0">
                <a:latin typeface="Lucida Console" panose="020B0609040504020204" pitchFamily="49" charset="0"/>
              </a:rPr>
              <a:t>}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2400" kern="0" dirty="0" err="1">
                <a:latin typeface="Lucida Console" panose="020B0609040504020204" pitchFamily="49" charset="0"/>
              </a:rPr>
              <a:t>int</a:t>
            </a:r>
            <a:r>
              <a:rPr lang="en-US" sz="2400" kern="0" dirty="0">
                <a:latin typeface="Lucida Console" panose="020B0609040504020204" pitchFamily="49" charset="0"/>
              </a:rPr>
              <a:t> main()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2400" kern="0" dirty="0">
                <a:latin typeface="Lucida Console" panose="020B0609040504020204" pitchFamily="49" charset="0"/>
              </a:rPr>
              <a:t>{ f(); </a:t>
            </a:r>
            <a:r>
              <a:rPr 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// When called, X=0 &amp; Y=0</a:t>
            </a:r>
            <a:r>
              <a:rPr lang="en-US" sz="2400" kern="0" dirty="0">
                <a:latin typeface="Lucida Console" panose="020B0609040504020204" pitchFamily="49" charset="0"/>
              </a:rPr>
              <a:t>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400" kern="0" dirty="0">
                <a:latin typeface="Lucida Console" panose="020B0609040504020204" pitchFamily="49" charset="0"/>
              </a:rPr>
              <a:t>  f(); </a:t>
            </a:r>
            <a:r>
              <a:rPr lang="en-US" altLang="zh-TW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// When called, X=0 &amp; Y=1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2400" kern="0" dirty="0">
                <a:latin typeface="Lucida Console" panose="020B0609040504020204" pitchFamily="49" charset="0"/>
              </a:rPr>
              <a:t>  f(); </a:t>
            </a:r>
            <a:r>
              <a:rPr lang="en-US" altLang="zh-TW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// When called, X=0 &amp; Y=2</a:t>
            </a:r>
            <a:endParaRPr lang="en-US" sz="2400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2400" kern="0" dirty="0">
                <a:latin typeface="Lucida Console" panose="020B0609040504020204" pitchFamily="49" charset="0"/>
              </a:rPr>
              <a:t>}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400" kern="0" dirty="0">
                <a:latin typeface="Lucida Console" panose="020B0609040504020204" pitchFamily="49" charset="0"/>
              </a:rPr>
              <a:t>% </a:t>
            </a:r>
            <a:r>
              <a:rPr lang="en-US" altLang="zh-TW" sz="2400" kern="0" dirty="0" err="1">
                <a:latin typeface="Lucida Console" panose="020B0609040504020204" pitchFamily="49" charset="0"/>
              </a:rPr>
              <a:t>gcc</a:t>
            </a:r>
            <a:r>
              <a:rPr lang="en-US" altLang="zh-TW" sz="2400" kern="0" dirty="0">
                <a:latin typeface="Lucida Console" panose="020B0609040504020204" pitchFamily="49" charset="0"/>
              </a:rPr>
              <a:t> -o </a:t>
            </a:r>
            <a:r>
              <a:rPr lang="en-US" altLang="zh-TW" sz="2400" kern="0" dirty="0" err="1">
                <a:latin typeface="Lucida Console" panose="020B0609040504020204" pitchFamily="49" charset="0"/>
              </a:rPr>
              <a:t>static.x</a:t>
            </a:r>
            <a:r>
              <a:rPr lang="en-US" altLang="zh-TW" sz="2400" kern="0" dirty="0">
                <a:latin typeface="Lucida Console" panose="020B0609040504020204" pitchFamily="49" charset="0"/>
              </a:rPr>
              <a:t> </a:t>
            </a:r>
            <a:r>
              <a:rPr lang="en-US" altLang="zh-TW" sz="2400" kern="0" dirty="0" err="1">
                <a:latin typeface="Lucida Console" panose="020B0609040504020204" pitchFamily="49" charset="0"/>
              </a:rPr>
              <a:t>exampleOfStatic.c</a:t>
            </a:r>
            <a:r>
              <a:rPr lang="en-US" altLang="zh-TW" sz="2400" kern="0" dirty="0">
                <a:latin typeface="Lucida Console" panose="020B0609040504020204" pitchFamily="49" charset="0"/>
              </a:rPr>
              <a:t>; ./</a:t>
            </a:r>
            <a:r>
              <a:rPr lang="en-US" altLang="zh-TW" sz="2400" kern="0" dirty="0" err="1">
                <a:latin typeface="Lucida Console" panose="020B0609040504020204" pitchFamily="49" charset="0"/>
              </a:rPr>
              <a:t>static.x</a:t>
            </a:r>
            <a:endParaRPr lang="en-US" altLang="zh-TW" sz="2400" kern="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400" b="1" kern="0" dirty="0" smtClean="0">
                <a:solidFill>
                  <a:srgbClr val="339933"/>
                </a:solidFill>
                <a:latin typeface="Lucida Console" panose="020B0609040504020204" pitchFamily="49" charset="0"/>
              </a:rPr>
              <a:t>0</a:t>
            </a:r>
            <a:r>
              <a:rPr lang="en-US" altLang="zh-TW" sz="2400" kern="0" dirty="0" smtClean="0">
                <a:latin typeface="Lucida Console" panose="020B0609040504020204" pitchFamily="49" charset="0"/>
              </a:rPr>
              <a:t>,</a:t>
            </a:r>
            <a:r>
              <a:rPr lang="en-US" altLang="zh-TW" sz="2400" b="1" kern="0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0</a:t>
            </a:r>
            <a:r>
              <a:rPr lang="en-US" altLang="zh-TW" sz="2400" b="1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  <a:r>
              <a:rPr lang="en-US" altLang="zh-TW" sz="2400" kern="0" dirty="0" smtClean="0">
                <a:latin typeface="Lucida Console" panose="020B0609040504020204" pitchFamily="49" charset="0"/>
              </a:rPr>
              <a:t> </a:t>
            </a:r>
            <a:r>
              <a:rPr lang="en-US" altLang="zh-TW" sz="2400" b="1" kern="0" dirty="0">
                <a:solidFill>
                  <a:srgbClr val="339933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400" kern="0" dirty="0">
                <a:latin typeface="Lucida Console" panose="020B0609040504020204" pitchFamily="49" charset="0"/>
              </a:rPr>
              <a:t> resets, </a:t>
            </a:r>
            <a:r>
              <a:rPr lang="en-US" altLang="zh-TW" sz="2400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sz="2400" kern="0" dirty="0">
                <a:latin typeface="Lucida Console" panose="020B0609040504020204" pitchFamily="49" charset="0"/>
              </a:rPr>
              <a:t> doesn't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400" b="1" kern="0" dirty="0" smtClean="0">
                <a:solidFill>
                  <a:srgbClr val="339933"/>
                </a:solidFill>
                <a:latin typeface="Lucida Console" panose="020B0609040504020204" pitchFamily="49" charset="0"/>
              </a:rPr>
              <a:t>0</a:t>
            </a:r>
            <a:r>
              <a:rPr lang="en-US" altLang="zh-TW" sz="2400" kern="0" dirty="0" smtClean="0">
                <a:latin typeface="Lucida Console" panose="020B0609040504020204" pitchFamily="49" charset="0"/>
              </a:rPr>
              <a:t>,</a:t>
            </a:r>
            <a:r>
              <a:rPr lang="en-US" altLang="zh-TW" sz="2400" b="1" kern="0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sz="2400" b="1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  <a:r>
              <a:rPr lang="en-US" altLang="zh-TW" sz="2400" kern="0" dirty="0" smtClean="0">
                <a:latin typeface="Lucida Console" panose="020B0609040504020204" pitchFamily="49" charset="0"/>
              </a:rPr>
              <a:t> </a:t>
            </a:r>
            <a:r>
              <a:rPr lang="en-US" altLang="zh-TW" sz="2400" b="1" kern="0" dirty="0">
                <a:solidFill>
                  <a:srgbClr val="339933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400" kern="0" dirty="0">
                <a:latin typeface="Lucida Console" panose="020B0609040504020204" pitchFamily="49" charset="0"/>
              </a:rPr>
              <a:t> resets, </a:t>
            </a:r>
            <a:r>
              <a:rPr lang="en-US" altLang="zh-TW" sz="2400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sz="2400" kern="0" dirty="0">
                <a:latin typeface="Lucida Console" panose="020B0609040504020204" pitchFamily="49" charset="0"/>
              </a:rPr>
              <a:t> doesn't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400" b="1" kern="0" dirty="0" smtClean="0">
                <a:solidFill>
                  <a:srgbClr val="339933"/>
                </a:solidFill>
                <a:latin typeface="Lucida Console" panose="020B0609040504020204" pitchFamily="49" charset="0"/>
              </a:rPr>
              <a:t>0</a:t>
            </a:r>
            <a:r>
              <a:rPr lang="en-US" altLang="zh-TW" sz="2400" kern="0" dirty="0" smtClean="0">
                <a:latin typeface="Lucida Console" panose="020B0609040504020204" pitchFamily="49" charset="0"/>
              </a:rPr>
              <a:t>,</a:t>
            </a:r>
            <a:r>
              <a:rPr lang="en-US" altLang="zh-TW" sz="2400" b="1" kern="0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sz="2400" b="1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  <a:r>
              <a:rPr lang="en-US" altLang="zh-TW" sz="2400" kern="0" dirty="0" smtClean="0">
                <a:latin typeface="Lucida Console" panose="020B0609040504020204" pitchFamily="49" charset="0"/>
              </a:rPr>
              <a:t> </a:t>
            </a:r>
            <a:r>
              <a:rPr lang="en-US" altLang="zh-TW" sz="2400" b="1" kern="0" dirty="0">
                <a:solidFill>
                  <a:srgbClr val="339933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400" kern="0" dirty="0">
                <a:latin typeface="Lucida Console" panose="020B0609040504020204" pitchFamily="49" charset="0"/>
              </a:rPr>
              <a:t> resets, </a:t>
            </a:r>
            <a:r>
              <a:rPr lang="en-US" altLang="zh-TW" sz="2400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sz="2400" kern="0" dirty="0">
                <a:latin typeface="Lucida Console" panose="020B0609040504020204" pitchFamily="49" charset="0"/>
              </a:rPr>
              <a:t> doesn't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400" kern="0" dirty="0">
                <a:latin typeface="Lucida Console" panose="020B0609040504020204" pitchFamily="49" charset="0"/>
              </a:rPr>
              <a:t>%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-438941" y="5942"/>
            <a:ext cx="10607675" cy="83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FF0000"/>
                </a:solidFill>
                <a:latin typeface="Elephant" panose="02020904090505020303" pitchFamily="18" charset="0"/>
              </a:rPr>
              <a:t>C</a:t>
            </a:r>
            <a:r>
              <a:rPr lang="en-GB" alt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 </a:t>
            </a:r>
            <a:r>
              <a:rPr lang="en-GB" altLang="en-US" sz="4400" b="1" dirty="0">
                <a:solidFill>
                  <a:srgbClr val="FF0000"/>
                </a:solidFill>
                <a:latin typeface="Elephant" panose="02020904090505020303" pitchFamily="18" charset="0"/>
              </a:rPr>
              <a:t>Static</a:t>
            </a:r>
            <a:r>
              <a:rPr lang="en-GB" alt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 </a:t>
            </a:r>
            <a:r>
              <a:rPr lang="en-GB" altLang="en-US" sz="4400" spc="-200" dirty="0">
                <a:solidFill>
                  <a:srgbClr val="FF0000"/>
                </a:solidFill>
                <a:latin typeface="Elephant" panose="02020904090505020303" pitchFamily="18" charset="0"/>
              </a:rPr>
              <a:t>V</a:t>
            </a:r>
            <a:r>
              <a:rPr lang="en-GB" alt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aria</a:t>
            </a:r>
            <a:r>
              <a:rPr lang="en-GB" altLang="en-US" sz="4400" spc="-100" dirty="0">
                <a:solidFill>
                  <a:srgbClr val="FF0000"/>
                </a:solidFill>
                <a:latin typeface="Elephant" panose="02020904090505020303" pitchFamily="18" charset="0"/>
              </a:rPr>
              <a:t>bl</a:t>
            </a:r>
            <a:r>
              <a:rPr lang="en-GB" altLang="en-US" sz="4400" dirty="0">
                <a:solidFill>
                  <a:srgbClr val="FF0000"/>
                </a:solidFill>
                <a:latin typeface="Elephant" panose="02020904090505020303" pitchFamily="18" charset="0"/>
              </a:rPr>
              <a:t>es </a:t>
            </a:r>
            <a:r>
              <a:rPr lang="en-GB" altLang="en-US" sz="4400" dirty="0">
                <a:solidFill>
                  <a:srgbClr val="0070C0"/>
                </a:solidFill>
                <a:latin typeface="Elephant" panose="02020904090505020303" pitchFamily="18" charset="0"/>
              </a:rPr>
              <a:t>Initialize </a:t>
            </a:r>
            <a:r>
              <a:rPr lang="en-GB" altLang="en-US" sz="4400" spc="-100" dirty="0" smtClean="0">
                <a:solidFill>
                  <a:srgbClr val="0070C0"/>
                </a:solidFill>
                <a:latin typeface="Elephant" panose="02020904090505020303" pitchFamily="18" charset="0"/>
              </a:rPr>
              <a:t>On</a:t>
            </a:r>
            <a:r>
              <a:rPr lang="en-GB" altLang="en-US" sz="4400" dirty="0" smtClean="0">
                <a:solidFill>
                  <a:srgbClr val="0070C0"/>
                </a:solidFill>
                <a:latin typeface="Elephant" panose="02020904090505020303" pitchFamily="18" charset="0"/>
              </a:rPr>
              <a:t>ce</a:t>
            </a:r>
            <a:endParaRPr lang="en-US" altLang="zh-TW" sz="4400" b="1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4417764" y="669520"/>
            <a:ext cx="5008909" cy="1234562"/>
          </a:xfrm>
          <a:prstGeom prst="wedgeRoundRectCallout">
            <a:avLst>
              <a:gd name="adj1" fmla="val -87265"/>
              <a:gd name="adj2" fmla="val -57974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3200" spc="100" dirty="0" smtClean="0">
                <a:solidFill>
                  <a:srgbClr val="FF0000"/>
                </a:solidFill>
                <a:latin typeface="Times New Roman" charset="0"/>
              </a:rPr>
              <a:t>It is a concern that </a:t>
            </a:r>
            <a:br>
              <a:rPr lang="en-US" sz="3200" spc="100" dirty="0" smtClean="0">
                <a:solidFill>
                  <a:srgbClr val="FF0000"/>
                </a:solidFill>
                <a:latin typeface="Times New Roman" charset="0"/>
              </a:rPr>
            </a:br>
            <a:r>
              <a:rPr lang="en-US" sz="3200" spc="100" dirty="0" smtClean="0">
                <a:solidFill>
                  <a:srgbClr val="FF0000"/>
                </a:solidFill>
                <a:latin typeface="Times New Roman" charset="0"/>
              </a:rPr>
              <a:t>C programs also have...</a:t>
            </a:r>
            <a:endParaRPr lang="en-US" sz="3200" spc="100" dirty="0">
              <a:solidFill>
                <a:srgbClr val="FF00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922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9825" y="1246912"/>
            <a:ext cx="9666513" cy="5284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96875" indent="-301625" eaLnBrk="1">
              <a:lnSpc>
                <a:spcPct val="93000"/>
              </a:lnSpc>
              <a:buSzPct val="90000"/>
              <a:buFont typeface="Arial" panose="020B0604020202020204" pitchFamily="34" charset="0"/>
              <a:buChar char="•"/>
              <a:tabLst>
                <a:tab pos="285750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600" kern="0" dirty="0">
                <a:solidFill>
                  <a:schemeClr val="tx1"/>
                </a:solidFill>
              </a:rPr>
              <a:t>Mutable default arguments persist between calls to a function </a:t>
            </a:r>
            <a:r>
              <a:rPr lang="en-GB" altLang="en-US" sz="3600" kern="0" dirty="0">
                <a:solidFill>
                  <a:srgbClr val="FF0000"/>
                </a:solidFill>
              </a:rPr>
              <a:t>(like static variables in C)</a:t>
            </a:r>
            <a:r>
              <a:rPr lang="en-GB" altLang="en-US" sz="3600" kern="0" dirty="0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ar-SA" altLang="en-US" sz="3600" kern="0" dirty="0">
                <a:solidFill>
                  <a:schemeClr val="bg1">
                    <a:lumMod val="50000"/>
                  </a:schemeClr>
                </a:solidFill>
                <a:cs typeface="Arial" pitchFamily="34" charset="0"/>
              </a:rPr>
              <a:t>‏</a:t>
            </a:r>
            <a:endParaRPr lang="en-GB" altLang="en-US" sz="3600" kern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0" y="1"/>
            <a:ext cx="9729788" cy="1161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dirty="0">
                <a:solidFill>
                  <a:srgbClr val="0070C0"/>
                </a:solidFill>
                <a:latin typeface="Elephant" panose="02020904090505020303" pitchFamily="18" charset="0"/>
                <a:ea typeface="新細明體" panose="02020500000000000000" pitchFamily="18" charset="-120"/>
                <a:cs typeface="+mj-cs"/>
              </a:rPr>
              <a:t>Mutable Default Arguments</a:t>
            </a:r>
            <a:endParaRPr lang="zh-TW" altLang="en-US" sz="4400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246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9825" y="1246912"/>
            <a:ext cx="9666513" cy="5284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96875" indent="-301625" eaLnBrk="1">
              <a:lnSpc>
                <a:spcPct val="93000"/>
              </a:lnSpc>
              <a:buClrTx/>
              <a:buSzPct val="90000"/>
              <a:buFont typeface="Arial" panose="020B0604020202020204" pitchFamily="34" charset="0"/>
              <a:buChar char="•"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600" kern="0" dirty="0">
                <a:solidFill>
                  <a:schemeClr val="bg1">
                    <a:lumMod val="50000"/>
                  </a:schemeClr>
                </a:solidFill>
              </a:rPr>
              <a:t>Mutable default arguments persist between calls to a function (like static variables in C).</a:t>
            </a:r>
            <a:r>
              <a:rPr lang="ar-SA" altLang="en-US" sz="3600" kern="0" dirty="0">
                <a:solidFill>
                  <a:schemeClr val="bg1">
                    <a:lumMod val="50000"/>
                  </a:schemeClr>
                </a:solidFill>
                <a:cs typeface="Arial" pitchFamily="34" charset="0"/>
              </a:rPr>
              <a:t>‏</a:t>
            </a:r>
            <a:endParaRPr lang="en-GB" altLang="en-US" sz="3600" kern="0" dirty="0">
              <a:solidFill>
                <a:schemeClr val="bg1">
                  <a:lumMod val="50000"/>
                </a:schemeClr>
              </a:solidFill>
            </a:endParaRPr>
          </a:p>
          <a:p>
            <a:pPr marL="396875" indent="-301625" eaLnBrk="1">
              <a:lnSpc>
                <a:spcPct val="93000"/>
              </a:lnSpc>
              <a:buSzPct val="90000"/>
              <a:buFont typeface="Arial" panose="020B0604020202020204" pitchFamily="34" charset="0"/>
              <a:buChar char="•"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600" kern="0" dirty="0">
                <a:solidFill>
                  <a:srgbClr val="FF0000"/>
                </a:solidFill>
              </a:rPr>
              <a:t>If your code needs persistence, then this feature is a good thing.</a:t>
            </a:r>
          </a:p>
          <a:p>
            <a:pPr marL="396875" indent="-301625" eaLnBrk="1">
              <a:lnSpc>
                <a:spcPct val="93000"/>
              </a:lnSpc>
              <a:buSzPct val="90000"/>
              <a:buFont typeface="Arial" panose="020B0604020202020204" pitchFamily="34" charset="0"/>
              <a:buChar char="•"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600" kern="0" dirty="0" smtClean="0">
                <a:solidFill>
                  <a:srgbClr val="FF0000"/>
                </a:solidFill>
              </a:rPr>
              <a:t>But often you don’t want persistence.</a:t>
            </a:r>
          </a:p>
          <a:p>
            <a:pPr marL="796925" lvl="1" indent="-301625" eaLnBrk="1">
              <a:lnSpc>
                <a:spcPct val="93000"/>
              </a:lnSpc>
              <a:buSzPct val="90000"/>
              <a:buFont typeface="Arial" panose="020B0604020202020204" pitchFamily="34" charset="0"/>
              <a:buChar char="•"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400" kern="0" dirty="0" smtClean="0"/>
              <a:t>Then you ought to copy </a:t>
            </a:r>
            <a:r>
              <a:rPr lang="en-GB" altLang="en-US" sz="3400" kern="0" dirty="0"/>
              <a:t>the default at the </a:t>
            </a:r>
            <a:r>
              <a:rPr lang="en-GB" altLang="en-US" sz="3400" kern="0" dirty="0" smtClean="0"/>
              <a:t>top </a:t>
            </a:r>
            <a:r>
              <a:rPr lang="en-GB" altLang="en-US" sz="3400" kern="0" dirty="0"/>
              <a:t>of the function body to another </a:t>
            </a:r>
            <a:r>
              <a:rPr lang="en-GB" altLang="en-US" sz="3400" kern="0" dirty="0" smtClean="0"/>
              <a:t>variable.</a:t>
            </a:r>
          </a:p>
          <a:p>
            <a:pPr marL="796925" lvl="1" indent="-301625" eaLnBrk="1">
              <a:lnSpc>
                <a:spcPct val="93000"/>
              </a:lnSpc>
              <a:buSzPct val="90000"/>
              <a:buFont typeface="Arial" panose="020B0604020202020204" pitchFamily="34" charset="0"/>
              <a:buChar char="•"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400" kern="0" dirty="0" smtClean="0"/>
              <a:t>Or </a:t>
            </a:r>
            <a:r>
              <a:rPr lang="en-GB" altLang="en-US" sz="3400" kern="0" dirty="0"/>
              <a:t>move the default value expression into the body of the function.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0" y="1"/>
            <a:ext cx="9729788" cy="1161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dirty="0">
                <a:solidFill>
                  <a:srgbClr val="0070C0"/>
                </a:solidFill>
                <a:latin typeface="Elephant" panose="02020904090505020303" pitchFamily="18" charset="0"/>
                <a:ea typeface="新細明體" panose="02020500000000000000" pitchFamily="18" charset="-120"/>
                <a:cs typeface="+mj-cs"/>
              </a:rPr>
              <a:t>Mutable Default Arguments</a:t>
            </a:r>
            <a:endParaRPr lang="zh-TW" altLang="en-US" sz="4400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2180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0" y="1"/>
            <a:ext cx="9729788" cy="1161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dirty="0">
                <a:solidFill>
                  <a:srgbClr val="0070C0"/>
                </a:solidFill>
                <a:latin typeface="Elephant" panose="02020904090505020303" pitchFamily="18" charset="0"/>
                <a:ea typeface="新細明體" panose="02020500000000000000" pitchFamily="18" charset="-120"/>
                <a:cs typeface="+mj-cs"/>
              </a:rPr>
              <a:t>Mutable Default Arguments</a:t>
            </a:r>
            <a:endParaRPr lang="zh-TW" altLang="en-US" sz="4400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45294" y="847100"/>
            <a:ext cx="899160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eaLnBrk="1">
              <a:lnSpc>
                <a:spcPct val="93000"/>
              </a:lnSpc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100" kern="0" dirty="0">
                <a:solidFill>
                  <a:srgbClr val="FF0000"/>
                </a:solidFill>
                <a:latin typeface="Arial Narrow" panose="020B0606020202030204" pitchFamily="34" charset="0"/>
              </a:rPr>
              <a:t>  From: https://www.toptal.com/python/top-10-mistakes-that-python-programmers-make</a:t>
            </a:r>
          </a:p>
          <a:p>
            <a:pPr marL="95250" indent="0" eaLnBrk="1">
              <a:lnSpc>
                <a:spcPct val="93000"/>
              </a:lnSpc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sz="3200" kern="0" dirty="0"/>
              <a:t>A</a:t>
            </a:r>
            <a:r>
              <a:rPr lang="en-US" sz="2800" kern="0" dirty="0"/>
              <a:t> </a:t>
            </a:r>
            <a:r>
              <a:rPr lang="en-US" sz="3200" kern="0" dirty="0"/>
              <a:t>common</a:t>
            </a:r>
            <a:r>
              <a:rPr lang="en-US" sz="2800" kern="0" dirty="0"/>
              <a:t> </a:t>
            </a:r>
            <a:r>
              <a:rPr lang="en-US" sz="3200" kern="0" dirty="0"/>
              <a:t>error</a:t>
            </a:r>
            <a:r>
              <a:rPr lang="en-US" sz="2800" kern="0" dirty="0"/>
              <a:t> </a:t>
            </a:r>
            <a:r>
              <a:rPr lang="en-US" sz="3200" kern="0" dirty="0"/>
              <a:t>is</a:t>
            </a:r>
            <a:r>
              <a:rPr lang="en-US" sz="2800" kern="0" dirty="0"/>
              <a:t> </a:t>
            </a:r>
            <a:r>
              <a:rPr lang="en-US" sz="3200" kern="0" dirty="0"/>
              <a:t>to</a:t>
            </a:r>
            <a:r>
              <a:rPr lang="en-US" sz="2800" kern="0" dirty="0"/>
              <a:t> </a:t>
            </a:r>
            <a:r>
              <a:rPr lang="en-US" sz="3200" kern="0" dirty="0"/>
              <a:t>think</a:t>
            </a:r>
            <a:r>
              <a:rPr lang="en-US" sz="2800" kern="0" dirty="0"/>
              <a:t> </a:t>
            </a:r>
            <a:r>
              <a:rPr lang="en-US" sz="3200" kern="0" dirty="0"/>
              <a:t>an</a:t>
            </a:r>
            <a:r>
              <a:rPr lang="en-US" sz="2800" kern="0" dirty="0"/>
              <a:t> </a:t>
            </a:r>
            <a:r>
              <a:rPr lang="en-US" sz="3200" kern="0" dirty="0"/>
              <a:t>optional</a:t>
            </a:r>
            <a:r>
              <a:rPr lang="en-US" sz="2800" kern="0" dirty="0"/>
              <a:t> </a:t>
            </a:r>
            <a:r>
              <a:rPr lang="en-US" sz="3200" kern="0" dirty="0"/>
              <a:t>argument will be set to the default </a:t>
            </a:r>
            <a:r>
              <a:rPr lang="en-US" sz="3200" i="1" kern="0" dirty="0"/>
              <a:t>each time</a:t>
            </a:r>
            <a:r>
              <a:rPr lang="en-US" sz="3200" kern="0" dirty="0"/>
              <a:t> the function is called without that optional argument: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endParaRPr lang="en-US" sz="2400" kern="0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kern="0" dirty="0">
                <a:latin typeface="Lucida Console" panose="020B0609040504020204" pitchFamily="49" charset="0"/>
              </a:rPr>
              <a:t> </a:t>
            </a:r>
            <a:r>
              <a:rPr lang="en-US" sz="2400" kern="0" dirty="0" err="1">
                <a:latin typeface="Lucida Console" panose="020B0609040504020204" pitchFamily="49" charset="0"/>
              </a:rPr>
              <a:t>def</a:t>
            </a:r>
            <a:r>
              <a:rPr lang="en-US" sz="2400" kern="0" dirty="0">
                <a:latin typeface="Lucida Console" panose="020B0609040504020204" pitchFamily="49" charset="0"/>
              </a:rPr>
              <a:t> foo(bar=[]): # bar defaults to []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400" kern="0" dirty="0">
                <a:latin typeface="Lucida Console" panose="020B0609040504020204" pitchFamily="49" charset="0"/>
              </a:rPr>
              <a:t>    </a:t>
            </a:r>
            <a:r>
              <a:rPr lang="en-US" sz="2400" kern="0" dirty="0" err="1">
                <a:latin typeface="Lucida Console" panose="020B0609040504020204" pitchFamily="49" charset="0"/>
              </a:rPr>
              <a:t>bar.append</a:t>
            </a:r>
            <a:r>
              <a:rPr lang="en-US" sz="2400" kern="0" dirty="0">
                <a:latin typeface="Lucida Console" panose="020B0609040504020204" pitchFamily="49" charset="0"/>
              </a:rPr>
              <a:t>("</a:t>
            </a:r>
            <a:r>
              <a:rPr lang="en-US" sz="2400" kern="0" dirty="0" err="1"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latin typeface="Lucida Console" panose="020B0609040504020204" pitchFamily="49" charset="0"/>
              </a:rPr>
              <a:t>") # this is problematic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400" kern="0" dirty="0">
                <a:latin typeface="Lucida Console" panose="020B0609040504020204" pitchFamily="49" charset="0"/>
              </a:rPr>
              <a:t>    return bar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foo()</a:t>
            </a:r>
            <a:r>
              <a:rPr 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  <a:r>
              <a:rPr lang="en-US" sz="2400" kern="0" dirty="0">
                <a:solidFill>
                  <a:srgbClr val="F98700"/>
                </a:solidFill>
                <a:latin typeface="Lucida Console" panose="020B0609040504020204" pitchFamily="49" charset="0"/>
              </a:rPr>
              <a:t>foo</a:t>
            </a:r>
            <a:r>
              <a:rPr lang="en-US" sz="2400" kern="0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()</a:t>
            </a:r>
            <a:r>
              <a:rPr lang="en-US" sz="24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  <a:endParaRPr lang="en-US" sz="2400" kern="0" dirty="0" smtClean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['</a:t>
            </a:r>
            <a:r>
              <a:rPr lang="en-US" sz="2400" kern="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[</a:t>
            </a:r>
            <a:r>
              <a:rPr lang="en-US" sz="2400" kern="0" dirty="0">
                <a:solidFill>
                  <a:srgbClr val="F98700"/>
                </a:solidFill>
                <a:latin typeface="Lucida Console" panose="020B0609040504020204" pitchFamily="49" charset="0"/>
              </a:rPr>
              <a:t>'</a:t>
            </a:r>
            <a:r>
              <a:rPr lang="en-US" sz="2400" kern="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F98700"/>
                </a:solidFill>
                <a:latin typeface="Lucida Console" panose="020B0609040504020204" pitchFamily="49" charset="0"/>
              </a:rPr>
              <a:t>', '</a:t>
            </a:r>
            <a:r>
              <a:rPr lang="en-US" sz="2400" kern="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400" kern="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 smtClean="0">
                <a:solidFill>
                  <a:srgbClr val="0000FF"/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kern="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8282" y="4390326"/>
            <a:ext cx="7425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 bwMode="auto">
          <a:xfrm>
            <a:off x="2351314" y="4386943"/>
            <a:ext cx="1110343" cy="4572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5677218" y="5375558"/>
            <a:ext cx="3755798" cy="1482442"/>
          </a:xfrm>
          <a:prstGeom prst="wedgeRoundRectCallout">
            <a:avLst>
              <a:gd name="adj1" fmla="val -119240"/>
              <a:gd name="adj2" fmla="val -49473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 smtClean="0">
                <a:solidFill>
                  <a:srgbClr val="008000"/>
                </a:solidFill>
                <a:latin typeface="Times New Roman" charset="0"/>
              </a:rPr>
              <a:t>See? Like a C-language static variable, it only initialized to </a:t>
            </a:r>
            <a:r>
              <a:rPr lang="en-US" sz="2800" dirty="0" smtClean="0">
                <a:solidFill>
                  <a:srgbClr val="008000"/>
                </a:solidFill>
                <a:latin typeface="Agency FB" panose="020B0503020202020204" pitchFamily="34" charset="0"/>
                <a:cs typeface="Times New Roman" panose="02020603050405020304" pitchFamily="18" charset="0"/>
              </a:rPr>
              <a:t>[</a:t>
            </a:r>
            <a:r>
              <a:rPr lang="en-US" dirty="0" smtClean="0">
                <a:solidFill>
                  <a:srgbClr val="008000"/>
                </a:solidFill>
                <a:latin typeface="Agency FB" panose="020B05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solidFill>
                  <a:srgbClr val="008000"/>
                </a:solidFill>
                <a:latin typeface="Agency FB" panose="020B0503020202020204" pitchFamily="34" charset="0"/>
                <a:cs typeface="Times New Roman" panose="02020603050405020304" pitchFamily="18" charset="0"/>
              </a:rPr>
              <a:t>]</a:t>
            </a:r>
            <a:r>
              <a:rPr lang="en-US" sz="2800" dirty="0" smtClean="0">
                <a:solidFill>
                  <a:srgbClr val="008000"/>
                </a:solidFill>
                <a:latin typeface="Times New Roman" charset="0"/>
              </a:rPr>
              <a:t> once.</a:t>
            </a:r>
            <a:endParaRPr lang="en-US" sz="2800" dirty="0">
              <a:solidFill>
                <a:srgbClr val="0080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71999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  <p:bldP spid="10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45294" y="843148"/>
            <a:ext cx="9067800" cy="6014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2400" kern="0" dirty="0">
                <a:latin typeface="Lucida Console" panose="020B0609040504020204" pitchFamily="49" charset="0"/>
              </a:rPr>
              <a:t>% cat </a:t>
            </a:r>
            <a:r>
              <a:rPr lang="en-US" sz="2400" kern="0" dirty="0" err="1">
                <a:latin typeface="Lucida Console" panose="020B0609040504020204" pitchFamily="49" charset="0"/>
              </a:rPr>
              <a:t>exampleOfStatic.c</a:t>
            </a:r>
            <a:endParaRPr lang="en-US" sz="2400" kern="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2400" kern="0" dirty="0">
                <a:latin typeface="Lucida Console" panose="020B0609040504020204" pitchFamily="49" charset="0"/>
              </a:rPr>
              <a:t>#include &lt;</a:t>
            </a:r>
            <a:r>
              <a:rPr lang="en-US" sz="2400" kern="0" dirty="0" err="1">
                <a:latin typeface="Lucida Console" panose="020B0609040504020204" pitchFamily="49" charset="0"/>
              </a:rPr>
              <a:t>stdio.h</a:t>
            </a:r>
            <a:r>
              <a:rPr lang="en-US" sz="2400" kern="0" dirty="0">
                <a:latin typeface="Lucida Console" panose="020B0609040504020204" pitchFamily="49" charset="0"/>
              </a:rPr>
              <a:t>&gt;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2400" kern="0" dirty="0">
                <a:latin typeface="Lucida Console" panose="020B0609040504020204" pitchFamily="49" charset="0"/>
              </a:rPr>
              <a:t>void f()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2400" kern="0" dirty="0">
                <a:latin typeface="Lucida Console" panose="020B0609040504020204" pitchFamily="49" charset="0"/>
              </a:rPr>
              <a:t>{ </a:t>
            </a:r>
            <a:r>
              <a:rPr lang="en-US" sz="2400" b="1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static</a:t>
            </a:r>
            <a:r>
              <a:rPr lang="en-US" sz="2400" kern="0" dirty="0">
                <a:latin typeface="Lucida Console" panose="020B0609040504020204" pitchFamily="49" charset="0"/>
              </a:rPr>
              <a:t> </a:t>
            </a:r>
            <a:r>
              <a:rPr lang="en-US" sz="2400" kern="0" dirty="0" err="1">
                <a:latin typeface="Lucida Console" panose="020B0609040504020204" pitchFamily="49" charset="0"/>
              </a:rPr>
              <a:t>int</a:t>
            </a:r>
            <a:r>
              <a:rPr lang="en-US" sz="2400" kern="0" dirty="0">
                <a:latin typeface="Lucida Console" panose="020B0609040504020204" pitchFamily="49" charset="0"/>
              </a:rPr>
              <a:t> </a:t>
            </a:r>
            <a:r>
              <a:rPr lang="en-US" sz="2400" b="1" kern="0" dirty="0">
                <a:solidFill>
                  <a:srgbClr val="339933"/>
                </a:solidFill>
                <a:latin typeface="Lucida Console" panose="020B0609040504020204" pitchFamily="49" charset="0"/>
              </a:rPr>
              <a:t>X</a:t>
            </a:r>
            <a:r>
              <a:rPr lang="en-US" sz="2400" kern="0" dirty="0">
                <a:latin typeface="Lucida Console" panose="020B0609040504020204" pitchFamily="49" charset="0"/>
              </a:rPr>
              <a:t>, </a:t>
            </a:r>
            <a:r>
              <a:rPr lang="en-US" sz="2400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Y=0</a:t>
            </a:r>
            <a:r>
              <a:rPr lang="en-US" sz="2400" kern="0" dirty="0">
                <a:latin typeface="Lucida Console" panose="020B0609040504020204" pitchFamily="49" charset="0"/>
              </a:rPr>
              <a:t>; </a:t>
            </a:r>
            <a:r>
              <a:rPr 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// Y initializes once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2400" kern="0" dirty="0">
                <a:latin typeface="Lucida Console" panose="020B0609040504020204" pitchFamily="49" charset="0"/>
              </a:rPr>
              <a:t>  </a:t>
            </a:r>
            <a:r>
              <a:rPr lang="en-US" sz="2400" b="1" kern="0" dirty="0">
                <a:solidFill>
                  <a:srgbClr val="339933"/>
                </a:solidFill>
                <a:latin typeface="Lucida Console" panose="020B0609040504020204" pitchFamily="49" charset="0"/>
              </a:rPr>
              <a:t>X=0</a:t>
            </a:r>
            <a:r>
              <a:rPr lang="en-US" sz="2400" kern="0" dirty="0">
                <a:latin typeface="Lucida Console" panose="020B0609040504020204" pitchFamily="49" charset="0"/>
              </a:rPr>
              <a:t>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2400" kern="0" dirty="0">
                <a:latin typeface="Lucida Console" panose="020B0609040504020204" pitchFamily="49" charset="0"/>
              </a:rPr>
              <a:t>  </a:t>
            </a:r>
            <a:r>
              <a:rPr lang="en-US" sz="2400" kern="0" dirty="0" err="1">
                <a:latin typeface="Lucida Console" panose="020B0609040504020204" pitchFamily="49" charset="0"/>
              </a:rPr>
              <a:t>printf</a:t>
            </a:r>
            <a:r>
              <a:rPr lang="en-US" sz="2400" kern="0" dirty="0">
                <a:latin typeface="Lucida Console" panose="020B0609040504020204" pitchFamily="49" charset="0"/>
              </a:rPr>
              <a:t>("</a:t>
            </a:r>
            <a:r>
              <a:rPr lang="en-US" sz="2400" kern="0" dirty="0">
                <a:solidFill>
                  <a:srgbClr val="339933"/>
                </a:solidFill>
                <a:latin typeface="Lucida Console" panose="020B0609040504020204" pitchFamily="49" charset="0"/>
              </a:rPr>
              <a:t>%</a:t>
            </a:r>
            <a:r>
              <a:rPr lang="en-US" sz="2400" kern="0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d</a:t>
            </a:r>
            <a:r>
              <a:rPr lang="en-US" sz="2400" kern="0" dirty="0" err="1">
                <a:latin typeface="Lucida Console" panose="020B0609040504020204" pitchFamily="49" charset="0"/>
              </a:rPr>
              <a:t>,</a:t>
            </a:r>
            <a:r>
              <a:rPr lang="en-US" sz="2400" b="1" kern="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%</a:t>
            </a:r>
            <a:r>
              <a:rPr lang="en-US" sz="2400" b="1" kern="0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d</a:t>
            </a:r>
            <a:r>
              <a:rPr lang="en-US" sz="2400" b="1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  <a:r>
              <a:rPr lang="en-US" sz="2400" kern="0" dirty="0" smtClean="0">
                <a:latin typeface="Lucida Console" panose="020B0609040504020204" pitchFamily="49" charset="0"/>
              </a:rPr>
              <a:t> </a:t>
            </a:r>
            <a:r>
              <a:rPr lang="en-US" sz="2400" b="1" kern="0" dirty="0">
                <a:solidFill>
                  <a:srgbClr val="339933"/>
                </a:solidFill>
                <a:latin typeface="Lucida Console" panose="020B0609040504020204" pitchFamily="49" charset="0"/>
              </a:rPr>
              <a:t>X</a:t>
            </a:r>
            <a:r>
              <a:rPr lang="en-US" sz="2400" kern="0" dirty="0">
                <a:latin typeface="Lucida Console" panose="020B0609040504020204" pitchFamily="49" charset="0"/>
              </a:rPr>
              <a:t> reset</a:t>
            </a:r>
            <a:r>
              <a:rPr lang="en-US" sz="2400" kern="0" spc="-200" dirty="0">
                <a:latin typeface="Lucida Console" panose="020B0609040504020204" pitchFamily="49" charset="0"/>
              </a:rPr>
              <a:t>s</a:t>
            </a:r>
            <a:r>
              <a:rPr lang="en-US" sz="2400" kern="0" dirty="0">
                <a:latin typeface="Lucida Console" panose="020B0609040504020204" pitchFamily="49" charset="0"/>
              </a:rPr>
              <a:t>,</a:t>
            </a:r>
            <a:r>
              <a:rPr lang="en-US" sz="2000" kern="0" dirty="0">
                <a:latin typeface="Lucida Console" panose="020B0609040504020204" pitchFamily="49" charset="0"/>
              </a:rPr>
              <a:t> </a:t>
            </a:r>
            <a:r>
              <a:rPr lang="en-US" sz="2400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Y</a:t>
            </a:r>
            <a:r>
              <a:rPr lang="en-US" sz="2400" kern="0" dirty="0">
                <a:latin typeface="Lucida Console" panose="020B0609040504020204" pitchFamily="49" charset="0"/>
              </a:rPr>
              <a:t> does</a:t>
            </a:r>
            <a:r>
              <a:rPr lang="en-US" sz="2400" kern="0" spc="-300" dirty="0">
                <a:latin typeface="Lucida Console" panose="020B0609040504020204" pitchFamily="49" charset="0"/>
              </a:rPr>
              <a:t>n'</a:t>
            </a:r>
            <a:r>
              <a:rPr lang="en-US" sz="2400" kern="0" dirty="0">
                <a:latin typeface="Lucida Console" panose="020B0609040504020204" pitchFamily="49" charset="0"/>
              </a:rPr>
              <a:t>t\</a:t>
            </a:r>
            <a:r>
              <a:rPr lang="en-US" sz="2400" kern="0" dirty="0" err="1">
                <a:latin typeface="Lucida Console" panose="020B0609040504020204" pitchFamily="49" charset="0"/>
              </a:rPr>
              <a:t>n",</a:t>
            </a:r>
            <a:r>
              <a:rPr lang="en-US" sz="2400" b="1" kern="0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X</a:t>
            </a:r>
            <a:r>
              <a:rPr lang="en-US" sz="2400" b="1" kern="0" dirty="0">
                <a:solidFill>
                  <a:srgbClr val="339933"/>
                </a:solidFill>
                <a:latin typeface="Lucida Console" panose="020B0609040504020204" pitchFamily="49" charset="0"/>
              </a:rPr>
              <a:t>++</a:t>
            </a:r>
            <a:r>
              <a:rPr lang="en-US" sz="2400" kern="0" dirty="0">
                <a:latin typeface="Lucida Console" panose="020B0609040504020204" pitchFamily="49" charset="0"/>
              </a:rPr>
              <a:t>,</a:t>
            </a:r>
            <a:r>
              <a:rPr lang="en-US" sz="2400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Y++</a:t>
            </a:r>
            <a:r>
              <a:rPr lang="en-US" sz="2400" kern="0" spc="-300" dirty="0">
                <a:latin typeface="Lucida Console" panose="020B0609040504020204" pitchFamily="49" charset="0"/>
              </a:rPr>
              <a:t>)</a:t>
            </a:r>
            <a:r>
              <a:rPr lang="en-US" sz="2400" kern="0" dirty="0">
                <a:latin typeface="Lucida Console" panose="020B0609040504020204" pitchFamily="49" charset="0"/>
              </a:rPr>
              <a:t>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2400" kern="0" dirty="0">
                <a:latin typeface="Lucida Console" panose="020B0609040504020204" pitchFamily="49" charset="0"/>
              </a:rPr>
              <a:t>}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2400" kern="0" dirty="0" err="1">
                <a:latin typeface="Lucida Console" panose="020B0609040504020204" pitchFamily="49" charset="0"/>
              </a:rPr>
              <a:t>int</a:t>
            </a:r>
            <a:r>
              <a:rPr lang="en-US" sz="2400" kern="0" dirty="0">
                <a:latin typeface="Lucida Console" panose="020B0609040504020204" pitchFamily="49" charset="0"/>
              </a:rPr>
              <a:t> main()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2400" kern="0" dirty="0">
                <a:latin typeface="Lucida Console" panose="020B0609040504020204" pitchFamily="49" charset="0"/>
              </a:rPr>
              <a:t>{ f(); </a:t>
            </a:r>
            <a:r>
              <a:rPr 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// When called, X=0 &amp; Y=0</a:t>
            </a:r>
            <a:r>
              <a:rPr lang="en-US" sz="2400" kern="0" dirty="0">
                <a:latin typeface="Lucida Console" panose="020B0609040504020204" pitchFamily="49" charset="0"/>
              </a:rPr>
              <a:t>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400" kern="0" dirty="0">
                <a:latin typeface="Lucida Console" panose="020B0609040504020204" pitchFamily="49" charset="0"/>
              </a:rPr>
              <a:t>  f(); </a:t>
            </a:r>
            <a:r>
              <a:rPr lang="en-US" altLang="zh-TW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// When called, X=0 &amp; Y=1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2400" kern="0" dirty="0">
                <a:latin typeface="Lucida Console" panose="020B0609040504020204" pitchFamily="49" charset="0"/>
              </a:rPr>
              <a:t>  f(); </a:t>
            </a:r>
            <a:r>
              <a:rPr lang="en-US" altLang="zh-TW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// When called, X=0 &amp; Y=2</a:t>
            </a:r>
            <a:endParaRPr lang="en-US" sz="2400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sz="2400" kern="0" dirty="0">
                <a:latin typeface="Lucida Console" panose="020B0609040504020204" pitchFamily="49" charset="0"/>
              </a:rPr>
              <a:t>}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400" kern="0" dirty="0">
                <a:latin typeface="Lucida Console" panose="020B0609040504020204" pitchFamily="49" charset="0"/>
              </a:rPr>
              <a:t>% </a:t>
            </a:r>
            <a:r>
              <a:rPr lang="en-US" altLang="zh-TW" sz="2400" kern="0" dirty="0" err="1">
                <a:latin typeface="Lucida Console" panose="020B0609040504020204" pitchFamily="49" charset="0"/>
              </a:rPr>
              <a:t>gcc</a:t>
            </a:r>
            <a:r>
              <a:rPr lang="en-US" altLang="zh-TW" sz="2400" kern="0" dirty="0">
                <a:latin typeface="Lucida Console" panose="020B0609040504020204" pitchFamily="49" charset="0"/>
              </a:rPr>
              <a:t> -o </a:t>
            </a:r>
            <a:r>
              <a:rPr lang="en-US" altLang="zh-TW" sz="2400" kern="0" dirty="0" err="1">
                <a:latin typeface="Lucida Console" panose="020B0609040504020204" pitchFamily="49" charset="0"/>
              </a:rPr>
              <a:t>static.x</a:t>
            </a:r>
            <a:r>
              <a:rPr lang="en-US" altLang="zh-TW" sz="2400" kern="0" dirty="0">
                <a:latin typeface="Lucida Console" panose="020B0609040504020204" pitchFamily="49" charset="0"/>
              </a:rPr>
              <a:t> </a:t>
            </a:r>
            <a:r>
              <a:rPr lang="en-US" altLang="zh-TW" sz="2400" kern="0" dirty="0" err="1">
                <a:latin typeface="Lucida Console" panose="020B0609040504020204" pitchFamily="49" charset="0"/>
              </a:rPr>
              <a:t>exampleOfStatic.c</a:t>
            </a:r>
            <a:r>
              <a:rPr lang="en-US" altLang="zh-TW" sz="2400" kern="0" dirty="0">
                <a:latin typeface="Lucida Console" panose="020B0609040504020204" pitchFamily="49" charset="0"/>
              </a:rPr>
              <a:t>; ./</a:t>
            </a:r>
            <a:r>
              <a:rPr lang="en-US" altLang="zh-TW" sz="2400" kern="0" dirty="0" err="1">
                <a:latin typeface="Lucida Console" panose="020B0609040504020204" pitchFamily="49" charset="0"/>
              </a:rPr>
              <a:t>static.x</a:t>
            </a:r>
            <a:endParaRPr lang="en-US" altLang="zh-TW" sz="2400" kern="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400" b="1" kern="0" dirty="0" smtClean="0">
                <a:solidFill>
                  <a:srgbClr val="339933"/>
                </a:solidFill>
                <a:latin typeface="Lucida Console" panose="020B0609040504020204" pitchFamily="49" charset="0"/>
              </a:rPr>
              <a:t>0</a:t>
            </a:r>
            <a:r>
              <a:rPr lang="en-US" altLang="zh-TW" sz="2400" kern="0" dirty="0" smtClean="0">
                <a:latin typeface="Lucida Console" panose="020B0609040504020204" pitchFamily="49" charset="0"/>
              </a:rPr>
              <a:t>,</a:t>
            </a:r>
            <a:r>
              <a:rPr lang="en-US" altLang="zh-TW" sz="2400" b="1" kern="0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0</a:t>
            </a:r>
            <a:r>
              <a:rPr lang="en-US" altLang="zh-TW" sz="2400" b="1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  <a:r>
              <a:rPr lang="en-US" altLang="zh-TW" sz="2400" kern="0" dirty="0" smtClean="0">
                <a:latin typeface="Lucida Console" panose="020B0609040504020204" pitchFamily="49" charset="0"/>
              </a:rPr>
              <a:t> </a:t>
            </a:r>
            <a:r>
              <a:rPr lang="en-US" altLang="zh-TW" sz="2400" b="1" kern="0" dirty="0">
                <a:solidFill>
                  <a:srgbClr val="339933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400" kern="0" dirty="0">
                <a:latin typeface="Lucida Console" panose="020B0609040504020204" pitchFamily="49" charset="0"/>
              </a:rPr>
              <a:t> resets, </a:t>
            </a:r>
            <a:r>
              <a:rPr lang="en-US" altLang="zh-TW" sz="2400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sz="2400" kern="0" dirty="0">
                <a:latin typeface="Lucida Console" panose="020B0609040504020204" pitchFamily="49" charset="0"/>
              </a:rPr>
              <a:t> doesn't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400" b="1" kern="0" dirty="0" smtClean="0">
                <a:solidFill>
                  <a:srgbClr val="339933"/>
                </a:solidFill>
                <a:latin typeface="Lucida Console" panose="020B0609040504020204" pitchFamily="49" charset="0"/>
              </a:rPr>
              <a:t>0</a:t>
            </a:r>
            <a:r>
              <a:rPr lang="en-US" altLang="zh-TW" sz="2400" kern="0" dirty="0" smtClean="0">
                <a:latin typeface="Lucida Console" panose="020B0609040504020204" pitchFamily="49" charset="0"/>
              </a:rPr>
              <a:t>,</a:t>
            </a:r>
            <a:r>
              <a:rPr lang="en-US" altLang="zh-TW" sz="2400" b="1" kern="0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sz="2400" b="1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  <a:r>
              <a:rPr lang="en-US" altLang="zh-TW" sz="2400" kern="0" dirty="0" smtClean="0">
                <a:latin typeface="Lucida Console" panose="020B0609040504020204" pitchFamily="49" charset="0"/>
              </a:rPr>
              <a:t> </a:t>
            </a:r>
            <a:r>
              <a:rPr lang="en-US" altLang="zh-TW" sz="2400" b="1" kern="0" dirty="0">
                <a:solidFill>
                  <a:srgbClr val="339933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400" kern="0" dirty="0">
                <a:latin typeface="Lucida Console" panose="020B0609040504020204" pitchFamily="49" charset="0"/>
              </a:rPr>
              <a:t> resets, </a:t>
            </a:r>
            <a:r>
              <a:rPr lang="en-US" altLang="zh-TW" sz="2400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sz="2400" kern="0" dirty="0">
                <a:latin typeface="Lucida Console" panose="020B0609040504020204" pitchFamily="49" charset="0"/>
              </a:rPr>
              <a:t> doesn't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400" b="1" kern="0" dirty="0" smtClean="0">
                <a:solidFill>
                  <a:srgbClr val="339933"/>
                </a:solidFill>
                <a:latin typeface="Lucida Console" panose="020B0609040504020204" pitchFamily="49" charset="0"/>
              </a:rPr>
              <a:t>0</a:t>
            </a:r>
            <a:r>
              <a:rPr lang="en-US" altLang="zh-TW" sz="2400" kern="0" dirty="0" smtClean="0">
                <a:latin typeface="Lucida Console" panose="020B0609040504020204" pitchFamily="49" charset="0"/>
              </a:rPr>
              <a:t>,</a:t>
            </a:r>
            <a:r>
              <a:rPr lang="en-US" altLang="zh-TW" sz="2400" b="1" kern="0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sz="2400" b="1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  <a:r>
              <a:rPr lang="en-US" altLang="zh-TW" sz="2400" kern="0" dirty="0" smtClean="0">
                <a:latin typeface="Lucida Console" panose="020B0609040504020204" pitchFamily="49" charset="0"/>
              </a:rPr>
              <a:t> </a:t>
            </a:r>
            <a:r>
              <a:rPr lang="en-US" altLang="zh-TW" sz="2400" b="1" kern="0" dirty="0">
                <a:solidFill>
                  <a:srgbClr val="339933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400" kern="0" dirty="0">
                <a:latin typeface="Lucida Console" panose="020B0609040504020204" pitchFamily="49" charset="0"/>
              </a:rPr>
              <a:t> resets, </a:t>
            </a:r>
            <a:r>
              <a:rPr lang="en-US" altLang="zh-TW" sz="2400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sz="2400" kern="0" dirty="0">
                <a:latin typeface="Lucida Console" panose="020B0609040504020204" pitchFamily="49" charset="0"/>
              </a:rPr>
              <a:t> doesn't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zh-TW" sz="2400" kern="0" dirty="0">
                <a:latin typeface="Lucida Console" panose="020B0609040504020204" pitchFamily="49" charset="0"/>
              </a:rPr>
              <a:t>%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-438941" y="5942"/>
            <a:ext cx="10607675" cy="837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C</a:t>
            </a:r>
            <a:r>
              <a:rPr lang="en-GB" altLang="en-US" sz="4400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GB" altLang="en-US" sz="4400" b="1" dirty="0">
                <a:solidFill>
                  <a:srgbClr val="0070C0"/>
                </a:solidFill>
                <a:latin typeface="Elephant" panose="02020904090505020303" pitchFamily="18" charset="0"/>
              </a:rPr>
              <a:t>Static</a:t>
            </a:r>
            <a:r>
              <a:rPr lang="en-GB" altLang="en-US" sz="4400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GB" altLang="en-US" sz="4400" spc="-200" dirty="0">
                <a:solidFill>
                  <a:srgbClr val="0070C0"/>
                </a:solidFill>
                <a:latin typeface="Elephant" panose="02020904090505020303" pitchFamily="18" charset="0"/>
              </a:rPr>
              <a:t>V</a:t>
            </a:r>
            <a:r>
              <a:rPr lang="en-GB" altLang="en-US" sz="4400" dirty="0">
                <a:solidFill>
                  <a:srgbClr val="0070C0"/>
                </a:solidFill>
                <a:latin typeface="Elephant" panose="02020904090505020303" pitchFamily="18" charset="0"/>
              </a:rPr>
              <a:t>aria</a:t>
            </a:r>
            <a:r>
              <a:rPr lang="en-GB" altLang="en-US" sz="4400" spc="-100" dirty="0">
                <a:solidFill>
                  <a:srgbClr val="0070C0"/>
                </a:solidFill>
                <a:latin typeface="Elephant" panose="02020904090505020303" pitchFamily="18" charset="0"/>
              </a:rPr>
              <a:t>bl</a:t>
            </a:r>
            <a:r>
              <a:rPr lang="en-GB" altLang="en-US" sz="4400" dirty="0">
                <a:solidFill>
                  <a:srgbClr val="0070C0"/>
                </a:solidFill>
                <a:latin typeface="Elephant" panose="02020904090505020303" pitchFamily="18" charset="0"/>
              </a:rPr>
              <a:t>es Initialize </a:t>
            </a:r>
            <a:r>
              <a:rPr lang="en-GB" altLang="en-US" sz="4400" spc="-100" dirty="0" smtClean="0">
                <a:solidFill>
                  <a:srgbClr val="0070C0"/>
                </a:solidFill>
                <a:latin typeface="Elephant" panose="02020904090505020303" pitchFamily="18" charset="0"/>
              </a:rPr>
              <a:t>On</a:t>
            </a:r>
            <a:r>
              <a:rPr lang="en-GB" altLang="en-US" sz="4400" dirty="0" smtClean="0">
                <a:solidFill>
                  <a:srgbClr val="0070C0"/>
                </a:solidFill>
                <a:latin typeface="Elephant" panose="02020904090505020303" pitchFamily="18" charset="0"/>
              </a:rPr>
              <a:t>ce</a:t>
            </a:r>
            <a:endParaRPr lang="en-US" altLang="zh-TW" sz="4400" b="1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5665788" y="5375558"/>
            <a:ext cx="3755798" cy="1482442"/>
          </a:xfrm>
          <a:prstGeom prst="wedgeRoundRectCallout">
            <a:avLst>
              <a:gd name="adj1" fmla="val -107676"/>
              <a:gd name="adj2" fmla="val -12463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 smtClean="0">
                <a:solidFill>
                  <a:srgbClr val="008000"/>
                </a:solidFill>
                <a:latin typeface="Times New Roman" charset="0"/>
              </a:rPr>
              <a:t>See? Like a C-language static variable, it only initialized to 0 once.</a:t>
            </a:r>
            <a:endParaRPr lang="en-US" sz="2800" dirty="0">
              <a:solidFill>
                <a:srgbClr val="0080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737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0" y="1"/>
            <a:ext cx="9729788" cy="1161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dirty="0">
                <a:solidFill>
                  <a:srgbClr val="0070C0"/>
                </a:solidFill>
                <a:latin typeface="Elephant" panose="02020904090505020303" pitchFamily="18" charset="0"/>
                <a:ea typeface="新細明體" panose="02020500000000000000" pitchFamily="18" charset="-120"/>
                <a:cs typeface="+mj-cs"/>
              </a:rPr>
              <a:t>Mutable Default Arguments</a:t>
            </a:r>
            <a:endParaRPr lang="zh-TW" altLang="en-US" sz="4400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45294" y="847100"/>
            <a:ext cx="899160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eaLnBrk="1">
              <a:lnSpc>
                <a:spcPct val="93000"/>
              </a:lnSpc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100" kern="0" dirty="0">
                <a:solidFill>
                  <a:srgbClr val="FF0000"/>
                </a:solidFill>
                <a:latin typeface="Arial Narrow" panose="020B0606020202030204" pitchFamily="34" charset="0"/>
              </a:rPr>
              <a:t>  From: https://www.toptal.com/python/top-10-mistakes-that-python-programmers-make</a:t>
            </a:r>
          </a:p>
          <a:p>
            <a:pPr marL="95250" indent="0" eaLnBrk="1">
              <a:lnSpc>
                <a:spcPct val="93000"/>
              </a:lnSpc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sz="3200" kern="0" dirty="0"/>
              <a:t>A</a:t>
            </a:r>
            <a:r>
              <a:rPr lang="en-US" sz="2800" kern="0" dirty="0"/>
              <a:t> </a:t>
            </a:r>
            <a:r>
              <a:rPr lang="en-US" sz="3200" kern="0" dirty="0"/>
              <a:t>common</a:t>
            </a:r>
            <a:r>
              <a:rPr lang="en-US" sz="2800" kern="0" dirty="0"/>
              <a:t> </a:t>
            </a:r>
            <a:r>
              <a:rPr lang="en-US" sz="3200" kern="0" dirty="0"/>
              <a:t>error</a:t>
            </a:r>
            <a:r>
              <a:rPr lang="en-US" sz="2800" kern="0" dirty="0"/>
              <a:t> </a:t>
            </a:r>
            <a:r>
              <a:rPr lang="en-US" sz="3200" kern="0" dirty="0"/>
              <a:t>is</a:t>
            </a:r>
            <a:r>
              <a:rPr lang="en-US" sz="2800" kern="0" dirty="0"/>
              <a:t> </a:t>
            </a:r>
            <a:r>
              <a:rPr lang="en-US" sz="3200" kern="0" dirty="0"/>
              <a:t>to</a:t>
            </a:r>
            <a:r>
              <a:rPr lang="en-US" sz="2800" kern="0" dirty="0"/>
              <a:t> </a:t>
            </a:r>
            <a:r>
              <a:rPr lang="en-US" sz="3200" kern="0" dirty="0"/>
              <a:t>think</a:t>
            </a:r>
            <a:r>
              <a:rPr lang="en-US" sz="2800" kern="0" dirty="0"/>
              <a:t> </a:t>
            </a:r>
            <a:r>
              <a:rPr lang="en-US" sz="3200" kern="0" dirty="0"/>
              <a:t>an</a:t>
            </a:r>
            <a:r>
              <a:rPr lang="en-US" sz="2800" kern="0" dirty="0"/>
              <a:t> </a:t>
            </a:r>
            <a:r>
              <a:rPr lang="en-US" sz="3200" kern="0" dirty="0"/>
              <a:t>optional</a:t>
            </a:r>
            <a:r>
              <a:rPr lang="en-US" sz="2800" kern="0" dirty="0"/>
              <a:t> </a:t>
            </a:r>
            <a:r>
              <a:rPr lang="en-US" sz="3200" kern="0" dirty="0"/>
              <a:t>argument will be set to the default </a:t>
            </a:r>
            <a:r>
              <a:rPr lang="en-US" sz="3200" i="1" kern="0" dirty="0"/>
              <a:t>each time</a:t>
            </a:r>
            <a:r>
              <a:rPr lang="en-US" sz="3200" kern="0" dirty="0"/>
              <a:t> the function is called without that optional argument: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endParaRPr lang="en-US" sz="2400" kern="0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kern="0" dirty="0">
                <a:latin typeface="Lucida Console" panose="020B0609040504020204" pitchFamily="49" charset="0"/>
              </a:rPr>
              <a:t> </a:t>
            </a:r>
            <a:r>
              <a:rPr lang="en-US" sz="2400" kern="0" dirty="0" err="1">
                <a:latin typeface="Lucida Console" panose="020B0609040504020204" pitchFamily="49" charset="0"/>
              </a:rPr>
              <a:t>def</a:t>
            </a:r>
            <a:r>
              <a:rPr lang="en-US" sz="2400" kern="0" dirty="0">
                <a:latin typeface="Lucida Console" panose="020B0609040504020204" pitchFamily="49" charset="0"/>
              </a:rPr>
              <a:t> foo(bar=[]): # bar defaults to []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400" kern="0" dirty="0">
                <a:latin typeface="Lucida Console" panose="020B0609040504020204" pitchFamily="49" charset="0"/>
              </a:rPr>
              <a:t>    </a:t>
            </a:r>
            <a:r>
              <a:rPr lang="en-US" sz="2400" kern="0" dirty="0" err="1">
                <a:latin typeface="Lucida Console" panose="020B0609040504020204" pitchFamily="49" charset="0"/>
              </a:rPr>
              <a:t>bar.append</a:t>
            </a:r>
            <a:r>
              <a:rPr lang="en-US" sz="2400" kern="0" dirty="0">
                <a:latin typeface="Lucida Console" panose="020B0609040504020204" pitchFamily="49" charset="0"/>
              </a:rPr>
              <a:t>("</a:t>
            </a:r>
            <a:r>
              <a:rPr lang="en-US" sz="2400" kern="0" dirty="0" err="1"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latin typeface="Lucida Console" panose="020B0609040504020204" pitchFamily="49" charset="0"/>
              </a:rPr>
              <a:t>") # this is problematic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400" kern="0" dirty="0">
                <a:latin typeface="Lucida Console" panose="020B0609040504020204" pitchFamily="49" charset="0"/>
              </a:rPr>
              <a:t>    return bar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foo()</a:t>
            </a:r>
            <a:r>
              <a:rPr 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  <a:r>
              <a:rPr lang="en-US" sz="2400" kern="0" dirty="0">
                <a:solidFill>
                  <a:srgbClr val="F98700"/>
                </a:solidFill>
                <a:latin typeface="Lucida Console" panose="020B0609040504020204" pitchFamily="49" charset="0"/>
              </a:rPr>
              <a:t>foo</a:t>
            </a:r>
            <a:r>
              <a:rPr lang="en-US" sz="2400" kern="0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()</a:t>
            </a:r>
            <a:r>
              <a:rPr lang="en-US" sz="24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  <a:endParaRPr lang="en-US" sz="2400" kern="0" dirty="0" smtClean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['</a:t>
            </a:r>
            <a:r>
              <a:rPr lang="en-US" sz="2400" kern="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[</a:t>
            </a:r>
            <a:r>
              <a:rPr lang="en-US" sz="2400" kern="0" dirty="0">
                <a:solidFill>
                  <a:srgbClr val="F98700"/>
                </a:solidFill>
                <a:latin typeface="Lucida Console" panose="020B0609040504020204" pitchFamily="49" charset="0"/>
              </a:rPr>
              <a:t>'</a:t>
            </a:r>
            <a:r>
              <a:rPr lang="en-US" sz="2400" kern="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F98700"/>
                </a:solidFill>
                <a:latin typeface="Lucida Console" panose="020B0609040504020204" pitchFamily="49" charset="0"/>
              </a:rPr>
              <a:t>', '</a:t>
            </a:r>
            <a:r>
              <a:rPr lang="en-US" sz="2400" kern="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400" kern="0" dirty="0" smtClean="0">
                <a:solidFill>
                  <a:srgbClr val="008000"/>
                </a:solidFill>
                <a:latin typeface="Lucida Console" panose="020B0609040504020204" pitchFamily="49" charset="0"/>
              </a:rPr>
              <a:t>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 smtClean="0">
                <a:solidFill>
                  <a:srgbClr val="0000FF"/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kern="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8282" y="4390326"/>
            <a:ext cx="7425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dirty="0"/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5677218" y="5375558"/>
            <a:ext cx="3755798" cy="1482442"/>
          </a:xfrm>
          <a:prstGeom prst="wedgeRoundRectCallout">
            <a:avLst>
              <a:gd name="adj1" fmla="val -119240"/>
              <a:gd name="adj2" fmla="val -49473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 smtClean="0">
                <a:solidFill>
                  <a:srgbClr val="008000"/>
                </a:solidFill>
                <a:latin typeface="Times New Roman" charset="0"/>
              </a:rPr>
              <a:t>See? Like a C-language static variable, it only initialized to </a:t>
            </a:r>
            <a:r>
              <a:rPr lang="en-US" sz="2800" dirty="0" smtClean="0">
                <a:solidFill>
                  <a:srgbClr val="008000"/>
                </a:solidFill>
                <a:latin typeface="Agency FB" panose="020B0503020202020204" pitchFamily="34" charset="0"/>
                <a:cs typeface="Times New Roman" panose="02020603050405020304" pitchFamily="18" charset="0"/>
              </a:rPr>
              <a:t>[</a:t>
            </a:r>
            <a:r>
              <a:rPr lang="en-US" dirty="0" smtClean="0">
                <a:solidFill>
                  <a:srgbClr val="008000"/>
                </a:solidFill>
                <a:latin typeface="Agency FB" panose="020B0503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solidFill>
                  <a:srgbClr val="008000"/>
                </a:solidFill>
                <a:latin typeface="Agency FB" panose="020B0503020202020204" pitchFamily="34" charset="0"/>
                <a:cs typeface="Times New Roman" panose="02020603050405020304" pitchFamily="18" charset="0"/>
              </a:rPr>
              <a:t>]</a:t>
            </a:r>
            <a:r>
              <a:rPr lang="en-US" sz="2800" dirty="0" smtClean="0">
                <a:solidFill>
                  <a:srgbClr val="008000"/>
                </a:solidFill>
                <a:latin typeface="Times New Roman" charset="0"/>
              </a:rPr>
              <a:t> once.</a:t>
            </a:r>
            <a:endParaRPr lang="en-US" sz="2800" dirty="0">
              <a:solidFill>
                <a:srgbClr val="0080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752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0" y="1"/>
            <a:ext cx="9729788" cy="1161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dirty="0">
                <a:solidFill>
                  <a:srgbClr val="0070C0"/>
                </a:solidFill>
                <a:latin typeface="Elephant" panose="02020904090505020303" pitchFamily="18" charset="0"/>
                <a:ea typeface="新細明體" panose="02020500000000000000" pitchFamily="18" charset="-120"/>
                <a:cs typeface="+mj-cs"/>
              </a:rPr>
              <a:t>Mutable Default Arguments</a:t>
            </a:r>
            <a:endParaRPr lang="zh-TW" altLang="en-US" sz="4400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45294" y="847100"/>
            <a:ext cx="899160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eaLnBrk="1">
              <a:lnSpc>
                <a:spcPct val="93000"/>
              </a:lnSpc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100" kern="0" dirty="0">
                <a:solidFill>
                  <a:srgbClr val="FF0000"/>
                </a:solidFill>
                <a:latin typeface="Arial Narrow" panose="020B0606020202030204" pitchFamily="34" charset="0"/>
              </a:rPr>
              <a:t>  From: https://www.toptal.com/python/top-10-mistakes-that-python-programmers-make</a:t>
            </a:r>
          </a:p>
          <a:p>
            <a:pPr marL="95250" indent="0" eaLnBrk="1">
              <a:lnSpc>
                <a:spcPct val="93000"/>
              </a:lnSpc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sz="3200" kern="0" dirty="0"/>
              <a:t>A</a:t>
            </a:r>
            <a:r>
              <a:rPr lang="en-US" sz="2800" kern="0" dirty="0"/>
              <a:t> </a:t>
            </a:r>
            <a:r>
              <a:rPr lang="en-US" sz="3200" kern="0" dirty="0"/>
              <a:t>common</a:t>
            </a:r>
            <a:r>
              <a:rPr lang="en-US" sz="2800" kern="0" dirty="0"/>
              <a:t> </a:t>
            </a:r>
            <a:r>
              <a:rPr lang="en-US" sz="3200" kern="0" dirty="0"/>
              <a:t>error</a:t>
            </a:r>
            <a:r>
              <a:rPr lang="en-US" sz="2800" kern="0" dirty="0"/>
              <a:t> </a:t>
            </a:r>
            <a:r>
              <a:rPr lang="en-US" sz="3200" kern="0" dirty="0"/>
              <a:t>is</a:t>
            </a:r>
            <a:r>
              <a:rPr lang="en-US" sz="2800" kern="0" dirty="0"/>
              <a:t> </a:t>
            </a:r>
            <a:r>
              <a:rPr lang="en-US" sz="3200" kern="0" dirty="0"/>
              <a:t>to</a:t>
            </a:r>
            <a:r>
              <a:rPr lang="en-US" sz="2800" kern="0" dirty="0"/>
              <a:t> </a:t>
            </a:r>
            <a:r>
              <a:rPr lang="en-US" sz="3200" kern="0" dirty="0"/>
              <a:t>think</a:t>
            </a:r>
            <a:r>
              <a:rPr lang="en-US" sz="2800" kern="0" dirty="0"/>
              <a:t> </a:t>
            </a:r>
            <a:r>
              <a:rPr lang="en-US" sz="3200" kern="0" dirty="0"/>
              <a:t>an</a:t>
            </a:r>
            <a:r>
              <a:rPr lang="en-US" sz="2800" kern="0" dirty="0"/>
              <a:t> </a:t>
            </a:r>
            <a:r>
              <a:rPr lang="en-US" sz="3200" kern="0" dirty="0"/>
              <a:t>optional</a:t>
            </a:r>
            <a:r>
              <a:rPr lang="en-US" sz="2800" kern="0" dirty="0"/>
              <a:t> </a:t>
            </a:r>
            <a:r>
              <a:rPr lang="en-US" sz="3200" kern="0" dirty="0"/>
              <a:t>argument will be set to the default </a:t>
            </a:r>
            <a:r>
              <a:rPr lang="en-US" sz="3200" i="1" kern="0" dirty="0"/>
              <a:t>each time</a:t>
            </a:r>
            <a:r>
              <a:rPr lang="en-US" sz="3200" kern="0" dirty="0"/>
              <a:t> the function is called without that optional argument: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endParaRPr lang="en-US" sz="2400" kern="0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kern="0" dirty="0">
                <a:latin typeface="Lucida Console" panose="020B0609040504020204" pitchFamily="49" charset="0"/>
              </a:rPr>
              <a:t> </a:t>
            </a:r>
            <a:r>
              <a:rPr lang="en-US" sz="2400" kern="0" dirty="0" err="1">
                <a:latin typeface="Lucida Console" panose="020B0609040504020204" pitchFamily="49" charset="0"/>
              </a:rPr>
              <a:t>def</a:t>
            </a:r>
            <a:r>
              <a:rPr lang="en-US" sz="2400" kern="0" dirty="0">
                <a:latin typeface="Lucida Console" panose="020B0609040504020204" pitchFamily="49" charset="0"/>
              </a:rPr>
              <a:t> foo(bar=[]): # bar defaults to []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400" kern="0" dirty="0">
                <a:latin typeface="Lucida Console" panose="020B0609040504020204" pitchFamily="49" charset="0"/>
              </a:rPr>
              <a:t>    </a:t>
            </a:r>
            <a:r>
              <a:rPr lang="en-US" sz="2400" kern="0" dirty="0" err="1">
                <a:latin typeface="Lucida Console" panose="020B0609040504020204" pitchFamily="49" charset="0"/>
              </a:rPr>
              <a:t>bar.append</a:t>
            </a:r>
            <a:r>
              <a:rPr lang="en-US" sz="2400" kern="0" dirty="0">
                <a:latin typeface="Lucida Console" panose="020B0609040504020204" pitchFamily="49" charset="0"/>
              </a:rPr>
              <a:t>("</a:t>
            </a:r>
            <a:r>
              <a:rPr lang="en-US" sz="2400" kern="0" dirty="0" err="1"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latin typeface="Lucida Console" panose="020B0609040504020204" pitchFamily="49" charset="0"/>
              </a:rPr>
              <a:t>") # this is problematic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400" kern="0" dirty="0">
                <a:latin typeface="Lucida Console" panose="020B0609040504020204" pitchFamily="49" charset="0"/>
              </a:rPr>
              <a:t>    return bar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foo</a:t>
            </a:r>
            <a:r>
              <a:rPr lang="en-US" sz="2400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()</a:t>
            </a:r>
            <a:r>
              <a:rPr lang="en-US" sz="24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  <a:r>
              <a:rPr lang="en-US" sz="2400" kern="0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foo()</a:t>
            </a:r>
            <a:r>
              <a:rPr lang="en-US" sz="2400" kern="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  <a:r>
              <a:rPr lang="en-US" sz="2400" kern="0" dirty="0">
                <a:solidFill>
                  <a:srgbClr val="008000"/>
                </a:solidFill>
                <a:latin typeface="Lucida Console" panose="020B0609040504020204" pitchFamily="49" charset="0"/>
              </a:rPr>
              <a:t>foo([1,2,3,4,5,6,7])</a:t>
            </a:r>
            <a:r>
              <a:rPr 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  <a:r>
              <a:rPr lang="en-US" sz="2400" kern="0" dirty="0">
                <a:solidFill>
                  <a:srgbClr val="0000FF"/>
                </a:solidFill>
                <a:latin typeface="Lucida Console" panose="020B0609040504020204" pitchFamily="49" charset="0"/>
              </a:rPr>
              <a:t>foo()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['</a:t>
            </a:r>
            <a:r>
              <a:rPr 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rgbClr val="F98700"/>
                </a:solidFill>
                <a:latin typeface="Lucida Console" panose="020B0609040504020204" pitchFamily="49" charset="0"/>
              </a:rPr>
              <a:t>['</a:t>
            </a:r>
            <a:r>
              <a:rPr lang="en-US" sz="2400" kern="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F98700"/>
                </a:solidFill>
                <a:latin typeface="Lucida Console" panose="020B0609040504020204" pitchFamily="49" charset="0"/>
              </a:rPr>
              <a:t>', '</a:t>
            </a:r>
            <a:r>
              <a:rPr lang="en-US" sz="2400" kern="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F98700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400" kern="0" dirty="0">
                <a:solidFill>
                  <a:srgbClr val="008000"/>
                </a:solidFill>
                <a:latin typeface="Lucida Console" panose="020B0609040504020204" pitchFamily="49" charset="0"/>
              </a:rPr>
              <a:t>[1, 2, 3, 4, 5, 6, 7, '</a:t>
            </a:r>
            <a:r>
              <a:rPr lang="en-US" altLang="zh-TW" sz="2400" kern="0" dirty="0" err="1">
                <a:solidFill>
                  <a:srgbClr val="008000"/>
                </a:solidFill>
                <a:latin typeface="Lucida Console" panose="020B0609040504020204" pitchFamily="49" charset="0"/>
              </a:rPr>
              <a:t>baz</a:t>
            </a:r>
            <a:r>
              <a:rPr lang="en-US" altLang="zh-TW" sz="2400" kern="0" dirty="0">
                <a:solidFill>
                  <a:srgbClr val="008000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rgbClr val="0000FF"/>
                </a:solidFill>
                <a:latin typeface="Lucida Console" panose="020B0609040504020204" pitchFamily="49" charset="0"/>
              </a:rPr>
              <a:t>['</a:t>
            </a:r>
            <a:r>
              <a:rPr lang="en-US" sz="2400" kern="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0000FF"/>
                </a:solidFill>
                <a:latin typeface="Lucida Console" panose="020B0609040504020204" pitchFamily="49" charset="0"/>
              </a:rPr>
              <a:t>', '</a:t>
            </a:r>
            <a:r>
              <a:rPr lang="en-US" sz="2400" kern="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0000FF"/>
                </a:solidFill>
                <a:latin typeface="Lucida Console" panose="020B0609040504020204" pitchFamily="49" charset="0"/>
              </a:rPr>
              <a:t>', '</a:t>
            </a:r>
            <a:r>
              <a:rPr lang="en-US" sz="2400" kern="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0000FF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2" name="Rectangle 1"/>
          <p:cNvSpPr/>
          <p:nvPr/>
        </p:nvSpPr>
        <p:spPr>
          <a:xfrm>
            <a:off x="448282" y="4390326"/>
            <a:ext cx="7425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dirty="0"/>
          </a:p>
        </p:txBody>
      </p:sp>
      <p:sp>
        <p:nvSpPr>
          <p:cNvPr id="3" name="Rectangle 2"/>
          <p:cNvSpPr/>
          <p:nvPr/>
        </p:nvSpPr>
        <p:spPr bwMode="auto">
          <a:xfrm>
            <a:off x="3494314" y="4430486"/>
            <a:ext cx="3820886" cy="435428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7300912" y="4441371"/>
            <a:ext cx="1560059" cy="435428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44040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0" y="1"/>
            <a:ext cx="9729788" cy="1161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dirty="0">
                <a:solidFill>
                  <a:srgbClr val="0070C0"/>
                </a:solidFill>
                <a:latin typeface="Elephant" panose="02020904090505020303" pitchFamily="18" charset="0"/>
                <a:ea typeface="新細明體" panose="02020500000000000000" pitchFamily="18" charset="-120"/>
                <a:cs typeface="+mj-cs"/>
              </a:rPr>
              <a:t>Mutable Default Arguments</a:t>
            </a:r>
            <a:endParaRPr lang="zh-TW" altLang="en-US" sz="4400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45294" y="847100"/>
            <a:ext cx="899160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eaLnBrk="1">
              <a:lnSpc>
                <a:spcPct val="93000"/>
              </a:lnSpc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100" kern="0" dirty="0">
                <a:solidFill>
                  <a:srgbClr val="FF0000"/>
                </a:solidFill>
                <a:latin typeface="Arial Narrow" panose="020B0606020202030204" pitchFamily="34" charset="0"/>
              </a:rPr>
              <a:t>  From: https://www.toptal.com/python/top-10-mistakes-that-python-programmers-make</a:t>
            </a:r>
          </a:p>
          <a:p>
            <a:pPr marL="95250" indent="0" eaLnBrk="1">
              <a:lnSpc>
                <a:spcPct val="93000"/>
              </a:lnSpc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sz="3200" kern="0" dirty="0"/>
              <a:t>A</a:t>
            </a:r>
            <a:r>
              <a:rPr lang="en-US" sz="2800" kern="0" dirty="0"/>
              <a:t> </a:t>
            </a:r>
            <a:r>
              <a:rPr lang="en-US" sz="3200" kern="0" dirty="0"/>
              <a:t>common</a:t>
            </a:r>
            <a:r>
              <a:rPr lang="en-US" sz="2800" kern="0" dirty="0"/>
              <a:t> </a:t>
            </a:r>
            <a:r>
              <a:rPr lang="en-US" sz="3200" kern="0" dirty="0"/>
              <a:t>error</a:t>
            </a:r>
            <a:r>
              <a:rPr lang="en-US" sz="2800" kern="0" dirty="0"/>
              <a:t> </a:t>
            </a:r>
            <a:r>
              <a:rPr lang="en-US" sz="3200" kern="0" dirty="0"/>
              <a:t>is</a:t>
            </a:r>
            <a:r>
              <a:rPr lang="en-US" sz="2800" kern="0" dirty="0"/>
              <a:t> </a:t>
            </a:r>
            <a:r>
              <a:rPr lang="en-US" sz="3200" kern="0" dirty="0"/>
              <a:t>to</a:t>
            </a:r>
            <a:r>
              <a:rPr lang="en-US" sz="2800" kern="0" dirty="0"/>
              <a:t> </a:t>
            </a:r>
            <a:r>
              <a:rPr lang="en-US" sz="3200" kern="0" dirty="0"/>
              <a:t>think</a:t>
            </a:r>
            <a:r>
              <a:rPr lang="en-US" sz="2800" kern="0" dirty="0"/>
              <a:t> </a:t>
            </a:r>
            <a:r>
              <a:rPr lang="en-US" sz="3200" kern="0" dirty="0"/>
              <a:t>an</a:t>
            </a:r>
            <a:r>
              <a:rPr lang="en-US" sz="2800" kern="0" dirty="0"/>
              <a:t> </a:t>
            </a:r>
            <a:r>
              <a:rPr lang="en-US" sz="3200" kern="0" dirty="0"/>
              <a:t>optional</a:t>
            </a:r>
            <a:r>
              <a:rPr lang="en-US" sz="2800" kern="0" dirty="0"/>
              <a:t> </a:t>
            </a:r>
            <a:r>
              <a:rPr lang="en-US" sz="3200" kern="0" dirty="0"/>
              <a:t>argument will be set to the default </a:t>
            </a:r>
            <a:r>
              <a:rPr lang="en-US" sz="3200" i="1" kern="0" dirty="0"/>
              <a:t>each time</a:t>
            </a:r>
            <a:r>
              <a:rPr lang="en-US" sz="3200" kern="0" dirty="0"/>
              <a:t> the function is called without that optional argument: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endParaRPr lang="en-US" sz="2400" kern="0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kern="0" dirty="0">
                <a:latin typeface="Lucida Console" panose="020B0609040504020204" pitchFamily="49" charset="0"/>
              </a:rPr>
              <a:t> </a:t>
            </a:r>
            <a:r>
              <a:rPr lang="en-US" sz="2400" kern="0" dirty="0" err="1">
                <a:latin typeface="Lucida Console" panose="020B0609040504020204" pitchFamily="49" charset="0"/>
              </a:rPr>
              <a:t>def</a:t>
            </a:r>
            <a:r>
              <a:rPr lang="en-US" sz="2400" kern="0" dirty="0">
                <a:latin typeface="Lucida Console" panose="020B0609040504020204" pitchFamily="49" charset="0"/>
              </a:rPr>
              <a:t> foo(bar=[]): # bar defaults to []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400" kern="0" dirty="0">
                <a:latin typeface="Lucida Console" panose="020B0609040504020204" pitchFamily="49" charset="0"/>
              </a:rPr>
              <a:t>    </a:t>
            </a:r>
            <a:r>
              <a:rPr lang="en-US" sz="2400" kern="0" dirty="0" err="1">
                <a:latin typeface="Lucida Console" panose="020B0609040504020204" pitchFamily="49" charset="0"/>
              </a:rPr>
              <a:t>bar.append</a:t>
            </a:r>
            <a:r>
              <a:rPr lang="en-US" sz="2400" kern="0" dirty="0">
                <a:latin typeface="Lucida Console" panose="020B0609040504020204" pitchFamily="49" charset="0"/>
              </a:rPr>
              <a:t>("</a:t>
            </a:r>
            <a:r>
              <a:rPr lang="en-US" sz="2400" kern="0" dirty="0" err="1"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latin typeface="Lucida Console" panose="020B0609040504020204" pitchFamily="49" charset="0"/>
              </a:rPr>
              <a:t>") # this is problematic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400" kern="0" dirty="0">
                <a:latin typeface="Lucida Console" panose="020B0609040504020204" pitchFamily="49" charset="0"/>
              </a:rPr>
              <a:t>    return bar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foo();foo();foo([1,2,3,4,5,6,7]);</a:t>
            </a:r>
            <a:r>
              <a:rPr lang="en-US" sz="2400" kern="0" dirty="0">
                <a:solidFill>
                  <a:srgbClr val="0000FF"/>
                </a:solidFill>
                <a:latin typeface="Lucida Console" panose="020B0609040504020204" pitchFamily="49" charset="0"/>
              </a:rPr>
              <a:t>foo()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['</a:t>
            </a:r>
            <a:r>
              <a:rPr lang="en-US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['</a:t>
            </a:r>
            <a:r>
              <a:rPr lang="en-US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', '</a:t>
            </a:r>
            <a:r>
              <a:rPr lang="en-US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[1, 2, 3, 4, 5, 6, 7, '</a:t>
            </a:r>
            <a:r>
              <a:rPr lang="en-US" altLang="zh-TW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altLang="zh-TW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['</a:t>
            </a:r>
            <a:r>
              <a:rPr lang="en-US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', '</a:t>
            </a:r>
            <a:r>
              <a:rPr lang="en-US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', '</a:t>
            </a:r>
            <a:r>
              <a:rPr lang="en-US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322094" y="2904500"/>
            <a:ext cx="4114800" cy="979488"/>
            <a:chOff x="5322094" y="2904500"/>
            <a:chExt cx="4114800" cy="979488"/>
          </a:xfrm>
        </p:grpSpPr>
        <p:sp>
          <p:nvSpPr>
            <p:cNvPr id="8" name="Rounded Rectangular Callout 7"/>
            <p:cNvSpPr/>
            <p:nvPr/>
          </p:nvSpPr>
          <p:spPr bwMode="auto">
            <a:xfrm>
              <a:off x="5322094" y="2904500"/>
              <a:ext cx="4114800" cy="979488"/>
            </a:xfrm>
            <a:prstGeom prst="wedgeRoundRectCallout">
              <a:avLst>
                <a:gd name="adj1" fmla="val 10829"/>
                <a:gd name="adj2" fmla="val 112268"/>
                <a:gd name="adj3" fmla="val 16667"/>
              </a:avLst>
            </a:prstGeom>
            <a:solidFill>
              <a:srgbClr val="FFC000"/>
            </a:solidFill>
            <a:ln w="2857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800" dirty="0">
                  <a:solidFill>
                    <a:srgbClr val="FFC000"/>
                  </a:solidFill>
                  <a:latin typeface="Times New Roman" charset="0"/>
                </a:rPr>
                <a:t>…and so, when </a:t>
              </a:r>
              <a:r>
                <a:rPr lang="en-US" sz="2800" dirty="0">
                  <a:solidFill>
                    <a:srgbClr val="0000FF"/>
                  </a:solidFill>
                  <a:latin typeface="Times New Roman" charset="0"/>
                </a:rPr>
                <a:t>this call </a:t>
              </a:r>
              <a:r>
                <a:rPr lang="en-US" sz="2800" b="1" dirty="0">
                  <a:solidFill>
                    <a:srgbClr val="FFC000"/>
                  </a:solidFill>
                  <a:latin typeface="Times New Roman" charset="0"/>
                </a:rPr>
                <a:t>does</a:t>
              </a:r>
              <a:r>
                <a:rPr lang="en-US" sz="2800" dirty="0">
                  <a:solidFill>
                    <a:srgbClr val="0000FF"/>
                  </a:solidFill>
                  <a:latin typeface="Times New Roman" charset="0"/>
                </a:rPr>
                <a:t> use the default…</a:t>
              </a:r>
            </a:p>
          </p:txBody>
        </p:sp>
        <p:sp>
          <p:nvSpPr>
            <p:cNvPr id="2" name="Rectangle 1"/>
            <p:cNvSpPr/>
            <p:nvPr/>
          </p:nvSpPr>
          <p:spPr bwMode="auto">
            <a:xfrm>
              <a:off x="8720667" y="3589867"/>
              <a:ext cx="287866" cy="2032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819673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0" y="1"/>
            <a:ext cx="9729788" cy="1161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dirty="0">
                <a:solidFill>
                  <a:srgbClr val="0070C0"/>
                </a:solidFill>
                <a:latin typeface="Elephant" panose="02020904090505020303" pitchFamily="18" charset="0"/>
                <a:ea typeface="新細明體" panose="02020500000000000000" pitchFamily="18" charset="-120"/>
                <a:cs typeface="+mj-cs"/>
              </a:rPr>
              <a:t>Mutable Default Arguments</a:t>
            </a:r>
            <a:endParaRPr lang="zh-TW" altLang="en-US" sz="4400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45294" y="847100"/>
            <a:ext cx="899160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eaLnBrk="1">
              <a:lnSpc>
                <a:spcPct val="93000"/>
              </a:lnSpc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100" kern="0" dirty="0">
                <a:solidFill>
                  <a:srgbClr val="FF0000"/>
                </a:solidFill>
                <a:latin typeface="Arial Narrow" panose="020B0606020202030204" pitchFamily="34" charset="0"/>
              </a:rPr>
              <a:t>  From: https://www.toptal.com/python/top-10-mistakes-that-python-programmers-make</a:t>
            </a:r>
          </a:p>
          <a:p>
            <a:pPr marL="95250" indent="0" eaLnBrk="1">
              <a:lnSpc>
                <a:spcPct val="93000"/>
              </a:lnSpc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sz="3200" kern="0" dirty="0"/>
              <a:t>A</a:t>
            </a:r>
            <a:r>
              <a:rPr lang="en-US" sz="2800" kern="0" dirty="0"/>
              <a:t> </a:t>
            </a:r>
            <a:r>
              <a:rPr lang="en-US" sz="3200" kern="0" dirty="0"/>
              <a:t>common</a:t>
            </a:r>
            <a:r>
              <a:rPr lang="en-US" sz="2800" kern="0" dirty="0"/>
              <a:t> </a:t>
            </a:r>
            <a:r>
              <a:rPr lang="en-US" sz="3200" kern="0" dirty="0"/>
              <a:t>error</a:t>
            </a:r>
            <a:r>
              <a:rPr lang="en-US" sz="2800" kern="0" dirty="0"/>
              <a:t> </a:t>
            </a:r>
            <a:r>
              <a:rPr lang="en-US" sz="3200" kern="0" dirty="0"/>
              <a:t>is</a:t>
            </a:r>
            <a:r>
              <a:rPr lang="en-US" sz="2800" kern="0" dirty="0"/>
              <a:t> </a:t>
            </a:r>
            <a:r>
              <a:rPr lang="en-US" sz="3200" kern="0" dirty="0"/>
              <a:t>to</a:t>
            </a:r>
            <a:r>
              <a:rPr lang="en-US" sz="2800" kern="0" dirty="0"/>
              <a:t> </a:t>
            </a:r>
            <a:r>
              <a:rPr lang="en-US" sz="3200" kern="0" dirty="0"/>
              <a:t>think</a:t>
            </a:r>
            <a:r>
              <a:rPr lang="en-US" sz="2800" kern="0" dirty="0"/>
              <a:t> </a:t>
            </a:r>
            <a:r>
              <a:rPr lang="en-US" sz="3200" kern="0" dirty="0"/>
              <a:t>an</a:t>
            </a:r>
            <a:r>
              <a:rPr lang="en-US" sz="2800" kern="0" dirty="0"/>
              <a:t> </a:t>
            </a:r>
            <a:r>
              <a:rPr lang="en-US" sz="3200" kern="0" dirty="0"/>
              <a:t>optional</a:t>
            </a:r>
            <a:r>
              <a:rPr lang="en-US" sz="2800" kern="0" dirty="0"/>
              <a:t> </a:t>
            </a:r>
            <a:r>
              <a:rPr lang="en-US" sz="3200" kern="0" dirty="0"/>
              <a:t>argument will be set to the default </a:t>
            </a:r>
            <a:r>
              <a:rPr lang="en-US" sz="3200" i="1" kern="0" dirty="0"/>
              <a:t>each time</a:t>
            </a:r>
            <a:r>
              <a:rPr lang="en-US" sz="3200" kern="0" dirty="0"/>
              <a:t> the function is called without that optional argument: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endParaRPr lang="en-US" sz="2400" kern="0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kern="0" dirty="0">
                <a:latin typeface="Lucida Console" panose="020B0609040504020204" pitchFamily="49" charset="0"/>
              </a:rPr>
              <a:t> </a:t>
            </a:r>
            <a:r>
              <a:rPr lang="en-US" sz="2400" kern="0" dirty="0" err="1">
                <a:latin typeface="Lucida Console" panose="020B0609040504020204" pitchFamily="49" charset="0"/>
              </a:rPr>
              <a:t>def</a:t>
            </a:r>
            <a:r>
              <a:rPr lang="en-US" sz="2400" kern="0" dirty="0">
                <a:latin typeface="Lucida Console" panose="020B0609040504020204" pitchFamily="49" charset="0"/>
              </a:rPr>
              <a:t> foo(bar=[]): # bar defaults to []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400" kern="0" dirty="0">
                <a:latin typeface="Lucida Console" panose="020B0609040504020204" pitchFamily="49" charset="0"/>
              </a:rPr>
              <a:t>    </a:t>
            </a:r>
            <a:r>
              <a:rPr lang="en-US" sz="2400" kern="0" dirty="0" err="1">
                <a:latin typeface="Lucida Console" panose="020B0609040504020204" pitchFamily="49" charset="0"/>
              </a:rPr>
              <a:t>bar.append</a:t>
            </a:r>
            <a:r>
              <a:rPr lang="en-US" sz="2400" kern="0" dirty="0">
                <a:latin typeface="Lucida Console" panose="020B0609040504020204" pitchFamily="49" charset="0"/>
              </a:rPr>
              <a:t>("</a:t>
            </a:r>
            <a:r>
              <a:rPr lang="en-US" sz="2400" kern="0" dirty="0" err="1"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latin typeface="Lucida Console" panose="020B0609040504020204" pitchFamily="49" charset="0"/>
              </a:rPr>
              <a:t>") # this is problematic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400" kern="0" dirty="0">
                <a:latin typeface="Lucida Console" panose="020B0609040504020204" pitchFamily="49" charset="0"/>
              </a:rPr>
              <a:t>    return bar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foo();foo();</a:t>
            </a:r>
            <a:r>
              <a:rPr lang="en-US" sz="2400" kern="0" dirty="0">
                <a:solidFill>
                  <a:srgbClr val="008000"/>
                </a:solidFill>
                <a:latin typeface="Lucida Console" panose="020B0609040504020204" pitchFamily="49" charset="0"/>
              </a:rPr>
              <a:t>foo([1,2,3,4,5,6,7])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;</a:t>
            </a:r>
            <a:r>
              <a:rPr lang="en-US" sz="2400" kern="0" dirty="0">
                <a:solidFill>
                  <a:srgbClr val="0000FF"/>
                </a:solidFill>
                <a:latin typeface="Lucida Console" panose="020B0609040504020204" pitchFamily="49" charset="0"/>
              </a:rPr>
              <a:t>foo()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['</a:t>
            </a:r>
            <a:r>
              <a:rPr lang="en-US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['</a:t>
            </a:r>
            <a:r>
              <a:rPr lang="en-US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', '</a:t>
            </a:r>
            <a:r>
              <a:rPr lang="en-US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[1, 2, 3, 4, 5, 6, 7, '</a:t>
            </a:r>
            <a:r>
              <a:rPr lang="en-US" altLang="zh-TW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altLang="zh-TW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['</a:t>
            </a:r>
            <a:r>
              <a:rPr lang="en-US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', '</a:t>
            </a:r>
            <a:r>
              <a:rPr lang="en-US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', '</a:t>
            </a:r>
            <a:r>
              <a:rPr lang="en-US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6769894" y="5114300"/>
            <a:ext cx="2667000" cy="1066800"/>
          </a:xfrm>
          <a:prstGeom prst="wedgeRoundRectCallout">
            <a:avLst>
              <a:gd name="adj1" fmla="val -90398"/>
              <a:gd name="adj2" fmla="val -83853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8000"/>
                </a:solidFill>
                <a:latin typeface="Times New Roman" charset="0"/>
              </a:rPr>
              <a:t>This one doesn’t use the default. 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5322094" y="2904500"/>
            <a:ext cx="4114800" cy="979488"/>
            <a:chOff x="5322094" y="2904500"/>
            <a:chExt cx="4114800" cy="979488"/>
          </a:xfrm>
        </p:grpSpPr>
        <p:sp>
          <p:nvSpPr>
            <p:cNvPr id="8" name="Rounded Rectangular Callout 7"/>
            <p:cNvSpPr/>
            <p:nvPr/>
          </p:nvSpPr>
          <p:spPr bwMode="auto">
            <a:xfrm>
              <a:off x="5322094" y="2904500"/>
              <a:ext cx="4114800" cy="979488"/>
            </a:xfrm>
            <a:prstGeom prst="wedgeRoundRectCallout">
              <a:avLst>
                <a:gd name="adj1" fmla="val 10829"/>
                <a:gd name="adj2" fmla="val 112268"/>
                <a:gd name="adj3" fmla="val 16667"/>
              </a:avLst>
            </a:prstGeom>
            <a:solidFill>
              <a:srgbClr val="FFC000"/>
            </a:solidFill>
            <a:ln w="2857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800" dirty="0">
                  <a:solidFill>
                    <a:srgbClr val="FFC000"/>
                  </a:solidFill>
                  <a:latin typeface="Times New Roman" charset="0"/>
                </a:rPr>
                <a:t>…and so, when </a:t>
              </a:r>
              <a:r>
                <a:rPr lang="en-US" sz="2800" dirty="0">
                  <a:solidFill>
                    <a:srgbClr val="0000FF"/>
                  </a:solidFill>
                  <a:latin typeface="Times New Roman" charset="0"/>
                </a:rPr>
                <a:t>this call </a:t>
              </a:r>
              <a:r>
                <a:rPr lang="en-US" sz="2800" b="1" dirty="0">
                  <a:solidFill>
                    <a:srgbClr val="FFC000"/>
                  </a:solidFill>
                  <a:latin typeface="Times New Roman" charset="0"/>
                </a:rPr>
                <a:t>does</a:t>
              </a:r>
              <a:r>
                <a:rPr lang="en-US" sz="2800" dirty="0">
                  <a:solidFill>
                    <a:srgbClr val="0000FF"/>
                  </a:solidFill>
                  <a:latin typeface="Times New Roman" charset="0"/>
                </a:rPr>
                <a:t> use the default…</a:t>
              </a: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8720667" y="3589867"/>
              <a:ext cx="287866" cy="2032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594432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45294" y="847100"/>
            <a:ext cx="899160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eaLnBrk="1">
              <a:lnSpc>
                <a:spcPct val="93000"/>
              </a:lnSpc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100" kern="0" dirty="0">
                <a:solidFill>
                  <a:srgbClr val="FF0000"/>
                </a:solidFill>
                <a:latin typeface="Arial Narrow" panose="020B0606020202030204" pitchFamily="34" charset="0"/>
              </a:rPr>
              <a:t>  From: https://www.toptal.com/python/top-10-mistakes-that-python-programmers-make</a:t>
            </a:r>
          </a:p>
          <a:p>
            <a:pPr marL="95250" indent="0" eaLnBrk="1">
              <a:lnSpc>
                <a:spcPct val="93000"/>
              </a:lnSpc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sz="3200" kern="0" dirty="0"/>
              <a:t>A</a:t>
            </a:r>
            <a:r>
              <a:rPr lang="en-US" sz="2800" kern="0" dirty="0"/>
              <a:t> </a:t>
            </a:r>
            <a:r>
              <a:rPr lang="en-US" sz="3200" kern="0" dirty="0"/>
              <a:t>common</a:t>
            </a:r>
            <a:r>
              <a:rPr lang="en-US" sz="2800" kern="0" dirty="0"/>
              <a:t> </a:t>
            </a:r>
            <a:r>
              <a:rPr lang="en-US" sz="3200" kern="0" dirty="0"/>
              <a:t>error</a:t>
            </a:r>
            <a:r>
              <a:rPr lang="en-US" sz="2800" kern="0" dirty="0"/>
              <a:t> </a:t>
            </a:r>
            <a:r>
              <a:rPr lang="en-US" sz="3200" kern="0" dirty="0"/>
              <a:t>is</a:t>
            </a:r>
            <a:r>
              <a:rPr lang="en-US" sz="2800" kern="0" dirty="0"/>
              <a:t> </a:t>
            </a:r>
            <a:r>
              <a:rPr lang="en-US" sz="3200" kern="0" dirty="0"/>
              <a:t>to</a:t>
            </a:r>
            <a:r>
              <a:rPr lang="en-US" sz="2800" kern="0" dirty="0"/>
              <a:t> </a:t>
            </a:r>
            <a:r>
              <a:rPr lang="en-US" sz="3200" kern="0" dirty="0"/>
              <a:t>think</a:t>
            </a:r>
            <a:r>
              <a:rPr lang="en-US" sz="2800" kern="0" dirty="0"/>
              <a:t> </a:t>
            </a:r>
            <a:r>
              <a:rPr lang="en-US" sz="3200" kern="0" dirty="0"/>
              <a:t>an</a:t>
            </a:r>
            <a:r>
              <a:rPr lang="en-US" sz="2800" kern="0" dirty="0"/>
              <a:t> </a:t>
            </a:r>
            <a:r>
              <a:rPr lang="en-US" sz="3200" kern="0" dirty="0"/>
              <a:t>optional</a:t>
            </a:r>
            <a:r>
              <a:rPr lang="en-US" sz="2800" kern="0" dirty="0"/>
              <a:t> </a:t>
            </a:r>
            <a:r>
              <a:rPr lang="en-US" sz="3200" kern="0" dirty="0"/>
              <a:t>argument will be set to the default </a:t>
            </a:r>
            <a:r>
              <a:rPr lang="en-US" sz="3200" i="1" kern="0" dirty="0"/>
              <a:t>each time</a:t>
            </a:r>
            <a:r>
              <a:rPr lang="en-US" sz="3200" kern="0" dirty="0"/>
              <a:t> the function is called without that optional argument: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endParaRPr lang="en-US" sz="2400" kern="0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kern="0" dirty="0">
                <a:latin typeface="Lucida Console" panose="020B0609040504020204" pitchFamily="49" charset="0"/>
              </a:rPr>
              <a:t> </a:t>
            </a:r>
            <a:r>
              <a:rPr lang="en-US" sz="2400" kern="0" dirty="0" err="1">
                <a:latin typeface="Lucida Console" panose="020B0609040504020204" pitchFamily="49" charset="0"/>
              </a:rPr>
              <a:t>def</a:t>
            </a:r>
            <a:r>
              <a:rPr lang="en-US" sz="2400" kern="0" dirty="0">
                <a:latin typeface="Lucida Console" panose="020B0609040504020204" pitchFamily="49" charset="0"/>
              </a:rPr>
              <a:t> foo(bar=[]): # bar defaults to []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400" kern="0" dirty="0">
                <a:latin typeface="Lucida Console" panose="020B0609040504020204" pitchFamily="49" charset="0"/>
              </a:rPr>
              <a:t>    </a:t>
            </a:r>
            <a:r>
              <a:rPr lang="en-US" sz="2400" kern="0" dirty="0" err="1">
                <a:latin typeface="Lucida Console" panose="020B0609040504020204" pitchFamily="49" charset="0"/>
              </a:rPr>
              <a:t>bar.append</a:t>
            </a:r>
            <a:r>
              <a:rPr lang="en-US" sz="2400" kern="0" dirty="0">
                <a:latin typeface="Lucida Console" panose="020B0609040504020204" pitchFamily="49" charset="0"/>
              </a:rPr>
              <a:t>("</a:t>
            </a:r>
            <a:r>
              <a:rPr lang="en-US" sz="2400" kern="0" dirty="0" err="1"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latin typeface="Lucida Console" panose="020B0609040504020204" pitchFamily="49" charset="0"/>
              </a:rPr>
              <a:t>") # this is problematic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400" kern="0" dirty="0">
                <a:latin typeface="Lucida Console" panose="020B0609040504020204" pitchFamily="49" charset="0"/>
              </a:rPr>
              <a:t>    return bar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foo();foo();</a:t>
            </a:r>
            <a:r>
              <a:rPr lang="en-US" sz="2400" kern="0" dirty="0">
                <a:solidFill>
                  <a:srgbClr val="008000"/>
                </a:solidFill>
                <a:latin typeface="Lucida Console" panose="020B0609040504020204" pitchFamily="49" charset="0"/>
              </a:rPr>
              <a:t>foo([1,2,3,4,5,6,7])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;</a:t>
            </a:r>
            <a:r>
              <a:rPr lang="en-US" sz="2400" kern="0" dirty="0">
                <a:solidFill>
                  <a:srgbClr val="0000FF"/>
                </a:solidFill>
                <a:latin typeface="Lucida Console" panose="020B0609040504020204" pitchFamily="49" charset="0"/>
              </a:rPr>
              <a:t>foo()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['</a:t>
            </a:r>
            <a:r>
              <a:rPr lang="en-US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['</a:t>
            </a:r>
            <a:r>
              <a:rPr lang="en-US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', '</a:t>
            </a:r>
            <a:r>
              <a:rPr lang="en-US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[1, 2, 3, 4, 5, 6, 7, '</a:t>
            </a:r>
            <a:r>
              <a:rPr lang="en-US" altLang="zh-TW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altLang="zh-TW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['</a:t>
            </a:r>
            <a:r>
              <a:rPr lang="en-US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', '</a:t>
            </a:r>
            <a:r>
              <a:rPr lang="en-US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', '</a:t>
            </a:r>
            <a:r>
              <a:rPr lang="en-US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14" name="Arc 13"/>
          <p:cNvSpPr/>
          <p:nvPr/>
        </p:nvSpPr>
        <p:spPr bwMode="auto">
          <a:xfrm>
            <a:off x="-316706" y="847100"/>
            <a:ext cx="9296400" cy="7405356"/>
          </a:xfrm>
          <a:prstGeom prst="arc">
            <a:avLst>
              <a:gd name="adj1" fmla="val 19419231"/>
              <a:gd name="adj2" fmla="val 20401575"/>
            </a:avLst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stealth" w="lg" len="lg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5322094" y="2904500"/>
            <a:ext cx="4114800" cy="979488"/>
            <a:chOff x="5322094" y="2904500"/>
            <a:chExt cx="4114800" cy="979488"/>
          </a:xfrm>
        </p:grpSpPr>
        <p:sp>
          <p:nvSpPr>
            <p:cNvPr id="10" name="Rounded Rectangular Callout 9"/>
            <p:cNvSpPr/>
            <p:nvPr/>
          </p:nvSpPr>
          <p:spPr bwMode="auto">
            <a:xfrm>
              <a:off x="5322094" y="2904500"/>
              <a:ext cx="4114800" cy="979488"/>
            </a:xfrm>
            <a:prstGeom prst="wedgeRoundRectCallout">
              <a:avLst>
                <a:gd name="adj1" fmla="val 10829"/>
                <a:gd name="adj2" fmla="val 112268"/>
                <a:gd name="adj3" fmla="val 16667"/>
              </a:avLst>
            </a:prstGeom>
            <a:solidFill>
              <a:srgbClr val="FFC000"/>
            </a:solidFill>
            <a:ln w="2857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800" dirty="0">
                  <a:solidFill>
                    <a:srgbClr val="FFC000"/>
                  </a:solidFill>
                  <a:latin typeface="Times New Roman" charset="0"/>
                </a:rPr>
                <a:t>…and so, when </a:t>
              </a:r>
              <a:r>
                <a:rPr lang="en-US" sz="2800" dirty="0">
                  <a:solidFill>
                    <a:srgbClr val="0000FF"/>
                  </a:solidFill>
                  <a:latin typeface="Times New Roman" charset="0"/>
                </a:rPr>
                <a:t>this call </a:t>
              </a:r>
              <a:r>
                <a:rPr lang="en-US" sz="2800" b="1" dirty="0">
                  <a:solidFill>
                    <a:srgbClr val="FFC000"/>
                  </a:solidFill>
                  <a:latin typeface="Times New Roman" charset="0"/>
                </a:rPr>
                <a:t>does</a:t>
              </a:r>
              <a:r>
                <a:rPr lang="en-US" sz="2800" dirty="0">
                  <a:solidFill>
                    <a:srgbClr val="0000FF"/>
                  </a:solidFill>
                  <a:latin typeface="Times New Roman" charset="0"/>
                </a:rPr>
                <a:t> use the default…</a:t>
              </a: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8720667" y="3589867"/>
              <a:ext cx="287866" cy="2032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</p:grpSp>
      <p:sp>
        <p:nvSpPr>
          <p:cNvPr id="4" name="Title 1"/>
          <p:cNvSpPr txBox="1">
            <a:spLocks/>
          </p:cNvSpPr>
          <p:nvPr/>
        </p:nvSpPr>
        <p:spPr bwMode="auto">
          <a:xfrm>
            <a:off x="0" y="1"/>
            <a:ext cx="9729788" cy="1161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dirty="0">
                <a:solidFill>
                  <a:srgbClr val="0070C0"/>
                </a:solidFill>
                <a:latin typeface="Elephant" panose="02020904090505020303" pitchFamily="18" charset="0"/>
                <a:ea typeface="新細明體" panose="02020500000000000000" pitchFamily="18" charset="-120"/>
                <a:cs typeface="+mj-cs"/>
              </a:rPr>
              <a:t>Mutable Default Arguments</a:t>
            </a:r>
            <a:endParaRPr lang="zh-TW" altLang="en-US" sz="4400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  <p:sp>
        <p:nvSpPr>
          <p:cNvPr id="7" name="Arc 6"/>
          <p:cNvSpPr/>
          <p:nvPr/>
        </p:nvSpPr>
        <p:spPr bwMode="auto">
          <a:xfrm>
            <a:off x="-316706" y="847100"/>
            <a:ext cx="9296400" cy="7405356"/>
          </a:xfrm>
          <a:prstGeom prst="arc">
            <a:avLst>
              <a:gd name="adj1" fmla="val 21114911"/>
              <a:gd name="adj2" fmla="val 448637"/>
            </a:avLst>
          </a:prstGeom>
          <a:noFill/>
          <a:ln w="76200" cap="flat" cmpd="sng" algn="ctr">
            <a:solidFill>
              <a:srgbClr val="0000FF"/>
            </a:solidFill>
            <a:prstDash val="solid"/>
            <a:round/>
            <a:headEnd type="stealth" w="lg" len="lg"/>
            <a:tailEnd type="none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6769894" y="5114300"/>
            <a:ext cx="2667000" cy="1066800"/>
          </a:xfrm>
          <a:prstGeom prst="wedgeRoundRectCallout">
            <a:avLst>
              <a:gd name="adj1" fmla="val -90398"/>
              <a:gd name="adj2" fmla="val -83853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8000"/>
                </a:solidFill>
                <a:latin typeface="Times New Roman" charset="0"/>
              </a:rPr>
              <a:t>This one doesn’t use the default. </a:t>
            </a:r>
          </a:p>
        </p:txBody>
      </p:sp>
      <p:sp>
        <p:nvSpPr>
          <p:cNvPr id="15" name="Rounded Rectangular Callout 14"/>
          <p:cNvSpPr/>
          <p:nvPr/>
        </p:nvSpPr>
        <p:spPr bwMode="auto">
          <a:xfrm>
            <a:off x="5169694" y="618500"/>
            <a:ext cx="4267200" cy="1404144"/>
          </a:xfrm>
          <a:prstGeom prst="wedgeRoundRectCallout">
            <a:avLst>
              <a:gd name="adj1" fmla="val -24004"/>
              <a:gd name="adj2" fmla="val 49153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Times New Roman" charset="0"/>
              </a:rPr>
              <a:t>…then that default is what it had been the last time that the default was used... </a:t>
            </a: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5322094" y="2904500"/>
            <a:ext cx="4114800" cy="979488"/>
          </a:xfrm>
          <a:prstGeom prst="wedgeRoundRectCallout">
            <a:avLst>
              <a:gd name="adj1" fmla="val 10829"/>
              <a:gd name="adj2" fmla="val 112268"/>
              <a:gd name="adj3" fmla="val 16667"/>
            </a:avLst>
          </a:prstGeom>
          <a:noFill/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FF"/>
                </a:solidFill>
                <a:latin typeface="Times New Roman" charset="0"/>
              </a:rPr>
              <a:t>…and so, when this call </a:t>
            </a:r>
            <a:r>
              <a:rPr lang="en-US" sz="2800" b="1" dirty="0">
                <a:solidFill>
                  <a:srgbClr val="0000FF"/>
                </a:solidFill>
                <a:latin typeface="Times New Roman" charset="0"/>
              </a:rPr>
              <a:t>does</a:t>
            </a:r>
            <a:r>
              <a:rPr lang="en-US" sz="2800" dirty="0">
                <a:solidFill>
                  <a:srgbClr val="0000FF"/>
                </a:solidFill>
                <a:latin typeface="Times New Roman" charset="0"/>
              </a:rPr>
              <a:t> use the default…</a:t>
            </a:r>
          </a:p>
        </p:txBody>
      </p:sp>
    </p:spTree>
    <p:extLst>
      <p:ext uri="{BB962C8B-B14F-4D97-AF65-F5344CB8AC3E}">
        <p14:creationId xmlns:p14="http://schemas.microsoft.com/office/powerpoint/2010/main" val="27087095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7" grpId="0" animBg="1"/>
      <p:bldP spid="15" grpId="0" animBg="1"/>
      <p:bldP spid="8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0" y="1"/>
            <a:ext cx="9729788" cy="1161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dirty="0">
                <a:solidFill>
                  <a:srgbClr val="0070C0"/>
                </a:solidFill>
                <a:latin typeface="Elephant" panose="02020904090505020303" pitchFamily="18" charset="0"/>
                <a:ea typeface="新細明體" panose="02020500000000000000" pitchFamily="18" charset="-120"/>
                <a:cs typeface="+mj-cs"/>
              </a:rPr>
              <a:t>Mutable Default Arguments</a:t>
            </a:r>
            <a:endParaRPr lang="zh-TW" altLang="en-US" sz="4400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45294" y="847100"/>
            <a:ext cx="899160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eaLnBrk="1">
              <a:lnSpc>
                <a:spcPct val="93000"/>
              </a:lnSpc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100" kern="0" dirty="0">
                <a:solidFill>
                  <a:srgbClr val="FF0000"/>
                </a:solidFill>
                <a:latin typeface="Arial Narrow" panose="020B0606020202030204" pitchFamily="34" charset="0"/>
              </a:rPr>
              <a:t>  From: https://www.toptal.com/python/top-10-mistakes-that-python-programmers-make</a:t>
            </a:r>
          </a:p>
          <a:p>
            <a:pPr marL="95250" indent="0" eaLnBrk="1">
              <a:lnSpc>
                <a:spcPct val="93000"/>
              </a:lnSpc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sz="3200" kern="0" dirty="0"/>
              <a:t>A</a:t>
            </a:r>
            <a:r>
              <a:rPr lang="en-US" sz="2800" kern="0" dirty="0"/>
              <a:t> </a:t>
            </a:r>
            <a:r>
              <a:rPr lang="en-US" sz="3200" kern="0" dirty="0"/>
              <a:t>common</a:t>
            </a:r>
            <a:r>
              <a:rPr lang="en-US" sz="2800" kern="0" dirty="0"/>
              <a:t> </a:t>
            </a:r>
            <a:r>
              <a:rPr lang="en-US" sz="3200" kern="0" dirty="0"/>
              <a:t>error</a:t>
            </a:r>
            <a:r>
              <a:rPr lang="en-US" sz="2800" kern="0" dirty="0"/>
              <a:t> </a:t>
            </a:r>
            <a:r>
              <a:rPr lang="en-US" sz="3200" kern="0" dirty="0"/>
              <a:t>is</a:t>
            </a:r>
            <a:r>
              <a:rPr lang="en-US" sz="2800" kern="0" dirty="0"/>
              <a:t> </a:t>
            </a:r>
            <a:r>
              <a:rPr lang="en-US" sz="3200" kern="0" dirty="0"/>
              <a:t>to</a:t>
            </a:r>
            <a:r>
              <a:rPr lang="en-US" sz="2800" kern="0" dirty="0"/>
              <a:t> </a:t>
            </a:r>
            <a:r>
              <a:rPr lang="en-US" sz="3200" kern="0" dirty="0"/>
              <a:t>think</a:t>
            </a:r>
            <a:r>
              <a:rPr lang="en-US" sz="2800" kern="0" dirty="0"/>
              <a:t> </a:t>
            </a:r>
            <a:r>
              <a:rPr lang="en-US" sz="3200" kern="0" dirty="0"/>
              <a:t>an</a:t>
            </a:r>
            <a:r>
              <a:rPr lang="en-US" sz="2800" kern="0" dirty="0"/>
              <a:t> </a:t>
            </a:r>
            <a:r>
              <a:rPr lang="en-US" sz="3200" kern="0" dirty="0"/>
              <a:t>optional</a:t>
            </a:r>
            <a:r>
              <a:rPr lang="en-US" sz="2800" kern="0" dirty="0"/>
              <a:t> </a:t>
            </a:r>
            <a:r>
              <a:rPr lang="en-US" sz="3200" kern="0" dirty="0"/>
              <a:t>argument will be set to the default </a:t>
            </a:r>
            <a:r>
              <a:rPr lang="en-US" sz="3200" i="1" kern="0" dirty="0"/>
              <a:t>each time</a:t>
            </a:r>
            <a:r>
              <a:rPr lang="en-US" sz="3200" kern="0" dirty="0"/>
              <a:t> the function is called without that optional argument: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endParaRPr lang="en-US" sz="2400" kern="0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kern="0" dirty="0">
                <a:latin typeface="Lucida Console" panose="020B0609040504020204" pitchFamily="49" charset="0"/>
              </a:rPr>
              <a:t> </a:t>
            </a:r>
            <a:r>
              <a:rPr lang="en-US" sz="2400" kern="0" dirty="0" err="1">
                <a:latin typeface="Lucida Console" panose="020B0609040504020204" pitchFamily="49" charset="0"/>
              </a:rPr>
              <a:t>def</a:t>
            </a:r>
            <a:r>
              <a:rPr lang="en-US" sz="2400" kern="0" dirty="0">
                <a:latin typeface="Lucida Console" panose="020B0609040504020204" pitchFamily="49" charset="0"/>
              </a:rPr>
              <a:t> foo(</a:t>
            </a:r>
            <a:r>
              <a:rPr lang="en-US" sz="2400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bar=</a:t>
            </a:r>
            <a:r>
              <a:rPr lang="en-US" sz="2400" kern="0" dirty="0">
                <a:latin typeface="Lucida Console" panose="020B0609040504020204" pitchFamily="49" charset="0"/>
              </a:rPr>
              <a:t>[]): # bar defaults to []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400" kern="0" dirty="0">
                <a:latin typeface="Lucida Console" panose="020B0609040504020204" pitchFamily="49" charset="0"/>
              </a:rPr>
              <a:t>    </a:t>
            </a:r>
            <a:r>
              <a:rPr lang="en-US" sz="2400" kern="0" dirty="0" err="1">
                <a:latin typeface="Lucida Console" panose="020B0609040504020204" pitchFamily="49" charset="0"/>
              </a:rPr>
              <a:t>bar.append</a:t>
            </a:r>
            <a:r>
              <a:rPr lang="en-US" sz="2400" kern="0" dirty="0">
                <a:latin typeface="Lucida Console" panose="020B0609040504020204" pitchFamily="49" charset="0"/>
              </a:rPr>
              <a:t>("</a:t>
            </a:r>
            <a:r>
              <a:rPr lang="en-US" sz="2400" kern="0" dirty="0" err="1"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latin typeface="Lucida Console" panose="020B0609040504020204" pitchFamily="49" charset="0"/>
              </a:rPr>
              <a:t>") # this is problematic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400" kern="0" dirty="0">
                <a:latin typeface="Lucida Console" panose="020B0609040504020204" pitchFamily="49" charset="0"/>
              </a:rPr>
              <a:t>    return bar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foo();foo();</a:t>
            </a:r>
            <a:r>
              <a:rPr lang="en-US" sz="2400" kern="0" dirty="0">
                <a:solidFill>
                  <a:srgbClr val="008000"/>
                </a:solidFill>
                <a:latin typeface="Lucida Console" panose="020B0609040504020204" pitchFamily="49" charset="0"/>
              </a:rPr>
              <a:t>foo([1,2,3,4,5,6,7])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;</a:t>
            </a:r>
            <a:r>
              <a:rPr lang="en-US" sz="2400" kern="0" dirty="0">
                <a:solidFill>
                  <a:srgbClr val="0000FF"/>
                </a:solidFill>
                <a:latin typeface="Lucida Console" panose="020B0609040504020204" pitchFamily="49" charset="0"/>
              </a:rPr>
              <a:t>foo()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['</a:t>
            </a:r>
            <a:r>
              <a:rPr lang="en-US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['</a:t>
            </a:r>
            <a:r>
              <a:rPr lang="en-US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', '</a:t>
            </a:r>
            <a:r>
              <a:rPr lang="en-US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[1, 2, 3, 4, 5, 6, 7, '</a:t>
            </a:r>
            <a:r>
              <a:rPr lang="en-US" altLang="zh-TW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altLang="zh-TW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['</a:t>
            </a:r>
            <a:r>
              <a:rPr lang="en-US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', '</a:t>
            </a:r>
            <a:r>
              <a:rPr lang="en-US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', '</a:t>
            </a:r>
            <a:r>
              <a:rPr lang="en-US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7" name="Arc 6"/>
          <p:cNvSpPr/>
          <p:nvPr/>
        </p:nvSpPr>
        <p:spPr bwMode="auto">
          <a:xfrm>
            <a:off x="-316706" y="847100"/>
            <a:ext cx="9296400" cy="7405356"/>
          </a:xfrm>
          <a:prstGeom prst="arc">
            <a:avLst>
              <a:gd name="adj1" fmla="val 21114911"/>
              <a:gd name="adj2" fmla="val 448637"/>
            </a:avLst>
          </a:prstGeom>
          <a:noFill/>
          <a:ln w="76200" cap="flat" cmpd="sng" algn="ctr">
            <a:solidFill>
              <a:srgbClr val="0000FF"/>
            </a:solidFill>
            <a:prstDash val="solid"/>
            <a:round/>
            <a:headEnd type="stealth" w="lg" len="lg"/>
            <a:tailEnd type="none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9" name="Arc 8"/>
          <p:cNvSpPr/>
          <p:nvPr/>
        </p:nvSpPr>
        <p:spPr bwMode="auto">
          <a:xfrm>
            <a:off x="-316706" y="847100"/>
            <a:ext cx="9296400" cy="7405356"/>
          </a:xfrm>
          <a:prstGeom prst="arc">
            <a:avLst>
              <a:gd name="adj1" fmla="val 19419231"/>
              <a:gd name="adj2" fmla="val 20401575"/>
            </a:avLst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stealth" w="lg" len="lg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5169694" y="618500"/>
            <a:ext cx="4267200" cy="1404144"/>
          </a:xfrm>
          <a:prstGeom prst="wedgeRoundRectCallout">
            <a:avLst>
              <a:gd name="adj1" fmla="val -94718"/>
              <a:gd name="adj2" fmla="val 122563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Times New Roman" charset="0"/>
              </a:rPr>
              <a:t>…then that default is what it had been the last time that the default was used... </a:t>
            </a: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5322094" y="2904500"/>
            <a:ext cx="4114800" cy="979488"/>
          </a:xfrm>
          <a:prstGeom prst="wedgeRoundRectCallout">
            <a:avLst>
              <a:gd name="adj1" fmla="val 10829"/>
              <a:gd name="adj2" fmla="val 112268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FF"/>
                </a:solidFill>
                <a:latin typeface="Times New Roman" charset="0"/>
              </a:rPr>
              <a:t>…and so, when this call </a:t>
            </a:r>
            <a:r>
              <a:rPr lang="en-US" sz="2800" b="1" dirty="0">
                <a:solidFill>
                  <a:srgbClr val="0000FF"/>
                </a:solidFill>
                <a:latin typeface="Times New Roman" charset="0"/>
              </a:rPr>
              <a:t>does</a:t>
            </a:r>
            <a:r>
              <a:rPr lang="en-US" sz="2800" dirty="0">
                <a:solidFill>
                  <a:srgbClr val="0000FF"/>
                </a:solidFill>
                <a:latin typeface="Times New Roman" charset="0"/>
              </a:rPr>
              <a:t> use the default…</a:t>
            </a: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6769894" y="5114300"/>
            <a:ext cx="2667000" cy="1066800"/>
          </a:xfrm>
          <a:prstGeom prst="wedgeRoundRectCallout">
            <a:avLst>
              <a:gd name="adj1" fmla="val -90398"/>
              <a:gd name="adj2" fmla="val -83853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8000"/>
                </a:solidFill>
                <a:latin typeface="Times New Roman" charset="0"/>
              </a:rPr>
              <a:t>This one doesn’t use the default. </a:t>
            </a:r>
          </a:p>
        </p:txBody>
      </p:sp>
    </p:spTree>
    <p:extLst>
      <p:ext uri="{BB962C8B-B14F-4D97-AF65-F5344CB8AC3E}">
        <p14:creationId xmlns:p14="http://schemas.microsoft.com/office/powerpoint/2010/main" val="352568885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0" y="1"/>
            <a:ext cx="9729788" cy="1161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dirty="0">
                <a:solidFill>
                  <a:srgbClr val="0070C0"/>
                </a:solidFill>
                <a:latin typeface="Elephant" panose="02020904090505020303" pitchFamily="18" charset="0"/>
                <a:ea typeface="新細明體" panose="02020500000000000000" pitchFamily="18" charset="-120"/>
                <a:cs typeface="+mj-cs"/>
              </a:rPr>
              <a:t>Mutable Default Arguments</a:t>
            </a:r>
            <a:endParaRPr lang="zh-TW" altLang="en-US" sz="4400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45294" y="847100"/>
            <a:ext cx="899160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eaLnBrk="1">
              <a:lnSpc>
                <a:spcPct val="93000"/>
              </a:lnSpc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100" kern="0" dirty="0">
                <a:solidFill>
                  <a:srgbClr val="FF0000"/>
                </a:solidFill>
                <a:latin typeface="Arial Narrow" panose="020B0606020202030204" pitchFamily="34" charset="0"/>
              </a:rPr>
              <a:t>  From: https://www.toptal.com/python/top-10-mistakes-that-python-programmers-make</a:t>
            </a:r>
          </a:p>
          <a:p>
            <a:pPr marL="95250" indent="0" eaLnBrk="1">
              <a:lnSpc>
                <a:spcPct val="93000"/>
              </a:lnSpc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sz="3200" kern="0" dirty="0"/>
              <a:t>A</a:t>
            </a:r>
            <a:r>
              <a:rPr lang="en-US" sz="2800" kern="0" dirty="0"/>
              <a:t> </a:t>
            </a:r>
            <a:r>
              <a:rPr lang="en-US" sz="3200" kern="0" dirty="0"/>
              <a:t>common</a:t>
            </a:r>
            <a:r>
              <a:rPr lang="en-US" sz="2800" kern="0" dirty="0"/>
              <a:t> </a:t>
            </a:r>
            <a:r>
              <a:rPr lang="en-US" sz="3200" kern="0" dirty="0"/>
              <a:t>error</a:t>
            </a:r>
            <a:r>
              <a:rPr lang="en-US" sz="2800" kern="0" dirty="0"/>
              <a:t> </a:t>
            </a:r>
            <a:r>
              <a:rPr lang="en-US" sz="3200" kern="0" dirty="0"/>
              <a:t>is</a:t>
            </a:r>
            <a:r>
              <a:rPr lang="en-US" sz="2800" kern="0" dirty="0"/>
              <a:t> </a:t>
            </a:r>
            <a:r>
              <a:rPr lang="en-US" sz="3200" kern="0" dirty="0"/>
              <a:t>to</a:t>
            </a:r>
            <a:r>
              <a:rPr lang="en-US" sz="2800" kern="0" dirty="0"/>
              <a:t> </a:t>
            </a:r>
            <a:r>
              <a:rPr lang="en-US" sz="3200" kern="0" dirty="0"/>
              <a:t>think</a:t>
            </a:r>
            <a:r>
              <a:rPr lang="en-US" sz="2800" kern="0" dirty="0"/>
              <a:t> </a:t>
            </a:r>
            <a:r>
              <a:rPr lang="en-US" sz="3200" kern="0" dirty="0"/>
              <a:t>an</a:t>
            </a:r>
            <a:r>
              <a:rPr lang="en-US" sz="2800" kern="0" dirty="0"/>
              <a:t> </a:t>
            </a:r>
            <a:r>
              <a:rPr lang="en-US" sz="3200" kern="0" dirty="0"/>
              <a:t>optional</a:t>
            </a:r>
            <a:r>
              <a:rPr lang="en-US" sz="2800" kern="0" dirty="0"/>
              <a:t> </a:t>
            </a:r>
            <a:r>
              <a:rPr lang="en-US" sz="3200" kern="0" dirty="0"/>
              <a:t>argument will be set to the default </a:t>
            </a:r>
            <a:r>
              <a:rPr lang="en-US" sz="3200" i="1" kern="0" dirty="0"/>
              <a:t>each time</a:t>
            </a:r>
            <a:r>
              <a:rPr lang="en-US" sz="3200" kern="0" dirty="0"/>
              <a:t> the function is called without that optional argument: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endParaRPr lang="en-US" sz="2400" kern="0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kern="0" dirty="0">
                <a:latin typeface="Lucida Console" panose="020B0609040504020204" pitchFamily="49" charset="0"/>
              </a:rPr>
              <a:t> </a:t>
            </a:r>
            <a:r>
              <a:rPr lang="en-US" sz="2400" kern="0" dirty="0" err="1">
                <a:latin typeface="Lucida Console" panose="020B0609040504020204" pitchFamily="49" charset="0"/>
              </a:rPr>
              <a:t>def</a:t>
            </a:r>
            <a:r>
              <a:rPr lang="en-US" sz="2400" kern="0" dirty="0">
                <a:latin typeface="Lucida Console" panose="020B0609040504020204" pitchFamily="49" charset="0"/>
              </a:rPr>
              <a:t> foo(</a:t>
            </a:r>
            <a:r>
              <a:rPr lang="en-US" sz="2400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bar=</a:t>
            </a:r>
            <a:r>
              <a:rPr lang="en-US" sz="2400" kern="0" dirty="0">
                <a:latin typeface="Lucida Console" panose="020B0609040504020204" pitchFamily="49" charset="0"/>
              </a:rPr>
              <a:t>[]): # bar defaults to []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400" kern="0" dirty="0">
                <a:latin typeface="Lucida Console" panose="020B0609040504020204" pitchFamily="49" charset="0"/>
              </a:rPr>
              <a:t>    </a:t>
            </a:r>
            <a:r>
              <a:rPr lang="en-US" sz="2400" kern="0" dirty="0" err="1">
                <a:latin typeface="Lucida Console" panose="020B0609040504020204" pitchFamily="49" charset="0"/>
              </a:rPr>
              <a:t>bar.append</a:t>
            </a:r>
            <a:r>
              <a:rPr lang="en-US" sz="2400" kern="0" dirty="0">
                <a:latin typeface="Lucida Console" panose="020B0609040504020204" pitchFamily="49" charset="0"/>
              </a:rPr>
              <a:t>("</a:t>
            </a:r>
            <a:r>
              <a:rPr lang="en-US" sz="2400" kern="0" dirty="0" err="1"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latin typeface="Lucida Console" panose="020B0609040504020204" pitchFamily="49" charset="0"/>
              </a:rPr>
              <a:t>") # this is problematic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400" kern="0" dirty="0">
                <a:latin typeface="Lucida Console" panose="020B0609040504020204" pitchFamily="49" charset="0"/>
              </a:rPr>
              <a:t>    return bar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foo();foo();</a:t>
            </a:r>
            <a:r>
              <a:rPr lang="en-US" sz="2400" kern="0" dirty="0">
                <a:solidFill>
                  <a:srgbClr val="008000"/>
                </a:solidFill>
                <a:latin typeface="Lucida Console" panose="020B0609040504020204" pitchFamily="49" charset="0"/>
              </a:rPr>
              <a:t>foo([1,2,3,4,5,6,7])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;</a:t>
            </a:r>
            <a:r>
              <a:rPr lang="en-US" sz="2400" kern="0" dirty="0">
                <a:solidFill>
                  <a:srgbClr val="0000FF"/>
                </a:solidFill>
                <a:latin typeface="Lucida Console" panose="020B0609040504020204" pitchFamily="49" charset="0"/>
              </a:rPr>
              <a:t>foo()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['</a:t>
            </a:r>
            <a:r>
              <a:rPr lang="en-US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['</a:t>
            </a:r>
            <a:r>
              <a:rPr lang="en-US" sz="2400" b="1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b="1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', '</a:t>
            </a:r>
            <a:r>
              <a:rPr lang="en-US" sz="2400" b="1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b="1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[1, 2, 3, 4, 5, 6, 7, '</a:t>
            </a:r>
            <a:r>
              <a:rPr lang="en-US" altLang="zh-TW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altLang="zh-TW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['</a:t>
            </a:r>
            <a:r>
              <a:rPr lang="en-US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', '</a:t>
            </a:r>
            <a:r>
              <a:rPr lang="en-US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', '</a:t>
            </a:r>
            <a:r>
              <a:rPr lang="en-US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7" name="Arc 6"/>
          <p:cNvSpPr/>
          <p:nvPr/>
        </p:nvSpPr>
        <p:spPr bwMode="auto">
          <a:xfrm>
            <a:off x="-316706" y="847100"/>
            <a:ext cx="9296400" cy="7405356"/>
          </a:xfrm>
          <a:prstGeom prst="arc">
            <a:avLst>
              <a:gd name="adj1" fmla="val 21114911"/>
              <a:gd name="adj2" fmla="val 448637"/>
            </a:avLst>
          </a:prstGeom>
          <a:noFill/>
          <a:ln w="76200" cap="flat" cmpd="sng" algn="ctr">
            <a:solidFill>
              <a:srgbClr val="0000FF"/>
            </a:solidFill>
            <a:prstDash val="solid"/>
            <a:round/>
            <a:headEnd type="stealth" w="lg" len="lg"/>
            <a:tailEnd type="none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9" name="Arc 8"/>
          <p:cNvSpPr/>
          <p:nvPr/>
        </p:nvSpPr>
        <p:spPr bwMode="auto">
          <a:xfrm>
            <a:off x="-316706" y="847100"/>
            <a:ext cx="9296400" cy="7405356"/>
          </a:xfrm>
          <a:prstGeom prst="arc">
            <a:avLst>
              <a:gd name="adj1" fmla="val 19419231"/>
              <a:gd name="adj2" fmla="val 20401575"/>
            </a:avLst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stealth" w="lg" len="lg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12" name="Arc 11"/>
          <p:cNvSpPr/>
          <p:nvPr/>
        </p:nvSpPr>
        <p:spPr bwMode="auto">
          <a:xfrm rot="981329">
            <a:off x="1981494" y="929389"/>
            <a:ext cx="7165658" cy="4370058"/>
          </a:xfrm>
          <a:prstGeom prst="arc">
            <a:avLst>
              <a:gd name="adj1" fmla="val 12457531"/>
              <a:gd name="adj2" fmla="val 14780513"/>
            </a:avLst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stealth" w="lg" len="lg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13" name="Rounded Rectangular Callout 12"/>
          <p:cNvSpPr/>
          <p:nvPr/>
        </p:nvSpPr>
        <p:spPr bwMode="auto">
          <a:xfrm>
            <a:off x="445294" y="618500"/>
            <a:ext cx="2895600" cy="1404144"/>
          </a:xfrm>
          <a:prstGeom prst="wedgeRoundRectCallout">
            <a:avLst>
              <a:gd name="adj1" fmla="val -17478"/>
              <a:gd name="adj2" fmla="val 50364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Times New Roman" charset="0"/>
              </a:rPr>
              <a:t>…we see that, </a:t>
            </a:r>
            <a:br>
              <a:rPr lang="en-US" sz="2800" dirty="0">
                <a:solidFill>
                  <a:srgbClr val="000000"/>
                </a:solidFill>
                <a:latin typeface="Times New Roman" charset="0"/>
              </a:rPr>
            </a:br>
            <a:r>
              <a:rPr lang="en-US" sz="2800" dirty="0">
                <a:solidFill>
                  <a:srgbClr val="000000"/>
                </a:solidFill>
                <a:latin typeface="Times New Roman" charset="0"/>
              </a:rPr>
              <a:t>the last time, it was </a:t>
            </a:r>
            <a:r>
              <a:rPr lang="en-US" sz="2800" dirty="0">
                <a:solidFill>
                  <a:srgbClr val="FF0000"/>
                </a:solidFill>
                <a:latin typeface="Times New Roman" charset="0"/>
              </a:rPr>
              <a:t>['</a:t>
            </a:r>
            <a:r>
              <a:rPr lang="en-US" sz="2800" dirty="0" err="1">
                <a:solidFill>
                  <a:srgbClr val="FF0000"/>
                </a:solidFill>
                <a:latin typeface="Times New Roman" charset="0"/>
              </a:rPr>
              <a:t>baz</a:t>
            </a:r>
            <a:r>
              <a:rPr lang="en-US" sz="2800" dirty="0">
                <a:solidFill>
                  <a:srgbClr val="FF0000"/>
                </a:solidFill>
                <a:latin typeface="Times New Roman" charset="0"/>
              </a:rPr>
              <a:t>', '</a:t>
            </a:r>
            <a:r>
              <a:rPr lang="en-US" sz="2800" dirty="0" err="1">
                <a:solidFill>
                  <a:srgbClr val="FF0000"/>
                </a:solidFill>
                <a:latin typeface="Times New Roman" charset="0"/>
              </a:rPr>
              <a:t>baz</a:t>
            </a:r>
            <a:r>
              <a:rPr lang="en-US" sz="2800" dirty="0">
                <a:solidFill>
                  <a:srgbClr val="FF0000"/>
                </a:solidFill>
                <a:latin typeface="Times New Roman" charset="0"/>
              </a:rPr>
              <a:t>']</a:t>
            </a:r>
            <a:r>
              <a:rPr lang="en-US" sz="2800" dirty="0">
                <a:solidFill>
                  <a:srgbClr val="000000"/>
                </a:solidFill>
                <a:latin typeface="Times New Roman" charset="0"/>
              </a:rPr>
              <a:t>... </a:t>
            </a: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5322094" y="2904500"/>
            <a:ext cx="4114800" cy="979488"/>
          </a:xfrm>
          <a:prstGeom prst="wedgeRoundRectCallout">
            <a:avLst>
              <a:gd name="adj1" fmla="val 10829"/>
              <a:gd name="adj2" fmla="val 112268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FF"/>
                </a:solidFill>
                <a:latin typeface="Times New Roman" charset="0"/>
              </a:rPr>
              <a:t>…and so, when this call </a:t>
            </a:r>
            <a:r>
              <a:rPr lang="en-US" sz="2800" b="1" dirty="0">
                <a:solidFill>
                  <a:srgbClr val="0000FF"/>
                </a:solidFill>
                <a:latin typeface="Times New Roman" charset="0"/>
              </a:rPr>
              <a:t>does</a:t>
            </a:r>
            <a:r>
              <a:rPr lang="en-US" sz="2800" dirty="0">
                <a:solidFill>
                  <a:srgbClr val="0000FF"/>
                </a:solidFill>
                <a:latin typeface="Times New Roman" charset="0"/>
              </a:rPr>
              <a:t> use the default…</a:t>
            </a: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5169694" y="618500"/>
            <a:ext cx="4267200" cy="1404144"/>
          </a:xfrm>
          <a:prstGeom prst="wedgeRoundRectCallout">
            <a:avLst>
              <a:gd name="adj1" fmla="val -94718"/>
              <a:gd name="adj2" fmla="val 122563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Times New Roman" charset="0"/>
              </a:rPr>
              <a:t>…then that default is what it had been the last time that the default was used... </a:t>
            </a: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6769894" y="5114300"/>
            <a:ext cx="2667000" cy="1066800"/>
          </a:xfrm>
          <a:prstGeom prst="wedgeRoundRectCallout">
            <a:avLst>
              <a:gd name="adj1" fmla="val -90398"/>
              <a:gd name="adj2" fmla="val -83853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8000"/>
                </a:solidFill>
                <a:latin typeface="Times New Roman" charset="0"/>
              </a:rPr>
              <a:t>This one doesn’t use the default. </a:t>
            </a:r>
          </a:p>
        </p:txBody>
      </p:sp>
    </p:spTree>
    <p:extLst>
      <p:ext uri="{BB962C8B-B14F-4D97-AF65-F5344CB8AC3E}">
        <p14:creationId xmlns:p14="http://schemas.microsoft.com/office/powerpoint/2010/main" val="9822187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0" y="1"/>
            <a:ext cx="9729788" cy="1161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dirty="0">
                <a:solidFill>
                  <a:srgbClr val="0070C0"/>
                </a:solidFill>
                <a:latin typeface="Elephant" panose="02020904090505020303" pitchFamily="18" charset="0"/>
                <a:ea typeface="新細明體" panose="02020500000000000000" pitchFamily="18" charset="-120"/>
                <a:cs typeface="+mj-cs"/>
              </a:rPr>
              <a:t>Mutable Default Arguments</a:t>
            </a:r>
            <a:endParaRPr lang="zh-TW" altLang="en-US" sz="4400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45294" y="847100"/>
            <a:ext cx="899160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eaLnBrk="1">
              <a:lnSpc>
                <a:spcPct val="93000"/>
              </a:lnSpc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100" kern="0" dirty="0">
                <a:solidFill>
                  <a:srgbClr val="FF0000"/>
                </a:solidFill>
                <a:latin typeface="Arial Narrow" panose="020B0606020202030204" pitchFamily="34" charset="0"/>
              </a:rPr>
              <a:t>  From: https://www.toptal.com/python/top-10-mistakes-that-python-programmers-make</a:t>
            </a:r>
          </a:p>
          <a:p>
            <a:pPr marL="95250" indent="0" eaLnBrk="1">
              <a:lnSpc>
                <a:spcPct val="93000"/>
              </a:lnSpc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sz="3200" kern="0" dirty="0"/>
              <a:t>A</a:t>
            </a:r>
            <a:r>
              <a:rPr lang="en-US" sz="2800" kern="0" dirty="0"/>
              <a:t> </a:t>
            </a:r>
            <a:r>
              <a:rPr lang="en-US" sz="3200" kern="0" dirty="0"/>
              <a:t>common</a:t>
            </a:r>
            <a:r>
              <a:rPr lang="en-US" sz="2800" kern="0" dirty="0"/>
              <a:t> </a:t>
            </a:r>
            <a:r>
              <a:rPr lang="en-US" sz="3200" kern="0" dirty="0"/>
              <a:t>error</a:t>
            </a:r>
            <a:r>
              <a:rPr lang="en-US" sz="2800" kern="0" dirty="0"/>
              <a:t> </a:t>
            </a:r>
            <a:r>
              <a:rPr lang="en-US" sz="3200" kern="0" dirty="0"/>
              <a:t>is</a:t>
            </a:r>
            <a:r>
              <a:rPr lang="en-US" sz="2800" kern="0" dirty="0"/>
              <a:t> </a:t>
            </a:r>
            <a:r>
              <a:rPr lang="en-US" sz="3200" kern="0" dirty="0"/>
              <a:t>to</a:t>
            </a:r>
            <a:r>
              <a:rPr lang="en-US" sz="2800" kern="0" dirty="0"/>
              <a:t> </a:t>
            </a:r>
            <a:r>
              <a:rPr lang="en-US" sz="3200" kern="0" dirty="0"/>
              <a:t>think</a:t>
            </a:r>
            <a:r>
              <a:rPr lang="en-US" sz="2800" kern="0" dirty="0"/>
              <a:t> </a:t>
            </a:r>
            <a:r>
              <a:rPr lang="en-US" sz="3200" kern="0" dirty="0"/>
              <a:t>an</a:t>
            </a:r>
            <a:r>
              <a:rPr lang="en-US" sz="2800" kern="0" dirty="0"/>
              <a:t> </a:t>
            </a:r>
            <a:r>
              <a:rPr lang="en-US" sz="3200" kern="0" dirty="0"/>
              <a:t>optional</a:t>
            </a:r>
            <a:r>
              <a:rPr lang="en-US" sz="2800" kern="0" dirty="0"/>
              <a:t> </a:t>
            </a:r>
            <a:r>
              <a:rPr lang="en-US" sz="3200" kern="0" dirty="0"/>
              <a:t>argument will be set to the default </a:t>
            </a:r>
            <a:r>
              <a:rPr lang="en-US" sz="3200" i="1" kern="0" dirty="0"/>
              <a:t>each time</a:t>
            </a:r>
            <a:r>
              <a:rPr lang="en-US" sz="3200" kern="0" dirty="0"/>
              <a:t> the function is called without that optional argument: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endParaRPr lang="en-US" sz="2400" kern="0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kern="0" dirty="0">
                <a:latin typeface="Lucida Console" panose="020B0609040504020204" pitchFamily="49" charset="0"/>
              </a:rPr>
              <a:t> </a:t>
            </a:r>
            <a:r>
              <a:rPr lang="en-US" sz="2400" kern="0" dirty="0" err="1">
                <a:latin typeface="Lucida Console" panose="020B0609040504020204" pitchFamily="49" charset="0"/>
              </a:rPr>
              <a:t>def</a:t>
            </a:r>
            <a:r>
              <a:rPr lang="en-US" sz="2400" kern="0" dirty="0">
                <a:latin typeface="Lucida Console" panose="020B0609040504020204" pitchFamily="49" charset="0"/>
              </a:rPr>
              <a:t> foo(</a:t>
            </a:r>
            <a:r>
              <a:rPr lang="en-US" sz="2400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bar=</a:t>
            </a:r>
            <a:r>
              <a:rPr lang="en-US" sz="2400" kern="0" dirty="0">
                <a:latin typeface="Lucida Console" panose="020B0609040504020204" pitchFamily="49" charset="0"/>
              </a:rPr>
              <a:t>[]): # bar defaults to []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400" kern="0" dirty="0">
                <a:latin typeface="Lucida Console" panose="020B0609040504020204" pitchFamily="49" charset="0"/>
              </a:rPr>
              <a:t>    </a:t>
            </a:r>
            <a:r>
              <a:rPr lang="en-US" sz="2400" kern="0" dirty="0" err="1">
                <a:latin typeface="Lucida Console" panose="020B0609040504020204" pitchFamily="49" charset="0"/>
              </a:rPr>
              <a:t>bar.append</a:t>
            </a:r>
            <a:r>
              <a:rPr lang="en-US" sz="2400" kern="0" dirty="0">
                <a:latin typeface="Lucida Console" panose="020B0609040504020204" pitchFamily="49" charset="0"/>
              </a:rPr>
              <a:t>("</a:t>
            </a:r>
            <a:r>
              <a:rPr lang="en-US" sz="2400" kern="0" dirty="0" err="1"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latin typeface="Lucida Console" panose="020B0609040504020204" pitchFamily="49" charset="0"/>
              </a:rPr>
              <a:t>") # this is problematic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400" kern="0" dirty="0">
                <a:latin typeface="Lucida Console" panose="020B0609040504020204" pitchFamily="49" charset="0"/>
              </a:rPr>
              <a:t>    return bar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foo();foo();</a:t>
            </a:r>
            <a:r>
              <a:rPr lang="en-US" sz="2400" kern="0" dirty="0">
                <a:solidFill>
                  <a:srgbClr val="008000"/>
                </a:solidFill>
                <a:latin typeface="Lucida Console" panose="020B0609040504020204" pitchFamily="49" charset="0"/>
              </a:rPr>
              <a:t>foo([1,2,3,4,5,6,7])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;</a:t>
            </a:r>
            <a:r>
              <a:rPr lang="en-US" sz="2400" kern="0" dirty="0">
                <a:solidFill>
                  <a:srgbClr val="0000FF"/>
                </a:solidFill>
                <a:latin typeface="Lucida Console" panose="020B0609040504020204" pitchFamily="49" charset="0"/>
              </a:rPr>
              <a:t>foo()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['</a:t>
            </a:r>
            <a:r>
              <a:rPr lang="en-US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['</a:t>
            </a:r>
            <a:r>
              <a:rPr lang="en-US" sz="2400" b="1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b="1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', '</a:t>
            </a:r>
            <a:r>
              <a:rPr lang="en-US" sz="2400" b="1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b="1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[1, 2, 3, 4, 5, 6, 7, '</a:t>
            </a:r>
            <a:r>
              <a:rPr lang="en-US" altLang="zh-TW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altLang="zh-TW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['</a:t>
            </a:r>
            <a:r>
              <a:rPr lang="en-US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', '</a:t>
            </a:r>
            <a:r>
              <a:rPr lang="en-US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', '</a:t>
            </a:r>
            <a:r>
              <a:rPr lang="en-US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7" name="Arc 6"/>
          <p:cNvSpPr/>
          <p:nvPr/>
        </p:nvSpPr>
        <p:spPr bwMode="auto">
          <a:xfrm>
            <a:off x="-316706" y="847100"/>
            <a:ext cx="9296400" cy="7405356"/>
          </a:xfrm>
          <a:prstGeom prst="arc">
            <a:avLst>
              <a:gd name="adj1" fmla="val 21114911"/>
              <a:gd name="adj2" fmla="val 448637"/>
            </a:avLst>
          </a:prstGeom>
          <a:noFill/>
          <a:ln w="76200" cap="flat" cmpd="sng" algn="ctr">
            <a:solidFill>
              <a:srgbClr val="0000FF"/>
            </a:solidFill>
            <a:prstDash val="solid"/>
            <a:round/>
            <a:headEnd type="stealth" w="lg" len="lg"/>
            <a:tailEnd type="none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9" name="Arc 8"/>
          <p:cNvSpPr/>
          <p:nvPr/>
        </p:nvSpPr>
        <p:spPr bwMode="auto">
          <a:xfrm>
            <a:off x="-316706" y="847100"/>
            <a:ext cx="9296400" cy="7405356"/>
          </a:xfrm>
          <a:prstGeom prst="arc">
            <a:avLst>
              <a:gd name="adj1" fmla="val 19419231"/>
              <a:gd name="adj2" fmla="val 20401575"/>
            </a:avLst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stealth" w="lg" len="lg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12" name="Arc 11"/>
          <p:cNvSpPr/>
          <p:nvPr/>
        </p:nvSpPr>
        <p:spPr bwMode="auto">
          <a:xfrm rot="981329">
            <a:off x="1981494" y="929389"/>
            <a:ext cx="7165658" cy="4370058"/>
          </a:xfrm>
          <a:prstGeom prst="arc">
            <a:avLst>
              <a:gd name="adj1" fmla="val 12457531"/>
              <a:gd name="adj2" fmla="val 14780513"/>
            </a:avLst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stealth" w="lg" len="lg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5322094" y="2904500"/>
            <a:ext cx="4114800" cy="979488"/>
          </a:xfrm>
          <a:prstGeom prst="wedgeRoundRectCallout">
            <a:avLst>
              <a:gd name="adj1" fmla="val 10829"/>
              <a:gd name="adj2" fmla="val 112268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FF"/>
                </a:solidFill>
                <a:latin typeface="Times New Roman" charset="0"/>
              </a:rPr>
              <a:t>…and so, when this call </a:t>
            </a:r>
            <a:r>
              <a:rPr lang="en-US" sz="2800" b="1" dirty="0">
                <a:solidFill>
                  <a:srgbClr val="0000FF"/>
                </a:solidFill>
                <a:latin typeface="Times New Roman" charset="0"/>
              </a:rPr>
              <a:t>does</a:t>
            </a:r>
            <a:r>
              <a:rPr lang="en-US" sz="2800" dirty="0">
                <a:solidFill>
                  <a:srgbClr val="0000FF"/>
                </a:solidFill>
                <a:latin typeface="Times New Roman" charset="0"/>
              </a:rPr>
              <a:t> use the default…</a:t>
            </a: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5169694" y="618500"/>
            <a:ext cx="4267200" cy="1404144"/>
          </a:xfrm>
          <a:prstGeom prst="wedgeRoundRectCallout">
            <a:avLst>
              <a:gd name="adj1" fmla="val -94718"/>
              <a:gd name="adj2" fmla="val 122563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Times New Roman" charset="0"/>
              </a:rPr>
              <a:t>…then that default is what it had been the last time that the default was used... </a:t>
            </a: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6769894" y="5114300"/>
            <a:ext cx="2667000" cy="1066800"/>
          </a:xfrm>
          <a:prstGeom prst="wedgeRoundRectCallout">
            <a:avLst>
              <a:gd name="adj1" fmla="val -90398"/>
              <a:gd name="adj2" fmla="val -83853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8000"/>
                </a:solidFill>
                <a:latin typeface="Times New Roman" charset="0"/>
              </a:rPr>
              <a:t>This one doesn’t use the default. </a:t>
            </a:r>
          </a:p>
        </p:txBody>
      </p:sp>
      <p:sp>
        <p:nvSpPr>
          <p:cNvPr id="2" name="Rectangle 1"/>
          <p:cNvSpPr/>
          <p:nvPr/>
        </p:nvSpPr>
        <p:spPr>
          <a:xfrm>
            <a:off x="448058" y="5120816"/>
            <a:ext cx="278794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['</a:t>
            </a:r>
            <a:r>
              <a:rPr 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', '</a:t>
            </a:r>
            <a:r>
              <a:rPr 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']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7588" y="3361635"/>
            <a:ext cx="2410801" cy="329216"/>
          </a:xfrm>
          <a:prstGeom prst="rect">
            <a:avLst/>
          </a:prstGeom>
          <a:solidFill>
            <a:schemeClr val="bg1"/>
          </a:solidFill>
        </p:spPr>
        <p:txBody>
          <a:bodyPr wrap="none" anchor="ctr" anchorCtr="0">
            <a:noAutofit/>
          </a:bodyPr>
          <a:lstStyle/>
          <a:p>
            <a:pPr algn="ctr"/>
            <a:r>
              <a:rPr lang="en-US" sz="2400" b="1" kern="0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append</a:t>
            </a:r>
            <a:r>
              <a:rPr lang="en-US" sz="2400" b="1" kern="0" dirty="0">
                <a:solidFill>
                  <a:srgbClr val="F98700"/>
                </a:solidFill>
                <a:latin typeface="Lucida Console" panose="020B0609040504020204" pitchFamily="49" charset="0"/>
              </a:rPr>
              <a:t>("</a:t>
            </a:r>
            <a:r>
              <a:rPr lang="en-US" sz="2400" b="1" kern="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b="1" kern="0" dirty="0">
                <a:solidFill>
                  <a:srgbClr val="F98700"/>
                </a:solidFill>
                <a:latin typeface="Lucida Console" panose="020B0609040504020204" pitchFamily="49" charset="0"/>
              </a:rPr>
              <a:t>")</a:t>
            </a:r>
            <a:endParaRPr lang="en-US" sz="2400" dirty="0"/>
          </a:p>
        </p:txBody>
      </p:sp>
      <p:sp>
        <p:nvSpPr>
          <p:cNvPr id="15" name="Arc 14"/>
          <p:cNvSpPr/>
          <p:nvPr/>
        </p:nvSpPr>
        <p:spPr bwMode="auto">
          <a:xfrm rot="981329">
            <a:off x="1981494" y="929389"/>
            <a:ext cx="7165658" cy="4370058"/>
          </a:xfrm>
          <a:prstGeom prst="arc">
            <a:avLst>
              <a:gd name="adj1" fmla="val 8109183"/>
              <a:gd name="adj2" fmla="val 10967632"/>
            </a:avLst>
          </a:prstGeom>
          <a:noFill/>
          <a:ln w="76200" cap="flat" cmpd="sng" algn="ctr">
            <a:solidFill>
              <a:srgbClr val="F98700"/>
            </a:solidFill>
            <a:prstDash val="solid"/>
            <a:round/>
            <a:headEnd type="stealth" w="lg" len="lg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16" name="Rounded Rectangular Callout 15"/>
          <p:cNvSpPr/>
          <p:nvPr/>
        </p:nvSpPr>
        <p:spPr bwMode="auto">
          <a:xfrm>
            <a:off x="3246503" y="3883988"/>
            <a:ext cx="1923197" cy="1880394"/>
          </a:xfrm>
          <a:prstGeom prst="wedgeRoundRectCallout">
            <a:avLst>
              <a:gd name="adj1" fmla="val -636"/>
              <a:gd name="adj2" fmla="val -62237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F987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Times New Roman" charset="0"/>
              </a:rPr>
              <a:t>…so, after appending another '</a:t>
            </a:r>
            <a:r>
              <a:rPr lang="en-US" sz="2800" dirty="0" err="1">
                <a:solidFill>
                  <a:srgbClr val="000000"/>
                </a:solidFill>
                <a:latin typeface="Times New Roman" charset="0"/>
              </a:rPr>
              <a:t>baz</a:t>
            </a:r>
            <a:r>
              <a:rPr lang="en-US" sz="2800" dirty="0">
                <a:solidFill>
                  <a:srgbClr val="000000"/>
                </a:solidFill>
                <a:latin typeface="Times New Roman" charset="0"/>
              </a:rPr>
              <a:t>'…</a:t>
            </a:r>
          </a:p>
        </p:txBody>
      </p:sp>
      <p:sp>
        <p:nvSpPr>
          <p:cNvPr id="13" name="Rounded Rectangular Callout 12"/>
          <p:cNvSpPr/>
          <p:nvPr/>
        </p:nvSpPr>
        <p:spPr bwMode="auto">
          <a:xfrm>
            <a:off x="445294" y="618500"/>
            <a:ext cx="2895600" cy="1404144"/>
          </a:xfrm>
          <a:prstGeom prst="wedgeRoundRectCallout">
            <a:avLst>
              <a:gd name="adj1" fmla="val -4846"/>
              <a:gd name="adj2" fmla="val 277105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Times New Roman" charset="0"/>
              </a:rPr>
              <a:t>…we see that, </a:t>
            </a:r>
            <a:br>
              <a:rPr lang="en-US" sz="2800" dirty="0">
                <a:solidFill>
                  <a:srgbClr val="000000"/>
                </a:solidFill>
                <a:latin typeface="Times New Roman" charset="0"/>
              </a:rPr>
            </a:br>
            <a:r>
              <a:rPr lang="en-US" sz="2800" dirty="0">
                <a:solidFill>
                  <a:srgbClr val="000000"/>
                </a:solidFill>
                <a:latin typeface="Times New Roman" charset="0"/>
              </a:rPr>
              <a:t>the last time, it was </a:t>
            </a:r>
            <a:r>
              <a:rPr lang="en-US" sz="2800" dirty="0">
                <a:solidFill>
                  <a:srgbClr val="FF0000"/>
                </a:solidFill>
                <a:latin typeface="Times New Roman" charset="0"/>
              </a:rPr>
              <a:t>['</a:t>
            </a:r>
            <a:r>
              <a:rPr lang="en-US" sz="2800" dirty="0" err="1">
                <a:solidFill>
                  <a:srgbClr val="FF0000"/>
                </a:solidFill>
                <a:latin typeface="Times New Roman" charset="0"/>
              </a:rPr>
              <a:t>baz</a:t>
            </a:r>
            <a:r>
              <a:rPr lang="en-US" sz="2800" dirty="0">
                <a:solidFill>
                  <a:srgbClr val="FF0000"/>
                </a:solidFill>
                <a:latin typeface="Times New Roman" charset="0"/>
              </a:rPr>
              <a:t>', '</a:t>
            </a:r>
            <a:r>
              <a:rPr lang="en-US" sz="2800" dirty="0" err="1">
                <a:solidFill>
                  <a:srgbClr val="FF0000"/>
                </a:solidFill>
                <a:latin typeface="Times New Roman" charset="0"/>
              </a:rPr>
              <a:t>baz</a:t>
            </a:r>
            <a:r>
              <a:rPr lang="en-US" sz="2800" dirty="0">
                <a:solidFill>
                  <a:srgbClr val="FF0000"/>
                </a:solidFill>
                <a:latin typeface="Times New Roman" charset="0"/>
              </a:rPr>
              <a:t>']</a:t>
            </a:r>
            <a:r>
              <a:rPr lang="en-US" sz="2800" dirty="0">
                <a:solidFill>
                  <a:srgbClr val="000000"/>
                </a:solidFill>
                <a:latin typeface="Times New Roman" charset="0"/>
              </a:rPr>
              <a:t>... </a:t>
            </a:r>
          </a:p>
        </p:txBody>
      </p:sp>
    </p:spTree>
    <p:extLst>
      <p:ext uri="{BB962C8B-B14F-4D97-AF65-F5344CB8AC3E}">
        <p14:creationId xmlns:p14="http://schemas.microsoft.com/office/powerpoint/2010/main" val="420050325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 animBg="1"/>
      <p:bldP spid="15" grpId="0" animBg="1"/>
      <p:bldP spid="16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0" y="1"/>
            <a:ext cx="9729788" cy="1161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dirty="0">
                <a:solidFill>
                  <a:srgbClr val="0070C0"/>
                </a:solidFill>
                <a:latin typeface="Elephant" panose="02020904090505020303" pitchFamily="18" charset="0"/>
                <a:ea typeface="新細明體" panose="02020500000000000000" pitchFamily="18" charset="-120"/>
                <a:cs typeface="+mj-cs"/>
              </a:rPr>
              <a:t>Mutable Default Arguments</a:t>
            </a:r>
            <a:endParaRPr lang="zh-TW" altLang="en-US" sz="4400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45294" y="847100"/>
            <a:ext cx="899160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eaLnBrk="1">
              <a:lnSpc>
                <a:spcPct val="93000"/>
              </a:lnSpc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100" kern="0" dirty="0">
                <a:solidFill>
                  <a:srgbClr val="FF0000"/>
                </a:solidFill>
                <a:latin typeface="Arial Narrow" panose="020B0606020202030204" pitchFamily="34" charset="0"/>
              </a:rPr>
              <a:t>  From: https://www.toptal.com/python/top-10-mistakes-that-python-programmers-make</a:t>
            </a:r>
          </a:p>
          <a:p>
            <a:pPr marL="95250" indent="0" eaLnBrk="1">
              <a:lnSpc>
                <a:spcPct val="93000"/>
              </a:lnSpc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sz="3200" kern="0" dirty="0"/>
              <a:t>A</a:t>
            </a:r>
            <a:r>
              <a:rPr lang="en-US" sz="2800" kern="0" dirty="0"/>
              <a:t> </a:t>
            </a:r>
            <a:r>
              <a:rPr lang="en-US" sz="3200" kern="0" dirty="0"/>
              <a:t>common</a:t>
            </a:r>
            <a:r>
              <a:rPr lang="en-US" sz="2800" kern="0" dirty="0"/>
              <a:t> </a:t>
            </a:r>
            <a:r>
              <a:rPr lang="en-US" sz="3200" kern="0" dirty="0"/>
              <a:t>error</a:t>
            </a:r>
            <a:r>
              <a:rPr lang="en-US" sz="2800" kern="0" dirty="0"/>
              <a:t> </a:t>
            </a:r>
            <a:r>
              <a:rPr lang="en-US" sz="3200" kern="0" dirty="0"/>
              <a:t>is</a:t>
            </a:r>
            <a:r>
              <a:rPr lang="en-US" sz="2800" kern="0" dirty="0"/>
              <a:t> </a:t>
            </a:r>
            <a:r>
              <a:rPr lang="en-US" sz="3200" kern="0" dirty="0"/>
              <a:t>to</a:t>
            </a:r>
            <a:r>
              <a:rPr lang="en-US" sz="2800" kern="0" dirty="0"/>
              <a:t> </a:t>
            </a:r>
            <a:r>
              <a:rPr lang="en-US" sz="3200" kern="0" dirty="0"/>
              <a:t>think</a:t>
            </a:r>
            <a:r>
              <a:rPr lang="en-US" sz="2800" kern="0" dirty="0"/>
              <a:t> </a:t>
            </a:r>
            <a:r>
              <a:rPr lang="en-US" sz="3200" kern="0" dirty="0"/>
              <a:t>an</a:t>
            </a:r>
            <a:r>
              <a:rPr lang="en-US" sz="2800" kern="0" dirty="0"/>
              <a:t> </a:t>
            </a:r>
            <a:r>
              <a:rPr lang="en-US" sz="3200" kern="0" dirty="0"/>
              <a:t>optional</a:t>
            </a:r>
            <a:r>
              <a:rPr lang="en-US" sz="2800" kern="0" dirty="0"/>
              <a:t> </a:t>
            </a:r>
            <a:r>
              <a:rPr lang="en-US" sz="3200" kern="0" dirty="0"/>
              <a:t>argument will be set to the default </a:t>
            </a:r>
            <a:r>
              <a:rPr lang="en-US" sz="3200" i="1" kern="0" dirty="0"/>
              <a:t>each time</a:t>
            </a:r>
            <a:r>
              <a:rPr lang="en-US" sz="3200" kern="0" dirty="0"/>
              <a:t> the function is called without that optional argument: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endParaRPr lang="en-US" sz="2400" kern="0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kern="0" dirty="0">
                <a:latin typeface="Lucida Console" panose="020B0609040504020204" pitchFamily="49" charset="0"/>
              </a:rPr>
              <a:t> </a:t>
            </a:r>
            <a:r>
              <a:rPr lang="en-US" sz="2400" kern="0" dirty="0" err="1">
                <a:latin typeface="Lucida Console" panose="020B0609040504020204" pitchFamily="49" charset="0"/>
              </a:rPr>
              <a:t>def</a:t>
            </a:r>
            <a:r>
              <a:rPr lang="en-US" sz="2400" kern="0" dirty="0">
                <a:latin typeface="Lucida Console" panose="020B0609040504020204" pitchFamily="49" charset="0"/>
              </a:rPr>
              <a:t> foo(</a:t>
            </a:r>
            <a:r>
              <a:rPr lang="en-US" sz="2400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bar=</a:t>
            </a:r>
            <a:r>
              <a:rPr lang="en-US" sz="2400" kern="0" dirty="0">
                <a:latin typeface="Lucida Console" panose="020B0609040504020204" pitchFamily="49" charset="0"/>
              </a:rPr>
              <a:t>[]): # bar defaults to []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400" kern="0" dirty="0">
                <a:latin typeface="Lucida Console" panose="020B0609040504020204" pitchFamily="49" charset="0"/>
              </a:rPr>
              <a:t>    </a:t>
            </a:r>
            <a:r>
              <a:rPr lang="en-US" sz="2400" kern="0" dirty="0" err="1">
                <a:latin typeface="Lucida Console" panose="020B0609040504020204" pitchFamily="49" charset="0"/>
              </a:rPr>
              <a:t>bar.append</a:t>
            </a:r>
            <a:r>
              <a:rPr lang="en-US" sz="2400" kern="0" dirty="0">
                <a:latin typeface="Lucida Console" panose="020B0609040504020204" pitchFamily="49" charset="0"/>
              </a:rPr>
              <a:t>("</a:t>
            </a:r>
            <a:r>
              <a:rPr lang="en-US" sz="2400" kern="0" dirty="0" err="1"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latin typeface="Lucida Console" panose="020B0609040504020204" pitchFamily="49" charset="0"/>
              </a:rPr>
              <a:t>") # this is problematic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400" kern="0" dirty="0">
                <a:latin typeface="Lucida Console" panose="020B0609040504020204" pitchFamily="49" charset="0"/>
              </a:rPr>
              <a:t>    return bar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foo();foo();</a:t>
            </a:r>
            <a:r>
              <a:rPr lang="en-US" sz="2400" kern="0" dirty="0">
                <a:solidFill>
                  <a:srgbClr val="008000"/>
                </a:solidFill>
                <a:latin typeface="Lucida Console" panose="020B0609040504020204" pitchFamily="49" charset="0"/>
              </a:rPr>
              <a:t>foo([1,2,3,4,5,6,7])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;</a:t>
            </a:r>
            <a:r>
              <a:rPr lang="en-US" sz="2400" kern="0" dirty="0">
                <a:solidFill>
                  <a:srgbClr val="0000FF"/>
                </a:solidFill>
                <a:latin typeface="Lucida Console" panose="020B0609040504020204" pitchFamily="49" charset="0"/>
              </a:rPr>
              <a:t>foo()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['</a:t>
            </a:r>
            <a:r>
              <a:rPr lang="en-US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['</a:t>
            </a:r>
            <a:r>
              <a:rPr lang="en-US" sz="2400" b="1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b="1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', '</a:t>
            </a:r>
            <a:r>
              <a:rPr lang="en-US" sz="2400" b="1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b="1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[1, 2, 3, 4, 5, 6, 7, '</a:t>
            </a:r>
            <a:r>
              <a:rPr lang="en-US" altLang="zh-TW" sz="2400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altLang="zh-TW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['</a:t>
            </a:r>
            <a:r>
              <a:rPr lang="en-US" sz="2400" b="1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b="1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', '</a:t>
            </a:r>
            <a:r>
              <a:rPr lang="en-US" sz="2400" b="1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b="1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', '</a:t>
            </a:r>
            <a:r>
              <a:rPr lang="en-US" sz="2400" b="1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b="1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547588" y="3361635"/>
            <a:ext cx="2410801" cy="329216"/>
          </a:xfrm>
          <a:prstGeom prst="rect">
            <a:avLst/>
          </a:prstGeom>
          <a:solidFill>
            <a:schemeClr val="bg1"/>
          </a:solidFill>
        </p:spPr>
        <p:txBody>
          <a:bodyPr wrap="none" anchor="ctr" anchorCtr="0">
            <a:noAutofit/>
          </a:bodyPr>
          <a:lstStyle/>
          <a:p>
            <a:pPr algn="ctr"/>
            <a:r>
              <a:rPr lang="en-US" sz="2400" b="1" kern="0" dirty="0" smtClean="0">
                <a:solidFill>
                  <a:srgbClr val="F98700"/>
                </a:solidFill>
                <a:latin typeface="Lucida Console" panose="020B0609040504020204" pitchFamily="49" charset="0"/>
              </a:rPr>
              <a:t>append</a:t>
            </a:r>
            <a:r>
              <a:rPr lang="en-US" sz="2400" b="1" kern="0" dirty="0">
                <a:solidFill>
                  <a:srgbClr val="F98700"/>
                </a:solidFill>
                <a:latin typeface="Lucida Console" panose="020B0609040504020204" pitchFamily="49" charset="0"/>
              </a:rPr>
              <a:t>("</a:t>
            </a:r>
            <a:r>
              <a:rPr lang="en-US" sz="2400" b="1" kern="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b="1" kern="0" dirty="0">
                <a:solidFill>
                  <a:srgbClr val="F98700"/>
                </a:solidFill>
                <a:latin typeface="Lucida Console" panose="020B0609040504020204" pitchFamily="49" charset="0"/>
              </a:rPr>
              <a:t>")</a:t>
            </a:r>
            <a:endParaRPr lang="en-US" sz="2400" dirty="0"/>
          </a:p>
        </p:txBody>
      </p:sp>
      <p:sp>
        <p:nvSpPr>
          <p:cNvPr id="7" name="Arc 6"/>
          <p:cNvSpPr/>
          <p:nvPr/>
        </p:nvSpPr>
        <p:spPr bwMode="auto">
          <a:xfrm>
            <a:off x="-316706" y="847100"/>
            <a:ext cx="9296400" cy="7405356"/>
          </a:xfrm>
          <a:prstGeom prst="arc">
            <a:avLst>
              <a:gd name="adj1" fmla="val 21114911"/>
              <a:gd name="adj2" fmla="val 448637"/>
            </a:avLst>
          </a:prstGeom>
          <a:noFill/>
          <a:ln w="76200" cap="flat" cmpd="sng" algn="ctr">
            <a:solidFill>
              <a:srgbClr val="0000FF"/>
            </a:solidFill>
            <a:prstDash val="solid"/>
            <a:round/>
            <a:headEnd type="stealth" w="lg" len="lg"/>
            <a:tailEnd type="none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9" name="Arc 8"/>
          <p:cNvSpPr/>
          <p:nvPr/>
        </p:nvSpPr>
        <p:spPr bwMode="auto">
          <a:xfrm>
            <a:off x="-316706" y="847100"/>
            <a:ext cx="9296400" cy="7405356"/>
          </a:xfrm>
          <a:prstGeom prst="arc">
            <a:avLst>
              <a:gd name="adj1" fmla="val 19419231"/>
              <a:gd name="adj2" fmla="val 20401575"/>
            </a:avLst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stealth" w="lg" len="lg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12" name="Arc 11"/>
          <p:cNvSpPr/>
          <p:nvPr/>
        </p:nvSpPr>
        <p:spPr bwMode="auto">
          <a:xfrm rot="981329">
            <a:off x="1981494" y="929389"/>
            <a:ext cx="7165658" cy="4370058"/>
          </a:xfrm>
          <a:prstGeom prst="arc">
            <a:avLst>
              <a:gd name="adj1" fmla="val 12457531"/>
              <a:gd name="adj2" fmla="val 14780513"/>
            </a:avLst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stealth" w="lg" len="lg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5322094" y="2904500"/>
            <a:ext cx="4114800" cy="979488"/>
          </a:xfrm>
          <a:prstGeom prst="wedgeRoundRectCallout">
            <a:avLst>
              <a:gd name="adj1" fmla="val 10829"/>
              <a:gd name="adj2" fmla="val 112268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FF"/>
                </a:solidFill>
                <a:latin typeface="Times New Roman" charset="0"/>
              </a:rPr>
              <a:t>…and so, when this call </a:t>
            </a:r>
            <a:r>
              <a:rPr lang="en-US" sz="2800" b="1" dirty="0">
                <a:solidFill>
                  <a:srgbClr val="0000FF"/>
                </a:solidFill>
                <a:latin typeface="Times New Roman" charset="0"/>
              </a:rPr>
              <a:t>does</a:t>
            </a:r>
            <a:r>
              <a:rPr lang="en-US" sz="2800" dirty="0">
                <a:solidFill>
                  <a:srgbClr val="0000FF"/>
                </a:solidFill>
                <a:latin typeface="Times New Roman" charset="0"/>
              </a:rPr>
              <a:t> use the default…</a:t>
            </a: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5169694" y="618500"/>
            <a:ext cx="4267200" cy="1404144"/>
          </a:xfrm>
          <a:prstGeom prst="wedgeRoundRectCallout">
            <a:avLst>
              <a:gd name="adj1" fmla="val -94718"/>
              <a:gd name="adj2" fmla="val 122563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Times New Roman" charset="0"/>
              </a:rPr>
              <a:t>…then that default is what it had been the last time that the default was used... </a:t>
            </a: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6769894" y="5114300"/>
            <a:ext cx="2667000" cy="1066800"/>
          </a:xfrm>
          <a:prstGeom prst="wedgeRoundRectCallout">
            <a:avLst>
              <a:gd name="adj1" fmla="val -90398"/>
              <a:gd name="adj2" fmla="val -83853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8000"/>
                </a:solidFill>
                <a:latin typeface="Times New Roman" charset="0"/>
              </a:rPr>
              <a:t>This one doesn’t use the default. </a:t>
            </a:r>
          </a:p>
        </p:txBody>
      </p:sp>
      <p:sp>
        <p:nvSpPr>
          <p:cNvPr id="2" name="Rectangle 1"/>
          <p:cNvSpPr/>
          <p:nvPr/>
        </p:nvSpPr>
        <p:spPr>
          <a:xfrm>
            <a:off x="448058" y="5120816"/>
            <a:ext cx="278794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['</a:t>
            </a:r>
            <a:r>
              <a:rPr 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', '</a:t>
            </a:r>
            <a:r>
              <a:rPr lang="en-US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']</a:t>
            </a:r>
          </a:p>
        </p:txBody>
      </p:sp>
      <p:sp>
        <p:nvSpPr>
          <p:cNvPr id="15" name="Arc 14"/>
          <p:cNvSpPr/>
          <p:nvPr/>
        </p:nvSpPr>
        <p:spPr bwMode="auto">
          <a:xfrm rot="981329">
            <a:off x="1981494" y="929389"/>
            <a:ext cx="7165658" cy="4370058"/>
          </a:xfrm>
          <a:prstGeom prst="arc">
            <a:avLst>
              <a:gd name="adj1" fmla="val 8109183"/>
              <a:gd name="adj2" fmla="val 10967632"/>
            </a:avLst>
          </a:prstGeom>
          <a:noFill/>
          <a:ln w="76200" cap="flat" cmpd="sng" algn="ctr">
            <a:solidFill>
              <a:srgbClr val="F98700"/>
            </a:solidFill>
            <a:prstDash val="solid"/>
            <a:round/>
            <a:headEnd type="stealth" w="lg" len="lg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18" name="Arc 17"/>
          <p:cNvSpPr/>
          <p:nvPr/>
        </p:nvSpPr>
        <p:spPr bwMode="auto">
          <a:xfrm>
            <a:off x="-3107406" y="4390900"/>
            <a:ext cx="9296400" cy="6781800"/>
          </a:xfrm>
          <a:prstGeom prst="arc">
            <a:avLst>
              <a:gd name="adj1" fmla="val 19419231"/>
              <a:gd name="adj2" fmla="val 20401575"/>
            </a:avLst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42537" y="5856913"/>
            <a:ext cx="40895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kern="0" dirty="0">
                <a:solidFill>
                  <a:srgbClr val="0000FF"/>
                </a:solidFill>
                <a:latin typeface="Lucida Console" panose="020B0609040504020204" pitchFamily="49" charset="0"/>
              </a:rPr>
              <a:t>['</a:t>
            </a:r>
            <a:r>
              <a:rPr lang="en-US" sz="2400" b="1" kern="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b="1" kern="0" dirty="0">
                <a:solidFill>
                  <a:srgbClr val="0000FF"/>
                </a:solidFill>
                <a:latin typeface="Lucida Console" panose="020B0609040504020204" pitchFamily="49" charset="0"/>
              </a:rPr>
              <a:t>', '</a:t>
            </a:r>
            <a:r>
              <a:rPr lang="en-US" sz="2400" b="1" kern="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b="1" kern="0" dirty="0">
                <a:solidFill>
                  <a:srgbClr val="0000FF"/>
                </a:solidFill>
                <a:latin typeface="Lucida Console" panose="020B0609040504020204" pitchFamily="49" charset="0"/>
              </a:rPr>
              <a:t>', '</a:t>
            </a:r>
            <a:r>
              <a:rPr lang="en-US" sz="2400" b="1" kern="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b="1" kern="0" dirty="0">
                <a:solidFill>
                  <a:srgbClr val="0000FF"/>
                </a:solidFill>
                <a:latin typeface="Lucida Console" panose="020B0609040504020204" pitchFamily="49" charset="0"/>
              </a:rPr>
              <a:t>']</a:t>
            </a:r>
          </a:p>
        </p:txBody>
      </p:sp>
      <p:sp>
        <p:nvSpPr>
          <p:cNvPr id="13" name="Rounded Rectangular Callout 12"/>
          <p:cNvSpPr/>
          <p:nvPr/>
        </p:nvSpPr>
        <p:spPr bwMode="auto">
          <a:xfrm>
            <a:off x="445294" y="618500"/>
            <a:ext cx="2895600" cy="1404144"/>
          </a:xfrm>
          <a:prstGeom prst="wedgeRoundRectCallout">
            <a:avLst>
              <a:gd name="adj1" fmla="val -4846"/>
              <a:gd name="adj2" fmla="val 277105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Times New Roman" charset="0"/>
              </a:rPr>
              <a:t>…we see that, </a:t>
            </a:r>
            <a:br>
              <a:rPr lang="en-US" sz="2800" dirty="0">
                <a:solidFill>
                  <a:srgbClr val="000000"/>
                </a:solidFill>
                <a:latin typeface="Times New Roman" charset="0"/>
              </a:rPr>
            </a:br>
            <a:r>
              <a:rPr lang="en-US" sz="2800" dirty="0">
                <a:solidFill>
                  <a:srgbClr val="000000"/>
                </a:solidFill>
                <a:latin typeface="Times New Roman" charset="0"/>
              </a:rPr>
              <a:t>the last time, it was </a:t>
            </a:r>
            <a:r>
              <a:rPr lang="en-US" sz="2800" dirty="0">
                <a:solidFill>
                  <a:srgbClr val="FF0000"/>
                </a:solidFill>
                <a:latin typeface="Times New Roman" charset="0"/>
              </a:rPr>
              <a:t>['</a:t>
            </a:r>
            <a:r>
              <a:rPr lang="en-US" sz="2800" dirty="0" err="1">
                <a:solidFill>
                  <a:srgbClr val="FF0000"/>
                </a:solidFill>
                <a:latin typeface="Times New Roman" charset="0"/>
              </a:rPr>
              <a:t>baz</a:t>
            </a:r>
            <a:r>
              <a:rPr lang="en-US" sz="2800" dirty="0">
                <a:solidFill>
                  <a:srgbClr val="FF0000"/>
                </a:solidFill>
                <a:latin typeface="Times New Roman" charset="0"/>
              </a:rPr>
              <a:t>', '</a:t>
            </a:r>
            <a:r>
              <a:rPr lang="en-US" sz="2800" dirty="0" err="1">
                <a:solidFill>
                  <a:srgbClr val="FF0000"/>
                </a:solidFill>
                <a:latin typeface="Times New Roman" charset="0"/>
              </a:rPr>
              <a:t>baz</a:t>
            </a:r>
            <a:r>
              <a:rPr lang="en-US" sz="2800" dirty="0">
                <a:solidFill>
                  <a:srgbClr val="FF0000"/>
                </a:solidFill>
                <a:latin typeface="Times New Roman" charset="0"/>
              </a:rPr>
              <a:t>']</a:t>
            </a:r>
            <a:r>
              <a:rPr lang="en-US" sz="2800" dirty="0">
                <a:solidFill>
                  <a:srgbClr val="000000"/>
                </a:solidFill>
                <a:latin typeface="Times New Roman" charset="0"/>
              </a:rPr>
              <a:t>... </a:t>
            </a:r>
          </a:p>
        </p:txBody>
      </p:sp>
      <p:sp>
        <p:nvSpPr>
          <p:cNvPr id="16" name="Rounded Rectangular Callout 15"/>
          <p:cNvSpPr/>
          <p:nvPr/>
        </p:nvSpPr>
        <p:spPr bwMode="auto">
          <a:xfrm>
            <a:off x="3246503" y="3883988"/>
            <a:ext cx="1923197" cy="1880394"/>
          </a:xfrm>
          <a:prstGeom prst="wedgeRoundRectCallout">
            <a:avLst>
              <a:gd name="adj1" fmla="val -636"/>
              <a:gd name="adj2" fmla="val -62237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F987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Times New Roman" charset="0"/>
              </a:rPr>
              <a:t>…so, after appending another '</a:t>
            </a:r>
            <a:r>
              <a:rPr lang="en-US" sz="2800" dirty="0" err="1">
                <a:solidFill>
                  <a:srgbClr val="000000"/>
                </a:solidFill>
                <a:latin typeface="Times New Roman" charset="0"/>
              </a:rPr>
              <a:t>baz</a:t>
            </a:r>
            <a:r>
              <a:rPr lang="en-US" sz="2800" dirty="0">
                <a:solidFill>
                  <a:srgbClr val="000000"/>
                </a:solidFill>
                <a:latin typeface="Times New Roman" charset="0"/>
              </a:rPr>
              <a:t>'…</a:t>
            </a:r>
          </a:p>
        </p:txBody>
      </p:sp>
      <p:sp>
        <p:nvSpPr>
          <p:cNvPr id="17" name="Rounded Rectangular Callout 16"/>
          <p:cNvSpPr/>
          <p:nvPr/>
        </p:nvSpPr>
        <p:spPr bwMode="auto">
          <a:xfrm>
            <a:off x="4664994" y="6286738"/>
            <a:ext cx="2286000" cy="565944"/>
          </a:xfrm>
          <a:prstGeom prst="wedgeRoundRectCallout">
            <a:avLst>
              <a:gd name="adj1" fmla="val -78480"/>
              <a:gd name="adj2" fmla="val -76540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0000"/>
                </a:solidFill>
                <a:latin typeface="Times New Roman" charset="0"/>
              </a:rPr>
              <a:t>…we get this.</a:t>
            </a:r>
          </a:p>
        </p:txBody>
      </p:sp>
    </p:spTree>
    <p:extLst>
      <p:ext uri="{BB962C8B-B14F-4D97-AF65-F5344CB8AC3E}">
        <p14:creationId xmlns:p14="http://schemas.microsoft.com/office/powerpoint/2010/main" val="65783348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1" grpId="0"/>
      <p:bldP spid="17" grpId="1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0" y="1"/>
            <a:ext cx="9729788" cy="1161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dirty="0">
                <a:solidFill>
                  <a:srgbClr val="0070C0"/>
                </a:solidFill>
                <a:latin typeface="Elephant" panose="02020904090505020303" pitchFamily="18" charset="0"/>
                <a:ea typeface="新細明體" panose="02020500000000000000" pitchFamily="18" charset="-120"/>
                <a:cs typeface="+mj-cs"/>
              </a:rPr>
              <a:t>Mutable Default Arguments</a:t>
            </a:r>
            <a:endParaRPr lang="zh-TW" altLang="en-US" sz="4400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45294" y="847100"/>
            <a:ext cx="899160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eaLnBrk="1">
              <a:lnSpc>
                <a:spcPct val="93000"/>
              </a:lnSpc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100" kern="0" dirty="0">
                <a:solidFill>
                  <a:srgbClr val="FF0000"/>
                </a:solidFill>
                <a:latin typeface="Arial Narrow" panose="020B0606020202030204" pitchFamily="34" charset="0"/>
              </a:rPr>
              <a:t>  From: https://www.toptal.com/python/top-10-mistakes-that-python-programmers-make</a:t>
            </a:r>
          </a:p>
          <a:p>
            <a:pPr marL="95250" indent="0" eaLnBrk="1">
              <a:lnSpc>
                <a:spcPct val="93000"/>
              </a:lnSpc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sz="3200" kern="0" dirty="0">
                <a:solidFill>
                  <a:srgbClr val="0000FF"/>
                </a:solidFill>
              </a:rPr>
              <a:t>A</a:t>
            </a:r>
            <a:r>
              <a:rPr lang="en-US" sz="2800" kern="0" dirty="0">
                <a:solidFill>
                  <a:srgbClr val="0000FF"/>
                </a:solidFill>
              </a:rPr>
              <a:t> </a:t>
            </a:r>
            <a:r>
              <a:rPr lang="en-US" sz="3200" kern="0" dirty="0">
                <a:solidFill>
                  <a:srgbClr val="0000FF"/>
                </a:solidFill>
              </a:rPr>
              <a:t>common</a:t>
            </a:r>
            <a:r>
              <a:rPr lang="en-US" sz="2800" kern="0" dirty="0">
                <a:solidFill>
                  <a:srgbClr val="0000FF"/>
                </a:solidFill>
              </a:rPr>
              <a:t> </a:t>
            </a:r>
            <a:r>
              <a:rPr lang="en-US" sz="3200" kern="0" dirty="0">
                <a:solidFill>
                  <a:srgbClr val="0000FF"/>
                </a:solidFill>
              </a:rPr>
              <a:t>error</a:t>
            </a:r>
            <a:r>
              <a:rPr lang="en-US" sz="2800" kern="0" dirty="0">
                <a:solidFill>
                  <a:srgbClr val="0000FF"/>
                </a:solidFill>
              </a:rPr>
              <a:t> </a:t>
            </a:r>
            <a:r>
              <a:rPr lang="en-US" sz="3200" kern="0" dirty="0"/>
              <a:t>is</a:t>
            </a:r>
            <a:r>
              <a:rPr lang="en-US" sz="2800" kern="0" dirty="0"/>
              <a:t> </a:t>
            </a:r>
            <a:r>
              <a:rPr lang="en-US" sz="3200" kern="0" dirty="0"/>
              <a:t>to</a:t>
            </a:r>
            <a:r>
              <a:rPr lang="en-US" sz="2800" kern="0" dirty="0"/>
              <a:t> </a:t>
            </a:r>
            <a:r>
              <a:rPr lang="en-US" sz="3200" kern="0" dirty="0"/>
              <a:t>think</a:t>
            </a:r>
            <a:r>
              <a:rPr lang="en-US" sz="2800" kern="0" dirty="0"/>
              <a:t> </a:t>
            </a:r>
            <a:r>
              <a:rPr lang="en-US" sz="3200" kern="0" dirty="0"/>
              <a:t>an</a:t>
            </a:r>
            <a:r>
              <a:rPr lang="en-US" sz="2800" kern="0" dirty="0"/>
              <a:t> </a:t>
            </a:r>
            <a:r>
              <a:rPr lang="en-US" sz="3200" kern="0" dirty="0"/>
              <a:t>optional</a:t>
            </a:r>
            <a:r>
              <a:rPr lang="en-US" sz="2800" kern="0" dirty="0"/>
              <a:t> </a:t>
            </a:r>
            <a:r>
              <a:rPr lang="en-US" sz="3200" kern="0" dirty="0"/>
              <a:t>argument will be set to the default </a:t>
            </a:r>
            <a:r>
              <a:rPr lang="en-US" sz="3200" i="1" kern="0" dirty="0"/>
              <a:t>each time</a:t>
            </a:r>
            <a:r>
              <a:rPr lang="en-US" sz="3200" kern="0" dirty="0"/>
              <a:t> the function is called without that optional argument: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endParaRPr lang="en-US" sz="2400" kern="0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kern="0" dirty="0">
                <a:latin typeface="Lucida Console" panose="020B0609040504020204" pitchFamily="49" charset="0"/>
              </a:rPr>
              <a:t> </a:t>
            </a:r>
            <a:r>
              <a:rPr lang="en-US" sz="2400" kern="0" dirty="0" err="1">
                <a:latin typeface="Lucida Console" panose="020B0609040504020204" pitchFamily="49" charset="0"/>
              </a:rPr>
              <a:t>def</a:t>
            </a:r>
            <a:r>
              <a:rPr lang="en-US" sz="2400" kern="0" dirty="0">
                <a:latin typeface="Lucida Console" panose="020B0609040504020204" pitchFamily="49" charset="0"/>
              </a:rPr>
              <a:t> </a:t>
            </a:r>
            <a:r>
              <a:rPr 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foo(bar=[]): </a:t>
            </a:r>
            <a:r>
              <a:rPr lang="en-US" sz="2400" kern="0" dirty="0">
                <a:latin typeface="Lucida Console" panose="020B0609040504020204" pitchFamily="49" charset="0"/>
              </a:rPr>
              <a:t># bar defaults to []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400" kern="0" dirty="0">
                <a:latin typeface="Lucida Console" panose="020B0609040504020204" pitchFamily="49" charset="0"/>
              </a:rPr>
              <a:t>    </a:t>
            </a:r>
            <a:r>
              <a:rPr lang="en-US" sz="2400" kern="0" dirty="0" err="1">
                <a:latin typeface="Lucida Console" panose="020B0609040504020204" pitchFamily="49" charset="0"/>
              </a:rPr>
              <a:t>bar.append</a:t>
            </a:r>
            <a:r>
              <a:rPr lang="en-US" sz="2400" kern="0" dirty="0">
                <a:latin typeface="Lucida Console" panose="020B0609040504020204" pitchFamily="49" charset="0"/>
              </a:rPr>
              <a:t>("</a:t>
            </a:r>
            <a:r>
              <a:rPr lang="en-US" sz="2400" kern="0" dirty="0" err="1">
                <a:latin typeface="Lucida Console" panose="020B0609040504020204" pitchFamily="49" charset="0"/>
              </a:rPr>
              <a:t>baz</a:t>
            </a:r>
            <a:r>
              <a:rPr lang="en-US" sz="2400" kern="0" dirty="0">
                <a:latin typeface="Lucida Console" panose="020B0609040504020204" pitchFamily="49" charset="0"/>
              </a:rPr>
              <a:t>") # this is problematic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400" kern="0" dirty="0">
                <a:latin typeface="Lucida Console" panose="020B0609040504020204" pitchFamily="49" charset="0"/>
              </a:rPr>
              <a:t>    return bar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sz="2400" b="1" kern="0" dirty="0">
                <a:solidFill>
                  <a:srgbClr val="F98700"/>
                </a:solidFill>
                <a:latin typeface="Lucida Console" panose="020B0609040504020204" pitchFamily="49" charset="0"/>
              </a:rPr>
              <a:t>foo()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;</a:t>
            </a:r>
            <a:r>
              <a:rPr lang="en-US" sz="2400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foo()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;</a:t>
            </a:r>
            <a:r>
              <a:rPr lang="en-US" sz="2400" kern="0" dirty="0">
                <a:solidFill>
                  <a:srgbClr val="008000"/>
                </a:solidFill>
                <a:latin typeface="Lucida Console" panose="020B0609040504020204" pitchFamily="49" charset="0"/>
              </a:rPr>
              <a:t>foo([1,2,3,4,5,6,7])</a:t>
            </a:r>
            <a:r>
              <a:rPr lang="en-US" sz="2400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;</a:t>
            </a:r>
            <a:r>
              <a:rPr lang="en-US" sz="2400" b="1" kern="0" dirty="0">
                <a:solidFill>
                  <a:srgbClr val="0000FF"/>
                </a:solidFill>
                <a:latin typeface="Lucida Console" panose="020B0609040504020204" pitchFamily="49" charset="0"/>
              </a:rPr>
              <a:t>foo()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kern="0" dirty="0">
                <a:solidFill>
                  <a:srgbClr val="F98700"/>
                </a:solidFill>
                <a:latin typeface="Lucida Console" panose="020B0609040504020204" pitchFamily="49" charset="0"/>
              </a:rPr>
              <a:t>['</a:t>
            </a:r>
            <a:r>
              <a:rPr lang="en-US" sz="2400" b="1" kern="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b="1" kern="0" dirty="0">
                <a:solidFill>
                  <a:srgbClr val="F98700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['</a:t>
            </a:r>
            <a:r>
              <a:rPr lang="en-US" sz="2400" b="1" kern="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b="1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', '</a:t>
            </a:r>
            <a:r>
              <a:rPr lang="en-US" sz="2400" b="1" kern="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b="1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400" kern="0" dirty="0">
                <a:solidFill>
                  <a:srgbClr val="008000"/>
                </a:solidFill>
                <a:latin typeface="Lucida Console" panose="020B0609040504020204" pitchFamily="49" charset="0"/>
              </a:rPr>
              <a:t>[1, 2, 3, 4, 5, 6, 7, '</a:t>
            </a:r>
            <a:r>
              <a:rPr lang="en-US" altLang="zh-TW" sz="2400" kern="0" dirty="0" err="1">
                <a:solidFill>
                  <a:srgbClr val="008000"/>
                </a:solidFill>
                <a:latin typeface="Lucida Console" panose="020B0609040504020204" pitchFamily="49" charset="0"/>
              </a:rPr>
              <a:t>baz</a:t>
            </a:r>
            <a:r>
              <a:rPr lang="en-US" altLang="zh-TW" sz="2400" kern="0" dirty="0">
                <a:solidFill>
                  <a:srgbClr val="008000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['</a:t>
            </a:r>
            <a:r>
              <a:rPr lang="en-US" sz="2400" b="1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b="1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', '</a:t>
            </a:r>
            <a:r>
              <a:rPr lang="en-US" sz="2400" b="1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b="1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', '</a:t>
            </a:r>
            <a:r>
              <a:rPr lang="en-US" sz="2400" b="1" kern="0" dirty="0" err="1">
                <a:solidFill>
                  <a:srgbClr val="777777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b="1" kern="0" dirty="0">
                <a:solidFill>
                  <a:srgbClr val="777777"/>
                </a:solidFill>
                <a:latin typeface="Lucida Console" panose="020B0609040504020204" pitchFamily="49" charset="0"/>
              </a:rPr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kern="0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400" kern="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8058" y="5120816"/>
            <a:ext cx="278794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[</a:t>
            </a:r>
            <a:r>
              <a:rPr lang="en-US" sz="2400" b="1" kern="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'</a:t>
            </a:r>
            <a:r>
              <a:rPr lang="en-US" sz="2400" b="1" kern="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', '</a:t>
            </a:r>
            <a:r>
              <a:rPr lang="en-US" sz="2400" b="1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b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']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537" y="5856913"/>
            <a:ext cx="40895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kern="0" dirty="0">
                <a:solidFill>
                  <a:srgbClr val="0000FF"/>
                </a:solidFill>
                <a:latin typeface="Lucida Console" panose="020B0609040504020204" pitchFamily="49" charset="0"/>
              </a:rPr>
              <a:t>['</a:t>
            </a:r>
            <a:r>
              <a:rPr lang="en-US" sz="2400" b="1" kern="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b="1" kern="0" dirty="0">
                <a:solidFill>
                  <a:srgbClr val="0000FF"/>
                </a:solidFill>
                <a:latin typeface="Lucida Console" panose="020B0609040504020204" pitchFamily="49" charset="0"/>
              </a:rPr>
              <a:t>', '</a:t>
            </a:r>
            <a:r>
              <a:rPr lang="en-US" sz="2400" b="1" kern="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b="1" kern="0" dirty="0">
                <a:solidFill>
                  <a:srgbClr val="0000FF"/>
                </a:solidFill>
                <a:latin typeface="Lucida Console" panose="020B0609040504020204" pitchFamily="49" charset="0"/>
              </a:rPr>
              <a:t>', '</a:t>
            </a:r>
            <a:r>
              <a:rPr lang="en-US" sz="2400" b="1" kern="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baz</a:t>
            </a:r>
            <a:r>
              <a:rPr lang="en-US" sz="2400" b="1" kern="0" dirty="0">
                <a:solidFill>
                  <a:srgbClr val="0000FF"/>
                </a:solidFill>
                <a:latin typeface="Lucida Console" panose="020B0609040504020204" pitchFamily="49" charset="0"/>
              </a:rPr>
              <a:t>']</a:t>
            </a:r>
          </a:p>
        </p:txBody>
      </p:sp>
    </p:spTree>
    <p:extLst>
      <p:ext uri="{BB962C8B-B14F-4D97-AF65-F5344CB8AC3E}">
        <p14:creationId xmlns:p14="http://schemas.microsoft.com/office/powerpoint/2010/main" val="92858673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65760" y="847100"/>
            <a:ext cx="906399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eaLnBrk="1">
              <a:lnSpc>
                <a:spcPct val="93000"/>
              </a:lnSpc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100" kern="0" dirty="0">
                <a:solidFill>
                  <a:schemeClr val="bg1"/>
                </a:solidFill>
                <a:latin typeface="Arial Narrow" panose="020B0606020202030204" pitchFamily="34" charset="0"/>
              </a:rPr>
              <a:t>From: https://www.toptal.com/python/top-10-mistakes-that-python-programmers-make</a:t>
            </a:r>
          </a:p>
          <a:p>
            <a:pPr marL="0" indent="0">
              <a:buNone/>
            </a:pPr>
            <a:r>
              <a:rPr lang="en-US" sz="3200" kern="0" dirty="0">
                <a:solidFill>
                  <a:srgbClr val="0000FF"/>
                </a:solidFill>
              </a:rPr>
              <a:t>A</a:t>
            </a:r>
            <a:r>
              <a:rPr lang="en-US" sz="3200" kern="0" dirty="0" smtClean="0"/>
              <a:t> </a:t>
            </a:r>
            <a:r>
              <a:rPr lang="en-US" sz="3200" kern="0" dirty="0">
                <a:solidFill>
                  <a:srgbClr val="0000FF"/>
                </a:solidFill>
              </a:rPr>
              <a:t>common workaround </a:t>
            </a:r>
            <a:r>
              <a:rPr lang="en-US" sz="3200" kern="0" dirty="0"/>
              <a:t>for this is as follows:</a:t>
            </a:r>
          </a:p>
          <a:p>
            <a:pPr marL="171450" indent="0">
              <a:spcBef>
                <a:spcPts val="0"/>
              </a:spcBef>
              <a:buNone/>
            </a:pPr>
            <a:r>
              <a:rPr lang="en-US" sz="28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800" kern="0" dirty="0">
                <a:latin typeface="Lucida Console" panose="020B0609040504020204" pitchFamily="49" charset="0"/>
              </a:rPr>
              <a:t> </a:t>
            </a:r>
            <a:r>
              <a:rPr lang="en-US" sz="2800" kern="0" dirty="0" err="1">
                <a:latin typeface="Lucida Console" panose="020B0609040504020204" pitchFamily="49" charset="0"/>
              </a:rPr>
              <a:t>def</a:t>
            </a:r>
            <a:r>
              <a:rPr lang="en-US" sz="2800" kern="0" dirty="0">
                <a:latin typeface="Lucida Console" panose="020B0609040504020204" pitchFamily="49" charset="0"/>
              </a:rPr>
              <a:t> foo(</a:t>
            </a:r>
            <a:r>
              <a:rPr lang="en-US" sz="2800" kern="0" dirty="0">
                <a:solidFill>
                  <a:srgbClr val="0000FF"/>
                </a:solidFill>
                <a:latin typeface="Lucida Console" panose="020B0609040504020204" pitchFamily="49" charset="0"/>
              </a:rPr>
              <a:t>bar=None</a:t>
            </a:r>
            <a:r>
              <a:rPr lang="en-US" sz="2800" kern="0" dirty="0">
                <a:latin typeface="Lucida Console" panose="020B0609040504020204" pitchFamily="49" charset="0"/>
              </a:rPr>
              <a:t>): </a:t>
            </a:r>
          </a:p>
          <a:p>
            <a:pPr marL="171450" indent="0">
              <a:spcBef>
                <a:spcPts val="0"/>
              </a:spcBef>
              <a:buNone/>
            </a:pPr>
            <a:r>
              <a:rPr lang="en-US" sz="28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800" kern="0" dirty="0">
                <a:latin typeface="Lucida Console" panose="020B0609040504020204" pitchFamily="49" charset="0"/>
              </a:rPr>
              <a:t>    </a:t>
            </a:r>
            <a:r>
              <a:rPr lang="en-US" sz="2800" kern="0" dirty="0">
                <a:solidFill>
                  <a:srgbClr val="0000FF"/>
                </a:solidFill>
                <a:latin typeface="Lucida Console" panose="020B0609040504020204" pitchFamily="49" charset="0"/>
              </a:rPr>
              <a:t>if bar is None: </a:t>
            </a:r>
            <a:r>
              <a:rPr lang="en-US" sz="2800" kern="0" dirty="0">
                <a:solidFill>
                  <a:srgbClr val="FF9999"/>
                </a:solidFill>
                <a:latin typeface="Lucida Console" panose="020B0609040504020204" pitchFamily="49" charset="0"/>
              </a:rPr>
              <a:t># </a:t>
            </a:r>
            <a:r>
              <a:rPr lang="en-US" sz="2800" kern="0" dirty="0" err="1" smtClean="0">
                <a:solidFill>
                  <a:srgbClr val="FF9999"/>
                </a:solidFill>
                <a:latin typeface="Lucida Console" panose="020B0609040504020204" pitchFamily="49" charset="0"/>
              </a:rPr>
              <a:t>ie</a:t>
            </a:r>
            <a:r>
              <a:rPr lang="en-US" sz="2800" kern="0" dirty="0" smtClean="0">
                <a:solidFill>
                  <a:srgbClr val="FF9999"/>
                </a:solidFill>
                <a:latin typeface="Lucida Console" panose="020B0609040504020204" pitchFamily="49" charset="0"/>
              </a:rPr>
              <a:t>, </a:t>
            </a:r>
            <a:r>
              <a:rPr lang="en-US" sz="2800" kern="0" dirty="0">
                <a:solidFill>
                  <a:srgbClr val="FF9999"/>
                </a:solidFill>
                <a:latin typeface="Lucida Console" panose="020B0609040504020204" pitchFamily="49" charset="0"/>
              </a:rPr>
              <a:t>if </a:t>
            </a:r>
            <a:r>
              <a:rPr lang="en-US" sz="2800" kern="0" dirty="0" smtClean="0">
                <a:solidFill>
                  <a:srgbClr val="FF9999"/>
                </a:solidFill>
                <a:latin typeface="Lucida Console" panose="020B0609040504020204" pitchFamily="49" charset="0"/>
              </a:rPr>
              <a:t>no </a:t>
            </a:r>
            <a:r>
              <a:rPr lang="en-US" sz="2800" kern="0" dirty="0">
                <a:solidFill>
                  <a:srgbClr val="FF9999"/>
                </a:solidFill>
                <a:latin typeface="Lucida Console" panose="020B0609040504020204" pitchFamily="49" charset="0"/>
              </a:rPr>
              <a:t>bar: </a:t>
            </a:r>
            <a:r>
              <a:rPr lang="en-US" sz="28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800" kern="0" dirty="0">
                <a:latin typeface="Lucida Console" panose="020B0609040504020204" pitchFamily="49" charset="0"/>
              </a:rPr>
              <a:t>       </a:t>
            </a:r>
            <a:r>
              <a:rPr lang="en-US" sz="2800" kern="0" dirty="0">
                <a:solidFill>
                  <a:srgbClr val="0000FF"/>
                </a:solidFill>
                <a:latin typeface="Lucida Console" panose="020B0609040504020204" pitchFamily="49" charset="0"/>
              </a:rPr>
              <a:t>bar = [] </a:t>
            </a:r>
          </a:p>
          <a:p>
            <a:pPr marL="171450" indent="0">
              <a:spcBef>
                <a:spcPts val="0"/>
              </a:spcBef>
              <a:buNone/>
            </a:pPr>
            <a:r>
              <a:rPr lang="en-US" sz="28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800" kern="0" dirty="0">
                <a:latin typeface="Lucida Console" panose="020B0609040504020204" pitchFamily="49" charset="0"/>
              </a:rPr>
              <a:t>    </a:t>
            </a:r>
            <a:r>
              <a:rPr lang="en-US" sz="2800" kern="0" dirty="0" err="1">
                <a:latin typeface="Lucida Console" panose="020B0609040504020204" pitchFamily="49" charset="0"/>
              </a:rPr>
              <a:t>bar.append</a:t>
            </a:r>
            <a:r>
              <a:rPr lang="en-US" sz="2800" kern="0" dirty="0">
                <a:latin typeface="Lucida Console" panose="020B0609040504020204" pitchFamily="49" charset="0"/>
              </a:rPr>
              <a:t>("</a:t>
            </a:r>
            <a:r>
              <a:rPr lang="en-US" sz="2800" kern="0" dirty="0" err="1">
                <a:latin typeface="Lucida Console" panose="020B0609040504020204" pitchFamily="49" charset="0"/>
              </a:rPr>
              <a:t>baz</a:t>
            </a:r>
            <a:r>
              <a:rPr lang="en-US" sz="2800" kern="0" dirty="0">
                <a:latin typeface="Lucida Console" panose="020B0609040504020204" pitchFamily="49" charset="0"/>
              </a:rPr>
              <a:t>") </a:t>
            </a:r>
          </a:p>
          <a:p>
            <a:pPr marL="171450" indent="0">
              <a:spcBef>
                <a:spcPts val="0"/>
              </a:spcBef>
              <a:buNone/>
            </a:pPr>
            <a:r>
              <a:rPr lang="en-US" sz="28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800" kern="0" dirty="0">
                <a:latin typeface="Lucida Console" panose="020B0609040504020204" pitchFamily="49" charset="0"/>
              </a:rPr>
              <a:t>    return bar </a:t>
            </a:r>
          </a:p>
          <a:p>
            <a:pPr marL="171450" indent="0">
              <a:spcBef>
                <a:spcPts val="0"/>
              </a:spcBef>
              <a:buNone/>
            </a:pPr>
            <a:r>
              <a:rPr lang="en-US" sz="28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800" kern="0" dirty="0">
                <a:latin typeface="Lucida Console" panose="020B0609040504020204" pitchFamily="49" charset="0"/>
              </a:rPr>
              <a:t> </a:t>
            </a:r>
            <a:endParaRPr lang="en-US" sz="2800" kern="0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171450" indent="0">
              <a:spcBef>
                <a:spcPts val="0"/>
              </a:spcBef>
              <a:buNone/>
            </a:pPr>
            <a:r>
              <a:rPr 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sz="2800" kern="0" dirty="0">
                <a:solidFill>
                  <a:srgbClr val="F98700"/>
                </a:solidFill>
                <a:latin typeface="Lucida Console" panose="020B0609040504020204" pitchFamily="49" charset="0"/>
              </a:rPr>
              <a:t>foo()</a:t>
            </a:r>
            <a:r>
              <a:rPr lang="en-US" sz="28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;</a:t>
            </a:r>
            <a:r>
              <a:rPr 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foo()</a:t>
            </a:r>
            <a:r>
              <a:rPr lang="en-US" sz="28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;</a:t>
            </a:r>
            <a:r>
              <a:rPr lang="en-US" sz="2800" kern="0" dirty="0">
                <a:solidFill>
                  <a:srgbClr val="008000"/>
                </a:solidFill>
                <a:latin typeface="Lucida Console" panose="020B0609040504020204" pitchFamily="49" charset="0"/>
              </a:rPr>
              <a:t>foo() </a:t>
            </a:r>
          </a:p>
          <a:p>
            <a:pPr marL="171450" indent="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2800" kern="0" dirty="0">
                <a:solidFill>
                  <a:srgbClr val="F98700"/>
                </a:solidFill>
                <a:latin typeface="Lucida Console" panose="020B0609040504020204" pitchFamily="49" charset="0"/>
              </a:rPr>
              <a:t>["</a:t>
            </a:r>
            <a:r>
              <a:rPr lang="en-US" sz="2800" kern="0" dirty="0" err="1">
                <a:solidFill>
                  <a:srgbClr val="F98700"/>
                </a:solidFill>
                <a:latin typeface="Lucida Console" panose="020B0609040504020204" pitchFamily="49" charset="0"/>
              </a:rPr>
              <a:t>baz</a:t>
            </a:r>
            <a:r>
              <a:rPr lang="en-US" sz="2800" kern="0" dirty="0">
                <a:solidFill>
                  <a:srgbClr val="F98700"/>
                </a:solidFill>
                <a:latin typeface="Lucida Console" panose="020B0609040504020204" pitchFamily="49" charset="0"/>
              </a:rPr>
              <a:t>"] </a:t>
            </a:r>
          </a:p>
          <a:p>
            <a:pPr marL="171450" indent="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["</a:t>
            </a:r>
            <a:r>
              <a:rPr lang="en-US" sz="28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baz</a:t>
            </a:r>
            <a:r>
              <a:rPr 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"] </a:t>
            </a:r>
          </a:p>
          <a:p>
            <a:pPr marL="171450" indent="0">
              <a:spcBef>
                <a:spcPts val="0"/>
              </a:spcBef>
              <a:buNone/>
            </a:pPr>
            <a:r>
              <a:rPr lang="en-US" sz="2800" kern="0" dirty="0">
                <a:solidFill>
                  <a:srgbClr val="008000"/>
                </a:solidFill>
                <a:latin typeface="Lucida Console" panose="020B0609040504020204" pitchFamily="49" charset="0"/>
              </a:rPr>
              <a:t>["</a:t>
            </a:r>
            <a:r>
              <a:rPr lang="en-US" sz="2800" kern="0" dirty="0" err="1">
                <a:solidFill>
                  <a:srgbClr val="008000"/>
                </a:solidFill>
                <a:latin typeface="Lucida Console" panose="020B0609040504020204" pitchFamily="49" charset="0"/>
              </a:rPr>
              <a:t>baz</a:t>
            </a:r>
            <a:r>
              <a:rPr lang="en-US" sz="2800" kern="0" dirty="0">
                <a:solidFill>
                  <a:srgbClr val="008000"/>
                </a:solidFill>
                <a:latin typeface="Lucida Console" panose="020B0609040504020204" pitchFamily="49" charset="0"/>
              </a:rPr>
              <a:t>"] </a:t>
            </a:r>
          </a:p>
          <a:p>
            <a:pPr marL="171450" indent="0">
              <a:spcBef>
                <a:spcPts val="0"/>
              </a:spcBef>
              <a:buNone/>
            </a:pPr>
            <a:r>
              <a:rPr lang="en-US" sz="28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GB" altLang="en-US" sz="2800" kern="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0" y="1"/>
            <a:ext cx="9729788" cy="1161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dirty="0">
                <a:solidFill>
                  <a:srgbClr val="0070C0"/>
                </a:solidFill>
                <a:latin typeface="Elephant" panose="02020904090505020303" pitchFamily="18" charset="0"/>
                <a:ea typeface="新細明體" panose="02020500000000000000" pitchFamily="18" charset="-120"/>
                <a:cs typeface="+mj-cs"/>
              </a:rPr>
              <a:t>Mutable Default Arguments</a:t>
            </a:r>
            <a:endParaRPr lang="zh-TW" altLang="en-US" sz="4400" kern="0" dirty="0">
              <a:solidFill>
                <a:srgbClr val="0070C0"/>
              </a:solidFill>
              <a:latin typeface="Elephant" panose="02020904090505020303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37320" y="4286422"/>
            <a:ext cx="833883" cy="52322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2800" kern="0" dirty="0">
                <a:solidFill>
                  <a:srgbClr val="A6A6A6"/>
                </a:solidFill>
                <a:latin typeface="Lucida Console" panose="020B0609040504020204" pitchFamily="49" charset="0"/>
              </a:rPr>
              <a:t>&gt;&gt;&gt;</a:t>
            </a:r>
            <a:endParaRPr lang="en-US" sz="2800" dirty="0">
              <a:solidFill>
                <a:srgbClr val="A6A6A6"/>
              </a:solidFill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45294" y="847100"/>
            <a:ext cx="8991600" cy="330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eaLnBrk="1">
              <a:lnSpc>
                <a:spcPct val="93000"/>
              </a:lnSpc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100" kern="0" dirty="0">
                <a:solidFill>
                  <a:srgbClr val="FF0000"/>
                </a:solidFill>
                <a:latin typeface="Arial Narrow" panose="020B0606020202030204" pitchFamily="34" charset="0"/>
              </a:rPr>
              <a:t>  From: https://</a:t>
            </a:r>
            <a:r>
              <a:rPr lang="en-GB" altLang="en-US" sz="2100" kern="0" dirty="0" smtClean="0">
                <a:solidFill>
                  <a:srgbClr val="FF0000"/>
                </a:solidFill>
                <a:latin typeface="Arial Narrow" panose="020B0606020202030204" pitchFamily="34" charset="0"/>
              </a:rPr>
              <a:t>www.toptal.com/python/top-10-mistakes-that-python-programmers-make</a:t>
            </a:r>
            <a:endParaRPr lang="en-GB" altLang="en-US" sz="2100" kern="0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2523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8209" y="1034880"/>
            <a:ext cx="9081135" cy="51898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302" dirty="0">
                <a:solidFill>
                  <a:schemeClr val="bg1">
                    <a:lumMod val="75000"/>
                  </a:schemeClr>
                </a:solidFill>
                <a:cs typeface="Courier New" pitchFamily="49" charset="0"/>
              </a:rPr>
              <a:t>There are 5 possible types of parameter definitions:</a:t>
            </a:r>
          </a:p>
          <a:p>
            <a:pPr marL="525636" indent="-362558"/>
            <a:r>
              <a:rPr lang="en-US" sz="3302" dirty="0" smtClean="0">
                <a:solidFill>
                  <a:schemeClr val="bg1">
                    <a:lumMod val="75000"/>
                  </a:schemeClr>
                </a:solidFill>
                <a:cs typeface="Courier New" pitchFamily="49" charset="0"/>
              </a:rPr>
              <a:t>Positional arguments</a:t>
            </a:r>
            <a:endParaRPr lang="en-US" sz="3302" dirty="0">
              <a:solidFill>
                <a:schemeClr val="bg1">
                  <a:lumMod val="75000"/>
                </a:schemeClr>
              </a:solidFill>
              <a:cs typeface="Courier New" pitchFamily="49" charset="0"/>
            </a:endParaRPr>
          </a:p>
          <a:p>
            <a:pPr marL="525636" indent="-362558"/>
            <a:r>
              <a:rPr lang="en-US" sz="3302" dirty="0">
                <a:solidFill>
                  <a:schemeClr val="bg1">
                    <a:lumMod val="75000"/>
                  </a:schemeClr>
                </a:solidFill>
                <a:cs typeface="Courier New" pitchFamily="49" charset="0"/>
              </a:rPr>
              <a:t>Keyword arguments</a:t>
            </a:r>
          </a:p>
          <a:p>
            <a:pPr marL="525636" indent="-362558"/>
            <a:r>
              <a:rPr lang="en-US" sz="3302" dirty="0">
                <a:solidFill>
                  <a:srgbClr val="FF0000"/>
                </a:solidFill>
                <a:cs typeface="Courier New" pitchFamily="49" charset="0"/>
              </a:rPr>
              <a:t>Default arguments</a:t>
            </a:r>
          </a:p>
          <a:p>
            <a:pPr marL="525636" indent="-362558"/>
            <a:r>
              <a:rPr lang="en-US" sz="3302" dirty="0">
                <a:solidFill>
                  <a:schemeClr val="bg1">
                    <a:lumMod val="75000"/>
                  </a:schemeClr>
                </a:solidFill>
                <a:cs typeface="Courier New" pitchFamily="49" charset="0"/>
              </a:rPr>
              <a:t>Variable-length arguments</a:t>
            </a:r>
          </a:p>
          <a:p>
            <a:pPr marL="525636" indent="-362558"/>
            <a:r>
              <a:rPr lang="en-US" sz="3302" dirty="0">
                <a:solidFill>
                  <a:schemeClr val="bg1">
                    <a:lumMod val="75000"/>
                  </a:schemeClr>
                </a:solidFill>
                <a:cs typeface="Courier New" pitchFamily="49" charset="0"/>
              </a:rPr>
              <a:t>Keyword-only arguments</a:t>
            </a:r>
          </a:p>
          <a:p>
            <a:endParaRPr lang="en-US" sz="3302" dirty="0">
              <a:solidFill>
                <a:srgbClr val="660066"/>
              </a:solidFill>
              <a:cs typeface="Courier New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 smtClean="0">
                <a:solidFill>
                  <a:srgbClr val="0070C0"/>
                </a:solidFill>
              </a:rPr>
              <a:t>Defining Function Parameters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4417764" y="3809329"/>
            <a:ext cx="5008909" cy="1234562"/>
          </a:xfrm>
          <a:prstGeom prst="wedgeRoundRectCallout">
            <a:avLst>
              <a:gd name="adj1" fmla="val -103541"/>
              <a:gd name="adj2" fmla="val -101700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3200" spc="100" dirty="0" smtClean="0">
                <a:solidFill>
                  <a:srgbClr val="FF0000"/>
                </a:solidFill>
                <a:latin typeface="Times New Roman" charset="0"/>
              </a:rPr>
              <a:t>What if a default value </a:t>
            </a:r>
            <a:br>
              <a:rPr lang="en-US" sz="3200" spc="100" dirty="0" smtClean="0">
                <a:solidFill>
                  <a:srgbClr val="FF0000"/>
                </a:solidFill>
                <a:latin typeface="Times New Roman" charset="0"/>
              </a:rPr>
            </a:br>
            <a:r>
              <a:rPr lang="en-US" sz="3200" spc="100" dirty="0" smtClean="0">
                <a:solidFill>
                  <a:srgbClr val="FF0000"/>
                </a:solidFill>
                <a:latin typeface="Times New Roman" charset="0"/>
              </a:rPr>
              <a:t>is </a:t>
            </a:r>
            <a:r>
              <a:rPr lang="en-US" sz="3200" b="1" spc="100" dirty="0" smtClean="0">
                <a:solidFill>
                  <a:srgbClr val="FF0000"/>
                </a:solidFill>
                <a:latin typeface="Times New Roman" charset="0"/>
              </a:rPr>
              <a:t>mutable</a:t>
            </a:r>
            <a:r>
              <a:rPr lang="en-US" sz="3200" spc="100" dirty="0" smtClean="0">
                <a:solidFill>
                  <a:srgbClr val="FF0000"/>
                </a:solidFill>
                <a:latin typeface="Times New Roman" charset="0"/>
              </a:rPr>
              <a:t>?</a:t>
            </a:r>
            <a:endParaRPr lang="en-US" sz="3200" spc="100" dirty="0">
              <a:solidFill>
                <a:srgbClr val="FF0000"/>
              </a:solidFill>
              <a:latin typeface="Times New Roman" charset="0"/>
            </a:endParaRPr>
          </a:p>
        </p:txBody>
      </p:sp>
      <p:sp>
        <p:nvSpPr>
          <p:cNvPr id="11" name="Rounded Rectangular Callout 10"/>
          <p:cNvSpPr/>
          <p:nvPr/>
        </p:nvSpPr>
        <p:spPr bwMode="auto">
          <a:xfrm>
            <a:off x="4417764" y="2233914"/>
            <a:ext cx="5008909" cy="1234562"/>
          </a:xfrm>
          <a:prstGeom prst="wedgeRoundRectCallout">
            <a:avLst>
              <a:gd name="adj1" fmla="val -21501"/>
              <a:gd name="adj2" fmla="val 97298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rgbClr val="FF0000"/>
                </a:solidFill>
                <a:latin typeface="Times New Roman" charset="0"/>
              </a:rPr>
              <a:t>Then there is a concern that you may not have </a:t>
            </a:r>
            <a:r>
              <a:rPr lang="en-US" sz="3200" dirty="0" smtClean="0">
                <a:solidFill>
                  <a:srgbClr val="FF0000"/>
                </a:solidFill>
                <a:latin typeface="Times New Roman" charset="0"/>
              </a:rPr>
              <a:t>realized…</a:t>
            </a:r>
            <a:endParaRPr lang="en-US" sz="3200" dirty="0">
              <a:solidFill>
                <a:srgbClr val="FF0000"/>
              </a:solidFill>
              <a:latin typeface="Times New Roman" charset="0"/>
            </a:endParaRP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4417764" y="669520"/>
            <a:ext cx="5008909" cy="1234562"/>
          </a:xfrm>
          <a:prstGeom prst="wedgeRoundRectCallout">
            <a:avLst>
              <a:gd name="adj1" fmla="val -21501"/>
              <a:gd name="adj2" fmla="val 92836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3200" spc="100" dirty="0" smtClean="0">
                <a:solidFill>
                  <a:srgbClr val="FF0000"/>
                </a:solidFill>
                <a:latin typeface="Times New Roman" charset="0"/>
              </a:rPr>
              <a:t>It is a concern that </a:t>
            </a:r>
            <a:br>
              <a:rPr lang="en-US" sz="3200" spc="100" dirty="0" smtClean="0">
                <a:solidFill>
                  <a:srgbClr val="FF0000"/>
                </a:solidFill>
                <a:latin typeface="Times New Roman" charset="0"/>
              </a:rPr>
            </a:br>
            <a:r>
              <a:rPr lang="en-US" sz="3200" spc="100" dirty="0" smtClean="0">
                <a:solidFill>
                  <a:srgbClr val="FF0000"/>
                </a:solidFill>
                <a:latin typeface="Times New Roman" charset="0"/>
              </a:rPr>
              <a:t>C programs also have...</a:t>
            </a:r>
            <a:endParaRPr lang="en-US" sz="3200" spc="100" dirty="0">
              <a:solidFill>
                <a:srgbClr val="FF00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781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xit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8" presetClass="exit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8" presetClass="exit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0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8209" y="1034880"/>
            <a:ext cx="9081135" cy="51898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302" dirty="0">
                <a:solidFill>
                  <a:schemeClr val="bg1">
                    <a:lumMod val="75000"/>
                  </a:schemeClr>
                </a:solidFill>
                <a:cs typeface="Courier New" pitchFamily="49" charset="0"/>
              </a:rPr>
              <a:t>There are 5 possible types of parameter definitions:</a:t>
            </a:r>
          </a:p>
          <a:p>
            <a:pPr marL="525636" indent="-362558"/>
            <a:r>
              <a:rPr lang="en-US" sz="3302" dirty="0" smtClean="0">
                <a:solidFill>
                  <a:schemeClr val="bg1">
                    <a:lumMod val="75000"/>
                  </a:schemeClr>
                </a:solidFill>
                <a:cs typeface="Courier New" pitchFamily="49" charset="0"/>
              </a:rPr>
              <a:t>Positional arguments</a:t>
            </a:r>
            <a:endParaRPr lang="en-US" sz="3302" dirty="0">
              <a:solidFill>
                <a:schemeClr val="bg1">
                  <a:lumMod val="75000"/>
                </a:schemeClr>
              </a:solidFill>
              <a:cs typeface="Courier New" pitchFamily="49" charset="0"/>
            </a:endParaRPr>
          </a:p>
          <a:p>
            <a:pPr marL="525636" indent="-362558"/>
            <a:r>
              <a:rPr lang="en-US" sz="3302" dirty="0">
                <a:solidFill>
                  <a:schemeClr val="bg1">
                    <a:lumMod val="75000"/>
                  </a:schemeClr>
                </a:solidFill>
                <a:cs typeface="Courier New" pitchFamily="49" charset="0"/>
              </a:rPr>
              <a:t>Keyword arguments</a:t>
            </a:r>
          </a:p>
          <a:p>
            <a:pPr marL="525636" indent="-362558"/>
            <a:r>
              <a:rPr lang="en-US" sz="3302" dirty="0">
                <a:solidFill>
                  <a:srgbClr val="BFBFBF"/>
                </a:solidFill>
                <a:cs typeface="Courier New" pitchFamily="49" charset="0"/>
              </a:rPr>
              <a:t>Default arguments</a:t>
            </a:r>
          </a:p>
          <a:p>
            <a:pPr marL="525636" indent="-362558"/>
            <a:r>
              <a:rPr lang="en-US" sz="3302" dirty="0">
                <a:solidFill>
                  <a:srgbClr val="FF0000"/>
                </a:solidFill>
                <a:cs typeface="Courier New" pitchFamily="49" charset="0"/>
              </a:rPr>
              <a:t>Variable-length arguments</a:t>
            </a:r>
          </a:p>
          <a:p>
            <a:pPr marL="525636" indent="-362558"/>
            <a:r>
              <a:rPr lang="en-US" sz="3302" dirty="0">
                <a:solidFill>
                  <a:srgbClr val="BFBFBF"/>
                </a:solidFill>
                <a:cs typeface="Courier New" pitchFamily="49" charset="0"/>
              </a:rPr>
              <a:t>Keyword-only arguments</a:t>
            </a:r>
          </a:p>
          <a:p>
            <a:endParaRPr lang="en-US" sz="3302" dirty="0">
              <a:solidFill>
                <a:srgbClr val="660066"/>
              </a:solidFill>
              <a:cs typeface="Courier New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 smtClean="0">
                <a:solidFill>
                  <a:srgbClr val="0070C0"/>
                </a:solidFill>
              </a:rPr>
              <a:t>Defining Function Parameters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4427191" y="1451728"/>
            <a:ext cx="5008909" cy="1791092"/>
          </a:xfrm>
          <a:prstGeom prst="wedgeRoundRectCallout">
            <a:avLst>
              <a:gd name="adj1" fmla="val -77757"/>
              <a:gd name="adj2" fmla="val 64250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spc="100" dirty="0" smtClean="0">
                <a:solidFill>
                  <a:srgbClr val="FF0000"/>
                </a:solidFill>
                <a:latin typeface="Times New Roman" charset="0"/>
              </a:rPr>
              <a:t>We have learned about variable-length arguments.</a:t>
            </a:r>
            <a:br>
              <a:rPr lang="en-US" sz="3200" spc="100" dirty="0" smtClean="0">
                <a:solidFill>
                  <a:srgbClr val="FF0000"/>
                </a:solidFill>
                <a:latin typeface="Times New Roman" charset="0"/>
              </a:rPr>
            </a:br>
            <a:r>
              <a:rPr lang="en-US" sz="3200" spc="100" dirty="0" smtClean="0">
                <a:solidFill>
                  <a:srgbClr val="FF0000"/>
                </a:solidFill>
                <a:latin typeface="Times New Roman" charset="0"/>
              </a:rPr>
              <a:t>We have seen that they</a:t>
            </a:r>
            <a:br>
              <a:rPr lang="en-US" sz="3200" spc="100" dirty="0" smtClean="0">
                <a:solidFill>
                  <a:srgbClr val="FF0000"/>
                </a:solidFill>
                <a:latin typeface="Times New Roman" charset="0"/>
              </a:rPr>
            </a:br>
            <a:r>
              <a:rPr lang="en-US" sz="3200" spc="100" dirty="0" smtClean="0">
                <a:solidFill>
                  <a:srgbClr val="FF0000"/>
                </a:solidFill>
                <a:latin typeface="Times New Roman" charset="0"/>
              </a:rPr>
              <a:t>go into a tuple.</a:t>
            </a:r>
            <a:endParaRPr lang="en-US" sz="3200" spc="100" dirty="0">
              <a:solidFill>
                <a:srgbClr val="FF00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640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8209" y="1034880"/>
            <a:ext cx="9081135" cy="51898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302" dirty="0">
                <a:solidFill>
                  <a:schemeClr val="bg1">
                    <a:lumMod val="75000"/>
                  </a:schemeClr>
                </a:solidFill>
                <a:cs typeface="Courier New" pitchFamily="49" charset="0"/>
              </a:rPr>
              <a:t>There are 5 possible types of parameter definitions:</a:t>
            </a:r>
          </a:p>
          <a:p>
            <a:pPr marL="525636" indent="-362558"/>
            <a:r>
              <a:rPr lang="en-US" sz="3302" dirty="0" smtClean="0">
                <a:solidFill>
                  <a:schemeClr val="bg1">
                    <a:lumMod val="75000"/>
                  </a:schemeClr>
                </a:solidFill>
                <a:cs typeface="Courier New" pitchFamily="49" charset="0"/>
              </a:rPr>
              <a:t>Positional arguments</a:t>
            </a:r>
            <a:endParaRPr lang="en-US" sz="3302" dirty="0">
              <a:solidFill>
                <a:schemeClr val="bg1">
                  <a:lumMod val="75000"/>
                </a:schemeClr>
              </a:solidFill>
              <a:cs typeface="Courier New" pitchFamily="49" charset="0"/>
            </a:endParaRPr>
          </a:p>
          <a:p>
            <a:pPr marL="525636" indent="-362558"/>
            <a:r>
              <a:rPr lang="en-US" sz="3302" dirty="0">
                <a:solidFill>
                  <a:schemeClr val="bg1">
                    <a:lumMod val="75000"/>
                  </a:schemeClr>
                </a:solidFill>
                <a:cs typeface="Courier New" pitchFamily="49" charset="0"/>
              </a:rPr>
              <a:t>Keyword arguments</a:t>
            </a:r>
          </a:p>
          <a:p>
            <a:pPr marL="525636" indent="-362558"/>
            <a:r>
              <a:rPr lang="en-US" sz="3302" dirty="0">
                <a:solidFill>
                  <a:srgbClr val="BFBFBF"/>
                </a:solidFill>
                <a:cs typeface="Courier New" pitchFamily="49" charset="0"/>
              </a:rPr>
              <a:t>Default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Variable-length arguments</a:t>
            </a:r>
          </a:p>
          <a:p>
            <a:pPr marL="525636" indent="-362558"/>
            <a:r>
              <a:rPr lang="en-US" sz="3302" dirty="0">
                <a:solidFill>
                  <a:srgbClr val="FF0000"/>
                </a:solidFill>
                <a:cs typeface="Courier New" pitchFamily="49" charset="0"/>
              </a:rPr>
              <a:t>Keyword-only arguments</a:t>
            </a:r>
          </a:p>
          <a:p>
            <a:endParaRPr lang="en-US" sz="3302" dirty="0">
              <a:solidFill>
                <a:srgbClr val="660066"/>
              </a:solidFill>
              <a:cs typeface="Courier New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 smtClean="0">
                <a:solidFill>
                  <a:srgbClr val="0070C0"/>
                </a:solidFill>
              </a:rPr>
              <a:t>Defining Function Parameters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4427191" y="1451728"/>
            <a:ext cx="5008909" cy="1791092"/>
          </a:xfrm>
          <a:prstGeom prst="wedgeRoundRectCallout">
            <a:avLst>
              <a:gd name="adj1" fmla="val -77757"/>
              <a:gd name="adj2" fmla="val 64250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spc="100" dirty="0" smtClean="0">
                <a:solidFill>
                  <a:srgbClr val="FF6400"/>
                </a:solidFill>
                <a:latin typeface="Times New Roman" charset="0"/>
              </a:rPr>
              <a:t>We have learned about variable-length arguments.</a:t>
            </a:r>
            <a:br>
              <a:rPr lang="en-US" sz="3200" spc="100" dirty="0" smtClean="0">
                <a:solidFill>
                  <a:srgbClr val="FF6400"/>
                </a:solidFill>
                <a:latin typeface="Times New Roman" charset="0"/>
              </a:rPr>
            </a:br>
            <a:r>
              <a:rPr lang="en-US" sz="3200" spc="100" dirty="0" smtClean="0">
                <a:solidFill>
                  <a:srgbClr val="FF6400"/>
                </a:solidFill>
                <a:latin typeface="Times New Roman" charset="0"/>
              </a:rPr>
              <a:t>We have seen that they</a:t>
            </a:r>
            <a:br>
              <a:rPr lang="en-US" sz="3200" spc="100" dirty="0" smtClean="0">
                <a:solidFill>
                  <a:srgbClr val="FF6400"/>
                </a:solidFill>
                <a:latin typeface="Times New Roman" charset="0"/>
              </a:rPr>
            </a:br>
            <a:r>
              <a:rPr lang="en-US" sz="3200" spc="100" dirty="0" smtClean="0">
                <a:solidFill>
                  <a:srgbClr val="FF6400"/>
                </a:solidFill>
                <a:latin typeface="Times New Roman" charset="0"/>
              </a:rPr>
              <a:t>go into a tuple.</a:t>
            </a:r>
            <a:endParaRPr lang="en-US" sz="3200" spc="100" dirty="0">
              <a:solidFill>
                <a:srgbClr val="FF6400"/>
              </a:solidFill>
              <a:latin typeface="Times New Roman" charset="0"/>
            </a:endParaRP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4428763" y="4620707"/>
            <a:ext cx="5008909" cy="1791092"/>
          </a:xfrm>
          <a:prstGeom prst="wedgeRoundRectCallout">
            <a:avLst>
              <a:gd name="adj1" fmla="val -77757"/>
              <a:gd name="adj2" fmla="val -64171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spc="100" dirty="0" smtClean="0">
                <a:solidFill>
                  <a:srgbClr val="FF0000"/>
                </a:solidFill>
                <a:latin typeface="Times New Roman" charset="0"/>
              </a:rPr>
              <a:t>We have learned about keyword arguments.</a:t>
            </a:r>
            <a:br>
              <a:rPr lang="en-US" sz="3200" spc="100" dirty="0" smtClean="0">
                <a:solidFill>
                  <a:srgbClr val="FF0000"/>
                </a:solidFill>
                <a:latin typeface="Times New Roman" charset="0"/>
              </a:rPr>
            </a:br>
            <a:r>
              <a:rPr lang="en-US" sz="3200" spc="100" dirty="0" smtClean="0">
                <a:solidFill>
                  <a:srgbClr val="FF0000"/>
                </a:solidFill>
                <a:latin typeface="Times New Roman" charset="0"/>
              </a:rPr>
              <a:t>We have seen that they</a:t>
            </a:r>
            <a:br>
              <a:rPr lang="en-US" sz="3200" spc="100" dirty="0" smtClean="0">
                <a:solidFill>
                  <a:srgbClr val="FF0000"/>
                </a:solidFill>
                <a:latin typeface="Times New Roman" charset="0"/>
              </a:rPr>
            </a:br>
            <a:r>
              <a:rPr lang="en-US" sz="3200" spc="100" dirty="0" smtClean="0">
                <a:solidFill>
                  <a:srgbClr val="FF0000"/>
                </a:solidFill>
                <a:latin typeface="Times New Roman" charset="0"/>
              </a:rPr>
              <a:t>go into a named variables.</a:t>
            </a:r>
            <a:endParaRPr lang="en-US" sz="3200" spc="100" dirty="0">
              <a:solidFill>
                <a:srgbClr val="FF00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885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8209" y="1034880"/>
            <a:ext cx="9081135" cy="51898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302" dirty="0">
                <a:solidFill>
                  <a:schemeClr val="bg1">
                    <a:lumMod val="75000"/>
                  </a:schemeClr>
                </a:solidFill>
                <a:cs typeface="Courier New" pitchFamily="49" charset="0"/>
              </a:rPr>
              <a:t>There are 5 possible types of parameter definitions:</a:t>
            </a:r>
          </a:p>
          <a:p>
            <a:pPr marL="525636" indent="-362558"/>
            <a:r>
              <a:rPr lang="en-US" sz="3302" dirty="0" smtClean="0">
                <a:solidFill>
                  <a:schemeClr val="bg1">
                    <a:lumMod val="75000"/>
                  </a:schemeClr>
                </a:solidFill>
                <a:cs typeface="Courier New" pitchFamily="49" charset="0"/>
              </a:rPr>
              <a:t>Positional arguments</a:t>
            </a:r>
            <a:endParaRPr lang="en-US" sz="3302" dirty="0">
              <a:solidFill>
                <a:schemeClr val="bg1">
                  <a:lumMod val="75000"/>
                </a:schemeClr>
              </a:solidFill>
              <a:cs typeface="Courier New" pitchFamily="49" charset="0"/>
            </a:endParaRPr>
          </a:p>
          <a:p>
            <a:pPr marL="525636" indent="-362558"/>
            <a:r>
              <a:rPr lang="en-US" sz="3302" dirty="0">
                <a:solidFill>
                  <a:schemeClr val="bg1">
                    <a:lumMod val="75000"/>
                  </a:schemeClr>
                </a:solidFill>
                <a:cs typeface="Courier New" pitchFamily="49" charset="0"/>
              </a:rPr>
              <a:t>Keyword arguments</a:t>
            </a:r>
          </a:p>
          <a:p>
            <a:pPr marL="525636" indent="-362558"/>
            <a:r>
              <a:rPr lang="en-US" sz="3302" dirty="0">
                <a:solidFill>
                  <a:srgbClr val="BFBFBF"/>
                </a:solidFill>
                <a:cs typeface="Courier New" pitchFamily="49" charset="0"/>
              </a:rPr>
              <a:t>Default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Variable-length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Keyword-only </a:t>
            </a:r>
            <a:r>
              <a:rPr lang="en-US" sz="3302" dirty="0" smtClean="0">
                <a:cs typeface="Courier New" pitchFamily="49" charset="0"/>
              </a:rPr>
              <a:t>arguments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 smtClean="0">
                <a:solidFill>
                  <a:srgbClr val="0070C0"/>
                </a:solidFill>
              </a:rPr>
              <a:t>Defining Function Parameters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4427191" y="1451728"/>
            <a:ext cx="5008909" cy="1791092"/>
          </a:xfrm>
          <a:prstGeom prst="wedgeRoundRectCallout">
            <a:avLst>
              <a:gd name="adj1" fmla="val -77757"/>
              <a:gd name="adj2" fmla="val 64250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spc="100" dirty="0" smtClean="0">
                <a:solidFill>
                  <a:srgbClr val="FF6400"/>
                </a:solidFill>
                <a:latin typeface="Times New Roman" charset="0"/>
              </a:rPr>
              <a:t>We have learned about variable-length arguments.</a:t>
            </a:r>
            <a:br>
              <a:rPr lang="en-US" sz="3200" spc="100" dirty="0" smtClean="0">
                <a:solidFill>
                  <a:srgbClr val="FF6400"/>
                </a:solidFill>
                <a:latin typeface="Times New Roman" charset="0"/>
              </a:rPr>
            </a:br>
            <a:r>
              <a:rPr lang="en-US" sz="3200" spc="100" dirty="0" smtClean="0">
                <a:solidFill>
                  <a:srgbClr val="FF6400"/>
                </a:solidFill>
                <a:latin typeface="Times New Roman" charset="0"/>
              </a:rPr>
              <a:t>We have seen that they</a:t>
            </a:r>
            <a:br>
              <a:rPr lang="en-US" sz="3200" spc="100" dirty="0" smtClean="0">
                <a:solidFill>
                  <a:srgbClr val="FF6400"/>
                </a:solidFill>
                <a:latin typeface="Times New Roman" charset="0"/>
              </a:rPr>
            </a:br>
            <a:r>
              <a:rPr lang="en-US" sz="3200" spc="100" dirty="0" smtClean="0">
                <a:solidFill>
                  <a:srgbClr val="FF6400"/>
                </a:solidFill>
                <a:latin typeface="Times New Roman" charset="0"/>
              </a:rPr>
              <a:t>go into a tuple.</a:t>
            </a:r>
            <a:endParaRPr lang="en-US" sz="3200" spc="100" dirty="0">
              <a:solidFill>
                <a:srgbClr val="FF6400"/>
              </a:solidFill>
              <a:latin typeface="Times New Roman" charset="0"/>
            </a:endParaRP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4428763" y="4620707"/>
            <a:ext cx="5008909" cy="1791092"/>
          </a:xfrm>
          <a:prstGeom prst="wedgeRoundRectCallout">
            <a:avLst>
              <a:gd name="adj1" fmla="val -77757"/>
              <a:gd name="adj2" fmla="val -64171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spc="100" dirty="0" smtClean="0">
                <a:solidFill>
                  <a:srgbClr val="FF6400"/>
                </a:solidFill>
                <a:latin typeface="Times New Roman" charset="0"/>
              </a:rPr>
              <a:t>We have learned about keyword arguments.</a:t>
            </a:r>
            <a:br>
              <a:rPr lang="en-US" sz="3200" spc="100" dirty="0" smtClean="0">
                <a:solidFill>
                  <a:srgbClr val="FF6400"/>
                </a:solidFill>
                <a:latin typeface="Times New Roman" charset="0"/>
              </a:rPr>
            </a:br>
            <a:r>
              <a:rPr lang="en-US" sz="3200" spc="100" dirty="0" smtClean="0">
                <a:solidFill>
                  <a:srgbClr val="FF6400"/>
                </a:solidFill>
                <a:latin typeface="Times New Roman" charset="0"/>
              </a:rPr>
              <a:t>We have seen that they</a:t>
            </a:r>
            <a:br>
              <a:rPr lang="en-US" sz="3200" spc="100" dirty="0" smtClean="0">
                <a:solidFill>
                  <a:srgbClr val="FF6400"/>
                </a:solidFill>
                <a:latin typeface="Times New Roman" charset="0"/>
              </a:rPr>
            </a:br>
            <a:r>
              <a:rPr lang="en-US" sz="3200" spc="100" dirty="0" smtClean="0">
                <a:solidFill>
                  <a:srgbClr val="FF6400"/>
                </a:solidFill>
                <a:latin typeface="Times New Roman" charset="0"/>
              </a:rPr>
              <a:t>go into a named variables.</a:t>
            </a:r>
            <a:endParaRPr lang="en-US" sz="3200" spc="100" dirty="0">
              <a:solidFill>
                <a:srgbClr val="FF6400"/>
              </a:solidFill>
              <a:latin typeface="Times New Roman" charset="0"/>
            </a:endParaRP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4430334" y="3509915"/>
            <a:ext cx="5008909" cy="854695"/>
          </a:xfrm>
          <a:prstGeom prst="wedgeRoundRectCallout">
            <a:avLst>
              <a:gd name="adj1" fmla="val -50091"/>
              <a:gd name="adj2" fmla="val 19653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spc="100" dirty="0" smtClean="0">
                <a:solidFill>
                  <a:srgbClr val="FF0000"/>
                </a:solidFill>
                <a:latin typeface="Times New Roman" charset="0"/>
              </a:rPr>
              <a:t>But there are also variable-length keyword arguments.</a:t>
            </a:r>
            <a:endParaRPr lang="en-US" sz="3200" spc="100" dirty="0">
              <a:solidFill>
                <a:srgbClr val="FF00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6813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8209" y="1034880"/>
            <a:ext cx="9081135" cy="51898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302" dirty="0">
                <a:solidFill>
                  <a:schemeClr val="bg1">
                    <a:lumMod val="75000"/>
                  </a:schemeClr>
                </a:solidFill>
                <a:cs typeface="Courier New" pitchFamily="49" charset="0"/>
              </a:rPr>
              <a:t>There are </a:t>
            </a:r>
            <a:r>
              <a:rPr lang="en-US" sz="3302" dirty="0" smtClean="0">
                <a:cs typeface="Courier New" pitchFamily="49" charset="0"/>
              </a:rPr>
              <a:t>6</a:t>
            </a:r>
            <a:r>
              <a:rPr lang="en-US" sz="3302" dirty="0" smtClean="0">
                <a:solidFill>
                  <a:schemeClr val="bg1">
                    <a:lumMod val="75000"/>
                  </a:schemeClr>
                </a:solidFill>
                <a:cs typeface="Courier New" pitchFamily="49" charset="0"/>
              </a:rPr>
              <a:t> </a:t>
            </a:r>
            <a:r>
              <a:rPr lang="en-US" sz="3302" dirty="0">
                <a:solidFill>
                  <a:schemeClr val="bg1">
                    <a:lumMod val="75000"/>
                  </a:schemeClr>
                </a:solidFill>
                <a:cs typeface="Courier New" pitchFamily="49" charset="0"/>
              </a:rPr>
              <a:t>possible types of parameter definitions:</a:t>
            </a:r>
          </a:p>
          <a:p>
            <a:pPr marL="525636" indent="-362558"/>
            <a:r>
              <a:rPr lang="en-US" sz="3302" dirty="0" smtClean="0">
                <a:solidFill>
                  <a:schemeClr val="bg1">
                    <a:lumMod val="75000"/>
                  </a:schemeClr>
                </a:solidFill>
                <a:cs typeface="Courier New" pitchFamily="49" charset="0"/>
              </a:rPr>
              <a:t>Positional arguments</a:t>
            </a:r>
            <a:endParaRPr lang="en-US" sz="3302" dirty="0">
              <a:solidFill>
                <a:schemeClr val="bg1">
                  <a:lumMod val="75000"/>
                </a:schemeClr>
              </a:solidFill>
              <a:cs typeface="Courier New" pitchFamily="49" charset="0"/>
            </a:endParaRPr>
          </a:p>
          <a:p>
            <a:pPr marL="525636" indent="-362558"/>
            <a:r>
              <a:rPr lang="en-US" sz="3302" dirty="0">
                <a:solidFill>
                  <a:schemeClr val="bg1">
                    <a:lumMod val="75000"/>
                  </a:schemeClr>
                </a:solidFill>
                <a:cs typeface="Courier New" pitchFamily="49" charset="0"/>
              </a:rPr>
              <a:t>Keyword arguments</a:t>
            </a:r>
          </a:p>
          <a:p>
            <a:pPr marL="525636" indent="-362558"/>
            <a:r>
              <a:rPr lang="en-US" sz="3302" dirty="0">
                <a:solidFill>
                  <a:srgbClr val="BFBFBF"/>
                </a:solidFill>
                <a:cs typeface="Courier New" pitchFamily="49" charset="0"/>
              </a:rPr>
              <a:t>Default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Variable-length arguments</a:t>
            </a:r>
          </a:p>
          <a:p>
            <a:pPr marL="525636" indent="-362558"/>
            <a:r>
              <a:rPr lang="en-US" sz="3302" dirty="0">
                <a:cs typeface="Courier New" pitchFamily="49" charset="0"/>
              </a:rPr>
              <a:t>Keyword-only </a:t>
            </a:r>
            <a:r>
              <a:rPr lang="en-US" sz="3302" dirty="0" smtClean="0">
                <a:cs typeface="Courier New" pitchFamily="49" charset="0"/>
              </a:rPr>
              <a:t>arguments</a:t>
            </a:r>
          </a:p>
          <a:p>
            <a:pPr marL="525636" indent="-362558"/>
            <a:r>
              <a:rPr lang="en-US" sz="3302" dirty="0" smtClean="0">
                <a:solidFill>
                  <a:srgbClr val="FF0000"/>
                </a:solidFill>
                <a:cs typeface="Courier New" pitchFamily="49" charset="0"/>
              </a:rPr>
              <a:t>Variable-length keyword arguments</a:t>
            </a:r>
            <a:endParaRPr lang="en-US" sz="3302" dirty="0">
              <a:solidFill>
                <a:srgbClr val="FF0000"/>
              </a:solidFill>
              <a:cs typeface="Courier New" pitchFamily="49" charset="0"/>
            </a:endParaRPr>
          </a:p>
          <a:p>
            <a:endParaRPr lang="en-US" sz="3302" dirty="0">
              <a:solidFill>
                <a:srgbClr val="660066"/>
              </a:solidFill>
              <a:cs typeface="Courier New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 smtClean="0">
                <a:solidFill>
                  <a:srgbClr val="0070C0"/>
                </a:solidFill>
              </a:rPr>
              <a:t>Defining Function Parameters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4427191" y="1451728"/>
            <a:ext cx="5008909" cy="1791092"/>
          </a:xfrm>
          <a:prstGeom prst="wedgeRoundRectCallout">
            <a:avLst>
              <a:gd name="adj1" fmla="val -77757"/>
              <a:gd name="adj2" fmla="val 64250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spc="100" dirty="0" smtClean="0">
                <a:solidFill>
                  <a:srgbClr val="FF6400"/>
                </a:solidFill>
                <a:latin typeface="Times New Roman" charset="0"/>
              </a:rPr>
              <a:t>We have learned about variable-length arguments.</a:t>
            </a:r>
            <a:br>
              <a:rPr lang="en-US" sz="3200" spc="100" dirty="0" smtClean="0">
                <a:solidFill>
                  <a:srgbClr val="FF6400"/>
                </a:solidFill>
                <a:latin typeface="Times New Roman" charset="0"/>
              </a:rPr>
            </a:br>
            <a:r>
              <a:rPr lang="en-US" sz="3200" spc="100" dirty="0" smtClean="0">
                <a:solidFill>
                  <a:srgbClr val="FF6400"/>
                </a:solidFill>
                <a:latin typeface="Times New Roman" charset="0"/>
              </a:rPr>
              <a:t>We have seen that they</a:t>
            </a:r>
            <a:br>
              <a:rPr lang="en-US" sz="3200" spc="100" dirty="0" smtClean="0">
                <a:solidFill>
                  <a:srgbClr val="FF6400"/>
                </a:solidFill>
                <a:latin typeface="Times New Roman" charset="0"/>
              </a:rPr>
            </a:br>
            <a:r>
              <a:rPr lang="en-US" sz="3200" spc="100" dirty="0" smtClean="0">
                <a:solidFill>
                  <a:srgbClr val="FF6400"/>
                </a:solidFill>
                <a:latin typeface="Times New Roman" charset="0"/>
              </a:rPr>
              <a:t>go into a tuple.</a:t>
            </a:r>
            <a:endParaRPr lang="en-US" sz="3200" spc="100" dirty="0">
              <a:solidFill>
                <a:srgbClr val="FF6400"/>
              </a:solidFill>
              <a:latin typeface="Times New Roman" charset="0"/>
            </a:endParaRP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4428763" y="4620707"/>
            <a:ext cx="5008909" cy="1791092"/>
          </a:xfrm>
          <a:prstGeom prst="wedgeRoundRectCallout">
            <a:avLst>
              <a:gd name="adj1" fmla="val -77757"/>
              <a:gd name="adj2" fmla="val -64171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spc="100" dirty="0" smtClean="0">
                <a:solidFill>
                  <a:srgbClr val="FF6400"/>
                </a:solidFill>
                <a:latin typeface="Times New Roman" charset="0"/>
              </a:rPr>
              <a:t>We have learned about keyword arguments.</a:t>
            </a:r>
            <a:br>
              <a:rPr lang="en-US" sz="3200" spc="100" dirty="0" smtClean="0">
                <a:solidFill>
                  <a:srgbClr val="FF6400"/>
                </a:solidFill>
                <a:latin typeface="Times New Roman" charset="0"/>
              </a:rPr>
            </a:br>
            <a:r>
              <a:rPr lang="en-US" sz="3200" spc="100" dirty="0" smtClean="0">
                <a:solidFill>
                  <a:srgbClr val="FF6400"/>
                </a:solidFill>
                <a:latin typeface="Times New Roman" charset="0"/>
              </a:rPr>
              <a:t>We have seen that they</a:t>
            </a:r>
            <a:br>
              <a:rPr lang="en-US" sz="3200" spc="100" dirty="0" smtClean="0">
                <a:solidFill>
                  <a:srgbClr val="FF6400"/>
                </a:solidFill>
                <a:latin typeface="Times New Roman" charset="0"/>
              </a:rPr>
            </a:br>
            <a:r>
              <a:rPr lang="en-US" sz="3200" spc="100" dirty="0" smtClean="0">
                <a:solidFill>
                  <a:srgbClr val="FF6400"/>
                </a:solidFill>
                <a:latin typeface="Times New Roman" charset="0"/>
              </a:rPr>
              <a:t>go into a named variables.</a:t>
            </a:r>
            <a:endParaRPr lang="en-US" sz="3200" spc="100" dirty="0">
              <a:solidFill>
                <a:srgbClr val="FF6400"/>
              </a:solidFill>
              <a:latin typeface="Times New Roman" charset="0"/>
            </a:endParaRP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4430334" y="3509915"/>
            <a:ext cx="5008909" cy="854695"/>
          </a:xfrm>
          <a:prstGeom prst="wedgeRoundRectCallout">
            <a:avLst>
              <a:gd name="adj1" fmla="val -76251"/>
              <a:gd name="adj2" fmla="val 73697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spc="100" dirty="0" smtClean="0">
                <a:solidFill>
                  <a:srgbClr val="FF0000"/>
                </a:solidFill>
                <a:latin typeface="Times New Roman" charset="0"/>
              </a:rPr>
              <a:t>But there are also variable-length keyword arguments.</a:t>
            </a:r>
            <a:endParaRPr lang="en-US" sz="3200" spc="100" dirty="0">
              <a:solidFill>
                <a:srgbClr val="FF00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181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3453" y="688770"/>
            <a:ext cx="10036944" cy="6169231"/>
          </a:xfrm>
        </p:spPr>
        <p:txBody>
          <a:bodyPr/>
          <a:lstStyle/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00B0F0"/>
                </a:solidFill>
              </a:rPr>
              <a:t>The </a:t>
            </a:r>
            <a:r>
              <a:rPr lang="en-US" altLang="en-US" sz="3200" b="1" dirty="0">
                <a:solidFill>
                  <a:schemeClr val="accent6"/>
                </a:solidFill>
              </a:rPr>
              <a:t>*x</a:t>
            </a:r>
            <a:r>
              <a:rPr lang="en-US" altLang="en-US" sz="3200" dirty="0">
                <a:solidFill>
                  <a:srgbClr val="00B0F0"/>
                </a:solidFill>
              </a:rPr>
              <a:t>: </a:t>
            </a:r>
            <a:r>
              <a:rPr lang="en-US" altLang="en-US" sz="3200" dirty="0" smtClean="0">
                <a:solidFill>
                  <a:srgbClr val="00B0F0"/>
                </a:solidFill>
              </a:rPr>
              <a:t>Only puts </a:t>
            </a:r>
            <a:r>
              <a:rPr lang="en-US" altLang="en-US" sz="3200" u="sng" dirty="0">
                <a:solidFill>
                  <a:srgbClr val="0000FF"/>
                </a:solidFill>
              </a:rPr>
              <a:t>positional</a:t>
            </a:r>
            <a:r>
              <a:rPr lang="en-US" altLang="en-US" sz="3200" dirty="0">
                <a:solidFill>
                  <a:srgbClr val="0000FF"/>
                </a:solidFill>
              </a:rPr>
              <a:t> arguments</a:t>
            </a:r>
            <a:r>
              <a:rPr lang="en-US" altLang="en-US" sz="3200" dirty="0">
                <a:solidFill>
                  <a:srgbClr val="00B0F0"/>
                </a:solidFill>
              </a:rPr>
              <a:t> into </a:t>
            </a:r>
            <a:r>
              <a:rPr lang="en-US" altLang="en-US" sz="3200" dirty="0">
                <a:solidFill>
                  <a:srgbClr val="0000FF"/>
                </a:solidFill>
              </a:rPr>
              <a:t>a</a:t>
            </a:r>
            <a:r>
              <a:rPr lang="en-US" altLang="en-US" sz="3200" dirty="0">
                <a:solidFill>
                  <a:srgbClr val="00B0F0"/>
                </a:solidFill>
              </a:rPr>
              <a:t> </a:t>
            </a:r>
            <a:r>
              <a:rPr lang="en-US" altLang="en-US" sz="3200" dirty="0">
                <a:solidFill>
                  <a:srgbClr val="0000FF"/>
                </a:solidFill>
              </a:rPr>
              <a:t>tupl</a:t>
            </a:r>
            <a:r>
              <a:rPr lang="en-US" altLang="en-US" sz="3200" spc="-100" dirty="0">
                <a:solidFill>
                  <a:srgbClr val="0000FF"/>
                </a:solidFill>
              </a:rPr>
              <a:t>e</a:t>
            </a:r>
            <a:r>
              <a:rPr lang="en-US" altLang="en-US" sz="3200" dirty="0">
                <a:solidFill>
                  <a:srgbClr val="0000FF"/>
                </a:solidFill>
              </a:rPr>
              <a:t>:</a:t>
            </a:r>
          </a:p>
          <a:p>
            <a:pPr marL="95250" indent="0" eaLnBrk="1">
              <a:lnSpc>
                <a:spcPct val="49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 f(</a:t>
            </a:r>
            <a:r>
              <a:rPr lang="en-US" altLang="en-US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*a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): print(</a:t>
            </a:r>
            <a:r>
              <a:rPr lang="en-US" altLang="en-US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eaLnBrk="1">
              <a:lnSpc>
                <a:spcPct val="5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 eaLnBrk="1">
              <a:lnSpc>
                <a:spcPct val="85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 f(</a:t>
            </a:r>
            <a:r>
              <a:rPr lang="en-US" altLang="en-US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1,2</a:t>
            </a:r>
            <a:r>
              <a:rPr lang="en-US" altLang="en-US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)#No</a:t>
            </a:r>
            <a:r>
              <a:rPr lang="en-US" altLang="en-US" sz="2000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surprises</a:t>
            </a:r>
            <a:r>
              <a:rPr lang="en-US" altLang="en-US" sz="2000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her</a:t>
            </a:r>
            <a:r>
              <a:rPr lang="en-US" altLang="en-US" spc="-2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.</a:t>
            </a:r>
            <a:r>
              <a:rPr lang="en-US" altLang="en-US" sz="1600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See</a:t>
            </a:r>
            <a:r>
              <a:rPr lang="en-US" altLang="en-US" sz="2000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slides</a:t>
            </a:r>
            <a:r>
              <a:rPr lang="en-US" altLang="en-US" sz="2000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19</a:t>
            </a:r>
            <a:r>
              <a:rPr lang="en-US" altLang="en-US" sz="1000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&amp;</a:t>
            </a:r>
            <a:r>
              <a:rPr lang="en-US" altLang="en-US" sz="1000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20</a:t>
            </a:r>
            <a:r>
              <a:rPr lang="en-US" altLang="en-US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endParaRPr lang="en-US" altLang="en-US" spc="-5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5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(1, 2</a:t>
            </a:r>
            <a:r>
              <a:rPr lang="en-US" altLang="en-US" b="1" dirty="0" smtClean="0">
                <a:solidFill>
                  <a:schemeClr val="accent2"/>
                </a:solidFill>
                <a:latin typeface="Lucida Console" panose="020B0609040504020204" pitchFamily="49" charset="0"/>
              </a:rPr>
              <a:t>)</a:t>
            </a:r>
            <a:endParaRPr lang="en-US" altLang="en-US" b="1" dirty="0">
              <a:solidFill>
                <a:schemeClr val="accent2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292894" y="0"/>
            <a:ext cx="9144000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 Parameters: </a:t>
            </a:r>
            <a:r>
              <a:rPr lang="en-US" altLang="zh-TW" sz="4400" b="1" kern="0" dirty="0">
                <a:solidFill>
                  <a:srgbClr val="0000FF"/>
                </a:solidFill>
                <a:latin typeface="Cooper Black" panose="0208090404030B020404" pitchFamily="18" charset="0"/>
              </a:rPr>
              <a:t>*</a:t>
            </a:r>
            <a:r>
              <a:rPr lang="en-US" altLang="zh-TW" sz="4400" kern="0" dirty="0">
                <a:solidFill>
                  <a:srgbClr val="0000FF"/>
                </a:solidFill>
                <a:latin typeface="Elephant" panose="02020904090505020303" pitchFamily="18" charset="0"/>
              </a:rPr>
              <a:t>x</a:t>
            </a:r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400" kern="0" dirty="0">
                <a:solidFill>
                  <a:schemeClr val="bg1"/>
                </a:solidFill>
                <a:latin typeface="Elephant" panose="02020904090505020303" pitchFamily="18" charset="0"/>
              </a:rPr>
              <a:t>&amp; </a:t>
            </a:r>
            <a:r>
              <a:rPr lang="en-US" altLang="zh-TW" sz="4400" b="1" kern="0" dirty="0">
                <a:solidFill>
                  <a:schemeClr val="bg1"/>
                </a:solidFill>
                <a:latin typeface="Cooper Black" panose="0208090404030B020404" pitchFamily="18" charset="0"/>
              </a:rPr>
              <a:t>**</a:t>
            </a:r>
            <a:r>
              <a:rPr lang="en-US" altLang="zh-TW" sz="4400" kern="0" dirty="0">
                <a:solidFill>
                  <a:schemeClr val="bg1"/>
                </a:solidFill>
                <a:latin typeface="Elephant" panose="02020904090505020303" pitchFamily="18" charset="0"/>
              </a:rPr>
              <a:t>x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209861" y="1627834"/>
            <a:ext cx="819312" cy="45228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6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209861" y="2286325"/>
            <a:ext cx="819312" cy="45228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6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403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268235" y="26152"/>
            <a:ext cx="945851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70C0"/>
                </a:solidFill>
              </a:rPr>
              <a:t>Variable-Length  Arguments: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74320" y="914400"/>
            <a:ext cx="9079992" cy="62727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prstClr val="black"/>
                </a:solidFill>
              </a:rPr>
              <a:t>Some functions (</a:t>
            </a:r>
            <a:r>
              <a:rPr lang="en-US" sz="3600" dirty="0" err="1">
                <a:solidFill>
                  <a:prstClr val="black"/>
                </a:solidFill>
              </a:rPr>
              <a:t>eg</a:t>
            </a:r>
            <a:r>
              <a:rPr lang="en-US" sz="3600" dirty="0">
                <a:solidFill>
                  <a:prstClr val="black"/>
                </a:solidFill>
              </a:rPr>
              <a:t>., </a:t>
            </a:r>
            <a:r>
              <a:rPr lang="en-US" sz="3600" b="1" dirty="0">
                <a:solidFill>
                  <a:prstClr val="black"/>
                </a:solidFill>
                <a:latin typeface="Consolas" panose="020B0609020204030204" pitchFamily="49" charset="0"/>
              </a:rPr>
              <a:t>print</a:t>
            </a:r>
            <a:r>
              <a:rPr lang="en-US" sz="3600" dirty="0">
                <a:solidFill>
                  <a:prstClr val="black"/>
                </a:solidFill>
              </a:rPr>
              <a:t>) can receive a variable number of arguments</a:t>
            </a:r>
          </a:p>
          <a:p>
            <a:r>
              <a:rPr lang="en-US" sz="3600" dirty="0">
                <a:solidFill>
                  <a:prstClr val="black"/>
                </a:solidFill>
              </a:rPr>
              <a:t>To do this, put an asterisk, *, before the name of a variable that will hold all of these indeterminate arguments. </a:t>
            </a:r>
            <a:endParaRPr lang="en-US" sz="3600" dirty="0" smtClean="0">
              <a:solidFill>
                <a:prstClr val="black"/>
              </a:solidFill>
            </a:endParaRPr>
          </a:p>
          <a:p>
            <a:pPr lvl="1"/>
            <a:r>
              <a:rPr lang="en-US" dirty="0" smtClean="0">
                <a:solidFill>
                  <a:prstClr val="black"/>
                </a:solidFill>
              </a:rPr>
              <a:t>This </a:t>
            </a:r>
            <a:r>
              <a:rPr lang="en-US" dirty="0">
                <a:solidFill>
                  <a:prstClr val="black"/>
                </a:solidFill>
              </a:rPr>
              <a:t>will be </a:t>
            </a:r>
            <a:r>
              <a:rPr lang="en-US" dirty="0">
                <a:solidFill>
                  <a:srgbClr val="0000FF"/>
                </a:solidFill>
              </a:rPr>
              <a:t>a tuple </a:t>
            </a:r>
            <a:r>
              <a:rPr lang="en-US" dirty="0">
                <a:solidFill>
                  <a:prstClr val="black"/>
                </a:solidFill>
              </a:rPr>
              <a:t>and will be empty if no additional arguments are sent in.</a:t>
            </a:r>
          </a:p>
        </p:txBody>
      </p:sp>
      <p:grpSp>
        <p:nvGrpSpPr>
          <p:cNvPr id="4" name="Group 3"/>
          <p:cNvGrpSpPr/>
          <p:nvPr/>
        </p:nvGrpSpPr>
        <p:grpSpPr>
          <a:xfrm flipH="1">
            <a:off x="7876459" y="217135"/>
            <a:ext cx="2506546" cy="783857"/>
            <a:chOff x="-206806" y="217134"/>
            <a:chExt cx="2506546" cy="783857"/>
          </a:xfrm>
        </p:grpSpPr>
        <p:sp>
          <p:nvSpPr>
            <p:cNvPr id="5" name="Trapezoid 4"/>
            <p:cNvSpPr/>
            <p:nvPr/>
          </p:nvSpPr>
          <p:spPr bwMode="auto">
            <a:xfrm rot="18900000">
              <a:off x="-206806" y="217134"/>
              <a:ext cx="2506546" cy="783857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en-US" sz="2800" dirty="0">
                <a:latin typeface="Arial" charset="0"/>
                <a:ea typeface="新細明體" charset="-12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 rot="18900000">
              <a:off x="-11666" y="226687"/>
              <a:ext cx="2129039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Recall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Slide #19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  <p:sp>
        <p:nvSpPr>
          <p:cNvPr id="2" name="Oval 1"/>
          <p:cNvSpPr/>
          <p:nvPr/>
        </p:nvSpPr>
        <p:spPr>
          <a:xfrm>
            <a:off x="3072384" y="3520440"/>
            <a:ext cx="1517904" cy="74980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432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438943" y="1066800"/>
            <a:ext cx="10342483" cy="304800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>
            <a:no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68235" y="668740"/>
            <a:ext cx="9458510" cy="61892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-68580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80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  <a:cs typeface="Courier New" pitchFamily="49" charset="0"/>
              </a:rPr>
              <a:t>% cat test.py</a:t>
            </a:r>
          </a:p>
          <a:p>
            <a:pPr lvl="1" indent="-68580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800">
                <a:solidFill>
                  <a:srgbClr val="FFC000"/>
                </a:solidFill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( </a:t>
            </a:r>
            <a:r>
              <a:rPr lang="en-US" sz="2800">
                <a:solidFill>
                  <a:srgbClr val="92D050"/>
                </a:solidFill>
                <a:latin typeface="Consolas" panose="020B0609020204030204" pitchFamily="49" charset="0"/>
                <a:cs typeface="Courier New" pitchFamily="49" charset="0"/>
              </a:rPr>
              <a:t>arg1</a:t>
            </a:r>
            <a:r>
              <a:rPr lang="en-US" sz="280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sz="2800">
                <a:solidFill>
                  <a:srgbClr val="00B0F0"/>
                </a:solidFill>
                <a:latin typeface="Consolas" panose="020B0609020204030204" pitchFamily="49" charset="0"/>
                <a:cs typeface="Courier New" pitchFamily="49" charset="0"/>
              </a:rPr>
              <a:t>*vartuple</a:t>
            </a:r>
            <a:r>
              <a:rPr lang="en-US" sz="280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): </a:t>
            </a:r>
          </a:p>
          <a:p>
            <a:pPr lvl="1" indent="-68580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80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2800">
                <a:solidFill>
                  <a:srgbClr val="FFC000"/>
                </a:solidFill>
                <a:latin typeface="Consolas" panose="020B0609020204030204" pitchFamily="49" charset="0"/>
                <a:cs typeface="Courier New" pitchFamily="49" charset="0"/>
              </a:rPr>
              <a:t>print</a:t>
            </a:r>
            <a:r>
              <a:rPr lang="en-US" sz="280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("Output is:") </a:t>
            </a:r>
          </a:p>
          <a:p>
            <a:pPr lvl="1" indent="-68580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80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2800">
                <a:solidFill>
                  <a:srgbClr val="FFC000"/>
                </a:solidFill>
                <a:latin typeface="Consolas" panose="020B0609020204030204" pitchFamily="49" charset="0"/>
                <a:cs typeface="Courier New" pitchFamily="49" charset="0"/>
              </a:rPr>
              <a:t>print</a:t>
            </a:r>
            <a:r>
              <a:rPr lang="en-US" sz="280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(</a:t>
            </a:r>
            <a:r>
              <a:rPr lang="en-US" sz="2800">
                <a:solidFill>
                  <a:srgbClr val="92D050"/>
                </a:solidFill>
                <a:latin typeface="Consolas" panose="020B0609020204030204" pitchFamily="49" charset="0"/>
                <a:cs typeface="Courier New" pitchFamily="49" charset="0"/>
              </a:rPr>
              <a:t>arg1</a:t>
            </a:r>
            <a:r>
              <a:rPr lang="en-US" sz="280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)</a:t>
            </a:r>
          </a:p>
          <a:p>
            <a:pPr lvl="1" indent="-68580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80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 	</a:t>
            </a:r>
            <a:r>
              <a:rPr lang="en-US" sz="2800">
                <a:solidFill>
                  <a:srgbClr val="FFC000"/>
                </a:solidFill>
                <a:latin typeface="Consolas" panose="020B0609020204030204" pitchFamily="49" charset="0"/>
                <a:cs typeface="Courier New" pitchFamily="49" charset="0"/>
              </a:rPr>
              <a:t>for</a:t>
            </a:r>
            <a:r>
              <a:rPr lang="en-US" sz="280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>
                <a:solidFill>
                  <a:srgbClr val="00B0F0"/>
                </a:solidFill>
                <a:latin typeface="Consolas" panose="020B0609020204030204" pitchFamily="49" charset="0"/>
                <a:cs typeface="Courier New" pitchFamily="49" charset="0"/>
              </a:rPr>
              <a:t>var</a:t>
            </a:r>
            <a:r>
              <a:rPr lang="en-US" sz="280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>
                <a:solidFill>
                  <a:srgbClr val="FFC000"/>
                </a:solidFill>
                <a:latin typeface="Consolas" panose="020B0609020204030204" pitchFamily="49" charset="0"/>
                <a:cs typeface="Courier New" pitchFamily="49" charset="0"/>
              </a:rPr>
              <a:t>in</a:t>
            </a:r>
            <a:r>
              <a:rPr lang="en-US" sz="280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>
                <a:solidFill>
                  <a:srgbClr val="00B0F0"/>
                </a:solidFill>
                <a:latin typeface="Consolas" panose="020B0609020204030204" pitchFamily="49" charset="0"/>
                <a:cs typeface="Courier New" pitchFamily="49" charset="0"/>
              </a:rPr>
              <a:t>vartuple</a:t>
            </a:r>
            <a:r>
              <a:rPr lang="en-US" sz="280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: </a:t>
            </a:r>
          </a:p>
          <a:p>
            <a:pPr lvl="1" indent="-68580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80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			</a:t>
            </a:r>
            <a:r>
              <a:rPr lang="en-US" sz="2800">
                <a:solidFill>
                  <a:srgbClr val="FFC000"/>
                </a:solidFill>
                <a:latin typeface="Consolas" panose="020B0609020204030204" pitchFamily="49" charset="0"/>
                <a:cs typeface="Courier New" pitchFamily="49" charset="0"/>
              </a:rPr>
              <a:t>print</a:t>
            </a:r>
            <a:r>
              <a:rPr lang="en-US" sz="280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(</a:t>
            </a:r>
            <a:r>
              <a:rPr lang="en-US" sz="2800">
                <a:solidFill>
                  <a:srgbClr val="00B0F0"/>
                </a:solidFill>
                <a:latin typeface="Consolas" panose="020B0609020204030204" pitchFamily="49" charset="0"/>
                <a:cs typeface="Courier New" pitchFamily="49" charset="0"/>
              </a:rPr>
              <a:t>var</a:t>
            </a:r>
            <a:r>
              <a:rPr lang="en-US" sz="280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) </a:t>
            </a:r>
          </a:p>
          <a:p>
            <a:pPr lvl="1" indent="-68580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( </a:t>
            </a:r>
            <a:r>
              <a:rPr lang="en-US" sz="2800">
                <a:solidFill>
                  <a:srgbClr val="92D050"/>
                </a:solidFill>
                <a:latin typeface="Consolas" panose="020B0609020204030204" pitchFamily="49" charset="0"/>
                <a:cs typeface="Courier New" pitchFamily="49" charset="0"/>
              </a:rPr>
              <a:t>10</a:t>
            </a:r>
            <a:r>
              <a:rPr lang="en-US" sz="280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)</a:t>
            </a:r>
          </a:p>
          <a:p>
            <a:pPr lvl="1" indent="-68580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printinfo</a:t>
            </a:r>
            <a:r>
              <a:rPr lang="en-US" sz="280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( </a:t>
            </a:r>
            <a:r>
              <a:rPr lang="en-US" sz="2800">
                <a:solidFill>
                  <a:srgbClr val="92D050"/>
                </a:solidFill>
                <a:latin typeface="Consolas" panose="020B0609020204030204" pitchFamily="49" charset="0"/>
                <a:cs typeface="Courier New" pitchFamily="49" charset="0"/>
              </a:rPr>
              <a:t>70</a:t>
            </a:r>
            <a:r>
              <a:rPr lang="en-US" sz="280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sz="2800">
                <a:solidFill>
                  <a:srgbClr val="00B0F0"/>
                </a:solidFill>
                <a:latin typeface="Consolas" panose="020B0609020204030204" pitchFamily="49" charset="0"/>
                <a:cs typeface="Courier New" pitchFamily="49" charset="0"/>
              </a:rPr>
              <a:t>60, 50</a:t>
            </a:r>
            <a:r>
              <a:rPr lang="en-US" sz="280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)</a:t>
            </a:r>
          </a:p>
          <a:p>
            <a:pPr marL="685800" indent="-68580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80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</a:rPr>
              <a:t>% python3 test.py</a:t>
            </a:r>
          </a:p>
          <a:p>
            <a:pPr lvl="1" indent="-68580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80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Output is: </a:t>
            </a:r>
          </a:p>
          <a:p>
            <a:pPr lvl="1" indent="-68580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800">
                <a:solidFill>
                  <a:srgbClr val="92D050"/>
                </a:solidFill>
                <a:latin typeface="Consolas" panose="020B0609020204030204" pitchFamily="49" charset="0"/>
                <a:cs typeface="Courier New" pitchFamily="49" charset="0"/>
              </a:rPr>
              <a:t>10 </a:t>
            </a:r>
          </a:p>
          <a:p>
            <a:pPr lvl="1" indent="-68580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80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Output is: </a:t>
            </a:r>
          </a:p>
          <a:p>
            <a:pPr lvl="1" indent="-68580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800">
                <a:solidFill>
                  <a:srgbClr val="92D050"/>
                </a:solidFill>
                <a:latin typeface="Consolas" panose="020B0609020204030204" pitchFamily="49" charset="0"/>
                <a:cs typeface="Courier New" pitchFamily="49" charset="0"/>
              </a:rPr>
              <a:t>70 </a:t>
            </a:r>
          </a:p>
          <a:p>
            <a:pPr lvl="1" indent="-68580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800">
                <a:solidFill>
                  <a:srgbClr val="00B0F0"/>
                </a:solidFill>
                <a:latin typeface="Consolas" panose="020B0609020204030204" pitchFamily="49" charset="0"/>
                <a:cs typeface="Courier New" pitchFamily="49" charset="0"/>
              </a:rPr>
              <a:t>60 </a:t>
            </a:r>
          </a:p>
          <a:p>
            <a:pPr lvl="1" indent="-68580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800">
                <a:solidFill>
                  <a:srgbClr val="00B0F0"/>
                </a:solidFill>
                <a:latin typeface="Consolas" panose="020B0609020204030204" pitchFamily="49" charset="0"/>
                <a:cs typeface="Courier New" pitchFamily="49" charset="0"/>
              </a:rPr>
              <a:t>50 </a:t>
            </a:r>
          </a:p>
          <a:p>
            <a:pPr lvl="1" indent="-68580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80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8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268235" y="26152"/>
            <a:ext cx="945851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70C0"/>
                </a:solidFill>
              </a:rPr>
              <a:t>Variable-Length  Arguments:</a:t>
            </a:r>
          </a:p>
        </p:txBody>
      </p:sp>
      <p:grpSp>
        <p:nvGrpSpPr>
          <p:cNvPr id="5" name="Group 4"/>
          <p:cNvGrpSpPr/>
          <p:nvPr/>
        </p:nvGrpSpPr>
        <p:grpSpPr>
          <a:xfrm flipH="1">
            <a:off x="7876459" y="217135"/>
            <a:ext cx="2506546" cy="783857"/>
            <a:chOff x="-206806" y="217134"/>
            <a:chExt cx="2506546" cy="783857"/>
          </a:xfrm>
        </p:grpSpPr>
        <p:sp>
          <p:nvSpPr>
            <p:cNvPr id="6" name="Trapezoid 5"/>
            <p:cNvSpPr/>
            <p:nvPr/>
          </p:nvSpPr>
          <p:spPr bwMode="auto">
            <a:xfrm rot="18900000">
              <a:off x="-206806" y="217134"/>
              <a:ext cx="2506546" cy="783857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en-US" sz="2800" dirty="0">
                <a:latin typeface="Arial" charset="0"/>
                <a:ea typeface="新細明體" charset="-12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 rot="18900000">
              <a:off x="-11666" y="226687"/>
              <a:ext cx="2129039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Recall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Slide #20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  <p:sp>
        <p:nvSpPr>
          <p:cNvPr id="11" name="Oval 10"/>
          <p:cNvSpPr/>
          <p:nvPr/>
        </p:nvSpPr>
        <p:spPr>
          <a:xfrm>
            <a:off x="4306824" y="886968"/>
            <a:ext cx="2167128" cy="74980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439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3453" y="688770"/>
            <a:ext cx="10036944" cy="6169231"/>
          </a:xfrm>
        </p:spPr>
        <p:txBody>
          <a:bodyPr/>
          <a:lstStyle/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00B0F0"/>
                </a:solidFill>
              </a:rPr>
              <a:t>The </a:t>
            </a:r>
            <a:r>
              <a:rPr lang="en-US" altLang="en-US" sz="3200" b="1" dirty="0">
                <a:solidFill>
                  <a:schemeClr val="accent6"/>
                </a:solidFill>
              </a:rPr>
              <a:t>*x</a:t>
            </a:r>
            <a:r>
              <a:rPr lang="en-US" altLang="en-US" sz="3200" dirty="0">
                <a:solidFill>
                  <a:srgbClr val="00B0F0"/>
                </a:solidFill>
              </a:rPr>
              <a:t>: </a:t>
            </a:r>
            <a:r>
              <a:rPr lang="en-US" altLang="en-US" sz="3200" dirty="0" smtClean="0">
                <a:solidFill>
                  <a:srgbClr val="00B0F0"/>
                </a:solidFill>
              </a:rPr>
              <a:t>Only puts </a:t>
            </a:r>
            <a:r>
              <a:rPr lang="en-US" altLang="en-US" sz="3200" u="sng" dirty="0">
                <a:solidFill>
                  <a:srgbClr val="0000FF"/>
                </a:solidFill>
              </a:rPr>
              <a:t>positional arguments</a:t>
            </a:r>
            <a:r>
              <a:rPr lang="en-US" altLang="en-US" sz="3200" u="sng" dirty="0">
                <a:solidFill>
                  <a:srgbClr val="00B0F0"/>
                </a:solidFill>
              </a:rPr>
              <a:t> </a:t>
            </a:r>
            <a:r>
              <a:rPr lang="en-US" altLang="en-US" sz="3200" dirty="0">
                <a:solidFill>
                  <a:srgbClr val="00B0F0"/>
                </a:solidFill>
              </a:rPr>
              <a:t>into </a:t>
            </a:r>
            <a:r>
              <a:rPr lang="en-US" altLang="en-US" sz="3200" dirty="0">
                <a:solidFill>
                  <a:srgbClr val="0000FF"/>
                </a:solidFill>
              </a:rPr>
              <a:t>a</a:t>
            </a:r>
            <a:r>
              <a:rPr lang="en-US" altLang="en-US" sz="3200" dirty="0">
                <a:solidFill>
                  <a:srgbClr val="00B0F0"/>
                </a:solidFill>
              </a:rPr>
              <a:t> </a:t>
            </a:r>
            <a:r>
              <a:rPr lang="en-US" altLang="en-US" sz="3200" dirty="0">
                <a:solidFill>
                  <a:srgbClr val="0000FF"/>
                </a:solidFill>
              </a:rPr>
              <a:t>tupl</a:t>
            </a:r>
            <a:r>
              <a:rPr lang="en-US" altLang="en-US" sz="3200" spc="-100" dirty="0">
                <a:solidFill>
                  <a:srgbClr val="0000FF"/>
                </a:solidFill>
              </a:rPr>
              <a:t>e</a:t>
            </a:r>
            <a:r>
              <a:rPr lang="en-US" altLang="en-US" sz="3200" dirty="0">
                <a:solidFill>
                  <a:srgbClr val="00B0F0"/>
                </a:solidFill>
              </a:rPr>
              <a:t>:</a:t>
            </a:r>
          </a:p>
          <a:p>
            <a:pPr marL="95250" indent="0" eaLnBrk="1">
              <a:lnSpc>
                <a:spcPct val="49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 f(</a:t>
            </a:r>
            <a:r>
              <a:rPr lang="en-US" altLang="en-US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*a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): print(</a:t>
            </a:r>
            <a:r>
              <a:rPr lang="en-US" altLang="en-US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eaLnBrk="1">
              <a:lnSpc>
                <a:spcPct val="5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 eaLnBrk="1">
              <a:lnSpc>
                <a:spcPct val="85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 f(</a:t>
            </a:r>
            <a:r>
              <a:rPr lang="en-US" altLang="en-US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1,2</a:t>
            </a:r>
            <a:r>
              <a:rPr lang="en-US" altLang="en-US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)#No</a:t>
            </a:r>
            <a:r>
              <a:rPr lang="en-US" altLang="en-US" sz="2000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surprises</a:t>
            </a:r>
            <a:r>
              <a:rPr lang="en-US" altLang="en-US" sz="2000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her</a:t>
            </a:r>
            <a:r>
              <a:rPr lang="en-US" altLang="en-US" spc="-2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.</a:t>
            </a:r>
            <a:r>
              <a:rPr lang="en-US" altLang="en-US" sz="1600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See</a:t>
            </a:r>
            <a:r>
              <a:rPr lang="en-US" altLang="en-US" sz="2000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slides</a:t>
            </a:r>
            <a:r>
              <a:rPr lang="en-US" altLang="en-US" sz="2000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19</a:t>
            </a:r>
            <a:r>
              <a:rPr lang="en-US" altLang="en-US" sz="1000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&amp;</a:t>
            </a:r>
            <a:r>
              <a:rPr lang="en-US" altLang="en-US" sz="1000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20</a:t>
            </a:r>
            <a:r>
              <a:rPr lang="en-US" altLang="en-US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endParaRPr lang="en-US" altLang="en-US" spc="-5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5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(1, 2)</a:t>
            </a:r>
          </a:p>
          <a:p>
            <a:pPr marL="95250" indent="0" eaLnBrk="1">
              <a:lnSpc>
                <a:spcPct val="8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 f(</a:t>
            </a:r>
            <a:r>
              <a:rPr lang="en-US" altLang="en-US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1,</a:t>
            </a:r>
            <a:r>
              <a:rPr lang="en-US" altLang="en-US" b="1" dirty="0">
                <a:solidFill>
                  <a:srgbClr val="FF0000"/>
                </a:solidFill>
                <a:latin typeface="Lucida Console" panose="020B0609040504020204" pitchFamily="49" charset="0"/>
              </a:rPr>
              <a:t>x=</a:t>
            </a:r>
            <a:r>
              <a:rPr lang="en-US" altLang="en-US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 #It will fail. Why?</a:t>
            </a:r>
            <a:endParaRPr lang="en-US" altLang="en-US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pc="-4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pc="-40" dirty="0">
                <a:solidFill>
                  <a:srgbClr val="FFCCCC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95250" indent="0" eaLnBrk="1">
              <a:lnSpc>
                <a:spcPct val="8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pc="-40" dirty="0">
                <a:solidFill>
                  <a:srgbClr val="FFCCCC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pc="-4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pc="-40" dirty="0">
                <a:solidFill>
                  <a:srgbClr val="FFCCCC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95250" indent="0" eaLnBrk="1">
              <a:lnSpc>
                <a:spcPct val="8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 err="1">
                <a:solidFill>
                  <a:srgbClr val="FFCCCC"/>
                </a:solidFill>
                <a:latin typeface="Lucida Fax" panose="02060602050505020204" pitchFamily="18" charset="0"/>
              </a:rPr>
              <a:t>TypeError</a:t>
            </a:r>
            <a:r>
              <a:rPr lang="en-US" altLang="en-US" dirty="0">
                <a:solidFill>
                  <a:srgbClr val="FFCCCC"/>
                </a:solidFill>
                <a:latin typeface="Lucida Fax" panose="02060602050505020204" pitchFamily="18" charset="0"/>
              </a:rPr>
              <a:t>:</a:t>
            </a:r>
            <a:r>
              <a:rPr lang="en-US" altLang="en-US" sz="1000" dirty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dirty="0">
                <a:solidFill>
                  <a:srgbClr val="FFCCCC"/>
                </a:solidFill>
                <a:latin typeface="Lucida Fax" panose="02060602050505020204" pitchFamily="18" charset="0"/>
              </a:rPr>
              <a:t>f()</a:t>
            </a:r>
            <a:r>
              <a:rPr lang="en-US" altLang="en-US" sz="1800" dirty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dirty="0">
                <a:solidFill>
                  <a:srgbClr val="FFCCCC"/>
                </a:solidFill>
                <a:latin typeface="Lucida Fax" panose="02060602050505020204" pitchFamily="18" charset="0"/>
              </a:rPr>
              <a:t>got</a:t>
            </a:r>
            <a:r>
              <a:rPr lang="en-US" altLang="en-US" sz="1800" dirty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dirty="0">
                <a:solidFill>
                  <a:srgbClr val="FFCCCC"/>
                </a:solidFill>
                <a:latin typeface="Lucida Fax" panose="02060602050505020204" pitchFamily="18" charset="0"/>
              </a:rPr>
              <a:t>an</a:t>
            </a:r>
            <a:r>
              <a:rPr lang="en-US" altLang="en-US" sz="1800" dirty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Lucida Fax" panose="02060602050505020204" pitchFamily="18" charset="0"/>
              </a:rPr>
              <a:t>unexpected</a:t>
            </a:r>
            <a:r>
              <a:rPr lang="en-US" altLang="en-US" sz="1800" dirty="0">
                <a:solidFill>
                  <a:srgbClr val="FF0000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u="sng" dirty="0">
                <a:solidFill>
                  <a:srgbClr val="FF0000"/>
                </a:solidFill>
                <a:latin typeface="Lucida Fax" panose="02060602050505020204" pitchFamily="18" charset="0"/>
              </a:rPr>
              <a:t>keyword</a:t>
            </a:r>
            <a:r>
              <a:rPr lang="en-US" altLang="en-US" sz="1800" u="sng" dirty="0">
                <a:solidFill>
                  <a:srgbClr val="FF0000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u="sng" dirty="0">
                <a:solidFill>
                  <a:srgbClr val="FF0000"/>
                </a:solidFill>
                <a:latin typeface="Lucida Fax" panose="02060602050505020204" pitchFamily="18" charset="0"/>
              </a:rPr>
              <a:t>argument</a:t>
            </a:r>
            <a:r>
              <a:rPr lang="en-US" altLang="en-US" sz="1800" dirty="0">
                <a:solidFill>
                  <a:srgbClr val="FF0000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Lucida Fax" panose="02060602050505020204" pitchFamily="18" charset="0"/>
              </a:rPr>
              <a:t>'x'</a:t>
            </a:r>
          </a:p>
          <a:p>
            <a:pPr marL="95250" indent="0" eaLnBrk="1">
              <a:lnSpc>
                <a:spcPct val="85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GB" altLang="en-US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292894" y="0"/>
            <a:ext cx="9144000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 Parameters: </a:t>
            </a:r>
            <a:r>
              <a:rPr lang="en-US" altLang="zh-TW" sz="4400" b="1" kern="0" dirty="0">
                <a:solidFill>
                  <a:srgbClr val="0000FF"/>
                </a:solidFill>
                <a:latin typeface="Cooper Black" panose="0208090404030B020404" pitchFamily="18" charset="0"/>
              </a:rPr>
              <a:t>*</a:t>
            </a:r>
            <a:r>
              <a:rPr lang="en-US" altLang="zh-TW" sz="4400" kern="0" dirty="0">
                <a:solidFill>
                  <a:srgbClr val="0000FF"/>
                </a:solidFill>
                <a:latin typeface="Elephant" panose="02020904090505020303" pitchFamily="18" charset="0"/>
              </a:rPr>
              <a:t>x</a:t>
            </a:r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400" kern="0" dirty="0">
                <a:solidFill>
                  <a:srgbClr val="FFFFFF"/>
                </a:solidFill>
                <a:latin typeface="Elephant" panose="02020904090505020303" pitchFamily="18" charset="0"/>
              </a:rPr>
              <a:t>&amp; </a:t>
            </a:r>
            <a:r>
              <a:rPr lang="en-US" altLang="zh-TW" sz="4400" b="1" kern="0" dirty="0">
                <a:solidFill>
                  <a:srgbClr val="FFFFFF"/>
                </a:solidFill>
                <a:latin typeface="Cooper Black" panose="0208090404030B020404" pitchFamily="18" charset="0"/>
              </a:rPr>
              <a:t>**</a:t>
            </a:r>
            <a:r>
              <a:rPr lang="en-US" altLang="zh-TW" sz="4400" kern="0" dirty="0">
                <a:solidFill>
                  <a:srgbClr val="FFFFFF"/>
                </a:solidFill>
                <a:latin typeface="Elephant" panose="02020904090505020303" pitchFamily="18" charset="0"/>
              </a:rPr>
              <a:t>x</a:t>
            </a: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3678906" y="4547714"/>
            <a:ext cx="4817809" cy="1182838"/>
          </a:xfrm>
          <a:prstGeom prst="wedgeRoundRectCallout">
            <a:avLst>
              <a:gd name="adj1" fmla="val 20751"/>
              <a:gd name="adj2" fmla="val -124572"/>
              <a:gd name="adj3" fmla="val 16667"/>
            </a:avLst>
          </a:prstGeom>
          <a:solidFill>
            <a:srgbClr val="99FFCC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 smtClean="0">
                <a:solidFill>
                  <a:srgbClr val="000000"/>
                </a:solidFill>
                <a:latin typeface="Times New Roman" charset="0"/>
              </a:rPr>
              <a:t>Apparently, keyword arguments</a:t>
            </a:r>
            <a:br>
              <a:rPr lang="en-US" altLang="zh-TW" sz="2800" dirty="0" smtClean="0">
                <a:solidFill>
                  <a:srgbClr val="000000"/>
                </a:solidFill>
                <a:latin typeface="Times New Roman" charset="0"/>
              </a:rPr>
            </a:br>
            <a:r>
              <a:rPr lang="en-US" altLang="zh-TW" sz="2800" dirty="0" smtClean="0">
                <a:solidFill>
                  <a:srgbClr val="000000"/>
                </a:solidFill>
                <a:latin typeface="Times New Roman" charset="0"/>
              </a:rPr>
              <a:t>aren't positional arguments.</a:t>
            </a:r>
            <a:endParaRPr lang="en-US" altLang="zh-TW" sz="2800" i="1" dirty="0">
              <a:solidFill>
                <a:srgbClr val="FF0000"/>
              </a:solidFill>
              <a:latin typeface="Times New Roman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209861" y="1627834"/>
            <a:ext cx="819312" cy="45228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6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6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209861" y="2286325"/>
            <a:ext cx="819312" cy="45228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6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6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7982712" y="612648"/>
            <a:ext cx="1627632" cy="74980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ular Callout 11"/>
          <p:cNvSpPr/>
          <p:nvPr/>
        </p:nvSpPr>
        <p:spPr bwMode="auto">
          <a:xfrm>
            <a:off x="1627602" y="1980986"/>
            <a:ext cx="5157246" cy="1182838"/>
          </a:xfrm>
          <a:prstGeom prst="wedgeRoundRectCallout">
            <a:avLst>
              <a:gd name="adj1" fmla="val 21307"/>
              <a:gd name="adj2" fmla="val -124572"/>
              <a:gd name="adj3" fmla="val 16667"/>
            </a:avLst>
          </a:prstGeom>
          <a:solidFill>
            <a:srgbClr val="99FFCC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 smtClean="0">
                <a:solidFill>
                  <a:srgbClr val="000000"/>
                </a:solidFill>
                <a:latin typeface="Times New Roman" charset="0"/>
              </a:rPr>
              <a:t>Because the *x would have</a:t>
            </a:r>
            <a:br>
              <a:rPr lang="en-US" altLang="zh-TW" sz="2800" dirty="0" smtClean="0">
                <a:solidFill>
                  <a:srgbClr val="000000"/>
                </a:solidFill>
                <a:latin typeface="Times New Roman" charset="0"/>
              </a:rPr>
            </a:br>
            <a:r>
              <a:rPr lang="en-US" altLang="zh-TW" sz="2800" dirty="0" smtClean="0">
                <a:solidFill>
                  <a:srgbClr val="000000"/>
                </a:solidFill>
                <a:latin typeface="Times New Roman" charset="0"/>
              </a:rPr>
              <a:t>accepted any positional arguments.</a:t>
            </a:r>
            <a:endParaRPr lang="en-US" altLang="zh-TW" sz="2800" i="1" dirty="0">
              <a:solidFill>
                <a:srgbClr val="FF00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428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2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72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72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727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8" presetClass="exit" presetSubtype="0" ac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38" presetClass="exit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1" grpId="0" animBg="1"/>
      <p:bldP spid="11" grpId="1" animBg="1"/>
      <p:bldP spid="12" grpId="0" animBg="1"/>
      <p:bldP spid="12" grpId="1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3453" y="688770"/>
            <a:ext cx="10036944" cy="6169231"/>
          </a:xfrm>
        </p:spPr>
        <p:txBody>
          <a:bodyPr/>
          <a:lstStyle/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00B0F0"/>
                </a:solidFill>
              </a:rPr>
              <a:t>The </a:t>
            </a:r>
            <a:r>
              <a:rPr lang="en-US" altLang="en-US" sz="3200" b="1" dirty="0">
                <a:solidFill>
                  <a:schemeClr val="accent6"/>
                </a:solidFill>
              </a:rPr>
              <a:t>*x</a:t>
            </a:r>
            <a:r>
              <a:rPr lang="en-US" altLang="en-US" sz="3200" dirty="0">
                <a:solidFill>
                  <a:srgbClr val="00B0F0"/>
                </a:solidFill>
              </a:rPr>
              <a:t>: </a:t>
            </a:r>
            <a:r>
              <a:rPr lang="en-US" altLang="en-US" sz="3200" dirty="0" smtClean="0">
                <a:solidFill>
                  <a:srgbClr val="00B0F0"/>
                </a:solidFill>
              </a:rPr>
              <a:t>Only puts </a:t>
            </a:r>
            <a:r>
              <a:rPr lang="en-US" altLang="en-US" sz="3200" u="sng" dirty="0">
                <a:solidFill>
                  <a:srgbClr val="0000FF"/>
                </a:solidFill>
              </a:rPr>
              <a:t>positional arguments</a:t>
            </a:r>
            <a:r>
              <a:rPr lang="en-US" altLang="en-US" sz="3200" u="sng" dirty="0">
                <a:solidFill>
                  <a:srgbClr val="00B0F0"/>
                </a:solidFill>
              </a:rPr>
              <a:t> </a:t>
            </a:r>
            <a:r>
              <a:rPr lang="en-US" altLang="en-US" sz="3200" dirty="0">
                <a:solidFill>
                  <a:srgbClr val="00B0F0"/>
                </a:solidFill>
              </a:rPr>
              <a:t>into </a:t>
            </a:r>
            <a:r>
              <a:rPr lang="en-US" altLang="en-US" sz="3200" dirty="0">
                <a:solidFill>
                  <a:srgbClr val="0000FF"/>
                </a:solidFill>
              </a:rPr>
              <a:t>a</a:t>
            </a:r>
            <a:r>
              <a:rPr lang="en-US" altLang="en-US" sz="3200" dirty="0">
                <a:solidFill>
                  <a:srgbClr val="00B0F0"/>
                </a:solidFill>
              </a:rPr>
              <a:t> </a:t>
            </a:r>
            <a:r>
              <a:rPr lang="en-US" altLang="en-US" sz="3200" dirty="0">
                <a:solidFill>
                  <a:srgbClr val="0000FF"/>
                </a:solidFill>
              </a:rPr>
              <a:t>tupl</a:t>
            </a:r>
            <a:r>
              <a:rPr lang="en-US" altLang="en-US" sz="3200" spc="-100" dirty="0">
                <a:solidFill>
                  <a:srgbClr val="0000FF"/>
                </a:solidFill>
              </a:rPr>
              <a:t>e</a:t>
            </a:r>
            <a:r>
              <a:rPr lang="en-US" altLang="en-US" sz="3200" dirty="0">
                <a:solidFill>
                  <a:srgbClr val="00B0F0"/>
                </a:solidFill>
              </a:rPr>
              <a:t>:</a:t>
            </a:r>
          </a:p>
          <a:p>
            <a:pPr marL="95250" indent="0" eaLnBrk="1">
              <a:lnSpc>
                <a:spcPct val="49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 f(</a:t>
            </a:r>
            <a:r>
              <a:rPr lang="en-US" altLang="en-US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*a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): print(</a:t>
            </a:r>
            <a:r>
              <a:rPr lang="en-US" altLang="en-US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eaLnBrk="1">
              <a:lnSpc>
                <a:spcPct val="5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 eaLnBrk="1">
              <a:lnSpc>
                <a:spcPct val="85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 f(</a:t>
            </a:r>
            <a:r>
              <a:rPr lang="en-US" altLang="en-US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1,2</a:t>
            </a:r>
            <a:r>
              <a:rPr lang="en-US" altLang="en-US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)#No</a:t>
            </a:r>
            <a:r>
              <a:rPr lang="en-US" altLang="en-US" sz="2000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surprises</a:t>
            </a:r>
            <a:r>
              <a:rPr lang="en-US" altLang="en-US" sz="2000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her</a:t>
            </a:r>
            <a:r>
              <a:rPr lang="en-US" altLang="en-US" spc="-2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.</a:t>
            </a:r>
            <a:r>
              <a:rPr lang="en-US" altLang="en-US" sz="1600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See</a:t>
            </a:r>
            <a:r>
              <a:rPr lang="en-US" altLang="en-US" sz="2000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slides</a:t>
            </a:r>
            <a:r>
              <a:rPr lang="en-US" altLang="en-US" sz="2000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19</a:t>
            </a:r>
            <a:r>
              <a:rPr lang="en-US" altLang="en-US" sz="1000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&amp;</a:t>
            </a:r>
            <a:r>
              <a:rPr lang="en-US" altLang="en-US" sz="1000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20</a:t>
            </a:r>
            <a:r>
              <a:rPr lang="en-US" altLang="en-US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endParaRPr lang="en-US" altLang="en-US" spc="-5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5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(1, 2)</a:t>
            </a:r>
          </a:p>
          <a:p>
            <a:pPr marL="95250" indent="0" eaLnBrk="1">
              <a:lnSpc>
                <a:spcPct val="8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 f(</a:t>
            </a:r>
            <a:r>
              <a:rPr lang="en-US" altLang="en-US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1,</a:t>
            </a:r>
            <a:r>
              <a:rPr lang="en-US" altLang="en-US" b="1" dirty="0">
                <a:solidFill>
                  <a:srgbClr val="FF0000"/>
                </a:solidFill>
                <a:latin typeface="Lucida Console" panose="020B0609040504020204" pitchFamily="49" charset="0"/>
              </a:rPr>
              <a:t>x=</a:t>
            </a:r>
            <a:r>
              <a:rPr lang="en-US" altLang="en-US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 #It will fail. Why?</a:t>
            </a:r>
            <a:endParaRPr lang="en-US" altLang="en-US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pc="-4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pc="-40" dirty="0">
                <a:solidFill>
                  <a:srgbClr val="FFCCCC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95250" indent="0" eaLnBrk="1">
              <a:lnSpc>
                <a:spcPct val="8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pc="-40" dirty="0">
                <a:solidFill>
                  <a:srgbClr val="FFCCCC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pc="-4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pc="-40" dirty="0">
                <a:solidFill>
                  <a:srgbClr val="FFCCCC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95250" indent="0" eaLnBrk="1">
              <a:lnSpc>
                <a:spcPct val="8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 err="1">
                <a:solidFill>
                  <a:srgbClr val="FFCCCC"/>
                </a:solidFill>
                <a:latin typeface="Lucida Fax" panose="02060602050505020204" pitchFamily="18" charset="0"/>
              </a:rPr>
              <a:t>TypeError</a:t>
            </a:r>
            <a:r>
              <a:rPr lang="en-US" altLang="en-US" dirty="0">
                <a:solidFill>
                  <a:srgbClr val="FFCCCC"/>
                </a:solidFill>
                <a:latin typeface="Lucida Fax" panose="02060602050505020204" pitchFamily="18" charset="0"/>
              </a:rPr>
              <a:t>:</a:t>
            </a:r>
            <a:r>
              <a:rPr lang="en-US" altLang="en-US" sz="1000" dirty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dirty="0">
                <a:solidFill>
                  <a:srgbClr val="FFCCCC"/>
                </a:solidFill>
                <a:latin typeface="Lucida Fax" panose="02060602050505020204" pitchFamily="18" charset="0"/>
              </a:rPr>
              <a:t>f()</a:t>
            </a:r>
            <a:r>
              <a:rPr lang="en-US" altLang="en-US" sz="1800" dirty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dirty="0">
                <a:solidFill>
                  <a:srgbClr val="FFCCCC"/>
                </a:solidFill>
                <a:latin typeface="Lucida Fax" panose="02060602050505020204" pitchFamily="18" charset="0"/>
              </a:rPr>
              <a:t>got</a:t>
            </a:r>
            <a:r>
              <a:rPr lang="en-US" altLang="en-US" sz="1800" dirty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dirty="0">
                <a:solidFill>
                  <a:srgbClr val="FFCCCC"/>
                </a:solidFill>
                <a:latin typeface="Lucida Fax" panose="02060602050505020204" pitchFamily="18" charset="0"/>
              </a:rPr>
              <a:t>an</a:t>
            </a:r>
            <a:r>
              <a:rPr lang="en-US" altLang="en-US" sz="1800" dirty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Lucida Fax" panose="02060602050505020204" pitchFamily="18" charset="0"/>
              </a:rPr>
              <a:t>unexpected</a:t>
            </a:r>
            <a:r>
              <a:rPr lang="en-US" altLang="en-US" sz="1800" dirty="0">
                <a:solidFill>
                  <a:srgbClr val="FF0000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u="sng" dirty="0">
                <a:solidFill>
                  <a:srgbClr val="FF0000"/>
                </a:solidFill>
                <a:latin typeface="Lucida Fax" panose="02060602050505020204" pitchFamily="18" charset="0"/>
              </a:rPr>
              <a:t>keyword</a:t>
            </a:r>
            <a:r>
              <a:rPr lang="en-US" altLang="en-US" sz="1800" u="sng" dirty="0">
                <a:solidFill>
                  <a:srgbClr val="FF0000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u="sng" dirty="0">
                <a:solidFill>
                  <a:srgbClr val="FF0000"/>
                </a:solidFill>
                <a:latin typeface="Lucida Fax" panose="02060602050505020204" pitchFamily="18" charset="0"/>
              </a:rPr>
              <a:t>argument</a:t>
            </a:r>
            <a:r>
              <a:rPr lang="en-US" altLang="en-US" sz="1800" dirty="0">
                <a:solidFill>
                  <a:srgbClr val="FF0000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Lucida Fax" panose="02060602050505020204" pitchFamily="18" charset="0"/>
              </a:rPr>
              <a:t>'x'</a:t>
            </a:r>
          </a:p>
          <a:p>
            <a:pPr marL="95250" indent="0" eaLnBrk="1">
              <a:lnSpc>
                <a:spcPct val="85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GB" altLang="en-US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292894" y="0"/>
            <a:ext cx="9144000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 Parameters: </a:t>
            </a:r>
            <a:r>
              <a:rPr lang="en-US" altLang="zh-TW" sz="4400" b="1" kern="0" dirty="0">
                <a:solidFill>
                  <a:srgbClr val="0000FF"/>
                </a:solidFill>
                <a:latin typeface="Cooper Black" panose="0208090404030B020404" pitchFamily="18" charset="0"/>
              </a:rPr>
              <a:t>*</a:t>
            </a:r>
            <a:r>
              <a:rPr lang="en-US" altLang="zh-TW" sz="4400" kern="0" dirty="0">
                <a:solidFill>
                  <a:srgbClr val="0000FF"/>
                </a:solidFill>
                <a:latin typeface="Elephant" panose="02020904090505020303" pitchFamily="18" charset="0"/>
              </a:rPr>
              <a:t>x</a:t>
            </a:r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400" kern="0" dirty="0">
                <a:solidFill>
                  <a:srgbClr val="FFFFFF"/>
                </a:solidFill>
                <a:latin typeface="Elephant" panose="02020904090505020303" pitchFamily="18" charset="0"/>
              </a:rPr>
              <a:t>&amp; </a:t>
            </a:r>
            <a:r>
              <a:rPr lang="en-US" altLang="zh-TW" sz="4400" b="1" kern="0" dirty="0">
                <a:solidFill>
                  <a:srgbClr val="FFFFFF"/>
                </a:solidFill>
                <a:latin typeface="Cooper Black" panose="0208090404030B020404" pitchFamily="18" charset="0"/>
              </a:rPr>
              <a:t>**</a:t>
            </a:r>
            <a:r>
              <a:rPr lang="en-US" altLang="zh-TW" sz="4400" kern="0" dirty="0">
                <a:solidFill>
                  <a:srgbClr val="FFFFFF"/>
                </a:solidFill>
                <a:latin typeface="Elephant" panose="02020904090505020303" pitchFamily="18" charset="0"/>
              </a:rPr>
              <a:t>x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209861" y="1627834"/>
            <a:ext cx="819312" cy="45228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6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6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209861" y="2286325"/>
            <a:ext cx="819312" cy="45228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6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6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ular Callout 13"/>
          <p:cNvSpPr/>
          <p:nvPr/>
        </p:nvSpPr>
        <p:spPr bwMode="auto">
          <a:xfrm>
            <a:off x="0" y="4480560"/>
            <a:ext cx="5095586" cy="1968367"/>
          </a:xfrm>
          <a:prstGeom prst="wedgeRoundRectCallout">
            <a:avLst>
              <a:gd name="adj1" fmla="val 46719"/>
              <a:gd name="adj2" fmla="val -218490"/>
              <a:gd name="adj3" fmla="val 16667"/>
            </a:avLst>
          </a:prstGeom>
          <a:solidFill>
            <a:srgbClr val="99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 smtClean="0">
                <a:solidFill>
                  <a:srgbClr val="000000"/>
                </a:solidFill>
                <a:latin typeface="Times New Roman" charset="0"/>
              </a:rPr>
              <a:t>A </a:t>
            </a:r>
            <a:r>
              <a:rPr lang="en-US" altLang="zh-TW" sz="3200" b="1" dirty="0">
                <a:solidFill>
                  <a:srgbClr val="000000"/>
                </a:solidFill>
                <a:latin typeface="Times New Roman" charset="0"/>
              </a:rPr>
              <a:t>positional </a:t>
            </a:r>
            <a:r>
              <a:rPr lang="en-US" altLang="zh-TW" sz="3200" b="1" dirty="0" smtClean="0">
                <a:solidFill>
                  <a:srgbClr val="000000"/>
                </a:solidFill>
                <a:latin typeface="Times New Roman" charset="0"/>
              </a:rPr>
              <a:t>argument </a:t>
            </a:r>
            <a:r>
              <a:rPr lang="en-US" altLang="zh-TW" sz="3200" dirty="0" smtClean="0">
                <a:solidFill>
                  <a:srgbClr val="000000"/>
                </a:solidFill>
                <a:latin typeface="Times New Roman" charset="0"/>
              </a:rPr>
              <a:t>is an</a:t>
            </a:r>
            <a: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  <a:t/>
            </a:r>
            <a:b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</a:br>
            <a:r>
              <a:rPr lang="en-US" altLang="zh-TW" sz="3600" i="1" dirty="0" err="1" smtClean="0">
                <a:solidFill>
                  <a:srgbClr val="FF0000"/>
                </a:solidFill>
                <a:latin typeface="Times New Roman" charset="0"/>
              </a:rPr>
              <a:t>unamed</a:t>
            </a:r>
            <a:r>
              <a:rPr lang="en-US" altLang="zh-TW" sz="3600" i="1" dirty="0" smtClean="0">
                <a:solidFill>
                  <a:srgbClr val="FF0000"/>
                </a:solidFill>
                <a:latin typeface="Times New Roman" charset="0"/>
              </a:rPr>
              <a:t> argument (</a:t>
            </a:r>
            <a:r>
              <a:rPr lang="en-US" altLang="zh-TW" sz="3600" i="1" dirty="0" err="1">
                <a:solidFill>
                  <a:srgbClr val="FF0000"/>
                </a:solidFill>
                <a:latin typeface="Times New Roman" charset="0"/>
              </a:rPr>
              <a:t>ie</a:t>
            </a:r>
            <a:r>
              <a:rPr lang="en-US" altLang="zh-TW" sz="3600" i="1" dirty="0">
                <a:solidFill>
                  <a:srgbClr val="FF0000"/>
                </a:solidFill>
                <a:latin typeface="Times New Roman" charset="0"/>
              </a:rPr>
              <a:t>, </a:t>
            </a:r>
            <a:r>
              <a:rPr lang="en-US" altLang="zh-TW" sz="3600" i="1" dirty="0" smtClean="0">
                <a:solidFill>
                  <a:srgbClr val="FF0000"/>
                </a:solidFill>
                <a:latin typeface="Times New Roman" charset="0"/>
              </a:rPr>
              <a:t>it</a:t>
            </a:r>
            <a:br>
              <a:rPr lang="en-US" altLang="zh-TW" sz="3600" i="1" dirty="0" smtClean="0">
                <a:solidFill>
                  <a:srgbClr val="FF0000"/>
                </a:solidFill>
                <a:latin typeface="Times New Roman" charset="0"/>
              </a:rPr>
            </a:br>
            <a:r>
              <a:rPr lang="en-US" altLang="zh-TW" sz="3600" i="1" dirty="0" smtClean="0">
                <a:solidFill>
                  <a:srgbClr val="FF0000"/>
                </a:solidFill>
                <a:latin typeface="Times New Roman" charset="0"/>
              </a:rPr>
              <a:t>is identified </a:t>
            </a:r>
            <a:r>
              <a:rPr lang="en-US" altLang="zh-TW" sz="3600" i="1" u="sng" dirty="0" smtClean="0">
                <a:solidFill>
                  <a:schemeClr val="accent6"/>
                </a:solidFill>
                <a:latin typeface="Times New Roman" charset="0"/>
              </a:rPr>
              <a:t>by </a:t>
            </a:r>
            <a:r>
              <a:rPr lang="en-US" altLang="zh-TW" sz="3600" i="1" u="sng" dirty="0">
                <a:solidFill>
                  <a:schemeClr val="accent6"/>
                </a:solidFill>
                <a:latin typeface="Times New Roman" charset="0"/>
              </a:rPr>
              <a:t>position</a:t>
            </a:r>
          </a:p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600" i="1" dirty="0">
                <a:solidFill>
                  <a:srgbClr val="FF0000"/>
                </a:solidFill>
                <a:latin typeface="Times New Roman" charset="0"/>
              </a:rPr>
              <a:t>in the argument list).</a:t>
            </a:r>
            <a:endParaRPr lang="en-US" altLang="zh-TW" sz="2400" i="1" dirty="0">
              <a:solidFill>
                <a:srgbClr val="FF0000"/>
              </a:solidFill>
              <a:latin typeface="Times New Roman" charset="0"/>
            </a:endParaRPr>
          </a:p>
        </p:txBody>
      </p:sp>
      <p:sp>
        <p:nvSpPr>
          <p:cNvPr id="15" name="Rounded Rectangular Callout 14"/>
          <p:cNvSpPr/>
          <p:nvPr/>
        </p:nvSpPr>
        <p:spPr bwMode="auto">
          <a:xfrm>
            <a:off x="5449824" y="4477512"/>
            <a:ext cx="4279964" cy="1968367"/>
          </a:xfrm>
          <a:prstGeom prst="wedgeRoundRectCallout">
            <a:avLst>
              <a:gd name="adj1" fmla="val -13264"/>
              <a:gd name="adj2" fmla="val -90740"/>
              <a:gd name="adj3" fmla="val 16667"/>
            </a:avLst>
          </a:prstGeom>
          <a:solidFill>
            <a:srgbClr val="99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 smtClean="0">
                <a:solidFill>
                  <a:srgbClr val="000000"/>
                </a:solidFill>
                <a:latin typeface="Times New Roman" charset="0"/>
              </a:rPr>
              <a:t>A </a:t>
            </a:r>
            <a:r>
              <a:rPr lang="en-US" altLang="zh-TW" sz="3200" b="1" dirty="0" smtClean="0">
                <a:solidFill>
                  <a:srgbClr val="000000"/>
                </a:solidFill>
                <a:latin typeface="Times New Roman" charset="0"/>
              </a:rPr>
              <a:t>keyword argument</a:t>
            </a:r>
          </a:p>
          <a:p>
            <a:pPr algn="ctr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400" dirty="0" smtClean="0">
                <a:solidFill>
                  <a:srgbClr val="000000"/>
                </a:solidFill>
                <a:latin typeface="Times New Roman" charset="0"/>
              </a:rPr>
              <a:t>is a</a:t>
            </a:r>
            <a:r>
              <a:rPr lang="en-US" altLang="zh-TW" sz="3600" dirty="0" smtClean="0">
                <a:solidFill>
                  <a:srgbClr val="000000"/>
                </a:solidFill>
                <a:latin typeface="Times New Roman" charset="0"/>
              </a:rPr>
              <a:t> </a:t>
            </a:r>
            <a:r>
              <a:rPr lang="en-US" altLang="zh-TW" sz="3600" i="1" dirty="0" smtClean="0">
                <a:solidFill>
                  <a:srgbClr val="FF0000"/>
                </a:solidFill>
                <a:latin typeface="Times New Roman" charset="0"/>
              </a:rPr>
              <a:t>named argument </a:t>
            </a:r>
            <a:br>
              <a:rPr lang="en-US" altLang="zh-TW" sz="3600" i="1" dirty="0" smtClean="0">
                <a:solidFill>
                  <a:srgbClr val="FF0000"/>
                </a:solidFill>
                <a:latin typeface="Times New Roman" charset="0"/>
              </a:rPr>
            </a:br>
            <a:r>
              <a:rPr lang="en-US" altLang="zh-TW" sz="3600" i="1" dirty="0" smtClean="0">
                <a:solidFill>
                  <a:srgbClr val="FF0000"/>
                </a:solidFill>
                <a:latin typeface="Times New Roman" charset="0"/>
              </a:rPr>
              <a:t>(</a:t>
            </a:r>
            <a:r>
              <a:rPr lang="en-US" altLang="zh-TW" sz="3600" i="1" dirty="0" err="1" smtClean="0">
                <a:solidFill>
                  <a:srgbClr val="FF0000"/>
                </a:solidFill>
                <a:latin typeface="Times New Roman" charset="0"/>
              </a:rPr>
              <a:t>ie</a:t>
            </a:r>
            <a:r>
              <a:rPr lang="en-US" altLang="zh-TW" sz="3600" i="1" dirty="0" smtClean="0">
                <a:solidFill>
                  <a:srgbClr val="FF0000"/>
                </a:solidFill>
                <a:latin typeface="Times New Roman" charset="0"/>
              </a:rPr>
              <a:t>, it is identified</a:t>
            </a:r>
            <a:br>
              <a:rPr lang="en-US" altLang="zh-TW" sz="3600" i="1" dirty="0" smtClean="0">
                <a:solidFill>
                  <a:srgbClr val="FF0000"/>
                </a:solidFill>
                <a:latin typeface="Times New Roman" charset="0"/>
              </a:rPr>
            </a:br>
            <a:r>
              <a:rPr lang="en-US" altLang="zh-TW" sz="3600" i="1" u="sng" dirty="0" smtClean="0">
                <a:solidFill>
                  <a:schemeClr val="accent6"/>
                </a:solidFill>
                <a:latin typeface="Times New Roman" charset="0"/>
              </a:rPr>
              <a:t>by its name</a:t>
            </a:r>
            <a:r>
              <a:rPr lang="en-US" altLang="zh-TW" sz="3600" i="1" dirty="0" smtClean="0">
                <a:solidFill>
                  <a:srgbClr val="FF0000"/>
                </a:solidFill>
                <a:latin typeface="Times New Roman" charset="0"/>
              </a:rPr>
              <a:t>).</a:t>
            </a:r>
            <a:endParaRPr lang="en-US" altLang="zh-TW" sz="2400" i="1" dirty="0">
              <a:solidFill>
                <a:srgbClr val="FF00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9767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8" presetClass="exit" presetSubtype="0" ac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8" presetClass="exit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5" grpId="0" animBg="1"/>
      <p:bldP spid="15" grpId="1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3453" y="688770"/>
            <a:ext cx="10036944" cy="6169231"/>
          </a:xfrm>
        </p:spPr>
        <p:txBody>
          <a:bodyPr/>
          <a:lstStyle/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00B0F0"/>
                </a:solidFill>
              </a:rPr>
              <a:t>The </a:t>
            </a:r>
            <a:r>
              <a:rPr lang="en-US" altLang="en-US" sz="3200" b="1" dirty="0">
                <a:solidFill>
                  <a:schemeClr val="accent6"/>
                </a:solidFill>
              </a:rPr>
              <a:t>*x</a:t>
            </a:r>
            <a:r>
              <a:rPr lang="en-US" altLang="en-US" sz="3200" dirty="0">
                <a:solidFill>
                  <a:srgbClr val="00B0F0"/>
                </a:solidFill>
              </a:rPr>
              <a:t>: </a:t>
            </a:r>
            <a:r>
              <a:rPr lang="en-US" altLang="en-US" sz="3200" dirty="0" smtClean="0">
                <a:solidFill>
                  <a:srgbClr val="00B0F0"/>
                </a:solidFill>
              </a:rPr>
              <a:t>Only puts </a:t>
            </a:r>
            <a:r>
              <a:rPr lang="en-US" altLang="en-US" sz="3200" u="sng" dirty="0">
                <a:solidFill>
                  <a:srgbClr val="0000FF"/>
                </a:solidFill>
              </a:rPr>
              <a:t>positional arguments</a:t>
            </a:r>
            <a:r>
              <a:rPr lang="en-US" altLang="en-US" sz="3200" u="sng" dirty="0">
                <a:solidFill>
                  <a:srgbClr val="00B0F0"/>
                </a:solidFill>
              </a:rPr>
              <a:t> </a:t>
            </a:r>
            <a:r>
              <a:rPr lang="en-US" altLang="en-US" sz="3200" dirty="0">
                <a:solidFill>
                  <a:srgbClr val="00B0F0"/>
                </a:solidFill>
              </a:rPr>
              <a:t>into </a:t>
            </a:r>
            <a:r>
              <a:rPr lang="en-US" altLang="en-US" sz="3200" dirty="0">
                <a:solidFill>
                  <a:srgbClr val="0000FF"/>
                </a:solidFill>
              </a:rPr>
              <a:t>a</a:t>
            </a:r>
            <a:r>
              <a:rPr lang="en-US" altLang="en-US" sz="3200" dirty="0">
                <a:solidFill>
                  <a:srgbClr val="00B0F0"/>
                </a:solidFill>
              </a:rPr>
              <a:t> </a:t>
            </a:r>
            <a:r>
              <a:rPr lang="en-US" altLang="en-US" sz="3200" dirty="0">
                <a:solidFill>
                  <a:srgbClr val="0000FF"/>
                </a:solidFill>
              </a:rPr>
              <a:t>tupl</a:t>
            </a:r>
            <a:r>
              <a:rPr lang="en-US" altLang="en-US" sz="3200" spc="-100" dirty="0">
                <a:solidFill>
                  <a:srgbClr val="0000FF"/>
                </a:solidFill>
              </a:rPr>
              <a:t>e</a:t>
            </a:r>
            <a:r>
              <a:rPr lang="en-US" altLang="en-US" sz="3200" dirty="0">
                <a:solidFill>
                  <a:srgbClr val="00B0F0"/>
                </a:solidFill>
              </a:rPr>
              <a:t>:</a:t>
            </a:r>
          </a:p>
          <a:p>
            <a:pPr marL="95250" indent="0" eaLnBrk="1">
              <a:lnSpc>
                <a:spcPct val="49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 f(</a:t>
            </a:r>
            <a:r>
              <a:rPr lang="en-US" altLang="en-US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*a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): print(</a:t>
            </a:r>
            <a:r>
              <a:rPr lang="en-US" altLang="en-US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eaLnBrk="1">
              <a:lnSpc>
                <a:spcPct val="5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 eaLnBrk="1">
              <a:lnSpc>
                <a:spcPct val="85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 f(</a:t>
            </a:r>
            <a:r>
              <a:rPr lang="en-US" altLang="en-US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1,2</a:t>
            </a:r>
            <a:r>
              <a:rPr lang="en-US" altLang="en-US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)#No</a:t>
            </a:r>
            <a:r>
              <a:rPr lang="en-US" altLang="en-US" sz="2000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surprises</a:t>
            </a:r>
            <a:r>
              <a:rPr lang="en-US" altLang="en-US" sz="2000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her</a:t>
            </a:r>
            <a:r>
              <a:rPr lang="en-US" altLang="en-US" spc="-20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.</a:t>
            </a:r>
            <a:r>
              <a:rPr lang="en-US" altLang="en-US" sz="1600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See</a:t>
            </a:r>
            <a:r>
              <a:rPr lang="en-US" altLang="en-US" sz="2000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slides</a:t>
            </a:r>
            <a:r>
              <a:rPr lang="en-US" altLang="en-US" sz="2000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19</a:t>
            </a:r>
            <a:r>
              <a:rPr lang="en-US" altLang="en-US" sz="1000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&amp;</a:t>
            </a:r>
            <a:r>
              <a:rPr lang="en-US" altLang="en-US" sz="1000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20</a:t>
            </a:r>
            <a:r>
              <a:rPr lang="en-US" altLang="en-US" spc="-50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endParaRPr lang="en-US" altLang="en-US" spc="-5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5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(1, 2)</a:t>
            </a:r>
          </a:p>
          <a:p>
            <a:pPr marL="95250" indent="0" eaLnBrk="1">
              <a:lnSpc>
                <a:spcPct val="8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 f(</a:t>
            </a:r>
            <a:r>
              <a:rPr lang="en-US" altLang="en-US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1,</a:t>
            </a:r>
            <a:r>
              <a:rPr lang="en-US" altLang="en-US" b="1" dirty="0">
                <a:solidFill>
                  <a:srgbClr val="FF0000"/>
                </a:solidFill>
                <a:latin typeface="Lucida Console" panose="020B0609040504020204" pitchFamily="49" charset="0"/>
              </a:rPr>
              <a:t>x=</a:t>
            </a:r>
            <a:r>
              <a:rPr lang="en-US" altLang="en-US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 #It will fail. Why?</a:t>
            </a:r>
            <a:endParaRPr lang="en-US" altLang="en-US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pc="-4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pc="-40" dirty="0">
                <a:solidFill>
                  <a:srgbClr val="FFCCCC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95250" indent="0" eaLnBrk="1">
              <a:lnSpc>
                <a:spcPct val="8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pc="-40" dirty="0">
                <a:solidFill>
                  <a:srgbClr val="FFCCCC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pc="-4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pc="-40" dirty="0">
                <a:solidFill>
                  <a:srgbClr val="FFCCCC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95250" indent="0" eaLnBrk="1">
              <a:lnSpc>
                <a:spcPct val="8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 err="1" smtClean="0">
                <a:solidFill>
                  <a:srgbClr val="FFF5F5"/>
                </a:solidFill>
                <a:latin typeface="Lucida Fax" panose="02060602050505020204" pitchFamily="18" charset="0"/>
              </a:rPr>
              <a:t>TypeError</a:t>
            </a:r>
            <a:r>
              <a:rPr lang="en-US" altLang="en-US" dirty="0">
                <a:solidFill>
                  <a:srgbClr val="FFF5F5"/>
                </a:solidFill>
                <a:latin typeface="Lucida Fax" panose="02060602050505020204" pitchFamily="18" charset="0"/>
              </a:rPr>
              <a:t>:</a:t>
            </a:r>
            <a:r>
              <a:rPr lang="en-US" altLang="en-US" sz="1000" dirty="0">
                <a:solidFill>
                  <a:srgbClr val="FFF5F5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dirty="0">
                <a:solidFill>
                  <a:srgbClr val="FFF5F5"/>
                </a:solidFill>
                <a:latin typeface="Lucida Fax" panose="02060602050505020204" pitchFamily="18" charset="0"/>
              </a:rPr>
              <a:t>f()</a:t>
            </a:r>
            <a:r>
              <a:rPr lang="en-US" altLang="en-US" sz="1800" dirty="0">
                <a:solidFill>
                  <a:srgbClr val="FFF5F5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dirty="0">
                <a:solidFill>
                  <a:srgbClr val="FFF5F5"/>
                </a:solidFill>
                <a:latin typeface="Lucida Fax" panose="02060602050505020204" pitchFamily="18" charset="0"/>
              </a:rPr>
              <a:t>got</a:t>
            </a:r>
            <a:r>
              <a:rPr lang="en-US" altLang="en-US" sz="1800" dirty="0">
                <a:solidFill>
                  <a:srgbClr val="FFF5F5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dirty="0">
                <a:solidFill>
                  <a:srgbClr val="FFF5F5"/>
                </a:solidFill>
                <a:latin typeface="Lucida Fax" panose="02060602050505020204" pitchFamily="18" charset="0"/>
              </a:rPr>
              <a:t>an</a:t>
            </a:r>
            <a:r>
              <a:rPr lang="en-US" altLang="en-US" sz="1800" dirty="0">
                <a:solidFill>
                  <a:srgbClr val="FFF5F5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dirty="0">
                <a:solidFill>
                  <a:srgbClr val="FFF5F5"/>
                </a:solidFill>
                <a:latin typeface="Lucida Fax" panose="02060602050505020204" pitchFamily="18" charset="0"/>
              </a:rPr>
              <a:t>unexpected</a:t>
            </a:r>
            <a:r>
              <a:rPr lang="en-US" altLang="en-US" sz="1800" dirty="0">
                <a:solidFill>
                  <a:srgbClr val="FFF5F5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u="sng" dirty="0">
                <a:solidFill>
                  <a:srgbClr val="FFF5F5"/>
                </a:solidFill>
                <a:latin typeface="Lucida Fax" panose="02060602050505020204" pitchFamily="18" charset="0"/>
              </a:rPr>
              <a:t>keyword</a:t>
            </a:r>
            <a:r>
              <a:rPr lang="en-US" altLang="en-US" sz="1800" u="sng" dirty="0">
                <a:solidFill>
                  <a:srgbClr val="FFF5F5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u="sng" dirty="0">
                <a:solidFill>
                  <a:srgbClr val="FFF5F5"/>
                </a:solidFill>
                <a:latin typeface="Lucida Fax" panose="02060602050505020204" pitchFamily="18" charset="0"/>
              </a:rPr>
              <a:t>argument</a:t>
            </a:r>
            <a:r>
              <a:rPr lang="en-US" altLang="en-US" sz="1800" dirty="0">
                <a:solidFill>
                  <a:srgbClr val="FFF5F5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dirty="0">
                <a:solidFill>
                  <a:srgbClr val="FFF5F5"/>
                </a:solidFill>
                <a:latin typeface="Lucida Fax" panose="02060602050505020204" pitchFamily="18" charset="0"/>
              </a:rPr>
              <a:t>'x'</a:t>
            </a:r>
          </a:p>
          <a:p>
            <a:pPr marL="95250" indent="0" eaLnBrk="1">
              <a:lnSpc>
                <a:spcPct val="85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 f(</a:t>
            </a:r>
            <a:r>
              <a:rPr lang="en-US" altLang="en-US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b="1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): print(</a:t>
            </a:r>
            <a:r>
              <a:rPr lang="en-US" altLang="en-US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eaLnBrk="1">
              <a:lnSpc>
                <a:spcPct val="5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 eaLnBrk="1">
              <a:lnSpc>
                <a:spcPct val="85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 f(</a:t>
            </a:r>
            <a:r>
              <a:rPr lang="en-US" altLang="en-US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1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x=2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eaLnBrk="1">
              <a:lnSpc>
                <a:spcPct val="85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b="1" dirty="0">
                <a:solidFill>
                  <a:schemeClr val="accent6"/>
                </a:solidFill>
                <a:latin typeface="Lucida Console" panose="020B0609040504020204" pitchFamily="49" charset="0"/>
              </a:rPr>
              <a:t>(1,)</a:t>
            </a:r>
          </a:p>
          <a:p>
            <a:pPr marL="95250" indent="0" eaLnBrk="1">
              <a:lnSpc>
                <a:spcPct val="8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 f(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dirty="0">
                <a:solidFill>
                  <a:schemeClr val="accent6"/>
                </a:solidFill>
                <a:latin typeface="Lucida Console" panose="020B0609040504020204" pitchFamily="49" charset="0"/>
              </a:rPr>
              <a:t>*a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): print(</a:t>
            </a:r>
            <a:r>
              <a:rPr lang="en-US" altLang="en-US" b="1" dirty="0">
                <a:solidFill>
                  <a:schemeClr val="accent6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eaLnBrk="1">
              <a:lnSpc>
                <a:spcPct val="5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 eaLnBrk="1">
              <a:lnSpc>
                <a:spcPct val="8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1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x=2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eaLnBrk="1">
              <a:lnSpc>
                <a:spcPct val="78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dirty="0">
                <a:solidFill>
                  <a:srgbClr val="FFCCCC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95250" indent="0" eaLnBrk="1">
              <a:lnSpc>
                <a:spcPct val="8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>
                <a:solidFill>
                  <a:srgbClr val="FFCCCC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dirty="0">
                <a:solidFill>
                  <a:srgbClr val="FFCCCC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95250" indent="0" eaLnBrk="1">
              <a:lnSpc>
                <a:spcPct val="8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pc="-4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en-US" spc="-40" dirty="0">
                <a:solidFill>
                  <a:srgbClr val="FFCCCC"/>
                </a:solidFill>
                <a:latin typeface="Lucida Console" panose="020B0609040504020204" pitchFamily="49" charset="0"/>
              </a:rPr>
              <a:t>:</a:t>
            </a:r>
            <a:r>
              <a:rPr lang="en-US" altLang="en-US" sz="1000" spc="-40" dirty="0">
                <a:solidFill>
                  <a:srgbClr val="FFCCCC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40" dirty="0">
                <a:solidFill>
                  <a:srgbClr val="FFCCCC"/>
                </a:solidFill>
                <a:latin typeface="Lucida Console" panose="020B0609040504020204" pitchFamily="49" charset="0"/>
              </a:rPr>
              <a:t>f()</a:t>
            </a:r>
            <a:r>
              <a:rPr lang="en-US" altLang="en-US" sz="1800" spc="-40" dirty="0">
                <a:solidFill>
                  <a:srgbClr val="FFCCCC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40" dirty="0">
                <a:solidFill>
                  <a:srgbClr val="FFCCCC"/>
                </a:solidFill>
                <a:latin typeface="Lucida Console" panose="020B0609040504020204" pitchFamily="49" charset="0"/>
              </a:rPr>
              <a:t>got</a:t>
            </a:r>
            <a:r>
              <a:rPr lang="en-US" altLang="en-US" sz="1800" spc="-4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multiple</a:t>
            </a:r>
            <a:r>
              <a:rPr lang="en-US" altLang="en-US" sz="180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values</a:t>
            </a:r>
            <a:r>
              <a:rPr lang="en-US" altLang="en-US" sz="180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for</a:t>
            </a:r>
            <a:r>
              <a:rPr lang="en-US" altLang="en-US" sz="180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argument</a:t>
            </a:r>
            <a:r>
              <a:rPr lang="en-US" altLang="en-US" sz="180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90" dirty="0">
                <a:solidFill>
                  <a:srgbClr val="FF0000"/>
                </a:solidFill>
                <a:latin typeface="Lucida Console" panose="020B0609040504020204" pitchFamily="49" charset="0"/>
              </a:rPr>
              <a:t>'x'</a:t>
            </a:r>
          </a:p>
          <a:p>
            <a:pPr marL="95250" indent="0" eaLnBrk="1">
              <a:lnSpc>
                <a:spcPct val="7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GB" altLang="en-US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292894" y="0"/>
            <a:ext cx="9144000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 Parameters: </a:t>
            </a:r>
            <a:r>
              <a:rPr lang="en-US" altLang="zh-TW" sz="4400" b="1" kern="0" dirty="0">
                <a:solidFill>
                  <a:srgbClr val="0000FF"/>
                </a:solidFill>
                <a:latin typeface="Cooper Black" panose="0208090404030B020404" pitchFamily="18" charset="0"/>
              </a:rPr>
              <a:t>*</a:t>
            </a:r>
            <a:r>
              <a:rPr lang="en-US" altLang="zh-TW" sz="4400" kern="0" dirty="0">
                <a:solidFill>
                  <a:srgbClr val="0000FF"/>
                </a:solidFill>
                <a:latin typeface="Elephant" panose="02020904090505020303" pitchFamily="18" charset="0"/>
              </a:rPr>
              <a:t>x</a:t>
            </a:r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400" kern="0" dirty="0">
                <a:solidFill>
                  <a:srgbClr val="FFFFFF"/>
                </a:solidFill>
                <a:latin typeface="Elephant" panose="02020904090505020303" pitchFamily="18" charset="0"/>
              </a:rPr>
              <a:t>&amp; </a:t>
            </a:r>
            <a:r>
              <a:rPr lang="en-US" altLang="zh-TW" sz="4400" b="1" kern="0" dirty="0">
                <a:solidFill>
                  <a:srgbClr val="FFFFFF"/>
                </a:solidFill>
                <a:latin typeface="Cooper Black" panose="0208090404030B020404" pitchFamily="18" charset="0"/>
              </a:rPr>
              <a:t>**</a:t>
            </a:r>
            <a:r>
              <a:rPr lang="en-US" altLang="zh-TW" sz="4400" kern="0" dirty="0">
                <a:solidFill>
                  <a:srgbClr val="FFFFFF"/>
                </a:solidFill>
                <a:latin typeface="Elephant" panose="02020904090505020303" pitchFamily="18" charset="0"/>
              </a:rPr>
              <a:t>x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209861" y="1627834"/>
            <a:ext cx="819312" cy="45228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6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6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209861" y="3566485"/>
            <a:ext cx="819312" cy="268735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6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</a:p>
          <a:p>
            <a:pPr fontAlgn="base">
              <a:lnSpc>
                <a:spcPct val="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TW" sz="26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26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</a:p>
          <a:p>
            <a:pPr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endParaRPr lang="en-US" altLang="zh-TW" sz="2500" dirty="0" smtClean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26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6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fontAlgn="base">
              <a:lnSpc>
                <a:spcPct val="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TW" sz="2300" dirty="0" smtClean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260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6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209861" y="2286325"/>
            <a:ext cx="819312" cy="45228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6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6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113453" y="1221581"/>
            <a:ext cx="9616335" cy="2112462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11" name="Arc 10"/>
          <p:cNvSpPr/>
          <p:nvPr/>
        </p:nvSpPr>
        <p:spPr bwMode="auto">
          <a:xfrm rot="1558678">
            <a:off x="882404" y="805131"/>
            <a:ext cx="5128592" cy="7513025"/>
          </a:xfrm>
          <a:prstGeom prst="arc">
            <a:avLst>
              <a:gd name="adj1" fmla="val 9287531"/>
              <a:gd name="adj2" fmla="val 14696538"/>
            </a:avLst>
          </a:prstGeom>
          <a:noFill/>
          <a:ln w="38100" cap="flat" cmpd="sng" algn="ctr">
            <a:solidFill>
              <a:srgbClr val="0000FF"/>
            </a:solidFill>
            <a:prstDash val="solid"/>
            <a:round/>
            <a:headEnd type="arrow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618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27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27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27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27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xit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727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727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7270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7270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7270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7270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7270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3453" y="688770"/>
            <a:ext cx="9616335" cy="6169231"/>
          </a:xfrm>
        </p:spPr>
        <p:txBody>
          <a:bodyPr/>
          <a:lstStyle/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tx1"/>
                </a:solidFill>
              </a:rPr>
              <a:t>The </a:t>
            </a:r>
            <a:r>
              <a:rPr lang="en-US" altLang="en-US" sz="3200" b="1" dirty="0">
                <a:solidFill>
                  <a:srgbClr val="0000FF"/>
                </a:solidFill>
              </a:rPr>
              <a:t>*x</a:t>
            </a:r>
            <a:r>
              <a:rPr lang="en-US" altLang="en-US" sz="3200" dirty="0">
                <a:solidFill>
                  <a:schemeClr val="tx1"/>
                </a:solidFill>
              </a:rPr>
              <a:t>: </a:t>
            </a:r>
            <a:r>
              <a:rPr lang="en-US" altLang="en-US" sz="3200" dirty="0" smtClean="0">
                <a:solidFill>
                  <a:schemeClr val="tx1"/>
                </a:solidFill>
              </a:rPr>
              <a:t>Only puts </a:t>
            </a:r>
            <a:r>
              <a:rPr lang="en-US" altLang="en-US" sz="3200" u="sng" dirty="0">
                <a:solidFill>
                  <a:schemeClr val="tx1"/>
                </a:solidFill>
              </a:rPr>
              <a:t>positional</a:t>
            </a:r>
            <a:r>
              <a:rPr lang="en-US" altLang="en-US" sz="3200" dirty="0">
                <a:solidFill>
                  <a:schemeClr val="tx1"/>
                </a:solidFill>
              </a:rPr>
              <a:t> arguments into a </a:t>
            </a:r>
            <a:r>
              <a:rPr lang="en-US" altLang="en-US" sz="3200" dirty="0">
                <a:solidFill>
                  <a:schemeClr val="accent6"/>
                </a:solidFill>
              </a:rPr>
              <a:t>tupl</a:t>
            </a:r>
            <a:r>
              <a:rPr lang="en-US" altLang="en-US" sz="3200" spc="-200" dirty="0">
                <a:solidFill>
                  <a:schemeClr val="accent6"/>
                </a:solidFill>
              </a:rPr>
              <a:t>e</a:t>
            </a:r>
            <a:r>
              <a:rPr lang="en-US" altLang="en-US" sz="3200" dirty="0">
                <a:solidFill>
                  <a:schemeClr val="tx1"/>
                </a:solidFill>
              </a:rPr>
              <a:t>.</a:t>
            </a:r>
          </a:p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00B0F0"/>
                </a:solidFill>
              </a:rPr>
              <a:t>The </a:t>
            </a:r>
            <a:r>
              <a:rPr lang="en-US" altLang="en-US" sz="3200" b="1" dirty="0">
                <a:solidFill>
                  <a:srgbClr val="9B2D00"/>
                </a:solidFill>
              </a:rPr>
              <a:t>**x</a:t>
            </a:r>
            <a:r>
              <a:rPr lang="en-US" altLang="en-US" sz="3200" dirty="0">
                <a:solidFill>
                  <a:srgbClr val="00B0F0"/>
                </a:solidFill>
              </a:rPr>
              <a:t>: Collects all </a:t>
            </a:r>
            <a:r>
              <a:rPr lang="en-US" altLang="en-US" sz="3200" u="sng" dirty="0">
                <a:solidFill>
                  <a:srgbClr val="00B0F0"/>
                </a:solidFill>
              </a:rPr>
              <a:t>keyword</a:t>
            </a:r>
            <a:r>
              <a:rPr lang="en-US" altLang="en-US" sz="3200" dirty="0">
                <a:solidFill>
                  <a:srgbClr val="00B0F0"/>
                </a:solidFill>
              </a:rPr>
              <a:t> arguments into a </a:t>
            </a:r>
            <a:r>
              <a:rPr lang="en-US" altLang="en-US" sz="3200" dirty="0" err="1">
                <a:solidFill>
                  <a:srgbClr val="9B2D00"/>
                </a:solidFill>
              </a:rPr>
              <a:t>dict</a:t>
            </a:r>
            <a:r>
              <a:rPr lang="en-US" altLang="en-US" sz="3200" dirty="0">
                <a:solidFill>
                  <a:srgbClr val="00B0F0"/>
                </a:solidFill>
              </a:rPr>
              <a:t>:</a:t>
            </a:r>
          </a:p>
          <a:p>
            <a:pPr marL="95250" indent="0" eaLnBrk="1">
              <a:lnSpc>
                <a:spcPct val="56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f(</a:t>
            </a:r>
            <a:r>
              <a:rPr lang="en-US" altLang="en-US" b="1" dirty="0" smtClean="0">
                <a:solidFill>
                  <a:srgbClr val="0000FF"/>
                </a:solidFill>
                <a:latin typeface="Lucida Console" panose="020B0609040504020204" pitchFamily="49" charset="0"/>
              </a:rPr>
              <a:t>*a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b="1" dirty="0" smtClean="0">
                <a:solidFill>
                  <a:srgbClr val="9B2D00"/>
                </a:solidFill>
                <a:latin typeface="Lucida Console" panose="020B0609040504020204" pitchFamily="49" charset="0"/>
              </a:rPr>
              <a:t>**kw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): print(</a:t>
            </a:r>
            <a:r>
              <a:rPr lang="en-US" altLang="en-US" b="1" dirty="0" err="1" smtClean="0">
                <a:solidFill>
                  <a:srgbClr val="0000FF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dirty="0" err="1" smtClean="0">
                <a:solidFill>
                  <a:srgbClr val="9B2D00"/>
                </a:solidFill>
                <a:latin typeface="Lucida Console" panose="020B0609040504020204" pitchFamily="49" charset="0"/>
              </a:rPr>
              <a:t>kw</a:t>
            </a:r>
            <a:r>
              <a:rPr lang="en-US" altLang="en-US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,sep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="\n")</a:t>
            </a:r>
            <a:endParaRPr lang="en-US" altLang="en-US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49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 eaLnBrk="1">
              <a:lnSpc>
                <a:spcPct val="45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b="1" dirty="0">
                <a:solidFill>
                  <a:schemeClr val="tx1"/>
                </a:solidFill>
                <a:latin typeface="Lucida Console" panose="020B0609040504020204" pitchFamily="49" charset="0"/>
              </a:rPr>
              <a:t>1, 2, 3, 4, 5, 6, a=2, b=3, c=5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endParaRPr lang="en-US" altLang="en-US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52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b="1" dirty="0">
                <a:solidFill>
                  <a:srgbClr val="0000FF"/>
                </a:solidFill>
                <a:latin typeface="Lucida Console" panose="020B0609040504020204" pitchFamily="49" charset="0"/>
              </a:rPr>
              <a:t>(1, 2, 3, 4, 5, 6</a:t>
            </a:r>
            <a:r>
              <a:rPr lang="en-US" altLang="en-US" b="1" dirty="0" smtClean="0">
                <a:solidFill>
                  <a:srgbClr val="0000FF"/>
                </a:solidFill>
                <a:latin typeface="Lucida Console" panose="020B0609040504020204" pitchFamily="49" charset="0"/>
              </a:rPr>
              <a:t>)</a:t>
            </a:r>
            <a:endParaRPr lang="en-US" altLang="en-US" b="1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52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b="1" dirty="0">
                <a:solidFill>
                  <a:srgbClr val="9B2D00"/>
                </a:solidFill>
                <a:latin typeface="Lucida Console" panose="020B0609040504020204" pitchFamily="49" charset="0"/>
              </a:rPr>
              <a:t>{'a': 2, 'c': 5, 'b': 3</a:t>
            </a:r>
            <a:r>
              <a:rPr lang="en-US" altLang="en-US" b="1" dirty="0" smtClean="0">
                <a:solidFill>
                  <a:srgbClr val="9B2D00"/>
                </a:solidFill>
                <a:latin typeface="Lucida Console" panose="020B0609040504020204" pitchFamily="49" charset="0"/>
              </a:rPr>
              <a:t>}</a:t>
            </a:r>
          </a:p>
          <a:p>
            <a:pPr marL="95250" indent="0" eaLnBrk="1">
              <a:lnSpc>
                <a:spcPct val="52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b="1" dirty="0">
                <a:solidFill>
                  <a:schemeClr val="tx1"/>
                </a:solidFill>
                <a:latin typeface="Lucida Console" panose="020B0609040504020204" pitchFamily="49" charset="0"/>
              </a:rPr>
              <a:t>1, 2, 3, 4, 5, 6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endParaRPr lang="en-US" altLang="en-US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52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b="1" dirty="0">
                <a:solidFill>
                  <a:srgbClr val="0000FF"/>
                </a:solidFill>
                <a:latin typeface="Lucida Console" panose="020B0609040504020204" pitchFamily="49" charset="0"/>
              </a:rPr>
              <a:t>(1, 2, 3, 4, 5, 6)</a:t>
            </a:r>
          </a:p>
          <a:p>
            <a:pPr marL="95250" indent="0" eaLnBrk="1">
              <a:lnSpc>
                <a:spcPct val="45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b="1" dirty="0">
                <a:solidFill>
                  <a:srgbClr val="9B2D00"/>
                </a:solidFill>
                <a:latin typeface="Lucida Console" panose="020B0609040504020204" pitchFamily="49" charset="0"/>
              </a:rPr>
              <a:t>{}</a:t>
            </a:r>
          </a:p>
          <a:p>
            <a:pPr marL="95250" indent="0" eaLnBrk="1">
              <a:lnSpc>
                <a:spcPct val="49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b="1" dirty="0">
                <a:solidFill>
                  <a:schemeClr val="tx1"/>
                </a:solidFill>
                <a:latin typeface="Lucida Console" panose="020B0609040504020204" pitchFamily="49" charset="0"/>
              </a:rPr>
              <a:t>a=2, b=3, c=5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endParaRPr lang="en-US" altLang="en-US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44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b="1" dirty="0">
                <a:solidFill>
                  <a:srgbClr val="0000FF"/>
                </a:solidFill>
                <a:latin typeface="Lucida Console" panose="020B0609040504020204" pitchFamily="49" charset="0"/>
              </a:rPr>
              <a:t>()</a:t>
            </a:r>
          </a:p>
          <a:p>
            <a:pPr marL="95250" indent="0" eaLnBrk="1">
              <a:lnSpc>
                <a:spcPct val="49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b="1" dirty="0">
                <a:solidFill>
                  <a:srgbClr val="9B2D00"/>
                </a:solidFill>
                <a:latin typeface="Lucida Console" panose="020B0609040504020204" pitchFamily="49" charset="0"/>
              </a:rPr>
              <a:t>{'a': 2, 'b': 3, 'c': 5}</a:t>
            </a:r>
          </a:p>
          <a:p>
            <a:pPr marL="95250" indent="0" eaLnBrk="1">
              <a:lnSpc>
                <a:spcPct val="49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b="1" dirty="0">
                <a:solidFill>
                  <a:srgbClr val="9B2D00"/>
                </a:solidFill>
                <a:latin typeface="Lucida Console" panose="020B0609040504020204" pitchFamily="49" charset="0"/>
              </a:rPr>
              <a:t>a=2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b="1" dirty="0">
                <a:solidFill>
                  <a:srgbClr val="0000FF"/>
                </a:solidFill>
                <a:latin typeface="Lucida Console" panose="020B0609040504020204" pitchFamily="49" charset="0"/>
              </a:rPr>
              <a:t>1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b="1" dirty="0">
                <a:solidFill>
                  <a:srgbClr val="0000FF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dirty="0">
                <a:solidFill>
                  <a:schemeClr val="accent6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dirty="0" smtClean="0">
                <a:solidFill>
                  <a:srgbClr val="9B2D00"/>
                </a:solidFill>
                <a:latin typeface="Lucida Console" panose="020B0609040504020204" pitchFamily="49" charset="0"/>
              </a:rPr>
              <a:t>b=3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b="1" dirty="0">
                <a:solidFill>
                  <a:srgbClr val="0000FF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dirty="0">
                <a:solidFill>
                  <a:schemeClr val="accent6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dirty="0">
                <a:solidFill>
                  <a:srgbClr val="0000FF"/>
                </a:solidFill>
                <a:latin typeface="Lucida Console" panose="020B0609040504020204" pitchFamily="49" charset="0"/>
              </a:rPr>
              <a:t>4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dirty="0">
                <a:solidFill>
                  <a:schemeClr val="accent6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dirty="0" smtClean="0">
                <a:solidFill>
                  <a:srgbClr val="9B2D00"/>
                </a:solidFill>
                <a:latin typeface="Lucida Console" panose="020B0609040504020204" pitchFamily="49" charset="0"/>
              </a:rPr>
              <a:t>c=5</a:t>
            </a:r>
            <a:r>
              <a:rPr lang="en-US" altLang="en-US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b="1" dirty="0" smtClean="0">
                <a:solidFill>
                  <a:srgbClr val="0000FF"/>
                </a:solidFill>
                <a:latin typeface="Lucida Console" panose="020B0609040504020204" pitchFamily="49" charset="0"/>
              </a:rPr>
              <a:t>5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b="1" dirty="0">
                <a:solidFill>
                  <a:srgbClr val="0000FF"/>
                </a:solidFill>
                <a:latin typeface="Lucida Console" panose="020B0609040504020204" pitchFamily="49" charset="0"/>
              </a:rPr>
              <a:t>6</a:t>
            </a:r>
            <a:r>
              <a:rPr lang="en-US" altLang="en-US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49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spc="-100" dirty="0">
                <a:solidFill>
                  <a:srgbClr val="00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  </a:t>
            </a:r>
            <a:r>
              <a:rPr lang="en-US" altLang="en-US" sz="2400" spc="-100" dirty="0">
                <a:solidFill>
                  <a:srgbClr val="FFCCCC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File "&lt;</a:t>
            </a:r>
            <a:r>
              <a:rPr lang="en-US" altLang="en-US" sz="2400" spc="-100" dirty="0" err="1">
                <a:solidFill>
                  <a:srgbClr val="FFCCCC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stdin</a:t>
            </a:r>
            <a:r>
              <a:rPr lang="en-US" altLang="en-US" sz="2400" spc="-100" dirty="0">
                <a:solidFill>
                  <a:srgbClr val="FFCCCC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&gt;", line 1</a:t>
            </a:r>
          </a:p>
          <a:p>
            <a:pPr marL="95250" indent="0" eaLnBrk="1">
              <a:lnSpc>
                <a:spcPct val="46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spc="-160" dirty="0" err="1">
                <a:solidFill>
                  <a:srgbClr val="FFCCCC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SyntaxError</a:t>
            </a:r>
            <a:r>
              <a:rPr lang="en-US" altLang="en-US" sz="2400" spc="-160" dirty="0">
                <a:solidFill>
                  <a:srgbClr val="FFCCCC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:</a:t>
            </a:r>
            <a:r>
              <a:rPr lang="en-US" altLang="en-US" sz="1000" spc="-160" dirty="0">
                <a:solidFill>
                  <a:srgbClr val="00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 </a:t>
            </a:r>
            <a:r>
              <a:rPr lang="en-US" altLang="en-US" sz="2400" spc="-8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po</a:t>
            </a:r>
            <a:r>
              <a:rPr lang="en-US" altLang="en-US" sz="2400" spc="-16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siti</a:t>
            </a:r>
            <a:r>
              <a:rPr lang="en-US" altLang="en-US" sz="2400" spc="-8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on</a:t>
            </a:r>
            <a:r>
              <a:rPr lang="en-US" altLang="en-US" sz="2400" spc="-30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a</a:t>
            </a:r>
            <a:r>
              <a:rPr lang="en-US" altLang="en-US" sz="2400" spc="-16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l</a:t>
            </a:r>
            <a:r>
              <a:rPr lang="en-US" altLang="en-US" sz="1800" spc="-16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 </a:t>
            </a:r>
            <a:r>
              <a:rPr lang="en-US" altLang="en-US" sz="2400" spc="-16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a</a:t>
            </a:r>
            <a:r>
              <a:rPr lang="en-US" altLang="en-US" sz="2400" spc="-12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r</a:t>
            </a:r>
            <a:r>
              <a:rPr lang="en-US" altLang="en-US" sz="2400" spc="-8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gum</a:t>
            </a:r>
            <a:r>
              <a:rPr lang="en-US" altLang="en-US" sz="2400" spc="-16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ent</a:t>
            </a:r>
            <a:r>
              <a:rPr lang="en-US" altLang="en-US" sz="1800" spc="-16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 </a:t>
            </a:r>
            <a:r>
              <a:rPr lang="en-US" altLang="en-US" sz="2400" spc="-16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f</a:t>
            </a:r>
            <a:r>
              <a:rPr lang="en-US" altLang="en-US" sz="2400" spc="-30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oll</a:t>
            </a:r>
            <a:r>
              <a:rPr lang="en-US" altLang="en-US" sz="2400" spc="-12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ow</a:t>
            </a:r>
            <a:r>
              <a:rPr lang="en-US" altLang="en-US" sz="2400" spc="-16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s</a:t>
            </a:r>
            <a:r>
              <a:rPr lang="en-US" altLang="en-US" sz="1800" spc="-16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 </a:t>
            </a:r>
            <a:r>
              <a:rPr lang="en-US" altLang="en-US" sz="2400" spc="-16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key</a:t>
            </a:r>
            <a:r>
              <a:rPr lang="en-US" altLang="en-US" sz="2400" spc="-8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w</a:t>
            </a:r>
            <a:r>
              <a:rPr lang="en-US" altLang="en-US" sz="2400" spc="-25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o</a:t>
            </a:r>
            <a:r>
              <a:rPr lang="en-US" altLang="en-US" sz="2400" spc="-16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rd</a:t>
            </a:r>
            <a:r>
              <a:rPr lang="en-US" altLang="en-US" sz="1800" spc="-16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 </a:t>
            </a:r>
            <a:r>
              <a:rPr lang="en-US" altLang="en-US" sz="2400" spc="-16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argument</a:t>
            </a:r>
          </a:p>
          <a:p>
            <a:pPr marL="95250" indent="0" eaLnBrk="1">
              <a:lnSpc>
                <a:spcPct val="43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292894" y="0"/>
            <a:ext cx="9144000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 Parameters: </a:t>
            </a:r>
            <a:r>
              <a:rPr lang="en-US" altLang="zh-TW" sz="4400" b="1" kern="0" dirty="0">
                <a:solidFill>
                  <a:srgbClr val="0000FF"/>
                </a:solidFill>
                <a:latin typeface="Cooper Black" panose="0208090404030B020404" pitchFamily="18" charset="0"/>
              </a:rPr>
              <a:t>*</a:t>
            </a:r>
            <a:r>
              <a:rPr lang="en-US" altLang="zh-TW" sz="4400" kern="0" dirty="0">
                <a:solidFill>
                  <a:srgbClr val="0000FF"/>
                </a:solidFill>
                <a:latin typeface="Elephant" panose="02020904090505020303" pitchFamily="18" charset="0"/>
              </a:rPr>
              <a:t>x</a:t>
            </a:r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 &amp; </a:t>
            </a:r>
            <a:r>
              <a:rPr lang="en-US" altLang="zh-TW" sz="4400" b="1" kern="0" dirty="0">
                <a:solidFill>
                  <a:srgbClr val="9B2D00"/>
                </a:solidFill>
                <a:latin typeface="Cooper Black" panose="0208090404030B020404" pitchFamily="18" charset="0"/>
              </a:rPr>
              <a:t>**</a:t>
            </a:r>
            <a:r>
              <a:rPr lang="en-US" altLang="zh-TW" sz="4400" kern="0" dirty="0">
                <a:solidFill>
                  <a:srgbClr val="9B2D00"/>
                </a:solidFill>
                <a:latin typeface="Elephant" panose="02020904090505020303" pitchFamily="18" charset="0"/>
              </a:rPr>
              <a:t>x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13454" y="688770"/>
            <a:ext cx="1012820" cy="6169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eaLnBrk="1">
              <a:lnSpc>
                <a:spcPct val="93000"/>
              </a:lnSpc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kern="0" dirty="0" smtClean="0">
              <a:solidFill>
                <a:schemeClr val="tx1"/>
              </a:solidFill>
            </a:endParaRPr>
          </a:p>
          <a:p>
            <a:pPr marL="95250" indent="0" eaLnBrk="1">
              <a:lnSpc>
                <a:spcPct val="93000"/>
              </a:lnSpc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kern="0" dirty="0" smtClean="0">
              <a:solidFill>
                <a:srgbClr val="00B0F0"/>
              </a:solidFill>
            </a:endParaRPr>
          </a:p>
          <a:p>
            <a:pPr marL="95250" indent="0" eaLnBrk="1">
              <a:lnSpc>
                <a:spcPct val="56000"/>
              </a:lnSpc>
              <a:spcBef>
                <a:spcPts val="120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kern="0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49000"/>
              </a:lnSpc>
              <a:spcBef>
                <a:spcPts val="120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kern="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45000"/>
              </a:lnSpc>
              <a:spcBef>
                <a:spcPts val="120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kern="0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52000"/>
              </a:lnSpc>
              <a:spcBef>
                <a:spcPts val="120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b="1" kern="0" dirty="0" smtClean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52000"/>
              </a:lnSpc>
              <a:spcBef>
                <a:spcPts val="120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b="1" kern="0" dirty="0" smtClean="0">
              <a:solidFill>
                <a:srgbClr val="86000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52000"/>
              </a:lnSpc>
              <a:spcBef>
                <a:spcPts val="120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kern="0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52000"/>
              </a:lnSpc>
              <a:spcBef>
                <a:spcPts val="120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b="1" kern="0" dirty="0" smtClean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45000"/>
              </a:lnSpc>
              <a:spcBef>
                <a:spcPts val="120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b="1" kern="0" dirty="0" smtClean="0">
              <a:solidFill>
                <a:srgbClr val="86000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49000"/>
              </a:lnSpc>
              <a:spcBef>
                <a:spcPts val="120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kern="0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44000"/>
              </a:lnSpc>
              <a:spcBef>
                <a:spcPts val="120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b="1" kern="0" dirty="0" smtClean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49000"/>
              </a:lnSpc>
              <a:spcBef>
                <a:spcPts val="120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b="1" kern="0" dirty="0" smtClean="0">
              <a:solidFill>
                <a:srgbClr val="86000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49000"/>
              </a:lnSpc>
              <a:spcBef>
                <a:spcPts val="120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kern="0" dirty="0" smtClean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49000"/>
              </a:lnSpc>
              <a:spcBef>
                <a:spcPts val="120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400" kern="0" spc="-100" dirty="0" smtClean="0">
              <a:solidFill>
                <a:srgbClr val="FFCCCC"/>
              </a:solidFill>
              <a:latin typeface="Lucida Console" panose="020B0609040504020204" pitchFamily="49" charset="0"/>
              <a:ea typeface="Ebrima" panose="02000000000000000000" pitchFamily="2" charset="0"/>
              <a:cs typeface="Ebrima" panose="02000000000000000000" pitchFamily="2" charset="0"/>
            </a:endParaRPr>
          </a:p>
          <a:p>
            <a:pPr marL="95250" indent="0" eaLnBrk="1">
              <a:lnSpc>
                <a:spcPct val="46000"/>
              </a:lnSpc>
              <a:spcBef>
                <a:spcPts val="120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400" kern="0" spc="-160" dirty="0" smtClean="0">
              <a:solidFill>
                <a:srgbClr val="FF0000"/>
              </a:solidFill>
              <a:latin typeface="Lucida Console" panose="020B0609040504020204" pitchFamily="49" charset="0"/>
              <a:ea typeface="Ebrima" panose="02000000000000000000" pitchFamily="2" charset="0"/>
              <a:cs typeface="Ebrima" panose="02000000000000000000" pitchFamily="2" charset="0"/>
            </a:endParaRPr>
          </a:p>
          <a:p>
            <a:pPr marL="95250" indent="0" eaLnBrk="1">
              <a:lnSpc>
                <a:spcPct val="43000"/>
              </a:lnSpc>
              <a:spcBef>
                <a:spcPts val="120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6630124" y="3429000"/>
            <a:ext cx="2837261" cy="1417982"/>
          </a:xfrm>
          <a:prstGeom prst="wedgeRoundRectCallout">
            <a:avLst>
              <a:gd name="adj1" fmla="val -71925"/>
              <a:gd name="adj2" fmla="val 154089"/>
              <a:gd name="adj3" fmla="val 16667"/>
            </a:avLst>
          </a:prstGeom>
          <a:solidFill>
            <a:srgbClr val="99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600" dirty="0">
                <a:latin typeface="Times New Roman" charset="0"/>
              </a:rPr>
              <a:t>Why did this error happen?</a:t>
            </a:r>
            <a:endParaRPr lang="zh-TW" altLang="en-US" sz="3600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395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72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72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72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727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727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727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727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727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727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7270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7270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 txBox="1">
            <a:spLocks/>
          </p:cNvSpPr>
          <p:nvPr/>
        </p:nvSpPr>
        <p:spPr>
          <a:xfrm>
            <a:off x="274319" y="1026160"/>
            <a:ext cx="9227489" cy="57302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endParaRPr lang="en-US" altLang="zh-TW" sz="180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 smtClean="0">
                <a:latin typeface="Lucida Console" panose="020B0609040504020204" pitchFamily="49" charset="0"/>
                <a:cs typeface="Courier New" pitchFamily="49" charset="0"/>
              </a:rPr>
              <a:t> 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def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 f(a,</a:t>
            </a:r>
            <a:r>
              <a:rPr lang="en-US" altLang="zh-TW" sz="3000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*</a:t>
            </a:r>
            <a:r>
              <a:rPr lang="en-US" altLang="zh-TW" sz="3000" dirty="0" err="1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b</a:t>
            </a:r>
            <a:r>
              <a:rPr lang="en-US" altLang="zh-TW" sz="3000" dirty="0" err="1"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altLang="zh-TW" sz="3000" b="1" dirty="0" err="1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c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): pass</a:t>
            </a:r>
          </a:p>
          <a:p>
            <a:pPr marL="0" indent="0">
              <a:lnSpc>
                <a:spcPct val="75000"/>
              </a:lnSpc>
              <a:spcBef>
                <a:spcPts val="0"/>
              </a:spcBef>
              <a:buNone/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...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f(1,2,3)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Traceback</a:t>
            </a: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(most recent call last):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5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&gt;", line 1, in &lt;module&gt;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500" spc="-1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r>
              <a:rPr lang="en-US" altLang="zh-TW" sz="3500" spc="-5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yp</a:t>
            </a:r>
            <a:r>
              <a:rPr lang="en-US" altLang="zh-TW" sz="3500" spc="-1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eE</a:t>
            </a:r>
            <a:r>
              <a:rPr lang="en-US" altLang="zh-TW" sz="35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6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</a:t>
            </a:r>
            <a:r>
              <a:rPr lang="en-US" altLang="zh-TW" sz="3500" spc="-100" dirty="0" err="1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f()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missing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1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require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d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3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500" spc="-2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500" spc="-13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w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ord-only</a:t>
            </a:r>
            <a:r>
              <a:rPr lang="en-US" altLang="zh-TW" sz="32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6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28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500" spc="-1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  <a:r>
              <a:rPr lang="en-US" altLang="zh-TW" sz="3500" b="1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c</a:t>
            </a:r>
            <a:r>
              <a:rPr lang="en-US" altLang="zh-TW" sz="3500" dirty="0" smtClean="0">
                <a:solidFill>
                  <a:srgbClr val="FFCCCC"/>
                </a:solidFill>
                <a:latin typeface="Arial Narrow" panose="020B0606020202030204" pitchFamily="34" charset="0"/>
                <a:cs typeface="Courier New" pitchFamily="49" charset="0"/>
              </a:rPr>
              <a:t>'</a:t>
            </a: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 </a:t>
            </a:r>
            <a:r>
              <a:rPr lang="en-US" altLang="zh-TW" sz="30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f(1,2,</a:t>
            </a:r>
            <a:r>
              <a:rPr lang="en-US" altLang="zh-TW" sz="3000" dirty="0" smtClean="0">
                <a:solidFill>
                  <a:srgbClr val="8989FF"/>
                </a:solidFill>
                <a:latin typeface="Lucida Console" panose="020B0609040504020204" pitchFamily="49" charset="0"/>
                <a:cs typeface="Courier New" pitchFamily="49" charset="0"/>
              </a:rPr>
              <a:t>c=3</a:t>
            </a:r>
            <a:r>
              <a:rPr lang="en-US" altLang="zh-TW" sz="30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</a:p>
          <a:p>
            <a:pPr marL="0" lv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r>
              <a:rPr lang="en-US" altLang="zh-TW" sz="3000" dirty="0">
                <a:solidFill>
                  <a:prstClr val="black"/>
                </a:solidFill>
                <a:latin typeface="Lucida Console" panose="020B0609040504020204" pitchFamily="49" charset="0"/>
                <a:cs typeface="Courier New" pitchFamily="49" charset="0"/>
              </a:rPr>
              <a:t> f(1,</a:t>
            </a:r>
            <a:r>
              <a:rPr lang="en-US" altLang="zh-TW" sz="3000" b="1" dirty="0">
                <a:solidFill>
                  <a:srgbClr val="0000FF"/>
                </a:solidFill>
                <a:latin typeface="Lucida Console" panose="020B0609040504020204" pitchFamily="49" charset="0"/>
                <a:cs typeface="Courier New" pitchFamily="49" charset="0"/>
              </a:rPr>
              <a:t>c=3</a:t>
            </a:r>
            <a:r>
              <a:rPr lang="en-US" altLang="zh-TW" sz="3000" dirty="0">
                <a:solidFill>
                  <a:prstClr val="black"/>
                </a:solidFill>
                <a:latin typeface="Lucida Console" panose="020B0609040504020204" pitchFamily="49" charset="0"/>
                <a:cs typeface="Courier New" pitchFamily="49" charset="0"/>
              </a:rPr>
              <a:t>,</a:t>
            </a:r>
            <a:r>
              <a:rPr lang="en-US" altLang="zh-TW" sz="3000" b="1" dirty="0">
                <a:solidFill>
                  <a:srgbClr val="008000"/>
                </a:solidFill>
                <a:latin typeface="Lucida Console" panose="020B0609040504020204" pitchFamily="49" charset="0"/>
                <a:cs typeface="Courier New" pitchFamily="49" charset="0"/>
              </a:rPr>
              <a:t>2</a:t>
            </a:r>
            <a:r>
              <a:rPr lang="en-US" altLang="zh-TW" sz="3000" dirty="0">
                <a:latin typeface="Lucida Console" panose="020B0609040504020204" pitchFamily="49" charset="0"/>
                <a:cs typeface="Courier New" pitchFamily="49" charset="0"/>
              </a:rPr>
              <a:t>)</a:t>
            </a:r>
          </a:p>
          <a:p>
            <a:pPr marL="0" lv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800" dirty="0">
                <a:solidFill>
                  <a:prstClr val="black"/>
                </a:solidFill>
                <a:latin typeface="Arial Narrow" panose="020B0606020202030204" pitchFamily="34" charset="0"/>
                <a:cs typeface="Courier New" pitchFamily="49" charset="0"/>
              </a:rPr>
              <a:t>  File "&lt;</a:t>
            </a:r>
            <a:r>
              <a:rPr lang="en-US" altLang="zh-TW" sz="3800" dirty="0" err="1">
                <a:solidFill>
                  <a:prstClr val="black"/>
                </a:solidFill>
                <a:latin typeface="Arial Narrow" panose="020B0606020202030204" pitchFamily="34" charset="0"/>
                <a:cs typeface="Courier New" pitchFamily="49" charset="0"/>
              </a:rPr>
              <a:t>stdin</a:t>
            </a:r>
            <a:r>
              <a:rPr lang="en-US" altLang="zh-TW" sz="3800" dirty="0">
                <a:solidFill>
                  <a:prstClr val="black"/>
                </a:solidFill>
                <a:latin typeface="Arial Narrow" panose="020B0606020202030204" pitchFamily="34" charset="0"/>
                <a:cs typeface="Courier New" pitchFamily="49" charset="0"/>
              </a:rPr>
              <a:t>&gt;", line 1</a:t>
            </a:r>
          </a:p>
          <a:p>
            <a:pPr marL="0" lv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600" spc="-16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S</a:t>
            </a:r>
            <a:r>
              <a:rPr lang="en-US" altLang="zh-TW" sz="3600" spc="-1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600" spc="-14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n</a:t>
            </a:r>
            <a:r>
              <a:rPr lang="en-US" altLang="zh-TW" sz="3600" spc="-100" dirty="0" err="1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taxError</a:t>
            </a:r>
            <a:r>
              <a:rPr lang="en-US" altLang="zh-TW" sz="36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:</a:t>
            </a:r>
            <a:r>
              <a:rPr lang="en-US" altLang="zh-TW" sz="28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600" spc="-100" dirty="0">
                <a:solidFill>
                  <a:srgbClr val="008000"/>
                </a:solidFill>
                <a:latin typeface="Arial Narrow" panose="020B0606020202030204" pitchFamily="34" charset="0"/>
                <a:cs typeface="Courier New" pitchFamily="49" charset="0"/>
              </a:rPr>
              <a:t>positional</a:t>
            </a:r>
            <a:r>
              <a:rPr lang="en-US" altLang="zh-TW" sz="3200" spc="-100" dirty="0">
                <a:solidFill>
                  <a:srgbClr val="008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600" spc="-100" dirty="0">
                <a:solidFill>
                  <a:srgbClr val="008000"/>
                </a:solidFill>
                <a:latin typeface="Arial Narrow" panose="020B0606020202030204" pitchFamily="34" charset="0"/>
                <a:cs typeface="Courier New" pitchFamily="49" charset="0"/>
              </a:rPr>
              <a:t>argument</a:t>
            </a:r>
            <a:r>
              <a:rPr lang="en-US" altLang="zh-TW" sz="3200" spc="-100" dirty="0">
                <a:solidFill>
                  <a:srgbClr val="008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6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follows</a:t>
            </a:r>
            <a:r>
              <a:rPr lang="en-US" altLang="zh-TW" sz="3200" spc="-100" dirty="0">
                <a:solidFill>
                  <a:srgbClr val="FF0000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600" spc="-230" dirty="0" smtClean="0">
                <a:solidFill>
                  <a:srgbClr val="0000FF"/>
                </a:solidFill>
                <a:latin typeface="Arial Narrow" panose="020B0606020202030204" pitchFamily="34" charset="0"/>
                <a:cs typeface="Courier New" pitchFamily="49" charset="0"/>
              </a:rPr>
              <a:t>ke</a:t>
            </a:r>
            <a:r>
              <a:rPr lang="en-US" altLang="zh-TW" sz="3600" spc="-80" dirty="0" smtClean="0">
                <a:solidFill>
                  <a:srgbClr val="0000FF"/>
                </a:solidFill>
                <a:latin typeface="Arial Narrow" panose="020B0606020202030204" pitchFamily="34" charset="0"/>
                <a:cs typeface="Courier New" pitchFamily="49" charset="0"/>
              </a:rPr>
              <a:t>y</a:t>
            </a:r>
            <a:r>
              <a:rPr lang="en-US" altLang="zh-TW" sz="3600" spc="-160" dirty="0" smtClean="0">
                <a:solidFill>
                  <a:srgbClr val="0000FF"/>
                </a:solidFill>
                <a:latin typeface="Arial Narrow" panose="020B0606020202030204" pitchFamily="34" charset="0"/>
                <a:cs typeface="Courier New" pitchFamily="49" charset="0"/>
              </a:rPr>
              <a:t>wo</a:t>
            </a:r>
            <a:r>
              <a:rPr lang="en-US" altLang="zh-TW" sz="3600" spc="-100" dirty="0" smtClean="0">
                <a:solidFill>
                  <a:srgbClr val="0000FF"/>
                </a:solidFill>
                <a:latin typeface="Arial Narrow" panose="020B0606020202030204" pitchFamily="34" charset="0"/>
                <a:cs typeface="Courier New" pitchFamily="49" charset="0"/>
              </a:rPr>
              <a:t>rd</a:t>
            </a:r>
            <a:r>
              <a:rPr lang="en-US" altLang="zh-TW" sz="3200" spc="-100" dirty="0" smtClean="0">
                <a:solidFill>
                  <a:srgbClr val="0000FF"/>
                </a:solidFill>
                <a:latin typeface="Arial Narrow" panose="020B0606020202030204" pitchFamily="34" charset="0"/>
                <a:cs typeface="Courier New" pitchFamily="49" charset="0"/>
              </a:rPr>
              <a:t> </a:t>
            </a:r>
            <a:r>
              <a:rPr lang="en-US" altLang="zh-TW" sz="3600" spc="-100" dirty="0" smtClean="0">
                <a:solidFill>
                  <a:srgbClr val="0000FF"/>
                </a:solidFill>
                <a:latin typeface="Arial Narrow" panose="020B0606020202030204" pitchFamily="34" charset="0"/>
                <a:cs typeface="Courier New" pitchFamily="49" charset="0"/>
              </a:rPr>
              <a:t>argu</a:t>
            </a:r>
            <a:r>
              <a:rPr lang="en-US" altLang="zh-TW" sz="3600" spc="-130" dirty="0" smtClean="0">
                <a:solidFill>
                  <a:srgbClr val="0000FF"/>
                </a:solidFill>
                <a:latin typeface="Arial Narrow" panose="020B0606020202030204" pitchFamily="34" charset="0"/>
                <a:cs typeface="Courier New" pitchFamily="49" charset="0"/>
              </a:rPr>
              <a:t>men</a:t>
            </a:r>
            <a:r>
              <a:rPr lang="en-US" altLang="zh-TW" sz="3600" spc="-100" dirty="0" smtClean="0">
                <a:solidFill>
                  <a:srgbClr val="0000FF"/>
                </a:solidFill>
                <a:latin typeface="Arial Narrow" panose="020B0606020202030204" pitchFamily="34" charset="0"/>
                <a:cs typeface="Courier New" pitchFamily="49" charset="0"/>
              </a:rPr>
              <a:t>t</a:t>
            </a:r>
            <a:endParaRPr lang="en-US" altLang="zh-TW" sz="3000" dirty="0">
              <a:solidFill>
                <a:srgbClr val="0000FF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  <a:tabLst>
                <a:tab pos="4630738" algn="l"/>
              </a:tabLst>
            </a:pPr>
            <a:r>
              <a:rPr lang="en-US" altLang="zh-TW" sz="30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itchFamily="49" charset="0"/>
              </a:rPr>
              <a:t>&gt;&gt;&gt;</a:t>
            </a:r>
            <a:endParaRPr lang="en-US" altLang="zh-TW" sz="3500" dirty="0">
              <a:solidFill>
                <a:srgbClr val="FF0000"/>
              </a:solidFill>
              <a:latin typeface="Arial Narrow" panose="020B0606020202030204" pitchFamily="34" charset="0"/>
              <a:cs typeface="Courier New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438941" y="6"/>
            <a:ext cx="10607675" cy="8485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solidFill>
                  <a:srgbClr val="0070C0"/>
                </a:solidFill>
              </a:rPr>
              <a:t>Asterisked </a:t>
            </a:r>
            <a:r>
              <a:rPr lang="en-US" altLang="zh-TW" dirty="0">
                <a:solidFill>
                  <a:srgbClr val="0070C0"/>
                </a:solidFill>
              </a:rPr>
              <a:t>Variable Goes </a:t>
            </a:r>
            <a:r>
              <a:rPr lang="en-US" altLang="zh-TW" dirty="0" smtClean="0">
                <a:solidFill>
                  <a:srgbClr val="0070C0"/>
                </a:solidFill>
              </a:rPr>
              <a:t>at </a:t>
            </a:r>
            <a:r>
              <a:rPr lang="en-US" altLang="zh-TW" dirty="0">
                <a:solidFill>
                  <a:srgbClr val="0070C0"/>
                </a:solidFill>
              </a:rPr>
              <a:t>End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-438941" y="6"/>
            <a:ext cx="10607675" cy="135466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zh-TW" b="1" dirty="0"/>
              <a:t> </a:t>
            </a:r>
            <a:br>
              <a:rPr lang="en-US" altLang="zh-TW" b="1" dirty="0"/>
            </a:br>
            <a:r>
              <a:rPr lang="en-US" altLang="zh-TW" sz="3800" b="1" spc="-160" dirty="0">
                <a:solidFill>
                  <a:srgbClr val="FF0000"/>
                </a:solidFill>
                <a:latin typeface="Agency FB" panose="020B0503020202020204" pitchFamily="34" charset="0"/>
              </a:rPr>
              <a:t>(</a:t>
            </a:r>
            <a:r>
              <a:rPr lang="en-US" altLang="zh-TW" sz="3800" spc="-100" dirty="0">
                <a:solidFill>
                  <a:srgbClr val="FF0000"/>
                </a:solidFill>
              </a:rPr>
              <a:t>u</a:t>
            </a:r>
            <a:r>
              <a:rPr lang="en-US" altLang="zh-TW" sz="3800" spc="-140" dirty="0">
                <a:solidFill>
                  <a:srgbClr val="FF0000"/>
                </a:solidFill>
              </a:rPr>
              <a:t>nl</a:t>
            </a:r>
            <a:r>
              <a:rPr lang="en-US" altLang="zh-TW" sz="3800" spc="-100" dirty="0">
                <a:solidFill>
                  <a:srgbClr val="FF0000"/>
                </a:solidFill>
              </a:rPr>
              <a:t>ess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r</a:t>
            </a:r>
            <a:r>
              <a:rPr lang="en-US" altLang="zh-TW" sz="3800" spc="-150" dirty="0" smtClean="0">
                <a:solidFill>
                  <a:srgbClr val="FF0000"/>
                </a:solidFill>
              </a:rPr>
              <a:t>e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maining</a:t>
            </a:r>
            <a:r>
              <a:rPr lang="en-US" altLang="zh-TW" sz="3600" spc="-100" dirty="0" smtClean="0">
                <a:solidFill>
                  <a:srgbClr val="FF0000"/>
                </a:solidFill>
              </a:rPr>
              <a:t> 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para</a:t>
            </a:r>
            <a:r>
              <a:rPr lang="en-US" altLang="zh-TW" sz="3800" spc="-140" dirty="0" smtClean="0">
                <a:solidFill>
                  <a:srgbClr val="FF0000"/>
                </a:solidFill>
              </a:rPr>
              <a:t>m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et</a:t>
            </a:r>
            <a:r>
              <a:rPr lang="en-US" altLang="zh-TW" sz="3800" spc="-140" dirty="0" smtClean="0">
                <a:solidFill>
                  <a:srgbClr val="FF0000"/>
                </a:solidFill>
              </a:rPr>
              <a:t>e</a:t>
            </a:r>
            <a:r>
              <a:rPr lang="en-US" altLang="zh-TW" sz="3800" spc="-100" dirty="0" smtClean="0">
                <a:solidFill>
                  <a:srgbClr val="FF0000"/>
                </a:solidFill>
              </a:rPr>
              <a:t>rs</a:t>
            </a:r>
            <a:r>
              <a:rPr lang="en-US" altLang="zh-TW" sz="3600" spc="-100" dirty="0" smtClean="0">
                <a:solidFill>
                  <a:srgbClr val="FF0000"/>
                </a:solidFill>
              </a:rPr>
              <a:t> </a:t>
            </a:r>
            <a:r>
              <a:rPr lang="en-US" altLang="zh-TW" sz="3800" spc="-100" dirty="0">
                <a:solidFill>
                  <a:srgbClr val="FF0000"/>
                </a:solidFill>
              </a:rPr>
              <a:t>are</a:t>
            </a:r>
            <a:r>
              <a:rPr lang="en-US" altLang="zh-TW" sz="3600" spc="-100" dirty="0">
                <a:solidFill>
                  <a:srgbClr val="FF0000"/>
                </a:solidFill>
              </a:rPr>
              <a:t> </a:t>
            </a:r>
            <a:r>
              <a:rPr lang="en-US" altLang="zh-TW" sz="3800" spc="-140" dirty="0">
                <a:solidFill>
                  <a:srgbClr val="FF0000"/>
                </a:solidFill>
              </a:rPr>
              <a:t>n</a:t>
            </a:r>
            <a:r>
              <a:rPr lang="en-US" altLang="zh-TW" sz="3800" spc="-100" dirty="0">
                <a:solidFill>
                  <a:srgbClr val="FF0000"/>
                </a:solidFill>
              </a:rPr>
              <a:t>a</a:t>
            </a:r>
            <a:r>
              <a:rPr lang="en-US" altLang="zh-TW" sz="3800" spc="-180" dirty="0">
                <a:solidFill>
                  <a:srgbClr val="FF0000"/>
                </a:solidFill>
              </a:rPr>
              <a:t>m</a:t>
            </a:r>
            <a:r>
              <a:rPr lang="en-US" altLang="zh-TW" sz="3800" spc="-40" dirty="0">
                <a:solidFill>
                  <a:srgbClr val="FF0000"/>
                </a:solidFill>
              </a:rPr>
              <a:t>e</a:t>
            </a:r>
            <a:r>
              <a:rPr lang="en-US" altLang="zh-TW" sz="3800" spc="-150" dirty="0">
                <a:solidFill>
                  <a:srgbClr val="FF0000"/>
                </a:solidFill>
              </a:rPr>
              <a:t>d</a:t>
            </a:r>
            <a:r>
              <a:rPr lang="en-US" altLang="zh-TW" sz="3800" b="1" spc="-100" dirty="0">
                <a:solidFill>
                  <a:srgbClr val="FF0000"/>
                </a:solidFill>
                <a:latin typeface="Agency FB" panose="020B0503020202020204" pitchFamily="34" charset="0"/>
              </a:rPr>
              <a:t>)</a:t>
            </a:r>
            <a:endParaRPr lang="zh-TW" altLang="en-US" sz="3800" b="1" spc="-100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sp>
        <p:nvSpPr>
          <p:cNvPr id="11" name="Rounded Rectangular Callout 10"/>
          <p:cNvSpPr/>
          <p:nvPr/>
        </p:nvSpPr>
        <p:spPr>
          <a:xfrm>
            <a:off x="4663440" y="2168983"/>
            <a:ext cx="4782312" cy="1441584"/>
          </a:xfrm>
          <a:prstGeom prst="wedgeRoundRectCallout">
            <a:avLst>
              <a:gd name="adj1" fmla="val -75106"/>
              <a:gd name="adj2" fmla="val 67746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>
            <a:noAutofit/>
          </a:bodyPr>
          <a:lstStyle/>
          <a:p>
            <a:pPr marL="0" lvl="1" algn="ctr">
              <a:lnSpc>
                <a:spcPct val="75000"/>
              </a:lnSpc>
            </a:pPr>
            <a:r>
              <a:rPr lang="en-US" sz="4000" dirty="0"/>
              <a:t>Any parameter that comes</a:t>
            </a:r>
            <a:r>
              <a:rPr lang="en-US" sz="2800" dirty="0"/>
              <a:t> </a:t>
            </a:r>
            <a:r>
              <a:rPr lang="en-US" sz="4000" dirty="0"/>
              <a:t>after</a:t>
            </a:r>
            <a:r>
              <a:rPr lang="en-US" sz="2800" dirty="0"/>
              <a:t> </a:t>
            </a:r>
            <a:r>
              <a:rPr lang="en-US" sz="4000" dirty="0"/>
              <a:t>the</a:t>
            </a:r>
            <a:r>
              <a:rPr lang="en-US" sz="2800" dirty="0"/>
              <a:t> </a:t>
            </a:r>
            <a:r>
              <a:rPr lang="en-US" sz="4000" dirty="0"/>
              <a:t>*</a:t>
            </a:r>
            <a:r>
              <a:rPr lang="en-US" sz="4000" dirty="0" smtClean="0"/>
              <a:t> </a:t>
            </a:r>
            <a:r>
              <a:rPr lang="en-US" sz="4000" dirty="0"/>
              <a:t>must be named. 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3210339" y="4552122"/>
            <a:ext cx="576470" cy="795131"/>
          </a:xfrm>
          <a:prstGeom prst="straightConnector1">
            <a:avLst/>
          </a:prstGeom>
          <a:ln w="76200">
            <a:solidFill>
              <a:srgbClr val="008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ular Callout 11"/>
          <p:cNvSpPr/>
          <p:nvPr/>
        </p:nvSpPr>
        <p:spPr>
          <a:xfrm>
            <a:off x="4663440" y="3614948"/>
            <a:ext cx="4782312" cy="1412065"/>
          </a:xfrm>
          <a:prstGeom prst="wedgeRoundRectCallout">
            <a:avLst>
              <a:gd name="adj1" fmla="val -79975"/>
              <a:gd name="adj2" fmla="val 11144"/>
              <a:gd name="adj3" fmla="val 16667"/>
            </a:avLst>
          </a:prstGeom>
          <a:solidFill>
            <a:srgbClr val="FD3E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>
            <a:noAutofit/>
          </a:bodyPr>
          <a:lstStyle/>
          <a:p>
            <a:pPr marL="0" lvl="1" algn="ctr">
              <a:lnSpc>
                <a:spcPct val="75000"/>
              </a:lnSpc>
            </a:pPr>
            <a:r>
              <a:rPr lang="en-US" sz="4000" dirty="0">
                <a:solidFill>
                  <a:schemeClr val="bg1"/>
                </a:solidFill>
              </a:rPr>
              <a:t>And</a:t>
            </a:r>
            <a:r>
              <a:rPr lang="en-US" sz="4000" dirty="0"/>
              <a:t>, it </a:t>
            </a:r>
            <a:r>
              <a:rPr lang="en-US" sz="4000" b="1" i="1" dirty="0">
                <a:solidFill>
                  <a:srgbClr val="FFFF00"/>
                </a:solidFill>
              </a:rPr>
              <a:t>must be </a:t>
            </a:r>
            <a:r>
              <a:rPr lang="en-US" sz="4000" b="1" i="1" dirty="0" smtClean="0">
                <a:solidFill>
                  <a:srgbClr val="FFFF00"/>
                </a:solidFill>
              </a:rPr>
              <a:t>at</a:t>
            </a:r>
            <a:br>
              <a:rPr lang="en-US" sz="4000" b="1" i="1" dirty="0" smtClean="0">
                <a:solidFill>
                  <a:srgbClr val="FFFF00"/>
                </a:solidFill>
              </a:rPr>
            </a:br>
            <a:r>
              <a:rPr lang="en-US" sz="4000" b="1" i="1" dirty="0" smtClean="0">
                <a:solidFill>
                  <a:srgbClr val="FFFF00"/>
                </a:solidFill>
              </a:rPr>
              <a:t>the </a:t>
            </a:r>
            <a:r>
              <a:rPr lang="en-US" sz="4000" b="1" i="1" dirty="0">
                <a:solidFill>
                  <a:srgbClr val="FFFF00"/>
                </a:solidFill>
              </a:rPr>
              <a:t>end</a:t>
            </a:r>
            <a:r>
              <a:rPr lang="en-US" sz="4000" dirty="0"/>
              <a:t> of the </a:t>
            </a:r>
            <a:r>
              <a:rPr lang="en-US" sz="4000" dirty="0" smtClean="0"/>
              <a:t>call arguments</a:t>
            </a:r>
            <a:r>
              <a:rPr lang="en-US" sz="4000" dirty="0"/>
              <a:t>.</a:t>
            </a:r>
          </a:p>
        </p:txBody>
      </p:sp>
      <p:sp>
        <p:nvSpPr>
          <p:cNvPr id="14" name="Arc 13"/>
          <p:cNvSpPr/>
          <p:nvPr/>
        </p:nvSpPr>
        <p:spPr>
          <a:xfrm rot="795317" flipH="1">
            <a:off x="2408286" y="4315559"/>
            <a:ext cx="5061959" cy="1266363"/>
          </a:xfrm>
          <a:prstGeom prst="arc">
            <a:avLst>
              <a:gd name="adj1" fmla="val 11082044"/>
              <a:gd name="adj2" fmla="val 61930"/>
            </a:avLst>
          </a:prstGeom>
          <a:ln w="76200">
            <a:solidFill>
              <a:srgbClr val="0000FF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Autofit/>
          </a:bodyPr>
          <a:lstStyle/>
          <a:p>
            <a:pPr algn="ctr"/>
            <a:endParaRPr lang="zh-TW" altLang="en-US"/>
          </a:p>
        </p:txBody>
      </p:sp>
      <p:grpSp>
        <p:nvGrpSpPr>
          <p:cNvPr id="16" name="Group 15"/>
          <p:cNvGrpSpPr/>
          <p:nvPr/>
        </p:nvGrpSpPr>
        <p:grpSpPr>
          <a:xfrm flipH="1">
            <a:off x="7920828" y="185411"/>
            <a:ext cx="2438274" cy="784901"/>
            <a:chOff x="-734800" y="434792"/>
            <a:chExt cx="3125129" cy="784901"/>
          </a:xfrm>
        </p:grpSpPr>
        <p:sp>
          <p:nvSpPr>
            <p:cNvPr id="17" name="Trapezoid 16"/>
            <p:cNvSpPr/>
            <p:nvPr/>
          </p:nvSpPr>
          <p:spPr bwMode="auto">
            <a:xfrm rot="-2700000">
              <a:off x="-734800" y="435836"/>
              <a:ext cx="3125129" cy="783857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en-US" sz="2800" dirty="0">
                <a:latin typeface="Arial" charset="0"/>
                <a:ea typeface="新細明體" charset="-12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 rot="-2700000">
              <a:off x="-514076" y="434792"/>
              <a:ext cx="2717649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Recall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Slide #44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4953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3453" y="688770"/>
            <a:ext cx="9616335" cy="6169231"/>
          </a:xfrm>
        </p:spPr>
        <p:txBody>
          <a:bodyPr/>
          <a:lstStyle/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tx1"/>
                </a:solidFill>
              </a:rPr>
              <a:t>The </a:t>
            </a:r>
            <a:r>
              <a:rPr lang="en-US" altLang="en-US" sz="3200" b="1" dirty="0">
                <a:solidFill>
                  <a:srgbClr val="0000FF"/>
                </a:solidFill>
              </a:rPr>
              <a:t>*x</a:t>
            </a:r>
            <a:r>
              <a:rPr lang="en-US" altLang="en-US" sz="3200" dirty="0">
                <a:solidFill>
                  <a:schemeClr val="tx1"/>
                </a:solidFill>
              </a:rPr>
              <a:t>: </a:t>
            </a:r>
            <a:r>
              <a:rPr lang="en-US" altLang="en-US" sz="3200" dirty="0" smtClean="0">
                <a:solidFill>
                  <a:schemeClr val="tx1"/>
                </a:solidFill>
              </a:rPr>
              <a:t>Only puts </a:t>
            </a:r>
            <a:r>
              <a:rPr lang="en-US" altLang="en-US" sz="3200" u="sng" dirty="0">
                <a:solidFill>
                  <a:schemeClr val="tx1"/>
                </a:solidFill>
              </a:rPr>
              <a:t>positional</a:t>
            </a:r>
            <a:r>
              <a:rPr lang="en-US" altLang="en-US" sz="3200" dirty="0">
                <a:solidFill>
                  <a:schemeClr val="tx1"/>
                </a:solidFill>
              </a:rPr>
              <a:t> arguments into a </a:t>
            </a:r>
            <a:r>
              <a:rPr lang="en-US" altLang="en-US" sz="3200" dirty="0">
                <a:solidFill>
                  <a:schemeClr val="accent6"/>
                </a:solidFill>
              </a:rPr>
              <a:t>tupl</a:t>
            </a:r>
            <a:r>
              <a:rPr lang="en-US" altLang="en-US" sz="3200" spc="-200" dirty="0">
                <a:solidFill>
                  <a:schemeClr val="accent6"/>
                </a:solidFill>
              </a:rPr>
              <a:t>e</a:t>
            </a:r>
            <a:r>
              <a:rPr lang="en-US" altLang="en-US" sz="3200" dirty="0">
                <a:solidFill>
                  <a:schemeClr val="tx1"/>
                </a:solidFill>
              </a:rPr>
              <a:t>.</a:t>
            </a:r>
          </a:p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00B0F0"/>
                </a:solidFill>
              </a:rPr>
              <a:t>The </a:t>
            </a:r>
            <a:r>
              <a:rPr lang="en-US" altLang="en-US" sz="3200" b="1" dirty="0">
                <a:solidFill>
                  <a:srgbClr val="9B2D00"/>
                </a:solidFill>
              </a:rPr>
              <a:t>**x</a:t>
            </a:r>
            <a:r>
              <a:rPr lang="en-US" altLang="en-US" sz="3200" dirty="0">
                <a:solidFill>
                  <a:srgbClr val="00B0F0"/>
                </a:solidFill>
              </a:rPr>
              <a:t>: Collects all </a:t>
            </a:r>
            <a:r>
              <a:rPr lang="en-US" altLang="en-US" sz="3200" u="sng" dirty="0">
                <a:solidFill>
                  <a:srgbClr val="00B0F0"/>
                </a:solidFill>
              </a:rPr>
              <a:t>keyword</a:t>
            </a:r>
            <a:r>
              <a:rPr lang="en-US" altLang="en-US" sz="3200" dirty="0">
                <a:solidFill>
                  <a:srgbClr val="00B0F0"/>
                </a:solidFill>
              </a:rPr>
              <a:t> arguments into a </a:t>
            </a:r>
            <a:r>
              <a:rPr lang="en-US" altLang="en-US" sz="3200" dirty="0" err="1">
                <a:solidFill>
                  <a:srgbClr val="9B2D00"/>
                </a:solidFill>
              </a:rPr>
              <a:t>dict</a:t>
            </a:r>
            <a:r>
              <a:rPr lang="en-US" altLang="en-US" sz="3200" dirty="0">
                <a:solidFill>
                  <a:srgbClr val="00B0F0"/>
                </a:solidFill>
              </a:rPr>
              <a:t>:</a:t>
            </a:r>
          </a:p>
          <a:p>
            <a:pPr marL="95250" indent="0" eaLnBrk="1">
              <a:lnSpc>
                <a:spcPct val="56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f(</a:t>
            </a:r>
            <a:r>
              <a:rPr lang="en-US" altLang="en-US" b="1" dirty="0" smtClean="0">
                <a:solidFill>
                  <a:srgbClr val="0000FF"/>
                </a:solidFill>
                <a:latin typeface="Lucida Console" panose="020B0609040504020204" pitchFamily="49" charset="0"/>
              </a:rPr>
              <a:t>*a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b="1" dirty="0" smtClean="0">
                <a:solidFill>
                  <a:srgbClr val="9B2D00"/>
                </a:solidFill>
                <a:latin typeface="Lucida Console" panose="020B0609040504020204" pitchFamily="49" charset="0"/>
              </a:rPr>
              <a:t>**kw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): print(</a:t>
            </a:r>
            <a:r>
              <a:rPr lang="en-US" altLang="en-US" b="1" dirty="0" err="1" smtClean="0">
                <a:solidFill>
                  <a:srgbClr val="0000FF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dirty="0" err="1" smtClean="0">
                <a:solidFill>
                  <a:srgbClr val="9B2D00"/>
                </a:solidFill>
                <a:latin typeface="Lucida Console" panose="020B0609040504020204" pitchFamily="49" charset="0"/>
              </a:rPr>
              <a:t>kw</a:t>
            </a:r>
            <a:r>
              <a:rPr lang="en-US" altLang="en-US" dirty="0" err="1" smtClean="0">
                <a:solidFill>
                  <a:schemeClr val="tx1"/>
                </a:solidFill>
                <a:latin typeface="Lucida Console" panose="020B0609040504020204" pitchFamily="49" charset="0"/>
              </a:rPr>
              <a:t>,sep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="\n")</a:t>
            </a:r>
            <a:endParaRPr lang="en-US" altLang="en-US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49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 eaLnBrk="1">
              <a:lnSpc>
                <a:spcPct val="45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b="1" dirty="0">
                <a:solidFill>
                  <a:schemeClr val="tx1"/>
                </a:solidFill>
                <a:latin typeface="Lucida Console" panose="020B0609040504020204" pitchFamily="49" charset="0"/>
              </a:rPr>
              <a:t>1, 2, 3, 4, 5, 6, a=2, b=3, c=5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endParaRPr lang="en-US" altLang="en-US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52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b="1" dirty="0">
                <a:solidFill>
                  <a:srgbClr val="0000FF"/>
                </a:solidFill>
                <a:latin typeface="Lucida Console" panose="020B0609040504020204" pitchFamily="49" charset="0"/>
              </a:rPr>
              <a:t>(1, 2, 3, 4, 5, 6</a:t>
            </a:r>
            <a:r>
              <a:rPr lang="en-US" altLang="en-US" b="1" dirty="0" smtClean="0">
                <a:solidFill>
                  <a:srgbClr val="0000FF"/>
                </a:solidFill>
                <a:latin typeface="Lucida Console" panose="020B0609040504020204" pitchFamily="49" charset="0"/>
              </a:rPr>
              <a:t>)</a:t>
            </a:r>
            <a:endParaRPr lang="en-US" altLang="en-US" b="1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52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b="1" dirty="0">
                <a:solidFill>
                  <a:srgbClr val="9B2D00"/>
                </a:solidFill>
                <a:latin typeface="Lucida Console" panose="020B0609040504020204" pitchFamily="49" charset="0"/>
              </a:rPr>
              <a:t>{'a': 2, 'c': 5, 'b': 3</a:t>
            </a:r>
            <a:r>
              <a:rPr lang="en-US" altLang="en-US" b="1" dirty="0" smtClean="0">
                <a:solidFill>
                  <a:srgbClr val="9B2D00"/>
                </a:solidFill>
                <a:latin typeface="Lucida Console" panose="020B0609040504020204" pitchFamily="49" charset="0"/>
              </a:rPr>
              <a:t>}</a:t>
            </a:r>
          </a:p>
          <a:p>
            <a:pPr marL="95250" indent="0" eaLnBrk="1">
              <a:lnSpc>
                <a:spcPct val="52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b="1" dirty="0">
                <a:solidFill>
                  <a:schemeClr val="tx1"/>
                </a:solidFill>
                <a:latin typeface="Lucida Console" panose="020B0609040504020204" pitchFamily="49" charset="0"/>
              </a:rPr>
              <a:t>1, 2, 3, 4, 5, 6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endParaRPr lang="en-US" altLang="en-US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52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b="1" dirty="0">
                <a:solidFill>
                  <a:srgbClr val="0000FF"/>
                </a:solidFill>
                <a:latin typeface="Lucida Console" panose="020B0609040504020204" pitchFamily="49" charset="0"/>
              </a:rPr>
              <a:t>(1, 2, 3, 4, 5, 6)</a:t>
            </a:r>
          </a:p>
          <a:p>
            <a:pPr marL="95250" indent="0" eaLnBrk="1">
              <a:lnSpc>
                <a:spcPct val="45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b="1" dirty="0">
                <a:solidFill>
                  <a:srgbClr val="9B2D00"/>
                </a:solidFill>
                <a:latin typeface="Lucida Console" panose="020B0609040504020204" pitchFamily="49" charset="0"/>
              </a:rPr>
              <a:t>{}</a:t>
            </a:r>
          </a:p>
          <a:p>
            <a:pPr marL="95250" indent="0" eaLnBrk="1">
              <a:lnSpc>
                <a:spcPct val="49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b="1" dirty="0">
                <a:solidFill>
                  <a:schemeClr val="tx1"/>
                </a:solidFill>
                <a:latin typeface="Lucida Console" panose="020B0609040504020204" pitchFamily="49" charset="0"/>
              </a:rPr>
              <a:t>a=2, b=3, c=5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endParaRPr lang="en-US" altLang="en-US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44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b="1" dirty="0">
                <a:solidFill>
                  <a:srgbClr val="0000FF"/>
                </a:solidFill>
                <a:latin typeface="Lucida Console" panose="020B0609040504020204" pitchFamily="49" charset="0"/>
              </a:rPr>
              <a:t>()</a:t>
            </a:r>
          </a:p>
          <a:p>
            <a:pPr marL="95250" indent="0" eaLnBrk="1">
              <a:lnSpc>
                <a:spcPct val="49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b="1" dirty="0">
                <a:solidFill>
                  <a:srgbClr val="9B2D00"/>
                </a:solidFill>
                <a:latin typeface="Lucida Console" panose="020B0609040504020204" pitchFamily="49" charset="0"/>
              </a:rPr>
              <a:t>{'a': 2, 'b': 3, 'c': 5}</a:t>
            </a:r>
          </a:p>
          <a:p>
            <a:pPr marL="95250" indent="0" eaLnBrk="1">
              <a:lnSpc>
                <a:spcPct val="49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b="1" dirty="0">
                <a:solidFill>
                  <a:srgbClr val="9B2D00"/>
                </a:solidFill>
                <a:latin typeface="Lucida Console" panose="020B0609040504020204" pitchFamily="49" charset="0"/>
              </a:rPr>
              <a:t>a=2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b="1" dirty="0">
                <a:solidFill>
                  <a:srgbClr val="0000FF"/>
                </a:solidFill>
                <a:latin typeface="Lucida Console" panose="020B0609040504020204" pitchFamily="49" charset="0"/>
              </a:rPr>
              <a:t>1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b="1" dirty="0">
                <a:solidFill>
                  <a:srgbClr val="0000FF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dirty="0">
                <a:solidFill>
                  <a:schemeClr val="accent6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dirty="0" smtClean="0">
                <a:solidFill>
                  <a:srgbClr val="9B2D00"/>
                </a:solidFill>
                <a:latin typeface="Lucida Console" panose="020B0609040504020204" pitchFamily="49" charset="0"/>
              </a:rPr>
              <a:t>b=3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b="1" dirty="0">
                <a:solidFill>
                  <a:srgbClr val="0000FF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dirty="0">
                <a:solidFill>
                  <a:schemeClr val="accent6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dirty="0">
                <a:solidFill>
                  <a:srgbClr val="0000FF"/>
                </a:solidFill>
                <a:latin typeface="Lucida Console" panose="020B0609040504020204" pitchFamily="49" charset="0"/>
              </a:rPr>
              <a:t>4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dirty="0">
                <a:solidFill>
                  <a:schemeClr val="accent6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dirty="0" smtClean="0">
                <a:solidFill>
                  <a:srgbClr val="9B2D00"/>
                </a:solidFill>
                <a:latin typeface="Lucida Console" panose="020B0609040504020204" pitchFamily="49" charset="0"/>
              </a:rPr>
              <a:t>c=5</a:t>
            </a:r>
            <a:r>
              <a:rPr lang="en-US" altLang="en-US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b="1" dirty="0" smtClean="0">
                <a:solidFill>
                  <a:srgbClr val="0000FF"/>
                </a:solidFill>
                <a:latin typeface="Lucida Console" panose="020B0609040504020204" pitchFamily="49" charset="0"/>
              </a:rPr>
              <a:t>5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b="1" dirty="0">
                <a:solidFill>
                  <a:srgbClr val="0000FF"/>
                </a:solidFill>
                <a:latin typeface="Lucida Console" panose="020B0609040504020204" pitchFamily="49" charset="0"/>
              </a:rPr>
              <a:t>6</a:t>
            </a:r>
            <a:r>
              <a:rPr lang="en-US" altLang="en-US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endParaRPr lang="en-US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49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spc="-100" dirty="0">
                <a:solidFill>
                  <a:srgbClr val="00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  </a:t>
            </a:r>
            <a:r>
              <a:rPr lang="en-US" altLang="en-US" sz="2400" spc="-100" dirty="0">
                <a:solidFill>
                  <a:srgbClr val="FFCCCC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File "&lt;</a:t>
            </a:r>
            <a:r>
              <a:rPr lang="en-US" altLang="en-US" sz="2400" spc="-100" dirty="0" err="1">
                <a:solidFill>
                  <a:srgbClr val="FFCCCC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stdin</a:t>
            </a:r>
            <a:r>
              <a:rPr lang="en-US" altLang="en-US" sz="2400" spc="-100" dirty="0">
                <a:solidFill>
                  <a:srgbClr val="FFCCCC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&gt;", line 1</a:t>
            </a:r>
          </a:p>
          <a:p>
            <a:pPr marL="95250" indent="0" eaLnBrk="1">
              <a:lnSpc>
                <a:spcPct val="46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400" spc="-160" dirty="0" err="1">
                <a:solidFill>
                  <a:srgbClr val="FFCCCC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SyntaxError</a:t>
            </a:r>
            <a:r>
              <a:rPr lang="en-US" altLang="en-US" sz="2400" spc="-160" dirty="0">
                <a:solidFill>
                  <a:srgbClr val="FFCCCC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:</a:t>
            </a:r>
            <a:r>
              <a:rPr lang="en-US" altLang="en-US" sz="1000" spc="-160" dirty="0">
                <a:solidFill>
                  <a:srgbClr val="00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 </a:t>
            </a:r>
            <a:r>
              <a:rPr lang="en-US" altLang="en-US" sz="2400" spc="-8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po</a:t>
            </a:r>
            <a:r>
              <a:rPr lang="en-US" altLang="en-US" sz="2400" spc="-16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siti</a:t>
            </a:r>
            <a:r>
              <a:rPr lang="en-US" altLang="en-US" sz="2400" spc="-8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on</a:t>
            </a:r>
            <a:r>
              <a:rPr lang="en-US" altLang="en-US" sz="2400" spc="-30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a</a:t>
            </a:r>
            <a:r>
              <a:rPr lang="en-US" altLang="en-US" sz="2400" spc="-16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l</a:t>
            </a:r>
            <a:r>
              <a:rPr lang="en-US" altLang="en-US" sz="1800" spc="-16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 </a:t>
            </a:r>
            <a:r>
              <a:rPr lang="en-US" altLang="en-US" sz="2400" spc="-16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a</a:t>
            </a:r>
            <a:r>
              <a:rPr lang="en-US" altLang="en-US" sz="2400" spc="-12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r</a:t>
            </a:r>
            <a:r>
              <a:rPr lang="en-US" altLang="en-US" sz="2400" spc="-8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gum</a:t>
            </a:r>
            <a:r>
              <a:rPr lang="en-US" altLang="en-US" sz="2400" spc="-16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ent</a:t>
            </a:r>
            <a:r>
              <a:rPr lang="en-US" altLang="en-US" sz="1800" spc="-16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 </a:t>
            </a:r>
            <a:r>
              <a:rPr lang="en-US" altLang="en-US" sz="2400" spc="-16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f</a:t>
            </a:r>
            <a:r>
              <a:rPr lang="en-US" altLang="en-US" sz="2400" spc="-30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oll</a:t>
            </a:r>
            <a:r>
              <a:rPr lang="en-US" altLang="en-US" sz="2400" spc="-12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ow</a:t>
            </a:r>
            <a:r>
              <a:rPr lang="en-US" altLang="en-US" sz="2400" spc="-16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s</a:t>
            </a:r>
            <a:r>
              <a:rPr lang="en-US" altLang="en-US" sz="1800" spc="-16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 </a:t>
            </a:r>
            <a:r>
              <a:rPr lang="en-US" altLang="en-US" sz="2400" spc="-16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key</a:t>
            </a:r>
            <a:r>
              <a:rPr lang="en-US" altLang="en-US" sz="2400" spc="-8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w</a:t>
            </a:r>
            <a:r>
              <a:rPr lang="en-US" altLang="en-US" sz="2400" spc="-25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o</a:t>
            </a:r>
            <a:r>
              <a:rPr lang="en-US" altLang="en-US" sz="2400" spc="-16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rd</a:t>
            </a:r>
            <a:r>
              <a:rPr lang="en-US" altLang="en-US" sz="1800" spc="-16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 </a:t>
            </a:r>
            <a:r>
              <a:rPr lang="en-US" altLang="en-US" sz="2400" spc="-160" dirty="0">
                <a:solidFill>
                  <a:srgbClr val="FF0000"/>
                </a:solidFill>
                <a:latin typeface="Lucida Console" panose="020B0609040504020204" pitchFamily="49" charset="0"/>
                <a:ea typeface="Ebrima" panose="02000000000000000000" pitchFamily="2" charset="0"/>
                <a:cs typeface="Ebrima" panose="02000000000000000000" pitchFamily="2" charset="0"/>
              </a:rPr>
              <a:t>argument</a:t>
            </a:r>
          </a:p>
          <a:p>
            <a:pPr marL="95250" indent="0" eaLnBrk="1">
              <a:lnSpc>
                <a:spcPct val="43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292894" y="0"/>
            <a:ext cx="9144000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 Parameters: </a:t>
            </a:r>
            <a:r>
              <a:rPr lang="en-US" altLang="zh-TW" sz="4400" b="1" kern="0" dirty="0">
                <a:solidFill>
                  <a:srgbClr val="0000FF"/>
                </a:solidFill>
                <a:latin typeface="Cooper Black" panose="0208090404030B020404" pitchFamily="18" charset="0"/>
              </a:rPr>
              <a:t>*</a:t>
            </a:r>
            <a:r>
              <a:rPr lang="en-US" altLang="zh-TW" sz="4400" kern="0" dirty="0">
                <a:solidFill>
                  <a:srgbClr val="0000FF"/>
                </a:solidFill>
                <a:latin typeface="Elephant" panose="02020904090505020303" pitchFamily="18" charset="0"/>
              </a:rPr>
              <a:t>x</a:t>
            </a:r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 &amp; </a:t>
            </a:r>
            <a:r>
              <a:rPr lang="en-US" altLang="zh-TW" sz="4400" b="1" kern="0" dirty="0">
                <a:solidFill>
                  <a:srgbClr val="9B2D00"/>
                </a:solidFill>
                <a:latin typeface="Cooper Black" panose="0208090404030B020404" pitchFamily="18" charset="0"/>
              </a:rPr>
              <a:t>**</a:t>
            </a:r>
            <a:r>
              <a:rPr lang="en-US" altLang="zh-TW" sz="4400" kern="0" dirty="0">
                <a:solidFill>
                  <a:srgbClr val="9B2D00"/>
                </a:solidFill>
                <a:latin typeface="Elephant" panose="02020904090505020303" pitchFamily="18" charset="0"/>
              </a:rPr>
              <a:t>x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13454" y="688770"/>
            <a:ext cx="1012820" cy="6169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eaLnBrk="1">
              <a:lnSpc>
                <a:spcPct val="93000"/>
              </a:lnSpc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kern="0" dirty="0" smtClean="0">
              <a:solidFill>
                <a:schemeClr val="tx1"/>
              </a:solidFill>
            </a:endParaRPr>
          </a:p>
          <a:p>
            <a:pPr marL="95250" indent="0" eaLnBrk="1">
              <a:lnSpc>
                <a:spcPct val="93000"/>
              </a:lnSpc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kern="0" dirty="0" smtClean="0">
              <a:solidFill>
                <a:srgbClr val="00B0F0"/>
              </a:solidFill>
            </a:endParaRPr>
          </a:p>
          <a:p>
            <a:pPr marL="95250" indent="0" eaLnBrk="1">
              <a:lnSpc>
                <a:spcPct val="56000"/>
              </a:lnSpc>
              <a:spcBef>
                <a:spcPts val="120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kern="0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49000"/>
              </a:lnSpc>
              <a:spcBef>
                <a:spcPts val="120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kern="0" dirty="0" smtClean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45000"/>
              </a:lnSpc>
              <a:spcBef>
                <a:spcPts val="120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kern="0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52000"/>
              </a:lnSpc>
              <a:spcBef>
                <a:spcPts val="120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b="1" kern="0" dirty="0" smtClean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52000"/>
              </a:lnSpc>
              <a:spcBef>
                <a:spcPts val="120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b="1" kern="0" dirty="0" smtClean="0">
              <a:solidFill>
                <a:srgbClr val="86000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52000"/>
              </a:lnSpc>
              <a:spcBef>
                <a:spcPts val="120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kern="0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52000"/>
              </a:lnSpc>
              <a:spcBef>
                <a:spcPts val="120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b="1" kern="0" dirty="0" smtClean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45000"/>
              </a:lnSpc>
              <a:spcBef>
                <a:spcPts val="120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b="1" kern="0" dirty="0" smtClean="0">
              <a:solidFill>
                <a:srgbClr val="86000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49000"/>
              </a:lnSpc>
              <a:spcBef>
                <a:spcPts val="120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kern="0" dirty="0" smtClean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44000"/>
              </a:lnSpc>
              <a:spcBef>
                <a:spcPts val="120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b="1" kern="0" dirty="0" smtClean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49000"/>
              </a:lnSpc>
              <a:spcBef>
                <a:spcPts val="120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b="1" kern="0" dirty="0" smtClean="0">
              <a:solidFill>
                <a:srgbClr val="86000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49000"/>
              </a:lnSpc>
              <a:spcBef>
                <a:spcPts val="120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kern="0" dirty="0" smtClean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49000"/>
              </a:lnSpc>
              <a:spcBef>
                <a:spcPts val="120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400" kern="0" spc="-100" dirty="0" smtClean="0">
              <a:solidFill>
                <a:srgbClr val="FFCCCC"/>
              </a:solidFill>
              <a:latin typeface="Lucida Console" panose="020B0609040504020204" pitchFamily="49" charset="0"/>
              <a:ea typeface="Ebrima" panose="02000000000000000000" pitchFamily="2" charset="0"/>
              <a:cs typeface="Ebrima" panose="02000000000000000000" pitchFamily="2" charset="0"/>
            </a:endParaRPr>
          </a:p>
          <a:p>
            <a:pPr marL="95250" indent="0" eaLnBrk="1">
              <a:lnSpc>
                <a:spcPct val="46000"/>
              </a:lnSpc>
              <a:spcBef>
                <a:spcPts val="120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400" kern="0" spc="-160" dirty="0" smtClean="0">
              <a:solidFill>
                <a:srgbClr val="FF0000"/>
              </a:solidFill>
              <a:latin typeface="Lucida Console" panose="020B0609040504020204" pitchFamily="49" charset="0"/>
              <a:ea typeface="Ebrima" panose="02000000000000000000" pitchFamily="2" charset="0"/>
              <a:cs typeface="Ebrima" panose="02000000000000000000" pitchFamily="2" charset="0"/>
            </a:endParaRPr>
          </a:p>
          <a:p>
            <a:pPr marL="95250" indent="0" eaLnBrk="1">
              <a:lnSpc>
                <a:spcPct val="43000"/>
              </a:lnSpc>
              <a:spcBef>
                <a:spcPts val="120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6630124" y="3429000"/>
            <a:ext cx="2837261" cy="1417982"/>
          </a:xfrm>
          <a:prstGeom prst="wedgeRoundRectCallout">
            <a:avLst>
              <a:gd name="adj1" fmla="val -71925"/>
              <a:gd name="adj2" fmla="val 154089"/>
              <a:gd name="adj3" fmla="val 16667"/>
            </a:avLst>
          </a:prstGeom>
          <a:solidFill>
            <a:srgbClr val="99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600" dirty="0">
                <a:latin typeface="Times New Roman" charset="0"/>
              </a:rPr>
              <a:t>Why did this error happen?</a:t>
            </a:r>
            <a:endParaRPr lang="zh-TW" altLang="en-US" sz="3600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734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xit" presetSubtype="0" ac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3453" y="688770"/>
            <a:ext cx="9616335" cy="6169231"/>
          </a:xfrm>
        </p:spPr>
        <p:txBody>
          <a:bodyPr/>
          <a:lstStyle/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tx1"/>
                </a:solidFill>
              </a:rPr>
              <a:t>The </a:t>
            </a:r>
            <a:r>
              <a:rPr lang="en-US" altLang="en-US" sz="3200" b="1" dirty="0">
                <a:solidFill>
                  <a:srgbClr val="0000FF"/>
                </a:solidFill>
              </a:rPr>
              <a:t>*x</a:t>
            </a:r>
            <a:r>
              <a:rPr lang="en-US" altLang="en-US" sz="3200" dirty="0">
                <a:solidFill>
                  <a:schemeClr val="tx1"/>
                </a:solidFill>
              </a:rPr>
              <a:t>: Only puts </a:t>
            </a:r>
            <a:r>
              <a:rPr lang="en-US" altLang="en-US" sz="3200" u="sng" dirty="0">
                <a:solidFill>
                  <a:schemeClr val="tx1"/>
                </a:solidFill>
              </a:rPr>
              <a:t>positional</a:t>
            </a:r>
            <a:r>
              <a:rPr lang="en-US" altLang="en-US" sz="3200" dirty="0">
                <a:solidFill>
                  <a:schemeClr val="tx1"/>
                </a:solidFill>
              </a:rPr>
              <a:t> arguments into a </a:t>
            </a:r>
            <a:r>
              <a:rPr lang="en-US" altLang="en-US" sz="3200" dirty="0">
                <a:solidFill>
                  <a:schemeClr val="accent6"/>
                </a:solidFill>
              </a:rPr>
              <a:t>tupl</a:t>
            </a:r>
            <a:r>
              <a:rPr lang="en-US" altLang="en-US" sz="3200" spc="-200" dirty="0">
                <a:solidFill>
                  <a:schemeClr val="accent6"/>
                </a:solidFill>
              </a:rPr>
              <a:t>e</a:t>
            </a:r>
            <a:r>
              <a:rPr lang="en-US" altLang="en-US" sz="3200" dirty="0" smtClean="0">
                <a:solidFill>
                  <a:schemeClr val="tx1"/>
                </a:solidFill>
              </a:rPr>
              <a:t>.</a:t>
            </a:r>
            <a:endParaRPr lang="en-US" altLang="en-US" sz="3200" dirty="0">
              <a:solidFill>
                <a:schemeClr val="tx1"/>
              </a:solidFill>
            </a:endParaRPr>
          </a:p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tx1"/>
                </a:solidFill>
              </a:rPr>
              <a:t>The</a:t>
            </a:r>
            <a:r>
              <a:rPr lang="en-US" altLang="en-US" sz="3200" dirty="0">
                <a:solidFill>
                  <a:srgbClr val="00B0F0"/>
                </a:solidFill>
              </a:rPr>
              <a:t> </a:t>
            </a:r>
            <a:r>
              <a:rPr lang="en-US" altLang="en-US" sz="3200" b="1" dirty="0">
                <a:solidFill>
                  <a:srgbClr val="9B2D00"/>
                </a:solidFill>
              </a:rPr>
              <a:t>**x</a:t>
            </a:r>
            <a:r>
              <a:rPr lang="en-US" altLang="en-US" sz="3200" dirty="0">
                <a:solidFill>
                  <a:schemeClr val="tx1"/>
                </a:solidFill>
              </a:rPr>
              <a:t>: Collects all </a:t>
            </a:r>
            <a:r>
              <a:rPr lang="en-US" altLang="en-US" sz="3200" u="sng" dirty="0">
                <a:solidFill>
                  <a:schemeClr val="tx1"/>
                </a:solidFill>
              </a:rPr>
              <a:t>keyword</a:t>
            </a:r>
            <a:r>
              <a:rPr lang="en-US" altLang="en-US" sz="3200" dirty="0">
                <a:solidFill>
                  <a:schemeClr val="tx1"/>
                </a:solidFill>
              </a:rPr>
              <a:t> arguments into a </a:t>
            </a:r>
            <a:r>
              <a:rPr lang="en-US" altLang="en-US" sz="3200" dirty="0">
                <a:solidFill>
                  <a:srgbClr val="9B2D00"/>
                </a:solidFill>
              </a:rPr>
              <a:t>dict</a:t>
            </a:r>
            <a:r>
              <a:rPr lang="en-US" altLang="en-US" sz="3200" dirty="0" smtClean="0">
                <a:solidFill>
                  <a:schemeClr val="tx1"/>
                </a:solidFill>
              </a:rPr>
              <a:t>.</a:t>
            </a:r>
            <a:endParaRPr lang="en-US" altLang="en-US" sz="3200" dirty="0">
              <a:solidFill>
                <a:schemeClr val="tx1"/>
              </a:solidFill>
            </a:endParaRPr>
          </a:p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000" dirty="0">
              <a:solidFill>
                <a:schemeClr val="tx1"/>
              </a:solidFill>
            </a:endParaRPr>
          </a:p>
          <a:p>
            <a:pPr marL="95250" indent="0" eaLnBrk="1">
              <a:lnSpc>
                <a:spcPct val="93000"/>
              </a:lnSpc>
              <a:spcAft>
                <a:spcPts val="1200"/>
              </a:spcAft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FF0000"/>
                </a:solidFill>
              </a:rPr>
              <a:t>But the </a:t>
            </a:r>
            <a:r>
              <a:rPr lang="en-US" altLang="en-US" sz="3200" b="1" dirty="0">
                <a:solidFill>
                  <a:srgbClr val="0000FF"/>
                </a:solidFill>
              </a:rPr>
              <a:t>*</a:t>
            </a:r>
            <a:r>
              <a:rPr lang="en-US" altLang="en-US" sz="3200" dirty="0">
                <a:solidFill>
                  <a:srgbClr val="0000FF"/>
                </a:solidFill>
              </a:rPr>
              <a:t> </a:t>
            </a:r>
            <a:r>
              <a:rPr lang="en-US" altLang="en-US" sz="3200" dirty="0">
                <a:solidFill>
                  <a:srgbClr val="FF0000"/>
                </a:solidFill>
              </a:rPr>
              <a:t>and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200" b="1" dirty="0">
                <a:solidFill>
                  <a:srgbClr val="9B2D00"/>
                </a:solidFill>
              </a:rPr>
              <a:t>**</a:t>
            </a:r>
            <a:r>
              <a:rPr lang="en-US" altLang="en-US" sz="3200" dirty="0">
                <a:solidFill>
                  <a:schemeClr val="tx1"/>
                </a:solidFill>
              </a:rPr>
              <a:t> </a:t>
            </a:r>
            <a:r>
              <a:rPr lang="en-US" altLang="en-US" sz="3200" dirty="0">
                <a:solidFill>
                  <a:srgbClr val="FF0000"/>
                </a:solidFill>
              </a:rPr>
              <a:t>run into trouble when you forward your arguments onward to your own </a:t>
            </a:r>
            <a:r>
              <a:rPr lang="en-US" altLang="en-US" sz="3200" dirty="0" err="1" smtClean="0">
                <a:solidFill>
                  <a:srgbClr val="FF0000"/>
                </a:solidFill>
              </a:rPr>
              <a:t>callee</a:t>
            </a:r>
            <a:r>
              <a:rPr lang="en-US" altLang="en-US" sz="3200" dirty="0" smtClean="0">
                <a:solidFill>
                  <a:srgbClr val="FF0000"/>
                </a:solidFill>
              </a:rPr>
              <a:t>...</a:t>
            </a:r>
            <a:endParaRPr lang="en-US" altLang="en-US" sz="3200" dirty="0">
              <a:solidFill>
                <a:srgbClr val="FF0000"/>
              </a:solidFill>
            </a:endParaRPr>
          </a:p>
          <a:p>
            <a:pPr marL="95250" indent="0" eaLnBrk="1"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>
              <a:solidFill>
                <a:srgbClr val="000000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292894" y="0"/>
            <a:ext cx="9144000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 Parameters: </a:t>
            </a:r>
            <a:r>
              <a:rPr lang="en-US" altLang="zh-TW" sz="4400" b="1" kern="0" dirty="0">
                <a:solidFill>
                  <a:srgbClr val="0000FF"/>
                </a:solidFill>
                <a:latin typeface="Cooper Black" panose="0208090404030B020404" pitchFamily="18" charset="0"/>
              </a:rPr>
              <a:t>*</a:t>
            </a:r>
            <a:r>
              <a:rPr lang="en-US" altLang="zh-TW" sz="4400" kern="0" dirty="0">
                <a:solidFill>
                  <a:srgbClr val="0000FF"/>
                </a:solidFill>
                <a:latin typeface="Elephant" panose="02020904090505020303" pitchFamily="18" charset="0"/>
              </a:rPr>
              <a:t>x</a:t>
            </a:r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 &amp; </a:t>
            </a:r>
            <a:r>
              <a:rPr lang="en-US" altLang="zh-TW" sz="4400" b="1" kern="0" dirty="0">
                <a:solidFill>
                  <a:srgbClr val="9B2D00"/>
                </a:solidFill>
                <a:latin typeface="Cooper Black" panose="0208090404030B020404" pitchFamily="18" charset="0"/>
              </a:rPr>
              <a:t>**</a:t>
            </a:r>
            <a:r>
              <a:rPr lang="en-US" altLang="zh-TW" sz="4400" kern="0" dirty="0">
                <a:solidFill>
                  <a:srgbClr val="9B2D00"/>
                </a:solidFill>
                <a:latin typeface="Elephant" panose="02020904090505020303" pitchFamily="18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260114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3453" y="688770"/>
            <a:ext cx="9616335" cy="6169231"/>
          </a:xfrm>
        </p:spPr>
        <p:txBody>
          <a:bodyPr/>
          <a:lstStyle/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tx1"/>
                </a:solidFill>
              </a:rPr>
              <a:t>The </a:t>
            </a:r>
            <a:r>
              <a:rPr lang="en-US" altLang="en-US" sz="3200" b="1" dirty="0">
                <a:solidFill>
                  <a:srgbClr val="0000FF"/>
                </a:solidFill>
              </a:rPr>
              <a:t>*x</a:t>
            </a:r>
            <a:r>
              <a:rPr lang="en-US" altLang="en-US" sz="3200" dirty="0">
                <a:solidFill>
                  <a:schemeClr val="tx1"/>
                </a:solidFill>
              </a:rPr>
              <a:t>: Only puts </a:t>
            </a:r>
            <a:r>
              <a:rPr lang="en-US" altLang="en-US" sz="3200" u="sng" dirty="0">
                <a:solidFill>
                  <a:schemeClr val="tx1"/>
                </a:solidFill>
              </a:rPr>
              <a:t>positional</a:t>
            </a:r>
            <a:r>
              <a:rPr lang="en-US" altLang="en-US" sz="3200" dirty="0">
                <a:solidFill>
                  <a:schemeClr val="tx1"/>
                </a:solidFill>
              </a:rPr>
              <a:t> arguments into a </a:t>
            </a:r>
            <a:r>
              <a:rPr lang="en-US" altLang="en-US" sz="3200" dirty="0">
                <a:solidFill>
                  <a:schemeClr val="accent6"/>
                </a:solidFill>
              </a:rPr>
              <a:t>tupl</a:t>
            </a:r>
            <a:r>
              <a:rPr lang="en-US" altLang="en-US" sz="3200" spc="-200" dirty="0">
                <a:solidFill>
                  <a:schemeClr val="accent6"/>
                </a:solidFill>
              </a:rPr>
              <a:t>e</a:t>
            </a:r>
            <a:r>
              <a:rPr lang="en-US" altLang="en-US" sz="3200" dirty="0" smtClean="0">
                <a:solidFill>
                  <a:schemeClr val="tx1"/>
                </a:solidFill>
              </a:rPr>
              <a:t>.</a:t>
            </a:r>
            <a:endParaRPr lang="en-US" altLang="en-US" sz="3200" dirty="0">
              <a:solidFill>
                <a:schemeClr val="tx1"/>
              </a:solidFill>
            </a:endParaRPr>
          </a:p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tx1"/>
                </a:solidFill>
              </a:rPr>
              <a:t>The</a:t>
            </a:r>
            <a:r>
              <a:rPr lang="en-US" altLang="en-US" sz="3200" dirty="0">
                <a:solidFill>
                  <a:srgbClr val="00B0F0"/>
                </a:solidFill>
              </a:rPr>
              <a:t> </a:t>
            </a:r>
            <a:r>
              <a:rPr lang="en-US" altLang="en-US" sz="3200" b="1" dirty="0">
                <a:solidFill>
                  <a:srgbClr val="9B2D00"/>
                </a:solidFill>
              </a:rPr>
              <a:t>**x</a:t>
            </a:r>
            <a:r>
              <a:rPr lang="en-US" altLang="en-US" sz="3200" dirty="0">
                <a:solidFill>
                  <a:schemeClr val="tx1"/>
                </a:solidFill>
              </a:rPr>
              <a:t>: Collects all </a:t>
            </a:r>
            <a:r>
              <a:rPr lang="en-US" altLang="en-US" sz="3200" u="sng" dirty="0">
                <a:solidFill>
                  <a:schemeClr val="tx1"/>
                </a:solidFill>
              </a:rPr>
              <a:t>keyword</a:t>
            </a:r>
            <a:r>
              <a:rPr lang="en-US" altLang="en-US" sz="3200" dirty="0">
                <a:solidFill>
                  <a:schemeClr val="tx1"/>
                </a:solidFill>
              </a:rPr>
              <a:t> arguments into a </a:t>
            </a:r>
            <a:r>
              <a:rPr lang="en-US" altLang="en-US" sz="3200" dirty="0">
                <a:solidFill>
                  <a:srgbClr val="9B2D00"/>
                </a:solidFill>
              </a:rPr>
              <a:t>dict</a:t>
            </a:r>
            <a:r>
              <a:rPr lang="en-US" altLang="en-US" sz="3200" dirty="0" smtClean="0">
                <a:solidFill>
                  <a:schemeClr val="tx1"/>
                </a:solidFill>
              </a:rPr>
              <a:t>.</a:t>
            </a:r>
            <a:endParaRPr lang="en-US" altLang="en-US" sz="3200" dirty="0">
              <a:solidFill>
                <a:schemeClr val="tx1"/>
              </a:solidFill>
            </a:endParaRPr>
          </a:p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000" dirty="0">
              <a:solidFill>
                <a:schemeClr val="tx1"/>
              </a:solidFill>
            </a:endParaRPr>
          </a:p>
          <a:p>
            <a:pPr marL="95250" indent="0" eaLnBrk="1">
              <a:lnSpc>
                <a:spcPct val="93000"/>
              </a:lnSpc>
              <a:spcAft>
                <a:spcPts val="1200"/>
              </a:spcAft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tx1"/>
                </a:solidFill>
              </a:rPr>
              <a:t>But the</a:t>
            </a:r>
            <a:r>
              <a:rPr lang="en-US" altLang="en-US" sz="3200" dirty="0">
                <a:solidFill>
                  <a:srgbClr val="FF0000"/>
                </a:solidFill>
              </a:rPr>
              <a:t> </a:t>
            </a:r>
            <a:r>
              <a:rPr lang="en-US" altLang="en-US" sz="3200" b="1" dirty="0">
                <a:solidFill>
                  <a:srgbClr val="0000FF"/>
                </a:solidFill>
              </a:rPr>
              <a:t>*</a:t>
            </a:r>
            <a:r>
              <a:rPr lang="en-US" altLang="en-US" sz="3200" dirty="0">
                <a:solidFill>
                  <a:srgbClr val="0000FF"/>
                </a:solidFill>
              </a:rPr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and </a:t>
            </a:r>
            <a:r>
              <a:rPr lang="en-US" altLang="en-US" sz="3200" b="1" dirty="0">
                <a:solidFill>
                  <a:srgbClr val="9B2D00"/>
                </a:solidFill>
              </a:rPr>
              <a:t>**</a:t>
            </a:r>
            <a:r>
              <a:rPr lang="en-US" altLang="en-US" sz="3200" dirty="0">
                <a:solidFill>
                  <a:schemeClr val="tx1"/>
                </a:solidFill>
              </a:rPr>
              <a:t> run into trouble when you forward your arguments onward to your own </a:t>
            </a:r>
            <a:r>
              <a:rPr lang="en-US" altLang="en-US" sz="3200" dirty="0" err="1">
                <a:solidFill>
                  <a:schemeClr val="tx1"/>
                </a:solidFill>
              </a:rPr>
              <a:t>callee</a:t>
            </a:r>
            <a:r>
              <a:rPr lang="en-US" altLang="en-US" sz="3200" dirty="0">
                <a:solidFill>
                  <a:schemeClr val="tx1"/>
                </a:solidFill>
              </a:rPr>
              <a:t>:</a:t>
            </a:r>
          </a:p>
          <a:p>
            <a:pPr marL="95250" indent="0" eaLnBrk="1"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dirty="0">
                <a:solidFill>
                  <a:srgbClr val="FF0000"/>
                </a:solidFill>
                <a:latin typeface="Lucida Console" panose="020B0609040504020204" pitchFamily="49" charset="0"/>
              </a:rPr>
              <a:t>g(</a:t>
            </a:r>
            <a:r>
              <a:rPr lang="en-US" altLang="en-US" b="1" dirty="0">
                <a:solidFill>
                  <a:schemeClr val="accent6"/>
                </a:solidFill>
                <a:latin typeface="Lucida Console" panose="020B0609040504020204" pitchFamily="49" charset="0"/>
              </a:rPr>
              <a:t>*x</a:t>
            </a:r>
            <a:r>
              <a:rPr lang="en-US" altLang="en-US" b="1" dirty="0">
                <a:solidFill>
                  <a:srgbClr val="FF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  <a:r>
              <a:rPr lang="en-US" altLang="en-US" dirty="0">
                <a:solidFill>
                  <a:srgbClr val="FF99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dirty="0">
                <a:solidFill>
                  <a:srgbClr val="FF9900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b="1" dirty="0">
                <a:solidFill>
                  <a:schemeClr val="accent6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b="1" dirty="0">
                <a:solidFill>
                  <a:srgbClr val="FF99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# </a:t>
            </a:r>
            <a:r>
              <a:rPr lang="en-US" altLang="en-US" dirty="0">
                <a:solidFill>
                  <a:srgbClr val="FF0000"/>
                </a:solidFill>
              </a:rPr>
              <a:t>g() forwards its arguments to f()</a:t>
            </a:r>
            <a:endParaRPr lang="en-US" altLang="en-US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9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 eaLnBrk="1"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dirty="0">
                <a:solidFill>
                  <a:srgbClr val="FF9900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b="1" dirty="0">
                <a:solidFill>
                  <a:schemeClr val="accent6"/>
                </a:solidFill>
                <a:latin typeface="Lucida Console" panose="020B0609040504020204" pitchFamily="49" charset="0"/>
              </a:rPr>
              <a:t>*x</a:t>
            </a:r>
            <a:r>
              <a:rPr lang="en-US" altLang="en-US" b="1" dirty="0">
                <a:solidFill>
                  <a:srgbClr val="FF99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</a:rPr>
              <a:t>: print(x)</a:t>
            </a:r>
          </a:p>
          <a:p>
            <a:pPr marL="95250" indent="0" eaLnBrk="1">
              <a:lnSpc>
                <a:spcPct val="9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 eaLnBrk="1"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dirty="0" smtClean="0">
                <a:solidFill>
                  <a:srgbClr val="FF9900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b="1" dirty="0" smtClean="0">
                <a:solidFill>
                  <a:schemeClr val="accent6"/>
                </a:solidFill>
                <a:latin typeface="Lucida Console" panose="020B0609040504020204" pitchFamily="49" charset="0"/>
              </a:rPr>
              <a:t>1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dirty="0" smtClean="0">
                <a:solidFill>
                  <a:schemeClr val="accent6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dirty="0" smtClean="0">
                <a:solidFill>
                  <a:schemeClr val="accent6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b="1" dirty="0" smtClean="0">
                <a:solidFill>
                  <a:srgbClr val="FF99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# </a:t>
            </a:r>
            <a:r>
              <a:rPr lang="en-US" altLang="en-US" dirty="0" smtClean="0">
                <a:solidFill>
                  <a:srgbClr val="FF0000"/>
                </a:solidFill>
              </a:rPr>
              <a:t>OK so far. My arguments became a tuple</a:t>
            </a:r>
          </a:p>
          <a:p>
            <a:pPr marL="95250" indent="0" eaLnBrk="1"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b="1" dirty="0" smtClean="0">
                <a:solidFill>
                  <a:schemeClr val="accent6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b="1" dirty="0">
                <a:solidFill>
                  <a:schemeClr val="accent6"/>
                </a:solidFill>
                <a:latin typeface="Lucida Console" panose="020B0609040504020204" pitchFamily="49" charset="0"/>
              </a:rPr>
              <a:t>1, 2, 3)</a:t>
            </a:r>
          </a:p>
          <a:p>
            <a:pPr marL="95250" indent="0" eaLnBrk="1"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g(</a:t>
            </a:r>
            <a:r>
              <a:rPr lang="en-US" altLang="en-US" b="1" dirty="0" smtClean="0">
                <a:solidFill>
                  <a:schemeClr val="accent6"/>
                </a:solidFill>
                <a:latin typeface="Lucida Console" panose="020B0609040504020204" pitchFamily="49" charset="0"/>
              </a:rPr>
              <a:t>1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dirty="0" smtClean="0">
                <a:solidFill>
                  <a:schemeClr val="accent6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dirty="0" smtClean="0">
                <a:solidFill>
                  <a:schemeClr val="accent6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# </a:t>
            </a:r>
            <a:r>
              <a:rPr lang="en-US" altLang="en-US" dirty="0" smtClean="0">
                <a:solidFill>
                  <a:srgbClr val="FF0000"/>
                </a:solidFill>
              </a:rPr>
              <a:t>What could possibly go wrong?</a:t>
            </a:r>
            <a:endParaRPr lang="en-US" altLang="en-US" dirty="0" smtClean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95250" indent="0" eaLnBrk="1"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b="1" dirty="0" smtClean="0">
                <a:solidFill>
                  <a:srgbClr val="FF990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b="1" dirty="0" smtClean="0">
                <a:solidFill>
                  <a:schemeClr val="accent6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b="1" dirty="0">
                <a:solidFill>
                  <a:schemeClr val="accent6"/>
                </a:solidFill>
                <a:latin typeface="Lucida Console" panose="020B0609040504020204" pitchFamily="49" charset="0"/>
              </a:rPr>
              <a:t>1, 2, 3)</a:t>
            </a:r>
            <a:r>
              <a:rPr lang="en-US" altLang="en-US" b="1" dirty="0">
                <a:solidFill>
                  <a:srgbClr val="FF9900"/>
                </a:solidFill>
                <a:latin typeface="Lucida Console" panose="020B0609040504020204" pitchFamily="49" charset="0"/>
              </a:rPr>
              <a:t>,)</a:t>
            </a:r>
          </a:p>
          <a:p>
            <a:pPr marL="95250" indent="0" eaLnBrk="1"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# </a:t>
            </a:r>
            <a:r>
              <a:rPr lang="en-US" altLang="en-US" dirty="0">
                <a:solidFill>
                  <a:srgbClr val="FF0000"/>
                </a:solidFill>
              </a:rPr>
              <a:t>f() </a:t>
            </a:r>
            <a:r>
              <a:rPr lang="en-US" altLang="en-US" dirty="0" smtClean="0">
                <a:solidFill>
                  <a:srgbClr val="FF0000"/>
                </a:solidFill>
              </a:rPr>
              <a:t>received </a:t>
            </a:r>
            <a:r>
              <a:rPr lang="en-US" altLang="en-US" dirty="0">
                <a:solidFill>
                  <a:srgbClr val="FF0000"/>
                </a:solidFill>
              </a:rPr>
              <a:t>a singleton tuple of a tuple!</a:t>
            </a:r>
            <a:endParaRPr lang="en-US" altLang="en-US" sz="3200" dirty="0">
              <a:solidFill>
                <a:srgbClr val="000000"/>
              </a:solidFill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13454" y="3195583"/>
            <a:ext cx="1242312" cy="3669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eaLnBrk="1">
              <a:spcBef>
                <a:spcPts val="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kern="0" dirty="0" smtClean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90000"/>
              </a:lnSpc>
              <a:spcBef>
                <a:spcPts val="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kern="0" dirty="0" smtClean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eaLnBrk="1"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dirty="0">
                <a:solidFill>
                  <a:schemeClr val="bg1"/>
                </a:solidFill>
              </a:rPr>
              <a:t>)</a:t>
            </a:r>
            <a:endParaRPr lang="en-US" altLang="en-US" kern="0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9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eaLnBrk="1">
              <a:spcBef>
                <a:spcPts val="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kern="0" dirty="0" smtClean="0">
              <a:solidFill>
                <a:srgbClr val="FF0000"/>
              </a:solidFill>
            </a:endParaRPr>
          </a:p>
          <a:p>
            <a:pPr marL="95250" indent="0" eaLnBrk="1">
              <a:spcBef>
                <a:spcPts val="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b="1" kern="0" dirty="0" smtClean="0">
              <a:solidFill>
                <a:schemeClr val="accent6"/>
              </a:solidFill>
              <a:latin typeface="Lucida Console" panose="020B0609040504020204" pitchFamily="49" charset="0"/>
            </a:endParaRPr>
          </a:p>
          <a:p>
            <a:pPr marL="95250" indent="0" eaLnBrk="1">
              <a:spcBef>
                <a:spcPts val="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kern="0" dirty="0" smtClean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95250" indent="0" eaLnBrk="1">
              <a:spcBef>
                <a:spcPts val="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b="1" kern="0" dirty="0" smtClean="0">
              <a:solidFill>
                <a:schemeClr val="accent6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92894" y="0"/>
            <a:ext cx="9144000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 Parameters: </a:t>
            </a:r>
            <a:r>
              <a:rPr lang="en-US" altLang="zh-TW" sz="4400" b="1" kern="0" dirty="0">
                <a:solidFill>
                  <a:srgbClr val="0000FF"/>
                </a:solidFill>
                <a:latin typeface="Cooper Black" panose="0208090404030B020404" pitchFamily="18" charset="0"/>
              </a:rPr>
              <a:t>*</a:t>
            </a:r>
            <a:r>
              <a:rPr lang="en-US" altLang="zh-TW" sz="4400" kern="0" dirty="0">
                <a:solidFill>
                  <a:srgbClr val="0000FF"/>
                </a:solidFill>
                <a:latin typeface="Elephant" panose="02020904090505020303" pitchFamily="18" charset="0"/>
              </a:rPr>
              <a:t>x</a:t>
            </a:r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 &amp; </a:t>
            </a:r>
            <a:r>
              <a:rPr lang="en-US" altLang="zh-TW" sz="4400" b="1" kern="0" dirty="0">
                <a:solidFill>
                  <a:srgbClr val="9B2D00"/>
                </a:solidFill>
                <a:latin typeface="Cooper Black" panose="0208090404030B020404" pitchFamily="18" charset="0"/>
              </a:rPr>
              <a:t>**</a:t>
            </a:r>
            <a:r>
              <a:rPr lang="en-US" altLang="zh-TW" sz="4400" kern="0" dirty="0">
                <a:solidFill>
                  <a:srgbClr val="9B2D00"/>
                </a:solidFill>
                <a:latin typeface="Elephant" panose="02020904090505020303" pitchFamily="18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7891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72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72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72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727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727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727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727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3453" y="688770"/>
            <a:ext cx="9616335" cy="6169231"/>
          </a:xfrm>
        </p:spPr>
        <p:txBody>
          <a:bodyPr/>
          <a:lstStyle/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tx1"/>
                </a:solidFill>
              </a:rPr>
              <a:t>The </a:t>
            </a:r>
            <a:r>
              <a:rPr lang="en-US" altLang="en-US" sz="3200" b="1" dirty="0">
                <a:solidFill>
                  <a:srgbClr val="0000FF"/>
                </a:solidFill>
              </a:rPr>
              <a:t>*x</a:t>
            </a:r>
            <a:r>
              <a:rPr lang="en-US" altLang="en-US" sz="3200" dirty="0">
                <a:solidFill>
                  <a:schemeClr val="tx1"/>
                </a:solidFill>
              </a:rPr>
              <a:t>: Only puts </a:t>
            </a:r>
            <a:r>
              <a:rPr lang="en-US" altLang="en-US" sz="3200" u="sng" dirty="0">
                <a:solidFill>
                  <a:schemeClr val="tx1"/>
                </a:solidFill>
              </a:rPr>
              <a:t>positional</a:t>
            </a:r>
            <a:r>
              <a:rPr lang="en-US" altLang="en-US" sz="3200" dirty="0">
                <a:solidFill>
                  <a:schemeClr val="tx1"/>
                </a:solidFill>
              </a:rPr>
              <a:t> arguments into a </a:t>
            </a:r>
            <a:r>
              <a:rPr lang="en-US" altLang="en-US" sz="3200" dirty="0">
                <a:solidFill>
                  <a:schemeClr val="accent6"/>
                </a:solidFill>
              </a:rPr>
              <a:t>tupl</a:t>
            </a:r>
            <a:r>
              <a:rPr lang="en-US" altLang="en-US" sz="3200" spc="-200" dirty="0">
                <a:solidFill>
                  <a:schemeClr val="accent6"/>
                </a:solidFill>
              </a:rPr>
              <a:t>e</a:t>
            </a:r>
            <a:r>
              <a:rPr lang="en-US" altLang="en-US" sz="3200" dirty="0" smtClean="0">
                <a:solidFill>
                  <a:schemeClr val="tx1"/>
                </a:solidFill>
              </a:rPr>
              <a:t>.</a:t>
            </a:r>
            <a:endParaRPr lang="en-US" altLang="en-US" sz="3200" dirty="0">
              <a:solidFill>
                <a:schemeClr val="tx1"/>
              </a:solidFill>
            </a:endParaRPr>
          </a:p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tx1"/>
                </a:solidFill>
              </a:rPr>
              <a:t>The</a:t>
            </a:r>
            <a:r>
              <a:rPr lang="en-US" altLang="en-US" sz="3200" dirty="0">
                <a:solidFill>
                  <a:srgbClr val="00B0F0"/>
                </a:solidFill>
              </a:rPr>
              <a:t> </a:t>
            </a:r>
            <a:r>
              <a:rPr lang="en-US" altLang="en-US" sz="3200" b="1" dirty="0">
                <a:solidFill>
                  <a:srgbClr val="9B2D00"/>
                </a:solidFill>
              </a:rPr>
              <a:t>**x</a:t>
            </a:r>
            <a:r>
              <a:rPr lang="en-US" altLang="en-US" sz="3200" dirty="0">
                <a:solidFill>
                  <a:schemeClr val="tx1"/>
                </a:solidFill>
              </a:rPr>
              <a:t>: Collects all </a:t>
            </a:r>
            <a:r>
              <a:rPr lang="en-US" altLang="en-US" sz="3200" u="sng" dirty="0">
                <a:solidFill>
                  <a:schemeClr val="tx1"/>
                </a:solidFill>
              </a:rPr>
              <a:t>keyword</a:t>
            </a:r>
            <a:r>
              <a:rPr lang="en-US" altLang="en-US" sz="3200" dirty="0">
                <a:solidFill>
                  <a:schemeClr val="tx1"/>
                </a:solidFill>
              </a:rPr>
              <a:t> arguments into a </a:t>
            </a:r>
            <a:r>
              <a:rPr lang="en-US" altLang="en-US" sz="3200" dirty="0">
                <a:solidFill>
                  <a:srgbClr val="9B2D00"/>
                </a:solidFill>
              </a:rPr>
              <a:t>dict</a:t>
            </a:r>
            <a:r>
              <a:rPr lang="en-US" altLang="en-US" sz="3200" dirty="0" smtClean="0">
                <a:solidFill>
                  <a:schemeClr val="tx1"/>
                </a:solidFill>
              </a:rPr>
              <a:t>.</a:t>
            </a:r>
            <a:endParaRPr lang="en-US" altLang="en-US" sz="3200" dirty="0">
              <a:solidFill>
                <a:schemeClr val="tx1"/>
              </a:solidFill>
            </a:endParaRPr>
          </a:p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000" dirty="0">
              <a:solidFill>
                <a:schemeClr val="tx1"/>
              </a:solidFill>
            </a:endParaRPr>
          </a:p>
          <a:p>
            <a:pPr marL="95250" indent="0" eaLnBrk="1">
              <a:lnSpc>
                <a:spcPct val="93000"/>
              </a:lnSpc>
              <a:spcAft>
                <a:spcPts val="1200"/>
              </a:spcAft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85000"/>
                  </a:schemeClr>
                </a:solidFill>
              </a:rPr>
              <a:t>But</a:t>
            </a:r>
            <a:r>
              <a:rPr lang="en-US" altLang="en-US" sz="3200" dirty="0">
                <a:solidFill>
                  <a:schemeClr val="tx1"/>
                </a:solidFill>
              </a:rPr>
              <a:t> the</a:t>
            </a:r>
            <a:r>
              <a:rPr lang="en-US" altLang="en-US" sz="3200" dirty="0">
                <a:solidFill>
                  <a:srgbClr val="FF0000"/>
                </a:solidFill>
              </a:rPr>
              <a:t> </a:t>
            </a:r>
            <a:r>
              <a:rPr lang="en-US" altLang="en-US" sz="3200" b="1" dirty="0">
                <a:solidFill>
                  <a:srgbClr val="0000FF"/>
                </a:solidFill>
              </a:rPr>
              <a:t>*</a:t>
            </a:r>
            <a:r>
              <a:rPr lang="en-US" altLang="en-US" sz="3200" dirty="0">
                <a:solidFill>
                  <a:srgbClr val="0000FF"/>
                </a:solidFill>
              </a:rPr>
              <a:t> </a:t>
            </a:r>
            <a:r>
              <a:rPr lang="en-US" altLang="en-US" sz="3200" dirty="0">
                <a:solidFill>
                  <a:schemeClr val="bg1">
                    <a:lumMod val="85000"/>
                  </a:schemeClr>
                </a:solidFill>
              </a:rPr>
              <a:t>and </a:t>
            </a:r>
            <a:r>
              <a:rPr lang="en-US" altLang="en-US" sz="3200" b="1" dirty="0">
                <a:solidFill>
                  <a:schemeClr val="bg1">
                    <a:lumMod val="85000"/>
                  </a:schemeClr>
                </a:solidFill>
              </a:rPr>
              <a:t>**</a:t>
            </a:r>
            <a:r>
              <a:rPr lang="en-US" altLang="en-US" sz="32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run into trouble </a:t>
            </a:r>
            <a:r>
              <a:rPr lang="en-US" altLang="en-US" sz="3200" dirty="0">
                <a:solidFill>
                  <a:srgbClr val="92D050"/>
                </a:solidFill>
              </a:rPr>
              <a:t>when you forward </a:t>
            </a:r>
            <a:r>
              <a:rPr lang="en-US" altLang="en-US" sz="3200" dirty="0">
                <a:solidFill>
                  <a:schemeClr val="tx1"/>
                </a:solidFill>
              </a:rPr>
              <a:t>your arguments onward to your own </a:t>
            </a:r>
            <a:r>
              <a:rPr lang="en-US" altLang="en-US" sz="3200" dirty="0" err="1">
                <a:solidFill>
                  <a:schemeClr val="tx1"/>
                </a:solidFill>
              </a:rPr>
              <a:t>callee</a:t>
            </a:r>
            <a:r>
              <a:rPr lang="en-US" altLang="en-US" sz="3200" dirty="0">
                <a:solidFill>
                  <a:schemeClr val="tx1"/>
                </a:solidFill>
              </a:rPr>
              <a:t>:</a:t>
            </a:r>
          </a:p>
          <a:p>
            <a:pPr marL="95250" indent="0" eaLnBrk="1"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dirty="0">
                <a:solidFill>
                  <a:srgbClr val="FF0000"/>
                </a:solidFill>
                <a:latin typeface="Lucida Console" panose="020B0609040504020204" pitchFamily="49" charset="0"/>
              </a:rPr>
              <a:t>g(</a:t>
            </a:r>
            <a:r>
              <a:rPr lang="en-US" altLang="en-US" b="1" dirty="0">
                <a:solidFill>
                  <a:schemeClr val="accent6"/>
                </a:solidFill>
                <a:latin typeface="Lucida Console" panose="020B0609040504020204" pitchFamily="49" charset="0"/>
              </a:rPr>
              <a:t>*x</a:t>
            </a:r>
            <a:r>
              <a:rPr lang="en-US" altLang="en-US" b="1" dirty="0">
                <a:solidFill>
                  <a:srgbClr val="FF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  <a:r>
              <a:rPr lang="en-US" altLang="en-US" dirty="0">
                <a:solidFill>
                  <a:srgbClr val="FF99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dirty="0">
                <a:solidFill>
                  <a:srgbClr val="FF9900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b="1" dirty="0">
                <a:solidFill>
                  <a:schemeClr val="accent6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b="1" dirty="0">
                <a:solidFill>
                  <a:srgbClr val="FF99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# </a:t>
            </a:r>
            <a:r>
              <a:rPr lang="en-US" altLang="en-US" dirty="0">
                <a:solidFill>
                  <a:srgbClr val="FF0000"/>
                </a:solidFill>
              </a:rPr>
              <a:t>g() forwards its arguments to f()</a:t>
            </a:r>
            <a:endParaRPr lang="en-US" altLang="en-US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9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 eaLnBrk="1"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dirty="0">
                <a:solidFill>
                  <a:srgbClr val="FF9900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b="1" dirty="0">
                <a:solidFill>
                  <a:schemeClr val="accent6"/>
                </a:solidFill>
                <a:latin typeface="Lucida Console" panose="020B0609040504020204" pitchFamily="49" charset="0"/>
              </a:rPr>
              <a:t>*x</a:t>
            </a:r>
            <a:r>
              <a:rPr lang="en-US" altLang="en-US" b="1" dirty="0">
                <a:solidFill>
                  <a:srgbClr val="FF99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</a:rPr>
              <a:t>: print(x)</a:t>
            </a:r>
          </a:p>
          <a:p>
            <a:pPr marL="95250" indent="0" eaLnBrk="1">
              <a:lnSpc>
                <a:spcPct val="9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 eaLnBrk="1"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b="1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f(1</a:t>
            </a:r>
            <a:r>
              <a:rPr lang="en-US" altLang="en-US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3)</a:t>
            </a:r>
            <a:r>
              <a:rPr lang="en-US" altLang="en-US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# </a:t>
            </a:r>
            <a:r>
              <a:rPr lang="en-US" altLang="en-US" dirty="0" smtClean="0">
                <a:solidFill>
                  <a:schemeClr val="bg1">
                    <a:lumMod val="85000"/>
                  </a:schemeClr>
                </a:solidFill>
              </a:rPr>
              <a:t>OK so far. My arguments became a tuple</a:t>
            </a:r>
          </a:p>
          <a:p>
            <a:pPr marL="95250" indent="0" eaLnBrk="1"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b="1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b="1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1, 2, 3)</a:t>
            </a:r>
          </a:p>
          <a:p>
            <a:pPr marL="95250" indent="0" eaLnBrk="1"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g(</a:t>
            </a:r>
            <a:r>
              <a:rPr lang="en-US" altLang="en-US" b="1" dirty="0" smtClean="0">
                <a:solidFill>
                  <a:schemeClr val="accent6"/>
                </a:solidFill>
                <a:latin typeface="Lucida Console" panose="020B0609040504020204" pitchFamily="49" charset="0"/>
              </a:rPr>
              <a:t>1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dirty="0" smtClean="0">
                <a:solidFill>
                  <a:schemeClr val="accent6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dirty="0" smtClean="0">
                <a:solidFill>
                  <a:schemeClr val="accent6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rgbClr val="FFCCCC"/>
                </a:solidFill>
                <a:latin typeface="Lucida Console" panose="020B0609040504020204" pitchFamily="49" charset="0"/>
              </a:rPr>
              <a:t># </a:t>
            </a:r>
            <a:r>
              <a:rPr lang="en-US" altLang="en-US" dirty="0" smtClean="0">
                <a:solidFill>
                  <a:srgbClr val="FFCCCC"/>
                </a:solidFill>
              </a:rPr>
              <a:t>What could possibly go wrong?</a:t>
            </a:r>
            <a:endParaRPr lang="en-US" altLang="en-US" dirty="0" smtClean="0">
              <a:solidFill>
                <a:srgbClr val="FFCCCC"/>
              </a:solidFill>
              <a:latin typeface="Lucida Console" panose="020B0609040504020204" pitchFamily="49" charset="0"/>
            </a:endParaRPr>
          </a:p>
          <a:p>
            <a:pPr marL="95250" indent="0" eaLnBrk="1"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b="1" dirty="0" smtClean="0">
                <a:solidFill>
                  <a:srgbClr val="FF990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b="1" dirty="0" smtClean="0">
                <a:solidFill>
                  <a:schemeClr val="accent6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b="1" dirty="0">
                <a:solidFill>
                  <a:schemeClr val="accent6"/>
                </a:solidFill>
                <a:latin typeface="Lucida Console" panose="020B0609040504020204" pitchFamily="49" charset="0"/>
              </a:rPr>
              <a:t>1, 2, 3)</a:t>
            </a:r>
            <a:r>
              <a:rPr lang="en-US" altLang="en-US" b="1" dirty="0">
                <a:solidFill>
                  <a:srgbClr val="FF9900"/>
                </a:solidFill>
                <a:latin typeface="Lucida Console" panose="020B0609040504020204" pitchFamily="49" charset="0"/>
              </a:rPr>
              <a:t>,)</a:t>
            </a:r>
          </a:p>
          <a:p>
            <a:pPr marL="95250" indent="0" eaLnBrk="1"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dirty="0">
                <a:solidFill>
                  <a:srgbClr val="FF9999"/>
                </a:solidFill>
                <a:latin typeface="Lucida Console" panose="020B0609040504020204" pitchFamily="49" charset="0"/>
              </a:rPr>
              <a:t># </a:t>
            </a:r>
            <a:r>
              <a:rPr lang="en-US" altLang="en-US" dirty="0">
                <a:solidFill>
                  <a:srgbClr val="FF9999"/>
                </a:solidFill>
              </a:rPr>
              <a:t>f() </a:t>
            </a:r>
            <a:r>
              <a:rPr lang="en-US" altLang="en-US" dirty="0" smtClean="0">
                <a:solidFill>
                  <a:srgbClr val="FF9999"/>
                </a:solidFill>
              </a:rPr>
              <a:t>received </a:t>
            </a:r>
            <a:r>
              <a:rPr lang="en-US" altLang="en-US" dirty="0">
                <a:solidFill>
                  <a:srgbClr val="FF9999"/>
                </a:solidFill>
              </a:rPr>
              <a:t>a singleton tuple of a tuple!</a:t>
            </a:r>
            <a:endParaRPr lang="en-US" altLang="en-US" sz="3200" dirty="0">
              <a:solidFill>
                <a:srgbClr val="FF9999"/>
              </a:solidFill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13454" y="3195583"/>
            <a:ext cx="1242312" cy="3669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eaLnBrk="1">
              <a:spcBef>
                <a:spcPts val="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kern="0" dirty="0" smtClean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90000"/>
              </a:lnSpc>
              <a:spcBef>
                <a:spcPts val="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kern="0" dirty="0" smtClean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eaLnBrk="1"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dirty="0">
                <a:solidFill>
                  <a:schemeClr val="bg1"/>
                </a:solidFill>
              </a:rPr>
              <a:t>)</a:t>
            </a:r>
            <a:endParaRPr lang="en-US" altLang="en-US" kern="0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9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eaLnBrk="1">
              <a:spcBef>
                <a:spcPts val="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kern="0" dirty="0" smtClean="0">
              <a:solidFill>
                <a:srgbClr val="FF0000"/>
              </a:solidFill>
            </a:endParaRPr>
          </a:p>
          <a:p>
            <a:pPr marL="95250" indent="0" eaLnBrk="1">
              <a:spcBef>
                <a:spcPts val="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b="1" kern="0" dirty="0" smtClean="0">
              <a:solidFill>
                <a:schemeClr val="accent6"/>
              </a:solidFill>
              <a:latin typeface="Lucida Console" panose="020B0609040504020204" pitchFamily="49" charset="0"/>
            </a:endParaRPr>
          </a:p>
          <a:p>
            <a:pPr marL="95250" indent="0" eaLnBrk="1">
              <a:spcBef>
                <a:spcPts val="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kern="0" dirty="0" smtClean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95250" indent="0" eaLnBrk="1">
              <a:spcBef>
                <a:spcPts val="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b="1" kern="0" dirty="0" smtClean="0">
              <a:solidFill>
                <a:srgbClr val="FF9999"/>
              </a:solidFill>
              <a:latin typeface="Lucida Console" panose="020B0609040504020204" pitchFamily="49" charset="0"/>
            </a:endParaRPr>
          </a:p>
        </p:txBody>
      </p:sp>
      <p:sp>
        <p:nvSpPr>
          <p:cNvPr id="2" name="Arc 1"/>
          <p:cNvSpPr/>
          <p:nvPr/>
        </p:nvSpPr>
        <p:spPr bwMode="auto">
          <a:xfrm rot="20896573" flipH="1">
            <a:off x="1948718" y="3447875"/>
            <a:ext cx="1667597" cy="3899044"/>
          </a:xfrm>
          <a:prstGeom prst="arc">
            <a:avLst>
              <a:gd name="adj1" fmla="val 16336262"/>
              <a:gd name="adj2" fmla="val 0"/>
            </a:avLst>
          </a:prstGeom>
          <a:noFill/>
          <a:ln w="57150" cap="flat" cmpd="sng" algn="ctr">
            <a:solidFill>
              <a:srgbClr val="92D050"/>
            </a:solidFill>
            <a:prstDash val="sysDot"/>
            <a:round/>
            <a:headEnd type="triangl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7" name="Arc 6"/>
          <p:cNvSpPr/>
          <p:nvPr/>
        </p:nvSpPr>
        <p:spPr bwMode="auto">
          <a:xfrm rot="20896573" flipH="1">
            <a:off x="2257215" y="3082321"/>
            <a:ext cx="2265624" cy="3899044"/>
          </a:xfrm>
          <a:prstGeom prst="arc">
            <a:avLst>
              <a:gd name="adj1" fmla="val 14781256"/>
              <a:gd name="adj2" fmla="val 17076043"/>
            </a:avLst>
          </a:prstGeom>
          <a:noFill/>
          <a:ln w="57150" cap="flat" cmpd="sng" algn="ctr">
            <a:solidFill>
              <a:srgbClr val="92D050"/>
            </a:solidFill>
            <a:prstDash val="sysDot"/>
            <a:round/>
            <a:headEnd type="triangl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19" name="Arc 18"/>
          <p:cNvSpPr/>
          <p:nvPr/>
        </p:nvSpPr>
        <p:spPr bwMode="auto">
          <a:xfrm rot="5400000">
            <a:off x="3223260" y="3288390"/>
            <a:ext cx="548640" cy="548640"/>
          </a:xfrm>
          <a:prstGeom prst="arc">
            <a:avLst/>
          </a:prstGeom>
          <a:noFill/>
          <a:ln w="57150" cap="flat" cmpd="sng" algn="ctr">
            <a:solidFill>
              <a:srgbClr val="92D05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21" name="Arc 20"/>
          <p:cNvSpPr/>
          <p:nvPr/>
        </p:nvSpPr>
        <p:spPr bwMode="auto">
          <a:xfrm rot="16200000">
            <a:off x="2582868" y="3833678"/>
            <a:ext cx="548640" cy="548640"/>
          </a:xfrm>
          <a:prstGeom prst="arc">
            <a:avLst/>
          </a:prstGeom>
          <a:noFill/>
          <a:ln w="57150" cap="flat" cmpd="sng" algn="ctr">
            <a:solidFill>
              <a:srgbClr val="92D050"/>
            </a:solidFill>
            <a:prstDash val="sysDot"/>
            <a:round/>
            <a:headEnd type="triangle" w="med" len="med"/>
            <a:tailEnd type="none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smtClean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cxnSp>
        <p:nvCxnSpPr>
          <p:cNvPr id="23" name="Straight Connector 22"/>
          <p:cNvCxnSpPr>
            <a:stCxn id="19" idx="2"/>
            <a:endCxn id="21" idx="2"/>
          </p:cNvCxnSpPr>
          <p:nvPr/>
        </p:nvCxnSpPr>
        <p:spPr bwMode="auto">
          <a:xfrm flipH="1" flipV="1">
            <a:off x="2857188" y="3833678"/>
            <a:ext cx="640392" cy="3352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92D050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Rounded Rectangular Callout 25"/>
          <p:cNvSpPr/>
          <p:nvPr/>
        </p:nvSpPr>
        <p:spPr bwMode="auto">
          <a:xfrm>
            <a:off x="4168847" y="4880703"/>
            <a:ext cx="5256393" cy="1977297"/>
          </a:xfrm>
          <a:prstGeom prst="wedgeRoundRectCallout">
            <a:avLst>
              <a:gd name="adj1" fmla="val -55751"/>
              <a:gd name="adj2" fmla="val -117589"/>
              <a:gd name="adj3" fmla="val 16667"/>
            </a:avLst>
          </a:prstGeom>
          <a:solidFill>
            <a:srgbClr val="99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514350" indent="-5143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600" dirty="0">
                <a:solidFill>
                  <a:srgbClr val="FF0000"/>
                </a:solidFill>
                <a:latin typeface="Times New Roman" charset="0"/>
              </a:rPr>
              <a:t>Q:</a:t>
            </a:r>
            <a:r>
              <a:rPr lang="en-US" altLang="zh-TW" sz="3600" dirty="0">
                <a:latin typeface="Times New Roman" charset="0"/>
              </a:rPr>
              <a:t>How to change the code so that it forwards as-is?</a:t>
            </a:r>
          </a:p>
          <a:p>
            <a:pPr marL="514350" indent="-5143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600" b="1" dirty="0">
                <a:solidFill>
                  <a:srgbClr val="00B050"/>
                </a:solidFill>
                <a:latin typeface="Times New Roman" charset="0"/>
              </a:rPr>
              <a:t>A:</a:t>
            </a:r>
            <a:r>
              <a:rPr lang="en-US" altLang="zh-TW" sz="3600" dirty="0">
                <a:latin typeface="Times New Roman" charset="0"/>
              </a:rPr>
              <a:t>The </a:t>
            </a:r>
            <a:r>
              <a:rPr lang="en-US" altLang="zh-TW" sz="36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splat</a:t>
            </a:r>
            <a:r>
              <a:rPr lang="en-US" altLang="zh-TW" sz="3600" dirty="0">
                <a:latin typeface="Times New Roman" charset="0"/>
              </a:rPr>
              <a:t> operator…</a:t>
            </a:r>
            <a:endParaRPr lang="zh-TW" altLang="en-US" sz="3600" dirty="0">
              <a:latin typeface="Times New Roman" charset="0"/>
            </a:endParaRPr>
          </a:p>
        </p:txBody>
      </p:sp>
      <p:sp>
        <p:nvSpPr>
          <p:cNvPr id="27" name="Title 1"/>
          <p:cNvSpPr txBox="1">
            <a:spLocks/>
          </p:cNvSpPr>
          <p:nvPr/>
        </p:nvSpPr>
        <p:spPr bwMode="auto">
          <a:xfrm>
            <a:off x="292894" y="0"/>
            <a:ext cx="9144000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 Parameters: </a:t>
            </a:r>
            <a:r>
              <a:rPr lang="en-US" altLang="zh-TW" sz="4400" b="1" kern="0" dirty="0">
                <a:solidFill>
                  <a:srgbClr val="0000FF"/>
                </a:solidFill>
                <a:latin typeface="Cooper Black" panose="0208090404030B020404" pitchFamily="18" charset="0"/>
              </a:rPr>
              <a:t>*</a:t>
            </a:r>
            <a:r>
              <a:rPr lang="en-US" altLang="zh-TW" sz="4400" kern="0" dirty="0">
                <a:solidFill>
                  <a:srgbClr val="0000FF"/>
                </a:solidFill>
                <a:latin typeface="Elephant" panose="02020904090505020303" pitchFamily="18" charset="0"/>
              </a:rPr>
              <a:t>x</a:t>
            </a:r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 &amp; </a:t>
            </a:r>
            <a:r>
              <a:rPr lang="en-US" altLang="zh-TW" sz="4400" b="1" kern="0" dirty="0">
                <a:solidFill>
                  <a:srgbClr val="9B2D00"/>
                </a:solidFill>
                <a:latin typeface="Cooper Black" panose="0208090404030B020404" pitchFamily="18" charset="0"/>
              </a:rPr>
              <a:t>**</a:t>
            </a:r>
            <a:r>
              <a:rPr lang="en-US" altLang="zh-TW" sz="4400" kern="0" dirty="0">
                <a:solidFill>
                  <a:srgbClr val="9B2D00"/>
                </a:solidFill>
                <a:latin typeface="Elephant" panose="02020904090505020303" pitchFamily="18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216611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5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19" grpId="0" animBg="1"/>
      <p:bldP spid="21" grpId="0" animBg="1"/>
      <p:bldP spid="26" grpId="0" build="p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292894" y="717652"/>
            <a:ext cx="9144000" cy="6140348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cat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 f(*v):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    print("First argument 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is:",v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[0])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    f(v)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    f(*v)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print("f(1,2,3):",end="")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f(1,2,3)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python3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f(1,2,3):First argument is: 1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(1,2,3):First argument is: (1, 2, 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(1,2,3):First argument is: 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1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729788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Functions Calls with Splat </a:t>
            </a:r>
            <a:r>
              <a:rPr lang="en-US" altLang="zh-TW" sz="4400" b="1" kern="0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*</a:t>
            </a:r>
            <a:endParaRPr lang="en-US" altLang="zh-TW" sz="4400" b="1" kern="0" dirty="0">
              <a:solidFill>
                <a:srgbClr val="002060"/>
              </a:solidFill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5273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292894" y="717652"/>
            <a:ext cx="9144000" cy="6140348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cat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f(*v):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print("First argument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is:",v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[0])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f(v)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f(*v)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b="1" dirty="0">
                <a:solidFill>
                  <a:srgbClr val="3333CC"/>
                </a:solidFill>
                <a:latin typeface="Lucida Console" pitchFamily="49" charset="0"/>
              </a:rPr>
              <a:t>print("f(1,2,3):",end="")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f(1,2,3)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chemeClr val="bg1">
                  <a:lumMod val="65000"/>
                </a:schemeClr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python3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f(1,2,3):First argument is: 1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(1,2,3):First argument is: (1, 2, 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(1,2,3):First argument is: </a:t>
            </a:r>
            <a:r>
              <a:rPr lang="en-US" altLang="zh-TW" sz="2400" dirty="0" smtClean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1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729788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Functions Calls with Splat </a:t>
            </a:r>
            <a:r>
              <a:rPr lang="en-US" altLang="zh-TW" sz="4400" b="1" kern="0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*</a:t>
            </a:r>
            <a:endParaRPr lang="en-US" altLang="zh-TW" sz="4400" b="1" kern="0" dirty="0">
              <a:solidFill>
                <a:srgbClr val="002060"/>
              </a:solidFill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6616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292894" y="717652"/>
            <a:ext cx="9144000" cy="6140348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cat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f(*v):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print("First argument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is:",v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[0])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f(v)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f(*v)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print("f(1,2,3):",end="")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f(1,2,3)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chemeClr val="bg1">
                  <a:lumMod val="65000"/>
                </a:schemeClr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python3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b="1" dirty="0">
                <a:solidFill>
                  <a:srgbClr val="3333CC"/>
                </a:solidFill>
                <a:latin typeface="Lucida Console" pitchFamily="49" charset="0"/>
              </a:rPr>
              <a:t>f(1,2,3):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First argument is: 1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(1,2,3):First argument is: (1, 2, 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(1,2,3):First argument is: </a:t>
            </a:r>
            <a:r>
              <a:rPr lang="en-US" altLang="zh-TW" sz="2400" dirty="0" smtClean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1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729788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Functions Calls with Splat </a:t>
            </a:r>
            <a:r>
              <a:rPr lang="en-US" altLang="zh-TW" sz="4400" b="1" kern="0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*</a:t>
            </a:r>
            <a:endParaRPr lang="en-US" altLang="zh-TW" sz="4400" b="1" kern="0" dirty="0">
              <a:solidFill>
                <a:srgbClr val="002060"/>
              </a:solidFill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2486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292894" y="717652"/>
            <a:ext cx="9144000" cy="6140348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cat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f(*v):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print("First argument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is:",v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[0])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f(v)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f(*v)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print("f(1,2,3):",end="")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b="1" dirty="0">
                <a:solidFill>
                  <a:srgbClr val="3333CC"/>
                </a:solidFill>
                <a:latin typeface="Lucida Console" pitchFamily="49" charset="0"/>
              </a:rPr>
              <a:t>f(1,2,3)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chemeClr val="bg1">
                  <a:lumMod val="65000"/>
                </a:schemeClr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python3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f(1,2,3):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First argument is: 1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(1,2,3):First argument is: (1, 2, 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(1,2,3):First argument is: </a:t>
            </a:r>
            <a:r>
              <a:rPr lang="en-US" altLang="zh-TW" sz="2400" dirty="0" smtClean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1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729788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Functions Calls with Splat </a:t>
            </a:r>
            <a:r>
              <a:rPr lang="en-US" altLang="zh-TW" sz="4400" b="1" kern="0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*</a:t>
            </a:r>
            <a:endParaRPr lang="en-US" altLang="zh-TW" sz="4400" b="1" kern="0" dirty="0">
              <a:solidFill>
                <a:srgbClr val="002060"/>
              </a:solidFill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197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292894" y="717652"/>
            <a:ext cx="9144000" cy="6140348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cat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rgbClr val="3333CC"/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 f(</a:t>
            </a:r>
            <a:r>
              <a:rPr lang="en-US" altLang="zh-TW" sz="2400" b="1" dirty="0">
                <a:solidFill>
                  <a:schemeClr val="tx1"/>
                </a:solidFill>
                <a:latin typeface="Lucida Console" pitchFamily="49" charset="0"/>
              </a:rPr>
              <a:t>*v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print("First argument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is:",v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[0])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f(v)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f(*v)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print("f(1,2,3):",end="")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smtClean="0">
                <a:solidFill>
                  <a:srgbClr val="3333CC"/>
                </a:solidFill>
                <a:latin typeface="Lucida Console" pitchFamily="49" charset="0"/>
              </a:rPr>
              <a:t>f(</a:t>
            </a:r>
            <a:r>
              <a:rPr lang="en-US" altLang="zh-TW" sz="2400" b="1" dirty="0" smtClean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zh-TW" sz="2400" dirty="0" smtClean="0">
                <a:solidFill>
                  <a:srgbClr val="3333CC"/>
                </a:solidFill>
                <a:latin typeface="Lucida Console" pitchFamily="49" charset="0"/>
              </a:rPr>
              <a:t>,</a:t>
            </a:r>
            <a:r>
              <a:rPr lang="en-US" altLang="zh-TW" sz="2400" b="1" dirty="0" smtClean="0">
                <a:solidFill>
                  <a:srgbClr val="CC3399"/>
                </a:solidFill>
                <a:latin typeface="Lucida Console" pitchFamily="49" charset="0"/>
              </a:rPr>
              <a:t>2</a:t>
            </a:r>
            <a:r>
              <a:rPr lang="en-US" altLang="zh-TW" sz="2400" dirty="0" smtClean="0">
                <a:solidFill>
                  <a:srgbClr val="3333CC"/>
                </a:solidFill>
                <a:latin typeface="Lucida Console" pitchFamily="49" charset="0"/>
              </a:rPr>
              <a:t>,</a:t>
            </a:r>
            <a:r>
              <a:rPr lang="en-US" altLang="zh-TW" sz="2400" b="1" dirty="0" smtClean="0">
                <a:solidFill>
                  <a:srgbClr val="FFC000"/>
                </a:solidFill>
                <a:latin typeface="Lucida Console" pitchFamily="49" charset="0"/>
              </a:rPr>
              <a:t>3</a:t>
            </a:r>
            <a:r>
              <a:rPr lang="en-US" altLang="zh-TW" sz="2400" dirty="0" smtClean="0">
                <a:solidFill>
                  <a:srgbClr val="3333CC"/>
                </a:solidFill>
                <a:latin typeface="Lucida Console" pitchFamily="49" charset="0"/>
              </a:rPr>
              <a:t>)</a:t>
            </a:r>
            <a:endParaRPr lang="en-US" altLang="zh-TW" sz="2400" dirty="0">
              <a:solidFill>
                <a:srgbClr val="3333CC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chemeClr val="bg1">
                  <a:lumMod val="65000"/>
                </a:schemeClr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python3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f(1,2,3):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First argument is: 1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(1,2,3):First argument is: (1, 2, 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(1,2,3):First argument is: </a:t>
            </a:r>
            <a:r>
              <a:rPr lang="en-US" altLang="zh-TW" sz="2400" dirty="0" smtClean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1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729788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Functions Calls with Splat </a:t>
            </a:r>
            <a:r>
              <a:rPr lang="en-US" altLang="zh-TW" sz="4400" b="1" kern="0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*</a:t>
            </a:r>
            <a:endParaRPr lang="en-US" altLang="zh-TW" sz="4400" b="1" kern="0" dirty="0">
              <a:solidFill>
                <a:srgbClr val="002060"/>
              </a:solidFill>
              <a:latin typeface="Franklin Gothic Medium" panose="020B0603020102020204" pitchFamily="34" charset="0"/>
            </a:endParaRPr>
          </a:p>
        </p:txBody>
      </p:sp>
      <p:cxnSp>
        <p:nvCxnSpPr>
          <p:cNvPr id="4" name="Straight Arrow Connector 3"/>
          <p:cNvCxnSpPr/>
          <p:nvPr/>
        </p:nvCxnSpPr>
        <p:spPr bwMode="auto">
          <a:xfrm flipV="1">
            <a:off x="902494" y="1403452"/>
            <a:ext cx="647700" cy="19812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" name="Straight Arrow Connector 5"/>
          <p:cNvCxnSpPr/>
          <p:nvPr/>
        </p:nvCxnSpPr>
        <p:spPr bwMode="auto">
          <a:xfrm flipV="1">
            <a:off x="1207294" y="1403452"/>
            <a:ext cx="457200" cy="19812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C3399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" name="Straight Arrow Connector 6"/>
          <p:cNvCxnSpPr/>
          <p:nvPr/>
        </p:nvCxnSpPr>
        <p:spPr bwMode="auto">
          <a:xfrm flipV="1">
            <a:off x="1588294" y="1403452"/>
            <a:ext cx="228600" cy="19812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Rectangular Callout 7"/>
          <p:cNvSpPr/>
          <p:nvPr/>
        </p:nvSpPr>
        <p:spPr bwMode="auto">
          <a:xfrm>
            <a:off x="4941094" y="3079852"/>
            <a:ext cx="4495800" cy="609600"/>
          </a:xfrm>
          <a:prstGeom prst="wedgeRectCallout">
            <a:avLst>
              <a:gd name="adj1" fmla="val -119391"/>
              <a:gd name="adj2" fmla="val 28795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2D2DB9"/>
                </a:solidFill>
                <a:latin typeface="Times New Roman" charset="0"/>
              </a:rPr>
              <a:t>See? We pass 3 arguments.</a:t>
            </a:r>
            <a:endParaRPr lang="zh-TW" altLang="en-US" sz="3200" dirty="0">
              <a:solidFill>
                <a:srgbClr val="2D2DB9"/>
              </a:solidFill>
              <a:latin typeface="Times New Roman" charset="0"/>
            </a:endParaRPr>
          </a:p>
        </p:txBody>
      </p:sp>
      <p:sp>
        <p:nvSpPr>
          <p:cNvPr id="9" name="Arc 8"/>
          <p:cNvSpPr/>
          <p:nvPr/>
        </p:nvSpPr>
        <p:spPr bwMode="auto">
          <a:xfrm rot="21270295">
            <a:off x="1530680" y="311972"/>
            <a:ext cx="5096014" cy="2224192"/>
          </a:xfrm>
          <a:prstGeom prst="arc">
            <a:avLst>
              <a:gd name="adj1" fmla="val 11557114"/>
              <a:gd name="adj2" fmla="val 270866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984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292894" y="717652"/>
            <a:ext cx="9144000" cy="6140348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cat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rgbClr val="3333CC"/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 f(</a:t>
            </a:r>
            <a:r>
              <a:rPr lang="en-US" altLang="zh-TW" sz="2400" b="1" dirty="0">
                <a:solidFill>
                  <a:schemeClr val="tx1"/>
                </a:solidFill>
                <a:latin typeface="Lucida Console" pitchFamily="49" charset="0"/>
              </a:rPr>
              <a:t>*v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print("First argument </a:t>
            </a:r>
            <a:r>
              <a:rPr lang="en-US" altLang="zh-TW" sz="2400" dirty="0" err="1">
                <a:solidFill>
                  <a:srgbClr val="3333CC"/>
                </a:solidFill>
                <a:latin typeface="Lucida Console" pitchFamily="49" charset="0"/>
              </a:rPr>
              <a:t>is:",</a:t>
            </a:r>
            <a:r>
              <a:rPr lang="en-US" altLang="zh-TW" sz="2400" dirty="0" err="1">
                <a:solidFill>
                  <a:srgbClr val="FF0000"/>
                </a:solidFill>
                <a:latin typeface="Lucida Console" pitchFamily="49" charset="0"/>
              </a:rPr>
              <a:t>v</a:t>
            </a:r>
            <a:r>
              <a:rPr lang="en-US" altLang="zh-TW" sz="2400" dirty="0">
                <a:solidFill>
                  <a:srgbClr val="FF0000"/>
                </a:solidFill>
                <a:latin typeface="Lucida Console" pitchFamily="49" charset="0"/>
              </a:rPr>
              <a:t>[0]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f(v)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f(*v)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print("f(1,2,3):",end="")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smtClean="0">
                <a:solidFill>
                  <a:srgbClr val="3333CC"/>
                </a:solidFill>
                <a:latin typeface="Lucida Console" pitchFamily="49" charset="0"/>
              </a:rPr>
              <a:t>f(</a:t>
            </a:r>
            <a:r>
              <a:rPr lang="en-US" altLang="zh-TW" sz="2400" b="1" dirty="0" smtClean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zh-TW" sz="2400" dirty="0" smtClean="0">
                <a:solidFill>
                  <a:srgbClr val="3333CC"/>
                </a:solidFill>
                <a:latin typeface="Lucida Console" pitchFamily="49" charset="0"/>
              </a:rPr>
              <a:t>,</a:t>
            </a:r>
            <a:r>
              <a:rPr lang="en-US" altLang="zh-TW" sz="2400" b="1" dirty="0" smtClean="0">
                <a:solidFill>
                  <a:srgbClr val="CC3399"/>
                </a:solidFill>
                <a:latin typeface="Lucida Console" pitchFamily="49" charset="0"/>
              </a:rPr>
              <a:t>2</a:t>
            </a:r>
            <a:r>
              <a:rPr lang="en-US" altLang="zh-TW" sz="2400" dirty="0" smtClean="0">
                <a:solidFill>
                  <a:srgbClr val="3333CC"/>
                </a:solidFill>
                <a:latin typeface="Lucida Console" pitchFamily="49" charset="0"/>
              </a:rPr>
              <a:t>,</a:t>
            </a:r>
            <a:r>
              <a:rPr lang="en-US" altLang="zh-TW" sz="2400" b="1" dirty="0" smtClean="0">
                <a:solidFill>
                  <a:srgbClr val="FFC000"/>
                </a:solidFill>
                <a:latin typeface="Lucida Console" pitchFamily="49" charset="0"/>
              </a:rPr>
              <a:t>3</a:t>
            </a:r>
            <a:r>
              <a:rPr lang="en-US" altLang="zh-TW" sz="2400" dirty="0" smtClean="0">
                <a:solidFill>
                  <a:srgbClr val="3333CC"/>
                </a:solidFill>
                <a:latin typeface="Lucida Console" pitchFamily="49" charset="0"/>
              </a:rPr>
              <a:t>)</a:t>
            </a:r>
            <a:endParaRPr lang="en-US" altLang="zh-TW" sz="2400" dirty="0">
              <a:solidFill>
                <a:srgbClr val="3333CC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chemeClr val="bg1">
                  <a:lumMod val="65000"/>
                </a:schemeClr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python3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f(1,2,3):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First argument is: 1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(1,2,3):First argument is: (1, 2, 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(1,2,3):First argument is: </a:t>
            </a:r>
            <a:r>
              <a:rPr lang="en-US" altLang="zh-TW" sz="2400" dirty="0" smtClean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1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729788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Functions Calls with Splat </a:t>
            </a:r>
            <a:r>
              <a:rPr lang="en-US" altLang="zh-TW" sz="4400" b="1" kern="0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*</a:t>
            </a:r>
            <a:endParaRPr lang="en-US" altLang="zh-TW" sz="4400" b="1" kern="0" dirty="0">
              <a:solidFill>
                <a:srgbClr val="002060"/>
              </a:solidFill>
              <a:latin typeface="Franklin Gothic Medium" panose="020B0603020102020204" pitchFamily="34" charset="0"/>
            </a:endParaRPr>
          </a:p>
        </p:txBody>
      </p:sp>
      <p:cxnSp>
        <p:nvCxnSpPr>
          <p:cNvPr id="4" name="Straight Arrow Connector 3"/>
          <p:cNvCxnSpPr/>
          <p:nvPr/>
        </p:nvCxnSpPr>
        <p:spPr bwMode="auto">
          <a:xfrm flipV="1">
            <a:off x="902494" y="1403452"/>
            <a:ext cx="647700" cy="19812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" name="Straight Arrow Connector 5"/>
          <p:cNvCxnSpPr/>
          <p:nvPr/>
        </p:nvCxnSpPr>
        <p:spPr bwMode="auto">
          <a:xfrm flipV="1">
            <a:off x="1207294" y="1403452"/>
            <a:ext cx="457200" cy="19812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C3399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" name="Straight Arrow Connector 6"/>
          <p:cNvCxnSpPr/>
          <p:nvPr/>
        </p:nvCxnSpPr>
        <p:spPr bwMode="auto">
          <a:xfrm flipV="1">
            <a:off x="1588294" y="1403452"/>
            <a:ext cx="228600" cy="19812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Rectangular Callout 7"/>
          <p:cNvSpPr/>
          <p:nvPr/>
        </p:nvSpPr>
        <p:spPr bwMode="auto">
          <a:xfrm>
            <a:off x="4941094" y="3079852"/>
            <a:ext cx="4495800" cy="609600"/>
          </a:xfrm>
          <a:prstGeom prst="wedgeRectCallout">
            <a:avLst>
              <a:gd name="adj1" fmla="val -119391"/>
              <a:gd name="adj2" fmla="val 28795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2D2DB9"/>
                </a:solidFill>
                <a:latin typeface="Times New Roman" charset="0"/>
              </a:rPr>
              <a:t>See? We pass 3 arguments.</a:t>
            </a:r>
            <a:endParaRPr lang="zh-TW" altLang="en-US" sz="3200" dirty="0">
              <a:solidFill>
                <a:srgbClr val="2D2DB9"/>
              </a:solidFill>
              <a:latin typeface="Times New Roman" charset="0"/>
            </a:endParaRPr>
          </a:p>
        </p:txBody>
      </p:sp>
      <p:sp>
        <p:nvSpPr>
          <p:cNvPr id="9" name="Arc 8"/>
          <p:cNvSpPr/>
          <p:nvPr/>
        </p:nvSpPr>
        <p:spPr bwMode="auto">
          <a:xfrm rot="21270295">
            <a:off x="1530680" y="311972"/>
            <a:ext cx="5096014" cy="2224192"/>
          </a:xfrm>
          <a:prstGeom prst="arc">
            <a:avLst>
              <a:gd name="adj1" fmla="val 11557114"/>
              <a:gd name="adj2" fmla="val 270866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 bwMode="auto">
          <a:xfrm flipH="1">
            <a:off x="5626894" y="1708252"/>
            <a:ext cx="914400" cy="39624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909164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292894" y="717652"/>
            <a:ext cx="9144000" cy="6140348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cat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rgbClr val="3333CC"/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 f(</a:t>
            </a:r>
            <a:r>
              <a:rPr lang="en-US" altLang="zh-TW" sz="2400" b="1" dirty="0">
                <a:solidFill>
                  <a:schemeClr val="tx1"/>
                </a:solidFill>
                <a:latin typeface="Lucida Console" pitchFamily="49" charset="0"/>
              </a:rPr>
              <a:t>*v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print("First argument </a:t>
            </a:r>
            <a:r>
              <a:rPr lang="en-US" altLang="zh-TW" sz="2400" dirty="0" err="1">
                <a:solidFill>
                  <a:srgbClr val="3333CC"/>
                </a:solidFill>
                <a:latin typeface="Lucida Console" pitchFamily="49" charset="0"/>
              </a:rPr>
              <a:t>is:",</a:t>
            </a:r>
            <a:r>
              <a:rPr lang="en-US" altLang="zh-TW" sz="2400" dirty="0" err="1">
                <a:solidFill>
                  <a:srgbClr val="FF0000"/>
                </a:solidFill>
                <a:latin typeface="Lucida Console" pitchFamily="49" charset="0"/>
              </a:rPr>
              <a:t>v</a:t>
            </a:r>
            <a:r>
              <a:rPr lang="en-US" altLang="zh-TW" sz="2400" dirty="0">
                <a:solidFill>
                  <a:srgbClr val="FF0000"/>
                </a:solidFill>
                <a:latin typeface="Lucida Console" pitchFamily="49" charset="0"/>
              </a:rPr>
              <a:t>[0]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f(v)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f(*v)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print("f(1,2,3):",end="")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smtClean="0">
                <a:solidFill>
                  <a:srgbClr val="3333CC"/>
                </a:solidFill>
                <a:latin typeface="Lucida Console" pitchFamily="49" charset="0"/>
              </a:rPr>
              <a:t>f(</a:t>
            </a:r>
            <a:r>
              <a:rPr lang="en-US" altLang="zh-TW" sz="2400" b="1" dirty="0" smtClean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zh-TW" sz="2400" dirty="0" smtClean="0">
                <a:solidFill>
                  <a:srgbClr val="3333CC"/>
                </a:solidFill>
                <a:latin typeface="Lucida Console" pitchFamily="49" charset="0"/>
              </a:rPr>
              <a:t>,</a:t>
            </a:r>
            <a:r>
              <a:rPr lang="en-US" altLang="zh-TW" sz="2400" b="1" dirty="0" smtClean="0">
                <a:solidFill>
                  <a:srgbClr val="CC3399"/>
                </a:solidFill>
                <a:latin typeface="Lucida Console" pitchFamily="49" charset="0"/>
              </a:rPr>
              <a:t>2</a:t>
            </a:r>
            <a:r>
              <a:rPr lang="en-US" altLang="zh-TW" sz="2400" dirty="0" smtClean="0">
                <a:solidFill>
                  <a:srgbClr val="3333CC"/>
                </a:solidFill>
                <a:latin typeface="Lucida Console" pitchFamily="49" charset="0"/>
              </a:rPr>
              <a:t>,</a:t>
            </a:r>
            <a:r>
              <a:rPr lang="en-US" altLang="zh-TW" sz="2400" b="1" dirty="0" smtClean="0">
                <a:solidFill>
                  <a:srgbClr val="FFC000"/>
                </a:solidFill>
                <a:latin typeface="Lucida Console" pitchFamily="49" charset="0"/>
              </a:rPr>
              <a:t>3</a:t>
            </a:r>
            <a:r>
              <a:rPr lang="en-US" altLang="zh-TW" sz="2400" dirty="0" smtClean="0">
                <a:solidFill>
                  <a:srgbClr val="3333CC"/>
                </a:solidFill>
                <a:latin typeface="Lucida Console" pitchFamily="49" charset="0"/>
              </a:rPr>
              <a:t>)</a:t>
            </a:r>
            <a:endParaRPr lang="en-US" altLang="zh-TW" sz="2400" dirty="0">
              <a:solidFill>
                <a:srgbClr val="3333CC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chemeClr val="bg1">
                  <a:lumMod val="65000"/>
                </a:schemeClr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python3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f(1,2,3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):</a:t>
            </a:r>
            <a:r>
              <a:rPr lang="en-US" altLang="zh-TW" sz="2400" dirty="0" smtClean="0">
                <a:solidFill>
                  <a:schemeClr val="accent2"/>
                </a:solidFill>
                <a:latin typeface="Lucida Console" pitchFamily="49" charset="0"/>
              </a:rPr>
              <a:t>First </a:t>
            </a:r>
            <a:r>
              <a:rPr lang="en-US" altLang="zh-TW" sz="2400" dirty="0">
                <a:solidFill>
                  <a:schemeClr val="accent2"/>
                </a:solidFill>
                <a:latin typeface="Lucida Console" pitchFamily="49" charset="0"/>
              </a:rPr>
              <a:t>argument is: </a:t>
            </a:r>
            <a:r>
              <a:rPr lang="en-US" altLang="zh-TW" sz="2400" dirty="0" smtClean="0">
                <a:solidFill>
                  <a:srgbClr val="FF0000"/>
                </a:solidFill>
                <a:latin typeface="Lucida Console" pitchFamily="49" charset="0"/>
              </a:rPr>
              <a:t>1</a:t>
            </a:r>
            <a:endParaRPr lang="en-US" altLang="zh-TW" sz="2400" dirty="0">
              <a:solidFill>
                <a:srgbClr val="FF0000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(1,2,3):First argument is: (1, 2, 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(1,2,3):First argument is: </a:t>
            </a:r>
            <a:r>
              <a:rPr lang="en-US" altLang="zh-TW" sz="2400" dirty="0" smtClean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1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729788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Functions Calls with Splat </a:t>
            </a:r>
            <a:r>
              <a:rPr lang="en-US" altLang="zh-TW" sz="4400" b="1" kern="0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*</a:t>
            </a:r>
            <a:endParaRPr lang="en-US" altLang="zh-TW" sz="4400" b="1" kern="0" dirty="0">
              <a:solidFill>
                <a:srgbClr val="002060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11" name="Rectangular Callout 10"/>
          <p:cNvSpPr/>
          <p:nvPr/>
        </p:nvSpPr>
        <p:spPr bwMode="auto">
          <a:xfrm>
            <a:off x="4941094" y="3079852"/>
            <a:ext cx="4495800" cy="609600"/>
          </a:xfrm>
          <a:prstGeom prst="wedgeRectCallout">
            <a:avLst>
              <a:gd name="adj1" fmla="val -119391"/>
              <a:gd name="adj2" fmla="val 28795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2D2DB9"/>
                </a:solidFill>
                <a:latin typeface="Times New Roman" charset="0"/>
              </a:rPr>
              <a:t>See? We pass 3 arguments.</a:t>
            </a:r>
            <a:endParaRPr lang="zh-TW" altLang="en-US" sz="3200" dirty="0">
              <a:solidFill>
                <a:srgbClr val="2D2DB9"/>
              </a:solidFill>
              <a:latin typeface="Times New Roman" charset="0"/>
            </a:endParaRPr>
          </a:p>
        </p:txBody>
      </p:sp>
      <p:sp>
        <p:nvSpPr>
          <p:cNvPr id="12" name="Rectangular Callout 11"/>
          <p:cNvSpPr/>
          <p:nvPr/>
        </p:nvSpPr>
        <p:spPr bwMode="auto">
          <a:xfrm>
            <a:off x="5017294" y="4832452"/>
            <a:ext cx="4495800" cy="609600"/>
          </a:xfrm>
          <a:prstGeom prst="wedgeRectCallout">
            <a:avLst>
              <a:gd name="adj1" fmla="val -34645"/>
              <a:gd name="adj2" fmla="val 9910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2D2DB9"/>
                </a:solidFill>
                <a:latin typeface="Times New Roman" charset="0"/>
              </a:rPr>
              <a:t>Yes. The 1</a:t>
            </a:r>
            <a:r>
              <a:rPr lang="en-US" altLang="zh-TW" sz="3200" baseline="30000" dirty="0">
                <a:solidFill>
                  <a:srgbClr val="2D2DB9"/>
                </a:solidFill>
                <a:latin typeface="Times New Roman" charset="0"/>
              </a:rPr>
              <a:t>st</a:t>
            </a:r>
            <a:r>
              <a:rPr lang="en-US" altLang="zh-TW" sz="3200" dirty="0">
                <a:solidFill>
                  <a:srgbClr val="2D2DB9"/>
                </a:solidFill>
                <a:latin typeface="Times New Roman" charset="0"/>
              </a:rPr>
              <a:t> argument is </a:t>
            </a:r>
            <a:r>
              <a:rPr lang="en-US" altLang="zh-TW" sz="3200" b="1" dirty="0">
                <a:solidFill>
                  <a:srgbClr val="2D2DB9"/>
                </a:solidFill>
                <a:latin typeface="Times New Roman" charset="0"/>
              </a:rPr>
              <a:t>1</a:t>
            </a:r>
            <a:r>
              <a:rPr lang="en-US" altLang="zh-TW" sz="3200" dirty="0">
                <a:solidFill>
                  <a:srgbClr val="2D2DB9"/>
                </a:solidFill>
                <a:latin typeface="Times New Roman" charset="0"/>
              </a:rPr>
              <a:t>.</a:t>
            </a:r>
            <a:endParaRPr lang="zh-TW" altLang="en-US" sz="3200" dirty="0">
              <a:solidFill>
                <a:srgbClr val="2D2DB9"/>
              </a:solidFill>
              <a:latin typeface="Times New Roman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 bwMode="auto">
          <a:xfrm flipV="1">
            <a:off x="902494" y="1403452"/>
            <a:ext cx="647700" cy="19812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Straight Arrow Connector 13"/>
          <p:cNvCxnSpPr/>
          <p:nvPr/>
        </p:nvCxnSpPr>
        <p:spPr bwMode="auto">
          <a:xfrm flipV="1">
            <a:off x="1207294" y="1403452"/>
            <a:ext cx="457200" cy="19812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C3399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Straight Arrow Connector 14"/>
          <p:cNvCxnSpPr/>
          <p:nvPr/>
        </p:nvCxnSpPr>
        <p:spPr bwMode="auto">
          <a:xfrm flipV="1">
            <a:off x="1588294" y="1403452"/>
            <a:ext cx="228600" cy="19812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/>
          <p:cNvCxnSpPr/>
          <p:nvPr/>
        </p:nvCxnSpPr>
        <p:spPr bwMode="auto">
          <a:xfrm flipH="1">
            <a:off x="5626894" y="1708252"/>
            <a:ext cx="914400" cy="39624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Arc 16"/>
          <p:cNvSpPr/>
          <p:nvPr/>
        </p:nvSpPr>
        <p:spPr bwMode="auto">
          <a:xfrm rot="21270295">
            <a:off x="1530680" y="311972"/>
            <a:ext cx="5096014" cy="2224192"/>
          </a:xfrm>
          <a:prstGeom prst="arc">
            <a:avLst>
              <a:gd name="adj1" fmla="val 11557114"/>
              <a:gd name="adj2" fmla="val 270866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5894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38" presetClass="exit" presetSubtype="0" ac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38" presetClass="exit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2" grpId="1" animBg="1"/>
      <p:bldP spid="17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292894" y="717652"/>
            <a:ext cx="9144000" cy="6140348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cat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 f(*v):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    print("First argument 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is:",v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[0])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f(v)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f(*v)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print("f(1,2,3):",end="")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f(1,2,3)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b="1" dirty="0">
                <a:solidFill>
                  <a:srgbClr val="3333CC"/>
                </a:solidFill>
                <a:latin typeface="Lucida Console" pitchFamily="49" charset="0"/>
              </a:rPr>
              <a:t>print("</a:t>
            </a:r>
            <a:r>
              <a:rPr lang="en-US" altLang="zh-TW" sz="2400" b="1" dirty="0" err="1">
                <a:solidFill>
                  <a:srgbClr val="3333CC"/>
                </a:solidFill>
                <a:latin typeface="Lucida Console" pitchFamily="49" charset="0"/>
              </a:rPr>
              <a:t>passPacked</a:t>
            </a:r>
            <a:r>
              <a:rPr lang="en-US" altLang="zh-TW" sz="2400" b="1" dirty="0">
                <a:solidFill>
                  <a:srgbClr val="3333CC"/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chemeClr val="bg1">
                  <a:lumMod val="65000"/>
                </a:schemeClr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python3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f(1,2,3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):First 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argument is: 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1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(1,2,3):First argument is: (1, 2, 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(1,2,3):First argument is: </a:t>
            </a:r>
            <a:r>
              <a:rPr lang="en-US" altLang="zh-TW" sz="2400" dirty="0" smtClean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1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729788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Functions Calls with Splat </a:t>
            </a:r>
            <a:r>
              <a:rPr lang="en-US" altLang="zh-TW" sz="4400" b="1" kern="0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*</a:t>
            </a:r>
            <a:endParaRPr lang="en-US" altLang="zh-TW" sz="4400" b="1" kern="0" dirty="0">
              <a:solidFill>
                <a:srgbClr val="002060"/>
              </a:solidFill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607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292894" y="717652"/>
            <a:ext cx="9144000" cy="6140348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cat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 f(*v):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    print("First argument 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is:",v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[0])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f(v)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f(*v)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print("f(1,2,3):",end="")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f(1,2,3)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b="1" dirty="0">
                <a:solidFill>
                  <a:srgbClr val="3333CC"/>
                </a:solidFill>
                <a:latin typeface="Lucida Console" pitchFamily="49" charset="0"/>
              </a:rPr>
              <a:t>print("</a:t>
            </a:r>
            <a:r>
              <a:rPr lang="en-US" altLang="zh-TW" sz="2400" b="1" dirty="0" err="1">
                <a:solidFill>
                  <a:srgbClr val="3333CC"/>
                </a:solidFill>
                <a:latin typeface="Lucida Console" pitchFamily="49" charset="0"/>
              </a:rPr>
              <a:t>passPacked</a:t>
            </a:r>
            <a:r>
              <a:rPr lang="en-US" altLang="zh-TW" sz="2400" b="1" dirty="0">
                <a:solidFill>
                  <a:srgbClr val="3333CC"/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chemeClr val="bg1">
                  <a:lumMod val="65000"/>
                </a:schemeClr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python3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f(1,2,3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):First 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argument is: 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1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b="1" dirty="0" err="1">
                <a:solidFill>
                  <a:srgbClr val="3333CC"/>
                </a:solidFill>
                <a:latin typeface="Lucida Console" pitchFamily="49" charset="0"/>
              </a:rPr>
              <a:t>passPacked</a:t>
            </a:r>
            <a:r>
              <a:rPr lang="en-US" altLang="zh-TW" sz="2400" b="1" dirty="0">
                <a:solidFill>
                  <a:srgbClr val="3333CC"/>
                </a:solidFill>
                <a:latin typeface="Lucida Console" pitchFamily="49" charset="0"/>
              </a:rPr>
              <a:t>(1,2,3):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First argument is: (1, 2, 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(1,2,3):First argument is: </a:t>
            </a:r>
            <a:r>
              <a:rPr lang="en-US" altLang="zh-TW" sz="2400" dirty="0" smtClean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1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729788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Functions Calls with Splat </a:t>
            </a:r>
            <a:r>
              <a:rPr lang="en-US" altLang="zh-TW" sz="4400" b="1" kern="0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*</a:t>
            </a:r>
            <a:endParaRPr lang="en-US" altLang="zh-TW" sz="4400" b="1" kern="0" dirty="0">
              <a:solidFill>
                <a:srgbClr val="002060"/>
              </a:solidFill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491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292894" y="717652"/>
            <a:ext cx="9144000" cy="6140348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cat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 f(*v):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    print("First argument 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is:",v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[0])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f(v)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f(*v)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print("f(1,2,3):",end="")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f(1,2,3)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b="1" dirty="0" err="1" smtClean="0">
                <a:solidFill>
                  <a:srgbClr val="3333CC"/>
                </a:solidFill>
                <a:latin typeface="Lucida Console" pitchFamily="49" charset="0"/>
              </a:rPr>
              <a:t>passPacked</a:t>
            </a:r>
            <a:r>
              <a:rPr lang="en-US" altLang="zh-TW" sz="2400" b="1" dirty="0" smtClean="0">
                <a:solidFill>
                  <a:srgbClr val="3333CC"/>
                </a:solidFill>
                <a:latin typeface="Lucida Console" pitchFamily="49" charset="0"/>
              </a:rPr>
              <a:t>(</a:t>
            </a:r>
            <a:r>
              <a:rPr lang="en-US" altLang="zh-TW" sz="2400" b="1" dirty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,</a:t>
            </a:r>
            <a:r>
              <a:rPr lang="en-US" altLang="zh-TW" sz="2400" b="1" dirty="0">
                <a:solidFill>
                  <a:srgbClr val="CC3399"/>
                </a:solidFill>
                <a:latin typeface="Lucida Console" pitchFamily="49" charset="0"/>
              </a:rPr>
              <a:t>2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,</a:t>
            </a:r>
            <a:r>
              <a:rPr lang="en-US" altLang="zh-TW" sz="2400" b="1" dirty="0">
                <a:solidFill>
                  <a:srgbClr val="FFC000"/>
                </a:solidFill>
                <a:latin typeface="Lucida Console" pitchFamily="49" charset="0"/>
              </a:rPr>
              <a:t>3</a:t>
            </a:r>
            <a:r>
              <a:rPr lang="en-US" altLang="zh-TW" sz="2400" b="1" dirty="0" smtClean="0">
                <a:solidFill>
                  <a:srgbClr val="3333CC"/>
                </a:solidFill>
                <a:latin typeface="Lucida Console" pitchFamily="49" charset="0"/>
              </a:rPr>
              <a:t>)</a:t>
            </a:r>
            <a:endParaRPr lang="en-US" altLang="zh-TW" sz="2400" b="1" dirty="0">
              <a:solidFill>
                <a:srgbClr val="3333CC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chemeClr val="bg1">
                  <a:lumMod val="65000"/>
                </a:schemeClr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python3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f(1,2,3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):First 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argument is: 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1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First argument is: (1, 2, 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(1,2,3):First argument is: </a:t>
            </a:r>
            <a:r>
              <a:rPr lang="en-US" altLang="zh-TW" sz="2400" dirty="0" smtClean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1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729788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Functions Calls with Splat </a:t>
            </a:r>
            <a:r>
              <a:rPr lang="en-US" altLang="zh-TW" sz="4400" b="1" kern="0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*</a:t>
            </a:r>
            <a:endParaRPr lang="en-US" altLang="zh-TW" sz="4400" b="1" kern="0" dirty="0">
              <a:solidFill>
                <a:srgbClr val="002060"/>
              </a:solidFill>
              <a:latin typeface="Franklin Gothic Medium" panose="020B0603020102020204" pitchFamily="34" charset="0"/>
            </a:endParaRPr>
          </a:p>
        </p:txBody>
      </p:sp>
      <p:cxnSp>
        <p:nvCxnSpPr>
          <p:cNvPr id="4" name="Straight Arrow Connector 3"/>
          <p:cNvCxnSpPr/>
          <p:nvPr/>
        </p:nvCxnSpPr>
        <p:spPr bwMode="auto">
          <a:xfrm flipV="1">
            <a:off x="2545029" y="1936855"/>
            <a:ext cx="681567" cy="213359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" name="Straight Arrow Connector 5"/>
          <p:cNvCxnSpPr/>
          <p:nvPr/>
        </p:nvCxnSpPr>
        <p:spPr bwMode="auto">
          <a:xfrm flipV="1">
            <a:off x="2892163" y="1936855"/>
            <a:ext cx="448733" cy="210819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C3399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" name="Straight Arrow Connector 6"/>
          <p:cNvCxnSpPr/>
          <p:nvPr/>
        </p:nvCxnSpPr>
        <p:spPr bwMode="auto">
          <a:xfrm flipV="1">
            <a:off x="3239294" y="1936854"/>
            <a:ext cx="254000" cy="211666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705524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292894" y="717652"/>
            <a:ext cx="9144000" cy="6140348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cat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 f(*v):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    print("First argument 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is:",v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[0])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rgbClr val="3333CC"/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rgbClr val="3333CC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(</a:t>
            </a:r>
            <a:r>
              <a:rPr lang="en-US" altLang="zh-TW" sz="2400" b="1" dirty="0">
                <a:solidFill>
                  <a:schemeClr val="tx1"/>
                </a:solidFill>
                <a:latin typeface="Lucida Console" pitchFamily="49" charset="0"/>
              </a:rPr>
              <a:t>*v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f(v)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f(*v)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print("f(1,2,3):",end="")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f(1,2,3)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b="1" dirty="0" err="1" smtClean="0">
                <a:solidFill>
                  <a:srgbClr val="3333CC"/>
                </a:solidFill>
                <a:latin typeface="Lucida Console" pitchFamily="49" charset="0"/>
              </a:rPr>
              <a:t>passPacked</a:t>
            </a:r>
            <a:r>
              <a:rPr lang="en-US" altLang="zh-TW" sz="2400" b="1" dirty="0" smtClean="0">
                <a:solidFill>
                  <a:srgbClr val="3333CC"/>
                </a:solidFill>
                <a:latin typeface="Lucida Console" pitchFamily="49" charset="0"/>
              </a:rPr>
              <a:t>(</a:t>
            </a:r>
            <a:r>
              <a:rPr lang="en-US" altLang="zh-TW" sz="2400" b="1" dirty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,</a:t>
            </a:r>
            <a:r>
              <a:rPr lang="en-US" altLang="zh-TW" sz="2400" b="1" dirty="0">
                <a:solidFill>
                  <a:srgbClr val="CC3399"/>
                </a:solidFill>
                <a:latin typeface="Lucida Console" pitchFamily="49" charset="0"/>
              </a:rPr>
              <a:t>2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,</a:t>
            </a:r>
            <a:r>
              <a:rPr lang="en-US" altLang="zh-TW" sz="2400" b="1" dirty="0">
                <a:solidFill>
                  <a:srgbClr val="FFC000"/>
                </a:solidFill>
                <a:latin typeface="Lucida Console" pitchFamily="49" charset="0"/>
              </a:rPr>
              <a:t>3</a:t>
            </a:r>
            <a:r>
              <a:rPr lang="en-US" altLang="zh-TW" sz="2400" b="1" dirty="0" smtClean="0">
                <a:solidFill>
                  <a:srgbClr val="3333CC"/>
                </a:solidFill>
                <a:latin typeface="Lucida Console" pitchFamily="49" charset="0"/>
              </a:rPr>
              <a:t>)</a:t>
            </a:r>
            <a:endParaRPr lang="en-US" altLang="zh-TW" sz="2400" b="1" dirty="0">
              <a:solidFill>
                <a:srgbClr val="3333CC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chemeClr val="bg1">
                  <a:lumMod val="65000"/>
                </a:schemeClr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python3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f(1,2,3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):First 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argument is: 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1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First argument is: (1, 2, 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(1,2,3):First argument is: </a:t>
            </a:r>
            <a:r>
              <a:rPr lang="en-US" altLang="zh-TW" sz="2400" dirty="0" smtClean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1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729788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Functions Calls with Splat </a:t>
            </a:r>
            <a:r>
              <a:rPr lang="en-US" altLang="zh-TW" sz="4400" b="1" kern="0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*</a:t>
            </a:r>
            <a:endParaRPr lang="en-US" altLang="zh-TW" sz="4400" b="1" kern="0" dirty="0">
              <a:solidFill>
                <a:srgbClr val="002060"/>
              </a:solidFill>
              <a:latin typeface="Franklin Gothic Medium" panose="020B0603020102020204" pitchFamily="34" charset="0"/>
            </a:endParaRPr>
          </a:p>
        </p:txBody>
      </p:sp>
      <p:cxnSp>
        <p:nvCxnSpPr>
          <p:cNvPr id="4" name="Straight Arrow Connector 3"/>
          <p:cNvCxnSpPr/>
          <p:nvPr/>
        </p:nvCxnSpPr>
        <p:spPr bwMode="auto">
          <a:xfrm flipV="1">
            <a:off x="2545029" y="1936855"/>
            <a:ext cx="681567" cy="213359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" name="Straight Arrow Connector 5"/>
          <p:cNvCxnSpPr/>
          <p:nvPr/>
        </p:nvCxnSpPr>
        <p:spPr bwMode="auto">
          <a:xfrm flipV="1">
            <a:off x="2892163" y="1936855"/>
            <a:ext cx="448733" cy="210819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C3399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" name="Straight Arrow Connector 6"/>
          <p:cNvCxnSpPr/>
          <p:nvPr/>
        </p:nvCxnSpPr>
        <p:spPr bwMode="auto">
          <a:xfrm flipV="1">
            <a:off x="3239294" y="1936854"/>
            <a:ext cx="254000" cy="211666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772189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292894" y="717652"/>
            <a:ext cx="9144000" cy="6140348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cat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 f(*v):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    print("First argument 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is:",v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[0])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rgbClr val="3333CC"/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rgbClr val="3333CC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(</a:t>
            </a:r>
            <a:r>
              <a:rPr lang="en-US" altLang="zh-TW" sz="2400" b="1" dirty="0">
                <a:solidFill>
                  <a:schemeClr val="tx1"/>
                </a:solidFill>
                <a:latin typeface="Lucida Console" pitchFamily="49" charset="0"/>
              </a:rPr>
              <a:t>*v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</a:t>
            </a:r>
            <a:r>
              <a:rPr lang="en-US" altLang="zh-TW" sz="2400" b="1" dirty="0">
                <a:solidFill>
                  <a:srgbClr val="00B050"/>
                </a:solidFill>
                <a:latin typeface="Lucida Console" pitchFamily="49" charset="0"/>
              </a:rPr>
              <a:t>f(v)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f(*v)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print("f(1,2,3):",end="")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f(1,2,3)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b="1" dirty="0" err="1" smtClean="0">
                <a:solidFill>
                  <a:srgbClr val="3333CC"/>
                </a:solidFill>
                <a:latin typeface="Lucida Console" pitchFamily="49" charset="0"/>
              </a:rPr>
              <a:t>passPacked</a:t>
            </a:r>
            <a:r>
              <a:rPr lang="en-US" altLang="zh-TW" sz="2400" b="1" dirty="0" smtClean="0">
                <a:solidFill>
                  <a:srgbClr val="3333CC"/>
                </a:solidFill>
                <a:latin typeface="Lucida Console" pitchFamily="49" charset="0"/>
              </a:rPr>
              <a:t>(</a:t>
            </a:r>
            <a:r>
              <a:rPr lang="en-US" altLang="zh-TW" sz="2400" b="1" dirty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,</a:t>
            </a:r>
            <a:r>
              <a:rPr lang="en-US" altLang="zh-TW" sz="2400" b="1" dirty="0">
                <a:solidFill>
                  <a:srgbClr val="CC3399"/>
                </a:solidFill>
                <a:latin typeface="Lucida Console" pitchFamily="49" charset="0"/>
              </a:rPr>
              <a:t>2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,</a:t>
            </a:r>
            <a:r>
              <a:rPr lang="en-US" altLang="zh-TW" sz="2400" b="1" dirty="0">
                <a:solidFill>
                  <a:srgbClr val="FFC000"/>
                </a:solidFill>
                <a:latin typeface="Lucida Console" pitchFamily="49" charset="0"/>
              </a:rPr>
              <a:t>3</a:t>
            </a:r>
            <a:r>
              <a:rPr lang="en-US" altLang="zh-TW" sz="2400" b="1" dirty="0" smtClean="0">
                <a:solidFill>
                  <a:srgbClr val="3333CC"/>
                </a:solidFill>
                <a:latin typeface="Lucida Console" pitchFamily="49" charset="0"/>
              </a:rPr>
              <a:t>)</a:t>
            </a:r>
            <a:endParaRPr lang="en-US" altLang="zh-TW" sz="2400" b="1" dirty="0">
              <a:solidFill>
                <a:srgbClr val="3333CC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chemeClr val="bg1">
                  <a:lumMod val="65000"/>
                </a:schemeClr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python3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f(1,2,3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):First 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argument is: 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1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First argument is: (1, 2, 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(1,2,3):First argument is: </a:t>
            </a:r>
            <a:r>
              <a:rPr lang="en-US" altLang="zh-TW" sz="2400" dirty="0" smtClean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1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729788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Functions Calls with Splat </a:t>
            </a:r>
            <a:r>
              <a:rPr lang="en-US" altLang="zh-TW" sz="4400" b="1" kern="0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*</a:t>
            </a:r>
            <a:endParaRPr lang="en-US" altLang="zh-TW" sz="4400" b="1" kern="0" dirty="0">
              <a:solidFill>
                <a:srgbClr val="002060"/>
              </a:solidFill>
              <a:latin typeface="Franklin Gothic Medium" panose="020B0603020102020204" pitchFamily="34" charset="0"/>
            </a:endParaRPr>
          </a:p>
        </p:txBody>
      </p:sp>
      <p:cxnSp>
        <p:nvCxnSpPr>
          <p:cNvPr id="4" name="Straight Arrow Connector 3"/>
          <p:cNvCxnSpPr/>
          <p:nvPr/>
        </p:nvCxnSpPr>
        <p:spPr bwMode="auto">
          <a:xfrm flipV="1">
            <a:off x="2545029" y="1936855"/>
            <a:ext cx="681567" cy="213359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" name="Straight Arrow Connector 5"/>
          <p:cNvCxnSpPr/>
          <p:nvPr/>
        </p:nvCxnSpPr>
        <p:spPr bwMode="auto">
          <a:xfrm flipV="1">
            <a:off x="2892163" y="1936855"/>
            <a:ext cx="448733" cy="210819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C3399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" name="Straight Arrow Connector 6"/>
          <p:cNvCxnSpPr/>
          <p:nvPr/>
        </p:nvCxnSpPr>
        <p:spPr bwMode="auto">
          <a:xfrm flipV="1">
            <a:off x="3239294" y="1936854"/>
            <a:ext cx="254000" cy="211666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Rectangular Callout 7"/>
          <p:cNvSpPr/>
          <p:nvPr/>
        </p:nvSpPr>
        <p:spPr bwMode="auto">
          <a:xfrm>
            <a:off x="4941094" y="1860652"/>
            <a:ext cx="4495800" cy="1066800"/>
          </a:xfrm>
          <a:prstGeom prst="wedgeRectCallout">
            <a:avLst>
              <a:gd name="adj1" fmla="val -118638"/>
              <a:gd name="adj2" fmla="val -18824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u="sng" dirty="0">
                <a:solidFill>
                  <a:srgbClr val="2D2DB9"/>
                </a:solidFill>
                <a:latin typeface="Times New Roman" charset="0"/>
              </a:rPr>
              <a:t>The</a:t>
            </a:r>
            <a:r>
              <a:rPr lang="en-US" altLang="zh-TW" sz="3200" dirty="0">
                <a:solidFill>
                  <a:srgbClr val="2D2DB9"/>
                </a:solidFill>
                <a:latin typeface="Times New Roman" charset="0"/>
              </a:rPr>
              <a:t> Question: </a:t>
            </a:r>
            <a:br>
              <a:rPr lang="en-US" altLang="zh-TW" sz="3200" dirty="0">
                <a:solidFill>
                  <a:srgbClr val="2D2DB9"/>
                </a:solidFill>
                <a:latin typeface="Times New Roman" charset="0"/>
              </a:rPr>
            </a:br>
            <a:r>
              <a:rPr lang="en-US" altLang="zh-TW" sz="3200" dirty="0">
                <a:solidFill>
                  <a:srgbClr val="2D2DB9"/>
                </a:solidFill>
                <a:latin typeface="Times New Roman" charset="0"/>
              </a:rPr>
              <a:t>What gets passed to f()?</a:t>
            </a:r>
            <a:endParaRPr lang="zh-TW" altLang="en-US" sz="3200" dirty="0">
              <a:solidFill>
                <a:srgbClr val="2D2DB9"/>
              </a:solidFill>
              <a:latin typeface="Times New Roman" charset="0"/>
            </a:endParaRPr>
          </a:p>
        </p:txBody>
      </p:sp>
      <p:cxnSp>
        <p:nvCxnSpPr>
          <p:cNvPr id="9" name="Straight Arrow Connector 8"/>
          <p:cNvCxnSpPr/>
          <p:nvPr/>
        </p:nvCxnSpPr>
        <p:spPr bwMode="auto">
          <a:xfrm flipH="1">
            <a:off x="1695319" y="1907458"/>
            <a:ext cx="1480500" cy="30594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Straight Arrow Connector 9"/>
          <p:cNvCxnSpPr/>
          <p:nvPr/>
        </p:nvCxnSpPr>
        <p:spPr bwMode="auto">
          <a:xfrm flipV="1">
            <a:off x="1588296" y="1327252"/>
            <a:ext cx="48803" cy="8382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876235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292894" y="717652"/>
            <a:ext cx="9144000" cy="6140348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cat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rgbClr val="00B050"/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rgbClr val="00B050"/>
                </a:solidFill>
                <a:latin typeface="Lucida Console" pitchFamily="49" charset="0"/>
              </a:rPr>
              <a:t> f(</a:t>
            </a:r>
            <a:r>
              <a:rPr lang="en-US" altLang="zh-TW" sz="2400" b="1" dirty="0">
                <a:solidFill>
                  <a:schemeClr val="tx1"/>
                </a:solidFill>
                <a:latin typeface="Lucida Console" pitchFamily="49" charset="0"/>
              </a:rPr>
              <a:t>*v</a:t>
            </a:r>
            <a:r>
              <a:rPr lang="en-US" altLang="zh-TW" sz="2400" dirty="0">
                <a:solidFill>
                  <a:srgbClr val="00B050"/>
                </a:solidFill>
                <a:latin typeface="Lucida Console" pitchFamily="49" charset="0"/>
              </a:rPr>
              <a:t>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    print("First argument 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is:",v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[0])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rgbClr val="3333CC"/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rgbClr val="3333CC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(</a:t>
            </a:r>
            <a:r>
              <a:rPr lang="en-US" altLang="zh-TW" sz="2400" b="1" dirty="0">
                <a:solidFill>
                  <a:schemeClr val="tx1"/>
                </a:solidFill>
                <a:latin typeface="Lucida Console" pitchFamily="49" charset="0"/>
              </a:rPr>
              <a:t>*v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</a:t>
            </a:r>
            <a:r>
              <a:rPr lang="en-US" altLang="zh-TW" sz="2400" b="1" dirty="0">
                <a:solidFill>
                  <a:srgbClr val="00B050"/>
                </a:solidFill>
                <a:latin typeface="Lucida Console" pitchFamily="49" charset="0"/>
              </a:rPr>
              <a:t>f(v)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f(*v)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print("f(1,2,3):",end="")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f(1,2,3)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b="1" dirty="0" err="1" smtClean="0">
                <a:solidFill>
                  <a:srgbClr val="3333CC"/>
                </a:solidFill>
                <a:latin typeface="Lucida Console" pitchFamily="49" charset="0"/>
              </a:rPr>
              <a:t>passPacked</a:t>
            </a:r>
            <a:r>
              <a:rPr lang="en-US" altLang="zh-TW" sz="2400" b="1" dirty="0" smtClean="0">
                <a:solidFill>
                  <a:srgbClr val="3333CC"/>
                </a:solidFill>
                <a:latin typeface="Lucida Console" pitchFamily="49" charset="0"/>
              </a:rPr>
              <a:t>(</a:t>
            </a:r>
            <a:r>
              <a:rPr lang="en-US" altLang="zh-TW" sz="2400" b="1" dirty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,</a:t>
            </a:r>
            <a:r>
              <a:rPr lang="en-US" altLang="zh-TW" sz="2400" b="1" dirty="0">
                <a:solidFill>
                  <a:srgbClr val="CC3399"/>
                </a:solidFill>
                <a:latin typeface="Lucida Console" pitchFamily="49" charset="0"/>
              </a:rPr>
              <a:t>2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,</a:t>
            </a:r>
            <a:r>
              <a:rPr lang="en-US" altLang="zh-TW" sz="2400" b="1" dirty="0">
                <a:solidFill>
                  <a:srgbClr val="FFC000"/>
                </a:solidFill>
                <a:latin typeface="Lucida Console" pitchFamily="49" charset="0"/>
              </a:rPr>
              <a:t>3</a:t>
            </a:r>
            <a:r>
              <a:rPr lang="en-US" altLang="zh-TW" sz="2400" b="1" dirty="0" smtClean="0">
                <a:solidFill>
                  <a:srgbClr val="3333CC"/>
                </a:solidFill>
                <a:latin typeface="Lucida Console" pitchFamily="49" charset="0"/>
              </a:rPr>
              <a:t>)</a:t>
            </a:r>
            <a:endParaRPr lang="en-US" altLang="zh-TW" sz="2400" b="1" dirty="0">
              <a:solidFill>
                <a:srgbClr val="3333CC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chemeClr val="bg1">
                  <a:lumMod val="65000"/>
                </a:schemeClr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python3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f(1,2,3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):First 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argument is: 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1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First argument is: (1, 2, 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(1,2,3):First argument is: </a:t>
            </a:r>
            <a:r>
              <a:rPr lang="en-US" altLang="zh-TW" sz="2400" dirty="0" smtClean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1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729788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Functions Calls with Splat </a:t>
            </a:r>
            <a:r>
              <a:rPr lang="en-US" altLang="zh-TW" sz="4400" b="1" kern="0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*</a:t>
            </a:r>
            <a:endParaRPr lang="en-US" altLang="zh-TW" sz="4400" b="1" kern="0" dirty="0">
              <a:solidFill>
                <a:srgbClr val="002060"/>
              </a:solidFill>
              <a:latin typeface="Franklin Gothic Medium" panose="020B0603020102020204" pitchFamily="34" charset="0"/>
            </a:endParaRPr>
          </a:p>
        </p:txBody>
      </p:sp>
      <p:cxnSp>
        <p:nvCxnSpPr>
          <p:cNvPr id="4" name="Straight Arrow Connector 3"/>
          <p:cNvCxnSpPr/>
          <p:nvPr/>
        </p:nvCxnSpPr>
        <p:spPr bwMode="auto">
          <a:xfrm flipV="1">
            <a:off x="2545029" y="1936855"/>
            <a:ext cx="681567" cy="213359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" name="Straight Arrow Connector 5"/>
          <p:cNvCxnSpPr/>
          <p:nvPr/>
        </p:nvCxnSpPr>
        <p:spPr bwMode="auto">
          <a:xfrm flipV="1">
            <a:off x="2892163" y="1936855"/>
            <a:ext cx="448733" cy="210819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C3399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" name="Straight Arrow Connector 6"/>
          <p:cNvCxnSpPr/>
          <p:nvPr/>
        </p:nvCxnSpPr>
        <p:spPr bwMode="auto">
          <a:xfrm flipV="1">
            <a:off x="3239294" y="1936854"/>
            <a:ext cx="254000" cy="211666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Rectangular Callout 7"/>
          <p:cNvSpPr/>
          <p:nvPr/>
        </p:nvSpPr>
        <p:spPr bwMode="auto">
          <a:xfrm>
            <a:off x="4941094" y="1860652"/>
            <a:ext cx="4495800" cy="1066800"/>
          </a:xfrm>
          <a:prstGeom prst="wedgeRectCallout">
            <a:avLst>
              <a:gd name="adj1" fmla="val -118638"/>
              <a:gd name="adj2" fmla="val -18824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u="sng" dirty="0">
                <a:solidFill>
                  <a:srgbClr val="2D2DB9"/>
                </a:solidFill>
                <a:latin typeface="Times New Roman" charset="0"/>
              </a:rPr>
              <a:t>The</a:t>
            </a:r>
            <a:r>
              <a:rPr lang="en-US" altLang="zh-TW" sz="3200" dirty="0">
                <a:solidFill>
                  <a:srgbClr val="2D2DB9"/>
                </a:solidFill>
                <a:latin typeface="Times New Roman" charset="0"/>
              </a:rPr>
              <a:t> Question: </a:t>
            </a:r>
            <a:br>
              <a:rPr lang="en-US" altLang="zh-TW" sz="3200" dirty="0">
                <a:solidFill>
                  <a:srgbClr val="2D2DB9"/>
                </a:solidFill>
                <a:latin typeface="Times New Roman" charset="0"/>
              </a:rPr>
            </a:br>
            <a:r>
              <a:rPr lang="en-US" altLang="zh-TW" sz="3200" dirty="0">
                <a:solidFill>
                  <a:srgbClr val="2D2DB9"/>
                </a:solidFill>
                <a:latin typeface="Times New Roman" charset="0"/>
              </a:rPr>
              <a:t>What gets passed to f()?</a:t>
            </a:r>
            <a:endParaRPr lang="zh-TW" altLang="en-US" sz="3200" dirty="0">
              <a:solidFill>
                <a:srgbClr val="2D2DB9"/>
              </a:solidFill>
              <a:latin typeface="Times New Roman" charset="0"/>
            </a:endParaRPr>
          </a:p>
        </p:txBody>
      </p:sp>
      <p:cxnSp>
        <p:nvCxnSpPr>
          <p:cNvPr id="9" name="Straight Arrow Connector 8"/>
          <p:cNvCxnSpPr/>
          <p:nvPr/>
        </p:nvCxnSpPr>
        <p:spPr bwMode="auto">
          <a:xfrm flipH="1">
            <a:off x="1695319" y="1907458"/>
            <a:ext cx="1480500" cy="30594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Straight Arrow Connector 9"/>
          <p:cNvCxnSpPr/>
          <p:nvPr/>
        </p:nvCxnSpPr>
        <p:spPr bwMode="auto">
          <a:xfrm flipV="1">
            <a:off x="1588296" y="1327252"/>
            <a:ext cx="48803" cy="8382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Arc 10"/>
          <p:cNvSpPr/>
          <p:nvPr/>
        </p:nvSpPr>
        <p:spPr bwMode="auto">
          <a:xfrm rot="21270295">
            <a:off x="1530680" y="311972"/>
            <a:ext cx="5096014" cy="2224192"/>
          </a:xfrm>
          <a:prstGeom prst="arc">
            <a:avLst>
              <a:gd name="adj1" fmla="val 11557114"/>
              <a:gd name="adj2" fmla="val 270866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343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292894" y="717652"/>
            <a:ext cx="9144000" cy="6140348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cat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rgbClr val="00B050"/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rgbClr val="00B050"/>
                </a:solidFill>
                <a:latin typeface="Lucida Console" pitchFamily="49" charset="0"/>
              </a:rPr>
              <a:t> f(</a:t>
            </a:r>
            <a:r>
              <a:rPr lang="en-US" altLang="zh-TW" sz="2400" b="1" dirty="0">
                <a:solidFill>
                  <a:schemeClr val="tx1"/>
                </a:solidFill>
                <a:latin typeface="Lucida Console" pitchFamily="49" charset="0"/>
              </a:rPr>
              <a:t>*v</a:t>
            </a:r>
            <a:r>
              <a:rPr lang="en-US" altLang="zh-TW" sz="2400" dirty="0">
                <a:solidFill>
                  <a:srgbClr val="00B050"/>
                </a:solidFill>
                <a:latin typeface="Lucida Console" pitchFamily="49" charset="0"/>
              </a:rPr>
              <a:t>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rgbClr val="00B050"/>
                </a:solidFill>
                <a:latin typeface="Lucida Console" pitchFamily="49" charset="0"/>
              </a:rPr>
              <a:t>    print("First argument </a:t>
            </a:r>
            <a:r>
              <a:rPr lang="en-US" altLang="zh-TW" sz="2400" dirty="0" err="1">
                <a:solidFill>
                  <a:srgbClr val="00B050"/>
                </a:solidFill>
                <a:latin typeface="Lucida Console" pitchFamily="49" charset="0"/>
              </a:rPr>
              <a:t>is:",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v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[0]</a:t>
            </a:r>
            <a:r>
              <a:rPr lang="en-US" altLang="zh-TW" sz="2400" dirty="0">
                <a:solidFill>
                  <a:srgbClr val="00B050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rgbClr val="3333CC"/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rgbClr val="3333CC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(</a:t>
            </a:r>
            <a:r>
              <a:rPr lang="en-US" altLang="zh-TW" sz="2400" b="1" dirty="0">
                <a:solidFill>
                  <a:schemeClr val="tx1"/>
                </a:solidFill>
                <a:latin typeface="Lucida Console" pitchFamily="49" charset="0"/>
              </a:rPr>
              <a:t>*v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</a:t>
            </a:r>
            <a:r>
              <a:rPr lang="en-US" altLang="zh-TW" sz="2400" b="1" dirty="0">
                <a:solidFill>
                  <a:srgbClr val="00B050"/>
                </a:solidFill>
                <a:latin typeface="Lucida Console" pitchFamily="49" charset="0"/>
              </a:rPr>
              <a:t>f(v)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f(*v)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print("f(1,2,3):",end="")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f(1,2,3)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b="1" dirty="0" err="1" smtClean="0">
                <a:solidFill>
                  <a:srgbClr val="3333CC"/>
                </a:solidFill>
                <a:latin typeface="Lucida Console" pitchFamily="49" charset="0"/>
              </a:rPr>
              <a:t>passPacked</a:t>
            </a:r>
            <a:r>
              <a:rPr lang="en-US" altLang="zh-TW" sz="2400" b="1" dirty="0" smtClean="0">
                <a:solidFill>
                  <a:srgbClr val="3333CC"/>
                </a:solidFill>
                <a:latin typeface="Lucida Console" pitchFamily="49" charset="0"/>
              </a:rPr>
              <a:t>(</a:t>
            </a:r>
            <a:r>
              <a:rPr lang="en-US" altLang="zh-TW" sz="2400" b="1" dirty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,</a:t>
            </a:r>
            <a:r>
              <a:rPr lang="en-US" altLang="zh-TW" sz="2400" b="1" dirty="0">
                <a:solidFill>
                  <a:srgbClr val="CC3399"/>
                </a:solidFill>
                <a:latin typeface="Lucida Console" pitchFamily="49" charset="0"/>
              </a:rPr>
              <a:t>2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,</a:t>
            </a:r>
            <a:r>
              <a:rPr lang="en-US" altLang="zh-TW" sz="2400" b="1" dirty="0">
                <a:solidFill>
                  <a:srgbClr val="FFC000"/>
                </a:solidFill>
                <a:latin typeface="Lucida Console" pitchFamily="49" charset="0"/>
              </a:rPr>
              <a:t>3</a:t>
            </a:r>
            <a:r>
              <a:rPr lang="en-US" altLang="zh-TW" sz="2400" b="1" dirty="0" smtClean="0">
                <a:solidFill>
                  <a:srgbClr val="3333CC"/>
                </a:solidFill>
                <a:latin typeface="Lucida Console" pitchFamily="49" charset="0"/>
              </a:rPr>
              <a:t>)</a:t>
            </a:r>
            <a:endParaRPr lang="en-US" altLang="zh-TW" sz="2400" b="1" dirty="0">
              <a:solidFill>
                <a:srgbClr val="3333CC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chemeClr val="bg1">
                  <a:lumMod val="65000"/>
                </a:schemeClr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python3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f(1,2,3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):First 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argument is: 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1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First argument is: (1, 2, 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(1,2,3):First argument is: </a:t>
            </a:r>
            <a:r>
              <a:rPr lang="en-US" altLang="zh-TW" sz="2400" dirty="0" smtClean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1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729788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Functions Calls with Splat </a:t>
            </a:r>
            <a:r>
              <a:rPr lang="en-US" altLang="zh-TW" sz="4400" b="1" kern="0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*</a:t>
            </a:r>
            <a:endParaRPr lang="en-US" altLang="zh-TW" sz="4400" b="1" kern="0" dirty="0">
              <a:solidFill>
                <a:srgbClr val="002060"/>
              </a:solidFill>
              <a:latin typeface="Franklin Gothic Medium" panose="020B0603020102020204" pitchFamily="34" charset="0"/>
            </a:endParaRPr>
          </a:p>
        </p:txBody>
      </p:sp>
      <p:cxnSp>
        <p:nvCxnSpPr>
          <p:cNvPr id="4" name="Straight Arrow Connector 3"/>
          <p:cNvCxnSpPr/>
          <p:nvPr/>
        </p:nvCxnSpPr>
        <p:spPr bwMode="auto">
          <a:xfrm flipV="1">
            <a:off x="2545029" y="1936855"/>
            <a:ext cx="681567" cy="213359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" name="Straight Arrow Connector 5"/>
          <p:cNvCxnSpPr/>
          <p:nvPr/>
        </p:nvCxnSpPr>
        <p:spPr bwMode="auto">
          <a:xfrm flipV="1">
            <a:off x="2892163" y="1936855"/>
            <a:ext cx="448733" cy="210819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C3399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" name="Straight Arrow Connector 6"/>
          <p:cNvCxnSpPr/>
          <p:nvPr/>
        </p:nvCxnSpPr>
        <p:spPr bwMode="auto">
          <a:xfrm flipV="1">
            <a:off x="3239294" y="1936854"/>
            <a:ext cx="254000" cy="211666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Rectangular Callout 7"/>
          <p:cNvSpPr/>
          <p:nvPr/>
        </p:nvSpPr>
        <p:spPr bwMode="auto">
          <a:xfrm>
            <a:off x="4941094" y="1860652"/>
            <a:ext cx="4495800" cy="1066800"/>
          </a:xfrm>
          <a:prstGeom prst="wedgeRectCallout">
            <a:avLst>
              <a:gd name="adj1" fmla="val -118638"/>
              <a:gd name="adj2" fmla="val -18824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u="sng" dirty="0">
                <a:solidFill>
                  <a:srgbClr val="2D2DB9"/>
                </a:solidFill>
                <a:latin typeface="Times New Roman" charset="0"/>
              </a:rPr>
              <a:t>The</a:t>
            </a:r>
            <a:r>
              <a:rPr lang="en-US" altLang="zh-TW" sz="3200" dirty="0">
                <a:solidFill>
                  <a:srgbClr val="2D2DB9"/>
                </a:solidFill>
                <a:latin typeface="Times New Roman" charset="0"/>
              </a:rPr>
              <a:t> Question: </a:t>
            </a:r>
            <a:br>
              <a:rPr lang="en-US" altLang="zh-TW" sz="3200" dirty="0">
                <a:solidFill>
                  <a:srgbClr val="2D2DB9"/>
                </a:solidFill>
                <a:latin typeface="Times New Roman" charset="0"/>
              </a:rPr>
            </a:br>
            <a:r>
              <a:rPr lang="en-US" altLang="zh-TW" sz="3200" dirty="0">
                <a:solidFill>
                  <a:srgbClr val="2D2DB9"/>
                </a:solidFill>
                <a:latin typeface="Times New Roman" charset="0"/>
              </a:rPr>
              <a:t>What gets passed to f()?</a:t>
            </a:r>
            <a:endParaRPr lang="zh-TW" altLang="en-US" sz="3200" dirty="0">
              <a:solidFill>
                <a:srgbClr val="2D2DB9"/>
              </a:solidFill>
              <a:latin typeface="Times New Roman" charset="0"/>
            </a:endParaRPr>
          </a:p>
        </p:txBody>
      </p:sp>
      <p:cxnSp>
        <p:nvCxnSpPr>
          <p:cNvPr id="9" name="Straight Arrow Connector 8"/>
          <p:cNvCxnSpPr/>
          <p:nvPr/>
        </p:nvCxnSpPr>
        <p:spPr bwMode="auto">
          <a:xfrm flipH="1">
            <a:off x="1695319" y="1907458"/>
            <a:ext cx="1480500" cy="30594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Straight Arrow Connector 9"/>
          <p:cNvCxnSpPr/>
          <p:nvPr/>
        </p:nvCxnSpPr>
        <p:spPr bwMode="auto">
          <a:xfrm flipV="1">
            <a:off x="1588296" y="1327252"/>
            <a:ext cx="48803" cy="8382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Arc 10"/>
          <p:cNvSpPr/>
          <p:nvPr/>
        </p:nvSpPr>
        <p:spPr bwMode="auto">
          <a:xfrm rot="21270295">
            <a:off x="1530680" y="311972"/>
            <a:ext cx="5096014" cy="2224192"/>
          </a:xfrm>
          <a:prstGeom prst="arc">
            <a:avLst>
              <a:gd name="adj1" fmla="val 11557114"/>
              <a:gd name="adj2" fmla="val 270866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0465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292894" y="717652"/>
            <a:ext cx="9144000" cy="6140348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cat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rgbClr val="00B050"/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rgbClr val="00B050"/>
                </a:solidFill>
                <a:latin typeface="Lucida Console" pitchFamily="49" charset="0"/>
              </a:rPr>
              <a:t> f(</a:t>
            </a:r>
            <a:r>
              <a:rPr lang="en-US" altLang="zh-TW" sz="2400" b="1" dirty="0">
                <a:solidFill>
                  <a:schemeClr val="tx1"/>
                </a:solidFill>
                <a:latin typeface="Lucida Console" pitchFamily="49" charset="0"/>
              </a:rPr>
              <a:t>*v</a:t>
            </a:r>
            <a:r>
              <a:rPr lang="en-US" altLang="zh-TW" sz="2400" dirty="0">
                <a:solidFill>
                  <a:srgbClr val="00B050"/>
                </a:solidFill>
                <a:latin typeface="Lucida Console" pitchFamily="49" charset="0"/>
              </a:rPr>
              <a:t>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rgbClr val="00B050"/>
                </a:solidFill>
                <a:latin typeface="Lucida Console" pitchFamily="49" charset="0"/>
              </a:rPr>
              <a:t>    print("First argument </a:t>
            </a:r>
            <a:r>
              <a:rPr lang="en-US" altLang="zh-TW" sz="2400" dirty="0" err="1">
                <a:solidFill>
                  <a:srgbClr val="00B050"/>
                </a:solidFill>
                <a:latin typeface="Lucida Console" pitchFamily="49" charset="0"/>
              </a:rPr>
              <a:t>is:",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v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[0]</a:t>
            </a:r>
            <a:r>
              <a:rPr lang="en-US" altLang="zh-TW" sz="2400" dirty="0">
                <a:solidFill>
                  <a:srgbClr val="00B050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rgbClr val="3333CC"/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rgbClr val="3333CC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(</a:t>
            </a:r>
            <a:r>
              <a:rPr lang="en-US" altLang="zh-TW" sz="2400" b="1" dirty="0">
                <a:solidFill>
                  <a:schemeClr val="tx1"/>
                </a:solidFill>
                <a:latin typeface="Lucida Console" pitchFamily="49" charset="0"/>
              </a:rPr>
              <a:t>*v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</a:t>
            </a:r>
            <a:r>
              <a:rPr lang="en-US" altLang="zh-TW" sz="2400" b="1" dirty="0">
                <a:solidFill>
                  <a:srgbClr val="00B050"/>
                </a:solidFill>
                <a:latin typeface="Lucida Console" pitchFamily="49" charset="0"/>
              </a:rPr>
              <a:t>f(v)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f(*v)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print("f(1,2,3):",end="")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f(1,2,3)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b="1" dirty="0" err="1" smtClean="0">
                <a:solidFill>
                  <a:srgbClr val="3333CC"/>
                </a:solidFill>
                <a:latin typeface="Lucida Console" pitchFamily="49" charset="0"/>
              </a:rPr>
              <a:t>passPacked</a:t>
            </a:r>
            <a:r>
              <a:rPr lang="en-US" altLang="zh-TW" sz="2400" b="1" dirty="0" smtClean="0">
                <a:solidFill>
                  <a:srgbClr val="3333CC"/>
                </a:solidFill>
                <a:latin typeface="Lucida Console" pitchFamily="49" charset="0"/>
              </a:rPr>
              <a:t>(</a:t>
            </a:r>
            <a:r>
              <a:rPr lang="en-US" altLang="zh-TW" sz="2400" b="1" dirty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,</a:t>
            </a:r>
            <a:r>
              <a:rPr lang="en-US" altLang="zh-TW" sz="2400" b="1" dirty="0">
                <a:solidFill>
                  <a:srgbClr val="CC3399"/>
                </a:solidFill>
                <a:latin typeface="Lucida Console" pitchFamily="49" charset="0"/>
              </a:rPr>
              <a:t>2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,</a:t>
            </a:r>
            <a:r>
              <a:rPr lang="en-US" altLang="zh-TW" sz="2400" b="1" dirty="0">
                <a:solidFill>
                  <a:srgbClr val="FFC000"/>
                </a:solidFill>
                <a:latin typeface="Lucida Console" pitchFamily="49" charset="0"/>
              </a:rPr>
              <a:t>3</a:t>
            </a:r>
            <a:r>
              <a:rPr lang="en-US" altLang="zh-TW" sz="2400" b="1" dirty="0" smtClean="0">
                <a:solidFill>
                  <a:srgbClr val="3333CC"/>
                </a:solidFill>
                <a:latin typeface="Lucida Console" pitchFamily="49" charset="0"/>
              </a:rPr>
              <a:t>)</a:t>
            </a:r>
            <a:endParaRPr lang="en-US" altLang="zh-TW" sz="2400" b="1" dirty="0">
              <a:solidFill>
                <a:srgbClr val="3333CC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chemeClr val="bg1">
                  <a:lumMod val="65000"/>
                </a:schemeClr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python3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f(1,2,3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):First 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argument is: 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1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</a:t>
            </a:r>
            <a:r>
              <a:rPr lang="en-US" altLang="zh-TW" sz="2400" dirty="0">
                <a:solidFill>
                  <a:srgbClr val="00B050"/>
                </a:solidFill>
                <a:latin typeface="Lucida Console" pitchFamily="49" charset="0"/>
              </a:rPr>
              <a:t>First argument is: </a:t>
            </a:r>
            <a:r>
              <a:rPr lang="en-US" altLang="zh-TW" sz="2400" b="1" dirty="0">
                <a:solidFill>
                  <a:schemeClr val="tx1"/>
                </a:solidFill>
                <a:latin typeface="Lucida Console" pitchFamily="49" charset="0"/>
              </a:rPr>
              <a:t>(1, 2, 3)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(1,2,3):First argument is: </a:t>
            </a:r>
            <a:r>
              <a:rPr lang="en-US" altLang="zh-TW" sz="2400" dirty="0" smtClean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1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729788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Functions Calls with Splat </a:t>
            </a:r>
            <a:r>
              <a:rPr lang="en-US" altLang="zh-TW" sz="4400" b="1" kern="0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*</a:t>
            </a:r>
            <a:endParaRPr lang="en-US" altLang="zh-TW" sz="4400" b="1" kern="0" dirty="0">
              <a:solidFill>
                <a:srgbClr val="002060"/>
              </a:solidFill>
              <a:latin typeface="Franklin Gothic Medium" panose="020B0603020102020204" pitchFamily="34" charset="0"/>
            </a:endParaRPr>
          </a:p>
        </p:txBody>
      </p:sp>
      <p:cxnSp>
        <p:nvCxnSpPr>
          <p:cNvPr id="14" name="Straight Arrow Connector 13"/>
          <p:cNvCxnSpPr/>
          <p:nvPr/>
        </p:nvCxnSpPr>
        <p:spPr bwMode="auto">
          <a:xfrm flipV="1">
            <a:off x="2545029" y="1936855"/>
            <a:ext cx="681567" cy="213359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Straight Arrow Connector 14"/>
          <p:cNvCxnSpPr/>
          <p:nvPr/>
        </p:nvCxnSpPr>
        <p:spPr bwMode="auto">
          <a:xfrm flipV="1">
            <a:off x="2892163" y="1936855"/>
            <a:ext cx="448733" cy="210819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C3399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/>
          <p:cNvCxnSpPr/>
          <p:nvPr/>
        </p:nvCxnSpPr>
        <p:spPr bwMode="auto">
          <a:xfrm flipV="1">
            <a:off x="3239294" y="1936854"/>
            <a:ext cx="254000" cy="211666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 flipV="1">
            <a:off x="1588296" y="1327252"/>
            <a:ext cx="48803" cy="8382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9" name="Arc 18"/>
          <p:cNvSpPr/>
          <p:nvPr/>
        </p:nvSpPr>
        <p:spPr bwMode="auto">
          <a:xfrm rot="21270295">
            <a:off x="1530680" y="311972"/>
            <a:ext cx="5096014" cy="2224192"/>
          </a:xfrm>
          <a:prstGeom prst="arc">
            <a:avLst>
              <a:gd name="adj1" fmla="val 11557114"/>
              <a:gd name="adj2" fmla="val 270866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 bwMode="auto">
          <a:xfrm flipH="1">
            <a:off x="1695319" y="1907458"/>
            <a:ext cx="1480500" cy="30594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Rectangular Callout 7"/>
          <p:cNvSpPr/>
          <p:nvPr/>
        </p:nvSpPr>
        <p:spPr bwMode="auto">
          <a:xfrm>
            <a:off x="4941094" y="1860652"/>
            <a:ext cx="4495800" cy="1066800"/>
          </a:xfrm>
          <a:prstGeom prst="wedgeRectCallout">
            <a:avLst>
              <a:gd name="adj1" fmla="val -118638"/>
              <a:gd name="adj2" fmla="val -18824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u="sng" dirty="0">
                <a:solidFill>
                  <a:srgbClr val="2D2DB9"/>
                </a:solidFill>
                <a:latin typeface="Times New Roman" charset="0"/>
              </a:rPr>
              <a:t>The</a:t>
            </a:r>
            <a:r>
              <a:rPr lang="en-US" altLang="zh-TW" sz="3200" dirty="0">
                <a:solidFill>
                  <a:srgbClr val="2D2DB9"/>
                </a:solidFill>
                <a:latin typeface="Times New Roman" charset="0"/>
              </a:rPr>
              <a:t> Question: </a:t>
            </a:r>
            <a:br>
              <a:rPr lang="en-US" altLang="zh-TW" sz="3200" dirty="0">
                <a:solidFill>
                  <a:srgbClr val="2D2DB9"/>
                </a:solidFill>
                <a:latin typeface="Times New Roman" charset="0"/>
              </a:rPr>
            </a:br>
            <a:r>
              <a:rPr lang="en-US" altLang="zh-TW" sz="3200" dirty="0">
                <a:solidFill>
                  <a:srgbClr val="2D2DB9"/>
                </a:solidFill>
                <a:latin typeface="Times New Roman" charset="0"/>
              </a:rPr>
              <a:t>What gets passed to f()?</a:t>
            </a:r>
            <a:endParaRPr lang="zh-TW" altLang="en-US" sz="3200" dirty="0">
              <a:solidFill>
                <a:srgbClr val="2D2DB9"/>
              </a:solidFill>
              <a:latin typeface="Times New Roman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 bwMode="auto">
          <a:xfrm>
            <a:off x="6541294" y="1708252"/>
            <a:ext cx="1447800" cy="42672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329850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292894" y="717652"/>
            <a:ext cx="9144000" cy="6140348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cat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rgbClr val="00B050"/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rgbClr val="00B050"/>
                </a:solidFill>
                <a:latin typeface="Lucida Console" pitchFamily="49" charset="0"/>
              </a:rPr>
              <a:t> f(</a:t>
            </a:r>
            <a:r>
              <a:rPr lang="en-US" altLang="zh-TW" sz="2400" b="1" dirty="0">
                <a:solidFill>
                  <a:schemeClr val="tx1"/>
                </a:solidFill>
                <a:latin typeface="Lucida Console" pitchFamily="49" charset="0"/>
              </a:rPr>
              <a:t>*v</a:t>
            </a:r>
            <a:r>
              <a:rPr lang="en-US" altLang="zh-TW" sz="2400" dirty="0">
                <a:solidFill>
                  <a:srgbClr val="00B050"/>
                </a:solidFill>
                <a:latin typeface="Lucida Console" pitchFamily="49" charset="0"/>
              </a:rPr>
              <a:t>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rgbClr val="00B050"/>
                </a:solidFill>
                <a:latin typeface="Lucida Console" pitchFamily="49" charset="0"/>
              </a:rPr>
              <a:t>    print("First argument </a:t>
            </a:r>
            <a:r>
              <a:rPr lang="en-US" altLang="zh-TW" sz="2400" dirty="0" err="1">
                <a:solidFill>
                  <a:srgbClr val="00B050"/>
                </a:solidFill>
                <a:latin typeface="Lucida Console" pitchFamily="49" charset="0"/>
              </a:rPr>
              <a:t>is:",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v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[0]</a:t>
            </a:r>
            <a:r>
              <a:rPr lang="en-US" altLang="zh-TW" sz="2400" dirty="0">
                <a:solidFill>
                  <a:srgbClr val="00B050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rgbClr val="3333CC"/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rgbClr val="3333CC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(</a:t>
            </a:r>
            <a:r>
              <a:rPr lang="en-US" altLang="zh-TW" sz="2400" b="1" dirty="0">
                <a:solidFill>
                  <a:schemeClr val="tx1"/>
                </a:solidFill>
                <a:latin typeface="Lucida Console" pitchFamily="49" charset="0"/>
              </a:rPr>
              <a:t>*v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</a:t>
            </a:r>
            <a:r>
              <a:rPr lang="en-US" altLang="zh-TW" sz="2400" b="1" dirty="0">
                <a:solidFill>
                  <a:srgbClr val="00B050"/>
                </a:solidFill>
                <a:latin typeface="Lucida Console" pitchFamily="49" charset="0"/>
              </a:rPr>
              <a:t>f(v)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f(*v)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print("f(1,2,3):",end="")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f(1,2,3)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b="1" dirty="0" err="1" smtClean="0">
                <a:solidFill>
                  <a:srgbClr val="3333CC"/>
                </a:solidFill>
                <a:latin typeface="Lucida Console" pitchFamily="49" charset="0"/>
              </a:rPr>
              <a:t>passPacked</a:t>
            </a:r>
            <a:r>
              <a:rPr lang="en-US" altLang="zh-TW" sz="2400" b="1" dirty="0" smtClean="0">
                <a:solidFill>
                  <a:srgbClr val="3333CC"/>
                </a:solidFill>
                <a:latin typeface="Lucida Console" pitchFamily="49" charset="0"/>
              </a:rPr>
              <a:t>(</a:t>
            </a:r>
            <a:r>
              <a:rPr lang="en-US" altLang="zh-TW" sz="2400" b="1" dirty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,</a:t>
            </a:r>
            <a:r>
              <a:rPr lang="en-US" altLang="zh-TW" sz="2400" b="1" dirty="0">
                <a:solidFill>
                  <a:srgbClr val="CC3399"/>
                </a:solidFill>
                <a:latin typeface="Lucida Console" pitchFamily="49" charset="0"/>
              </a:rPr>
              <a:t>2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,</a:t>
            </a:r>
            <a:r>
              <a:rPr lang="en-US" altLang="zh-TW" sz="2400" b="1" dirty="0">
                <a:solidFill>
                  <a:srgbClr val="FFC000"/>
                </a:solidFill>
                <a:latin typeface="Lucida Console" pitchFamily="49" charset="0"/>
              </a:rPr>
              <a:t>3</a:t>
            </a:r>
            <a:r>
              <a:rPr lang="en-US" altLang="zh-TW" sz="2400" b="1" dirty="0" smtClean="0">
                <a:solidFill>
                  <a:srgbClr val="3333CC"/>
                </a:solidFill>
                <a:latin typeface="Lucida Console" pitchFamily="49" charset="0"/>
              </a:rPr>
              <a:t>)</a:t>
            </a:r>
            <a:endParaRPr lang="en-US" altLang="zh-TW" sz="2400" b="1" dirty="0">
              <a:solidFill>
                <a:srgbClr val="3333CC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chemeClr val="bg1">
                  <a:lumMod val="65000"/>
                </a:schemeClr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python3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f(1,2,3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):First 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argument is: 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1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</a:t>
            </a:r>
            <a:r>
              <a:rPr lang="en-US" altLang="zh-TW" sz="2400" dirty="0">
                <a:solidFill>
                  <a:srgbClr val="00B050"/>
                </a:solidFill>
                <a:latin typeface="Lucida Console" pitchFamily="49" charset="0"/>
              </a:rPr>
              <a:t>First argument is: </a:t>
            </a:r>
            <a:r>
              <a:rPr lang="en-US" altLang="zh-TW" sz="2400" b="1" dirty="0">
                <a:solidFill>
                  <a:schemeClr val="tx1"/>
                </a:solidFill>
                <a:latin typeface="Lucida Console" pitchFamily="49" charset="0"/>
              </a:rPr>
              <a:t>(1, 2, 3)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(1,2,3):First argument is: </a:t>
            </a:r>
            <a:r>
              <a:rPr lang="en-US" altLang="zh-TW" sz="2400" dirty="0" smtClean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1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729788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Functions Calls with Splat </a:t>
            </a:r>
            <a:r>
              <a:rPr lang="en-US" altLang="zh-TW" sz="4400" b="1" kern="0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*</a:t>
            </a:r>
            <a:endParaRPr lang="en-US" altLang="zh-TW" sz="4400" b="1" kern="0" dirty="0">
              <a:solidFill>
                <a:srgbClr val="002060"/>
              </a:solidFill>
              <a:latin typeface="Franklin Gothic Medium" panose="020B0603020102020204" pitchFamily="34" charset="0"/>
            </a:endParaRPr>
          </a:p>
        </p:txBody>
      </p:sp>
      <p:cxnSp>
        <p:nvCxnSpPr>
          <p:cNvPr id="14" name="Straight Arrow Connector 13"/>
          <p:cNvCxnSpPr/>
          <p:nvPr/>
        </p:nvCxnSpPr>
        <p:spPr bwMode="auto">
          <a:xfrm flipV="1">
            <a:off x="2545029" y="1936855"/>
            <a:ext cx="681567" cy="213359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Straight Arrow Connector 14"/>
          <p:cNvCxnSpPr/>
          <p:nvPr/>
        </p:nvCxnSpPr>
        <p:spPr bwMode="auto">
          <a:xfrm flipV="1">
            <a:off x="2892163" y="1936855"/>
            <a:ext cx="448733" cy="210819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C3399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/>
          <p:cNvCxnSpPr/>
          <p:nvPr/>
        </p:nvCxnSpPr>
        <p:spPr bwMode="auto">
          <a:xfrm flipV="1">
            <a:off x="3239294" y="1936854"/>
            <a:ext cx="254000" cy="211666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 flipV="1">
            <a:off x="1588296" y="1327252"/>
            <a:ext cx="48803" cy="8382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9" name="Arc 18"/>
          <p:cNvSpPr/>
          <p:nvPr/>
        </p:nvSpPr>
        <p:spPr bwMode="auto">
          <a:xfrm rot="21270295">
            <a:off x="1530680" y="311972"/>
            <a:ext cx="5096014" cy="2224192"/>
          </a:xfrm>
          <a:prstGeom prst="arc">
            <a:avLst>
              <a:gd name="adj1" fmla="val 11557114"/>
              <a:gd name="adj2" fmla="val 270866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 bwMode="auto">
          <a:xfrm flipH="1">
            <a:off x="1695319" y="1907458"/>
            <a:ext cx="1480500" cy="30594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Rectangular Callout 7"/>
          <p:cNvSpPr/>
          <p:nvPr/>
        </p:nvSpPr>
        <p:spPr bwMode="auto">
          <a:xfrm>
            <a:off x="4941094" y="1860652"/>
            <a:ext cx="4495800" cy="1066800"/>
          </a:xfrm>
          <a:prstGeom prst="wedgeRectCallout">
            <a:avLst>
              <a:gd name="adj1" fmla="val -118638"/>
              <a:gd name="adj2" fmla="val -18824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u="sng" dirty="0">
                <a:solidFill>
                  <a:srgbClr val="2D2DB9"/>
                </a:solidFill>
                <a:latin typeface="Times New Roman" charset="0"/>
              </a:rPr>
              <a:t>The</a:t>
            </a:r>
            <a:r>
              <a:rPr lang="en-US" altLang="zh-TW" sz="3200" dirty="0">
                <a:solidFill>
                  <a:srgbClr val="2D2DB9"/>
                </a:solidFill>
                <a:latin typeface="Times New Roman" charset="0"/>
              </a:rPr>
              <a:t> Question: </a:t>
            </a:r>
            <a:br>
              <a:rPr lang="en-US" altLang="zh-TW" sz="3200" dirty="0">
                <a:solidFill>
                  <a:srgbClr val="2D2DB9"/>
                </a:solidFill>
                <a:latin typeface="Times New Roman" charset="0"/>
              </a:rPr>
            </a:br>
            <a:r>
              <a:rPr lang="en-US" altLang="zh-TW" sz="3200" dirty="0">
                <a:solidFill>
                  <a:srgbClr val="2D2DB9"/>
                </a:solidFill>
                <a:latin typeface="Times New Roman" charset="0"/>
              </a:rPr>
              <a:t>What gets passed to f()?</a:t>
            </a:r>
            <a:endParaRPr lang="zh-TW" altLang="en-US" sz="3200" dirty="0">
              <a:solidFill>
                <a:srgbClr val="2D2DB9"/>
              </a:solidFill>
              <a:latin typeface="Times New Roman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 bwMode="auto">
          <a:xfrm>
            <a:off x="6541294" y="1708252"/>
            <a:ext cx="1447800" cy="42672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Rectangular Callout 12"/>
          <p:cNvSpPr/>
          <p:nvPr/>
        </p:nvSpPr>
        <p:spPr bwMode="auto">
          <a:xfrm>
            <a:off x="3798094" y="3003652"/>
            <a:ext cx="5638800" cy="2133600"/>
          </a:xfrm>
          <a:prstGeom prst="wedgeRectCallout">
            <a:avLst>
              <a:gd name="adj1" fmla="val 28509"/>
              <a:gd name="adj2" fmla="val 86732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2D2DB9"/>
                </a:solidFill>
                <a:latin typeface="Times New Roman" charset="0"/>
              </a:rPr>
              <a:t>See? See? It didn’t work.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2D2DB9"/>
                </a:solidFill>
                <a:latin typeface="Times New Roman" charset="0"/>
              </a:rPr>
              <a:t>We wanted to forward the three variable length arguments. </a:t>
            </a:r>
            <a:br>
              <a:rPr lang="en-US" altLang="zh-TW" sz="3200" dirty="0">
                <a:solidFill>
                  <a:srgbClr val="2D2DB9"/>
                </a:solidFill>
                <a:latin typeface="Times New Roman" charset="0"/>
              </a:rPr>
            </a:br>
            <a:r>
              <a:rPr lang="en-US" altLang="zh-TW" sz="3200" dirty="0">
                <a:solidFill>
                  <a:srgbClr val="2D2DB9"/>
                </a:solidFill>
                <a:latin typeface="Times New Roman" charset="0"/>
              </a:rPr>
              <a:t>But it got forwarded as </a:t>
            </a:r>
            <a:r>
              <a:rPr lang="en-US" altLang="zh-TW" sz="3200" b="1" u="sng" dirty="0">
                <a:latin typeface="Times New Roman" charset="0"/>
              </a:rPr>
              <a:t>one tuple</a:t>
            </a:r>
            <a:r>
              <a:rPr lang="en-US" altLang="zh-TW" sz="3200" dirty="0">
                <a:solidFill>
                  <a:srgbClr val="2D2DB9"/>
                </a:solidFill>
                <a:latin typeface="Times New Roman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4882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8" presetClass="exit" presetSubtype="0" ac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38" presetClass="exit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8" grpId="0" animBg="1"/>
      <p:bldP spid="13" grpId="0" animBg="1"/>
      <p:bldP spid="13" grpId="1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292894" y="717652"/>
            <a:ext cx="9144000" cy="6140348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cat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f(*v):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print("First argument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is:",v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[0])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f(v)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f(*v)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print("f(1,2,3):",end="")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f(1,2,3)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 smtClean="0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(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1,2,3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)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b="1" dirty="0">
                <a:solidFill>
                  <a:srgbClr val="3333CC"/>
                </a:solidFill>
                <a:latin typeface="Lucida Console" pitchFamily="49" charset="0"/>
              </a:rPr>
              <a:t>print("</a:t>
            </a:r>
            <a:r>
              <a:rPr lang="en-US" altLang="zh-TW" sz="2400" b="1" dirty="0" err="1">
                <a:solidFill>
                  <a:srgbClr val="3333CC"/>
                </a:solidFill>
                <a:latin typeface="Lucida Console" pitchFamily="49" charset="0"/>
              </a:rPr>
              <a:t>passUnpacked</a:t>
            </a:r>
            <a:r>
              <a:rPr lang="en-US" altLang="zh-TW" sz="2400" b="1" dirty="0">
                <a:solidFill>
                  <a:srgbClr val="3333CC"/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chemeClr val="bg1">
                  <a:lumMod val="65000"/>
                </a:schemeClr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python3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f(1,2,3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):First 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argument is: 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1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(1,2,3):First argument is: (1, 2, 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(1,2,3):First argument is: </a:t>
            </a:r>
            <a:r>
              <a:rPr lang="en-US" altLang="zh-TW" sz="2400" dirty="0" smtClean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1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729788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Functions Calls with Splat </a:t>
            </a:r>
            <a:r>
              <a:rPr lang="en-US" altLang="zh-TW" sz="4400" b="1" kern="0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*</a:t>
            </a:r>
            <a:endParaRPr lang="en-US" altLang="zh-TW" sz="4400" b="1" kern="0" dirty="0">
              <a:solidFill>
                <a:srgbClr val="002060"/>
              </a:solidFill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345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292894" y="717652"/>
            <a:ext cx="9144000" cy="6140348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cat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f(*v):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print("First argument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is:",v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[0])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f(v)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f(*v)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print("f(1,2,3):",end="")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f(1,2,3)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 smtClean="0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(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1,2,3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)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rgbClr val="3333CC"/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(1,2,3)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chemeClr val="bg1">
                  <a:lumMod val="65000"/>
                </a:schemeClr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python3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f(1,2,3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):First 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argument is: 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1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(1,2,3):First argument is: (1, 2, 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b="1" dirty="0" err="1">
                <a:solidFill>
                  <a:srgbClr val="3333CC"/>
                </a:solidFill>
                <a:latin typeface="Lucida Console" pitchFamily="49" charset="0"/>
              </a:rPr>
              <a:t>passUnpacked</a:t>
            </a:r>
            <a:r>
              <a:rPr lang="en-US" altLang="zh-TW" sz="2400" b="1" dirty="0">
                <a:solidFill>
                  <a:srgbClr val="3333CC"/>
                </a:solidFill>
                <a:latin typeface="Lucida Console" pitchFamily="49" charset="0"/>
              </a:rPr>
              <a:t>(1,2,3):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First argument is: </a:t>
            </a:r>
            <a:r>
              <a:rPr lang="en-US" altLang="zh-TW" sz="2400" dirty="0" smtClean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1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729788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Functions Calls with Splat </a:t>
            </a:r>
            <a:r>
              <a:rPr lang="en-US" altLang="zh-TW" sz="4400" b="1" kern="0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*</a:t>
            </a:r>
            <a:endParaRPr lang="en-US" altLang="zh-TW" sz="4400" b="1" kern="0" dirty="0">
              <a:solidFill>
                <a:srgbClr val="002060"/>
              </a:solidFill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490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292894" y="717652"/>
            <a:ext cx="9144000" cy="6140348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cat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f(*v):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print("First argument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is:",v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[0])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f(v)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f(*v)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print("f(1,2,3):",end="")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f(1,2,3)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 smtClean="0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(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1,2,3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)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 smtClean="0">
                <a:solidFill>
                  <a:srgbClr val="3333CC"/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 smtClean="0">
                <a:solidFill>
                  <a:srgbClr val="3333CC"/>
                </a:solidFill>
                <a:latin typeface="Lucida Console" pitchFamily="49" charset="0"/>
              </a:rPr>
              <a:t>(</a:t>
            </a:r>
            <a:r>
              <a:rPr lang="en-US" altLang="zh-TW" sz="2400" b="1" dirty="0" smtClean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zh-TW" sz="2400" dirty="0" smtClean="0">
                <a:solidFill>
                  <a:srgbClr val="2D2DB9"/>
                </a:solidFill>
                <a:latin typeface="Lucida Console" pitchFamily="49" charset="0"/>
              </a:rPr>
              <a:t>,</a:t>
            </a:r>
            <a:r>
              <a:rPr lang="en-US" altLang="zh-TW" sz="2400" b="1" dirty="0" smtClean="0">
                <a:solidFill>
                  <a:srgbClr val="CC3399"/>
                </a:solidFill>
                <a:latin typeface="Lucida Console" pitchFamily="49" charset="0"/>
              </a:rPr>
              <a:t>2</a:t>
            </a:r>
            <a:r>
              <a:rPr lang="en-US" altLang="zh-TW" sz="2400" dirty="0" smtClean="0">
                <a:solidFill>
                  <a:srgbClr val="2D2DB9"/>
                </a:solidFill>
                <a:latin typeface="Lucida Console" pitchFamily="49" charset="0"/>
              </a:rPr>
              <a:t>,</a:t>
            </a:r>
            <a:r>
              <a:rPr lang="en-US" altLang="zh-TW" sz="2400" b="1" dirty="0" smtClean="0">
                <a:solidFill>
                  <a:srgbClr val="FFC000"/>
                </a:solidFill>
                <a:latin typeface="Lucida Console" pitchFamily="49" charset="0"/>
              </a:rPr>
              <a:t>3</a:t>
            </a:r>
            <a:r>
              <a:rPr lang="en-US" altLang="zh-TW" sz="2400" dirty="0" smtClean="0">
                <a:solidFill>
                  <a:srgbClr val="3333CC"/>
                </a:solidFill>
                <a:latin typeface="Lucida Console" pitchFamily="49" charset="0"/>
              </a:rPr>
              <a:t>)</a:t>
            </a:r>
            <a:endParaRPr lang="en-US" altLang="zh-TW" sz="2400" dirty="0">
              <a:solidFill>
                <a:srgbClr val="3333CC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chemeClr val="bg1">
                  <a:lumMod val="65000"/>
                </a:schemeClr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python3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f(1,2,3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):First 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argument is: 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1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(1,2,3):First argument is: (1, 2, 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First argument is: </a:t>
            </a:r>
            <a:r>
              <a:rPr lang="en-US" altLang="zh-TW" sz="2400" dirty="0" smtClean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1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729788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Functions Calls with Splat </a:t>
            </a:r>
            <a:r>
              <a:rPr lang="en-US" altLang="zh-TW" sz="4400" b="1" kern="0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*</a:t>
            </a:r>
            <a:endParaRPr lang="en-US" altLang="zh-TW" sz="4400" b="1" kern="0" dirty="0">
              <a:solidFill>
                <a:srgbClr val="002060"/>
              </a:solidFill>
              <a:latin typeface="Franklin Gothic Medium" panose="020B0603020102020204" pitchFamily="34" charset="0"/>
            </a:endParaRPr>
          </a:p>
        </p:txBody>
      </p:sp>
      <p:cxnSp>
        <p:nvCxnSpPr>
          <p:cNvPr id="4" name="Straight Arrow Connector 3"/>
          <p:cNvCxnSpPr/>
          <p:nvPr/>
        </p:nvCxnSpPr>
        <p:spPr bwMode="auto">
          <a:xfrm flipV="1">
            <a:off x="2921796" y="2669991"/>
            <a:ext cx="618837" cy="204123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" name="Straight Arrow Connector 5"/>
          <p:cNvCxnSpPr/>
          <p:nvPr/>
        </p:nvCxnSpPr>
        <p:spPr bwMode="auto">
          <a:xfrm flipV="1">
            <a:off x="3264696" y="2669991"/>
            <a:ext cx="390237" cy="204123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C3399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" name="Straight Arrow Connector 6"/>
          <p:cNvCxnSpPr/>
          <p:nvPr/>
        </p:nvCxnSpPr>
        <p:spPr bwMode="auto">
          <a:xfrm flipV="1">
            <a:off x="3621449" y="2669992"/>
            <a:ext cx="185882" cy="203777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801429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292894" y="717652"/>
            <a:ext cx="9144000" cy="6140348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cat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f(*v):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print("First argument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is:",v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[0])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f(v)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rgbClr val="3333CC"/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rgbClr val="3333CC"/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(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*v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f(*v)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print("f(1,2,3):",end="")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f(1,2,3)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 smtClean="0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(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1,2,3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)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 smtClean="0">
                <a:solidFill>
                  <a:srgbClr val="3333CC"/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 smtClean="0">
                <a:solidFill>
                  <a:srgbClr val="3333CC"/>
                </a:solidFill>
                <a:latin typeface="Lucida Console" pitchFamily="49" charset="0"/>
              </a:rPr>
              <a:t>(</a:t>
            </a:r>
            <a:r>
              <a:rPr lang="en-US" altLang="zh-TW" sz="2400" b="1" dirty="0" smtClean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zh-TW" sz="2400" dirty="0" smtClean="0">
                <a:solidFill>
                  <a:srgbClr val="2D2DB9"/>
                </a:solidFill>
                <a:latin typeface="Lucida Console" pitchFamily="49" charset="0"/>
              </a:rPr>
              <a:t>,</a:t>
            </a:r>
            <a:r>
              <a:rPr lang="en-US" altLang="zh-TW" sz="2400" b="1" dirty="0" smtClean="0">
                <a:solidFill>
                  <a:srgbClr val="CC3399"/>
                </a:solidFill>
                <a:latin typeface="Lucida Console" pitchFamily="49" charset="0"/>
              </a:rPr>
              <a:t>2</a:t>
            </a:r>
            <a:r>
              <a:rPr lang="en-US" altLang="zh-TW" sz="2400" dirty="0" smtClean="0">
                <a:solidFill>
                  <a:srgbClr val="2D2DB9"/>
                </a:solidFill>
                <a:latin typeface="Lucida Console" pitchFamily="49" charset="0"/>
              </a:rPr>
              <a:t>,</a:t>
            </a:r>
            <a:r>
              <a:rPr lang="en-US" altLang="zh-TW" sz="2400" b="1" dirty="0" smtClean="0">
                <a:solidFill>
                  <a:srgbClr val="FFC000"/>
                </a:solidFill>
                <a:latin typeface="Lucida Console" pitchFamily="49" charset="0"/>
              </a:rPr>
              <a:t>3</a:t>
            </a:r>
            <a:r>
              <a:rPr lang="en-US" altLang="zh-TW" sz="2400" dirty="0" smtClean="0">
                <a:solidFill>
                  <a:srgbClr val="3333CC"/>
                </a:solidFill>
                <a:latin typeface="Lucida Console" pitchFamily="49" charset="0"/>
              </a:rPr>
              <a:t>)</a:t>
            </a:r>
            <a:endParaRPr lang="en-US" altLang="zh-TW" sz="2400" dirty="0">
              <a:solidFill>
                <a:srgbClr val="3333CC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chemeClr val="bg1">
                  <a:lumMod val="65000"/>
                </a:schemeClr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python3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f(1,2,3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):First 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argument is: 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1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(1,2,3):First argument is: (1, 2, 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First argument is: </a:t>
            </a:r>
            <a:r>
              <a:rPr lang="en-US" altLang="zh-TW" sz="2400" dirty="0" smtClean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1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729788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Functions Calls with Splat </a:t>
            </a:r>
            <a:r>
              <a:rPr lang="en-US" altLang="zh-TW" sz="4400" b="1" kern="0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*</a:t>
            </a:r>
            <a:endParaRPr lang="en-US" altLang="zh-TW" sz="4400" b="1" kern="0" dirty="0">
              <a:solidFill>
                <a:srgbClr val="002060"/>
              </a:solidFill>
              <a:latin typeface="Franklin Gothic Medium" panose="020B0603020102020204" pitchFamily="34" charset="0"/>
            </a:endParaRPr>
          </a:p>
        </p:txBody>
      </p:sp>
      <p:cxnSp>
        <p:nvCxnSpPr>
          <p:cNvPr id="4" name="Straight Arrow Connector 3"/>
          <p:cNvCxnSpPr/>
          <p:nvPr/>
        </p:nvCxnSpPr>
        <p:spPr bwMode="auto">
          <a:xfrm flipV="1">
            <a:off x="2921796" y="2669991"/>
            <a:ext cx="618837" cy="204123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" name="Straight Arrow Connector 5"/>
          <p:cNvCxnSpPr/>
          <p:nvPr/>
        </p:nvCxnSpPr>
        <p:spPr bwMode="auto">
          <a:xfrm flipV="1">
            <a:off x="3264696" y="2669991"/>
            <a:ext cx="390237" cy="204123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C3399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" name="Straight Arrow Connector 6"/>
          <p:cNvCxnSpPr/>
          <p:nvPr/>
        </p:nvCxnSpPr>
        <p:spPr bwMode="auto">
          <a:xfrm flipV="1">
            <a:off x="3621449" y="2669992"/>
            <a:ext cx="185882" cy="203777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920852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292894" y="717652"/>
            <a:ext cx="9144000" cy="6140348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cat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f(*v):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print("First argument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is:",v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[0])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f(v)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rgbClr val="3333CC"/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rgbClr val="3333CC"/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(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*v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</a:t>
            </a:r>
            <a:r>
              <a:rPr lang="en-US" altLang="zh-TW" sz="2400" dirty="0">
                <a:solidFill>
                  <a:srgbClr val="339933"/>
                </a:solidFill>
                <a:latin typeface="Lucida Console" pitchFamily="49" charset="0"/>
              </a:rPr>
              <a:t>f(</a:t>
            </a:r>
            <a:r>
              <a:rPr lang="en-US" altLang="zh-TW" sz="2400" b="1" dirty="0">
                <a:solidFill>
                  <a:schemeClr val="tx1"/>
                </a:solidFill>
                <a:latin typeface="Lucida Console" pitchFamily="49" charset="0"/>
              </a:rPr>
              <a:t>*v</a:t>
            </a:r>
            <a:r>
              <a:rPr lang="en-US" altLang="zh-TW" sz="2400" dirty="0">
                <a:solidFill>
                  <a:srgbClr val="339933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print("f(1,2,3):",end="")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f(1,2,3)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 smtClean="0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(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1,2,3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)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 smtClean="0">
                <a:solidFill>
                  <a:srgbClr val="3333CC"/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 smtClean="0">
                <a:solidFill>
                  <a:srgbClr val="3333CC"/>
                </a:solidFill>
                <a:latin typeface="Lucida Console" pitchFamily="49" charset="0"/>
              </a:rPr>
              <a:t>(</a:t>
            </a:r>
            <a:r>
              <a:rPr lang="en-US" altLang="zh-TW" sz="2400" b="1" dirty="0" smtClean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zh-TW" sz="2400" dirty="0" smtClean="0">
                <a:solidFill>
                  <a:srgbClr val="2D2DB9"/>
                </a:solidFill>
                <a:latin typeface="Lucida Console" pitchFamily="49" charset="0"/>
              </a:rPr>
              <a:t>,</a:t>
            </a:r>
            <a:r>
              <a:rPr lang="en-US" altLang="zh-TW" sz="2400" b="1" dirty="0" smtClean="0">
                <a:solidFill>
                  <a:srgbClr val="CC3399"/>
                </a:solidFill>
                <a:latin typeface="Lucida Console" pitchFamily="49" charset="0"/>
              </a:rPr>
              <a:t>2</a:t>
            </a:r>
            <a:r>
              <a:rPr lang="en-US" altLang="zh-TW" sz="2400" dirty="0" smtClean="0">
                <a:solidFill>
                  <a:srgbClr val="2D2DB9"/>
                </a:solidFill>
                <a:latin typeface="Lucida Console" pitchFamily="49" charset="0"/>
              </a:rPr>
              <a:t>,</a:t>
            </a:r>
            <a:r>
              <a:rPr lang="en-US" altLang="zh-TW" sz="2400" b="1" dirty="0" smtClean="0">
                <a:solidFill>
                  <a:srgbClr val="FFC000"/>
                </a:solidFill>
                <a:latin typeface="Lucida Console" pitchFamily="49" charset="0"/>
              </a:rPr>
              <a:t>3</a:t>
            </a:r>
            <a:r>
              <a:rPr lang="en-US" altLang="zh-TW" sz="2400" dirty="0" smtClean="0">
                <a:solidFill>
                  <a:srgbClr val="3333CC"/>
                </a:solidFill>
                <a:latin typeface="Lucida Console" pitchFamily="49" charset="0"/>
              </a:rPr>
              <a:t>)</a:t>
            </a:r>
            <a:endParaRPr lang="en-US" altLang="zh-TW" sz="2400" dirty="0">
              <a:solidFill>
                <a:srgbClr val="3333CC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chemeClr val="bg1">
                  <a:lumMod val="65000"/>
                </a:schemeClr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python3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f(1,2,3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):First 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argument is: 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1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(1,2,3):First argument is: (1, 2, 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First argument is: </a:t>
            </a:r>
            <a:r>
              <a:rPr lang="en-US" altLang="zh-TW" sz="2400" dirty="0" smtClean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1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729788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Functions Calls with Splat </a:t>
            </a:r>
            <a:r>
              <a:rPr lang="en-US" altLang="zh-TW" sz="4400" b="1" kern="0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*</a:t>
            </a:r>
            <a:endParaRPr lang="en-US" altLang="zh-TW" sz="4400" b="1" kern="0" dirty="0">
              <a:solidFill>
                <a:srgbClr val="002060"/>
              </a:solidFill>
              <a:latin typeface="Franklin Gothic Medium" panose="020B0603020102020204" pitchFamily="34" charset="0"/>
            </a:endParaRPr>
          </a:p>
        </p:txBody>
      </p:sp>
      <p:cxnSp>
        <p:nvCxnSpPr>
          <p:cNvPr id="4" name="Straight Arrow Connector 3"/>
          <p:cNvCxnSpPr/>
          <p:nvPr/>
        </p:nvCxnSpPr>
        <p:spPr bwMode="auto">
          <a:xfrm flipV="1">
            <a:off x="2921796" y="2669991"/>
            <a:ext cx="618837" cy="204123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" name="Straight Arrow Connector 5"/>
          <p:cNvCxnSpPr/>
          <p:nvPr/>
        </p:nvCxnSpPr>
        <p:spPr bwMode="auto">
          <a:xfrm flipV="1">
            <a:off x="3264696" y="2669991"/>
            <a:ext cx="390237" cy="204123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C3399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" name="Straight Arrow Connector 6"/>
          <p:cNvCxnSpPr/>
          <p:nvPr/>
        </p:nvCxnSpPr>
        <p:spPr bwMode="auto">
          <a:xfrm flipV="1">
            <a:off x="3621449" y="2669992"/>
            <a:ext cx="185882" cy="203777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Straight Arrow Connector 7"/>
          <p:cNvCxnSpPr/>
          <p:nvPr/>
        </p:nvCxnSpPr>
        <p:spPr bwMode="auto">
          <a:xfrm flipH="1">
            <a:off x="1873402" y="2572994"/>
            <a:ext cx="1655852" cy="29880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 flipH="1" flipV="1">
            <a:off x="1811759" y="1329824"/>
            <a:ext cx="5137" cy="145892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Straight Arrow Connector 9"/>
          <p:cNvCxnSpPr/>
          <p:nvPr/>
        </p:nvCxnSpPr>
        <p:spPr bwMode="auto">
          <a:xfrm flipH="1" flipV="1">
            <a:off x="1588296" y="1329824"/>
            <a:ext cx="5137" cy="145892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Straight Arrow Connector 10"/>
          <p:cNvCxnSpPr/>
          <p:nvPr/>
        </p:nvCxnSpPr>
        <p:spPr bwMode="auto">
          <a:xfrm flipH="1" flipV="1">
            <a:off x="1696841" y="1329824"/>
            <a:ext cx="5137" cy="145892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C3399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430981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292894" y="717652"/>
            <a:ext cx="9144000" cy="6140348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cat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rgbClr val="339933"/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rgbClr val="339933"/>
                </a:solidFill>
                <a:latin typeface="Lucida Console" pitchFamily="49" charset="0"/>
              </a:rPr>
              <a:t> f(</a:t>
            </a:r>
            <a:r>
              <a:rPr lang="en-US" altLang="zh-TW" sz="2400" b="1" dirty="0">
                <a:solidFill>
                  <a:schemeClr val="tx1"/>
                </a:solidFill>
                <a:latin typeface="Lucida Console" pitchFamily="49" charset="0"/>
              </a:rPr>
              <a:t>*v</a:t>
            </a:r>
            <a:r>
              <a:rPr lang="en-US" altLang="zh-TW" sz="2400" dirty="0">
                <a:solidFill>
                  <a:srgbClr val="339933"/>
                </a:solidFill>
                <a:latin typeface="Lucida Console" pitchFamily="49" charset="0"/>
              </a:rPr>
              <a:t>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print("First argument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is:",v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[0])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f(v)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rgbClr val="3333CC"/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rgbClr val="3333CC"/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(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*v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</a:t>
            </a:r>
            <a:r>
              <a:rPr lang="en-US" altLang="zh-TW" sz="2400" dirty="0">
                <a:solidFill>
                  <a:srgbClr val="339933"/>
                </a:solidFill>
                <a:latin typeface="Lucida Console" pitchFamily="49" charset="0"/>
              </a:rPr>
              <a:t>f(</a:t>
            </a:r>
            <a:r>
              <a:rPr lang="en-US" altLang="zh-TW" sz="2400" b="1" dirty="0">
                <a:solidFill>
                  <a:schemeClr val="tx1"/>
                </a:solidFill>
                <a:latin typeface="Lucida Console" pitchFamily="49" charset="0"/>
              </a:rPr>
              <a:t>*v</a:t>
            </a:r>
            <a:r>
              <a:rPr lang="en-US" altLang="zh-TW" sz="2400" dirty="0">
                <a:solidFill>
                  <a:srgbClr val="339933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print("f(1,2,3):",end="")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f(1,2,3)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 smtClean="0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(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1,2,3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)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 smtClean="0">
                <a:solidFill>
                  <a:srgbClr val="3333CC"/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 smtClean="0">
                <a:solidFill>
                  <a:srgbClr val="3333CC"/>
                </a:solidFill>
                <a:latin typeface="Lucida Console" pitchFamily="49" charset="0"/>
              </a:rPr>
              <a:t>(</a:t>
            </a:r>
            <a:r>
              <a:rPr lang="en-US" altLang="zh-TW" sz="2400" b="1" dirty="0" smtClean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zh-TW" sz="2400" dirty="0" smtClean="0">
                <a:solidFill>
                  <a:srgbClr val="2D2DB9"/>
                </a:solidFill>
                <a:latin typeface="Lucida Console" pitchFamily="49" charset="0"/>
              </a:rPr>
              <a:t>,</a:t>
            </a:r>
            <a:r>
              <a:rPr lang="en-US" altLang="zh-TW" sz="2400" b="1" dirty="0" smtClean="0">
                <a:solidFill>
                  <a:srgbClr val="CC3399"/>
                </a:solidFill>
                <a:latin typeface="Lucida Console" pitchFamily="49" charset="0"/>
              </a:rPr>
              <a:t>2</a:t>
            </a:r>
            <a:r>
              <a:rPr lang="en-US" altLang="zh-TW" sz="2400" dirty="0" smtClean="0">
                <a:solidFill>
                  <a:srgbClr val="2D2DB9"/>
                </a:solidFill>
                <a:latin typeface="Lucida Console" pitchFamily="49" charset="0"/>
              </a:rPr>
              <a:t>,</a:t>
            </a:r>
            <a:r>
              <a:rPr lang="en-US" altLang="zh-TW" sz="2400" b="1" dirty="0" smtClean="0">
                <a:solidFill>
                  <a:srgbClr val="FFC000"/>
                </a:solidFill>
                <a:latin typeface="Lucida Console" pitchFamily="49" charset="0"/>
              </a:rPr>
              <a:t>3</a:t>
            </a:r>
            <a:r>
              <a:rPr lang="en-US" altLang="zh-TW" sz="2400" dirty="0" smtClean="0">
                <a:solidFill>
                  <a:srgbClr val="3333CC"/>
                </a:solidFill>
                <a:latin typeface="Lucida Console" pitchFamily="49" charset="0"/>
              </a:rPr>
              <a:t>)</a:t>
            </a:r>
            <a:endParaRPr lang="en-US" altLang="zh-TW" sz="2400" dirty="0">
              <a:solidFill>
                <a:srgbClr val="3333CC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chemeClr val="bg1">
                  <a:lumMod val="65000"/>
                </a:schemeClr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python3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f(1,2,3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):First 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argument is: 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1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(1,2,3):First argument is: (1, 2, 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First argument is: </a:t>
            </a:r>
            <a:r>
              <a:rPr lang="en-US" altLang="zh-TW" sz="2400" dirty="0" smtClean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1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729788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Functions Calls with Splat </a:t>
            </a:r>
            <a:r>
              <a:rPr lang="en-US" altLang="zh-TW" sz="4400" b="1" kern="0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*</a:t>
            </a:r>
            <a:endParaRPr lang="en-US" altLang="zh-TW" sz="4400" b="1" kern="0" dirty="0">
              <a:solidFill>
                <a:srgbClr val="002060"/>
              </a:solidFill>
              <a:latin typeface="Franklin Gothic Medium" panose="020B0603020102020204" pitchFamily="34" charset="0"/>
            </a:endParaRPr>
          </a:p>
        </p:txBody>
      </p:sp>
      <p:cxnSp>
        <p:nvCxnSpPr>
          <p:cNvPr id="4" name="Straight Arrow Connector 3"/>
          <p:cNvCxnSpPr/>
          <p:nvPr/>
        </p:nvCxnSpPr>
        <p:spPr bwMode="auto">
          <a:xfrm flipV="1">
            <a:off x="2921796" y="2669991"/>
            <a:ext cx="618837" cy="204123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" name="Straight Arrow Connector 5"/>
          <p:cNvCxnSpPr/>
          <p:nvPr/>
        </p:nvCxnSpPr>
        <p:spPr bwMode="auto">
          <a:xfrm flipV="1">
            <a:off x="3264696" y="2669991"/>
            <a:ext cx="390237" cy="204123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C3399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" name="Straight Arrow Connector 6"/>
          <p:cNvCxnSpPr/>
          <p:nvPr/>
        </p:nvCxnSpPr>
        <p:spPr bwMode="auto">
          <a:xfrm flipV="1">
            <a:off x="3621449" y="2669992"/>
            <a:ext cx="185882" cy="203777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Straight Arrow Connector 7"/>
          <p:cNvCxnSpPr/>
          <p:nvPr/>
        </p:nvCxnSpPr>
        <p:spPr bwMode="auto">
          <a:xfrm flipH="1">
            <a:off x="1873402" y="2572994"/>
            <a:ext cx="1655852" cy="29880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 flipH="1" flipV="1">
            <a:off x="1811759" y="1329824"/>
            <a:ext cx="5137" cy="145892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Straight Arrow Connector 9"/>
          <p:cNvCxnSpPr/>
          <p:nvPr/>
        </p:nvCxnSpPr>
        <p:spPr bwMode="auto">
          <a:xfrm flipH="1" flipV="1">
            <a:off x="1588296" y="1329824"/>
            <a:ext cx="5137" cy="145892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Straight Arrow Connector 10"/>
          <p:cNvCxnSpPr/>
          <p:nvPr/>
        </p:nvCxnSpPr>
        <p:spPr bwMode="auto">
          <a:xfrm flipH="1" flipV="1">
            <a:off x="1696841" y="1329824"/>
            <a:ext cx="5137" cy="145892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C3399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Arc 11"/>
          <p:cNvSpPr/>
          <p:nvPr/>
        </p:nvSpPr>
        <p:spPr bwMode="auto">
          <a:xfrm rot="21270295">
            <a:off x="1530680" y="311972"/>
            <a:ext cx="5096014" cy="2224192"/>
          </a:xfrm>
          <a:prstGeom prst="arc">
            <a:avLst>
              <a:gd name="adj1" fmla="val 11557114"/>
              <a:gd name="adj2" fmla="val 270866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949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292894" y="717652"/>
            <a:ext cx="9144000" cy="6140348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cat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rgbClr val="339933"/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rgbClr val="339933"/>
                </a:solidFill>
                <a:latin typeface="Lucida Console" pitchFamily="49" charset="0"/>
              </a:rPr>
              <a:t> f(</a:t>
            </a:r>
            <a:r>
              <a:rPr lang="en-US" altLang="zh-TW" sz="2400" b="1" dirty="0">
                <a:solidFill>
                  <a:schemeClr val="tx1"/>
                </a:solidFill>
                <a:latin typeface="Lucida Console" pitchFamily="49" charset="0"/>
              </a:rPr>
              <a:t>*v</a:t>
            </a:r>
            <a:r>
              <a:rPr lang="en-US" altLang="zh-TW" sz="2400" dirty="0">
                <a:solidFill>
                  <a:srgbClr val="339933"/>
                </a:solidFill>
                <a:latin typeface="Lucida Console" pitchFamily="49" charset="0"/>
              </a:rPr>
              <a:t>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</a:t>
            </a:r>
            <a:r>
              <a:rPr lang="en-US" altLang="zh-TW" sz="2400" dirty="0">
                <a:solidFill>
                  <a:srgbClr val="339933"/>
                </a:solidFill>
                <a:latin typeface="Lucida Console" pitchFamily="49" charset="0"/>
              </a:rPr>
              <a:t>print("First argument </a:t>
            </a:r>
            <a:r>
              <a:rPr lang="en-US" altLang="zh-TW" sz="2400" dirty="0" err="1">
                <a:solidFill>
                  <a:srgbClr val="339933"/>
                </a:solidFill>
                <a:latin typeface="Lucida Console" pitchFamily="49" charset="0"/>
              </a:rPr>
              <a:t>is:",</a:t>
            </a:r>
            <a:r>
              <a:rPr lang="en-US" altLang="zh-TW" sz="2400" b="1" dirty="0" err="1">
                <a:solidFill>
                  <a:srgbClr val="FF0000"/>
                </a:solidFill>
                <a:latin typeface="Lucida Console" pitchFamily="49" charset="0"/>
              </a:rPr>
              <a:t>v</a:t>
            </a:r>
            <a:r>
              <a:rPr lang="en-US" altLang="zh-TW" sz="2400" b="1" dirty="0">
                <a:solidFill>
                  <a:srgbClr val="FF0000"/>
                </a:solidFill>
                <a:latin typeface="Lucida Console" pitchFamily="49" charset="0"/>
              </a:rPr>
              <a:t>[0]</a:t>
            </a:r>
            <a:r>
              <a:rPr lang="en-US" altLang="zh-TW" sz="2400" dirty="0">
                <a:solidFill>
                  <a:srgbClr val="339933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f(v)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rgbClr val="3333CC"/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rgbClr val="3333CC"/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(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*v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</a:t>
            </a:r>
            <a:r>
              <a:rPr lang="en-US" altLang="zh-TW" sz="2400" dirty="0">
                <a:solidFill>
                  <a:srgbClr val="339933"/>
                </a:solidFill>
                <a:latin typeface="Lucida Console" pitchFamily="49" charset="0"/>
              </a:rPr>
              <a:t>f(</a:t>
            </a:r>
            <a:r>
              <a:rPr lang="en-US" altLang="zh-TW" sz="2400" b="1" dirty="0">
                <a:solidFill>
                  <a:schemeClr val="tx1"/>
                </a:solidFill>
                <a:latin typeface="Lucida Console" pitchFamily="49" charset="0"/>
              </a:rPr>
              <a:t>*v</a:t>
            </a:r>
            <a:r>
              <a:rPr lang="en-US" altLang="zh-TW" sz="2400" dirty="0">
                <a:solidFill>
                  <a:srgbClr val="339933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print("f(1,2,3):",end="")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f(1,2,3)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 smtClean="0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(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1,2,3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)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 smtClean="0">
                <a:solidFill>
                  <a:srgbClr val="3333CC"/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 smtClean="0">
                <a:solidFill>
                  <a:srgbClr val="3333CC"/>
                </a:solidFill>
                <a:latin typeface="Lucida Console" pitchFamily="49" charset="0"/>
              </a:rPr>
              <a:t>(</a:t>
            </a:r>
            <a:r>
              <a:rPr lang="en-US" altLang="zh-TW" sz="2400" b="1" dirty="0" smtClean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zh-TW" sz="2400" dirty="0" smtClean="0">
                <a:solidFill>
                  <a:srgbClr val="2D2DB9"/>
                </a:solidFill>
                <a:latin typeface="Lucida Console" pitchFamily="49" charset="0"/>
              </a:rPr>
              <a:t>,</a:t>
            </a:r>
            <a:r>
              <a:rPr lang="en-US" altLang="zh-TW" sz="2400" b="1" dirty="0" smtClean="0">
                <a:solidFill>
                  <a:srgbClr val="CC3399"/>
                </a:solidFill>
                <a:latin typeface="Lucida Console" pitchFamily="49" charset="0"/>
              </a:rPr>
              <a:t>2</a:t>
            </a:r>
            <a:r>
              <a:rPr lang="en-US" altLang="zh-TW" sz="2400" dirty="0" smtClean="0">
                <a:solidFill>
                  <a:srgbClr val="2D2DB9"/>
                </a:solidFill>
                <a:latin typeface="Lucida Console" pitchFamily="49" charset="0"/>
              </a:rPr>
              <a:t>,</a:t>
            </a:r>
            <a:r>
              <a:rPr lang="en-US" altLang="zh-TW" sz="2400" b="1" dirty="0" smtClean="0">
                <a:solidFill>
                  <a:srgbClr val="FFC000"/>
                </a:solidFill>
                <a:latin typeface="Lucida Console" pitchFamily="49" charset="0"/>
              </a:rPr>
              <a:t>3</a:t>
            </a:r>
            <a:r>
              <a:rPr lang="en-US" altLang="zh-TW" sz="2400" dirty="0" smtClean="0">
                <a:solidFill>
                  <a:srgbClr val="3333CC"/>
                </a:solidFill>
                <a:latin typeface="Lucida Console" pitchFamily="49" charset="0"/>
              </a:rPr>
              <a:t>)</a:t>
            </a:r>
            <a:endParaRPr lang="en-US" altLang="zh-TW" sz="2400" dirty="0">
              <a:solidFill>
                <a:srgbClr val="3333CC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chemeClr val="bg1">
                  <a:lumMod val="65000"/>
                </a:schemeClr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python3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f(1,2,3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):First 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argument is: 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1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(1,2,3):First argument is: (1, 2, 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First argument is: </a:t>
            </a:r>
            <a:r>
              <a:rPr lang="en-US" altLang="zh-TW" sz="2400" dirty="0" smtClean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1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729788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Functions Calls with Splat </a:t>
            </a:r>
            <a:r>
              <a:rPr lang="en-US" altLang="zh-TW" sz="4400" b="1" kern="0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*</a:t>
            </a:r>
            <a:endParaRPr lang="en-US" altLang="zh-TW" sz="4400" b="1" kern="0" dirty="0">
              <a:solidFill>
                <a:srgbClr val="002060"/>
              </a:solidFill>
              <a:latin typeface="Franklin Gothic Medium" panose="020B0603020102020204" pitchFamily="34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 bwMode="auto">
          <a:xfrm flipV="1">
            <a:off x="2921796" y="2669991"/>
            <a:ext cx="618837" cy="204123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Straight Arrow Connector 13"/>
          <p:cNvCxnSpPr/>
          <p:nvPr/>
        </p:nvCxnSpPr>
        <p:spPr bwMode="auto">
          <a:xfrm flipV="1">
            <a:off x="3264696" y="2669991"/>
            <a:ext cx="390237" cy="204123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C3399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Straight Arrow Connector 14"/>
          <p:cNvCxnSpPr/>
          <p:nvPr/>
        </p:nvCxnSpPr>
        <p:spPr bwMode="auto">
          <a:xfrm flipV="1">
            <a:off x="3621449" y="2669992"/>
            <a:ext cx="185882" cy="203777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/>
          <p:cNvCxnSpPr/>
          <p:nvPr/>
        </p:nvCxnSpPr>
        <p:spPr bwMode="auto">
          <a:xfrm flipH="1">
            <a:off x="1873402" y="2572994"/>
            <a:ext cx="1655852" cy="29880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 flipH="1" flipV="1">
            <a:off x="1811759" y="1329824"/>
            <a:ext cx="5137" cy="145892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 flipH="1" flipV="1">
            <a:off x="1588296" y="1329824"/>
            <a:ext cx="5137" cy="145892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 flipH="1" flipV="1">
            <a:off x="1696841" y="1329824"/>
            <a:ext cx="5137" cy="145892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C3399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Arc 19"/>
          <p:cNvSpPr/>
          <p:nvPr/>
        </p:nvSpPr>
        <p:spPr bwMode="auto">
          <a:xfrm rot="21270295">
            <a:off x="1530680" y="311972"/>
            <a:ext cx="5096014" cy="2224192"/>
          </a:xfrm>
          <a:prstGeom prst="arc">
            <a:avLst>
              <a:gd name="adj1" fmla="val 11557114"/>
              <a:gd name="adj2" fmla="val 270866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  <p:cxnSp>
        <p:nvCxnSpPr>
          <p:cNvPr id="23" name="Straight Arrow Connector 22"/>
          <p:cNvCxnSpPr/>
          <p:nvPr/>
        </p:nvCxnSpPr>
        <p:spPr bwMode="auto">
          <a:xfrm>
            <a:off x="6541294" y="1708252"/>
            <a:ext cx="1060777" cy="454911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193337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292894" y="717652"/>
            <a:ext cx="9144000" cy="6140348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cat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rgbClr val="339933"/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rgbClr val="339933"/>
                </a:solidFill>
                <a:latin typeface="Lucida Console" pitchFamily="49" charset="0"/>
              </a:rPr>
              <a:t> f(</a:t>
            </a:r>
            <a:r>
              <a:rPr lang="en-US" altLang="zh-TW" sz="2400" b="1" dirty="0">
                <a:solidFill>
                  <a:schemeClr val="tx1"/>
                </a:solidFill>
                <a:latin typeface="Lucida Console" pitchFamily="49" charset="0"/>
              </a:rPr>
              <a:t>*v</a:t>
            </a:r>
            <a:r>
              <a:rPr lang="en-US" altLang="zh-TW" sz="2400" dirty="0">
                <a:solidFill>
                  <a:srgbClr val="339933"/>
                </a:solidFill>
                <a:latin typeface="Lucida Console" pitchFamily="49" charset="0"/>
              </a:rPr>
              <a:t>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</a:t>
            </a:r>
            <a:r>
              <a:rPr lang="en-US" altLang="zh-TW" sz="2400" dirty="0">
                <a:solidFill>
                  <a:srgbClr val="339933"/>
                </a:solidFill>
                <a:latin typeface="Lucida Console" pitchFamily="49" charset="0"/>
              </a:rPr>
              <a:t>print("First argument </a:t>
            </a:r>
            <a:r>
              <a:rPr lang="en-US" altLang="zh-TW" sz="2400" dirty="0" err="1">
                <a:solidFill>
                  <a:srgbClr val="339933"/>
                </a:solidFill>
                <a:latin typeface="Lucida Console" pitchFamily="49" charset="0"/>
              </a:rPr>
              <a:t>is:",</a:t>
            </a:r>
            <a:r>
              <a:rPr lang="en-US" altLang="zh-TW" sz="2400" b="1" dirty="0" err="1">
                <a:solidFill>
                  <a:srgbClr val="FF0000"/>
                </a:solidFill>
                <a:latin typeface="Lucida Console" pitchFamily="49" charset="0"/>
              </a:rPr>
              <a:t>v</a:t>
            </a:r>
            <a:r>
              <a:rPr lang="en-US" altLang="zh-TW" sz="2400" b="1" dirty="0">
                <a:solidFill>
                  <a:srgbClr val="FF0000"/>
                </a:solidFill>
                <a:latin typeface="Lucida Console" pitchFamily="49" charset="0"/>
              </a:rPr>
              <a:t>[0]</a:t>
            </a:r>
            <a:r>
              <a:rPr lang="en-US" altLang="zh-TW" sz="2400" dirty="0">
                <a:solidFill>
                  <a:srgbClr val="339933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f(v)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rgbClr val="3333CC"/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rgbClr val="3333CC"/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(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*v</a:t>
            </a:r>
            <a:r>
              <a:rPr lang="en-US" altLang="zh-TW" sz="2400" dirty="0">
                <a:solidFill>
                  <a:srgbClr val="3333CC"/>
                </a:solidFill>
                <a:latin typeface="Lucida Console" pitchFamily="49" charset="0"/>
              </a:rPr>
              <a:t>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    </a:t>
            </a:r>
            <a:r>
              <a:rPr lang="en-US" altLang="zh-TW" sz="2400" dirty="0">
                <a:solidFill>
                  <a:srgbClr val="339933"/>
                </a:solidFill>
                <a:latin typeface="Lucida Console" pitchFamily="49" charset="0"/>
              </a:rPr>
              <a:t>f(</a:t>
            </a:r>
            <a:r>
              <a:rPr lang="en-US" altLang="zh-TW" sz="2400" b="1" dirty="0">
                <a:solidFill>
                  <a:schemeClr val="tx1"/>
                </a:solidFill>
                <a:latin typeface="Lucida Console" pitchFamily="49" charset="0"/>
              </a:rPr>
              <a:t>*v</a:t>
            </a:r>
            <a:r>
              <a:rPr lang="en-US" altLang="zh-TW" sz="2400" dirty="0">
                <a:solidFill>
                  <a:srgbClr val="339933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print("f(1,2,3):",end="")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f(1,2,3)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 smtClean="0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(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1,2,3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)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 smtClean="0">
                <a:solidFill>
                  <a:srgbClr val="3333CC"/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 smtClean="0">
                <a:solidFill>
                  <a:srgbClr val="3333CC"/>
                </a:solidFill>
                <a:latin typeface="Lucida Console" pitchFamily="49" charset="0"/>
              </a:rPr>
              <a:t>(</a:t>
            </a:r>
            <a:r>
              <a:rPr lang="en-US" altLang="zh-TW" sz="2400" b="1" dirty="0" smtClean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zh-TW" sz="2400" dirty="0" smtClean="0">
                <a:solidFill>
                  <a:srgbClr val="2D2DB9"/>
                </a:solidFill>
                <a:latin typeface="Lucida Console" pitchFamily="49" charset="0"/>
              </a:rPr>
              <a:t>,</a:t>
            </a:r>
            <a:r>
              <a:rPr lang="en-US" altLang="zh-TW" sz="2400" b="1" dirty="0" smtClean="0">
                <a:solidFill>
                  <a:srgbClr val="CC3399"/>
                </a:solidFill>
                <a:latin typeface="Lucida Console" pitchFamily="49" charset="0"/>
              </a:rPr>
              <a:t>2</a:t>
            </a:r>
            <a:r>
              <a:rPr lang="en-US" altLang="zh-TW" sz="2400" dirty="0" smtClean="0">
                <a:solidFill>
                  <a:srgbClr val="2D2DB9"/>
                </a:solidFill>
                <a:latin typeface="Lucida Console" pitchFamily="49" charset="0"/>
              </a:rPr>
              <a:t>,</a:t>
            </a:r>
            <a:r>
              <a:rPr lang="en-US" altLang="zh-TW" sz="2400" b="1" dirty="0" smtClean="0">
                <a:solidFill>
                  <a:srgbClr val="FFC000"/>
                </a:solidFill>
                <a:latin typeface="Lucida Console" pitchFamily="49" charset="0"/>
              </a:rPr>
              <a:t>3</a:t>
            </a:r>
            <a:r>
              <a:rPr lang="en-US" altLang="zh-TW" sz="2400" dirty="0" smtClean="0">
                <a:solidFill>
                  <a:srgbClr val="3333CC"/>
                </a:solidFill>
                <a:latin typeface="Lucida Console" pitchFamily="49" charset="0"/>
              </a:rPr>
              <a:t>)</a:t>
            </a:r>
            <a:endParaRPr lang="en-US" altLang="zh-TW" sz="2400" dirty="0">
              <a:solidFill>
                <a:srgbClr val="3333CC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chemeClr val="bg1">
                  <a:lumMod val="65000"/>
                </a:schemeClr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python3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f(1,2,3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):First 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argument is: 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1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(1,2,3):First argument is: (1, 2, 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</a:t>
            </a:r>
            <a:r>
              <a:rPr lang="en-US" altLang="zh-TW" sz="2400" b="1" dirty="0">
                <a:solidFill>
                  <a:srgbClr val="339933"/>
                </a:solidFill>
                <a:latin typeface="Lucida Console" pitchFamily="49" charset="0"/>
              </a:rPr>
              <a:t>First argument is: </a:t>
            </a:r>
            <a:r>
              <a:rPr lang="en-US" altLang="zh-TW" sz="2400" b="1" dirty="0" smtClean="0">
                <a:solidFill>
                  <a:srgbClr val="FF0000"/>
                </a:solidFill>
                <a:latin typeface="Lucida Console" pitchFamily="49" charset="0"/>
              </a:rPr>
              <a:t>1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729788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Functions Calls with Splat </a:t>
            </a:r>
            <a:r>
              <a:rPr lang="en-US" altLang="zh-TW" sz="4400" b="1" kern="0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*</a:t>
            </a:r>
            <a:endParaRPr lang="en-US" altLang="zh-TW" sz="4400" b="1" kern="0" dirty="0">
              <a:solidFill>
                <a:srgbClr val="002060"/>
              </a:solidFill>
              <a:latin typeface="Franklin Gothic Medium" panose="020B0603020102020204" pitchFamily="34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 bwMode="auto">
          <a:xfrm flipV="1">
            <a:off x="2921796" y="2669991"/>
            <a:ext cx="618837" cy="204123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Straight Arrow Connector 13"/>
          <p:cNvCxnSpPr/>
          <p:nvPr/>
        </p:nvCxnSpPr>
        <p:spPr bwMode="auto">
          <a:xfrm flipV="1">
            <a:off x="3264696" y="2669991"/>
            <a:ext cx="390237" cy="204123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C3399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Straight Arrow Connector 14"/>
          <p:cNvCxnSpPr/>
          <p:nvPr/>
        </p:nvCxnSpPr>
        <p:spPr bwMode="auto">
          <a:xfrm flipV="1">
            <a:off x="3621449" y="2669992"/>
            <a:ext cx="185882" cy="203777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/>
          <p:cNvCxnSpPr/>
          <p:nvPr/>
        </p:nvCxnSpPr>
        <p:spPr bwMode="auto">
          <a:xfrm flipH="1">
            <a:off x="1873402" y="2572994"/>
            <a:ext cx="1655852" cy="29880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 flipH="1" flipV="1">
            <a:off x="1811759" y="1329824"/>
            <a:ext cx="5137" cy="145892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 flipH="1" flipV="1">
            <a:off x="1588296" y="1329824"/>
            <a:ext cx="5137" cy="145892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 flipH="1" flipV="1">
            <a:off x="1696841" y="1329824"/>
            <a:ext cx="5137" cy="145892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C3399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Arc 19"/>
          <p:cNvSpPr/>
          <p:nvPr/>
        </p:nvSpPr>
        <p:spPr bwMode="auto">
          <a:xfrm rot="21270295">
            <a:off x="1530680" y="311972"/>
            <a:ext cx="5096014" cy="2224192"/>
          </a:xfrm>
          <a:prstGeom prst="arc">
            <a:avLst>
              <a:gd name="adj1" fmla="val 11557114"/>
              <a:gd name="adj2" fmla="val 270866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 bwMode="auto">
          <a:xfrm>
            <a:off x="6541294" y="1708252"/>
            <a:ext cx="1060777" cy="454911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2" name="Rectangular Callout 21"/>
          <p:cNvSpPr/>
          <p:nvPr/>
        </p:nvSpPr>
        <p:spPr bwMode="auto">
          <a:xfrm>
            <a:off x="5931694" y="2013052"/>
            <a:ext cx="3505200" cy="3124200"/>
          </a:xfrm>
          <a:prstGeom prst="wedgeRectCallout">
            <a:avLst>
              <a:gd name="adj1" fmla="val 1759"/>
              <a:gd name="adj2" fmla="val 8822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2D2DB9"/>
                </a:solidFill>
                <a:latin typeface="Times New Roman" charset="0"/>
              </a:rPr>
              <a:t>See? It worked!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2D2DB9"/>
                </a:solidFill>
                <a:latin typeface="Times New Roman" charset="0"/>
              </a:rPr>
              <a:t>We </a:t>
            </a:r>
            <a:r>
              <a:rPr lang="en-US" altLang="zh-TW" sz="3200" dirty="0" smtClean="0">
                <a:solidFill>
                  <a:srgbClr val="2D2DB9"/>
                </a:solidFill>
                <a:latin typeface="Times New Roman" charset="0"/>
              </a:rPr>
              <a:t>forwarded </a:t>
            </a:r>
            <a:r>
              <a:rPr lang="en-US" altLang="zh-TW" sz="3200" dirty="0">
                <a:solidFill>
                  <a:srgbClr val="2D2DB9"/>
                </a:solidFill>
                <a:latin typeface="Times New Roman" charset="0"/>
              </a:rPr>
              <a:t>the three variable length arguments correctly, because it printed just the first.</a:t>
            </a:r>
          </a:p>
        </p:txBody>
      </p:sp>
    </p:spTree>
    <p:extLst>
      <p:ext uri="{BB962C8B-B14F-4D97-AF65-F5344CB8AC3E}">
        <p14:creationId xmlns:p14="http://schemas.microsoft.com/office/powerpoint/2010/main" val="1452881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8" presetClass="exit" presetSubtype="0" ac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  <p:bldP spid="22" grpId="1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292894" y="717652"/>
            <a:ext cx="9144000" cy="6140348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cat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 f(*v):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    print("First argument 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is:",v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[0])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    f(</a:t>
            </a:r>
            <a:r>
              <a:rPr lang="en-US" altLang="zh-TW" sz="2400" b="1" dirty="0">
                <a:solidFill>
                  <a:srgbClr val="FF0000"/>
                </a:solidFill>
                <a:latin typeface="Lucida Console" pitchFamily="49" charset="0"/>
              </a:rPr>
              <a:t>v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    f(</a:t>
            </a:r>
            <a:r>
              <a:rPr lang="en-US" altLang="zh-TW" sz="2400" b="1" dirty="0">
                <a:solidFill>
                  <a:srgbClr val="339933"/>
                </a:solidFill>
                <a:latin typeface="Lucida Console" pitchFamily="49" charset="0"/>
              </a:rPr>
              <a:t>*v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print("f(1,2,3):",end="")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f(1,2,3)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 smtClean="0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(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1,2,3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)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 smtClean="0">
                <a:solidFill>
                  <a:schemeClr val="tx1"/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(1,2,3)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chemeClr val="bg1">
                  <a:lumMod val="65000"/>
                </a:schemeClr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python3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f(1,2,3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):First 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argument is: 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1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(1,2,3):First argument is: </a:t>
            </a:r>
            <a:r>
              <a:rPr lang="en-US" altLang="zh-TW" sz="2400" b="1" dirty="0">
                <a:solidFill>
                  <a:srgbClr val="FF0000"/>
                </a:solidFill>
                <a:latin typeface="Lucida Console" pitchFamily="49" charset="0"/>
              </a:rPr>
              <a:t>(1, 2, 3)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(1,2,3):First argument is: </a:t>
            </a:r>
            <a:r>
              <a:rPr lang="en-US" altLang="zh-TW" sz="2400" b="1" dirty="0" smtClean="0">
                <a:solidFill>
                  <a:srgbClr val="339933"/>
                </a:solidFill>
                <a:latin typeface="Lucida Console" pitchFamily="49" charset="0"/>
              </a:rPr>
              <a:t>1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729788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Functions Calls with Splat </a:t>
            </a:r>
            <a:r>
              <a:rPr lang="en-US" altLang="zh-TW" sz="4400" b="1" kern="0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*</a:t>
            </a:r>
            <a:endParaRPr lang="en-US" altLang="zh-TW" sz="4400" b="1" kern="0" dirty="0">
              <a:solidFill>
                <a:srgbClr val="002060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ular Callout 22"/>
          <p:cNvSpPr/>
          <p:nvPr/>
        </p:nvSpPr>
        <p:spPr bwMode="auto">
          <a:xfrm>
            <a:off x="6312694" y="2013052"/>
            <a:ext cx="3124200" cy="609600"/>
          </a:xfrm>
          <a:prstGeom prst="wedgeRectCallout">
            <a:avLst>
              <a:gd name="adj1" fmla="val -196199"/>
              <a:gd name="adj2" fmla="val -13824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chemeClr val="bg1"/>
                </a:solidFill>
                <a:latin typeface="Times New Roman" charset="0"/>
              </a:rPr>
              <a:t>No splat? </a:t>
            </a:r>
            <a:endParaRPr lang="zh-TW" altLang="en-US" sz="3200" dirty="0">
              <a:solidFill>
                <a:schemeClr val="bg1"/>
              </a:solidFill>
              <a:latin typeface="Times New Roman" charset="0"/>
            </a:endParaRPr>
          </a:p>
        </p:txBody>
      </p:sp>
      <p:sp>
        <p:nvSpPr>
          <p:cNvPr id="25" name="Rectangular Callout 24"/>
          <p:cNvSpPr/>
          <p:nvPr/>
        </p:nvSpPr>
        <p:spPr bwMode="auto">
          <a:xfrm>
            <a:off x="4864894" y="2775052"/>
            <a:ext cx="3124200" cy="609600"/>
          </a:xfrm>
          <a:prstGeom prst="wedgeRectCallout">
            <a:avLst>
              <a:gd name="adj1" fmla="val -144457"/>
              <a:gd name="adj2" fmla="val -29895"/>
            </a:avLst>
          </a:prstGeom>
          <a:solidFill>
            <a:srgbClr val="339933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chemeClr val="bg1"/>
                </a:solidFill>
                <a:latin typeface="Times New Roman" charset="0"/>
              </a:rPr>
              <a:t>S</a:t>
            </a:r>
            <a:r>
              <a:rPr lang="en-US" altLang="zh-TW" sz="3200" dirty="0" smtClean="0">
                <a:solidFill>
                  <a:schemeClr val="bg1"/>
                </a:solidFill>
                <a:latin typeface="Times New Roman" charset="0"/>
              </a:rPr>
              <a:t>plat</a:t>
            </a:r>
            <a:r>
              <a:rPr lang="en-US" altLang="zh-TW" sz="3200" dirty="0">
                <a:solidFill>
                  <a:schemeClr val="bg1"/>
                </a:solidFill>
                <a:latin typeface="Times New Roman" charset="0"/>
              </a:rPr>
              <a:t>? </a:t>
            </a:r>
            <a:endParaRPr lang="zh-TW" altLang="en-US" sz="3200" dirty="0">
              <a:solidFill>
                <a:schemeClr val="bg1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986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292894" y="717652"/>
            <a:ext cx="9144000" cy="6140348"/>
          </a:xfrm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cat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 f(*v):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    print("First argument 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is:",v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[0])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    f(</a:t>
            </a:r>
            <a:r>
              <a:rPr lang="en-US" altLang="zh-TW" sz="2400" b="1" dirty="0">
                <a:solidFill>
                  <a:srgbClr val="FF0000"/>
                </a:solidFill>
                <a:latin typeface="Lucida Console" pitchFamily="49" charset="0"/>
              </a:rPr>
              <a:t>v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def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(*v):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    f(</a:t>
            </a:r>
            <a:r>
              <a:rPr lang="en-US" altLang="zh-TW" sz="2400" b="1" dirty="0">
                <a:solidFill>
                  <a:srgbClr val="339933"/>
                </a:solidFill>
                <a:latin typeface="Lucida Console" pitchFamily="49" charset="0"/>
              </a:rPr>
              <a:t>*v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print("f(1,2,3):",end="")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f(1,2,3)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 smtClean="0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(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1,2,3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)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print("</a:t>
            </a: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(1,2,3):",end="")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 smtClean="0">
                <a:solidFill>
                  <a:schemeClr val="tx1"/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(1,2,3)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endParaRPr lang="en-US" altLang="zh-TW" sz="2000" dirty="0">
              <a:solidFill>
                <a:schemeClr val="bg1">
                  <a:lumMod val="65000"/>
                </a:schemeClr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 python3 splat.py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f(1,2,3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):First 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argument is: </a:t>
            </a:r>
            <a:r>
              <a:rPr lang="en-US" altLang="zh-TW" sz="2400" dirty="0" smtClean="0">
                <a:solidFill>
                  <a:schemeClr val="tx1"/>
                </a:solidFill>
                <a:latin typeface="Lucida Console" pitchFamily="49" charset="0"/>
              </a:rPr>
              <a:t>1</a:t>
            </a:r>
            <a:endParaRPr lang="en-US" altLang="zh-TW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(1,2,3):First argument is: </a:t>
            </a:r>
            <a:r>
              <a:rPr lang="en-US" altLang="zh-TW" sz="2400" b="1" dirty="0">
                <a:solidFill>
                  <a:srgbClr val="FF0000"/>
                </a:solidFill>
                <a:latin typeface="Lucida Console" pitchFamily="49" charset="0"/>
              </a:rPr>
              <a:t>(1, 2, 3)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tx1"/>
                </a:solidFill>
                <a:latin typeface="Lucida Console" pitchFamily="49" charset="0"/>
              </a:rPr>
              <a:t>passUnpacked</a:t>
            </a:r>
            <a:r>
              <a:rPr lang="en-US" altLang="zh-TW" sz="2400" dirty="0">
                <a:solidFill>
                  <a:schemeClr val="tx1"/>
                </a:solidFill>
                <a:latin typeface="Lucida Console" pitchFamily="49" charset="0"/>
              </a:rPr>
              <a:t>(1,2,3):First argument is: </a:t>
            </a:r>
            <a:r>
              <a:rPr lang="en-US" altLang="zh-TW" sz="2400" b="1" dirty="0" smtClean="0">
                <a:solidFill>
                  <a:srgbClr val="339933"/>
                </a:solidFill>
                <a:latin typeface="Lucida Console" pitchFamily="49" charset="0"/>
              </a:rPr>
              <a:t>1</a:t>
            </a:r>
          </a:p>
          <a:p>
            <a:pPr marL="0" indent="0">
              <a:lnSpc>
                <a:spcPct val="80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%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729788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Functions Calls with Splat </a:t>
            </a:r>
            <a:r>
              <a:rPr lang="en-US" altLang="zh-TW" sz="4400" b="1" kern="0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*</a:t>
            </a:r>
            <a:endParaRPr lang="en-US" altLang="zh-TW" sz="4400" b="1" kern="0" dirty="0">
              <a:solidFill>
                <a:srgbClr val="002060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ular Callout 22"/>
          <p:cNvSpPr/>
          <p:nvPr/>
        </p:nvSpPr>
        <p:spPr bwMode="auto">
          <a:xfrm>
            <a:off x="6312694" y="2013052"/>
            <a:ext cx="3124200" cy="609600"/>
          </a:xfrm>
          <a:prstGeom prst="wedgeRectCallout">
            <a:avLst>
              <a:gd name="adj1" fmla="val -196199"/>
              <a:gd name="adj2" fmla="val -13824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chemeClr val="bg1"/>
                </a:solidFill>
                <a:latin typeface="Times New Roman" charset="0"/>
              </a:rPr>
              <a:t>No splat? Failed!</a:t>
            </a:r>
            <a:endParaRPr lang="zh-TW" altLang="en-US" sz="3200" dirty="0">
              <a:solidFill>
                <a:schemeClr val="bg1"/>
              </a:solidFill>
              <a:latin typeface="Times New Roman" charset="0"/>
            </a:endParaRPr>
          </a:p>
        </p:txBody>
      </p:sp>
      <p:sp>
        <p:nvSpPr>
          <p:cNvPr id="25" name="Rectangular Callout 24"/>
          <p:cNvSpPr/>
          <p:nvPr/>
        </p:nvSpPr>
        <p:spPr bwMode="auto">
          <a:xfrm>
            <a:off x="4864894" y="2775052"/>
            <a:ext cx="3124200" cy="609600"/>
          </a:xfrm>
          <a:prstGeom prst="wedgeRectCallout">
            <a:avLst>
              <a:gd name="adj1" fmla="val -144457"/>
              <a:gd name="adj2" fmla="val -29895"/>
            </a:avLst>
          </a:prstGeom>
          <a:solidFill>
            <a:srgbClr val="339933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 smtClean="0">
                <a:solidFill>
                  <a:schemeClr val="bg1"/>
                </a:solidFill>
                <a:latin typeface="Times New Roman" charset="0"/>
              </a:rPr>
              <a:t>Splat?</a:t>
            </a:r>
            <a:endParaRPr lang="zh-TW" altLang="en-US" sz="3200" dirty="0">
              <a:solidFill>
                <a:schemeClr val="bg1"/>
              </a:solidFill>
              <a:latin typeface="Times New Roman" charset="0"/>
            </a:endParaRPr>
          </a:p>
        </p:txBody>
      </p:sp>
      <p:sp>
        <p:nvSpPr>
          <p:cNvPr id="24" name="Rectangular Callout 23"/>
          <p:cNvSpPr/>
          <p:nvPr/>
        </p:nvSpPr>
        <p:spPr bwMode="auto">
          <a:xfrm>
            <a:off x="7987552" y="2013052"/>
            <a:ext cx="1449341" cy="609600"/>
          </a:xfrm>
          <a:prstGeom prst="wedgeRectCallout">
            <a:avLst>
              <a:gd name="adj1" fmla="val -40150"/>
              <a:gd name="adj2" fmla="val 599411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000" dirty="0" smtClean="0">
                <a:solidFill>
                  <a:schemeClr val="bg1"/>
                </a:solidFill>
                <a:latin typeface="Times New Roman" charset="0"/>
              </a:rPr>
              <a:t> </a:t>
            </a:r>
            <a:r>
              <a:rPr lang="en-US" altLang="zh-TW" sz="3200" dirty="0" smtClean="0">
                <a:solidFill>
                  <a:schemeClr val="bg1"/>
                </a:solidFill>
                <a:latin typeface="Times New Roman" charset="0"/>
              </a:rPr>
              <a:t>Failed</a:t>
            </a:r>
            <a:r>
              <a:rPr lang="en-US" altLang="zh-TW" sz="3200" dirty="0">
                <a:solidFill>
                  <a:schemeClr val="bg1"/>
                </a:solidFill>
                <a:latin typeface="Times New Roman" charset="0"/>
              </a:rPr>
              <a:t>!</a:t>
            </a:r>
            <a:endParaRPr lang="zh-TW" altLang="en-US" sz="3200" dirty="0">
              <a:solidFill>
                <a:schemeClr val="bg1"/>
              </a:solidFill>
              <a:latin typeface="Times New Roman" charset="0"/>
            </a:endParaRPr>
          </a:p>
        </p:txBody>
      </p:sp>
      <p:sp>
        <p:nvSpPr>
          <p:cNvPr id="26" name="Rectangular Callout 25"/>
          <p:cNvSpPr/>
          <p:nvPr/>
        </p:nvSpPr>
        <p:spPr bwMode="auto">
          <a:xfrm>
            <a:off x="6033247" y="2775052"/>
            <a:ext cx="1955846" cy="609600"/>
          </a:xfrm>
          <a:prstGeom prst="wedgeRectCallout">
            <a:avLst>
              <a:gd name="adj1" fmla="val 31641"/>
              <a:gd name="adj2" fmla="val 521628"/>
            </a:avLst>
          </a:prstGeom>
          <a:solidFill>
            <a:srgbClr val="339933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spc="-100" dirty="0" smtClean="0">
                <a:solidFill>
                  <a:schemeClr val="bg1"/>
                </a:solidFill>
                <a:latin typeface="Times New Roman" charset="0"/>
              </a:rPr>
              <a:t>Su</a:t>
            </a:r>
            <a:r>
              <a:rPr lang="en-US" altLang="zh-TW" sz="3200" dirty="0" smtClean="0">
                <a:solidFill>
                  <a:schemeClr val="bg1"/>
                </a:solidFill>
                <a:latin typeface="Times New Roman" charset="0"/>
              </a:rPr>
              <a:t>ccee</a:t>
            </a:r>
            <a:r>
              <a:rPr lang="en-US" altLang="zh-TW" sz="3200" spc="-100" dirty="0" smtClean="0">
                <a:solidFill>
                  <a:schemeClr val="bg1"/>
                </a:solidFill>
                <a:latin typeface="Times New Roman" charset="0"/>
              </a:rPr>
              <a:t>d</a:t>
            </a:r>
            <a:r>
              <a:rPr lang="en-US" altLang="zh-TW" sz="3200" dirty="0" smtClean="0">
                <a:solidFill>
                  <a:schemeClr val="bg1"/>
                </a:solidFill>
                <a:latin typeface="Times New Roman" charset="0"/>
              </a:rPr>
              <a:t>e</a:t>
            </a:r>
            <a:r>
              <a:rPr lang="en-US" altLang="zh-TW" sz="3200" spc="-100" dirty="0" smtClean="0">
                <a:solidFill>
                  <a:schemeClr val="bg1"/>
                </a:solidFill>
                <a:latin typeface="Times New Roman" charset="0"/>
              </a:rPr>
              <a:t>d</a:t>
            </a:r>
            <a:r>
              <a:rPr lang="en-US" altLang="zh-TW" sz="3200" dirty="0">
                <a:solidFill>
                  <a:schemeClr val="bg1"/>
                </a:solidFill>
                <a:latin typeface="Times New Roman" charset="0"/>
              </a:rPr>
              <a:t>!</a:t>
            </a:r>
            <a:endParaRPr lang="zh-TW" altLang="en-US" sz="3200" dirty="0">
              <a:solidFill>
                <a:schemeClr val="bg1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9186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9094" y="914402"/>
            <a:ext cx="9067800" cy="4948237"/>
          </a:xfrm>
        </p:spPr>
        <p:txBody>
          <a:bodyPr/>
          <a:lstStyle/>
          <a:p>
            <a:pPr marL="363538" indent="-268288" eaLnBrk="1">
              <a:lnSpc>
                <a:spcPct val="93000"/>
              </a:lnSpc>
              <a:buClrTx/>
              <a:buSzPct val="45000"/>
              <a:buFont typeface="Wingdings" pitchFamily="2" charset="2"/>
              <a:buChar char=""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tx1"/>
                </a:solidFill>
              </a:rPr>
              <a:t>So, if your function wants to pass its received variable-length argument onward to another function, it calls, then you need to splat it.</a:t>
            </a:r>
          </a:p>
          <a:p>
            <a:pPr marL="363538" indent="-268288" eaLnBrk="1">
              <a:lnSpc>
                <a:spcPct val="93000"/>
              </a:lnSpc>
              <a:buClrTx/>
              <a:buSzPct val="45000"/>
              <a:buFont typeface="Wingdings" pitchFamily="2" charset="2"/>
              <a:buChar char=""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200" dirty="0">
              <a:solidFill>
                <a:schemeClr val="tx1"/>
              </a:solidFill>
            </a:endParaRPr>
          </a:p>
          <a:p>
            <a:pPr marL="363538" indent="-268288" eaLnBrk="1">
              <a:lnSpc>
                <a:spcPct val="93000"/>
              </a:lnSpc>
              <a:buClrTx/>
              <a:buSzPct val="45000"/>
              <a:buFont typeface="Wingdings" pitchFamily="2" charset="2"/>
              <a:buChar char=""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rgbClr val="FF0000"/>
                </a:solidFill>
              </a:rPr>
              <a:t>But the following slides show that dictionaries require a double-splat…</a:t>
            </a:r>
            <a:endParaRPr lang="en-GB" altLang="en-US" sz="3200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0" y="0"/>
            <a:ext cx="9729788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Functions Calls with Splat </a:t>
            </a:r>
            <a:r>
              <a:rPr lang="en-US" altLang="zh-TW" sz="4400" b="1" kern="0" dirty="0" smtClean="0">
                <a:solidFill>
                  <a:srgbClr val="FF0000"/>
                </a:solidFill>
                <a:latin typeface="Cooper Black" panose="0208090404030B020404" pitchFamily="18" charset="0"/>
              </a:rPr>
              <a:t>*</a:t>
            </a:r>
            <a:endParaRPr lang="en-US" altLang="zh-TW" sz="4400" b="1" kern="0" dirty="0">
              <a:solidFill>
                <a:srgbClr val="002060"/>
              </a:solidFill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653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3453" y="3344452"/>
            <a:ext cx="9616335" cy="2799567"/>
          </a:xfrm>
        </p:spPr>
        <p:txBody>
          <a:bodyPr/>
          <a:lstStyle/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zh-TW" sz="4400" dirty="0">
                <a:solidFill>
                  <a:srgbClr val="0070C0"/>
                </a:solidFill>
                <a:latin typeface="Elephant" panose="02020904090505020303" pitchFamily="18" charset="0"/>
                <a:ea typeface="+mn-ea"/>
                <a:cs typeface="+mn-cs"/>
              </a:rPr>
              <a:t>  </a:t>
            </a:r>
            <a:r>
              <a:rPr lang="en-US" altLang="zh-TW" sz="3600" dirty="0">
                <a:solidFill>
                  <a:srgbClr val="0070C0"/>
                </a:solidFill>
                <a:latin typeface="Elephant" panose="02020904090505020303" pitchFamily="18" charset="0"/>
                <a:ea typeface="+mn-ea"/>
                <a:cs typeface="+mn-cs"/>
              </a:rPr>
              <a:t> </a:t>
            </a:r>
            <a:r>
              <a:rPr lang="en-US" altLang="zh-TW" sz="4400" dirty="0">
                <a:solidFill>
                  <a:srgbClr val="0070C0"/>
                </a:solidFill>
                <a:latin typeface="Elephant" panose="02020904090505020303" pitchFamily="18" charset="0"/>
                <a:ea typeface="+mn-ea"/>
                <a:cs typeface="+mn-cs"/>
              </a:rPr>
              <a:t>Function Arguments </a:t>
            </a:r>
            <a:r>
              <a:rPr lang="en-US" altLang="zh-TW" sz="4400" b="1" dirty="0">
                <a:solidFill>
                  <a:srgbClr val="0000FF"/>
                </a:solidFill>
                <a:latin typeface="Cooper Black" panose="0208090404030B020404" pitchFamily="18" charset="0"/>
                <a:ea typeface="+mn-ea"/>
                <a:cs typeface="+mn-cs"/>
              </a:rPr>
              <a:t>*</a:t>
            </a:r>
            <a:r>
              <a:rPr lang="en-US" altLang="zh-TW" sz="4400" dirty="0">
                <a:solidFill>
                  <a:srgbClr val="0000FF"/>
                </a:solidFill>
                <a:latin typeface="Elephant" panose="02020904090505020303" pitchFamily="18" charset="0"/>
                <a:ea typeface="+mn-ea"/>
                <a:cs typeface="+mn-cs"/>
              </a:rPr>
              <a:t>x </a:t>
            </a:r>
            <a:r>
              <a:rPr lang="en-US" altLang="zh-TW" sz="4400" dirty="0">
                <a:solidFill>
                  <a:srgbClr val="0070C0"/>
                </a:solidFill>
                <a:latin typeface="Elephant" panose="02020904090505020303" pitchFamily="18" charset="0"/>
                <a:ea typeface="+mn-ea"/>
                <a:cs typeface="+mn-cs"/>
              </a:rPr>
              <a:t>&amp;</a:t>
            </a:r>
            <a:r>
              <a:rPr lang="en-US" altLang="zh-TW" sz="4400" dirty="0">
                <a:solidFill>
                  <a:srgbClr val="002060"/>
                </a:solidFill>
                <a:latin typeface="Elephant" panose="02020904090505020303" pitchFamily="18" charset="0"/>
                <a:ea typeface="+mn-ea"/>
                <a:cs typeface="+mn-cs"/>
              </a:rPr>
              <a:t> </a:t>
            </a:r>
            <a:r>
              <a:rPr lang="en-US" altLang="zh-TW" sz="4400" b="1" dirty="0">
                <a:solidFill>
                  <a:srgbClr val="9B2D00"/>
                </a:solidFill>
                <a:latin typeface="Cooper Black" panose="0208090404030B020404" pitchFamily="18" charset="0"/>
                <a:ea typeface="+mn-ea"/>
                <a:cs typeface="+mn-cs"/>
              </a:rPr>
              <a:t>**</a:t>
            </a:r>
            <a:r>
              <a:rPr lang="en-US" altLang="zh-TW" sz="4400" dirty="0">
                <a:solidFill>
                  <a:srgbClr val="9B2D00"/>
                </a:solidFill>
                <a:latin typeface="Elephant" panose="02020904090505020303" pitchFamily="18" charset="0"/>
                <a:ea typeface="+mn-ea"/>
                <a:cs typeface="+mn-cs"/>
              </a:rPr>
              <a:t>x</a:t>
            </a:r>
            <a:r>
              <a:rPr lang="en-US" altLang="zh-TW" sz="4400" dirty="0">
                <a:solidFill>
                  <a:srgbClr val="860000"/>
                </a:solidFill>
                <a:latin typeface="Elephant" panose="02020904090505020303" pitchFamily="18" charset="0"/>
                <a:ea typeface="+mn-ea"/>
                <a:cs typeface="+mn-cs"/>
              </a:rPr>
              <a:t/>
            </a:r>
            <a:br>
              <a:rPr lang="en-US" altLang="zh-TW" sz="4400" dirty="0">
                <a:solidFill>
                  <a:srgbClr val="860000"/>
                </a:solidFill>
                <a:latin typeface="Elephant" panose="02020904090505020303" pitchFamily="18" charset="0"/>
                <a:ea typeface="+mn-ea"/>
                <a:cs typeface="+mn-cs"/>
              </a:rPr>
            </a:br>
            <a:r>
              <a:rPr lang="en-US" altLang="zh-TW" sz="4400" dirty="0">
                <a:solidFill>
                  <a:srgbClr val="860000"/>
                </a:solidFill>
                <a:latin typeface="Elephant" panose="02020904090505020303" pitchFamily="18" charset="0"/>
                <a:ea typeface="+mn-ea"/>
                <a:cs typeface="+mn-cs"/>
              </a:rPr>
              <a:t> </a:t>
            </a:r>
            <a:r>
              <a:rPr lang="en-US" altLang="zh-TW" sz="2000" dirty="0">
                <a:solidFill>
                  <a:srgbClr val="860000"/>
                </a:solidFill>
                <a:latin typeface="Elephant" panose="02020904090505020303" pitchFamily="18" charset="0"/>
                <a:ea typeface="+mn-ea"/>
                <a:cs typeface="+mn-cs"/>
              </a:rPr>
              <a:t> </a:t>
            </a:r>
            <a:r>
              <a:rPr lang="en-US" altLang="zh-TW" sz="3600" dirty="0">
                <a:solidFill>
                  <a:srgbClr val="FF9900"/>
                </a:solidFill>
                <a:ea typeface="+mn-ea"/>
                <a:cs typeface="+mn-cs"/>
              </a:rPr>
              <a:t>(Splat in the call statement within the caller)</a:t>
            </a:r>
          </a:p>
          <a:p>
            <a:pPr marL="0" indent="0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endParaRPr lang="en-US" altLang="en-US" sz="1200" dirty="0">
              <a:solidFill>
                <a:schemeClr val="tx1"/>
              </a:solidFill>
            </a:endParaRPr>
          </a:p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b="1" dirty="0">
                <a:solidFill>
                  <a:srgbClr val="0000FF"/>
                </a:solidFill>
              </a:rPr>
              <a:t>*x</a:t>
            </a:r>
            <a:r>
              <a:rPr lang="en-US" altLang="en-US" sz="3200" dirty="0">
                <a:solidFill>
                  <a:schemeClr val="tx1"/>
                </a:solidFill>
              </a:rPr>
              <a:t>:	</a:t>
            </a:r>
            <a:r>
              <a:rPr lang="en-US" altLang="en-US" sz="3200" spc="-170" dirty="0">
                <a:solidFill>
                  <a:schemeClr val="tx1"/>
                </a:solidFill>
              </a:rPr>
              <a:t>Un</a:t>
            </a:r>
            <a:r>
              <a:rPr lang="en-US" altLang="en-US" sz="3200" spc="-70" dirty="0">
                <a:solidFill>
                  <a:schemeClr val="tx1"/>
                </a:solidFill>
              </a:rPr>
              <a:t>packs</a:t>
            </a:r>
            <a:r>
              <a:rPr lang="en-US" altLang="en-US" sz="24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a</a:t>
            </a:r>
            <a:r>
              <a:rPr lang="en-US" altLang="en-US" sz="24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list</a:t>
            </a:r>
            <a:r>
              <a:rPr lang="en-US" altLang="en-US" sz="3200" b="1" spc="-70" dirty="0">
                <a:solidFill>
                  <a:schemeClr val="tx1"/>
                </a:solidFill>
                <a:latin typeface="Arial Narrow" panose="020B0606020202030204" pitchFamily="34" charset="0"/>
              </a:rPr>
              <a:t>/</a:t>
            </a:r>
            <a:r>
              <a:rPr lang="en-US" altLang="en-US" sz="3200" spc="-70" dirty="0">
                <a:solidFill>
                  <a:schemeClr val="tx1"/>
                </a:solidFill>
              </a:rPr>
              <a:t>tuple</a:t>
            </a:r>
            <a:r>
              <a:rPr lang="en-US" altLang="en-US" sz="3200" b="1" spc="-70" dirty="0">
                <a:solidFill>
                  <a:schemeClr val="tx1"/>
                </a:solidFill>
                <a:latin typeface="Arial Narrow" panose="020B0606020202030204" pitchFamily="34" charset="0"/>
              </a:rPr>
              <a:t>/</a:t>
            </a:r>
            <a:r>
              <a:rPr lang="en-US" altLang="en-US" sz="3200" spc="-70" dirty="0">
                <a:solidFill>
                  <a:schemeClr val="tx1"/>
                </a:solidFill>
              </a:rPr>
              <a:t>string</a:t>
            </a:r>
            <a:r>
              <a:rPr lang="en-US" altLang="en-US" sz="24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into</a:t>
            </a:r>
            <a:r>
              <a:rPr lang="en-US" altLang="en-US" sz="24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position</a:t>
            </a:r>
            <a:r>
              <a:rPr lang="en-US" altLang="en-US" sz="24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argument</a:t>
            </a:r>
            <a:r>
              <a:rPr lang="en-US" altLang="en-US" sz="3200" spc="-200" dirty="0">
                <a:solidFill>
                  <a:schemeClr val="tx1"/>
                </a:solidFill>
              </a:rPr>
              <a:t>s</a:t>
            </a:r>
            <a:r>
              <a:rPr lang="en-US" altLang="en-US" sz="3200" spc="-70" dirty="0">
                <a:solidFill>
                  <a:schemeClr val="tx1"/>
                </a:solidFill>
              </a:rPr>
              <a:t>.</a:t>
            </a:r>
          </a:p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b="1" dirty="0">
                <a:solidFill>
                  <a:srgbClr val="9B2D00"/>
                </a:solidFill>
              </a:rPr>
              <a:t>**x</a:t>
            </a:r>
            <a:r>
              <a:rPr lang="en-US" altLang="en-US" sz="3200" dirty="0">
                <a:solidFill>
                  <a:schemeClr val="tx1"/>
                </a:solidFill>
              </a:rPr>
              <a:t>:	</a:t>
            </a:r>
            <a:r>
              <a:rPr lang="en-US" altLang="en-US" sz="3200" spc="-170" dirty="0" smtClean="0">
                <a:solidFill>
                  <a:schemeClr val="tx1"/>
                </a:solidFill>
              </a:rPr>
              <a:t>Un</a:t>
            </a:r>
            <a:r>
              <a:rPr lang="en-US" altLang="en-US" sz="3200" spc="-70" dirty="0" smtClean="0">
                <a:solidFill>
                  <a:schemeClr val="tx1"/>
                </a:solidFill>
              </a:rPr>
              <a:t>packs</a:t>
            </a:r>
            <a:r>
              <a:rPr lang="en-US" altLang="en-US" sz="3200" dirty="0" smtClean="0">
                <a:solidFill>
                  <a:schemeClr val="tx1"/>
                </a:solidFill>
              </a:rPr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a dictionary into keyword arguments.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-438943" y="-1"/>
            <a:ext cx="10589340" cy="1240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 Parameters </a:t>
            </a:r>
            <a:r>
              <a:rPr lang="en-US" altLang="zh-TW" sz="4400" b="1" kern="0" dirty="0">
                <a:solidFill>
                  <a:srgbClr val="0000FF"/>
                </a:solidFill>
                <a:latin typeface="Cooper Black" panose="0208090404030B020404" pitchFamily="18" charset="0"/>
              </a:rPr>
              <a:t>*</a:t>
            </a:r>
            <a:r>
              <a:rPr lang="en-US" altLang="zh-TW" sz="4400" kern="0" dirty="0">
                <a:solidFill>
                  <a:srgbClr val="0000FF"/>
                </a:solidFill>
                <a:latin typeface="Elephant" panose="02020904090505020303" pitchFamily="18" charset="0"/>
              </a:rPr>
              <a:t>x </a:t>
            </a:r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&amp;</a:t>
            </a:r>
            <a:r>
              <a:rPr lang="en-US" altLang="zh-TW" sz="4400" kern="0" dirty="0">
                <a:solidFill>
                  <a:srgbClr val="00206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400" b="1" kern="0" dirty="0">
                <a:solidFill>
                  <a:srgbClr val="9B2D00"/>
                </a:solidFill>
                <a:latin typeface="Cooper Black" panose="0208090404030B020404" pitchFamily="18" charset="0"/>
              </a:rPr>
              <a:t>**</a:t>
            </a:r>
            <a:r>
              <a:rPr lang="en-US" altLang="zh-TW" sz="4400" kern="0" dirty="0">
                <a:solidFill>
                  <a:srgbClr val="9B2D00"/>
                </a:solidFill>
                <a:latin typeface="Elephant" panose="02020904090505020303" pitchFamily="18" charset="0"/>
              </a:rPr>
              <a:t>x</a:t>
            </a:r>
            <a:br>
              <a:rPr lang="en-US" altLang="zh-TW" sz="4400" kern="0" dirty="0">
                <a:solidFill>
                  <a:srgbClr val="9B2D00"/>
                </a:solidFill>
                <a:latin typeface="Elephant" panose="02020904090505020303" pitchFamily="18" charset="0"/>
              </a:rPr>
            </a:br>
            <a:r>
              <a:rPr lang="en-US" altLang="zh-TW" kern="0" dirty="0">
                <a:solidFill>
                  <a:srgbClr val="FF9900"/>
                </a:solidFill>
              </a:rPr>
              <a:t>(In the function definition header)</a:t>
            </a:r>
            <a:endParaRPr lang="en-US" altLang="zh-TW" sz="4000" kern="0" dirty="0">
              <a:solidFill>
                <a:srgbClr val="FF9900"/>
              </a:solidFill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113453" y="1327760"/>
            <a:ext cx="9616335" cy="1402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b="1" kern="0" dirty="0">
                <a:solidFill>
                  <a:srgbClr val="0000FF"/>
                </a:solidFill>
              </a:rPr>
              <a:t>*x</a:t>
            </a:r>
            <a:r>
              <a:rPr lang="en-US" altLang="en-US" sz="3200" kern="0" dirty="0">
                <a:solidFill>
                  <a:schemeClr val="tx1"/>
                </a:solidFill>
              </a:rPr>
              <a:t>:	Collects all </a:t>
            </a:r>
            <a:r>
              <a:rPr lang="en-US" altLang="en-US" sz="3200" u="sng" kern="0" dirty="0">
                <a:solidFill>
                  <a:schemeClr val="tx1"/>
                </a:solidFill>
              </a:rPr>
              <a:t>positional</a:t>
            </a:r>
            <a:r>
              <a:rPr lang="en-US" altLang="en-US" sz="3200" kern="0" dirty="0">
                <a:solidFill>
                  <a:schemeClr val="tx1"/>
                </a:solidFill>
              </a:rPr>
              <a:t> arguments into a </a:t>
            </a:r>
            <a:r>
              <a:rPr lang="en-US" altLang="en-US" sz="3200" kern="0" dirty="0">
                <a:solidFill>
                  <a:schemeClr val="accent6"/>
                </a:solidFill>
              </a:rPr>
              <a:t>tuple</a:t>
            </a:r>
            <a:r>
              <a:rPr lang="en-US" altLang="en-US" sz="3200" kern="0" dirty="0">
                <a:solidFill>
                  <a:schemeClr val="tx1"/>
                </a:solidFill>
              </a:rPr>
              <a:t>.</a:t>
            </a:r>
          </a:p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b="1" kern="0" dirty="0">
                <a:solidFill>
                  <a:srgbClr val="9B2D00"/>
                </a:solidFill>
              </a:rPr>
              <a:t>**x</a:t>
            </a:r>
            <a:r>
              <a:rPr lang="en-US" altLang="en-US" sz="3200" kern="0" dirty="0">
                <a:solidFill>
                  <a:schemeClr val="tx1"/>
                </a:solidFill>
              </a:rPr>
              <a:t>:	Collects all </a:t>
            </a:r>
            <a:r>
              <a:rPr lang="en-US" altLang="en-US" sz="3200" u="sng" kern="0" dirty="0">
                <a:solidFill>
                  <a:schemeClr val="tx1"/>
                </a:solidFill>
              </a:rPr>
              <a:t>keyword</a:t>
            </a:r>
            <a:r>
              <a:rPr lang="en-US" altLang="en-US" sz="3200" kern="0" dirty="0">
                <a:solidFill>
                  <a:schemeClr val="tx1"/>
                </a:solidFill>
              </a:rPr>
              <a:t> arguments into a</a:t>
            </a:r>
            <a:r>
              <a:rPr lang="en-US" altLang="en-US" sz="3200" kern="0" dirty="0">
                <a:solidFill>
                  <a:srgbClr val="00B0F0"/>
                </a:solidFill>
              </a:rPr>
              <a:t> </a:t>
            </a:r>
            <a:r>
              <a:rPr lang="en-US" altLang="en-US" sz="3200" kern="0" dirty="0">
                <a:solidFill>
                  <a:srgbClr val="9B2D00"/>
                </a:solidFill>
              </a:rPr>
              <a:t>dict</a:t>
            </a:r>
            <a:r>
              <a:rPr lang="en-US" altLang="en-US" sz="3200" kern="0" dirty="0">
                <a:solidFill>
                  <a:schemeClr val="tx1"/>
                </a:solidFill>
              </a:rPr>
              <a:t>.</a:t>
            </a:r>
          </a:p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600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6718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113453" y="1327760"/>
            <a:ext cx="9616335" cy="1402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b="1" kern="0" dirty="0">
                <a:solidFill>
                  <a:schemeClr val="accent6"/>
                </a:solidFill>
              </a:rPr>
              <a:t>*x</a:t>
            </a:r>
            <a:r>
              <a:rPr lang="en-US" altLang="en-US" sz="3200" kern="0" dirty="0">
                <a:solidFill>
                  <a:schemeClr val="tx1"/>
                </a:solidFill>
              </a:rPr>
              <a:t>:	Collects all </a:t>
            </a:r>
            <a:r>
              <a:rPr lang="en-US" altLang="en-US" sz="3200" u="sng" kern="0" dirty="0">
                <a:solidFill>
                  <a:schemeClr val="tx1"/>
                </a:solidFill>
              </a:rPr>
              <a:t>positional</a:t>
            </a:r>
            <a:r>
              <a:rPr lang="en-US" altLang="en-US" sz="3200" kern="0" dirty="0">
                <a:solidFill>
                  <a:schemeClr val="tx1"/>
                </a:solidFill>
              </a:rPr>
              <a:t> arguments into a </a:t>
            </a:r>
            <a:r>
              <a:rPr lang="en-US" altLang="en-US" sz="3200" kern="0" dirty="0">
                <a:solidFill>
                  <a:schemeClr val="accent6"/>
                </a:solidFill>
              </a:rPr>
              <a:t>tuple</a:t>
            </a:r>
            <a:r>
              <a:rPr lang="en-US" altLang="en-US" sz="3200" kern="0" dirty="0">
                <a:solidFill>
                  <a:schemeClr val="tx1"/>
                </a:solidFill>
              </a:rPr>
              <a:t>.</a:t>
            </a:r>
          </a:p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b="1" kern="0" dirty="0">
                <a:solidFill>
                  <a:srgbClr val="9B2D00"/>
                </a:solidFill>
              </a:rPr>
              <a:t>**x</a:t>
            </a:r>
            <a:r>
              <a:rPr lang="en-US" altLang="en-US" sz="3200" kern="0" dirty="0">
                <a:solidFill>
                  <a:schemeClr val="tx1"/>
                </a:solidFill>
              </a:rPr>
              <a:t>:	Collects all </a:t>
            </a:r>
            <a:r>
              <a:rPr lang="en-US" altLang="en-US" sz="3200" u="sng" kern="0" dirty="0">
                <a:solidFill>
                  <a:schemeClr val="tx1"/>
                </a:solidFill>
              </a:rPr>
              <a:t>keyword</a:t>
            </a:r>
            <a:r>
              <a:rPr lang="en-US" altLang="en-US" sz="3200" kern="0" dirty="0">
                <a:solidFill>
                  <a:schemeClr val="tx1"/>
                </a:solidFill>
              </a:rPr>
              <a:t> arguments into a</a:t>
            </a:r>
            <a:r>
              <a:rPr lang="en-US" altLang="en-US" sz="3200" kern="0" dirty="0">
                <a:solidFill>
                  <a:srgbClr val="00B0F0"/>
                </a:solidFill>
              </a:rPr>
              <a:t> </a:t>
            </a:r>
            <a:r>
              <a:rPr lang="en-US" altLang="en-US" sz="3200" kern="0" dirty="0">
                <a:solidFill>
                  <a:srgbClr val="860000"/>
                </a:solidFill>
              </a:rPr>
              <a:t>dict</a:t>
            </a:r>
            <a:r>
              <a:rPr lang="en-US" altLang="en-US" sz="3200" kern="0" dirty="0">
                <a:solidFill>
                  <a:schemeClr val="tx1"/>
                </a:solidFill>
              </a:rPr>
              <a:t>.</a:t>
            </a:r>
          </a:p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3600" kern="0" dirty="0">
              <a:solidFill>
                <a:schemeClr val="tx1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-438943" y="-1"/>
            <a:ext cx="10589340" cy="1240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 Parameters </a:t>
            </a:r>
            <a:r>
              <a:rPr lang="en-US" altLang="zh-TW" sz="4400" b="1" kern="0" dirty="0">
                <a:solidFill>
                  <a:srgbClr val="0000FF"/>
                </a:solidFill>
                <a:latin typeface="Cooper Black" panose="0208090404030B020404" pitchFamily="18" charset="0"/>
              </a:rPr>
              <a:t>*</a:t>
            </a:r>
            <a:r>
              <a:rPr lang="en-US" altLang="zh-TW" sz="4400" kern="0" dirty="0">
                <a:solidFill>
                  <a:srgbClr val="0000FF"/>
                </a:solidFill>
                <a:latin typeface="Elephant" panose="02020904090505020303" pitchFamily="18" charset="0"/>
              </a:rPr>
              <a:t>x </a:t>
            </a:r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&amp;</a:t>
            </a:r>
            <a:r>
              <a:rPr lang="en-US" altLang="zh-TW" sz="4400" kern="0" dirty="0">
                <a:solidFill>
                  <a:srgbClr val="00206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400" b="1" kern="0" dirty="0">
                <a:solidFill>
                  <a:srgbClr val="9B2D00"/>
                </a:solidFill>
                <a:latin typeface="Cooper Black" panose="0208090404030B020404" pitchFamily="18" charset="0"/>
              </a:rPr>
              <a:t>**</a:t>
            </a:r>
            <a:r>
              <a:rPr lang="en-US" altLang="zh-TW" sz="4400" kern="0" dirty="0">
                <a:solidFill>
                  <a:srgbClr val="9B2D00"/>
                </a:solidFill>
                <a:latin typeface="Elephant" panose="02020904090505020303" pitchFamily="18" charset="0"/>
              </a:rPr>
              <a:t>x</a:t>
            </a:r>
            <a:r>
              <a:rPr lang="en-US" altLang="zh-TW" sz="4400" kern="0" dirty="0">
                <a:solidFill>
                  <a:srgbClr val="860000"/>
                </a:solidFill>
                <a:latin typeface="Elephant" panose="02020904090505020303" pitchFamily="18" charset="0"/>
              </a:rPr>
              <a:t/>
            </a:r>
            <a:br>
              <a:rPr lang="en-US" altLang="zh-TW" sz="4400" kern="0" dirty="0">
                <a:solidFill>
                  <a:srgbClr val="860000"/>
                </a:solidFill>
                <a:latin typeface="Elephant" panose="02020904090505020303" pitchFamily="18" charset="0"/>
              </a:rPr>
            </a:br>
            <a:r>
              <a:rPr lang="en-US" altLang="zh-TW" kern="0" dirty="0">
                <a:solidFill>
                  <a:srgbClr val="FF9900"/>
                </a:solidFill>
              </a:rPr>
              <a:t>(In the function definition header)</a:t>
            </a:r>
            <a:endParaRPr lang="en-US" altLang="zh-TW" sz="4000" kern="0" dirty="0">
              <a:solidFill>
                <a:srgbClr val="FF9900"/>
              </a:solidFill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13453" y="12536"/>
            <a:ext cx="9616335" cy="2799567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  <a:ea typeface="+mn-ea"/>
                <a:cs typeface="+mn-cs"/>
              </a:rPr>
              <a:t>  </a:t>
            </a:r>
            <a:r>
              <a:rPr lang="en-US" altLang="zh-TW" sz="3600" kern="0" dirty="0">
                <a:solidFill>
                  <a:srgbClr val="0070C0"/>
                </a:solidFill>
                <a:latin typeface="Elephant" panose="02020904090505020303" pitchFamily="18" charset="0"/>
                <a:ea typeface="+mn-ea"/>
                <a:cs typeface="+mn-cs"/>
              </a:rPr>
              <a:t> </a:t>
            </a:r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  <a:ea typeface="+mn-ea"/>
                <a:cs typeface="+mn-cs"/>
              </a:rPr>
              <a:t>Function Arguments </a:t>
            </a:r>
            <a:r>
              <a:rPr lang="en-US" altLang="zh-TW" sz="4400" b="1" kern="0" dirty="0">
                <a:solidFill>
                  <a:srgbClr val="0000FF"/>
                </a:solidFill>
                <a:latin typeface="Cooper Black" panose="0208090404030B020404" pitchFamily="18" charset="0"/>
                <a:ea typeface="+mn-ea"/>
                <a:cs typeface="+mn-cs"/>
              </a:rPr>
              <a:t>*</a:t>
            </a:r>
            <a:r>
              <a:rPr lang="en-US" altLang="zh-TW" sz="4400" kern="0" dirty="0">
                <a:solidFill>
                  <a:srgbClr val="0000FF"/>
                </a:solidFill>
                <a:latin typeface="Elephant" panose="02020904090505020303" pitchFamily="18" charset="0"/>
                <a:ea typeface="+mn-ea"/>
                <a:cs typeface="+mn-cs"/>
              </a:rPr>
              <a:t>x </a:t>
            </a:r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  <a:ea typeface="+mn-ea"/>
                <a:cs typeface="+mn-cs"/>
              </a:rPr>
              <a:t>&amp;</a:t>
            </a:r>
            <a:r>
              <a:rPr lang="en-US" altLang="zh-TW" sz="4400" kern="0" dirty="0">
                <a:solidFill>
                  <a:srgbClr val="002060"/>
                </a:solidFill>
                <a:latin typeface="Elephant" panose="02020904090505020303" pitchFamily="18" charset="0"/>
                <a:ea typeface="+mn-ea"/>
                <a:cs typeface="+mn-cs"/>
              </a:rPr>
              <a:t> </a:t>
            </a:r>
            <a:r>
              <a:rPr lang="en-US" altLang="zh-TW" sz="4400" b="1" kern="0" dirty="0">
                <a:solidFill>
                  <a:srgbClr val="9B2D00"/>
                </a:solidFill>
                <a:latin typeface="Cooper Black" panose="0208090404030B020404" pitchFamily="18" charset="0"/>
                <a:ea typeface="+mn-ea"/>
                <a:cs typeface="+mn-cs"/>
              </a:rPr>
              <a:t>**</a:t>
            </a:r>
            <a:r>
              <a:rPr lang="en-US" altLang="zh-TW" sz="4400" kern="0" dirty="0">
                <a:solidFill>
                  <a:srgbClr val="9B2D00"/>
                </a:solidFill>
                <a:latin typeface="Elephant" panose="02020904090505020303" pitchFamily="18" charset="0"/>
                <a:ea typeface="+mn-ea"/>
                <a:cs typeface="+mn-cs"/>
              </a:rPr>
              <a:t>x</a:t>
            </a:r>
            <a:r>
              <a:rPr lang="en-US" altLang="zh-TW" sz="4400" kern="0" dirty="0">
                <a:solidFill>
                  <a:srgbClr val="860000"/>
                </a:solidFill>
                <a:latin typeface="Elephant" panose="02020904090505020303" pitchFamily="18" charset="0"/>
                <a:ea typeface="+mn-ea"/>
                <a:cs typeface="+mn-cs"/>
              </a:rPr>
              <a:t/>
            </a:r>
            <a:br>
              <a:rPr lang="en-US" altLang="zh-TW" sz="4400" kern="0" dirty="0">
                <a:solidFill>
                  <a:srgbClr val="860000"/>
                </a:solidFill>
                <a:latin typeface="Elephant" panose="02020904090505020303" pitchFamily="18" charset="0"/>
                <a:ea typeface="+mn-ea"/>
                <a:cs typeface="+mn-cs"/>
              </a:rPr>
            </a:br>
            <a:r>
              <a:rPr lang="en-US" altLang="zh-TW" sz="4400" kern="0" dirty="0">
                <a:solidFill>
                  <a:srgbClr val="860000"/>
                </a:solidFill>
                <a:latin typeface="Elephant" panose="02020904090505020303" pitchFamily="18" charset="0"/>
                <a:ea typeface="+mn-ea"/>
                <a:cs typeface="+mn-cs"/>
              </a:rPr>
              <a:t> </a:t>
            </a:r>
            <a:r>
              <a:rPr lang="en-US" altLang="zh-TW" sz="2000" kern="0" dirty="0">
                <a:solidFill>
                  <a:srgbClr val="860000"/>
                </a:solidFill>
                <a:latin typeface="Elephant" panose="02020904090505020303" pitchFamily="18" charset="0"/>
                <a:ea typeface="+mn-ea"/>
                <a:cs typeface="+mn-cs"/>
              </a:rPr>
              <a:t> </a:t>
            </a:r>
            <a:r>
              <a:rPr lang="en-US" altLang="zh-TW" sz="3600" kern="0" dirty="0">
                <a:solidFill>
                  <a:srgbClr val="FF9900"/>
                </a:solidFill>
                <a:ea typeface="+mn-ea"/>
                <a:cs typeface="+mn-cs"/>
              </a:rPr>
              <a:t>(Splat in the call statement within the caller)</a:t>
            </a:r>
          </a:p>
          <a:p>
            <a:pPr marL="0" indent="0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endParaRPr lang="en-US" altLang="en-US" sz="1200" kern="0" dirty="0">
              <a:solidFill>
                <a:schemeClr val="tx1"/>
              </a:solidFill>
            </a:endParaRPr>
          </a:p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b="1" kern="0" dirty="0">
                <a:solidFill>
                  <a:srgbClr val="0000FF"/>
                </a:solidFill>
              </a:rPr>
              <a:t>*x</a:t>
            </a:r>
            <a:r>
              <a:rPr lang="en-US" altLang="en-US" sz="3200" kern="0" dirty="0">
                <a:solidFill>
                  <a:schemeClr val="tx1"/>
                </a:solidFill>
              </a:rPr>
              <a:t>:	</a:t>
            </a:r>
            <a:r>
              <a:rPr lang="en-US" altLang="en-US" sz="3200" spc="-170" dirty="0" smtClean="0">
                <a:solidFill>
                  <a:schemeClr val="tx1"/>
                </a:solidFill>
              </a:rPr>
              <a:t>Un</a:t>
            </a:r>
            <a:r>
              <a:rPr lang="en-US" altLang="en-US" sz="3200" spc="-70" dirty="0" smtClean="0">
                <a:solidFill>
                  <a:schemeClr val="tx1"/>
                </a:solidFill>
              </a:rPr>
              <a:t>packs</a:t>
            </a:r>
            <a:r>
              <a:rPr lang="en-US" altLang="en-US" sz="2400" spc="-70" dirty="0" smtClean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a</a:t>
            </a:r>
            <a:r>
              <a:rPr lang="en-US" altLang="en-US" sz="24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list</a:t>
            </a:r>
            <a:r>
              <a:rPr lang="en-US" altLang="en-US" sz="3200" b="1" spc="-70" dirty="0">
                <a:solidFill>
                  <a:schemeClr val="tx1"/>
                </a:solidFill>
                <a:latin typeface="Arial Narrow" panose="020B0606020202030204" pitchFamily="34" charset="0"/>
              </a:rPr>
              <a:t>/</a:t>
            </a:r>
            <a:r>
              <a:rPr lang="en-US" altLang="en-US" sz="3200" spc="-70" dirty="0">
                <a:solidFill>
                  <a:schemeClr val="tx1"/>
                </a:solidFill>
              </a:rPr>
              <a:t>tuple</a:t>
            </a:r>
            <a:r>
              <a:rPr lang="en-US" altLang="en-US" sz="3200" b="1" spc="-70" dirty="0">
                <a:solidFill>
                  <a:schemeClr val="tx1"/>
                </a:solidFill>
                <a:latin typeface="Arial Narrow" panose="020B0606020202030204" pitchFamily="34" charset="0"/>
              </a:rPr>
              <a:t>/</a:t>
            </a:r>
            <a:r>
              <a:rPr lang="en-US" altLang="en-US" sz="3200" spc="-70" dirty="0">
                <a:solidFill>
                  <a:schemeClr val="tx1"/>
                </a:solidFill>
              </a:rPr>
              <a:t>string</a:t>
            </a:r>
            <a:r>
              <a:rPr lang="en-US" altLang="en-US" sz="24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into</a:t>
            </a:r>
            <a:r>
              <a:rPr lang="en-US" altLang="en-US" sz="24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position</a:t>
            </a:r>
            <a:r>
              <a:rPr lang="en-US" altLang="en-US" sz="24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argument</a:t>
            </a:r>
            <a:r>
              <a:rPr lang="en-US" altLang="en-US" sz="3200" spc="-200" dirty="0">
                <a:solidFill>
                  <a:schemeClr val="tx1"/>
                </a:solidFill>
              </a:rPr>
              <a:t>s</a:t>
            </a:r>
            <a:r>
              <a:rPr lang="en-US" altLang="en-US" sz="3200" kern="0" dirty="0" smtClean="0">
                <a:solidFill>
                  <a:schemeClr val="tx1"/>
                </a:solidFill>
              </a:rPr>
              <a:t>.</a:t>
            </a:r>
            <a:endParaRPr lang="en-US" altLang="en-US" sz="3200" kern="0" dirty="0">
              <a:solidFill>
                <a:schemeClr val="tx1"/>
              </a:solidFill>
            </a:endParaRPr>
          </a:p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b="1" kern="0" dirty="0">
                <a:solidFill>
                  <a:srgbClr val="9B2D00"/>
                </a:solidFill>
              </a:rPr>
              <a:t>**x</a:t>
            </a:r>
            <a:r>
              <a:rPr lang="en-US" altLang="en-US" sz="3200" kern="0" dirty="0">
                <a:solidFill>
                  <a:schemeClr val="tx1"/>
                </a:solidFill>
              </a:rPr>
              <a:t>:	</a:t>
            </a:r>
            <a:r>
              <a:rPr lang="en-US" altLang="en-US" sz="3200" spc="-170" dirty="0" smtClean="0">
                <a:solidFill>
                  <a:schemeClr val="tx1"/>
                </a:solidFill>
              </a:rPr>
              <a:t>Un</a:t>
            </a:r>
            <a:r>
              <a:rPr lang="en-US" altLang="en-US" sz="3200" spc="-70" dirty="0" smtClean="0">
                <a:solidFill>
                  <a:schemeClr val="tx1"/>
                </a:solidFill>
              </a:rPr>
              <a:t>packs</a:t>
            </a:r>
            <a:r>
              <a:rPr lang="en-US" altLang="en-US" sz="3200" kern="0" dirty="0" smtClean="0">
                <a:solidFill>
                  <a:schemeClr val="tx1"/>
                </a:solidFill>
              </a:rPr>
              <a:t> </a:t>
            </a:r>
            <a:r>
              <a:rPr lang="en-US" altLang="en-US" sz="3200" kern="0" dirty="0">
                <a:solidFill>
                  <a:schemeClr val="tx1"/>
                </a:solidFill>
              </a:rPr>
              <a:t>a dictionary into keyword arguments.</a:t>
            </a:r>
          </a:p>
        </p:txBody>
      </p:sp>
      <p:sp>
        <p:nvSpPr>
          <p:cNvPr id="7270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3453" y="3344452"/>
            <a:ext cx="9616335" cy="3513549"/>
          </a:xfrm>
          <a:solidFill>
            <a:schemeClr val="bg1"/>
          </a:solidFill>
        </p:spPr>
        <p:txBody>
          <a:bodyPr/>
          <a:lstStyle/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zh-TW" sz="4400" dirty="0">
                <a:solidFill>
                  <a:srgbClr val="002060"/>
                </a:solidFill>
                <a:latin typeface="Elephant" panose="02020904090505020303" pitchFamily="18" charset="0"/>
                <a:ea typeface="+mn-ea"/>
                <a:cs typeface="+mn-cs"/>
              </a:rPr>
              <a:t>  </a:t>
            </a:r>
            <a:r>
              <a:rPr lang="en-US" altLang="zh-TW" sz="3600" dirty="0">
                <a:solidFill>
                  <a:srgbClr val="002060"/>
                </a:solidFill>
                <a:latin typeface="Elephant" panose="02020904090505020303" pitchFamily="18" charset="0"/>
                <a:ea typeface="+mn-ea"/>
                <a:cs typeface="+mn-cs"/>
              </a:rPr>
              <a:t> </a:t>
            </a:r>
            <a:r>
              <a:rPr lang="en-US" altLang="zh-TW" sz="4400" dirty="0">
                <a:solidFill>
                  <a:srgbClr val="0070C0"/>
                </a:solidFill>
                <a:latin typeface="Elephant" panose="02020904090505020303" pitchFamily="18" charset="0"/>
                <a:ea typeface="+mn-ea"/>
                <a:cs typeface="+mn-cs"/>
              </a:rPr>
              <a:t>Function Arguments </a:t>
            </a:r>
            <a:r>
              <a:rPr lang="en-US" altLang="zh-TW" sz="4400" b="1" dirty="0">
                <a:solidFill>
                  <a:srgbClr val="0000FF"/>
                </a:solidFill>
                <a:latin typeface="Cooper Black" panose="0208090404030B020404" pitchFamily="18" charset="0"/>
                <a:ea typeface="+mn-ea"/>
                <a:cs typeface="+mn-cs"/>
              </a:rPr>
              <a:t>*</a:t>
            </a:r>
            <a:r>
              <a:rPr lang="en-US" altLang="zh-TW" sz="4400" dirty="0">
                <a:solidFill>
                  <a:srgbClr val="0000FF"/>
                </a:solidFill>
                <a:latin typeface="Elephant" panose="02020904090505020303" pitchFamily="18" charset="0"/>
                <a:ea typeface="+mn-ea"/>
                <a:cs typeface="+mn-cs"/>
              </a:rPr>
              <a:t>x </a:t>
            </a:r>
            <a:r>
              <a:rPr lang="en-US" altLang="zh-TW" sz="4400" dirty="0">
                <a:solidFill>
                  <a:srgbClr val="0070C0"/>
                </a:solidFill>
                <a:latin typeface="Elephant" panose="02020904090505020303" pitchFamily="18" charset="0"/>
                <a:ea typeface="+mn-ea"/>
                <a:cs typeface="+mn-cs"/>
              </a:rPr>
              <a:t>&amp;</a:t>
            </a:r>
            <a:r>
              <a:rPr lang="en-US" altLang="zh-TW" sz="4400" dirty="0">
                <a:solidFill>
                  <a:srgbClr val="002060"/>
                </a:solidFill>
                <a:latin typeface="Elephant" panose="02020904090505020303" pitchFamily="18" charset="0"/>
                <a:ea typeface="+mn-ea"/>
                <a:cs typeface="+mn-cs"/>
              </a:rPr>
              <a:t> </a:t>
            </a:r>
            <a:r>
              <a:rPr lang="en-US" altLang="zh-TW" sz="4400" b="1" dirty="0">
                <a:solidFill>
                  <a:srgbClr val="9B2D00"/>
                </a:solidFill>
                <a:latin typeface="Cooper Black" panose="0208090404030B020404" pitchFamily="18" charset="0"/>
                <a:ea typeface="+mn-ea"/>
                <a:cs typeface="+mn-cs"/>
              </a:rPr>
              <a:t>**</a:t>
            </a:r>
            <a:r>
              <a:rPr lang="en-US" altLang="zh-TW" sz="4400" dirty="0">
                <a:solidFill>
                  <a:srgbClr val="9B2D00"/>
                </a:solidFill>
                <a:latin typeface="Elephant" panose="02020904090505020303" pitchFamily="18" charset="0"/>
                <a:ea typeface="+mn-ea"/>
                <a:cs typeface="+mn-cs"/>
              </a:rPr>
              <a:t>x</a:t>
            </a:r>
            <a:r>
              <a:rPr lang="en-US" altLang="zh-TW" sz="4400" dirty="0">
                <a:solidFill>
                  <a:srgbClr val="860000"/>
                </a:solidFill>
                <a:latin typeface="Elephant" panose="02020904090505020303" pitchFamily="18" charset="0"/>
                <a:ea typeface="+mn-ea"/>
                <a:cs typeface="+mn-cs"/>
              </a:rPr>
              <a:t/>
            </a:r>
            <a:br>
              <a:rPr lang="en-US" altLang="zh-TW" sz="4400" dirty="0">
                <a:solidFill>
                  <a:srgbClr val="860000"/>
                </a:solidFill>
                <a:latin typeface="Elephant" panose="02020904090505020303" pitchFamily="18" charset="0"/>
                <a:ea typeface="+mn-ea"/>
                <a:cs typeface="+mn-cs"/>
              </a:rPr>
            </a:br>
            <a:r>
              <a:rPr lang="en-US" altLang="zh-TW" sz="4400" dirty="0">
                <a:solidFill>
                  <a:srgbClr val="860000"/>
                </a:solidFill>
                <a:latin typeface="Elephant" panose="02020904090505020303" pitchFamily="18" charset="0"/>
                <a:ea typeface="+mn-ea"/>
                <a:cs typeface="+mn-cs"/>
              </a:rPr>
              <a:t> </a:t>
            </a:r>
            <a:r>
              <a:rPr lang="en-US" altLang="zh-TW" sz="2000" dirty="0">
                <a:solidFill>
                  <a:srgbClr val="860000"/>
                </a:solidFill>
                <a:latin typeface="Elephant" panose="02020904090505020303" pitchFamily="18" charset="0"/>
                <a:ea typeface="+mn-ea"/>
                <a:cs typeface="+mn-cs"/>
              </a:rPr>
              <a:t> </a:t>
            </a:r>
            <a:r>
              <a:rPr lang="en-US" altLang="zh-TW" sz="3600" dirty="0">
                <a:solidFill>
                  <a:srgbClr val="FF9900"/>
                </a:solidFill>
                <a:ea typeface="+mn-ea"/>
                <a:cs typeface="+mn-cs"/>
              </a:rPr>
              <a:t>(Splat in the call statement within the caller)</a:t>
            </a:r>
          </a:p>
          <a:p>
            <a:pPr marL="0" indent="0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endParaRPr lang="en-US" altLang="en-US" sz="1200" dirty="0">
              <a:solidFill>
                <a:schemeClr val="tx1"/>
              </a:solidFill>
            </a:endParaRPr>
          </a:p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b="1" dirty="0">
                <a:solidFill>
                  <a:srgbClr val="0000FF"/>
                </a:solidFill>
              </a:rPr>
              <a:t>*x</a:t>
            </a:r>
            <a:r>
              <a:rPr lang="en-US" altLang="en-US" sz="3200" dirty="0">
                <a:solidFill>
                  <a:schemeClr val="tx1"/>
                </a:solidFill>
              </a:rPr>
              <a:t>:	</a:t>
            </a:r>
            <a:r>
              <a:rPr lang="en-US" altLang="en-US" sz="3200" spc="-170" dirty="0" smtClean="0">
                <a:solidFill>
                  <a:schemeClr val="tx1"/>
                </a:solidFill>
              </a:rPr>
              <a:t>Un</a:t>
            </a:r>
            <a:r>
              <a:rPr lang="en-US" altLang="en-US" sz="3200" spc="-70" dirty="0" smtClean="0">
                <a:solidFill>
                  <a:schemeClr val="tx1"/>
                </a:solidFill>
              </a:rPr>
              <a:t>packs</a:t>
            </a:r>
            <a:r>
              <a:rPr lang="en-US" altLang="en-US" sz="2400" spc="-70" dirty="0" smtClean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a</a:t>
            </a:r>
            <a:r>
              <a:rPr lang="en-US" altLang="en-US" sz="24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list</a:t>
            </a:r>
            <a:r>
              <a:rPr lang="en-US" altLang="en-US" sz="3200" b="1" spc="-70" dirty="0">
                <a:solidFill>
                  <a:schemeClr val="tx1"/>
                </a:solidFill>
                <a:latin typeface="Arial Narrow" panose="020B0606020202030204" pitchFamily="34" charset="0"/>
              </a:rPr>
              <a:t>/</a:t>
            </a:r>
            <a:r>
              <a:rPr lang="en-US" altLang="en-US" sz="3200" spc="-70" dirty="0">
                <a:solidFill>
                  <a:schemeClr val="tx1"/>
                </a:solidFill>
              </a:rPr>
              <a:t>tuple</a:t>
            </a:r>
            <a:r>
              <a:rPr lang="en-US" altLang="en-US" sz="3200" b="1" spc="-70" dirty="0">
                <a:solidFill>
                  <a:schemeClr val="tx1"/>
                </a:solidFill>
                <a:latin typeface="Arial Narrow" panose="020B0606020202030204" pitchFamily="34" charset="0"/>
              </a:rPr>
              <a:t>/</a:t>
            </a:r>
            <a:r>
              <a:rPr lang="en-US" altLang="en-US" sz="3200" spc="-70" dirty="0">
                <a:solidFill>
                  <a:schemeClr val="tx1"/>
                </a:solidFill>
              </a:rPr>
              <a:t>string</a:t>
            </a:r>
            <a:r>
              <a:rPr lang="en-US" altLang="en-US" sz="24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into</a:t>
            </a:r>
            <a:r>
              <a:rPr lang="en-US" altLang="en-US" sz="24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position</a:t>
            </a:r>
            <a:r>
              <a:rPr lang="en-US" altLang="en-US" sz="24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argument</a:t>
            </a:r>
            <a:r>
              <a:rPr lang="en-US" altLang="en-US" sz="3200" spc="-200" dirty="0">
                <a:solidFill>
                  <a:schemeClr val="tx1"/>
                </a:solidFill>
              </a:rPr>
              <a:t>s</a:t>
            </a:r>
            <a:r>
              <a:rPr lang="en-US" altLang="en-US" sz="3200" dirty="0" smtClean="0">
                <a:solidFill>
                  <a:schemeClr val="tx1"/>
                </a:solidFill>
              </a:rPr>
              <a:t>.</a:t>
            </a:r>
            <a:endParaRPr lang="en-US" altLang="en-US" sz="3200" dirty="0">
              <a:solidFill>
                <a:schemeClr val="tx1"/>
              </a:solidFill>
            </a:endParaRPr>
          </a:p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b="1" dirty="0">
                <a:solidFill>
                  <a:srgbClr val="9B2D00"/>
                </a:solidFill>
              </a:rPr>
              <a:t>**x</a:t>
            </a:r>
            <a:r>
              <a:rPr lang="en-US" altLang="en-US" sz="3200" dirty="0">
                <a:solidFill>
                  <a:schemeClr val="tx1"/>
                </a:solidFill>
              </a:rPr>
              <a:t>:	</a:t>
            </a:r>
            <a:r>
              <a:rPr lang="en-US" altLang="en-US" sz="3200" spc="-170" dirty="0" smtClean="0">
                <a:solidFill>
                  <a:schemeClr val="tx1"/>
                </a:solidFill>
              </a:rPr>
              <a:t>Un</a:t>
            </a:r>
            <a:r>
              <a:rPr lang="en-US" altLang="en-US" sz="3200" spc="-70" dirty="0" smtClean="0">
                <a:solidFill>
                  <a:schemeClr val="tx1"/>
                </a:solidFill>
              </a:rPr>
              <a:t>packs</a:t>
            </a:r>
            <a:r>
              <a:rPr lang="en-US" altLang="en-US" sz="3200" dirty="0" smtClean="0">
                <a:solidFill>
                  <a:schemeClr val="tx1"/>
                </a:solidFill>
              </a:rPr>
              <a:t> </a:t>
            </a:r>
            <a:r>
              <a:rPr lang="en-US" altLang="en-US" sz="3200" dirty="0">
                <a:solidFill>
                  <a:schemeClr val="tx1"/>
                </a:solidFill>
              </a:rPr>
              <a:t>a dictionary into keyword arguments.</a:t>
            </a:r>
          </a:p>
        </p:txBody>
      </p:sp>
    </p:spTree>
    <p:extLst>
      <p:ext uri="{BB962C8B-B14F-4D97-AF65-F5344CB8AC3E}">
        <p14:creationId xmlns:p14="http://schemas.microsoft.com/office/powerpoint/2010/main" val="3190430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13575E-6 1.11022E-16 L -0.00114 -0.48542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727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-242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2707" grpId="0" animBg="1"/>
      <p:bldP spid="72707" grpId="1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13453" y="12536"/>
            <a:ext cx="9616335" cy="6845465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zh-TW" sz="4400" kern="0" dirty="0">
                <a:solidFill>
                  <a:srgbClr val="002060"/>
                </a:solidFill>
                <a:latin typeface="Elephant" panose="02020904090505020303" pitchFamily="18" charset="0"/>
                <a:ea typeface="+mn-ea"/>
                <a:cs typeface="+mn-cs"/>
              </a:rPr>
              <a:t>  </a:t>
            </a:r>
            <a:r>
              <a:rPr lang="en-US" altLang="zh-TW" sz="3600" kern="0" dirty="0">
                <a:solidFill>
                  <a:srgbClr val="002060"/>
                </a:solidFill>
                <a:latin typeface="Elephant" panose="02020904090505020303" pitchFamily="18" charset="0"/>
                <a:ea typeface="+mn-ea"/>
                <a:cs typeface="+mn-cs"/>
              </a:rPr>
              <a:t> </a:t>
            </a:r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  <a:ea typeface="+mn-ea"/>
                <a:cs typeface="+mn-cs"/>
              </a:rPr>
              <a:t>Function Arguments </a:t>
            </a:r>
            <a:r>
              <a:rPr lang="en-US" altLang="zh-TW" sz="4400" b="1" kern="0" dirty="0">
                <a:solidFill>
                  <a:srgbClr val="0000FF"/>
                </a:solidFill>
                <a:latin typeface="Cooper Black" panose="0208090404030B020404" pitchFamily="18" charset="0"/>
                <a:ea typeface="+mn-ea"/>
                <a:cs typeface="+mn-cs"/>
              </a:rPr>
              <a:t>*</a:t>
            </a:r>
            <a:r>
              <a:rPr lang="en-US" altLang="zh-TW" sz="4400" kern="0" dirty="0">
                <a:solidFill>
                  <a:srgbClr val="0000FF"/>
                </a:solidFill>
                <a:latin typeface="Elephant" panose="02020904090505020303" pitchFamily="18" charset="0"/>
                <a:ea typeface="+mn-ea"/>
                <a:cs typeface="+mn-cs"/>
              </a:rPr>
              <a:t>x </a:t>
            </a:r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  <a:ea typeface="+mn-ea"/>
                <a:cs typeface="+mn-cs"/>
              </a:rPr>
              <a:t>&amp;</a:t>
            </a:r>
            <a:r>
              <a:rPr lang="en-US" altLang="zh-TW" sz="4400" kern="0" dirty="0">
                <a:solidFill>
                  <a:srgbClr val="002060"/>
                </a:solidFill>
                <a:latin typeface="Elephant" panose="02020904090505020303" pitchFamily="18" charset="0"/>
                <a:ea typeface="+mn-ea"/>
                <a:cs typeface="+mn-cs"/>
              </a:rPr>
              <a:t> </a:t>
            </a:r>
            <a:r>
              <a:rPr lang="en-US" altLang="zh-TW" sz="4400" b="1" kern="0" dirty="0">
                <a:solidFill>
                  <a:srgbClr val="9B2D00"/>
                </a:solidFill>
                <a:latin typeface="Cooper Black" panose="0208090404030B020404" pitchFamily="18" charset="0"/>
                <a:ea typeface="+mn-ea"/>
                <a:cs typeface="+mn-cs"/>
              </a:rPr>
              <a:t>**</a:t>
            </a:r>
            <a:r>
              <a:rPr lang="en-US" altLang="zh-TW" sz="4400" kern="0" dirty="0">
                <a:solidFill>
                  <a:srgbClr val="9B2D00"/>
                </a:solidFill>
                <a:latin typeface="Elephant" panose="02020904090505020303" pitchFamily="18" charset="0"/>
                <a:ea typeface="+mn-ea"/>
                <a:cs typeface="+mn-cs"/>
              </a:rPr>
              <a:t>x</a:t>
            </a:r>
            <a:r>
              <a:rPr lang="en-US" altLang="zh-TW" sz="4400" kern="0" dirty="0">
                <a:solidFill>
                  <a:srgbClr val="860000"/>
                </a:solidFill>
                <a:latin typeface="Elephant" panose="02020904090505020303" pitchFamily="18" charset="0"/>
                <a:ea typeface="+mn-ea"/>
                <a:cs typeface="+mn-cs"/>
              </a:rPr>
              <a:t/>
            </a:r>
            <a:br>
              <a:rPr lang="en-US" altLang="zh-TW" sz="4400" kern="0" dirty="0">
                <a:solidFill>
                  <a:srgbClr val="860000"/>
                </a:solidFill>
                <a:latin typeface="Elephant" panose="02020904090505020303" pitchFamily="18" charset="0"/>
                <a:ea typeface="+mn-ea"/>
                <a:cs typeface="+mn-cs"/>
              </a:rPr>
            </a:br>
            <a:r>
              <a:rPr lang="en-US" altLang="zh-TW" sz="4400" kern="0" dirty="0">
                <a:solidFill>
                  <a:srgbClr val="860000"/>
                </a:solidFill>
                <a:latin typeface="Elephant" panose="02020904090505020303" pitchFamily="18" charset="0"/>
                <a:ea typeface="+mn-ea"/>
                <a:cs typeface="+mn-cs"/>
              </a:rPr>
              <a:t> </a:t>
            </a:r>
            <a:r>
              <a:rPr lang="en-US" altLang="zh-TW" sz="2000" kern="0" dirty="0">
                <a:solidFill>
                  <a:srgbClr val="860000"/>
                </a:solidFill>
                <a:latin typeface="Elephant" panose="02020904090505020303" pitchFamily="18" charset="0"/>
                <a:ea typeface="+mn-ea"/>
                <a:cs typeface="+mn-cs"/>
              </a:rPr>
              <a:t> </a:t>
            </a:r>
            <a:r>
              <a:rPr lang="en-US" altLang="zh-TW" sz="3600" kern="0" dirty="0">
                <a:solidFill>
                  <a:srgbClr val="FF9900"/>
                </a:solidFill>
                <a:ea typeface="+mn-ea"/>
                <a:cs typeface="+mn-cs"/>
              </a:rPr>
              <a:t>(Splat in the call statement within the caller)</a:t>
            </a:r>
          </a:p>
          <a:p>
            <a:pPr marL="0" indent="0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endParaRPr lang="en-US" altLang="en-US" sz="1200" kern="0" dirty="0">
              <a:solidFill>
                <a:schemeClr val="tx1"/>
              </a:solidFill>
            </a:endParaRPr>
          </a:p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b="1" kern="0" dirty="0">
                <a:solidFill>
                  <a:srgbClr val="0000FF"/>
                </a:solidFill>
              </a:rPr>
              <a:t>*x</a:t>
            </a:r>
            <a:r>
              <a:rPr lang="en-US" altLang="en-US" sz="3200" kern="0" dirty="0">
                <a:solidFill>
                  <a:schemeClr val="tx1"/>
                </a:solidFill>
              </a:rPr>
              <a:t>:	</a:t>
            </a:r>
            <a:r>
              <a:rPr lang="en-US" altLang="en-US" sz="3200" spc="-170" dirty="0" smtClean="0">
                <a:solidFill>
                  <a:schemeClr val="tx1"/>
                </a:solidFill>
              </a:rPr>
              <a:t>Un</a:t>
            </a:r>
            <a:r>
              <a:rPr lang="en-US" altLang="en-US" sz="3200" spc="-70" dirty="0" smtClean="0">
                <a:solidFill>
                  <a:schemeClr val="tx1"/>
                </a:solidFill>
              </a:rPr>
              <a:t>packs</a:t>
            </a:r>
            <a:r>
              <a:rPr lang="en-US" altLang="en-US" sz="2400" spc="-70" dirty="0" smtClean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a</a:t>
            </a:r>
            <a:r>
              <a:rPr lang="en-US" altLang="en-US" sz="24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list</a:t>
            </a:r>
            <a:r>
              <a:rPr lang="en-US" altLang="en-US" sz="3200" b="1" spc="-70" dirty="0">
                <a:solidFill>
                  <a:schemeClr val="tx1"/>
                </a:solidFill>
                <a:latin typeface="Arial Narrow" panose="020B0606020202030204" pitchFamily="34" charset="0"/>
              </a:rPr>
              <a:t>/</a:t>
            </a:r>
            <a:r>
              <a:rPr lang="en-US" altLang="en-US" sz="3200" spc="-70" dirty="0">
                <a:solidFill>
                  <a:schemeClr val="tx1"/>
                </a:solidFill>
              </a:rPr>
              <a:t>tuple</a:t>
            </a:r>
            <a:r>
              <a:rPr lang="en-US" altLang="en-US" sz="3200" b="1" spc="-70" dirty="0">
                <a:solidFill>
                  <a:schemeClr val="tx1"/>
                </a:solidFill>
                <a:latin typeface="Arial Narrow" panose="020B0606020202030204" pitchFamily="34" charset="0"/>
              </a:rPr>
              <a:t>/</a:t>
            </a:r>
            <a:r>
              <a:rPr lang="en-US" altLang="en-US" sz="3200" spc="-70" dirty="0">
                <a:solidFill>
                  <a:schemeClr val="tx1"/>
                </a:solidFill>
              </a:rPr>
              <a:t>string</a:t>
            </a:r>
            <a:r>
              <a:rPr lang="en-US" altLang="en-US" sz="24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into</a:t>
            </a:r>
            <a:r>
              <a:rPr lang="en-US" altLang="en-US" sz="24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position</a:t>
            </a:r>
            <a:r>
              <a:rPr lang="en-US" altLang="en-US" sz="24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argument</a:t>
            </a:r>
            <a:r>
              <a:rPr lang="en-US" altLang="en-US" sz="3200" spc="-200" dirty="0">
                <a:solidFill>
                  <a:schemeClr val="tx1"/>
                </a:solidFill>
              </a:rPr>
              <a:t>s</a:t>
            </a:r>
            <a:r>
              <a:rPr lang="en-US" altLang="en-US" sz="3200" kern="0" dirty="0" smtClean="0">
                <a:solidFill>
                  <a:schemeClr val="tx1"/>
                </a:solidFill>
              </a:rPr>
              <a:t>.</a:t>
            </a:r>
            <a:endParaRPr lang="en-US" altLang="en-US" sz="3200" kern="0" dirty="0">
              <a:solidFill>
                <a:schemeClr val="tx1"/>
              </a:solidFill>
            </a:endParaRPr>
          </a:p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b="1" kern="0" dirty="0">
                <a:solidFill>
                  <a:srgbClr val="9B2D00"/>
                </a:solidFill>
              </a:rPr>
              <a:t>**x</a:t>
            </a:r>
            <a:r>
              <a:rPr lang="en-US" altLang="en-US" sz="3200" kern="0" dirty="0">
                <a:solidFill>
                  <a:schemeClr val="tx1"/>
                </a:solidFill>
              </a:rPr>
              <a:t>:	</a:t>
            </a:r>
            <a:r>
              <a:rPr lang="en-US" altLang="en-US" sz="3200" spc="-170" dirty="0">
                <a:solidFill>
                  <a:schemeClr val="tx1"/>
                </a:solidFill>
              </a:rPr>
              <a:t>Un</a:t>
            </a:r>
            <a:r>
              <a:rPr lang="en-US" altLang="en-US" sz="3200" spc="-70" dirty="0">
                <a:solidFill>
                  <a:schemeClr val="tx1"/>
                </a:solidFill>
              </a:rPr>
              <a:t>pack</a:t>
            </a:r>
            <a:r>
              <a:rPr lang="en-US" altLang="en-US" sz="3200" spc="-70" dirty="0" smtClean="0">
                <a:solidFill>
                  <a:schemeClr val="tx1"/>
                </a:solidFill>
              </a:rPr>
              <a:t>s</a:t>
            </a:r>
            <a:r>
              <a:rPr lang="en-US" altLang="en-US" sz="3200" kern="0" dirty="0" smtClean="0">
                <a:solidFill>
                  <a:schemeClr val="tx1"/>
                </a:solidFill>
              </a:rPr>
              <a:t> </a:t>
            </a:r>
            <a:r>
              <a:rPr lang="en-US" altLang="en-US" sz="3200" kern="0" dirty="0">
                <a:solidFill>
                  <a:schemeClr val="tx1"/>
                </a:solidFill>
              </a:rPr>
              <a:t>a dictionary into keyword arguments.</a:t>
            </a:r>
          </a:p>
          <a:p>
            <a:pPr marL="95250" indent="0" eaLnBrk="1">
              <a:lnSpc>
                <a:spcPct val="49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0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49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f(</a:t>
            </a:r>
            <a:r>
              <a:rPr lang="en-US" altLang="en-US" b="1" kern="0" dirty="0">
                <a:solidFill>
                  <a:srgbClr val="0000FF"/>
                </a:solidFill>
                <a:latin typeface="Lucida Console" panose="020B0609040504020204" pitchFamily="49" charset="0"/>
              </a:rPr>
              <a:t>*a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b="1" kern="0" dirty="0">
                <a:solidFill>
                  <a:srgbClr val="9B2D00"/>
                </a:solidFill>
                <a:latin typeface="Lucida Console" panose="020B0609040504020204" pitchFamily="49" charset="0"/>
              </a:rPr>
              <a:t>**kw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): print(</a:t>
            </a:r>
            <a:r>
              <a:rPr lang="en-US" altLang="en-US" b="1" kern="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kern="0" dirty="0" err="1">
                <a:solidFill>
                  <a:srgbClr val="9B2D00"/>
                </a:solidFill>
                <a:latin typeface="Lucida Console" panose="020B0609040504020204" pitchFamily="49" charset="0"/>
              </a:rPr>
              <a:t>kw</a:t>
            </a:r>
            <a:r>
              <a:rPr lang="en-US" altLang="en-US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,sep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="\n")</a:t>
            </a:r>
          </a:p>
          <a:p>
            <a:pPr marL="95250" indent="0" eaLnBrk="1">
              <a:lnSpc>
                <a:spcPct val="50000"/>
              </a:lnSpc>
              <a:spcBef>
                <a:spcPts val="6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 eaLnBrk="1">
              <a:lnSpc>
                <a:spcPct val="95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f(</a:t>
            </a:r>
            <a:r>
              <a:rPr lang="en-US" altLang="en-US" b="1" kern="0" dirty="0">
                <a:solidFill>
                  <a:srgbClr val="0000FF"/>
                </a:solidFill>
                <a:latin typeface="Lucida Console" panose="020B0609040504020204" pitchFamily="49" charset="0"/>
              </a:rPr>
              <a:t>1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b="1" kern="0" dirty="0">
                <a:solidFill>
                  <a:srgbClr val="0000FF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kern="0" dirty="0">
                <a:solidFill>
                  <a:srgbClr val="0000FF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kern="0" dirty="0">
                <a:solidFill>
                  <a:srgbClr val="0000FF"/>
                </a:solidFill>
                <a:latin typeface="Lucida Console" panose="020B0609040504020204" pitchFamily="49" charset="0"/>
              </a:rPr>
              <a:t>4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kern="0" dirty="0">
                <a:solidFill>
                  <a:srgbClr val="0000FF"/>
                </a:solidFill>
                <a:latin typeface="Lucida Console" panose="020B0609040504020204" pitchFamily="49" charset="0"/>
              </a:rPr>
              <a:t>5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b="1" kern="0" dirty="0">
                <a:solidFill>
                  <a:srgbClr val="0000FF"/>
                </a:solidFill>
                <a:latin typeface="Lucida Console" panose="020B0609040504020204" pitchFamily="49" charset="0"/>
              </a:rPr>
              <a:t>6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b="1" kern="0" dirty="0">
                <a:solidFill>
                  <a:srgbClr val="9B2D00"/>
                </a:solidFill>
                <a:latin typeface="Lucida Console" panose="020B0609040504020204" pitchFamily="49" charset="0"/>
              </a:rPr>
              <a:t>a=2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b="1" kern="0" dirty="0">
                <a:solidFill>
                  <a:srgbClr val="9B2D00"/>
                </a:solidFill>
                <a:latin typeface="Lucida Console" panose="020B0609040504020204" pitchFamily="49" charset="0"/>
              </a:rPr>
              <a:t>b=3</a:t>
            </a:r>
            <a:r>
              <a:rPr lang="en-US" altLang="en-US" kern="0" dirty="0">
                <a:solidFill>
                  <a:srgbClr val="9B2D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kern="0" dirty="0">
                <a:solidFill>
                  <a:srgbClr val="9B2D00"/>
                </a:solidFill>
                <a:latin typeface="Lucida Console" panose="020B0609040504020204" pitchFamily="49" charset="0"/>
              </a:rPr>
              <a:t>c=5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eaLnBrk="1">
              <a:lnSpc>
                <a:spcPct val="95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b="1" kern="0" dirty="0">
                <a:solidFill>
                  <a:srgbClr val="0000FF"/>
                </a:solidFill>
                <a:latin typeface="Lucida Console" panose="020B0609040504020204" pitchFamily="49" charset="0"/>
              </a:rPr>
              <a:t>(1, 2, 3, 4, 5, 6)</a:t>
            </a:r>
          </a:p>
          <a:p>
            <a:pPr marL="95250" indent="0" eaLnBrk="1">
              <a:lnSpc>
                <a:spcPct val="95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b="1" kern="0" dirty="0">
                <a:solidFill>
                  <a:srgbClr val="9B2D00"/>
                </a:solidFill>
                <a:latin typeface="Lucida Console" panose="020B0609040504020204" pitchFamily="49" charset="0"/>
              </a:rPr>
              <a:t>{'a': 2, 'c': 5, 'b': 3}</a:t>
            </a:r>
          </a:p>
          <a:p>
            <a:pPr marL="95250" indent="0" eaLnBrk="1">
              <a:lnSpc>
                <a:spcPct val="95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727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13453" y="12536"/>
            <a:ext cx="10036944" cy="6845465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  <a:ea typeface="+mn-ea"/>
                <a:cs typeface="+mn-cs"/>
              </a:rPr>
              <a:t>  </a:t>
            </a:r>
            <a:r>
              <a:rPr lang="en-US" altLang="zh-TW" sz="3600" kern="0" dirty="0">
                <a:solidFill>
                  <a:srgbClr val="0070C0"/>
                </a:solidFill>
                <a:latin typeface="Elephant" panose="02020904090505020303" pitchFamily="18" charset="0"/>
                <a:ea typeface="+mn-ea"/>
                <a:cs typeface="+mn-cs"/>
              </a:rPr>
              <a:t> </a:t>
            </a:r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  <a:ea typeface="+mn-ea"/>
                <a:cs typeface="+mn-cs"/>
              </a:rPr>
              <a:t>Function Arguments </a:t>
            </a:r>
            <a:r>
              <a:rPr lang="en-US" altLang="zh-TW" sz="4400" b="1" kern="0" dirty="0">
                <a:solidFill>
                  <a:srgbClr val="0000FF"/>
                </a:solidFill>
                <a:latin typeface="Cooper Black" panose="0208090404030B020404" pitchFamily="18" charset="0"/>
                <a:ea typeface="+mn-ea"/>
                <a:cs typeface="+mn-cs"/>
              </a:rPr>
              <a:t>*</a:t>
            </a:r>
            <a:r>
              <a:rPr lang="en-US" altLang="zh-TW" sz="4400" kern="0" dirty="0">
                <a:solidFill>
                  <a:srgbClr val="0000FF"/>
                </a:solidFill>
                <a:latin typeface="Elephant" panose="02020904090505020303" pitchFamily="18" charset="0"/>
                <a:ea typeface="+mn-ea"/>
                <a:cs typeface="+mn-cs"/>
              </a:rPr>
              <a:t>x</a:t>
            </a:r>
            <a:r>
              <a:rPr lang="en-US" altLang="zh-TW" sz="4400" kern="0" dirty="0">
                <a:solidFill>
                  <a:srgbClr val="000000"/>
                </a:solidFill>
                <a:latin typeface="Elephant" panose="02020904090505020303" pitchFamily="18" charset="0"/>
                <a:ea typeface="+mn-ea"/>
                <a:cs typeface="+mn-cs"/>
              </a:rPr>
              <a:t> </a:t>
            </a:r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  <a:ea typeface="+mn-ea"/>
                <a:cs typeface="+mn-cs"/>
              </a:rPr>
              <a:t>&amp;</a:t>
            </a:r>
            <a:r>
              <a:rPr lang="en-US" altLang="zh-TW" sz="4400" kern="0" dirty="0">
                <a:solidFill>
                  <a:srgbClr val="002060"/>
                </a:solidFill>
                <a:latin typeface="Elephant" panose="02020904090505020303" pitchFamily="18" charset="0"/>
                <a:ea typeface="+mn-ea"/>
                <a:cs typeface="+mn-cs"/>
              </a:rPr>
              <a:t> </a:t>
            </a:r>
            <a:r>
              <a:rPr lang="en-US" altLang="zh-TW" sz="4400" b="1" kern="0" dirty="0">
                <a:solidFill>
                  <a:srgbClr val="9B2D00"/>
                </a:solidFill>
                <a:latin typeface="Cooper Black" panose="0208090404030B020404" pitchFamily="18" charset="0"/>
                <a:ea typeface="+mn-ea"/>
                <a:cs typeface="+mn-cs"/>
              </a:rPr>
              <a:t>**</a:t>
            </a:r>
            <a:r>
              <a:rPr lang="en-US" altLang="zh-TW" sz="4400" kern="0" dirty="0">
                <a:solidFill>
                  <a:srgbClr val="9B2D00"/>
                </a:solidFill>
                <a:latin typeface="Elephant" panose="02020904090505020303" pitchFamily="18" charset="0"/>
                <a:ea typeface="+mn-ea"/>
                <a:cs typeface="+mn-cs"/>
              </a:rPr>
              <a:t>x</a:t>
            </a:r>
            <a:r>
              <a:rPr lang="en-US" altLang="zh-TW" sz="4400" kern="0" dirty="0">
                <a:solidFill>
                  <a:srgbClr val="860000"/>
                </a:solidFill>
                <a:latin typeface="Elephant" panose="02020904090505020303" pitchFamily="18" charset="0"/>
                <a:ea typeface="+mn-ea"/>
                <a:cs typeface="+mn-cs"/>
              </a:rPr>
              <a:t/>
            </a:r>
            <a:br>
              <a:rPr lang="en-US" altLang="zh-TW" sz="4400" kern="0" dirty="0">
                <a:solidFill>
                  <a:srgbClr val="860000"/>
                </a:solidFill>
                <a:latin typeface="Elephant" panose="02020904090505020303" pitchFamily="18" charset="0"/>
                <a:ea typeface="+mn-ea"/>
                <a:cs typeface="+mn-cs"/>
              </a:rPr>
            </a:br>
            <a:r>
              <a:rPr lang="en-US" altLang="zh-TW" sz="4400" kern="0" dirty="0">
                <a:solidFill>
                  <a:srgbClr val="860000"/>
                </a:solidFill>
                <a:latin typeface="Elephant" panose="02020904090505020303" pitchFamily="18" charset="0"/>
                <a:ea typeface="+mn-ea"/>
                <a:cs typeface="+mn-cs"/>
              </a:rPr>
              <a:t> </a:t>
            </a:r>
            <a:r>
              <a:rPr lang="en-US" altLang="zh-TW" sz="2000" kern="0" dirty="0">
                <a:solidFill>
                  <a:srgbClr val="860000"/>
                </a:solidFill>
                <a:latin typeface="Elephant" panose="02020904090505020303" pitchFamily="18" charset="0"/>
                <a:ea typeface="+mn-ea"/>
                <a:cs typeface="+mn-cs"/>
              </a:rPr>
              <a:t> </a:t>
            </a:r>
            <a:r>
              <a:rPr lang="en-US" altLang="zh-TW" sz="3600" kern="0" dirty="0">
                <a:solidFill>
                  <a:srgbClr val="FF9900"/>
                </a:solidFill>
                <a:ea typeface="+mn-ea"/>
                <a:cs typeface="+mn-cs"/>
              </a:rPr>
              <a:t>(Splat in the call statement within the caller)</a:t>
            </a:r>
          </a:p>
          <a:p>
            <a:pPr marL="0" indent="0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endParaRPr lang="en-US" altLang="en-US" sz="1200" kern="0" dirty="0">
              <a:solidFill>
                <a:schemeClr val="tx1"/>
              </a:solidFill>
            </a:endParaRPr>
          </a:p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b="1" kern="0" dirty="0">
                <a:solidFill>
                  <a:srgbClr val="0000FF"/>
                </a:solidFill>
              </a:rPr>
              <a:t>*x</a:t>
            </a:r>
            <a:r>
              <a:rPr lang="en-US" altLang="en-US" sz="3200" kern="0" dirty="0">
                <a:solidFill>
                  <a:schemeClr val="tx1"/>
                </a:solidFill>
              </a:rPr>
              <a:t>:	</a:t>
            </a:r>
            <a:r>
              <a:rPr lang="en-US" altLang="en-US" sz="3200" spc="-170" dirty="0" smtClean="0">
                <a:solidFill>
                  <a:schemeClr val="tx1"/>
                </a:solidFill>
              </a:rPr>
              <a:t>Un</a:t>
            </a:r>
            <a:r>
              <a:rPr lang="en-US" altLang="en-US" sz="3200" spc="-70" dirty="0" smtClean="0">
                <a:solidFill>
                  <a:schemeClr val="tx1"/>
                </a:solidFill>
              </a:rPr>
              <a:t>packs</a:t>
            </a:r>
            <a:r>
              <a:rPr lang="en-US" altLang="en-US" sz="2400" spc="-70" dirty="0" smtClean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a</a:t>
            </a:r>
            <a:r>
              <a:rPr lang="en-US" altLang="en-US" sz="24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list</a:t>
            </a:r>
            <a:r>
              <a:rPr lang="en-US" altLang="en-US" sz="3200" b="1" spc="-70" dirty="0">
                <a:solidFill>
                  <a:schemeClr val="tx1"/>
                </a:solidFill>
                <a:latin typeface="Arial Narrow" panose="020B0606020202030204" pitchFamily="34" charset="0"/>
              </a:rPr>
              <a:t>/</a:t>
            </a:r>
            <a:r>
              <a:rPr lang="en-US" altLang="en-US" sz="3200" spc="-70" dirty="0">
                <a:solidFill>
                  <a:schemeClr val="tx1"/>
                </a:solidFill>
              </a:rPr>
              <a:t>tuple</a:t>
            </a:r>
            <a:r>
              <a:rPr lang="en-US" altLang="en-US" sz="3200" b="1" spc="-70" dirty="0">
                <a:solidFill>
                  <a:schemeClr val="tx1"/>
                </a:solidFill>
                <a:latin typeface="Arial Narrow" panose="020B0606020202030204" pitchFamily="34" charset="0"/>
              </a:rPr>
              <a:t>/</a:t>
            </a:r>
            <a:r>
              <a:rPr lang="en-US" altLang="en-US" sz="3200" spc="-70" dirty="0">
                <a:solidFill>
                  <a:schemeClr val="tx1"/>
                </a:solidFill>
              </a:rPr>
              <a:t>string</a:t>
            </a:r>
            <a:r>
              <a:rPr lang="en-US" altLang="en-US" sz="24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into</a:t>
            </a:r>
            <a:r>
              <a:rPr lang="en-US" altLang="en-US" sz="24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position</a:t>
            </a:r>
            <a:r>
              <a:rPr lang="en-US" altLang="en-US" sz="24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argument</a:t>
            </a:r>
            <a:r>
              <a:rPr lang="en-US" altLang="en-US" sz="3200" spc="-200" dirty="0">
                <a:solidFill>
                  <a:schemeClr val="tx1"/>
                </a:solidFill>
              </a:rPr>
              <a:t>s</a:t>
            </a:r>
            <a:r>
              <a:rPr lang="en-US" altLang="en-US" sz="3200" kern="0" dirty="0" smtClean="0">
                <a:solidFill>
                  <a:schemeClr val="tx1"/>
                </a:solidFill>
              </a:rPr>
              <a:t>.</a:t>
            </a:r>
            <a:endParaRPr lang="en-US" altLang="en-US" sz="3200" kern="0" dirty="0">
              <a:solidFill>
                <a:schemeClr val="tx1"/>
              </a:solidFill>
            </a:endParaRPr>
          </a:p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b="1" kern="0" dirty="0">
                <a:solidFill>
                  <a:srgbClr val="9B2D00"/>
                </a:solidFill>
              </a:rPr>
              <a:t>**x</a:t>
            </a:r>
            <a:r>
              <a:rPr lang="en-US" altLang="en-US" sz="3200" kern="0" dirty="0">
                <a:solidFill>
                  <a:schemeClr val="tx1"/>
                </a:solidFill>
              </a:rPr>
              <a:t>:	</a:t>
            </a:r>
            <a:r>
              <a:rPr lang="en-US" altLang="en-US" sz="3200" spc="-170" dirty="0" smtClean="0">
                <a:solidFill>
                  <a:schemeClr val="tx1"/>
                </a:solidFill>
              </a:rPr>
              <a:t>Un</a:t>
            </a:r>
            <a:r>
              <a:rPr lang="en-US" altLang="en-US" sz="3200" spc="-70" dirty="0" smtClean="0">
                <a:solidFill>
                  <a:schemeClr val="tx1"/>
                </a:solidFill>
              </a:rPr>
              <a:t>pack</a:t>
            </a:r>
            <a:r>
              <a:rPr lang="en-US" altLang="en-US" sz="3200" spc="-70" dirty="0">
                <a:solidFill>
                  <a:schemeClr val="tx1"/>
                </a:solidFill>
              </a:rPr>
              <a:t>s</a:t>
            </a:r>
            <a:r>
              <a:rPr lang="en-US" altLang="en-US" sz="3200" kern="0" dirty="0" smtClean="0">
                <a:solidFill>
                  <a:schemeClr val="tx1"/>
                </a:solidFill>
              </a:rPr>
              <a:t> </a:t>
            </a:r>
            <a:r>
              <a:rPr lang="en-US" altLang="en-US" sz="3200" kern="0" dirty="0">
                <a:solidFill>
                  <a:schemeClr val="tx1"/>
                </a:solidFill>
              </a:rPr>
              <a:t>a dictionary into keyword arguments.</a:t>
            </a:r>
          </a:p>
          <a:p>
            <a:pPr marL="95250" indent="0" eaLnBrk="1">
              <a:lnSpc>
                <a:spcPct val="49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0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49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f(</a:t>
            </a:r>
            <a:r>
              <a:rPr lang="en-US" altLang="en-US" b="1" kern="0" dirty="0">
                <a:solidFill>
                  <a:srgbClr val="0000FF"/>
                </a:solidFill>
                <a:latin typeface="Lucida Console" panose="020B0609040504020204" pitchFamily="49" charset="0"/>
              </a:rPr>
              <a:t>*a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b="1" kern="0" dirty="0">
                <a:solidFill>
                  <a:srgbClr val="9B2D00"/>
                </a:solidFill>
                <a:latin typeface="Lucida Console" panose="020B0609040504020204" pitchFamily="49" charset="0"/>
              </a:rPr>
              <a:t>**kw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): print(</a:t>
            </a:r>
            <a:r>
              <a:rPr lang="en-US" altLang="en-US" b="1" kern="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kern="0" dirty="0" err="1">
                <a:solidFill>
                  <a:srgbClr val="9B2D00"/>
                </a:solidFill>
                <a:latin typeface="Lucida Console" panose="020B0609040504020204" pitchFamily="49" charset="0"/>
              </a:rPr>
              <a:t>kw</a:t>
            </a:r>
            <a:r>
              <a:rPr lang="en-US" altLang="en-US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,sep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="\n")</a:t>
            </a:r>
          </a:p>
          <a:p>
            <a:pPr marL="95250" indent="0" eaLnBrk="1">
              <a:lnSpc>
                <a:spcPct val="50000"/>
              </a:lnSpc>
              <a:spcBef>
                <a:spcPts val="6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 eaLnBrk="1">
              <a:lnSpc>
                <a:spcPct val="95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dirty="0">
                <a:solidFill>
                  <a:srgbClr val="B2B2B2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b="1" kern="0" dirty="0">
                <a:solidFill>
                  <a:srgbClr val="C0C0EA"/>
                </a:solidFill>
                <a:latin typeface="Lucida Console" panose="020B0609040504020204" pitchFamily="49" charset="0"/>
              </a:rPr>
              <a:t>1</a:t>
            </a:r>
            <a:r>
              <a:rPr lang="en-US" altLang="en-US" kern="0" dirty="0">
                <a:solidFill>
                  <a:srgbClr val="B2B2B2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kern="0" dirty="0">
                <a:solidFill>
                  <a:srgbClr val="C0C0EA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kern="0" dirty="0">
                <a:solidFill>
                  <a:srgbClr val="C0C0EA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kern="0" dirty="0">
                <a:solidFill>
                  <a:srgbClr val="B2B2B2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kern="0" dirty="0">
                <a:solidFill>
                  <a:srgbClr val="C0C0EA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kern="0" dirty="0">
                <a:solidFill>
                  <a:srgbClr val="B2B2B2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kern="0" dirty="0">
                <a:solidFill>
                  <a:srgbClr val="C0C0EA"/>
                </a:solidFill>
                <a:latin typeface="Lucida Console" panose="020B0609040504020204" pitchFamily="49" charset="0"/>
              </a:rPr>
              <a:t> 4</a:t>
            </a:r>
            <a:r>
              <a:rPr lang="en-US" altLang="en-US" kern="0" dirty="0">
                <a:solidFill>
                  <a:srgbClr val="B2B2B2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kern="0" dirty="0">
                <a:solidFill>
                  <a:srgbClr val="C0C0EA"/>
                </a:solidFill>
                <a:latin typeface="Lucida Console" panose="020B0609040504020204" pitchFamily="49" charset="0"/>
              </a:rPr>
              <a:t> 5</a:t>
            </a:r>
            <a:r>
              <a:rPr lang="en-US" altLang="en-US" kern="0" dirty="0">
                <a:solidFill>
                  <a:srgbClr val="B2B2B2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kern="0" dirty="0">
                <a:solidFill>
                  <a:srgbClr val="C0C0EA"/>
                </a:solidFill>
                <a:latin typeface="Lucida Console" panose="020B0609040504020204" pitchFamily="49" charset="0"/>
              </a:rPr>
              <a:t>6</a:t>
            </a:r>
            <a:r>
              <a:rPr lang="en-US" altLang="en-US" kern="0" dirty="0">
                <a:solidFill>
                  <a:srgbClr val="B2B2B2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kern="0" dirty="0">
                <a:solidFill>
                  <a:srgbClr val="DAB2B2"/>
                </a:solidFill>
                <a:latin typeface="Lucida Console" panose="020B0609040504020204" pitchFamily="49" charset="0"/>
              </a:rPr>
              <a:t>a=2</a:t>
            </a:r>
            <a:r>
              <a:rPr lang="en-US" altLang="en-US" kern="0" dirty="0">
                <a:solidFill>
                  <a:srgbClr val="B2B2B2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kern="0" dirty="0">
                <a:solidFill>
                  <a:srgbClr val="DAB2B2"/>
                </a:solidFill>
                <a:latin typeface="Lucida Console" panose="020B0609040504020204" pitchFamily="49" charset="0"/>
              </a:rPr>
              <a:t>b=3</a:t>
            </a:r>
            <a:r>
              <a:rPr lang="en-US" altLang="en-US" kern="0" dirty="0">
                <a:solidFill>
                  <a:srgbClr val="B2B2B2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kern="0" dirty="0">
                <a:solidFill>
                  <a:srgbClr val="DAB2B2"/>
                </a:solidFill>
                <a:latin typeface="Lucida Console" panose="020B0609040504020204" pitchFamily="49" charset="0"/>
              </a:rPr>
              <a:t>c=5</a:t>
            </a:r>
            <a:r>
              <a:rPr lang="en-US" altLang="en-US" kern="0" dirty="0">
                <a:solidFill>
                  <a:srgbClr val="B2B2B2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eaLnBrk="1">
              <a:lnSpc>
                <a:spcPct val="95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b="1" kern="0" dirty="0">
                <a:solidFill>
                  <a:srgbClr val="C0C0EA"/>
                </a:solidFill>
                <a:latin typeface="Lucida Console" panose="020B0609040504020204" pitchFamily="49" charset="0"/>
              </a:rPr>
              <a:t>(1, 2, 3, 4, 5, 6)</a:t>
            </a:r>
          </a:p>
          <a:p>
            <a:pPr marL="95250" indent="0" eaLnBrk="1">
              <a:lnSpc>
                <a:spcPct val="95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b="1" kern="0" dirty="0">
                <a:solidFill>
                  <a:srgbClr val="DAB2B2"/>
                </a:solidFill>
                <a:latin typeface="Lucida Console" panose="020B0609040504020204" pitchFamily="49" charset="0"/>
              </a:rPr>
              <a:t>{'a': 2, 'c': 5, 'b': 3}</a:t>
            </a:r>
          </a:p>
          <a:p>
            <a:pPr marL="95250" indent="0" eaLnBrk="1">
              <a:lnSpc>
                <a:spcPct val="95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err="1">
                <a:solidFill>
                  <a:srgbClr val="FF33CC"/>
                </a:solidFill>
                <a:latin typeface="Lucida Console" panose="020B0609040504020204" pitchFamily="49" charset="0"/>
              </a:rPr>
              <a:t>lis</a:t>
            </a:r>
            <a:r>
              <a:rPr lang="en-US" altLang="en-US" dirty="0">
                <a:solidFill>
                  <a:srgbClr val="FF33CC"/>
                </a:solidFill>
                <a:latin typeface="Lucida Console" panose="020B0609040504020204" pitchFamily="49" charset="0"/>
              </a:rPr>
              <a:t>=[1, 2, 3, 4, 5, 6]</a:t>
            </a:r>
          </a:p>
          <a:p>
            <a:pPr marL="95250" indent="0" eaLnBrk="1">
              <a:lnSpc>
                <a:spcPct val="95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err="1">
                <a:solidFill>
                  <a:srgbClr val="FF33CC"/>
                </a:solidFill>
                <a:latin typeface="Lucida Console" panose="020B0609040504020204" pitchFamily="49" charset="0"/>
              </a:rPr>
              <a:t>dic</a:t>
            </a:r>
            <a:r>
              <a:rPr lang="en-US" altLang="en-US" dirty="0">
                <a:solidFill>
                  <a:srgbClr val="FF33CC"/>
                </a:solidFill>
                <a:latin typeface="Lucida Console" panose="020B0609040504020204" pitchFamily="49" charset="0"/>
              </a:rPr>
              <a:t>={'a': 2, 'b':3, 'c':5}</a:t>
            </a:r>
          </a:p>
          <a:p>
            <a:pPr marL="95250" indent="0" eaLnBrk="1">
              <a:lnSpc>
                <a:spcPct val="95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338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13453" y="12536"/>
            <a:ext cx="10036944" cy="6845465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  <a:ea typeface="+mn-ea"/>
                <a:cs typeface="+mn-cs"/>
              </a:rPr>
              <a:t>  </a:t>
            </a:r>
            <a:r>
              <a:rPr lang="en-US" altLang="zh-TW" sz="3600" kern="0" dirty="0">
                <a:solidFill>
                  <a:srgbClr val="0070C0"/>
                </a:solidFill>
                <a:latin typeface="Elephant" panose="02020904090505020303" pitchFamily="18" charset="0"/>
                <a:ea typeface="+mn-ea"/>
                <a:cs typeface="+mn-cs"/>
              </a:rPr>
              <a:t> </a:t>
            </a:r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  <a:ea typeface="+mn-ea"/>
                <a:cs typeface="+mn-cs"/>
              </a:rPr>
              <a:t>Function Arguments </a:t>
            </a:r>
            <a:r>
              <a:rPr lang="en-US" altLang="zh-TW" sz="4400" b="1" kern="0" dirty="0">
                <a:solidFill>
                  <a:srgbClr val="0000FF"/>
                </a:solidFill>
                <a:latin typeface="Cooper Black" panose="0208090404030B020404" pitchFamily="18" charset="0"/>
                <a:ea typeface="+mn-ea"/>
                <a:cs typeface="+mn-cs"/>
              </a:rPr>
              <a:t>*</a:t>
            </a:r>
            <a:r>
              <a:rPr lang="en-US" altLang="zh-TW" sz="4400" kern="0" dirty="0">
                <a:solidFill>
                  <a:srgbClr val="0000FF"/>
                </a:solidFill>
                <a:latin typeface="Elephant" panose="02020904090505020303" pitchFamily="18" charset="0"/>
                <a:ea typeface="+mn-ea"/>
                <a:cs typeface="+mn-cs"/>
              </a:rPr>
              <a:t>x</a:t>
            </a:r>
            <a:r>
              <a:rPr lang="en-US" altLang="zh-TW" sz="4400" kern="0" dirty="0">
                <a:solidFill>
                  <a:srgbClr val="000000"/>
                </a:solidFill>
                <a:latin typeface="Elephant" panose="02020904090505020303" pitchFamily="18" charset="0"/>
                <a:ea typeface="+mn-ea"/>
                <a:cs typeface="+mn-cs"/>
              </a:rPr>
              <a:t> </a:t>
            </a:r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  <a:ea typeface="+mn-ea"/>
                <a:cs typeface="+mn-cs"/>
              </a:rPr>
              <a:t>&amp;</a:t>
            </a:r>
            <a:r>
              <a:rPr lang="en-US" altLang="zh-TW" sz="4400" kern="0" dirty="0">
                <a:solidFill>
                  <a:srgbClr val="002060"/>
                </a:solidFill>
                <a:latin typeface="Elephant" panose="02020904090505020303" pitchFamily="18" charset="0"/>
                <a:ea typeface="+mn-ea"/>
                <a:cs typeface="+mn-cs"/>
              </a:rPr>
              <a:t> </a:t>
            </a:r>
            <a:r>
              <a:rPr lang="en-US" altLang="zh-TW" sz="4400" b="1" kern="0" dirty="0">
                <a:solidFill>
                  <a:srgbClr val="9B2D00"/>
                </a:solidFill>
                <a:latin typeface="Cooper Black" panose="0208090404030B020404" pitchFamily="18" charset="0"/>
                <a:ea typeface="+mn-ea"/>
                <a:cs typeface="+mn-cs"/>
              </a:rPr>
              <a:t>**</a:t>
            </a:r>
            <a:r>
              <a:rPr lang="en-US" altLang="zh-TW" sz="4400" kern="0" dirty="0">
                <a:solidFill>
                  <a:srgbClr val="9B2D00"/>
                </a:solidFill>
                <a:latin typeface="Elephant" panose="02020904090505020303" pitchFamily="18" charset="0"/>
                <a:ea typeface="+mn-ea"/>
                <a:cs typeface="+mn-cs"/>
              </a:rPr>
              <a:t>x</a:t>
            </a:r>
            <a:r>
              <a:rPr lang="en-US" altLang="zh-TW" sz="4400" kern="0" dirty="0">
                <a:solidFill>
                  <a:srgbClr val="860000"/>
                </a:solidFill>
                <a:latin typeface="Elephant" panose="02020904090505020303" pitchFamily="18" charset="0"/>
                <a:ea typeface="+mn-ea"/>
                <a:cs typeface="+mn-cs"/>
              </a:rPr>
              <a:t/>
            </a:r>
            <a:br>
              <a:rPr lang="en-US" altLang="zh-TW" sz="4400" kern="0" dirty="0">
                <a:solidFill>
                  <a:srgbClr val="860000"/>
                </a:solidFill>
                <a:latin typeface="Elephant" panose="02020904090505020303" pitchFamily="18" charset="0"/>
                <a:ea typeface="+mn-ea"/>
                <a:cs typeface="+mn-cs"/>
              </a:rPr>
            </a:br>
            <a:r>
              <a:rPr lang="en-US" altLang="zh-TW" sz="4400" kern="0" dirty="0">
                <a:solidFill>
                  <a:srgbClr val="860000"/>
                </a:solidFill>
                <a:latin typeface="Elephant" panose="02020904090505020303" pitchFamily="18" charset="0"/>
                <a:ea typeface="+mn-ea"/>
                <a:cs typeface="+mn-cs"/>
              </a:rPr>
              <a:t> </a:t>
            </a:r>
            <a:r>
              <a:rPr lang="en-US" altLang="zh-TW" sz="2000" kern="0" dirty="0">
                <a:solidFill>
                  <a:srgbClr val="860000"/>
                </a:solidFill>
                <a:latin typeface="Elephant" panose="02020904090505020303" pitchFamily="18" charset="0"/>
                <a:ea typeface="+mn-ea"/>
                <a:cs typeface="+mn-cs"/>
              </a:rPr>
              <a:t> </a:t>
            </a:r>
            <a:r>
              <a:rPr lang="en-US" altLang="zh-TW" sz="3600" kern="0" dirty="0">
                <a:solidFill>
                  <a:srgbClr val="FF9900"/>
                </a:solidFill>
                <a:ea typeface="+mn-ea"/>
                <a:cs typeface="+mn-cs"/>
              </a:rPr>
              <a:t>(Splat in the call statement within the caller)</a:t>
            </a:r>
          </a:p>
          <a:p>
            <a:pPr marL="0" indent="0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None/>
            </a:pPr>
            <a:endParaRPr lang="en-US" altLang="en-US" sz="1200" kern="0" dirty="0">
              <a:solidFill>
                <a:schemeClr val="tx1"/>
              </a:solidFill>
            </a:endParaRPr>
          </a:p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b="1" kern="0" dirty="0">
                <a:solidFill>
                  <a:srgbClr val="0000FF"/>
                </a:solidFill>
              </a:rPr>
              <a:t>*x</a:t>
            </a:r>
            <a:r>
              <a:rPr lang="en-US" altLang="en-US" sz="3200" kern="0" dirty="0">
                <a:solidFill>
                  <a:schemeClr val="tx1"/>
                </a:solidFill>
              </a:rPr>
              <a:t>:	</a:t>
            </a:r>
            <a:r>
              <a:rPr lang="en-US" altLang="en-US" sz="3200" spc="-170" dirty="0" smtClean="0">
                <a:solidFill>
                  <a:schemeClr val="tx1"/>
                </a:solidFill>
              </a:rPr>
              <a:t>Un</a:t>
            </a:r>
            <a:r>
              <a:rPr lang="en-US" altLang="en-US" sz="3200" spc="-70" dirty="0" smtClean="0">
                <a:solidFill>
                  <a:schemeClr val="tx1"/>
                </a:solidFill>
              </a:rPr>
              <a:t>packs</a:t>
            </a:r>
            <a:r>
              <a:rPr lang="en-US" altLang="en-US" sz="2400" spc="-70" dirty="0" smtClean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a</a:t>
            </a:r>
            <a:r>
              <a:rPr lang="en-US" altLang="en-US" sz="24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list</a:t>
            </a:r>
            <a:r>
              <a:rPr lang="en-US" altLang="en-US" sz="3200" b="1" spc="-70" dirty="0">
                <a:solidFill>
                  <a:schemeClr val="tx1"/>
                </a:solidFill>
                <a:latin typeface="Arial Narrow" panose="020B0606020202030204" pitchFamily="34" charset="0"/>
              </a:rPr>
              <a:t>/</a:t>
            </a:r>
            <a:r>
              <a:rPr lang="en-US" altLang="en-US" sz="3200" spc="-70" dirty="0">
                <a:solidFill>
                  <a:schemeClr val="tx1"/>
                </a:solidFill>
              </a:rPr>
              <a:t>tuple</a:t>
            </a:r>
            <a:r>
              <a:rPr lang="en-US" altLang="en-US" sz="3200" b="1" spc="-70" dirty="0">
                <a:solidFill>
                  <a:schemeClr val="tx1"/>
                </a:solidFill>
                <a:latin typeface="Arial Narrow" panose="020B0606020202030204" pitchFamily="34" charset="0"/>
              </a:rPr>
              <a:t>/</a:t>
            </a:r>
            <a:r>
              <a:rPr lang="en-US" altLang="en-US" sz="3200" spc="-70" dirty="0">
                <a:solidFill>
                  <a:schemeClr val="tx1"/>
                </a:solidFill>
              </a:rPr>
              <a:t>string</a:t>
            </a:r>
            <a:r>
              <a:rPr lang="en-US" altLang="en-US" sz="24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into</a:t>
            </a:r>
            <a:r>
              <a:rPr lang="en-US" altLang="en-US" sz="24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position</a:t>
            </a:r>
            <a:r>
              <a:rPr lang="en-US" altLang="en-US" sz="2400" spc="-70" dirty="0">
                <a:solidFill>
                  <a:schemeClr val="tx1"/>
                </a:solidFill>
              </a:rPr>
              <a:t> </a:t>
            </a:r>
            <a:r>
              <a:rPr lang="en-US" altLang="en-US" sz="3200" spc="-70" dirty="0">
                <a:solidFill>
                  <a:schemeClr val="tx1"/>
                </a:solidFill>
              </a:rPr>
              <a:t>argument</a:t>
            </a:r>
            <a:r>
              <a:rPr lang="en-US" altLang="en-US" sz="3200" spc="-200" dirty="0">
                <a:solidFill>
                  <a:schemeClr val="tx1"/>
                </a:solidFill>
              </a:rPr>
              <a:t>s</a:t>
            </a:r>
            <a:r>
              <a:rPr lang="en-US" altLang="en-US" sz="3200" kern="0" dirty="0" smtClean="0">
                <a:solidFill>
                  <a:schemeClr val="tx1"/>
                </a:solidFill>
              </a:rPr>
              <a:t>.</a:t>
            </a:r>
            <a:endParaRPr lang="en-US" altLang="en-US" sz="3200" kern="0" dirty="0">
              <a:solidFill>
                <a:schemeClr val="tx1"/>
              </a:solidFill>
            </a:endParaRPr>
          </a:p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b="1" kern="0" dirty="0">
                <a:solidFill>
                  <a:srgbClr val="9B2D00"/>
                </a:solidFill>
              </a:rPr>
              <a:t>**x</a:t>
            </a:r>
            <a:r>
              <a:rPr lang="en-US" altLang="en-US" sz="3200" kern="0" dirty="0">
                <a:solidFill>
                  <a:schemeClr val="tx1"/>
                </a:solidFill>
              </a:rPr>
              <a:t>:	</a:t>
            </a:r>
            <a:r>
              <a:rPr lang="en-US" altLang="en-US" sz="3200" spc="-170" dirty="0" smtClean="0">
                <a:solidFill>
                  <a:schemeClr val="tx1"/>
                </a:solidFill>
              </a:rPr>
              <a:t>Un</a:t>
            </a:r>
            <a:r>
              <a:rPr lang="en-US" altLang="en-US" sz="3200" spc="-70" dirty="0" smtClean="0">
                <a:solidFill>
                  <a:schemeClr val="tx1"/>
                </a:solidFill>
              </a:rPr>
              <a:t>pack</a:t>
            </a:r>
            <a:r>
              <a:rPr lang="en-US" altLang="en-US" sz="3200" spc="-70" dirty="0">
                <a:solidFill>
                  <a:schemeClr val="tx1"/>
                </a:solidFill>
              </a:rPr>
              <a:t>s</a:t>
            </a:r>
            <a:r>
              <a:rPr lang="en-US" altLang="en-US" sz="3200" kern="0" dirty="0" smtClean="0">
                <a:solidFill>
                  <a:schemeClr val="tx1"/>
                </a:solidFill>
              </a:rPr>
              <a:t> </a:t>
            </a:r>
            <a:r>
              <a:rPr lang="en-US" altLang="en-US" sz="3200" kern="0" dirty="0">
                <a:solidFill>
                  <a:schemeClr val="tx1"/>
                </a:solidFill>
              </a:rPr>
              <a:t>a dictionary into keyword arguments.</a:t>
            </a:r>
          </a:p>
          <a:p>
            <a:pPr marL="95250" indent="0" eaLnBrk="1">
              <a:lnSpc>
                <a:spcPct val="49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0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49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f(</a:t>
            </a:r>
            <a:r>
              <a:rPr lang="en-US" altLang="en-US" b="1" kern="0" dirty="0">
                <a:solidFill>
                  <a:srgbClr val="0000FF"/>
                </a:solidFill>
                <a:latin typeface="Lucida Console" panose="020B0609040504020204" pitchFamily="49" charset="0"/>
              </a:rPr>
              <a:t>*a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b="1" kern="0" dirty="0">
                <a:solidFill>
                  <a:srgbClr val="9B2D00"/>
                </a:solidFill>
                <a:latin typeface="Lucida Console" panose="020B0609040504020204" pitchFamily="49" charset="0"/>
              </a:rPr>
              <a:t>**kw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): print(</a:t>
            </a:r>
            <a:r>
              <a:rPr lang="en-US" altLang="en-US" b="1" kern="0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kern="0" dirty="0" err="1">
                <a:solidFill>
                  <a:srgbClr val="9B2D00"/>
                </a:solidFill>
                <a:latin typeface="Lucida Console" panose="020B0609040504020204" pitchFamily="49" charset="0"/>
              </a:rPr>
              <a:t>kw</a:t>
            </a:r>
            <a:r>
              <a:rPr lang="en-US" altLang="en-US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,sep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="\n")</a:t>
            </a:r>
          </a:p>
          <a:p>
            <a:pPr marL="95250" indent="0" eaLnBrk="1">
              <a:lnSpc>
                <a:spcPct val="50000"/>
              </a:lnSpc>
              <a:spcBef>
                <a:spcPts val="6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 eaLnBrk="1">
              <a:lnSpc>
                <a:spcPct val="95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dirty="0">
                <a:solidFill>
                  <a:srgbClr val="B2B2B2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b="1" kern="0" dirty="0">
                <a:solidFill>
                  <a:srgbClr val="C0C0EA"/>
                </a:solidFill>
                <a:latin typeface="Lucida Console" panose="020B0609040504020204" pitchFamily="49" charset="0"/>
              </a:rPr>
              <a:t>1</a:t>
            </a:r>
            <a:r>
              <a:rPr lang="en-US" altLang="en-US" kern="0" dirty="0">
                <a:solidFill>
                  <a:srgbClr val="B2B2B2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kern="0" dirty="0">
                <a:solidFill>
                  <a:srgbClr val="C0C0EA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kern="0" dirty="0">
                <a:solidFill>
                  <a:srgbClr val="C0C0EA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kern="0" dirty="0">
                <a:solidFill>
                  <a:srgbClr val="B2B2B2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kern="0" dirty="0">
                <a:solidFill>
                  <a:srgbClr val="C0C0EA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kern="0" dirty="0">
                <a:solidFill>
                  <a:srgbClr val="B2B2B2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kern="0" dirty="0">
                <a:solidFill>
                  <a:srgbClr val="C0C0EA"/>
                </a:solidFill>
                <a:latin typeface="Lucida Console" panose="020B0609040504020204" pitchFamily="49" charset="0"/>
              </a:rPr>
              <a:t> 4</a:t>
            </a:r>
            <a:r>
              <a:rPr lang="en-US" altLang="en-US" kern="0" dirty="0">
                <a:solidFill>
                  <a:srgbClr val="B2B2B2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kern="0" dirty="0">
                <a:solidFill>
                  <a:srgbClr val="C0C0EA"/>
                </a:solidFill>
                <a:latin typeface="Lucida Console" panose="020B0609040504020204" pitchFamily="49" charset="0"/>
              </a:rPr>
              <a:t> 5</a:t>
            </a:r>
            <a:r>
              <a:rPr lang="en-US" altLang="en-US" kern="0" dirty="0">
                <a:solidFill>
                  <a:srgbClr val="B2B2B2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kern="0" dirty="0">
                <a:solidFill>
                  <a:srgbClr val="C0C0EA"/>
                </a:solidFill>
                <a:latin typeface="Lucida Console" panose="020B0609040504020204" pitchFamily="49" charset="0"/>
              </a:rPr>
              <a:t>6</a:t>
            </a:r>
            <a:r>
              <a:rPr lang="en-US" altLang="en-US" kern="0" dirty="0">
                <a:solidFill>
                  <a:srgbClr val="B2B2B2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kern="0" dirty="0">
                <a:solidFill>
                  <a:srgbClr val="DAB2B2"/>
                </a:solidFill>
                <a:latin typeface="Lucida Console" panose="020B0609040504020204" pitchFamily="49" charset="0"/>
              </a:rPr>
              <a:t>a=2</a:t>
            </a:r>
            <a:r>
              <a:rPr lang="en-US" altLang="en-US" kern="0" dirty="0">
                <a:solidFill>
                  <a:srgbClr val="B2B2B2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kern="0" dirty="0">
                <a:solidFill>
                  <a:srgbClr val="DAB2B2"/>
                </a:solidFill>
                <a:latin typeface="Lucida Console" panose="020B0609040504020204" pitchFamily="49" charset="0"/>
              </a:rPr>
              <a:t>b=3</a:t>
            </a:r>
            <a:r>
              <a:rPr lang="en-US" altLang="en-US" kern="0" dirty="0">
                <a:solidFill>
                  <a:srgbClr val="B2B2B2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kern="0" dirty="0">
                <a:solidFill>
                  <a:srgbClr val="DAB2B2"/>
                </a:solidFill>
                <a:latin typeface="Lucida Console" panose="020B0609040504020204" pitchFamily="49" charset="0"/>
              </a:rPr>
              <a:t>c=5</a:t>
            </a:r>
            <a:r>
              <a:rPr lang="en-US" altLang="en-US" kern="0" dirty="0">
                <a:solidFill>
                  <a:srgbClr val="B2B2B2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eaLnBrk="1">
              <a:lnSpc>
                <a:spcPct val="95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b="1" kern="0" dirty="0">
                <a:solidFill>
                  <a:srgbClr val="C0C0EA"/>
                </a:solidFill>
                <a:latin typeface="Lucida Console" panose="020B0609040504020204" pitchFamily="49" charset="0"/>
              </a:rPr>
              <a:t>(1, 2, 3, 4, 5, 6)</a:t>
            </a:r>
          </a:p>
          <a:p>
            <a:pPr marL="95250" indent="0" eaLnBrk="1">
              <a:lnSpc>
                <a:spcPct val="95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b="1" kern="0" dirty="0">
                <a:solidFill>
                  <a:srgbClr val="DAB2B2"/>
                </a:solidFill>
                <a:latin typeface="Lucida Console" panose="020B0609040504020204" pitchFamily="49" charset="0"/>
              </a:rPr>
              <a:t>{'a': 2, 'c': 5, 'b': 3}</a:t>
            </a:r>
          </a:p>
          <a:p>
            <a:pPr marL="95250" indent="0" eaLnBrk="1">
              <a:lnSpc>
                <a:spcPct val="95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err="1">
                <a:solidFill>
                  <a:srgbClr val="FF33CC"/>
                </a:solidFill>
                <a:latin typeface="Lucida Console" panose="020B0609040504020204" pitchFamily="49" charset="0"/>
              </a:rPr>
              <a:t>lis</a:t>
            </a:r>
            <a:r>
              <a:rPr lang="en-US" altLang="en-US" dirty="0">
                <a:solidFill>
                  <a:srgbClr val="FF33CC"/>
                </a:solidFill>
                <a:latin typeface="Lucida Console" panose="020B0609040504020204" pitchFamily="49" charset="0"/>
              </a:rPr>
              <a:t>=[1, 2, 3, 4, 5, 6]</a:t>
            </a:r>
          </a:p>
          <a:p>
            <a:pPr marL="95250" indent="0" eaLnBrk="1">
              <a:lnSpc>
                <a:spcPct val="95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err="1">
                <a:solidFill>
                  <a:srgbClr val="FF33CC"/>
                </a:solidFill>
                <a:latin typeface="Lucida Console" panose="020B0609040504020204" pitchFamily="49" charset="0"/>
              </a:rPr>
              <a:t>dic</a:t>
            </a:r>
            <a:r>
              <a:rPr lang="en-US" altLang="en-US" dirty="0">
                <a:solidFill>
                  <a:srgbClr val="FF33CC"/>
                </a:solidFill>
                <a:latin typeface="Lucida Console" panose="020B0609040504020204" pitchFamily="49" charset="0"/>
              </a:rPr>
              <a:t>={'a': 2, 'b':3, 'c':5}</a:t>
            </a:r>
          </a:p>
          <a:p>
            <a:pPr marL="95250" indent="0" eaLnBrk="1">
              <a:lnSpc>
                <a:spcPct val="95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f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b="1" dirty="0">
                <a:solidFill>
                  <a:srgbClr val="0000FF"/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b="1" dirty="0" err="1">
                <a:solidFill>
                  <a:srgbClr val="0000FF"/>
                </a:solidFill>
                <a:latin typeface="Lucida Console" panose="020B0609040504020204" pitchFamily="49" charset="0"/>
              </a:rPr>
              <a:t>lis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b="1" dirty="0">
                <a:solidFill>
                  <a:srgbClr val="9B2D00"/>
                </a:solidFill>
                <a:latin typeface="Lucida Console" panose="020B0609040504020204" pitchFamily="49" charset="0"/>
              </a:rPr>
              <a:t>**</a:t>
            </a:r>
            <a:r>
              <a:rPr lang="en-US" altLang="en-US" b="1" dirty="0" err="1">
                <a:solidFill>
                  <a:srgbClr val="9B2D00"/>
                </a:solidFill>
                <a:latin typeface="Lucida Console" panose="020B0609040504020204" pitchFamily="49" charset="0"/>
              </a:rPr>
              <a:t>dic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eaLnBrk="1">
              <a:lnSpc>
                <a:spcPct val="95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b="1" kern="0" dirty="0">
                <a:solidFill>
                  <a:srgbClr val="0000FF"/>
                </a:solidFill>
                <a:latin typeface="Lucida Console" panose="020B0609040504020204" pitchFamily="49" charset="0"/>
              </a:rPr>
              <a:t>(1, 2, 3, 4, 5, 6)</a:t>
            </a:r>
          </a:p>
          <a:p>
            <a:pPr marL="95250" indent="0" eaLnBrk="1">
              <a:lnSpc>
                <a:spcPct val="95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b="1" kern="0" dirty="0">
                <a:solidFill>
                  <a:srgbClr val="9B2D00"/>
                </a:solidFill>
                <a:latin typeface="Lucida Console" panose="020B0609040504020204" pitchFamily="49" charset="0"/>
              </a:rPr>
              <a:t>{'a': 2, 'c': 5, 'b': 3}</a:t>
            </a:r>
          </a:p>
          <a:p>
            <a:pPr marL="95250" indent="0" eaLnBrk="1">
              <a:lnSpc>
                <a:spcPct val="95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734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3453" y="688770"/>
            <a:ext cx="9616335" cy="6169231"/>
          </a:xfrm>
        </p:spPr>
        <p:txBody>
          <a:bodyPr/>
          <a:lstStyle/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tx1"/>
                </a:solidFill>
              </a:rPr>
              <a:t>The </a:t>
            </a:r>
            <a:r>
              <a:rPr lang="en-US" altLang="en-US" sz="3200" b="1" dirty="0">
                <a:solidFill>
                  <a:srgbClr val="0000FF"/>
                </a:solidFill>
              </a:rPr>
              <a:t>*x</a:t>
            </a:r>
            <a:r>
              <a:rPr lang="en-US" altLang="en-US" sz="3200" dirty="0">
                <a:solidFill>
                  <a:schemeClr val="tx1"/>
                </a:solidFill>
              </a:rPr>
              <a:t>: Only puts </a:t>
            </a:r>
            <a:r>
              <a:rPr lang="en-US" altLang="en-US" sz="3200" u="sng" dirty="0">
                <a:solidFill>
                  <a:schemeClr val="tx1"/>
                </a:solidFill>
              </a:rPr>
              <a:t>positional</a:t>
            </a:r>
            <a:r>
              <a:rPr lang="en-US" altLang="en-US" sz="3200" dirty="0">
                <a:solidFill>
                  <a:schemeClr val="tx1"/>
                </a:solidFill>
              </a:rPr>
              <a:t> arguments into a </a:t>
            </a:r>
            <a:r>
              <a:rPr lang="en-US" altLang="en-US" sz="3200" dirty="0">
                <a:solidFill>
                  <a:schemeClr val="accent6"/>
                </a:solidFill>
              </a:rPr>
              <a:t>tupl</a:t>
            </a:r>
            <a:r>
              <a:rPr lang="en-US" altLang="en-US" sz="3200" spc="-200" dirty="0">
                <a:solidFill>
                  <a:schemeClr val="accent6"/>
                </a:solidFill>
              </a:rPr>
              <a:t>e</a:t>
            </a:r>
            <a:r>
              <a:rPr lang="en-US" altLang="en-US" sz="3200" dirty="0" smtClean="0">
                <a:solidFill>
                  <a:schemeClr val="tx1"/>
                </a:solidFill>
              </a:rPr>
              <a:t>.</a:t>
            </a:r>
            <a:endParaRPr lang="en-US" altLang="en-US" sz="3200" dirty="0">
              <a:solidFill>
                <a:schemeClr val="tx1"/>
              </a:solidFill>
            </a:endParaRPr>
          </a:p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tx1"/>
                </a:solidFill>
              </a:rPr>
              <a:t>The</a:t>
            </a:r>
            <a:r>
              <a:rPr lang="en-US" altLang="en-US" sz="3200" dirty="0">
                <a:solidFill>
                  <a:srgbClr val="00B0F0"/>
                </a:solidFill>
              </a:rPr>
              <a:t> </a:t>
            </a:r>
            <a:r>
              <a:rPr lang="en-US" altLang="en-US" sz="3200" b="1" dirty="0">
                <a:solidFill>
                  <a:srgbClr val="9B2D00"/>
                </a:solidFill>
              </a:rPr>
              <a:t>**x</a:t>
            </a:r>
            <a:r>
              <a:rPr lang="en-US" altLang="en-US" sz="3200" dirty="0">
                <a:solidFill>
                  <a:schemeClr val="tx1"/>
                </a:solidFill>
              </a:rPr>
              <a:t>: Collects all </a:t>
            </a:r>
            <a:r>
              <a:rPr lang="en-US" altLang="en-US" sz="3200" u="sng" dirty="0">
                <a:solidFill>
                  <a:schemeClr val="tx1"/>
                </a:solidFill>
              </a:rPr>
              <a:t>keyword</a:t>
            </a:r>
            <a:r>
              <a:rPr lang="en-US" altLang="en-US" sz="3200" dirty="0">
                <a:solidFill>
                  <a:schemeClr val="tx1"/>
                </a:solidFill>
              </a:rPr>
              <a:t> arguments into a </a:t>
            </a:r>
            <a:r>
              <a:rPr lang="en-US" altLang="en-US" sz="3200" dirty="0">
                <a:solidFill>
                  <a:srgbClr val="9B2D00"/>
                </a:solidFill>
              </a:rPr>
              <a:t>dict</a:t>
            </a:r>
            <a:r>
              <a:rPr lang="en-US" altLang="en-US" sz="3200" dirty="0" smtClean="0">
                <a:solidFill>
                  <a:schemeClr val="tx1"/>
                </a:solidFill>
              </a:rPr>
              <a:t>.</a:t>
            </a:r>
            <a:endParaRPr lang="en-US" altLang="en-US" sz="3200" dirty="0">
              <a:solidFill>
                <a:schemeClr val="tx1"/>
              </a:solidFill>
            </a:endParaRPr>
          </a:p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000" dirty="0">
              <a:solidFill>
                <a:schemeClr val="tx1"/>
              </a:solidFill>
            </a:endParaRPr>
          </a:p>
          <a:p>
            <a:pPr marL="95250" indent="0" eaLnBrk="1">
              <a:lnSpc>
                <a:spcPct val="93000"/>
              </a:lnSpc>
              <a:spcAft>
                <a:spcPts val="1200"/>
              </a:spcAft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 smtClean="0">
                <a:solidFill>
                  <a:srgbClr val="92D050"/>
                </a:solidFill>
              </a:rPr>
              <a:t/>
            </a:r>
            <a:br>
              <a:rPr lang="en-US" altLang="en-US" sz="3200" dirty="0" smtClean="0">
                <a:solidFill>
                  <a:srgbClr val="92D050"/>
                </a:solidFill>
              </a:rPr>
            </a:br>
            <a:endParaRPr lang="en-US" altLang="en-US" sz="3200" dirty="0">
              <a:solidFill>
                <a:schemeClr val="tx1"/>
              </a:solidFill>
            </a:endParaRPr>
          </a:p>
          <a:p>
            <a:pPr marL="95250" indent="0" eaLnBrk="1"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dirty="0">
                <a:solidFill>
                  <a:srgbClr val="FF0000"/>
                </a:solidFill>
                <a:latin typeface="Lucida Console" panose="020B0609040504020204" pitchFamily="49" charset="0"/>
              </a:rPr>
              <a:t>g(</a:t>
            </a:r>
            <a:r>
              <a:rPr lang="en-US" altLang="en-US" b="1" dirty="0">
                <a:solidFill>
                  <a:schemeClr val="accent6"/>
                </a:solidFill>
                <a:latin typeface="Lucida Console" panose="020B0609040504020204" pitchFamily="49" charset="0"/>
              </a:rPr>
              <a:t>*x</a:t>
            </a:r>
            <a:r>
              <a:rPr lang="en-US" altLang="en-US" b="1" dirty="0">
                <a:solidFill>
                  <a:srgbClr val="FF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  <a:r>
              <a:rPr lang="en-US" altLang="en-US" dirty="0">
                <a:solidFill>
                  <a:srgbClr val="FF99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dirty="0">
                <a:solidFill>
                  <a:srgbClr val="FF9900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b="1" dirty="0">
                <a:solidFill>
                  <a:schemeClr val="accent6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b="1" dirty="0">
                <a:solidFill>
                  <a:srgbClr val="FF99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# </a:t>
            </a:r>
            <a:r>
              <a:rPr lang="en-US" altLang="en-US" dirty="0">
                <a:solidFill>
                  <a:srgbClr val="FF0000"/>
                </a:solidFill>
              </a:rPr>
              <a:t>g() forwards its arguments to f()</a:t>
            </a:r>
            <a:endParaRPr lang="en-US" altLang="en-US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9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 eaLnBrk="1"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dirty="0">
                <a:solidFill>
                  <a:srgbClr val="FF9900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b="1" dirty="0">
                <a:solidFill>
                  <a:schemeClr val="accent6"/>
                </a:solidFill>
                <a:latin typeface="Lucida Console" panose="020B0609040504020204" pitchFamily="49" charset="0"/>
              </a:rPr>
              <a:t>*x</a:t>
            </a:r>
            <a:r>
              <a:rPr lang="en-US" altLang="en-US" b="1" dirty="0">
                <a:solidFill>
                  <a:srgbClr val="FF99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</a:rPr>
              <a:t>: print(x)</a:t>
            </a:r>
          </a:p>
          <a:p>
            <a:pPr marL="95250" indent="0" eaLnBrk="1">
              <a:lnSpc>
                <a:spcPct val="9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 eaLnBrk="1"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b="1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f(1</a:t>
            </a:r>
            <a:r>
              <a:rPr lang="en-US" altLang="en-US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3)</a:t>
            </a:r>
            <a:r>
              <a:rPr lang="en-US" altLang="en-US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# </a:t>
            </a:r>
            <a:r>
              <a:rPr lang="en-US" altLang="en-US" dirty="0" smtClean="0">
                <a:solidFill>
                  <a:schemeClr val="bg1">
                    <a:lumMod val="85000"/>
                  </a:schemeClr>
                </a:solidFill>
              </a:rPr>
              <a:t>OK so far. My arguments became a tuple</a:t>
            </a:r>
          </a:p>
          <a:p>
            <a:pPr marL="95250" indent="0" eaLnBrk="1"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b="1" dirty="0" smtClean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b="1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1, 2, 3)</a:t>
            </a:r>
          </a:p>
          <a:p>
            <a:pPr marL="95250" indent="0" eaLnBrk="1"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g(</a:t>
            </a:r>
            <a:r>
              <a:rPr lang="en-US" altLang="en-US" b="1" dirty="0" smtClean="0">
                <a:solidFill>
                  <a:schemeClr val="accent6"/>
                </a:solidFill>
                <a:latin typeface="Lucida Console" panose="020B0609040504020204" pitchFamily="49" charset="0"/>
              </a:rPr>
              <a:t>1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dirty="0" smtClean="0">
                <a:solidFill>
                  <a:schemeClr val="accent6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dirty="0" smtClean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dirty="0" smtClean="0">
                <a:solidFill>
                  <a:schemeClr val="accent6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smtClean="0">
                <a:solidFill>
                  <a:srgbClr val="FFCCCC"/>
                </a:solidFill>
                <a:latin typeface="Lucida Console" panose="020B0609040504020204" pitchFamily="49" charset="0"/>
              </a:rPr>
              <a:t># </a:t>
            </a:r>
            <a:r>
              <a:rPr lang="en-US" altLang="en-US" dirty="0" smtClean="0">
                <a:solidFill>
                  <a:srgbClr val="FFCCCC"/>
                </a:solidFill>
              </a:rPr>
              <a:t>What could possibly go wrong?</a:t>
            </a:r>
            <a:endParaRPr lang="en-US" altLang="en-US" dirty="0" smtClean="0">
              <a:solidFill>
                <a:srgbClr val="FFCCCC"/>
              </a:solidFill>
              <a:latin typeface="Lucida Console" panose="020B0609040504020204" pitchFamily="49" charset="0"/>
            </a:endParaRPr>
          </a:p>
          <a:p>
            <a:pPr marL="95250" indent="0" eaLnBrk="1"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b="1" dirty="0" smtClean="0">
                <a:solidFill>
                  <a:srgbClr val="FF990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b="1" dirty="0" smtClean="0">
                <a:solidFill>
                  <a:schemeClr val="accent6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b="1" dirty="0">
                <a:solidFill>
                  <a:schemeClr val="accent6"/>
                </a:solidFill>
                <a:latin typeface="Lucida Console" panose="020B0609040504020204" pitchFamily="49" charset="0"/>
              </a:rPr>
              <a:t>1, 2, 3)</a:t>
            </a:r>
            <a:r>
              <a:rPr lang="en-US" altLang="en-US" b="1" dirty="0">
                <a:solidFill>
                  <a:srgbClr val="FF9900"/>
                </a:solidFill>
                <a:latin typeface="Lucida Console" panose="020B0609040504020204" pitchFamily="49" charset="0"/>
              </a:rPr>
              <a:t>,)</a:t>
            </a:r>
          </a:p>
          <a:p>
            <a:pPr marL="95250" indent="0" eaLnBrk="1"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dirty="0">
                <a:solidFill>
                  <a:srgbClr val="FF9999"/>
                </a:solidFill>
                <a:latin typeface="Lucida Console" panose="020B0609040504020204" pitchFamily="49" charset="0"/>
              </a:rPr>
              <a:t># </a:t>
            </a:r>
            <a:r>
              <a:rPr lang="en-US" altLang="en-US" dirty="0">
                <a:solidFill>
                  <a:srgbClr val="FF9999"/>
                </a:solidFill>
              </a:rPr>
              <a:t>f() </a:t>
            </a:r>
            <a:r>
              <a:rPr lang="en-US" altLang="en-US" dirty="0" smtClean="0">
                <a:solidFill>
                  <a:srgbClr val="FF9999"/>
                </a:solidFill>
              </a:rPr>
              <a:t>received </a:t>
            </a:r>
            <a:r>
              <a:rPr lang="en-US" altLang="en-US" dirty="0">
                <a:solidFill>
                  <a:srgbClr val="FF9999"/>
                </a:solidFill>
              </a:rPr>
              <a:t>a singleton tuple of a tuple!</a:t>
            </a:r>
            <a:endParaRPr lang="en-US" altLang="en-US" sz="3200" dirty="0">
              <a:solidFill>
                <a:srgbClr val="FF9999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9330" y="2126974"/>
            <a:ext cx="9283148" cy="10082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5250">
              <a:lnSpc>
                <a:spcPct val="93000"/>
              </a:lnSpc>
              <a:spcAft>
                <a:spcPts val="1200"/>
              </a:spcAft>
              <a:buSzPct val="45000"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>
                <a:solidFill>
                  <a:schemeClr val="bg1">
                    <a:lumMod val="85000"/>
                  </a:schemeClr>
                </a:solidFill>
              </a:rPr>
              <a:t>But</a:t>
            </a:r>
            <a:r>
              <a:rPr lang="en-US" altLang="en-US" sz="3200" dirty="0"/>
              <a:t> the</a:t>
            </a:r>
            <a:r>
              <a:rPr lang="en-US" altLang="en-US" sz="3200" dirty="0">
                <a:solidFill>
                  <a:srgbClr val="FF0000"/>
                </a:solidFill>
              </a:rPr>
              <a:t> </a:t>
            </a:r>
            <a:r>
              <a:rPr lang="en-US" altLang="en-US" sz="3200" b="1" dirty="0">
                <a:solidFill>
                  <a:srgbClr val="0000FF"/>
                </a:solidFill>
              </a:rPr>
              <a:t>*</a:t>
            </a:r>
            <a:r>
              <a:rPr lang="en-US" altLang="en-US" sz="3200" dirty="0">
                <a:solidFill>
                  <a:srgbClr val="0000FF"/>
                </a:solidFill>
              </a:rPr>
              <a:t> </a:t>
            </a:r>
            <a:r>
              <a:rPr lang="en-US" altLang="en-US" sz="3200" dirty="0">
                <a:solidFill>
                  <a:schemeClr val="bg1">
                    <a:lumMod val="85000"/>
                  </a:schemeClr>
                </a:solidFill>
              </a:rPr>
              <a:t>and </a:t>
            </a:r>
            <a:r>
              <a:rPr lang="en-US" altLang="en-US" sz="3200" b="1" dirty="0">
                <a:solidFill>
                  <a:schemeClr val="bg1">
                    <a:lumMod val="85000"/>
                  </a:schemeClr>
                </a:solidFill>
              </a:rPr>
              <a:t>**</a:t>
            </a:r>
            <a:r>
              <a:rPr lang="en-US" altLang="en-US" sz="32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altLang="en-US" sz="3200" dirty="0"/>
              <a:t>run into trouble </a:t>
            </a:r>
            <a:r>
              <a:rPr lang="en-US" altLang="en-US" sz="3200" dirty="0">
                <a:solidFill>
                  <a:srgbClr val="92D050"/>
                </a:solidFill>
              </a:rPr>
              <a:t>when you forward</a:t>
            </a:r>
            <a:r>
              <a:rPr lang="en-US" altLang="en-US" sz="3200" dirty="0" smtClean="0"/>
              <a:t> </a:t>
            </a:r>
            <a:r>
              <a:rPr lang="en-US" altLang="en-US" sz="3200" dirty="0"/>
              <a:t>your arguments onward to your own </a:t>
            </a:r>
            <a:r>
              <a:rPr lang="en-US" altLang="en-US" sz="3200" dirty="0" err="1"/>
              <a:t>callee</a:t>
            </a:r>
            <a:r>
              <a:rPr lang="en-US" altLang="en-US" sz="3200" dirty="0"/>
              <a:t>: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13454" y="3195583"/>
            <a:ext cx="1242312" cy="3669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eaLnBrk="1">
              <a:spcBef>
                <a:spcPts val="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kern="0" dirty="0" smtClean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90000"/>
              </a:lnSpc>
              <a:spcBef>
                <a:spcPts val="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kern="0" dirty="0" smtClean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eaLnBrk="1">
              <a:spcBef>
                <a:spcPts val="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dirty="0">
                <a:solidFill>
                  <a:srgbClr val="FFFFFF"/>
                </a:solidFill>
              </a:rPr>
              <a:t>)</a:t>
            </a:r>
            <a:endParaRPr lang="en-US" altLang="en-US" kern="0" dirty="0">
              <a:solidFill>
                <a:srgbClr val="FFFFFF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90000"/>
              </a:lnSpc>
              <a:spcBef>
                <a:spcPts val="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eaLnBrk="1">
              <a:spcBef>
                <a:spcPts val="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kern="0" dirty="0" smtClean="0">
              <a:solidFill>
                <a:srgbClr val="FF0000"/>
              </a:solidFill>
            </a:endParaRPr>
          </a:p>
          <a:p>
            <a:pPr marL="95250" indent="0" eaLnBrk="1">
              <a:spcBef>
                <a:spcPts val="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b="1" kern="0" dirty="0" smtClean="0">
              <a:solidFill>
                <a:srgbClr val="2D2DB9"/>
              </a:solidFill>
              <a:latin typeface="Lucida Console" panose="020B0609040504020204" pitchFamily="49" charset="0"/>
            </a:endParaRPr>
          </a:p>
          <a:p>
            <a:pPr marL="95250" indent="0" eaLnBrk="1">
              <a:spcBef>
                <a:spcPts val="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kern="0" dirty="0" smtClean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95250" indent="0" eaLnBrk="1">
              <a:spcBef>
                <a:spcPts val="0"/>
              </a:spcBef>
              <a:buClrTx/>
              <a:buSzPct val="45000"/>
              <a:buFont typeface="Wingdings" pitchFamily="2" charset="2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b="1" kern="0" dirty="0" smtClean="0">
              <a:solidFill>
                <a:srgbClr val="FF9999"/>
              </a:solidFill>
              <a:latin typeface="Lucida Console" panose="020B0609040504020204" pitchFamily="49" charset="0"/>
            </a:endParaRPr>
          </a:p>
        </p:txBody>
      </p:sp>
      <p:sp>
        <p:nvSpPr>
          <p:cNvPr id="2" name="Arc 1"/>
          <p:cNvSpPr/>
          <p:nvPr/>
        </p:nvSpPr>
        <p:spPr bwMode="auto">
          <a:xfrm rot="20896573" flipH="1">
            <a:off x="1948718" y="3447875"/>
            <a:ext cx="1667597" cy="3899044"/>
          </a:xfrm>
          <a:prstGeom prst="arc">
            <a:avLst>
              <a:gd name="adj1" fmla="val 16336262"/>
              <a:gd name="adj2" fmla="val 0"/>
            </a:avLst>
          </a:prstGeom>
          <a:noFill/>
          <a:ln w="57150" cap="flat" cmpd="sng" algn="ctr">
            <a:solidFill>
              <a:srgbClr val="92D050"/>
            </a:solidFill>
            <a:prstDash val="sysDot"/>
            <a:round/>
            <a:headEnd type="triangl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 smtClean="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19" name="Arc 18"/>
          <p:cNvSpPr/>
          <p:nvPr/>
        </p:nvSpPr>
        <p:spPr bwMode="auto">
          <a:xfrm rot="5400000">
            <a:off x="3223260" y="3288390"/>
            <a:ext cx="548640" cy="548640"/>
          </a:xfrm>
          <a:prstGeom prst="arc">
            <a:avLst/>
          </a:prstGeom>
          <a:noFill/>
          <a:ln w="57150" cap="flat" cmpd="sng" algn="ctr">
            <a:solidFill>
              <a:srgbClr val="92D05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 smtClean="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21" name="Arc 20"/>
          <p:cNvSpPr/>
          <p:nvPr/>
        </p:nvSpPr>
        <p:spPr bwMode="auto">
          <a:xfrm rot="16200000">
            <a:off x="2582868" y="3833678"/>
            <a:ext cx="548640" cy="548640"/>
          </a:xfrm>
          <a:prstGeom prst="arc">
            <a:avLst/>
          </a:prstGeom>
          <a:noFill/>
          <a:ln w="57150" cap="flat" cmpd="sng" algn="ctr">
            <a:solidFill>
              <a:srgbClr val="92D050"/>
            </a:solidFill>
            <a:prstDash val="sysDot"/>
            <a:round/>
            <a:headEnd type="triangle" w="med" len="med"/>
            <a:tailEnd type="none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 smtClean="0">
              <a:solidFill>
                <a:srgbClr val="FFFFFF"/>
              </a:solidFill>
              <a:latin typeface="Times New Roman" charset="0"/>
            </a:endParaRPr>
          </a:p>
        </p:txBody>
      </p:sp>
      <p:cxnSp>
        <p:nvCxnSpPr>
          <p:cNvPr id="23" name="Straight Connector 22"/>
          <p:cNvCxnSpPr>
            <a:stCxn id="19" idx="2"/>
            <a:endCxn id="21" idx="2"/>
          </p:cNvCxnSpPr>
          <p:nvPr/>
        </p:nvCxnSpPr>
        <p:spPr bwMode="auto">
          <a:xfrm flipH="1" flipV="1">
            <a:off x="2857188" y="3833678"/>
            <a:ext cx="640392" cy="3352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92D050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Rounded Rectangular Callout 25"/>
          <p:cNvSpPr/>
          <p:nvPr/>
        </p:nvSpPr>
        <p:spPr bwMode="auto">
          <a:xfrm>
            <a:off x="4168847" y="4880703"/>
            <a:ext cx="5256393" cy="1977297"/>
          </a:xfrm>
          <a:prstGeom prst="wedgeRoundRectCallout">
            <a:avLst>
              <a:gd name="adj1" fmla="val -55751"/>
              <a:gd name="adj2" fmla="val -117589"/>
              <a:gd name="adj3" fmla="val 16667"/>
            </a:avLst>
          </a:prstGeom>
          <a:solidFill>
            <a:srgbClr val="99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514350" indent="-5143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600" dirty="0">
                <a:solidFill>
                  <a:srgbClr val="FF0000"/>
                </a:solidFill>
                <a:latin typeface="Times New Roman" charset="0"/>
              </a:rPr>
              <a:t>Q:</a:t>
            </a:r>
            <a:r>
              <a:rPr lang="en-US" altLang="zh-TW" sz="3600" dirty="0">
                <a:solidFill>
                  <a:srgbClr val="000000"/>
                </a:solidFill>
                <a:latin typeface="Times New Roman" charset="0"/>
              </a:rPr>
              <a:t>How to change the code so that it forwards as-is?</a:t>
            </a:r>
          </a:p>
          <a:p>
            <a:pPr marL="514350" indent="-51435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600" b="1" dirty="0">
                <a:solidFill>
                  <a:srgbClr val="00B050"/>
                </a:solidFill>
                <a:latin typeface="Times New Roman" charset="0"/>
              </a:rPr>
              <a:t>A:</a:t>
            </a:r>
            <a:r>
              <a:rPr lang="en-US" altLang="zh-TW" sz="3600" dirty="0">
                <a:solidFill>
                  <a:srgbClr val="000000"/>
                </a:solidFill>
                <a:latin typeface="Times New Roman" charset="0"/>
              </a:rPr>
              <a:t>The </a:t>
            </a:r>
            <a:r>
              <a:rPr lang="en-US" altLang="zh-TW" sz="36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splat</a:t>
            </a:r>
            <a:r>
              <a:rPr lang="en-US" altLang="zh-TW" sz="3600" dirty="0">
                <a:solidFill>
                  <a:srgbClr val="000000"/>
                </a:solidFill>
                <a:latin typeface="Times New Roman" charset="0"/>
              </a:rPr>
              <a:t> operator…</a:t>
            </a:r>
            <a:endParaRPr lang="zh-TW" altLang="en-US" sz="360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27" name="Title 1"/>
          <p:cNvSpPr txBox="1">
            <a:spLocks/>
          </p:cNvSpPr>
          <p:nvPr/>
        </p:nvSpPr>
        <p:spPr bwMode="auto">
          <a:xfrm>
            <a:off x="292894" y="0"/>
            <a:ext cx="9144000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 Parameters: </a:t>
            </a:r>
            <a:r>
              <a:rPr lang="en-US" altLang="zh-TW" sz="4400" b="1" kern="0" dirty="0">
                <a:solidFill>
                  <a:srgbClr val="0000FF"/>
                </a:solidFill>
                <a:latin typeface="Cooper Black" panose="0208090404030B020404" pitchFamily="18" charset="0"/>
              </a:rPr>
              <a:t>*</a:t>
            </a:r>
            <a:r>
              <a:rPr lang="en-US" altLang="zh-TW" sz="4400" kern="0" dirty="0">
                <a:solidFill>
                  <a:srgbClr val="0000FF"/>
                </a:solidFill>
                <a:latin typeface="Elephant" panose="02020904090505020303" pitchFamily="18" charset="0"/>
              </a:rPr>
              <a:t>x</a:t>
            </a:r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 &amp; </a:t>
            </a:r>
            <a:r>
              <a:rPr lang="en-US" altLang="zh-TW" sz="4400" b="1" kern="0" dirty="0">
                <a:solidFill>
                  <a:srgbClr val="9B2D00"/>
                </a:solidFill>
                <a:latin typeface="Cooper Black" panose="0208090404030B020404" pitchFamily="18" charset="0"/>
              </a:rPr>
              <a:t>**</a:t>
            </a:r>
            <a:r>
              <a:rPr lang="en-US" altLang="zh-TW" sz="4400" kern="0" dirty="0">
                <a:solidFill>
                  <a:srgbClr val="9B2D00"/>
                </a:solidFill>
                <a:latin typeface="Elephant" panose="02020904090505020303" pitchFamily="18" charset="0"/>
              </a:rPr>
              <a:t>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329" y="2126974"/>
            <a:ext cx="9501809" cy="100822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95250">
              <a:lnSpc>
                <a:spcPct val="93000"/>
              </a:lnSpc>
              <a:spcAft>
                <a:spcPts val="1200"/>
              </a:spcAft>
              <a:buSzPct val="45000"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/>
              <a:t>But the</a:t>
            </a:r>
            <a:r>
              <a:rPr lang="en-US" altLang="en-US" sz="3200" dirty="0">
                <a:solidFill>
                  <a:srgbClr val="FF0000"/>
                </a:solidFill>
              </a:rPr>
              <a:t> </a:t>
            </a:r>
            <a:r>
              <a:rPr lang="en-US" altLang="en-US" sz="3200" b="1" dirty="0">
                <a:solidFill>
                  <a:srgbClr val="0000FF"/>
                </a:solidFill>
              </a:rPr>
              <a:t>*</a:t>
            </a:r>
            <a:r>
              <a:rPr lang="en-US" altLang="en-US" sz="3200" dirty="0">
                <a:solidFill>
                  <a:srgbClr val="0000FF"/>
                </a:solidFill>
              </a:rPr>
              <a:t> </a:t>
            </a:r>
            <a:r>
              <a:rPr lang="en-US" altLang="en-US" sz="3200" dirty="0"/>
              <a:t>and </a:t>
            </a:r>
            <a:r>
              <a:rPr lang="en-US" altLang="en-US" sz="3200" b="1" dirty="0">
                <a:solidFill>
                  <a:srgbClr val="9B2D00"/>
                </a:solidFill>
              </a:rPr>
              <a:t>**</a:t>
            </a:r>
            <a:r>
              <a:rPr lang="en-US" altLang="en-US" sz="3200" dirty="0"/>
              <a:t> run into trouble when you forward your arguments onward to your own </a:t>
            </a:r>
            <a:r>
              <a:rPr lang="en-US" altLang="en-US" sz="3200" dirty="0" err="1" smtClean="0"/>
              <a:t>callee</a:t>
            </a:r>
            <a:r>
              <a:rPr lang="en-US" altLang="en-US" sz="3200" dirty="0" smtClean="0"/>
              <a:t>.</a:t>
            </a:r>
            <a:endParaRPr lang="en-US" altLang="en-US" sz="3200" dirty="0"/>
          </a:p>
        </p:txBody>
      </p:sp>
      <p:sp>
        <p:nvSpPr>
          <p:cNvPr id="7" name="Arc 6"/>
          <p:cNvSpPr/>
          <p:nvPr/>
        </p:nvSpPr>
        <p:spPr bwMode="auto">
          <a:xfrm rot="20896573" flipH="1">
            <a:off x="2257215" y="3082321"/>
            <a:ext cx="2265624" cy="3899044"/>
          </a:xfrm>
          <a:prstGeom prst="arc">
            <a:avLst>
              <a:gd name="adj1" fmla="val 14781256"/>
              <a:gd name="adj2" fmla="val 17076043"/>
            </a:avLst>
          </a:prstGeom>
          <a:noFill/>
          <a:ln w="57150" cap="flat" cmpd="sng" algn="ctr">
            <a:solidFill>
              <a:srgbClr val="92D050"/>
            </a:solidFill>
            <a:prstDash val="sysDot"/>
            <a:round/>
            <a:headEnd type="triangl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 smtClean="0">
              <a:solidFill>
                <a:srgbClr val="FFFFFF"/>
              </a:solidFill>
              <a:latin typeface="Times New Roman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 flipH="1">
            <a:off x="7316170" y="346208"/>
            <a:ext cx="3219279" cy="949560"/>
            <a:chOff x="-797507" y="346208"/>
            <a:chExt cx="3219279" cy="949560"/>
          </a:xfrm>
        </p:grpSpPr>
        <p:sp>
          <p:nvSpPr>
            <p:cNvPr id="12" name="Trapezoid 11"/>
            <p:cNvSpPr/>
            <p:nvPr/>
          </p:nvSpPr>
          <p:spPr bwMode="auto">
            <a:xfrm rot="18900000">
              <a:off x="-797507" y="346208"/>
              <a:ext cx="3219279" cy="922224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en-US" sz="2800" dirty="0">
                <a:latin typeface="Arial" charset="0"/>
                <a:ea typeface="新細明體" charset="-12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 rot="18900000">
              <a:off x="-473394" y="417941"/>
              <a:ext cx="2717649" cy="87782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Recall why</a:t>
              </a:r>
              <a:br>
                <a:rPr kumimoji="1" lang="en-US" altLang="zh-TW" sz="240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we’re doing this, from slide #</a:t>
              </a: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107</a:t>
              </a:r>
              <a:r>
                <a:rPr kumimoji="1" lang="en-US" altLang="zh-TW" sz="240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5391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0" y="12536"/>
            <a:ext cx="9729788" cy="6845465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eaLnBrk="1">
              <a:lnSpc>
                <a:spcPct val="93000"/>
              </a:lnSpc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  <a:ea typeface="+mn-ea"/>
                <a:cs typeface="+mn-cs"/>
              </a:rPr>
              <a:t>     </a:t>
            </a:r>
            <a:r>
              <a:rPr lang="en-US" altLang="zh-TW" sz="3600" kern="0" dirty="0">
                <a:solidFill>
                  <a:srgbClr val="0070C0"/>
                </a:solidFill>
                <a:latin typeface="Elephant" panose="02020904090505020303" pitchFamily="18" charset="0"/>
                <a:ea typeface="+mn-ea"/>
                <a:cs typeface="+mn-cs"/>
              </a:rPr>
              <a:t> </a:t>
            </a:r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  <a:ea typeface="+mn-ea"/>
                <a:cs typeface="+mn-cs"/>
              </a:rPr>
              <a:t>Function Arguments </a:t>
            </a:r>
            <a:r>
              <a:rPr lang="en-US" altLang="zh-TW" sz="4400" b="1" kern="0" dirty="0">
                <a:solidFill>
                  <a:srgbClr val="0000FF"/>
                </a:solidFill>
                <a:latin typeface="Cooper Black" panose="0208090404030B020404" pitchFamily="18" charset="0"/>
                <a:ea typeface="+mn-ea"/>
                <a:cs typeface="+mn-cs"/>
              </a:rPr>
              <a:t>*</a:t>
            </a:r>
            <a:r>
              <a:rPr lang="en-US" altLang="zh-TW" sz="4400" kern="0" dirty="0">
                <a:solidFill>
                  <a:srgbClr val="0000FF"/>
                </a:solidFill>
                <a:latin typeface="Elephant" panose="02020904090505020303" pitchFamily="18" charset="0"/>
                <a:ea typeface="+mn-ea"/>
                <a:cs typeface="+mn-cs"/>
              </a:rPr>
              <a:t>x </a:t>
            </a:r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  <a:ea typeface="+mn-ea"/>
                <a:cs typeface="+mn-cs"/>
              </a:rPr>
              <a:t>&amp;</a:t>
            </a:r>
            <a:r>
              <a:rPr lang="en-US" altLang="zh-TW" sz="4400" kern="0" dirty="0">
                <a:solidFill>
                  <a:srgbClr val="002060"/>
                </a:solidFill>
                <a:latin typeface="Elephant" panose="02020904090505020303" pitchFamily="18" charset="0"/>
                <a:ea typeface="+mn-ea"/>
                <a:cs typeface="+mn-cs"/>
              </a:rPr>
              <a:t> </a:t>
            </a:r>
            <a:r>
              <a:rPr lang="en-US" altLang="zh-TW" sz="4400" b="1" kern="0" dirty="0">
                <a:solidFill>
                  <a:srgbClr val="9B2D00"/>
                </a:solidFill>
                <a:latin typeface="Cooper Black" panose="0208090404030B020404" pitchFamily="18" charset="0"/>
                <a:ea typeface="+mn-ea"/>
                <a:cs typeface="+mn-cs"/>
              </a:rPr>
              <a:t>**</a:t>
            </a:r>
            <a:r>
              <a:rPr lang="en-US" altLang="zh-TW" sz="4400" kern="0" dirty="0">
                <a:solidFill>
                  <a:srgbClr val="9B2D00"/>
                </a:solidFill>
                <a:latin typeface="Elephant" panose="02020904090505020303" pitchFamily="18" charset="0"/>
                <a:ea typeface="+mn-ea"/>
                <a:cs typeface="+mn-cs"/>
              </a:rPr>
              <a:t>x </a:t>
            </a:r>
            <a:r>
              <a:rPr lang="en-US" altLang="zh-TW" sz="4400" kern="0" dirty="0">
                <a:solidFill>
                  <a:srgbClr val="860000"/>
                </a:solidFill>
                <a:latin typeface="Elephant" panose="02020904090505020303" pitchFamily="18" charset="0"/>
                <a:ea typeface="+mn-ea"/>
                <a:cs typeface="+mn-cs"/>
              </a:rPr>
              <a:t/>
            </a:r>
            <a:br>
              <a:rPr lang="en-US" altLang="zh-TW" sz="4400" kern="0" dirty="0">
                <a:solidFill>
                  <a:srgbClr val="860000"/>
                </a:solidFill>
                <a:latin typeface="Elephant" panose="02020904090505020303" pitchFamily="18" charset="0"/>
                <a:ea typeface="+mn-ea"/>
                <a:cs typeface="+mn-cs"/>
              </a:rPr>
            </a:br>
            <a:r>
              <a:rPr lang="en-US" altLang="zh-TW" sz="4400" kern="0" dirty="0">
                <a:solidFill>
                  <a:srgbClr val="860000"/>
                </a:solidFill>
                <a:latin typeface="Elephant" panose="02020904090505020303" pitchFamily="18" charset="0"/>
                <a:ea typeface="+mn-ea"/>
                <a:cs typeface="+mn-cs"/>
              </a:rPr>
              <a:t>    </a:t>
            </a:r>
            <a:r>
              <a:rPr lang="en-US" altLang="zh-TW" sz="1050" kern="0" dirty="0">
                <a:solidFill>
                  <a:srgbClr val="860000"/>
                </a:solidFill>
                <a:latin typeface="Elephant" panose="02020904090505020303" pitchFamily="18" charset="0"/>
                <a:ea typeface="+mn-ea"/>
                <a:cs typeface="+mn-cs"/>
              </a:rPr>
              <a:t>                                      </a:t>
            </a:r>
            <a:r>
              <a:rPr lang="en-US" altLang="zh-TW" sz="3600" kern="0" dirty="0">
                <a:solidFill>
                  <a:srgbClr val="FF9900"/>
                </a:solidFill>
                <a:ea typeface="+mn-ea"/>
                <a:cs typeface="+mn-cs"/>
              </a:rPr>
              <a:t>(Splatting in the call statement)</a:t>
            </a:r>
          </a:p>
          <a:p>
            <a:pPr marL="95250" indent="0" eaLnBrk="1">
              <a:lnSpc>
                <a:spcPct val="49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11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f(</a:t>
            </a:r>
            <a:r>
              <a:rPr lang="en-US" altLang="en-US" b="1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*a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**kw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): print(</a:t>
            </a:r>
            <a:r>
              <a:rPr lang="en-US" altLang="en-US" b="1" kern="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kern="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kw</a:t>
            </a:r>
            <a:r>
              <a:rPr lang="en-US" altLang="en-US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,sep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="\n")</a:t>
            </a:r>
          </a:p>
          <a:p>
            <a:pPr marL="95250" indent="0" eaLnBrk="1">
              <a:lnSpc>
                <a:spcPct val="5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 eaLnBrk="1">
              <a:lnSpc>
                <a:spcPct val="8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g(</a:t>
            </a:r>
            <a:r>
              <a:rPr lang="en-US" altLang="en-US" b="1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*a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**kw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): f(</a:t>
            </a:r>
            <a:r>
              <a:rPr lang="en-US" altLang="en-US" b="1" kern="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kern="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kw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eaLnBrk="1">
              <a:lnSpc>
                <a:spcPct val="5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 eaLnBrk="1">
              <a:lnSpc>
                <a:spcPct val="8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g(</a:t>
            </a:r>
            <a:r>
              <a:rPr lang="en-US" altLang="en-US" b="1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1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b="1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 3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 4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 5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b="1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6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a=2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b=3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c=5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eaLnBrk="1">
              <a:lnSpc>
                <a:spcPct val="85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b="1" kern="0" dirty="0">
                <a:solidFill>
                  <a:schemeClr val="accent6"/>
                </a:solidFill>
                <a:latin typeface="Lucida Console" panose="020B0609040504020204" pitchFamily="49" charset="0"/>
              </a:rPr>
              <a:t>((1, 2, 3, 4, 5, 6), {'a': 2, 'b': 3, 'c': 5})</a:t>
            </a:r>
          </a:p>
          <a:p>
            <a:pPr marL="95250" indent="0" eaLnBrk="1">
              <a:lnSpc>
                <a:spcPct val="85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{}</a:t>
            </a:r>
          </a:p>
          <a:p>
            <a:pPr marL="95250" indent="0" eaLnBrk="1">
              <a:lnSpc>
                <a:spcPct val="8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gSplat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b="1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*a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**kw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): f(</a:t>
            </a:r>
            <a:r>
              <a:rPr lang="en-US" altLang="en-US" b="1" kern="0" dirty="0">
                <a:solidFill>
                  <a:schemeClr val="accent6"/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b="1" kern="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kern="0" dirty="0" err="1">
                <a:solidFill>
                  <a:srgbClr val="860000"/>
                </a:solidFill>
                <a:latin typeface="Lucida Console" panose="020B0609040504020204" pitchFamily="49" charset="0"/>
              </a:rPr>
              <a:t>kw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eaLnBrk="1">
              <a:lnSpc>
                <a:spcPct val="5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 eaLnBrk="1">
              <a:lnSpc>
                <a:spcPct val="8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gSplat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b="1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1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b="1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 3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 4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 5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b="1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6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a=2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b=3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c=5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eaLnBrk="1">
              <a:lnSpc>
                <a:spcPct val="86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b="1" kern="0" dirty="0">
                <a:solidFill>
                  <a:schemeClr val="accent6"/>
                </a:solidFill>
                <a:latin typeface="Lucida Console" panose="020B0609040504020204" pitchFamily="49" charset="0"/>
              </a:rPr>
              <a:t>(1, 2, 3, 4, 5, 6, {'a': 2, 'b': 3, 'c': 5})</a:t>
            </a:r>
          </a:p>
          <a:p>
            <a:pPr marL="95250" indent="0" eaLnBrk="1">
              <a:lnSpc>
                <a:spcPct val="86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{}</a:t>
            </a:r>
          </a:p>
          <a:p>
            <a:pPr marL="95250" indent="0" eaLnBrk="1">
              <a:lnSpc>
                <a:spcPct val="8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gDoubleSpat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b="1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*a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**kw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): f(</a:t>
            </a:r>
            <a:r>
              <a:rPr lang="en-US" altLang="en-US" b="1" kern="0" dirty="0">
                <a:solidFill>
                  <a:schemeClr val="accent6"/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b="1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**kw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eaLnBrk="1">
              <a:lnSpc>
                <a:spcPct val="5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</a:p>
          <a:p>
            <a:pPr marL="95250" indent="0" eaLnBrk="1">
              <a:lnSpc>
                <a:spcPct val="8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gDoubleSplat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b="1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1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0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000" b="1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3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000" b="1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4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000" b="1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kern="0" dirty="0" smtClean="0">
                <a:solidFill>
                  <a:srgbClr val="2D2DB9"/>
                </a:solidFill>
                <a:latin typeface="Lucida Console" panose="020B0609040504020204" pitchFamily="49" charset="0"/>
              </a:rPr>
              <a:t>5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0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6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0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a=2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0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b=3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0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c=5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eaLnBrk="1">
              <a:lnSpc>
                <a:spcPct val="86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b="1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(1, 2, 3, 4, 5, 6)</a:t>
            </a:r>
          </a:p>
          <a:p>
            <a:pPr marL="95250" indent="0" eaLnBrk="1">
              <a:lnSpc>
                <a:spcPct val="86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b="1" kern="0" dirty="0">
                <a:solidFill>
                  <a:srgbClr val="860000"/>
                </a:solidFill>
                <a:latin typeface="Lucida Console" panose="020B0609040504020204" pitchFamily="49" charset="0"/>
              </a:rPr>
              <a:t>{'a': 2, 'c': 5, 'b': 3}</a:t>
            </a:r>
          </a:p>
          <a:p>
            <a:pPr marL="95250" indent="0" eaLnBrk="1">
              <a:lnSpc>
                <a:spcPct val="8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#</a:t>
            </a:r>
            <a:r>
              <a:rPr lang="en-US" altLang="en-US" kern="0" spc="-20" dirty="0">
                <a:solidFill>
                  <a:srgbClr val="FF0000"/>
                </a:solidFill>
                <a:latin typeface="Lucida Console" panose="020B0609040504020204" pitchFamily="49" charset="0"/>
              </a:rPr>
              <a:t>This</a:t>
            </a:r>
            <a:r>
              <a:rPr lang="en-US" altLang="en-US" sz="2400" kern="0" spc="-2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kern="0" spc="-2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last </a:t>
            </a:r>
            <a:r>
              <a:rPr lang="en-US" altLang="en-US" kern="0" spc="-20" dirty="0">
                <a:solidFill>
                  <a:srgbClr val="FF0000"/>
                </a:solidFill>
                <a:latin typeface="Lucida Console" panose="020B0609040504020204" pitchFamily="49" charset="0"/>
              </a:rPr>
              <a:t>was the one that actually worked</a:t>
            </a:r>
            <a:r>
              <a:rPr lang="en-US" altLang="en-US" kern="0" spc="-2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.</a:t>
            </a:r>
            <a:endParaRPr lang="en-US" altLang="en-US" kern="0" spc="-2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264" y="1406545"/>
            <a:ext cx="940904" cy="5599044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eaLnBrk="1">
              <a:lnSpc>
                <a:spcPct val="49000"/>
              </a:lnSpc>
              <a:spcBef>
                <a:spcPts val="120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11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kern="0"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5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kern="0"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5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</a:p>
          <a:p>
            <a:pPr marL="95250" indent="0" eaLnBrk="1">
              <a:lnSpc>
                <a:spcPct val="85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b="1" kern="0" dirty="0">
              <a:solidFill>
                <a:schemeClr val="accent6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5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b="1" kern="0" dirty="0">
              <a:solidFill>
                <a:srgbClr val="86000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 smtClean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kern="0"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5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kern="0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</a:p>
          <a:p>
            <a:pPr marL="95250" indent="0" eaLnBrk="1">
              <a:lnSpc>
                <a:spcPct val="86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b="1" kern="0" dirty="0">
              <a:solidFill>
                <a:schemeClr val="accent6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6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b="1" kern="0" dirty="0">
              <a:solidFill>
                <a:srgbClr val="86000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endParaRPr lang="en-US" altLang="en-US" kern="0"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5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kern="0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80000"/>
              </a:lnSpc>
              <a:spcBef>
                <a:spcPts val="0"/>
              </a:spcBef>
              <a:buClrTx/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14300" y="1930400"/>
            <a:ext cx="9263380" cy="1651000"/>
            <a:chOff x="114300" y="1930400"/>
            <a:chExt cx="9263380" cy="1651000"/>
          </a:xfrm>
        </p:grpSpPr>
        <p:sp>
          <p:nvSpPr>
            <p:cNvPr id="2" name="Rectangle 1"/>
            <p:cNvSpPr/>
            <p:nvPr/>
          </p:nvSpPr>
          <p:spPr bwMode="auto">
            <a:xfrm>
              <a:off x="939800" y="1930400"/>
              <a:ext cx="8437880" cy="1498600"/>
            </a:xfrm>
            <a:prstGeom prst="rect">
              <a:avLst/>
            </a:prstGeom>
            <a:solidFill>
              <a:srgbClr val="FFFFFF">
                <a:alpha val="76078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114300" y="2870200"/>
              <a:ext cx="812800" cy="711200"/>
            </a:xfrm>
            <a:prstGeom prst="rect">
              <a:avLst/>
            </a:prstGeom>
            <a:solidFill>
              <a:srgbClr val="FFFFFF">
                <a:alpha val="76078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0" y="3429000"/>
            <a:ext cx="9263380" cy="1651000"/>
            <a:chOff x="114300" y="1930400"/>
            <a:chExt cx="9263380" cy="1651000"/>
          </a:xfrm>
        </p:grpSpPr>
        <p:sp>
          <p:nvSpPr>
            <p:cNvPr id="12" name="Rectangle 11"/>
            <p:cNvSpPr/>
            <p:nvPr/>
          </p:nvSpPr>
          <p:spPr bwMode="auto">
            <a:xfrm>
              <a:off x="939800" y="1930400"/>
              <a:ext cx="8437880" cy="1498600"/>
            </a:xfrm>
            <a:prstGeom prst="rect">
              <a:avLst/>
            </a:prstGeom>
            <a:solidFill>
              <a:srgbClr val="FFFFFF">
                <a:alpha val="76078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3" name="Rectangle 12"/>
            <p:cNvSpPr/>
            <p:nvPr/>
          </p:nvSpPr>
          <p:spPr bwMode="auto">
            <a:xfrm>
              <a:off x="114300" y="2870200"/>
              <a:ext cx="812800" cy="711200"/>
            </a:xfrm>
            <a:prstGeom prst="rect">
              <a:avLst/>
            </a:prstGeom>
            <a:solidFill>
              <a:srgbClr val="FFFFFF">
                <a:alpha val="76078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</p:grpSp>
      <p:sp>
        <p:nvSpPr>
          <p:cNvPr id="14" name="Rectangle 13"/>
          <p:cNvSpPr/>
          <p:nvPr/>
        </p:nvSpPr>
        <p:spPr>
          <a:xfrm>
            <a:off x="109329" y="2126974"/>
            <a:ext cx="9501809" cy="100822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95250">
              <a:lnSpc>
                <a:spcPct val="93000"/>
              </a:lnSpc>
              <a:spcAft>
                <a:spcPts val="1200"/>
              </a:spcAft>
              <a:buSzPct val="45000"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3200" dirty="0"/>
              <a:t>But the</a:t>
            </a:r>
            <a:r>
              <a:rPr lang="en-US" altLang="en-US" sz="3200" dirty="0">
                <a:solidFill>
                  <a:srgbClr val="FF0000"/>
                </a:solidFill>
              </a:rPr>
              <a:t> </a:t>
            </a:r>
            <a:r>
              <a:rPr lang="en-US" altLang="en-US" sz="3200" b="1" dirty="0">
                <a:solidFill>
                  <a:srgbClr val="0000FF"/>
                </a:solidFill>
              </a:rPr>
              <a:t>*</a:t>
            </a:r>
            <a:r>
              <a:rPr lang="en-US" altLang="en-US" sz="3200" dirty="0">
                <a:solidFill>
                  <a:srgbClr val="0000FF"/>
                </a:solidFill>
              </a:rPr>
              <a:t> </a:t>
            </a:r>
            <a:r>
              <a:rPr lang="en-US" altLang="en-US" sz="3200" dirty="0"/>
              <a:t>and </a:t>
            </a:r>
            <a:r>
              <a:rPr lang="en-US" altLang="en-US" sz="3200" b="1" dirty="0">
                <a:solidFill>
                  <a:srgbClr val="9B2D00"/>
                </a:solidFill>
              </a:rPr>
              <a:t>**</a:t>
            </a:r>
            <a:r>
              <a:rPr lang="en-US" altLang="en-US" sz="3200" dirty="0"/>
              <a:t> run into trouble when you forward your arguments onward to your own </a:t>
            </a:r>
            <a:r>
              <a:rPr lang="en-US" altLang="en-US" sz="3200" dirty="0" err="1" smtClean="0"/>
              <a:t>callee</a:t>
            </a:r>
            <a:r>
              <a:rPr lang="en-US" altLang="en-US" sz="3200" dirty="0" smtClean="0"/>
              <a:t>.</a:t>
            </a:r>
            <a:endParaRPr lang="en-US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693853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0" dur="500"/>
                                        <p:tgtEl>
                                          <p:spTgt spid="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3" dur="500"/>
                                        <p:tgtEl>
                                          <p:spTgt spid="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Content Placeholder 2"/>
          <p:cNvSpPr>
            <a:spLocks noGrp="1"/>
          </p:cNvSpPr>
          <p:nvPr>
            <p:ph idx="1"/>
          </p:nvPr>
        </p:nvSpPr>
        <p:spPr>
          <a:xfrm>
            <a:off x="292894" y="783920"/>
            <a:ext cx="9144000" cy="6074080"/>
          </a:xfrm>
        </p:spPr>
        <p:txBody>
          <a:bodyPr/>
          <a:lstStyle/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>
                <a:latin typeface="Lucida Console" pitchFamily="49" charset="0"/>
              </a:rPr>
              <a:t>% cat doublesplat.py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>
                <a:latin typeface="Lucida Console" pitchFamily="49" charset="0"/>
              </a:rPr>
              <a:t>def splat(*v):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>
                <a:latin typeface="Lucida Console" pitchFamily="49" charset="0"/>
              </a:rPr>
              <a:t>    print("splat:",v)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1100">
              <a:latin typeface="Lucida Console" pitchFamily="49" charset="0"/>
            </a:endParaRP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>
                <a:latin typeface="Lucida Console" pitchFamily="49" charset="0"/>
              </a:rPr>
              <a:t>def doublesplat(**v):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>
                <a:latin typeface="Lucida Console" pitchFamily="49" charset="0"/>
              </a:rPr>
              <a:t>    print("doublesplat:",v)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1100">
              <a:latin typeface="Lucida Console" pitchFamily="49" charset="0"/>
            </a:endParaRP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>
                <a:latin typeface="Lucida Console" pitchFamily="49" charset="0"/>
              </a:rPr>
              <a:t>d = {"A":65,"B":66,"C":67}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>
                <a:latin typeface="Lucida Console" pitchFamily="49" charset="0"/>
              </a:rPr>
              <a:t>splat(d)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1000">
              <a:latin typeface="Lucida Console" pitchFamily="49" charset="0"/>
            </a:endParaRP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>
                <a:latin typeface="Lucida Console" pitchFamily="49" charset="0"/>
              </a:rPr>
              <a:t>splat(*d)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1100">
              <a:latin typeface="Lucida Console" pitchFamily="49" charset="0"/>
            </a:endParaRP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>
                <a:latin typeface="Lucida Console" pitchFamily="49" charset="0"/>
              </a:rPr>
              <a:t>#splat(**d)# TypeError: splat() 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>
                <a:latin typeface="Lucida Console" pitchFamily="49" charset="0"/>
              </a:rPr>
              <a:t>#            takes 0 positional arguments but 3 were given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1100">
              <a:latin typeface="Lucida Console" pitchFamily="49" charset="0"/>
            </a:endParaRP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>
                <a:latin typeface="Lucida Console" pitchFamily="49" charset="0"/>
              </a:rPr>
              <a:t>#doublesplat(d)# TypeError: doublesplat()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>
                <a:latin typeface="Lucida Console" pitchFamily="49" charset="0"/>
              </a:rPr>
              <a:t>#            takes 0 positional arguments but 1 was given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1000">
              <a:latin typeface="Lucida Console" pitchFamily="49" charset="0"/>
            </a:endParaRP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>
                <a:latin typeface="Lucida Console" pitchFamily="49" charset="0"/>
              </a:rPr>
              <a:t>#doublesplat(*d)# TypeError: doublesplat() 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>
                <a:latin typeface="Lucida Console" pitchFamily="49" charset="0"/>
              </a:rPr>
              <a:t>#            takes 0 positional arguments but 3 were given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1100">
              <a:latin typeface="Lucida Console" pitchFamily="49" charset="0"/>
            </a:endParaRP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>
                <a:latin typeface="Lucida Console" pitchFamily="49" charset="0"/>
              </a:rPr>
              <a:t>doublesplat(**d)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800">
              <a:latin typeface="Lucida Console" pitchFamily="49" charset="0"/>
            </a:endParaRP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>
                <a:latin typeface="Lucida Console" pitchFamily="49" charset="0"/>
              </a:rPr>
              <a:t>% python3 double splat.py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>
                <a:latin typeface="Lucida Console" pitchFamily="49" charset="0"/>
              </a:rPr>
              <a:t>splat: ({'B': 66, 'C': 67, 'A': 65},)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>
                <a:latin typeface="Lucida Console" pitchFamily="49" charset="0"/>
              </a:rPr>
              <a:t>splat: ('B', 'C', 'A')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>
                <a:latin typeface="Lucida Console" pitchFamily="49" charset="0"/>
              </a:rPr>
              <a:t>doublesplat: {'B': 66, 'A': 65, 'C': 67}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292894" y="0"/>
            <a:ext cx="9144000" cy="592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 Parameters: </a:t>
            </a:r>
            <a:r>
              <a:rPr lang="en-US" altLang="zh-TW" sz="4400" b="1" kern="0" dirty="0">
                <a:solidFill>
                  <a:srgbClr val="0000FF"/>
                </a:solidFill>
                <a:latin typeface="Cooper Black" panose="0208090404030B020404" pitchFamily="18" charset="0"/>
              </a:rPr>
              <a:t>*</a:t>
            </a:r>
            <a:r>
              <a:rPr lang="en-US" altLang="zh-TW" sz="4400" kern="0" dirty="0">
                <a:solidFill>
                  <a:srgbClr val="0000FF"/>
                </a:solidFill>
                <a:latin typeface="Elephant" panose="02020904090505020303" pitchFamily="18" charset="0"/>
              </a:rPr>
              <a:t>x</a:t>
            </a:r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 &amp; </a:t>
            </a:r>
            <a:r>
              <a:rPr lang="en-US" altLang="zh-TW" sz="4400" b="1" kern="0" dirty="0">
                <a:solidFill>
                  <a:srgbClr val="9B2D00"/>
                </a:solidFill>
                <a:latin typeface="Cooper Black" panose="0208090404030B020404" pitchFamily="18" charset="0"/>
              </a:rPr>
              <a:t>**</a:t>
            </a:r>
            <a:r>
              <a:rPr lang="en-US" altLang="zh-TW" sz="4400" kern="0" dirty="0">
                <a:solidFill>
                  <a:srgbClr val="9B2D00"/>
                </a:solidFill>
                <a:latin typeface="Elephant" panose="02020904090505020303" pitchFamily="18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602998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Content Placeholder 2"/>
          <p:cNvSpPr>
            <a:spLocks noGrp="1"/>
          </p:cNvSpPr>
          <p:nvPr>
            <p:ph idx="1"/>
          </p:nvPr>
        </p:nvSpPr>
        <p:spPr>
          <a:xfrm>
            <a:off x="292894" y="783920"/>
            <a:ext cx="9144000" cy="6074080"/>
          </a:xfrm>
        </p:spPr>
        <p:txBody>
          <a:bodyPr/>
          <a:lstStyle/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% cat doublesplat.py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7030A0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7030A0"/>
                </a:solidFill>
                <a:latin typeface="Lucida Console" pitchFamily="49" charset="0"/>
              </a:rPr>
              <a:t> splat(*v):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7030A0"/>
                </a:solidFill>
                <a:latin typeface="Lucida Console" pitchFamily="49" charset="0"/>
              </a:rPr>
              <a:t>    print("</a:t>
            </a:r>
            <a:r>
              <a:rPr lang="en-US" altLang="zh-TW" sz="2000" dirty="0" err="1">
                <a:solidFill>
                  <a:srgbClr val="7030A0"/>
                </a:solidFill>
                <a:latin typeface="Lucida Console" pitchFamily="49" charset="0"/>
              </a:rPr>
              <a:t>splat:",v</a:t>
            </a:r>
            <a:r>
              <a:rPr lang="en-US" altLang="zh-TW" sz="2000" dirty="0">
                <a:solidFill>
                  <a:srgbClr val="7030A0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1100" dirty="0">
              <a:solidFill>
                <a:srgbClr val="A6A6A6"/>
              </a:solidFill>
              <a:latin typeface="Lucida Console" pitchFamily="49" charset="0"/>
            </a:endParaRP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FFC000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FFC000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FFC000"/>
                </a:solidFill>
                <a:latin typeface="Lucida Console" pitchFamily="49" charset="0"/>
              </a:rPr>
              <a:t>doublesplat</a:t>
            </a:r>
            <a:r>
              <a:rPr lang="en-US" altLang="zh-TW" sz="2000" dirty="0">
                <a:solidFill>
                  <a:srgbClr val="FFC000"/>
                </a:solidFill>
                <a:latin typeface="Lucida Console" pitchFamily="49" charset="0"/>
              </a:rPr>
              <a:t>(**v):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FFC000"/>
                </a:solidFill>
                <a:latin typeface="Lucida Console" pitchFamily="49" charset="0"/>
              </a:rPr>
              <a:t>    print("</a:t>
            </a:r>
            <a:r>
              <a:rPr lang="en-US" altLang="zh-TW" sz="2000" dirty="0" err="1">
                <a:solidFill>
                  <a:srgbClr val="FFC000"/>
                </a:solidFill>
                <a:latin typeface="Lucida Console" pitchFamily="49" charset="0"/>
              </a:rPr>
              <a:t>doublesplat</a:t>
            </a:r>
            <a:r>
              <a:rPr lang="en-US" altLang="zh-TW" sz="2000" dirty="0">
                <a:solidFill>
                  <a:srgbClr val="FFC000"/>
                </a:solidFill>
                <a:latin typeface="Lucida Console" pitchFamily="49" charset="0"/>
              </a:rPr>
              <a:t>:",v)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1100" dirty="0">
              <a:solidFill>
                <a:srgbClr val="A6A6A6"/>
              </a:solidFill>
              <a:latin typeface="Lucida Console" pitchFamily="49" charset="0"/>
            </a:endParaRP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d = {"A":65,"B":66,"C":67}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splat(d)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1000" dirty="0">
              <a:latin typeface="Lucida Console" pitchFamily="49" charset="0"/>
            </a:endParaRP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splat(*d)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1100" dirty="0">
              <a:latin typeface="Lucida Console" pitchFamily="49" charset="0"/>
            </a:endParaRP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#splat(**d)# 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TypeError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: splat() 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#            takes 0 positional arguments but 3 were given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1100" dirty="0">
              <a:solidFill>
                <a:srgbClr val="A6A6A6"/>
              </a:solidFill>
              <a:latin typeface="Lucida Console" pitchFamily="49" charset="0"/>
            </a:endParaRP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#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doublesplat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(d)# 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TypeError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: 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doublesplat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#            takes 0 positional arguments but 1 was given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1000" dirty="0">
              <a:solidFill>
                <a:srgbClr val="A6A6A6"/>
              </a:solidFill>
              <a:latin typeface="Lucida Console" pitchFamily="49" charset="0"/>
            </a:endParaRP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#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doublesplat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(*d)# 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TypeError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: 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doublesplat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() 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#            takes 0 positional arguments but 3 were given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1100" dirty="0">
              <a:latin typeface="Lucida Console" pitchFamily="49" charset="0"/>
            </a:endParaRP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FFC000"/>
                </a:solidFill>
                <a:latin typeface="Lucida Console" pitchFamily="49" charset="0"/>
              </a:rPr>
              <a:t>doublesplat</a:t>
            </a:r>
            <a:r>
              <a:rPr lang="en-US" altLang="zh-TW" sz="2000" dirty="0">
                <a:solidFill>
                  <a:srgbClr val="FFC000"/>
                </a:solidFill>
                <a:latin typeface="Lucida Console" pitchFamily="49" charset="0"/>
              </a:rPr>
              <a:t>(**d)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800" dirty="0">
              <a:solidFill>
                <a:srgbClr val="A6A6A6"/>
              </a:solidFill>
              <a:latin typeface="Lucida Console" pitchFamily="49" charset="0"/>
            </a:endParaRP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% python3 double splat.py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splat: ({'B': 66, 'C': 67, 'A': 65},)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splat: ('B', 'C', 'A')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FFC000"/>
                </a:solidFill>
                <a:latin typeface="Lucida Console" pitchFamily="49" charset="0"/>
              </a:rPr>
              <a:t>doublesplat</a:t>
            </a:r>
            <a:r>
              <a:rPr lang="en-US" altLang="zh-TW" sz="2000" dirty="0">
                <a:solidFill>
                  <a:srgbClr val="FFC000"/>
                </a:solidFill>
                <a:latin typeface="Lucida Console" pitchFamily="49" charset="0"/>
              </a:rPr>
              <a:t>: {'B': 66, 'A': 65, 'C': 67}</a:t>
            </a:r>
          </a:p>
        </p:txBody>
      </p:sp>
      <p:sp>
        <p:nvSpPr>
          <p:cNvPr id="9" name="Rectangular Callout 8"/>
          <p:cNvSpPr/>
          <p:nvPr/>
        </p:nvSpPr>
        <p:spPr bwMode="auto">
          <a:xfrm>
            <a:off x="6007894" y="860120"/>
            <a:ext cx="3429000" cy="1066800"/>
          </a:xfrm>
          <a:prstGeom prst="wedgeRectCallout">
            <a:avLst>
              <a:gd name="adj1" fmla="val -152180"/>
              <a:gd name="adj2" fmla="val 428700"/>
            </a:avLst>
          </a:prstGeom>
          <a:solidFill>
            <a:srgbClr val="2D2DB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chemeClr val="bg1"/>
                </a:solidFill>
                <a:latin typeface="Times New Roman" charset="0"/>
              </a:rPr>
              <a:t>Without splatting, it became a tuple.</a:t>
            </a:r>
            <a:endParaRPr lang="zh-TW" altLang="en-US" sz="3200" dirty="0">
              <a:solidFill>
                <a:schemeClr val="bg1"/>
              </a:solidFill>
              <a:latin typeface="Times New Roman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 bwMode="auto">
          <a:xfrm flipV="1">
            <a:off x="1588294" y="1469720"/>
            <a:ext cx="4343400" cy="12192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2D2DB9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15" name="Straight Arrow Connector 14"/>
          <p:cNvCxnSpPr/>
          <p:nvPr/>
        </p:nvCxnSpPr>
        <p:spPr bwMode="auto">
          <a:xfrm flipV="1">
            <a:off x="1778794" y="2917522"/>
            <a:ext cx="4152900" cy="22315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sp>
        <p:nvSpPr>
          <p:cNvPr id="16" name="Rectangular Callout 15"/>
          <p:cNvSpPr/>
          <p:nvPr/>
        </p:nvSpPr>
        <p:spPr bwMode="auto">
          <a:xfrm>
            <a:off x="6007894" y="2307920"/>
            <a:ext cx="3429000" cy="1066800"/>
          </a:xfrm>
          <a:prstGeom prst="wedgeRectCallout">
            <a:avLst>
              <a:gd name="adj1" fmla="val -124561"/>
              <a:gd name="adj2" fmla="val 323088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chemeClr val="bg1"/>
                </a:solidFill>
                <a:latin typeface="Times New Roman" charset="0"/>
              </a:rPr>
              <a:t>With splatting, </a:t>
            </a:r>
            <a:br>
              <a:rPr lang="en-US" altLang="zh-TW" sz="3200" dirty="0">
                <a:solidFill>
                  <a:schemeClr val="bg1"/>
                </a:solidFill>
                <a:latin typeface="Times New Roman" charset="0"/>
              </a:rPr>
            </a:br>
            <a:r>
              <a:rPr lang="en-US" altLang="zh-TW" sz="3200" dirty="0">
                <a:solidFill>
                  <a:schemeClr val="bg1"/>
                </a:solidFill>
                <a:latin typeface="Times New Roman" charset="0"/>
              </a:rPr>
              <a:t>it got the keys.</a:t>
            </a:r>
            <a:endParaRPr lang="zh-TW" altLang="en-US" sz="3200" dirty="0">
              <a:solidFill>
                <a:schemeClr val="bg1"/>
              </a:solidFill>
              <a:latin typeface="Times New Roman" charset="0"/>
            </a:endParaRPr>
          </a:p>
        </p:txBody>
      </p:sp>
      <p:cxnSp>
        <p:nvCxnSpPr>
          <p:cNvPr id="3" name="Straight Arrow Connector 2"/>
          <p:cNvCxnSpPr/>
          <p:nvPr/>
        </p:nvCxnSpPr>
        <p:spPr bwMode="auto">
          <a:xfrm flipV="1">
            <a:off x="2731294" y="4365323"/>
            <a:ext cx="3200400" cy="114299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sp>
        <p:nvSpPr>
          <p:cNvPr id="4" name="Rectangular Callout 3"/>
          <p:cNvSpPr/>
          <p:nvPr/>
        </p:nvSpPr>
        <p:spPr bwMode="auto">
          <a:xfrm>
            <a:off x="6007894" y="3755720"/>
            <a:ext cx="3429000" cy="1066800"/>
          </a:xfrm>
          <a:prstGeom prst="wedgeRectCallout">
            <a:avLst>
              <a:gd name="adj1" fmla="val -83609"/>
              <a:gd name="adj2" fmla="val 205231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000" dirty="0">
                <a:solidFill>
                  <a:schemeClr val="bg1"/>
                </a:solidFill>
                <a:latin typeface="Times New Roman" charset="0"/>
              </a:rPr>
              <a:t>With</a:t>
            </a:r>
            <a:r>
              <a:rPr lang="en-US" altLang="zh-TW" sz="2000" dirty="0">
                <a:solidFill>
                  <a:schemeClr val="bg1"/>
                </a:solidFill>
                <a:latin typeface="Times New Roman" charset="0"/>
              </a:rPr>
              <a:t> </a:t>
            </a:r>
            <a:r>
              <a:rPr lang="en-US" altLang="zh-TW" sz="3000" dirty="0">
                <a:solidFill>
                  <a:schemeClr val="bg1"/>
                </a:solidFill>
                <a:latin typeface="Times New Roman" charset="0"/>
              </a:rPr>
              <a:t>double</a:t>
            </a:r>
            <a:r>
              <a:rPr lang="en-US" altLang="zh-TW" sz="2000" dirty="0">
                <a:solidFill>
                  <a:schemeClr val="bg1"/>
                </a:solidFill>
                <a:latin typeface="Times New Roman" charset="0"/>
              </a:rPr>
              <a:t> </a:t>
            </a:r>
            <a:r>
              <a:rPr lang="en-US" altLang="zh-TW" sz="3000" dirty="0">
                <a:solidFill>
                  <a:schemeClr val="bg1"/>
                </a:solidFill>
                <a:latin typeface="Times New Roman" charset="0"/>
              </a:rPr>
              <a:t>splatting, </a:t>
            </a:r>
            <a:br>
              <a:rPr lang="en-US" altLang="zh-TW" sz="3000" dirty="0">
                <a:solidFill>
                  <a:schemeClr val="bg1"/>
                </a:solidFill>
                <a:latin typeface="Times New Roman" charset="0"/>
              </a:rPr>
            </a:br>
            <a:r>
              <a:rPr lang="en-US" altLang="zh-TW" sz="3000" dirty="0">
                <a:solidFill>
                  <a:schemeClr val="bg1"/>
                </a:solidFill>
                <a:latin typeface="Times New Roman" charset="0"/>
              </a:rPr>
              <a:t>it worked correctly.</a:t>
            </a:r>
            <a:endParaRPr lang="zh-TW" altLang="en-US" sz="3000" dirty="0">
              <a:solidFill>
                <a:schemeClr val="bg1"/>
              </a:solidFill>
              <a:latin typeface="Times New Roman" charset="0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 bwMode="auto">
          <a:xfrm>
            <a:off x="-438943" y="0"/>
            <a:ext cx="10607675" cy="709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Functions Calls:</a:t>
            </a:r>
            <a:r>
              <a:rPr lang="en-US" altLang="zh-TW" sz="4000" kern="0" dirty="0">
                <a:solidFill>
                  <a:srgbClr val="0070C0"/>
                </a:solidFill>
              </a:rPr>
              <a:t> </a:t>
            </a:r>
            <a:r>
              <a:rPr lang="en-US" altLang="zh-TW" sz="4400" kern="0" dirty="0" err="1">
                <a:solidFill>
                  <a:srgbClr val="0070C0"/>
                </a:solidFill>
                <a:latin typeface="Elephant" panose="02020904090505020303" pitchFamily="18" charset="0"/>
              </a:rPr>
              <a:t>dict</a:t>
            </a:r>
            <a:r>
              <a:rPr lang="en-US" altLang="zh-TW" sz="4000" kern="0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splat</a:t>
            </a:r>
            <a:r>
              <a:rPr lang="en-US" altLang="zh-TW" sz="4400" kern="0" dirty="0">
                <a:solidFill>
                  <a:srgbClr val="0070C0"/>
                </a:solidFill>
              </a:rPr>
              <a:t> </a:t>
            </a:r>
            <a:r>
              <a:rPr lang="en-US" altLang="zh-TW" sz="4400" kern="0" dirty="0" smtClean="0">
                <a:solidFill>
                  <a:srgbClr val="FF0000"/>
                </a:solidFill>
              </a:rPr>
              <a:t>**</a:t>
            </a:r>
            <a:endParaRPr lang="en-US" altLang="zh-TW" sz="4400" kern="0" dirty="0">
              <a:solidFill>
                <a:srgbClr val="002060"/>
              </a:solidFill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117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6" grpId="0" animBg="1"/>
      <p:bldP spid="4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Content Placeholder 2"/>
          <p:cNvSpPr>
            <a:spLocks noGrp="1"/>
          </p:cNvSpPr>
          <p:nvPr>
            <p:ph idx="1"/>
          </p:nvPr>
        </p:nvSpPr>
        <p:spPr>
          <a:xfrm>
            <a:off x="292894" y="783920"/>
            <a:ext cx="9144000" cy="6074080"/>
          </a:xfrm>
        </p:spPr>
        <p:txBody>
          <a:bodyPr/>
          <a:lstStyle/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% cat doublesplat.py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7030A0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7030A0"/>
                </a:solidFill>
                <a:latin typeface="Lucida Console" pitchFamily="49" charset="0"/>
              </a:rPr>
              <a:t> splat(*v):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7030A0"/>
                </a:solidFill>
                <a:latin typeface="Lucida Console" pitchFamily="49" charset="0"/>
              </a:rPr>
              <a:t>    print("</a:t>
            </a:r>
            <a:r>
              <a:rPr lang="en-US" altLang="zh-TW" sz="2000" dirty="0" err="1">
                <a:solidFill>
                  <a:srgbClr val="7030A0"/>
                </a:solidFill>
                <a:latin typeface="Lucida Console" pitchFamily="49" charset="0"/>
              </a:rPr>
              <a:t>splat:",v</a:t>
            </a:r>
            <a:r>
              <a:rPr lang="en-US" altLang="zh-TW" sz="2000" dirty="0">
                <a:solidFill>
                  <a:srgbClr val="7030A0"/>
                </a:solidFill>
                <a:latin typeface="Lucida Console" pitchFamily="49" charset="0"/>
              </a:rPr>
              <a:t>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1100" dirty="0">
              <a:solidFill>
                <a:srgbClr val="A6A6A6"/>
              </a:solidFill>
              <a:latin typeface="Lucida Console" pitchFamily="49" charset="0"/>
            </a:endParaRP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FFC000"/>
                </a:solidFill>
                <a:latin typeface="Lucida Console" pitchFamily="49" charset="0"/>
              </a:rPr>
              <a:t>def</a:t>
            </a:r>
            <a:r>
              <a:rPr lang="en-US" altLang="zh-TW" sz="2000" dirty="0">
                <a:solidFill>
                  <a:srgbClr val="FFC000"/>
                </a:solidFill>
                <a:latin typeface="Lucida Console" pitchFamily="49" charset="0"/>
              </a:rPr>
              <a:t> </a:t>
            </a:r>
            <a:r>
              <a:rPr lang="en-US" altLang="zh-TW" sz="2000" dirty="0" err="1">
                <a:solidFill>
                  <a:srgbClr val="FFC000"/>
                </a:solidFill>
                <a:latin typeface="Lucida Console" pitchFamily="49" charset="0"/>
              </a:rPr>
              <a:t>doublesplat</a:t>
            </a:r>
            <a:r>
              <a:rPr lang="en-US" altLang="zh-TW" sz="2000" dirty="0">
                <a:solidFill>
                  <a:srgbClr val="FFC000"/>
                </a:solidFill>
                <a:latin typeface="Lucida Console" pitchFamily="49" charset="0"/>
              </a:rPr>
              <a:t>(**v):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FFC000"/>
                </a:solidFill>
                <a:latin typeface="Lucida Console" pitchFamily="49" charset="0"/>
              </a:rPr>
              <a:t>    print("</a:t>
            </a:r>
            <a:r>
              <a:rPr lang="en-US" altLang="zh-TW" sz="2000" dirty="0" err="1">
                <a:solidFill>
                  <a:srgbClr val="FFC000"/>
                </a:solidFill>
                <a:latin typeface="Lucida Console" pitchFamily="49" charset="0"/>
              </a:rPr>
              <a:t>doublesplat</a:t>
            </a:r>
            <a:r>
              <a:rPr lang="en-US" altLang="zh-TW" sz="2000" dirty="0">
                <a:solidFill>
                  <a:srgbClr val="FFC000"/>
                </a:solidFill>
                <a:latin typeface="Lucida Console" pitchFamily="49" charset="0"/>
              </a:rPr>
              <a:t>:",v)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1100" dirty="0">
              <a:solidFill>
                <a:srgbClr val="A6A6A6"/>
              </a:solidFill>
              <a:latin typeface="Lucida Console" pitchFamily="49" charset="0"/>
            </a:endParaRP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d = {"A":65,"B":66,"C":67}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splat(d)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1000" dirty="0">
              <a:latin typeface="Lucida Console" pitchFamily="49" charset="0"/>
            </a:endParaRP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splat(*d)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1100" dirty="0">
              <a:latin typeface="Lucida Console" pitchFamily="49" charset="0"/>
            </a:endParaRP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#splat(**d)# 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TypeError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: splat() 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#            takes 0 positional arguments but 3 were given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1100" dirty="0">
              <a:solidFill>
                <a:srgbClr val="A6A6A6"/>
              </a:solidFill>
              <a:latin typeface="Lucida Console" pitchFamily="49" charset="0"/>
            </a:endParaRP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#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doublesplat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(d)# 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TypeError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: 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doublesplat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()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#            takes 0 positional arguments but 1 was given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1000" dirty="0">
              <a:solidFill>
                <a:srgbClr val="A6A6A6"/>
              </a:solidFill>
              <a:latin typeface="Lucida Console" pitchFamily="49" charset="0"/>
            </a:endParaRP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#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doublesplat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(*d)# 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TypeError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: </a:t>
            </a:r>
            <a:r>
              <a:rPr lang="en-US" altLang="zh-TW" sz="2000" dirty="0" err="1">
                <a:solidFill>
                  <a:srgbClr val="A6A6A6"/>
                </a:solidFill>
                <a:latin typeface="Lucida Console" pitchFamily="49" charset="0"/>
              </a:rPr>
              <a:t>doublesplat</a:t>
            </a: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() 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#            takes 0 positional arguments but 3 were given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1100" dirty="0">
              <a:latin typeface="Lucida Console" pitchFamily="49" charset="0"/>
            </a:endParaRP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FFC000"/>
                </a:solidFill>
                <a:latin typeface="Lucida Console" pitchFamily="49" charset="0"/>
              </a:rPr>
              <a:t>doublesplat</a:t>
            </a:r>
            <a:r>
              <a:rPr lang="en-US" altLang="zh-TW" sz="2000" dirty="0">
                <a:solidFill>
                  <a:srgbClr val="FFC000"/>
                </a:solidFill>
                <a:latin typeface="Lucida Console" pitchFamily="49" charset="0"/>
              </a:rPr>
              <a:t>(**d)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endParaRPr lang="en-US" altLang="zh-TW" sz="800" dirty="0">
              <a:solidFill>
                <a:srgbClr val="A6A6A6"/>
              </a:solidFill>
              <a:latin typeface="Lucida Console" pitchFamily="49" charset="0"/>
            </a:endParaRP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A6A6A6"/>
                </a:solidFill>
                <a:latin typeface="Lucida Console" pitchFamily="49" charset="0"/>
              </a:rPr>
              <a:t>% python3 double splat.py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chemeClr val="accent2"/>
                </a:solidFill>
                <a:latin typeface="Lucida Console" pitchFamily="49" charset="0"/>
              </a:rPr>
              <a:t>splat: ({'B': 66, 'C': 67, 'A': 65},)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>
                <a:solidFill>
                  <a:srgbClr val="FF0000"/>
                </a:solidFill>
                <a:latin typeface="Lucida Console" pitchFamily="49" charset="0"/>
              </a:rPr>
              <a:t>splat: ('B', 'C', 'A')</a:t>
            </a:r>
          </a:p>
          <a:p>
            <a:pPr marL="0" indent="0">
              <a:lnSpc>
                <a:spcPct val="85000"/>
              </a:lnSpc>
              <a:spcBef>
                <a:spcPct val="0"/>
              </a:spcBef>
              <a:buNone/>
            </a:pPr>
            <a:r>
              <a:rPr lang="en-US" altLang="zh-TW" sz="2000" dirty="0" err="1">
                <a:solidFill>
                  <a:srgbClr val="FFC000"/>
                </a:solidFill>
                <a:latin typeface="Lucida Console" pitchFamily="49" charset="0"/>
              </a:rPr>
              <a:t>doublesplat</a:t>
            </a:r>
            <a:r>
              <a:rPr lang="en-US" altLang="zh-TW" sz="2000" dirty="0">
                <a:solidFill>
                  <a:srgbClr val="FFC000"/>
                </a:solidFill>
                <a:latin typeface="Lucida Console" pitchFamily="49" charset="0"/>
              </a:rPr>
              <a:t>: {'B': 66, 'A': 65, 'C': 67}</a:t>
            </a:r>
          </a:p>
        </p:txBody>
      </p:sp>
      <p:sp>
        <p:nvSpPr>
          <p:cNvPr id="4" name="Rectangular Callout 3"/>
          <p:cNvSpPr/>
          <p:nvPr/>
        </p:nvSpPr>
        <p:spPr bwMode="auto">
          <a:xfrm>
            <a:off x="5474494" y="2231720"/>
            <a:ext cx="3429000" cy="1066800"/>
          </a:xfrm>
          <a:prstGeom prst="wedgeRectCallout">
            <a:avLst>
              <a:gd name="adj1" fmla="val -167222"/>
              <a:gd name="adj2" fmla="val 31249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2D2DB9"/>
                </a:solidFill>
                <a:latin typeface="Times New Roman" charset="0"/>
              </a:rPr>
              <a:t>A function call with splatting.</a:t>
            </a:r>
            <a:endParaRPr lang="zh-TW" altLang="en-US" sz="3200" dirty="0">
              <a:solidFill>
                <a:srgbClr val="2D2DB9"/>
              </a:solidFill>
              <a:latin typeface="Times New Roman" charset="0"/>
            </a:endParaRPr>
          </a:p>
        </p:txBody>
      </p:sp>
      <p:sp>
        <p:nvSpPr>
          <p:cNvPr id="6" name="Rectangular Callout 5"/>
          <p:cNvSpPr/>
          <p:nvPr/>
        </p:nvSpPr>
        <p:spPr bwMode="auto">
          <a:xfrm>
            <a:off x="5474494" y="3755720"/>
            <a:ext cx="3429000" cy="1066800"/>
          </a:xfrm>
          <a:prstGeom prst="wedgeRectCallout">
            <a:avLst>
              <a:gd name="adj1" fmla="val -136943"/>
              <a:gd name="adj2" fmla="val 102679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2D2DB9"/>
                </a:solidFill>
                <a:latin typeface="Times New Roman" charset="0"/>
              </a:rPr>
              <a:t>A function call with double splatting.</a:t>
            </a:r>
            <a:endParaRPr lang="zh-TW" altLang="en-US" sz="3200" dirty="0">
              <a:solidFill>
                <a:srgbClr val="2D2DB9"/>
              </a:solidFill>
              <a:latin typeface="Times New Roman" charset="0"/>
            </a:endParaRPr>
          </a:p>
        </p:txBody>
      </p:sp>
      <p:sp>
        <p:nvSpPr>
          <p:cNvPr id="7" name="Rectangular Callout 6"/>
          <p:cNvSpPr/>
          <p:nvPr/>
        </p:nvSpPr>
        <p:spPr bwMode="auto">
          <a:xfrm>
            <a:off x="5474494" y="707720"/>
            <a:ext cx="3429000" cy="1066800"/>
          </a:xfrm>
          <a:prstGeom prst="wedgeRectCallout">
            <a:avLst>
              <a:gd name="adj1" fmla="val -172777"/>
              <a:gd name="adj2" fmla="val 137500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2D2DB9"/>
                </a:solidFill>
                <a:latin typeface="Times New Roman" charset="0"/>
              </a:rPr>
              <a:t>A function call without splatting.</a:t>
            </a:r>
            <a:endParaRPr lang="zh-TW" altLang="en-US" sz="3200" dirty="0">
              <a:solidFill>
                <a:srgbClr val="2D2DB9"/>
              </a:solidFill>
              <a:latin typeface="Times New Roman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 bwMode="auto">
          <a:xfrm>
            <a:off x="-438943" y="0"/>
            <a:ext cx="10607675" cy="709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Functions Calls:</a:t>
            </a:r>
            <a:r>
              <a:rPr lang="en-US" altLang="zh-TW" sz="4000" kern="0" dirty="0">
                <a:solidFill>
                  <a:srgbClr val="0070C0"/>
                </a:solidFill>
              </a:rPr>
              <a:t> </a:t>
            </a:r>
            <a:r>
              <a:rPr lang="en-US" altLang="zh-TW" sz="4400" kern="0" dirty="0" err="1">
                <a:solidFill>
                  <a:srgbClr val="0070C0"/>
                </a:solidFill>
                <a:latin typeface="Elephant" panose="02020904090505020303" pitchFamily="18" charset="0"/>
              </a:rPr>
              <a:t>dict</a:t>
            </a:r>
            <a:r>
              <a:rPr lang="en-US" altLang="zh-TW" sz="4000" kern="0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splat</a:t>
            </a:r>
            <a:r>
              <a:rPr lang="en-US" altLang="zh-TW" sz="4400" kern="0" dirty="0">
                <a:solidFill>
                  <a:srgbClr val="0070C0"/>
                </a:solidFill>
              </a:rPr>
              <a:t> </a:t>
            </a:r>
            <a:r>
              <a:rPr lang="en-US" altLang="zh-TW" sz="4400" kern="0" dirty="0" smtClean="0">
                <a:solidFill>
                  <a:srgbClr val="FF0000"/>
                </a:solidFill>
              </a:rPr>
              <a:t>**</a:t>
            </a:r>
            <a:endParaRPr lang="en-US" altLang="zh-TW" sz="4400" kern="0" dirty="0">
              <a:solidFill>
                <a:srgbClr val="002060"/>
              </a:solidFill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41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 bwMode="auto">
          <a:xfrm>
            <a:off x="-438943" y="0"/>
            <a:ext cx="10607675" cy="709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Calling print with</a:t>
            </a:r>
            <a:r>
              <a:rPr lang="en-US" altLang="zh-TW" sz="4000" kern="0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splats of lists</a:t>
            </a:r>
            <a:endParaRPr lang="en-US" altLang="zh-TW" sz="4400" kern="0" dirty="0">
              <a:solidFill>
                <a:srgbClr val="0070C0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92894" y="739036"/>
            <a:ext cx="9144000" cy="6118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84000"/>
              </a:lnSpc>
              <a:spcBef>
                <a:spcPts val="0"/>
              </a:spcBef>
              <a:buClrTx/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x=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1,2.0,'three'</a:t>
            </a:r>
            <a:r>
              <a:rPr lang="en-US" altLang="zh-TW" sz="28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]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1, 2.0, 'three'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]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zh-TW" sz="28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#Splat</a:t>
            </a: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339933"/>
                </a:solidFill>
                <a:latin typeface="Lucida Console" panose="020B0609040504020204" pitchFamily="49" charset="0"/>
              </a:rPr>
              <a:t>list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get elements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1 2.0 three</a:t>
            </a:r>
            <a:endParaRPr lang="en-US" altLang="zh-TW" sz="28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zh-TW" sz="2800" b="1" dirty="0">
                <a:solidFill>
                  <a:schemeClr val="accent2"/>
                </a:solidFill>
                <a:latin typeface="Lucida Console" panose="020B0609040504020204" pitchFamily="49" charset="0"/>
              </a:rPr>
              <a:t>**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#Can’t double splat a </a:t>
            </a:r>
            <a:r>
              <a:rPr lang="en-US" altLang="zh-TW" sz="2800" dirty="0">
                <a:solidFill>
                  <a:srgbClr val="339933"/>
                </a:solidFill>
                <a:latin typeface="Lucida Console" panose="020B0609040504020204" pitchFamily="49" charset="0"/>
              </a:rPr>
              <a:t>list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solidFill>
                  <a:srgbClr val="E89898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zh-TW" sz="2800" dirty="0">
                <a:solidFill>
                  <a:srgbClr val="E89898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E89898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zh-TW" sz="2800" dirty="0" err="1">
                <a:solidFill>
                  <a:srgbClr val="E89898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2800" dirty="0">
                <a:solidFill>
                  <a:srgbClr val="E89898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solidFill>
                  <a:srgbClr val="E89898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zh-TW" sz="2800" dirty="0">
                <a:solidFill>
                  <a:srgbClr val="E89898"/>
                </a:solidFill>
                <a:latin typeface="Lucida Console" panose="020B0609040504020204" pitchFamily="49" charset="0"/>
              </a:rPr>
              <a:t>: print() argument after ** must be a mapping, not list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Rectangular Callout 5"/>
          <p:cNvSpPr/>
          <p:nvPr/>
        </p:nvSpPr>
        <p:spPr bwMode="auto">
          <a:xfrm>
            <a:off x="5474494" y="2231136"/>
            <a:ext cx="3429000" cy="1066800"/>
          </a:xfrm>
          <a:prstGeom prst="wedgeRectCallout">
            <a:avLst>
              <a:gd name="adj1" fmla="val -129897"/>
              <a:gd name="adj2" fmla="val 53436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2D2DB9"/>
                </a:solidFill>
                <a:latin typeface="Times New Roman" charset="0"/>
              </a:rPr>
              <a:t>A function call with splatting.</a:t>
            </a:r>
            <a:endParaRPr lang="zh-TW" altLang="en-US" sz="3200" dirty="0">
              <a:solidFill>
                <a:srgbClr val="2D2DB9"/>
              </a:solidFill>
              <a:latin typeface="Times New Roman" charset="0"/>
            </a:endParaRPr>
          </a:p>
        </p:txBody>
      </p:sp>
      <p:sp>
        <p:nvSpPr>
          <p:cNvPr id="7" name="Rectangular Callout 6"/>
          <p:cNvSpPr/>
          <p:nvPr/>
        </p:nvSpPr>
        <p:spPr bwMode="auto">
          <a:xfrm>
            <a:off x="5474494" y="3758184"/>
            <a:ext cx="3429000" cy="1066800"/>
          </a:xfrm>
          <a:prstGeom prst="wedgeRectCallout">
            <a:avLst>
              <a:gd name="adj1" fmla="val -124515"/>
              <a:gd name="adj2" fmla="val 4488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2D2DB9"/>
                </a:solidFill>
                <a:latin typeface="Times New Roman" charset="0"/>
              </a:rPr>
              <a:t>A function call with double splatting.</a:t>
            </a:r>
            <a:endParaRPr lang="zh-TW" altLang="en-US" sz="3200" dirty="0">
              <a:solidFill>
                <a:srgbClr val="2D2DB9"/>
              </a:solidFill>
              <a:latin typeface="Times New Roman" charset="0"/>
            </a:endParaRPr>
          </a:p>
        </p:txBody>
      </p:sp>
      <p:sp>
        <p:nvSpPr>
          <p:cNvPr id="8" name="Rectangular Callout 7"/>
          <p:cNvSpPr/>
          <p:nvPr/>
        </p:nvSpPr>
        <p:spPr bwMode="auto">
          <a:xfrm>
            <a:off x="5474494" y="704088"/>
            <a:ext cx="3429000" cy="1066800"/>
          </a:xfrm>
          <a:prstGeom prst="wedgeRectCallout">
            <a:avLst>
              <a:gd name="adj1" fmla="val -135555"/>
              <a:gd name="adj2" fmla="val 72321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2D2DB9"/>
                </a:solidFill>
                <a:latin typeface="Times New Roman" charset="0"/>
              </a:rPr>
              <a:t>A function call without splatting.</a:t>
            </a:r>
            <a:endParaRPr lang="zh-TW" altLang="en-US" sz="3200" dirty="0">
              <a:solidFill>
                <a:srgbClr val="2D2DB9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419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92894" y="739036"/>
            <a:ext cx="9144000" cy="6043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 y=</a:t>
            </a:r>
            <a:r>
              <a:rPr lang="en-US" altLang="zh-TW" sz="2800" dirty="0">
                <a:solidFill>
                  <a:srgbClr val="00B0F0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"apple":"</a:t>
            </a:r>
            <a:r>
              <a:rPr lang="zh-TW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蘋果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",</a:t>
            </a:r>
            <a:b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</a:b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    "banana":"</a:t>
            </a:r>
            <a:r>
              <a:rPr lang="zh-TW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香蕉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","cherry":"</a:t>
            </a:r>
            <a:r>
              <a:rPr lang="zh-TW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櫻桃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"</a:t>
            </a:r>
            <a:r>
              <a:rPr lang="en-US" altLang="zh-TW" sz="28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}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{'apple': '</a:t>
            </a:r>
            <a:r>
              <a:rPr lang="zh-TW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蘋果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', 'banana': '</a:t>
            </a:r>
            <a:r>
              <a:rPr lang="zh-TW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香蕉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', 'cherry': '</a:t>
            </a:r>
            <a:r>
              <a:rPr lang="zh-TW" altLang="en-US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櫻桃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'}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zh-TW" sz="28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#Splat</a:t>
            </a: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00B0F0"/>
                </a:solidFill>
                <a:latin typeface="Lucida Console" panose="020B0609040504020204" pitchFamily="49" charset="0"/>
              </a:rPr>
              <a:t>dictionary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get</a:t>
            </a: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keys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apple banana cherry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zh-TW" sz="2800" b="1" dirty="0">
                <a:solidFill>
                  <a:srgbClr val="00B0F0"/>
                </a:solidFill>
                <a:latin typeface="Lucida Console" panose="020B0609040504020204" pitchFamily="49" charset="0"/>
              </a:rPr>
              <a:t>**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#Can’t double splat a </a:t>
            </a:r>
            <a:r>
              <a:rPr lang="en-US" altLang="zh-TW" sz="28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dict</a:t>
            </a:r>
            <a:endParaRPr lang="en-US" altLang="zh-TW" sz="2800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solidFill>
                  <a:srgbClr val="E89898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zh-TW" sz="2800" dirty="0">
                <a:solidFill>
                  <a:srgbClr val="E89898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E89898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zh-TW" sz="2800" dirty="0" err="1">
                <a:solidFill>
                  <a:srgbClr val="E89898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2800" dirty="0">
                <a:solidFill>
                  <a:srgbClr val="E89898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800" dirty="0" err="1">
                <a:solidFill>
                  <a:srgbClr val="E89898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zh-TW" sz="2800" dirty="0">
                <a:solidFill>
                  <a:srgbClr val="E89898"/>
                </a:solidFill>
                <a:latin typeface="Lucida Console" panose="020B0609040504020204" pitchFamily="49" charset="0"/>
              </a:rPr>
              <a:t>: 'apple' is an invalid keyword argument for this function</a:t>
            </a:r>
          </a:p>
          <a:p>
            <a:pPr marL="0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 bwMode="auto">
          <a:xfrm>
            <a:off x="-438943" y="0"/>
            <a:ext cx="10607675" cy="709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Calling print with</a:t>
            </a:r>
            <a:r>
              <a:rPr lang="en-US" altLang="zh-TW" sz="4000" kern="0" dirty="0">
                <a:solidFill>
                  <a:srgbClr val="0070C0"/>
                </a:solidFill>
                <a:latin typeface="Elephant" panose="02020904090505020303" pitchFamily="18" charset="0"/>
              </a:rPr>
              <a:t> </a:t>
            </a:r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splats of </a:t>
            </a:r>
            <a:r>
              <a:rPr lang="en-US" altLang="zh-TW" sz="4400" kern="0" dirty="0" err="1">
                <a:solidFill>
                  <a:srgbClr val="0070C0"/>
                </a:solidFill>
                <a:latin typeface="Elephant" panose="02020904090505020303" pitchFamily="18" charset="0"/>
              </a:rPr>
              <a:t>dicts</a:t>
            </a:r>
            <a:endParaRPr lang="en-US" altLang="zh-TW" sz="4400" kern="0" dirty="0">
              <a:solidFill>
                <a:srgbClr val="0070C0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92100" y="1695174"/>
            <a:ext cx="9144000" cy="373948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tIns="274320" bIns="274320">
            <a:spAutoFit/>
          </a:bodyPr>
          <a:lstStyle/>
          <a:p>
            <a:pPr algn="ctr">
              <a:lnSpc>
                <a:spcPct val="75000"/>
              </a:lnSpc>
              <a:spcBef>
                <a:spcPts val="600"/>
              </a:spcBef>
            </a:pPr>
            <a:r>
              <a:rPr lang="en-US" altLang="zh-TW" sz="7200" kern="0" dirty="0">
                <a:solidFill>
                  <a:srgbClr val="FFFF00"/>
                </a:solidFill>
                <a:latin typeface="Elephant" panose="02020904090505020303" pitchFamily="18" charset="0"/>
              </a:rPr>
              <a:t>Splat </a:t>
            </a:r>
            <a:r>
              <a:rPr lang="en-US" altLang="zh-TW" sz="7200" kern="0" dirty="0" smtClean="0">
                <a:solidFill>
                  <a:srgbClr val="FFFF00"/>
                </a:solidFill>
                <a:latin typeface="Elephant" panose="02020904090505020303" pitchFamily="18" charset="0"/>
              </a:rPr>
              <a:t>is also useful </a:t>
            </a:r>
            <a:r>
              <a:rPr lang="en-US" altLang="zh-TW" sz="7200" kern="0" dirty="0">
                <a:solidFill>
                  <a:srgbClr val="FFFF00"/>
                </a:solidFill>
                <a:latin typeface="Elephant" panose="02020904090505020303" pitchFamily="18" charset="0"/>
              </a:rPr>
              <a:t>outside of </a:t>
            </a:r>
            <a:r>
              <a:rPr lang="en-US" altLang="zh-TW" sz="7200" kern="0" dirty="0" smtClean="0">
                <a:solidFill>
                  <a:srgbClr val="FFFF00"/>
                </a:solidFill>
                <a:latin typeface="Elephant" panose="02020904090505020303" pitchFamily="18" charset="0"/>
              </a:rPr>
              <a:t>calls…</a:t>
            </a:r>
            <a:r>
              <a:rPr lang="en-US" altLang="zh-TW" sz="7200" kern="0" dirty="0">
                <a:solidFill>
                  <a:srgbClr val="0070C0"/>
                </a:solidFill>
                <a:latin typeface="Elephant" panose="02020904090505020303" pitchFamily="18" charset="0"/>
              </a:rPr>
              <a:t/>
            </a:r>
            <a:br>
              <a:rPr lang="en-US" altLang="zh-TW" sz="7200" kern="0" dirty="0">
                <a:solidFill>
                  <a:srgbClr val="0070C0"/>
                </a:solidFill>
                <a:latin typeface="Elephant" panose="02020904090505020303" pitchFamily="18" charset="0"/>
              </a:rPr>
            </a:br>
            <a:r>
              <a:rPr lang="en-US" altLang="zh-TW" sz="6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(but double splat has </a:t>
            </a:r>
            <a:r>
              <a:rPr lang="en-US" altLang="zh-TW" sz="6600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6600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6600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US" altLang="zh-TW" sz="6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</a:t>
            </a:r>
            <a:r>
              <a:rPr lang="en-US" altLang="zh-TW" sz="6600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usefulness)</a:t>
            </a:r>
            <a:endParaRPr lang="en-US" altLang="zh-TW" sz="7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553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2894" y="1219200"/>
            <a:ext cx="9296399" cy="56388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800" spc="-2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800" spc="-20" dirty="0">
                <a:latin typeface="Lucida Console" panose="020B0609040504020204" pitchFamily="49" charset="0"/>
              </a:rPr>
              <a:t>L=[1,2,3]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800" spc="-2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800" spc="-20" dirty="0">
                <a:latin typeface="Lucida Console" panose="020B0609040504020204" pitchFamily="49" charset="0"/>
              </a:rPr>
              <a:t>T=(2,4,6)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800" spc="-2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800" spc="-20" dirty="0">
                <a:latin typeface="Lucida Console" panose="020B0609040504020204" pitchFamily="49" charset="0"/>
              </a:rPr>
              <a:t>S="ABC"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800" spc="-2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spc="-2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spc="-20" dirty="0">
                <a:latin typeface="Lucida Console" panose="020B0609040504020204" pitchFamily="49" charset="0"/>
              </a:rPr>
              <a:t>V1=(L,T,S)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800" spc="-2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spc="-2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spc="-2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V1</a:t>
            </a:r>
            <a:r>
              <a:rPr lang="en-US" altLang="zh-TW" sz="2800" spc="-20" dirty="0" smtClean="0">
                <a:latin typeface="Lucida Console" panose="020B0609040504020204" pitchFamily="49" charset="0"/>
              </a:rPr>
              <a:t> </a:t>
            </a:r>
            <a:r>
              <a:rPr lang="en-US" altLang="zh-TW" sz="2800" spc="-20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#?</a:t>
            </a:r>
            <a:endParaRPr lang="en-US" altLang="zh-TW" sz="2800" spc="-20" dirty="0">
              <a:solidFill>
                <a:schemeClr val="accent2">
                  <a:lumMod val="60000"/>
                  <a:lumOff val="40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800" spc="-20" dirty="0">
                <a:latin typeface="Lucida Console" panose="020B0609040504020204" pitchFamily="49" charset="0"/>
              </a:rPr>
              <a:t>([1, 2, 3], (2, 4, 6), 'ABC')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800" spc="-2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spc="-2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spc="-20" dirty="0">
                <a:latin typeface="Lucida Console" panose="020B0609040504020204" pitchFamily="49" charset="0"/>
              </a:rPr>
              <a:t>V2=(*L,*T,*S)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800" spc="-2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spc="-2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spc="-20" dirty="0">
                <a:solidFill>
                  <a:srgbClr val="FF0000"/>
                </a:solidFill>
                <a:latin typeface="Lucida Console" panose="020B0609040504020204" pitchFamily="49" charset="0"/>
              </a:rPr>
              <a:t>V2</a:t>
            </a:r>
            <a:r>
              <a:rPr lang="en-US" altLang="zh-TW" sz="2800" spc="-20" dirty="0">
                <a:latin typeface="Lucida Console" panose="020B0609040504020204" pitchFamily="49" charset="0"/>
              </a:rPr>
              <a:t> </a:t>
            </a:r>
            <a:r>
              <a:rPr lang="en-US" altLang="zh-TW" sz="2800" spc="-20" dirty="0">
                <a:solidFill>
                  <a:schemeClr val="accent2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#?</a:t>
            </a:r>
            <a:endParaRPr lang="en-US" altLang="zh-TW" sz="2800" spc="-2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800" spc="-20" dirty="0">
                <a:latin typeface="Lucida Console" panose="020B0609040504020204" pitchFamily="49" charset="0"/>
              </a:rPr>
              <a:t>(1, 2, 3, 2, 4, 6, 'A', 'B', 'C')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800" spc="-2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spc="-2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spc="-20" dirty="0">
                <a:solidFill>
                  <a:srgbClr val="FF0000"/>
                </a:solidFill>
                <a:latin typeface="Lucida Console" panose="020B0609040504020204" pitchFamily="49" charset="0"/>
              </a:rPr>
              <a:t>{*_}</a:t>
            </a:r>
            <a:r>
              <a:rPr lang="en-US" altLang="zh-TW" sz="2800" spc="-20" dirty="0">
                <a:latin typeface="Lucida Console" panose="020B0609040504020204" pitchFamily="49" charset="0"/>
              </a:rPr>
              <a:t> </a:t>
            </a:r>
            <a:r>
              <a:rPr lang="en-US" altLang="zh-TW" sz="2800" spc="-20" dirty="0">
                <a:solidFill>
                  <a:schemeClr val="accent2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</a:rPr>
              <a:t>#?</a:t>
            </a:r>
            <a:endParaRPr lang="en-US" altLang="zh-TW" sz="2800" spc="-2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800" spc="-20" dirty="0">
                <a:latin typeface="Lucida Console" panose="020B0609040504020204" pitchFamily="49" charset="0"/>
              </a:rPr>
              <a:t>{1, 2, 3, 4, 'A', 6, 'C', 'B'}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sz="2800" spc="-2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100" y="1695174"/>
            <a:ext cx="9144000" cy="373948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tIns="274320" bIns="274320">
            <a:spAutoFit/>
          </a:bodyPr>
          <a:lstStyle/>
          <a:p>
            <a:pPr algn="ctr">
              <a:lnSpc>
                <a:spcPct val="75000"/>
              </a:lnSpc>
              <a:spcBef>
                <a:spcPts val="600"/>
              </a:spcBef>
            </a:pPr>
            <a:r>
              <a:rPr lang="en-US" altLang="zh-TW" sz="7200" kern="0" dirty="0">
                <a:solidFill>
                  <a:srgbClr val="FFFF00"/>
                </a:solidFill>
                <a:latin typeface="Elephant" panose="02020904090505020303" pitchFamily="18" charset="0"/>
              </a:rPr>
              <a:t>Splat </a:t>
            </a:r>
            <a:r>
              <a:rPr lang="en-US" altLang="zh-TW" sz="7200" kern="0" dirty="0" smtClean="0">
                <a:solidFill>
                  <a:srgbClr val="FFFF00"/>
                </a:solidFill>
                <a:latin typeface="Elephant" panose="02020904090505020303" pitchFamily="18" charset="0"/>
              </a:rPr>
              <a:t>is also useful </a:t>
            </a:r>
            <a:r>
              <a:rPr lang="en-US" altLang="zh-TW" sz="7200" kern="0" dirty="0">
                <a:solidFill>
                  <a:srgbClr val="FFFF00"/>
                </a:solidFill>
                <a:latin typeface="Elephant" panose="02020904090505020303" pitchFamily="18" charset="0"/>
              </a:rPr>
              <a:t>outside of </a:t>
            </a:r>
            <a:r>
              <a:rPr lang="en-US" altLang="zh-TW" sz="7200" kern="0" dirty="0" smtClean="0">
                <a:solidFill>
                  <a:srgbClr val="FFFF00"/>
                </a:solidFill>
                <a:latin typeface="Elephant" panose="02020904090505020303" pitchFamily="18" charset="0"/>
              </a:rPr>
              <a:t>calls…</a:t>
            </a:r>
            <a:r>
              <a:rPr lang="en-US" altLang="zh-TW" sz="7200" kern="0" dirty="0">
                <a:solidFill>
                  <a:srgbClr val="0070C0"/>
                </a:solidFill>
                <a:latin typeface="Elephant" panose="02020904090505020303" pitchFamily="18" charset="0"/>
              </a:rPr>
              <a:t/>
            </a:r>
            <a:br>
              <a:rPr lang="en-US" altLang="zh-TW" sz="7200" kern="0" dirty="0">
                <a:solidFill>
                  <a:srgbClr val="0070C0"/>
                </a:solidFill>
                <a:latin typeface="Elephant" panose="02020904090505020303" pitchFamily="18" charset="0"/>
              </a:rPr>
            </a:br>
            <a:r>
              <a:rPr lang="en-US" altLang="zh-TW" sz="6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(but double splat has </a:t>
            </a:r>
            <a:r>
              <a:rPr lang="en-US" altLang="zh-TW" sz="6600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6600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6600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US" altLang="zh-TW" sz="6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</a:t>
            </a:r>
            <a:r>
              <a:rPr lang="en-US" altLang="zh-TW" sz="6600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usefulness)</a:t>
            </a:r>
            <a:endParaRPr lang="en-US" altLang="zh-TW" sz="7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9729788" cy="12573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83000"/>
              </a:lnSpc>
            </a:pPr>
            <a:r>
              <a:rPr lang="en-US" altLang="en-US" dirty="0" smtClean="0">
                <a:solidFill>
                  <a:srgbClr val="0070C0"/>
                </a:solidFill>
              </a:rPr>
              <a:t>There is Another Way to </a:t>
            </a:r>
            <a:br>
              <a:rPr lang="en-US" altLang="en-US" dirty="0" smtClean="0">
                <a:solidFill>
                  <a:srgbClr val="0070C0"/>
                </a:solidFill>
              </a:rPr>
            </a:br>
            <a:r>
              <a:rPr lang="en-US" altLang="en-US" dirty="0" smtClean="0">
                <a:solidFill>
                  <a:srgbClr val="0070C0"/>
                </a:solidFill>
              </a:rPr>
              <a:t>Convert Data Types: * (splat)</a:t>
            </a:r>
            <a:endParaRPr lang="en-US" altLang="en-US" dirty="0">
              <a:solidFill>
                <a:srgbClr val="0070C0"/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 flipH="1">
            <a:off x="7629707" y="348924"/>
            <a:ext cx="2727978" cy="718419"/>
            <a:chOff x="-632443" y="348924"/>
            <a:chExt cx="2727978" cy="718419"/>
          </a:xfrm>
        </p:grpSpPr>
        <p:sp>
          <p:nvSpPr>
            <p:cNvPr id="7" name="Trapezoid 6"/>
            <p:cNvSpPr/>
            <p:nvPr/>
          </p:nvSpPr>
          <p:spPr bwMode="auto">
            <a:xfrm rot="18900000">
              <a:off x="-632443" y="363600"/>
              <a:ext cx="2694076" cy="682500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en-US" sz="2800" dirty="0">
                <a:latin typeface="Arial" charset="0"/>
                <a:ea typeface="新細明體" charset="-12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 rot="18900000">
              <a:off x="-622114" y="348924"/>
              <a:ext cx="2717649" cy="7184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3</a:t>
              </a:r>
              <a:b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 smtClean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Slide #72</a:t>
              </a:r>
              <a:endParaRPr kumimoji="1" lang="en-US" altLang="zh-TW" sz="2400" dirty="0">
                <a:solidFill>
                  <a:schemeClr val="tx1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6995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348209" y="1034880"/>
            <a:ext cx="9081135" cy="51898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302" dirty="0">
                <a:solidFill>
                  <a:schemeClr val="bg1">
                    <a:lumMod val="75000"/>
                  </a:schemeClr>
                </a:solidFill>
                <a:cs typeface="Courier New" pitchFamily="49" charset="0"/>
              </a:rPr>
              <a:t>There are </a:t>
            </a:r>
            <a:r>
              <a:rPr lang="en-US" sz="3302" dirty="0" smtClean="0">
                <a:solidFill>
                  <a:schemeClr val="bg1">
                    <a:lumMod val="75000"/>
                  </a:schemeClr>
                </a:solidFill>
                <a:cs typeface="Courier New" pitchFamily="49" charset="0"/>
              </a:rPr>
              <a:t>6 </a:t>
            </a:r>
            <a:r>
              <a:rPr lang="en-US" sz="3302" dirty="0">
                <a:solidFill>
                  <a:schemeClr val="bg1">
                    <a:lumMod val="75000"/>
                  </a:schemeClr>
                </a:solidFill>
                <a:cs typeface="Courier New" pitchFamily="49" charset="0"/>
              </a:rPr>
              <a:t>possible types of parameter definitions:</a:t>
            </a:r>
          </a:p>
          <a:p>
            <a:pPr marL="525636" indent="-362558"/>
            <a:r>
              <a:rPr lang="en-US" sz="3302" dirty="0" smtClean="0">
                <a:solidFill>
                  <a:schemeClr val="bg1">
                    <a:lumMod val="75000"/>
                  </a:schemeClr>
                </a:solidFill>
                <a:cs typeface="Courier New" pitchFamily="49" charset="0"/>
              </a:rPr>
              <a:t>Positional arguments</a:t>
            </a:r>
            <a:endParaRPr lang="en-US" sz="3302" dirty="0">
              <a:solidFill>
                <a:schemeClr val="bg1">
                  <a:lumMod val="75000"/>
                </a:schemeClr>
              </a:solidFill>
              <a:cs typeface="Courier New" pitchFamily="49" charset="0"/>
            </a:endParaRPr>
          </a:p>
          <a:p>
            <a:pPr marL="525636" indent="-362558"/>
            <a:r>
              <a:rPr lang="en-US" sz="3302" dirty="0">
                <a:solidFill>
                  <a:schemeClr val="bg1">
                    <a:lumMod val="75000"/>
                  </a:schemeClr>
                </a:solidFill>
                <a:cs typeface="Courier New" pitchFamily="49" charset="0"/>
              </a:rPr>
              <a:t>Keyword arguments</a:t>
            </a:r>
          </a:p>
          <a:p>
            <a:pPr marL="525636" indent="-362558"/>
            <a:r>
              <a:rPr lang="en-US" sz="3302" dirty="0">
                <a:solidFill>
                  <a:srgbClr val="BFBFBF"/>
                </a:solidFill>
                <a:cs typeface="Courier New" pitchFamily="49" charset="0"/>
              </a:rPr>
              <a:t>Default arguments</a:t>
            </a:r>
          </a:p>
          <a:p>
            <a:pPr marL="525636" indent="-362558"/>
            <a:r>
              <a:rPr lang="en-US" sz="3302" dirty="0">
                <a:solidFill>
                  <a:srgbClr val="BFBFBF"/>
                </a:solidFill>
                <a:cs typeface="Courier New" pitchFamily="49" charset="0"/>
              </a:rPr>
              <a:t>Variable-length arguments</a:t>
            </a:r>
          </a:p>
          <a:p>
            <a:pPr marL="525636" indent="-362558"/>
            <a:r>
              <a:rPr lang="en-US" sz="3302" dirty="0">
                <a:solidFill>
                  <a:srgbClr val="BFBFBF"/>
                </a:solidFill>
                <a:cs typeface="Courier New" pitchFamily="49" charset="0"/>
              </a:rPr>
              <a:t>Keyword-only </a:t>
            </a:r>
            <a:r>
              <a:rPr lang="en-US" sz="3302" dirty="0" smtClean="0">
                <a:solidFill>
                  <a:srgbClr val="BFBFBF"/>
                </a:solidFill>
                <a:cs typeface="Courier New" pitchFamily="49" charset="0"/>
              </a:rPr>
              <a:t>arguments</a:t>
            </a:r>
          </a:p>
          <a:p>
            <a:pPr marL="525636" indent="-362558"/>
            <a:r>
              <a:rPr lang="en-US" sz="3302" dirty="0" smtClean="0">
                <a:solidFill>
                  <a:srgbClr val="FF0000"/>
                </a:solidFill>
                <a:cs typeface="Courier New" pitchFamily="49" charset="0"/>
              </a:rPr>
              <a:t>Variable-length keyword arguments</a:t>
            </a:r>
            <a:endParaRPr lang="en-US" sz="3302" dirty="0">
              <a:solidFill>
                <a:srgbClr val="FF0000"/>
              </a:solidFill>
              <a:cs typeface="Courier New" pitchFamily="49" charset="0"/>
            </a:endParaRPr>
          </a:p>
          <a:p>
            <a:endParaRPr lang="en-US" sz="3302" dirty="0">
              <a:solidFill>
                <a:srgbClr val="660066"/>
              </a:solidFill>
              <a:cs typeface="Courier New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26152"/>
            <a:ext cx="9726745" cy="9644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 smtClean="0">
                <a:solidFill>
                  <a:srgbClr val="0070C0"/>
                </a:solidFill>
              </a:rPr>
              <a:t>Defining Function Parameters</a:t>
            </a:r>
            <a:endParaRPr lang="en-US" sz="4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725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" y="1000960"/>
            <a:ext cx="9729788" cy="5854910"/>
          </a:xfrm>
        </p:spPr>
        <p:txBody>
          <a:bodyPr>
            <a:noAutofit/>
          </a:bodyPr>
          <a:lstStyle/>
          <a:p>
            <a:pPr marL="456933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1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1" dirty="0">
                <a:latin typeface="Lucida Console" panose="020B0609040504020204" pitchFamily="49" charset="0"/>
              </a:rPr>
              <a:t> </a:t>
            </a:r>
            <a:r>
              <a:rPr lang="en-US" altLang="zh-TW" sz="2221" dirty="0" err="1">
                <a:latin typeface="Lucida Console" panose="020B0609040504020204" pitchFamily="49" charset="0"/>
              </a:rPr>
              <a:t>def</a:t>
            </a:r>
            <a:r>
              <a:rPr lang="en-US" altLang="zh-TW" sz="2221" dirty="0">
                <a:latin typeface="Lucida Console" panose="020B0609040504020204" pitchFamily="49" charset="0"/>
              </a:rPr>
              <a:t> </a:t>
            </a:r>
            <a:r>
              <a:rPr lang="en-US" altLang="zh-TW" sz="2221" b="1" dirty="0">
                <a:solidFill>
                  <a:srgbClr val="FFC000"/>
                </a:solidFill>
                <a:latin typeface="Lucida Console" panose="020B0609040504020204" pitchFamily="49" charset="0"/>
              </a:rPr>
              <a:t>printv2</a:t>
            </a:r>
            <a:r>
              <a:rPr lang="en-US" altLang="zh-TW" sz="2221" dirty="0">
                <a:latin typeface="Lucida Console" panose="020B0609040504020204" pitchFamily="49" charset="0"/>
              </a:rPr>
              <a:t>(</a:t>
            </a:r>
            <a:r>
              <a:rPr lang="en-US" altLang="zh-TW" sz="2221" b="1" dirty="0">
                <a:solidFill>
                  <a:srgbClr val="00B0F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221" dirty="0" err="1">
                <a:latin typeface="Lucida Console" panose="020B0609040504020204" pitchFamily="49" charset="0"/>
              </a:rPr>
              <a:t>args</a:t>
            </a:r>
            <a:r>
              <a:rPr lang="en-US" altLang="zh-TW" sz="2221" dirty="0">
                <a:latin typeface="Lucida Console" panose="020B0609040504020204" pitchFamily="49" charset="0"/>
              </a:rPr>
              <a:t>,</a:t>
            </a:r>
            <a:r>
              <a:rPr lang="en-US" altLang="zh-TW" sz="2221" b="1" dirty="0">
                <a:solidFill>
                  <a:srgbClr val="CC6600"/>
                </a:solidFill>
                <a:latin typeface="Lucida Console" panose="020B0609040504020204" pitchFamily="49" charset="0"/>
              </a:rPr>
              <a:t>**</a:t>
            </a:r>
            <a:r>
              <a:rPr lang="en-US" altLang="zh-TW" sz="2221" dirty="0" err="1">
                <a:latin typeface="Lucida Console" panose="020B0609040504020204" pitchFamily="49" charset="0"/>
              </a:rPr>
              <a:t>kwlist</a:t>
            </a:r>
            <a:r>
              <a:rPr lang="en-US" altLang="zh-TW" sz="2221" dirty="0">
                <a:latin typeface="Lucida Console" panose="020B0609040504020204" pitchFamily="49" charset="0"/>
              </a:rPr>
              <a:t>):print(</a:t>
            </a:r>
            <a:r>
              <a:rPr lang="en-US" altLang="zh-TW" sz="2221" b="1" dirty="0">
                <a:solidFill>
                  <a:srgbClr val="FF000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221" dirty="0" err="1">
                <a:latin typeface="Lucida Console" panose="020B0609040504020204" pitchFamily="49" charset="0"/>
              </a:rPr>
              <a:t>args</a:t>
            </a:r>
            <a:r>
              <a:rPr lang="en-US" altLang="zh-TW" sz="2221" dirty="0">
                <a:latin typeface="Lucida Console" panose="020B0609040504020204" pitchFamily="49" charset="0"/>
              </a:rPr>
              <a:t>,</a:t>
            </a:r>
            <a:r>
              <a:rPr lang="en-US" altLang="zh-TW" sz="2221" b="1" dirty="0">
                <a:solidFill>
                  <a:srgbClr val="7030A0"/>
                </a:solidFill>
                <a:latin typeface="Lucida Console" panose="020B0609040504020204" pitchFamily="49" charset="0"/>
              </a:rPr>
              <a:t>**</a:t>
            </a:r>
            <a:r>
              <a:rPr lang="en-US" altLang="zh-TW" sz="2221" dirty="0" err="1">
                <a:latin typeface="Lucida Console" panose="020B0609040504020204" pitchFamily="49" charset="0"/>
              </a:rPr>
              <a:t>kwlist</a:t>
            </a:r>
            <a:r>
              <a:rPr lang="en-US" altLang="zh-TW" sz="2221" dirty="0">
                <a:latin typeface="Lucida Console" panose="020B0609040504020204" pitchFamily="49" charset="0"/>
              </a:rPr>
              <a:t>)</a:t>
            </a:r>
          </a:p>
          <a:p>
            <a:pPr marL="456933" lvl="1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zh-TW" sz="2221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456933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1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1" dirty="0">
                <a:latin typeface="Lucida Console" panose="020B0609040504020204" pitchFamily="49" charset="0"/>
              </a:rPr>
              <a:t> </a:t>
            </a:r>
            <a:r>
              <a:rPr lang="en-US" altLang="zh-TW" sz="2221" dirty="0" err="1">
                <a:latin typeface="Lucida Console" panose="020B0609040504020204" pitchFamily="49" charset="0"/>
              </a:rPr>
              <a:t>def</a:t>
            </a:r>
            <a:r>
              <a:rPr lang="en-US" altLang="zh-TW" sz="2221" dirty="0">
                <a:latin typeface="Lucida Console" panose="020B0609040504020204" pitchFamily="49" charset="0"/>
              </a:rPr>
              <a:t> </a:t>
            </a:r>
            <a:r>
              <a:rPr lang="en-US" altLang="zh-TW" sz="2221" b="1" dirty="0">
                <a:solidFill>
                  <a:srgbClr val="00B050"/>
                </a:solidFill>
                <a:latin typeface="Lucida Console" panose="020B0609040504020204" pitchFamily="49" charset="0"/>
              </a:rPr>
              <a:t>printv3</a:t>
            </a:r>
            <a:r>
              <a:rPr lang="en-US" altLang="zh-TW" sz="2221" dirty="0">
                <a:latin typeface="Lucida Console" panose="020B0609040504020204" pitchFamily="49" charset="0"/>
              </a:rPr>
              <a:t>(</a:t>
            </a:r>
            <a:r>
              <a:rPr lang="en-US" altLang="zh-TW" sz="2221" b="1" dirty="0">
                <a:solidFill>
                  <a:srgbClr val="00B0F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221" dirty="0" err="1">
                <a:latin typeface="Lucida Console" panose="020B0609040504020204" pitchFamily="49" charset="0"/>
              </a:rPr>
              <a:t>args</a:t>
            </a:r>
            <a:r>
              <a:rPr lang="en-US" altLang="zh-TW" sz="2221" dirty="0">
                <a:latin typeface="Lucida Console" panose="020B0609040504020204" pitchFamily="49" charset="0"/>
              </a:rPr>
              <a:t>, end="\n", </a:t>
            </a:r>
            <a:r>
              <a:rPr lang="en-US" altLang="zh-TW" sz="2221" dirty="0" err="1">
                <a:latin typeface="Lucida Console" panose="020B0609040504020204" pitchFamily="49" charset="0"/>
              </a:rPr>
              <a:t>sep</a:t>
            </a:r>
            <a:r>
              <a:rPr lang="en-US" altLang="zh-TW" sz="2221" dirty="0">
                <a:latin typeface="Lucida Console" panose="020B0609040504020204" pitchFamily="49" charset="0"/>
              </a:rPr>
              <a:t>=", "):</a:t>
            </a:r>
          </a:p>
          <a:p>
            <a:pPr marL="456933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1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sz="2221" dirty="0">
                <a:latin typeface="Lucida Console" panose="020B0609040504020204" pitchFamily="49" charset="0"/>
              </a:rPr>
              <a:t>    for </a:t>
            </a:r>
            <a:r>
              <a:rPr lang="en-US" altLang="zh-TW" sz="2221" dirty="0" err="1">
                <a:latin typeface="Lucida Console" panose="020B0609040504020204" pitchFamily="49" charset="0"/>
              </a:rPr>
              <a:t>i</a:t>
            </a:r>
            <a:r>
              <a:rPr lang="en-US" altLang="zh-TW" sz="2221" dirty="0">
                <a:latin typeface="Lucida Console" panose="020B0609040504020204" pitchFamily="49" charset="0"/>
              </a:rPr>
              <a:t> in </a:t>
            </a:r>
            <a:r>
              <a:rPr lang="en-US" altLang="zh-TW" sz="2221" dirty="0" err="1">
                <a:latin typeface="Lucida Console" panose="020B0609040504020204" pitchFamily="49" charset="0"/>
              </a:rPr>
              <a:t>args</a:t>
            </a:r>
            <a:r>
              <a:rPr lang="en-US" altLang="zh-TW" sz="2221" dirty="0">
                <a:latin typeface="Lucida Console" panose="020B0609040504020204" pitchFamily="49" charset="0"/>
              </a:rPr>
              <a:t>[:-1]:</a:t>
            </a:r>
          </a:p>
          <a:p>
            <a:pPr marL="456933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1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sz="2221" dirty="0">
                <a:latin typeface="Lucida Console" panose="020B0609040504020204" pitchFamily="49" charset="0"/>
              </a:rPr>
              <a:t>       print(</a:t>
            </a:r>
            <a:r>
              <a:rPr lang="en-US" altLang="zh-TW" sz="2221" dirty="0" err="1">
                <a:latin typeface="Lucida Console" panose="020B0609040504020204" pitchFamily="49" charset="0"/>
              </a:rPr>
              <a:t>i,end</a:t>
            </a:r>
            <a:r>
              <a:rPr lang="en-US" altLang="zh-TW" sz="2221" dirty="0">
                <a:latin typeface="Lucida Console" panose="020B0609040504020204" pitchFamily="49" charset="0"/>
              </a:rPr>
              <a:t>=</a:t>
            </a:r>
            <a:r>
              <a:rPr lang="en-US" altLang="zh-TW" sz="2221" dirty="0" err="1">
                <a:latin typeface="Lucida Console" panose="020B0609040504020204" pitchFamily="49" charset="0"/>
              </a:rPr>
              <a:t>sep</a:t>
            </a:r>
            <a:r>
              <a:rPr lang="en-US" altLang="zh-TW" sz="2221" dirty="0">
                <a:latin typeface="Lucida Console" panose="020B0609040504020204" pitchFamily="49" charset="0"/>
              </a:rPr>
              <a:t>, </a:t>
            </a:r>
            <a:r>
              <a:rPr lang="en-US" altLang="zh-TW" sz="2221" dirty="0" err="1">
                <a:latin typeface="Lucida Console" panose="020B0609040504020204" pitchFamily="49" charset="0"/>
              </a:rPr>
              <a:t>sep</a:t>
            </a:r>
            <a:r>
              <a:rPr lang="en-US" altLang="zh-TW" sz="2221" dirty="0">
                <a:latin typeface="Lucida Console" panose="020B0609040504020204" pitchFamily="49" charset="0"/>
              </a:rPr>
              <a:t>="")</a:t>
            </a:r>
          </a:p>
          <a:p>
            <a:pPr marL="456933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3200" spc="100" baseline="100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sz="2221" dirty="0">
                <a:latin typeface="Lucida Console" panose="020B0609040504020204" pitchFamily="49" charset="0"/>
              </a:rPr>
              <a:t>    print(</a:t>
            </a:r>
            <a:r>
              <a:rPr lang="en-US" altLang="zh-TW" sz="2221" dirty="0" err="1">
                <a:latin typeface="Lucida Console" panose="020B0609040504020204" pitchFamily="49" charset="0"/>
              </a:rPr>
              <a:t>args</a:t>
            </a:r>
            <a:r>
              <a:rPr lang="en-US" altLang="zh-TW" sz="2221" dirty="0">
                <a:latin typeface="Lucida Console" panose="020B0609040504020204" pitchFamily="49" charset="0"/>
              </a:rPr>
              <a:t>[-1],end=end)</a:t>
            </a:r>
          </a:p>
          <a:p>
            <a:pPr marL="456933" lvl="1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zh-TW" sz="2221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456933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1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1" dirty="0">
                <a:latin typeface="Lucida Console" panose="020B0609040504020204" pitchFamily="49" charset="0"/>
              </a:rPr>
              <a:t> </a:t>
            </a:r>
            <a:r>
              <a:rPr lang="en-US" altLang="zh-TW" sz="2221" b="1" dirty="0">
                <a:solidFill>
                  <a:schemeClr val="accent6"/>
                </a:solidFill>
                <a:latin typeface="Lucida Console" panose="020B0609040504020204" pitchFamily="49" charset="0"/>
              </a:rPr>
              <a:t>print</a:t>
            </a:r>
            <a:r>
              <a:rPr lang="en-US" altLang="zh-TW" sz="2221" dirty="0">
                <a:latin typeface="Lucida Console" panose="020B0609040504020204" pitchFamily="49" charset="0"/>
              </a:rPr>
              <a:t>(1,2,3,5,6,sep="+")</a:t>
            </a:r>
          </a:p>
          <a:p>
            <a:pPr marL="456933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1" dirty="0">
                <a:latin typeface="Lucida Console" panose="020B0609040504020204" pitchFamily="49" charset="0"/>
              </a:rPr>
              <a:t>1+2+3+5+6</a:t>
            </a:r>
          </a:p>
          <a:p>
            <a:pPr marL="456933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1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1" dirty="0">
                <a:latin typeface="Lucida Console" panose="020B0609040504020204" pitchFamily="49" charset="0"/>
              </a:rPr>
              <a:t> </a:t>
            </a:r>
            <a:r>
              <a:rPr lang="en-US" altLang="zh-TW" sz="2221" b="1" dirty="0">
                <a:solidFill>
                  <a:srgbClr val="FFC000"/>
                </a:solidFill>
                <a:latin typeface="Lucida Console" panose="020B0609040504020204" pitchFamily="49" charset="0"/>
              </a:rPr>
              <a:t>printv2</a:t>
            </a:r>
            <a:r>
              <a:rPr lang="en-US" altLang="zh-TW" sz="2221" dirty="0">
                <a:latin typeface="Lucida Console" panose="020B0609040504020204" pitchFamily="49" charset="0"/>
              </a:rPr>
              <a:t>(1,2,3,5,6,sep="+")</a:t>
            </a:r>
          </a:p>
          <a:p>
            <a:pPr marL="456933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1" dirty="0">
                <a:latin typeface="Lucida Console" panose="020B0609040504020204" pitchFamily="49" charset="0"/>
              </a:rPr>
              <a:t>1+2+3+5+6</a:t>
            </a:r>
          </a:p>
          <a:p>
            <a:pPr marL="456933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1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1" dirty="0">
                <a:latin typeface="Lucida Console" panose="020B0609040504020204" pitchFamily="49" charset="0"/>
              </a:rPr>
              <a:t> L=['a','b',5]</a:t>
            </a:r>
          </a:p>
          <a:p>
            <a:pPr marL="456933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1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1" dirty="0">
                <a:latin typeface="Lucida Console" panose="020B0609040504020204" pitchFamily="49" charset="0"/>
              </a:rPr>
              <a:t> </a:t>
            </a:r>
            <a:r>
              <a:rPr lang="en-US" altLang="zh-TW" sz="2221" b="1" dirty="0">
                <a:solidFill>
                  <a:srgbClr val="00B050"/>
                </a:solidFill>
                <a:latin typeface="Lucida Console" panose="020B0609040504020204" pitchFamily="49" charset="0"/>
              </a:rPr>
              <a:t>printv3</a:t>
            </a:r>
            <a:r>
              <a:rPr lang="en-US" altLang="zh-TW" sz="2221" dirty="0">
                <a:latin typeface="Lucida Console" panose="020B0609040504020204" pitchFamily="49" charset="0"/>
              </a:rPr>
              <a:t>(</a:t>
            </a:r>
            <a:r>
              <a:rPr lang="en-US" altLang="zh-TW" sz="2221" dirty="0" err="1">
                <a:latin typeface="Lucida Console" panose="020B0609040504020204" pitchFamily="49" charset="0"/>
              </a:rPr>
              <a:t>L,sep</a:t>
            </a:r>
            <a:r>
              <a:rPr lang="en-US" altLang="zh-TW" sz="2221" dirty="0">
                <a:latin typeface="Lucida Console" panose="020B0609040504020204" pitchFamily="49" charset="0"/>
              </a:rPr>
              <a:t>=":",end=' &lt;\n')</a:t>
            </a:r>
          </a:p>
          <a:p>
            <a:pPr marL="456933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1" dirty="0">
                <a:latin typeface="Lucida Console" panose="020B0609040504020204" pitchFamily="49" charset="0"/>
              </a:rPr>
              <a:t>['a', 'b', 5] &lt;</a:t>
            </a:r>
          </a:p>
          <a:p>
            <a:pPr marL="456933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1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1" dirty="0">
                <a:latin typeface="Lucida Console" panose="020B0609040504020204" pitchFamily="49" charset="0"/>
              </a:rPr>
              <a:t> </a:t>
            </a:r>
            <a:r>
              <a:rPr lang="en-US" altLang="zh-TW" sz="2221" b="1" dirty="0">
                <a:solidFill>
                  <a:srgbClr val="FFC000"/>
                </a:solidFill>
                <a:latin typeface="Lucida Console" panose="020B0609040504020204" pitchFamily="49" charset="0"/>
              </a:rPr>
              <a:t>printv2</a:t>
            </a:r>
            <a:r>
              <a:rPr lang="en-US" altLang="zh-TW" sz="2221" dirty="0">
                <a:latin typeface="Lucida Console" panose="020B0609040504020204" pitchFamily="49" charset="0"/>
              </a:rPr>
              <a:t>(</a:t>
            </a:r>
            <a:r>
              <a:rPr lang="en-US" altLang="zh-TW" sz="2221" b="1" dirty="0">
                <a:solidFill>
                  <a:srgbClr val="FF000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221" dirty="0" err="1">
                <a:latin typeface="Lucida Console" panose="020B0609040504020204" pitchFamily="49" charset="0"/>
              </a:rPr>
              <a:t>L,sep</a:t>
            </a:r>
            <a:r>
              <a:rPr lang="en-US" altLang="zh-TW" sz="2221" dirty="0">
                <a:latin typeface="Lucida Console" panose="020B0609040504020204" pitchFamily="49" charset="0"/>
              </a:rPr>
              <a:t>="::")</a:t>
            </a:r>
          </a:p>
          <a:p>
            <a:pPr marL="456933" lvl="1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zh-TW" sz="2221" dirty="0">
                <a:latin typeface="Lucida Console" panose="020B0609040504020204" pitchFamily="49" charset="0"/>
              </a:rPr>
              <a:t>a::b::5</a:t>
            </a:r>
          </a:p>
          <a:p>
            <a:pPr marL="456933" lvl="1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zh-TW" sz="2221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1" dirty="0">
                <a:latin typeface="Lucida Console" panose="020B0609040504020204" pitchFamily="49" charset="0"/>
              </a:rPr>
              <a:t> </a:t>
            </a:r>
            <a:r>
              <a:rPr lang="en-US" altLang="zh-TW" sz="2221" b="1" dirty="0">
                <a:solidFill>
                  <a:schemeClr val="accent6"/>
                </a:solidFill>
                <a:latin typeface="Lucida Console" panose="020B0609040504020204" pitchFamily="49" charset="0"/>
              </a:rPr>
              <a:t>print</a:t>
            </a:r>
            <a:r>
              <a:rPr lang="en-US" altLang="zh-TW" sz="2221" dirty="0">
                <a:latin typeface="Lucida Console" panose="020B0609040504020204" pitchFamily="49" charset="0"/>
              </a:rPr>
              <a:t>(</a:t>
            </a:r>
            <a:r>
              <a:rPr lang="en-US" altLang="zh-TW" sz="2221" b="1" dirty="0">
                <a:solidFill>
                  <a:srgbClr val="FF000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221" dirty="0">
                <a:latin typeface="Lucida Console" panose="020B0609040504020204" pitchFamily="49" charset="0"/>
              </a:rPr>
              <a:t>L)</a:t>
            </a:r>
          </a:p>
          <a:p>
            <a:pPr marL="456933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1" dirty="0">
                <a:latin typeface="Lucida Console" panose="020B0609040504020204" pitchFamily="49" charset="0"/>
              </a:rPr>
              <a:t>a b 5</a:t>
            </a:r>
          </a:p>
          <a:p>
            <a:pPr marL="456933" lvl="1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zh-TW" sz="2221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1" dirty="0">
                <a:latin typeface="Lucida Console" panose="020B0609040504020204" pitchFamily="49" charset="0"/>
              </a:rPr>
              <a:t> </a:t>
            </a:r>
            <a:r>
              <a:rPr lang="en-US" altLang="zh-TW" sz="2221" b="1" dirty="0">
                <a:solidFill>
                  <a:srgbClr val="FFC000"/>
                </a:solidFill>
                <a:latin typeface="Lucida Console" panose="020B0609040504020204" pitchFamily="49" charset="0"/>
              </a:rPr>
              <a:t>printv2</a:t>
            </a:r>
            <a:r>
              <a:rPr lang="en-US" altLang="zh-TW" sz="2221" dirty="0">
                <a:latin typeface="Lucida Console" panose="020B0609040504020204" pitchFamily="49" charset="0"/>
              </a:rPr>
              <a:t>("hello")</a:t>
            </a:r>
          </a:p>
          <a:p>
            <a:pPr marL="456933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1" dirty="0">
                <a:latin typeface="Lucida Console" panose="020B0609040504020204" pitchFamily="49" charset="0"/>
              </a:rPr>
              <a:t>hello</a:t>
            </a:r>
          </a:p>
          <a:p>
            <a:pPr marL="456933" lvl="1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zh-TW" sz="2221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221" dirty="0">
                <a:latin typeface="Lucida Console" panose="020B0609040504020204" pitchFamily="49" charset="0"/>
              </a:rPr>
              <a:t> </a:t>
            </a:r>
            <a:r>
              <a:rPr lang="en-US" altLang="zh-TW" sz="2221" b="1" dirty="0">
                <a:solidFill>
                  <a:srgbClr val="00B050"/>
                </a:solidFill>
                <a:latin typeface="Lucida Console" panose="020B0609040504020204" pitchFamily="49" charset="0"/>
              </a:rPr>
              <a:t>printv3</a:t>
            </a:r>
            <a:r>
              <a:rPr lang="en-US" altLang="zh-TW" sz="2221" dirty="0">
                <a:latin typeface="Lucida Console" panose="020B0609040504020204" pitchFamily="49" charset="0"/>
              </a:rPr>
              <a:t>(</a:t>
            </a:r>
            <a:r>
              <a:rPr lang="en-US" altLang="zh-TW" sz="2221" b="1" dirty="0">
                <a:solidFill>
                  <a:srgbClr val="FF0000"/>
                </a:solidFill>
                <a:latin typeface="Lucida Console" panose="020B0609040504020204" pitchFamily="49" charset="0"/>
              </a:rPr>
              <a:t>*</a:t>
            </a:r>
            <a:r>
              <a:rPr lang="en-US" altLang="zh-TW" sz="2221" dirty="0">
                <a:latin typeface="Lucida Console" panose="020B0609040504020204" pitchFamily="49" charset="0"/>
              </a:rPr>
              <a:t>"hello")</a:t>
            </a:r>
          </a:p>
          <a:p>
            <a:pPr marL="456933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221" dirty="0">
                <a:latin typeface="Lucida Console" panose="020B0609040504020204" pitchFamily="49" charset="0"/>
              </a:rPr>
              <a:t>h e l </a:t>
            </a:r>
            <a:r>
              <a:rPr lang="en-US" altLang="zh-TW" sz="2221" dirty="0" err="1">
                <a:latin typeface="Lucida Console" panose="020B0609040504020204" pitchFamily="49" charset="0"/>
              </a:rPr>
              <a:t>l</a:t>
            </a:r>
            <a:r>
              <a:rPr lang="en-US" altLang="zh-TW" sz="2221" dirty="0">
                <a:latin typeface="Lucida Console" panose="020B0609040504020204" pitchFamily="49" charset="0"/>
              </a:rPr>
              <a:t> o</a:t>
            </a:r>
          </a:p>
          <a:p>
            <a:pPr marL="456933" lvl="1" indent="0">
              <a:lnSpc>
                <a:spcPct val="60000"/>
              </a:lnSpc>
              <a:spcBef>
                <a:spcPts val="0"/>
              </a:spcBef>
              <a:buNone/>
            </a:pPr>
            <a:r>
              <a:rPr lang="en-US" altLang="zh-TW" sz="2221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188418" name="Rectangle 1"/>
          <p:cNvSpPr>
            <a:spLocks noGrp="1" noChangeArrowheads="1"/>
          </p:cNvSpPr>
          <p:nvPr>
            <p:ph type="title"/>
          </p:nvPr>
        </p:nvSpPr>
        <p:spPr>
          <a:xfrm>
            <a:off x="-129260" y="2130"/>
            <a:ext cx="9929553" cy="1047099"/>
          </a:xfrm>
        </p:spPr>
        <p:txBody>
          <a:bodyPr/>
          <a:lstStyle/>
          <a:p>
            <a:pPr>
              <a:lnSpc>
                <a:spcPct val="70000"/>
              </a:lnSpc>
              <a:tabLst>
                <a:tab pos="0" algn="l"/>
                <a:tab pos="414096" algn="l"/>
                <a:tab pos="828192" algn="l"/>
                <a:tab pos="1242287" algn="l"/>
                <a:tab pos="1656383" algn="l"/>
                <a:tab pos="2072065" algn="l"/>
                <a:tab pos="2486162" algn="l"/>
                <a:tab pos="2900257" algn="l"/>
                <a:tab pos="3314353" algn="l"/>
                <a:tab pos="3730035" algn="l"/>
                <a:tab pos="4144131" algn="l"/>
                <a:tab pos="4558227" algn="l"/>
                <a:tab pos="4972323" algn="l"/>
                <a:tab pos="5388004" algn="l"/>
                <a:tab pos="5802101" algn="l"/>
                <a:tab pos="6216196" algn="l"/>
                <a:tab pos="6630292" algn="l"/>
                <a:tab pos="7045974" algn="l"/>
                <a:tab pos="7460069" algn="l"/>
                <a:tab pos="7874166" algn="l"/>
                <a:tab pos="8288261" algn="l"/>
              </a:tabLst>
            </a:pPr>
            <a:r>
              <a:rPr lang="en-GB" altLang="en-US" sz="4071" dirty="0">
                <a:solidFill>
                  <a:srgbClr val="0070C0"/>
                </a:solidFill>
              </a:rPr>
              <a:t>Review example: These wrapper functions both behave just like print</a:t>
            </a:r>
            <a:r>
              <a:rPr lang="en-GB" altLang="en-US" sz="4071" b="1" dirty="0">
                <a:solidFill>
                  <a:srgbClr val="0070C0"/>
                </a:solidFill>
                <a:latin typeface="Agency FB" panose="020B0503020202020204" pitchFamily="34" charset="0"/>
              </a:rPr>
              <a:t>()</a:t>
            </a:r>
            <a:endParaRPr lang="en-GB" altLang="en-US" sz="4071" b="1" i="1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8002398" y="2317699"/>
            <a:ext cx="1269103" cy="1269103"/>
          </a:xfrm>
          <a:prstGeom prst="wedgeRoundRectCallout">
            <a:avLst>
              <a:gd name="adj1" fmla="val -32870"/>
              <a:gd name="adj2" fmla="val -134722"/>
              <a:gd name="adj3" fmla="val 16667"/>
            </a:avLst>
          </a:prstGeom>
          <a:solidFill>
            <a:srgbClr val="7030A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4607" tIns="42303" rIns="84607" bIns="42303" numCol="1" rtlCol="0" anchor="ctr" anchorCtr="0" compatLnSpc="1">
            <a:prstTxWarp prst="textNoShape">
              <a:avLst/>
            </a:prstTxWarp>
          </a:bodyPr>
          <a:lstStyle/>
          <a:p>
            <a:pPr algn="ctr" defTabSz="846094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331" dirty="0">
                <a:solidFill>
                  <a:srgbClr val="FFFFFF"/>
                </a:solidFill>
                <a:latin typeface="Times New Roman" charset="0"/>
              </a:rPr>
              <a:t>double</a:t>
            </a:r>
            <a:br>
              <a:rPr lang="en-US" altLang="zh-TW" sz="3331" dirty="0">
                <a:solidFill>
                  <a:srgbClr val="FFFFFF"/>
                </a:solidFill>
                <a:latin typeface="Times New Roman" charset="0"/>
              </a:rPr>
            </a:br>
            <a:r>
              <a:rPr lang="en-US" altLang="zh-TW" sz="3331" dirty="0">
                <a:solidFill>
                  <a:srgbClr val="FFFFFF"/>
                </a:solidFill>
                <a:latin typeface="Times New Roman" charset="0"/>
              </a:rPr>
              <a:t>splat</a:t>
            </a:r>
            <a:endParaRPr lang="zh-TW" altLang="en-US" sz="3331" dirty="0">
              <a:solidFill>
                <a:srgbClr val="FFFFFF"/>
              </a:solidFill>
              <a:latin typeface="Times New Roman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5922479" y="3809437"/>
            <a:ext cx="1269103" cy="1269103"/>
            <a:chOff x="6400800" y="4114800"/>
            <a:chExt cx="1371600" cy="1371600"/>
          </a:xfrm>
        </p:grpSpPr>
        <p:sp>
          <p:nvSpPr>
            <p:cNvPr id="2" name="Rounded Rectangular Callout 1"/>
            <p:cNvSpPr/>
            <p:nvPr/>
          </p:nvSpPr>
          <p:spPr bwMode="auto">
            <a:xfrm>
              <a:off x="6400800" y="4114800"/>
              <a:ext cx="1371600" cy="1371600"/>
            </a:xfrm>
            <a:prstGeom prst="wedgeRoundRectCallout">
              <a:avLst>
                <a:gd name="adj1" fmla="val -302315"/>
                <a:gd name="adj2" fmla="val 128241"/>
                <a:gd name="adj3" fmla="val 16667"/>
              </a:avLst>
            </a:prstGeom>
            <a:solidFill>
              <a:srgbClr val="FF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4607" tIns="42303" rIns="84607" bIns="42303" numCol="1" rtlCol="0" anchor="ctr" anchorCtr="0" compatLnSpc="1">
              <a:prstTxWarp prst="textNoShape">
                <a:avLst/>
              </a:prstTxWarp>
            </a:bodyPr>
            <a:lstStyle/>
            <a:p>
              <a:pPr defTabSz="846094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3331" dirty="0">
                  <a:solidFill>
                    <a:srgbClr val="FFFFFF"/>
                  </a:solidFill>
                  <a:latin typeface="Times New Roman" charset="0"/>
                </a:rPr>
                <a:t>splats</a:t>
              </a:r>
              <a:endParaRPr lang="zh-TW" altLang="en-US" sz="3331" dirty="0">
                <a:solidFill>
                  <a:srgbClr val="FFFFFF"/>
                </a:solidFill>
                <a:latin typeface="Times New Roman" charset="0"/>
              </a:endParaRPr>
            </a:p>
          </p:txBody>
        </p:sp>
        <p:sp>
          <p:nvSpPr>
            <p:cNvPr id="7" name="Rounded Rectangular Callout 6"/>
            <p:cNvSpPr/>
            <p:nvPr/>
          </p:nvSpPr>
          <p:spPr bwMode="auto">
            <a:xfrm>
              <a:off x="6400800" y="4114800"/>
              <a:ext cx="1371600" cy="1371600"/>
            </a:xfrm>
            <a:prstGeom prst="wedgeRoundRectCallout">
              <a:avLst>
                <a:gd name="adj1" fmla="val -327315"/>
                <a:gd name="adj2" fmla="val 56018"/>
                <a:gd name="adj3" fmla="val 16667"/>
              </a:avLst>
            </a:prstGeom>
            <a:solidFill>
              <a:srgbClr val="FF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4607" tIns="42303" rIns="84607" bIns="42303" numCol="1" rtlCol="0" anchor="ctr" anchorCtr="0" compatLnSpc="1">
              <a:prstTxWarp prst="textNoShape">
                <a:avLst/>
              </a:prstTxWarp>
            </a:bodyPr>
            <a:lstStyle/>
            <a:p>
              <a:pPr defTabSz="846094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3331" dirty="0">
                  <a:solidFill>
                    <a:srgbClr val="FFFFFF"/>
                  </a:solidFill>
                  <a:latin typeface="Times New Roman" charset="0"/>
                </a:rPr>
                <a:t>splats</a:t>
              </a:r>
              <a:endParaRPr lang="zh-TW" altLang="en-US" sz="3331" dirty="0">
                <a:solidFill>
                  <a:srgbClr val="FFFFFF"/>
                </a:solidFill>
                <a:latin typeface="Times New Roman" charset="0"/>
              </a:endParaRPr>
            </a:p>
          </p:txBody>
        </p:sp>
        <p:sp>
          <p:nvSpPr>
            <p:cNvPr id="8" name="Rounded Rectangular Callout 7"/>
            <p:cNvSpPr/>
            <p:nvPr/>
          </p:nvSpPr>
          <p:spPr bwMode="auto">
            <a:xfrm>
              <a:off x="6400800" y="4114800"/>
              <a:ext cx="1371600" cy="1092200"/>
            </a:xfrm>
            <a:prstGeom prst="wedgeRoundRectCallout">
              <a:avLst>
                <a:gd name="adj1" fmla="val -300463"/>
                <a:gd name="adj2" fmla="val 38233"/>
                <a:gd name="adj3" fmla="val 16667"/>
              </a:avLst>
            </a:prstGeom>
            <a:solidFill>
              <a:srgbClr val="FF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4607" tIns="42303" rIns="84607" bIns="42303" numCol="1" rtlCol="0" anchor="ctr" anchorCtr="0" compatLnSpc="1">
              <a:prstTxWarp prst="textNoShape">
                <a:avLst/>
              </a:prstTxWarp>
            </a:bodyPr>
            <a:lstStyle/>
            <a:p>
              <a:pPr defTabSz="846094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3331" dirty="0">
                  <a:solidFill>
                    <a:srgbClr val="FFFFFF"/>
                  </a:solidFill>
                  <a:latin typeface="Times New Roman" charset="0"/>
                </a:rPr>
                <a:t>splats</a:t>
              </a:r>
              <a:endParaRPr lang="zh-TW" altLang="en-US" sz="3331" dirty="0">
                <a:solidFill>
                  <a:srgbClr val="FFFFFF"/>
                </a:solidFill>
                <a:latin typeface="Times New Roman" charset="0"/>
              </a:endParaRPr>
            </a:p>
          </p:txBody>
        </p:sp>
        <p:sp>
          <p:nvSpPr>
            <p:cNvPr id="9" name="Rounded Rectangular Callout 8"/>
            <p:cNvSpPr/>
            <p:nvPr/>
          </p:nvSpPr>
          <p:spPr bwMode="auto">
            <a:xfrm>
              <a:off x="6400800" y="4114800"/>
              <a:ext cx="1371600" cy="1371600"/>
            </a:xfrm>
            <a:prstGeom prst="wedgeRoundRectCallout">
              <a:avLst>
                <a:gd name="adj1" fmla="val 43981"/>
                <a:gd name="adj2" fmla="val -256943"/>
                <a:gd name="adj3" fmla="val 16667"/>
              </a:avLst>
            </a:prstGeom>
            <a:solidFill>
              <a:srgbClr val="FF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84607" tIns="42303" rIns="84607" bIns="42303" numCol="1" rtlCol="0" anchor="ctr" anchorCtr="0" compatLnSpc="1">
              <a:prstTxWarp prst="textNoShape">
                <a:avLst/>
              </a:prstTxWarp>
            </a:bodyPr>
            <a:lstStyle/>
            <a:p>
              <a:pPr defTabSz="846094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3331" dirty="0">
                  <a:solidFill>
                    <a:srgbClr val="FFFFFF"/>
                  </a:solidFill>
                  <a:latin typeface="Times New Roman" charset="0"/>
                </a:rPr>
                <a:t>splats</a:t>
              </a:r>
              <a:endParaRPr lang="zh-TW" altLang="en-US" sz="3331" dirty="0">
                <a:solidFill>
                  <a:srgbClr val="FFFFFF"/>
                </a:solidFill>
                <a:latin typeface="Times New Roman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4632" y="2470462"/>
            <a:ext cx="1856650" cy="1844267"/>
            <a:chOff x="69851" y="2667683"/>
            <a:chExt cx="2006600" cy="1993217"/>
          </a:xfrm>
        </p:grpSpPr>
        <p:sp>
          <p:nvSpPr>
            <p:cNvPr id="10" name="Rounded Rectangular Callout 9"/>
            <p:cNvSpPr/>
            <p:nvPr/>
          </p:nvSpPr>
          <p:spPr bwMode="auto">
            <a:xfrm>
              <a:off x="69851" y="2667683"/>
              <a:ext cx="2006600" cy="1993217"/>
            </a:xfrm>
            <a:prstGeom prst="wedgeRoundRectCallout">
              <a:avLst>
                <a:gd name="adj1" fmla="val 122193"/>
                <a:gd name="adj2" fmla="val -120067"/>
                <a:gd name="adj3" fmla="val 16667"/>
              </a:avLst>
            </a:prstGeom>
            <a:solidFill>
              <a:srgbClr val="00B0F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4607" tIns="42303" rIns="84607" bIns="4230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46094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3331" dirty="0">
                  <a:solidFill>
                    <a:srgbClr val="FFFFFF"/>
                  </a:solidFill>
                  <a:latin typeface="Times New Roman" charset="0"/>
                </a:rPr>
                <a:t>variable-</a:t>
              </a:r>
              <a:br>
                <a:rPr lang="en-US" altLang="zh-TW" sz="3331" dirty="0">
                  <a:solidFill>
                    <a:srgbClr val="FFFFFF"/>
                  </a:solidFill>
                  <a:latin typeface="Times New Roman" charset="0"/>
                </a:rPr>
              </a:br>
              <a:r>
                <a:rPr lang="en-US" altLang="zh-TW" sz="3331" dirty="0">
                  <a:solidFill>
                    <a:srgbClr val="FFFFFF"/>
                  </a:solidFill>
                  <a:latin typeface="Times New Roman" charset="0"/>
                </a:rPr>
                <a:t>length</a:t>
              </a:r>
              <a:br>
                <a:rPr lang="en-US" altLang="zh-TW" sz="3331" dirty="0">
                  <a:solidFill>
                    <a:srgbClr val="FFFFFF"/>
                  </a:solidFill>
                  <a:latin typeface="Times New Roman" charset="0"/>
                </a:rPr>
              </a:br>
              <a:r>
                <a:rPr lang="en-US" altLang="zh-TW" sz="3331" dirty="0">
                  <a:solidFill>
                    <a:srgbClr val="FFFFFF"/>
                  </a:solidFill>
                  <a:latin typeface="Times New Roman" charset="0"/>
                </a:rPr>
                <a:t>arguments</a:t>
              </a:r>
              <a:endParaRPr lang="zh-TW" altLang="en-US" sz="3331" dirty="0">
                <a:solidFill>
                  <a:srgbClr val="FFFFFF"/>
                </a:solidFill>
                <a:latin typeface="Times New Roman" charset="0"/>
              </a:endParaRPr>
            </a:p>
          </p:txBody>
        </p:sp>
        <p:sp>
          <p:nvSpPr>
            <p:cNvPr id="11" name="Rounded Rectangular Callout 10"/>
            <p:cNvSpPr/>
            <p:nvPr/>
          </p:nvSpPr>
          <p:spPr bwMode="auto">
            <a:xfrm>
              <a:off x="69851" y="2667683"/>
              <a:ext cx="2006600" cy="1993217"/>
            </a:xfrm>
            <a:prstGeom prst="wedgeRoundRectCallout">
              <a:avLst>
                <a:gd name="adj1" fmla="val 121560"/>
                <a:gd name="adj2" fmla="val -97766"/>
                <a:gd name="adj3" fmla="val 16667"/>
              </a:avLst>
            </a:prstGeom>
            <a:solidFill>
              <a:srgbClr val="00B0F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4607" tIns="42303" rIns="84607" bIns="42303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846094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TW" sz="3331" dirty="0">
                  <a:solidFill>
                    <a:srgbClr val="FFFFFF"/>
                  </a:solidFill>
                  <a:latin typeface="Times New Roman" charset="0"/>
                </a:rPr>
                <a:t>variable-</a:t>
              </a:r>
              <a:br>
                <a:rPr lang="en-US" altLang="zh-TW" sz="3331" dirty="0">
                  <a:solidFill>
                    <a:srgbClr val="FFFFFF"/>
                  </a:solidFill>
                  <a:latin typeface="Times New Roman" charset="0"/>
                </a:rPr>
              </a:br>
              <a:r>
                <a:rPr lang="en-US" altLang="zh-TW" sz="3331" dirty="0">
                  <a:solidFill>
                    <a:srgbClr val="FFFFFF"/>
                  </a:solidFill>
                  <a:latin typeface="Times New Roman" charset="0"/>
                </a:rPr>
                <a:t>length</a:t>
              </a:r>
              <a:br>
                <a:rPr lang="en-US" altLang="zh-TW" sz="3331" dirty="0">
                  <a:solidFill>
                    <a:srgbClr val="FFFFFF"/>
                  </a:solidFill>
                  <a:latin typeface="Times New Roman" charset="0"/>
                </a:rPr>
              </a:br>
              <a:r>
                <a:rPr lang="en-US" altLang="zh-TW" sz="3331" dirty="0">
                  <a:solidFill>
                    <a:srgbClr val="FFFFFF"/>
                  </a:solidFill>
                  <a:latin typeface="Times New Roman" charset="0"/>
                </a:rPr>
                <a:t>arguments</a:t>
              </a:r>
              <a:endParaRPr lang="zh-TW" altLang="en-US" sz="3331" dirty="0">
                <a:solidFill>
                  <a:srgbClr val="FFFFFF"/>
                </a:solidFill>
                <a:latin typeface="Times New Roman" charset="0"/>
              </a:endParaRPr>
            </a:p>
          </p:txBody>
        </p:sp>
      </p:grpSp>
      <p:sp>
        <p:nvSpPr>
          <p:cNvPr id="13" name="Rounded Rectangular Callout 12"/>
          <p:cNvSpPr/>
          <p:nvPr/>
        </p:nvSpPr>
        <p:spPr bwMode="auto">
          <a:xfrm>
            <a:off x="3484158" y="2108283"/>
            <a:ext cx="1856650" cy="1844267"/>
          </a:xfrm>
          <a:prstGeom prst="wedgeRoundRectCallout">
            <a:avLst>
              <a:gd name="adj1" fmla="val 2573"/>
              <a:gd name="adj2" fmla="val -101589"/>
              <a:gd name="adj3" fmla="val 16667"/>
            </a:avLst>
          </a:prstGeom>
          <a:solidFill>
            <a:srgbClr val="CC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4607" tIns="42303" rIns="84607" bIns="42303" numCol="1" rtlCol="0" anchor="ctr" anchorCtr="0" compatLnSpc="1">
            <a:prstTxWarp prst="textNoShape">
              <a:avLst/>
            </a:prstTxWarp>
          </a:bodyPr>
          <a:lstStyle/>
          <a:p>
            <a:pPr algn="ctr" defTabSz="846094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3331" dirty="0">
                <a:solidFill>
                  <a:srgbClr val="FFFFFF"/>
                </a:solidFill>
                <a:latin typeface="Times New Roman" charset="0"/>
              </a:rPr>
              <a:t>variable-</a:t>
            </a:r>
            <a:br>
              <a:rPr lang="en-US" altLang="zh-TW" sz="3331" dirty="0">
                <a:solidFill>
                  <a:srgbClr val="FFFFFF"/>
                </a:solidFill>
                <a:latin typeface="Times New Roman" charset="0"/>
              </a:rPr>
            </a:br>
            <a:r>
              <a:rPr lang="en-US" altLang="zh-TW" sz="3331" dirty="0">
                <a:solidFill>
                  <a:srgbClr val="FFFFFF"/>
                </a:solidFill>
                <a:latin typeface="Times New Roman" charset="0"/>
              </a:rPr>
              <a:t>length</a:t>
            </a:r>
            <a:br>
              <a:rPr lang="en-US" altLang="zh-TW" sz="3331" dirty="0">
                <a:solidFill>
                  <a:srgbClr val="FFFFFF"/>
                </a:solidFill>
                <a:latin typeface="Times New Roman" charset="0"/>
              </a:rPr>
            </a:br>
            <a:r>
              <a:rPr lang="en-US" altLang="zh-TW" sz="3331" dirty="0">
                <a:solidFill>
                  <a:srgbClr val="FFFFFF"/>
                </a:solidFill>
                <a:latin typeface="Times New Roman" charset="0"/>
              </a:rPr>
              <a:t>keyword</a:t>
            </a:r>
            <a:br>
              <a:rPr lang="en-US" altLang="zh-TW" sz="3331" dirty="0">
                <a:solidFill>
                  <a:srgbClr val="FFFFFF"/>
                </a:solidFill>
                <a:latin typeface="Times New Roman" charset="0"/>
              </a:rPr>
            </a:br>
            <a:r>
              <a:rPr lang="en-US" altLang="zh-TW" sz="3331" dirty="0">
                <a:solidFill>
                  <a:srgbClr val="FFFFFF"/>
                </a:solidFill>
                <a:latin typeface="Times New Roman" charset="0"/>
              </a:rPr>
              <a:t>arguments</a:t>
            </a:r>
            <a:endParaRPr lang="zh-TW" altLang="en-US" sz="3331" dirty="0">
              <a:solidFill>
                <a:srgbClr val="FFFF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3940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200" y="0"/>
            <a:ext cx="9105900" cy="6858000"/>
          </a:xfrm>
        </p:spPr>
        <p:txBody>
          <a:bodyPr>
            <a:noAutofit/>
          </a:bodyPr>
          <a:lstStyle/>
          <a:p>
            <a:pPr>
              <a:lnSpc>
                <a:spcPct val="85000"/>
              </a:lnSpc>
              <a:spcBef>
                <a:spcPts val="1000"/>
              </a:spcBef>
            </a:pPr>
            <a:r>
              <a:rPr lang="en-US" sz="3400" dirty="0" smtClean="0">
                <a:solidFill>
                  <a:srgbClr val="0000FF"/>
                </a:solidFill>
              </a:rPr>
              <a:t>In Lecture 5, we learned </a:t>
            </a:r>
            <a:r>
              <a:rPr lang="en-US" sz="3400" b="1" dirty="0" smtClean="0">
                <a:solidFill>
                  <a:srgbClr val="0000FF"/>
                </a:solidFill>
              </a:rPr>
              <a:t>how to define functions</a:t>
            </a:r>
            <a:r>
              <a:rPr lang="en-US" sz="3400" dirty="0" smtClean="0">
                <a:solidFill>
                  <a:srgbClr val="0000FF"/>
                </a:solidFill>
              </a:rPr>
              <a:t>:</a:t>
            </a:r>
          </a:p>
          <a:p>
            <a:pPr lvl="1">
              <a:lnSpc>
                <a:spcPct val="85000"/>
              </a:lnSpc>
              <a:spcBef>
                <a:spcPts val="200"/>
              </a:spcBef>
            </a:pPr>
            <a:r>
              <a:rPr lang="en-US" sz="3200" dirty="0" smtClean="0"/>
              <a:t>The syntax.</a:t>
            </a:r>
          </a:p>
          <a:p>
            <a:pPr lvl="1">
              <a:lnSpc>
                <a:spcPct val="85000"/>
              </a:lnSpc>
              <a:spcBef>
                <a:spcPts val="1000"/>
              </a:spcBef>
            </a:pPr>
            <a:r>
              <a:rPr lang="en-US" sz="3200" dirty="0" smtClean="0"/>
              <a:t>Where they can be defined.</a:t>
            </a:r>
          </a:p>
          <a:p>
            <a:pPr lvl="2">
              <a:lnSpc>
                <a:spcPct val="85000"/>
              </a:lnSpc>
              <a:spcBef>
                <a:spcPts val="200"/>
              </a:spcBef>
            </a:pPr>
            <a:r>
              <a:rPr lang="en-US" sz="3200" dirty="0" smtClean="0"/>
              <a:t>Including bizarre places, like inside an if's body.</a:t>
            </a:r>
          </a:p>
          <a:p>
            <a:pPr>
              <a:lnSpc>
                <a:spcPct val="85000"/>
              </a:lnSpc>
              <a:spcBef>
                <a:spcPts val="1000"/>
              </a:spcBef>
            </a:pPr>
            <a:r>
              <a:rPr lang="en-US" sz="3400" dirty="0" smtClean="0">
                <a:solidFill>
                  <a:srgbClr val="0000FF"/>
                </a:solidFill>
              </a:rPr>
              <a:t>In today's lecture (and at the end of Lecture 5)  we learned </a:t>
            </a:r>
            <a:r>
              <a:rPr lang="en-US" sz="3400" b="1" dirty="0" smtClean="0">
                <a:solidFill>
                  <a:srgbClr val="0000FF"/>
                </a:solidFill>
              </a:rPr>
              <a:t>how to pass arguments </a:t>
            </a:r>
            <a:r>
              <a:rPr lang="en-US" sz="3400" dirty="0" smtClean="0">
                <a:solidFill>
                  <a:srgbClr val="0000FF"/>
                </a:solidFill>
              </a:rPr>
              <a:t>to functions (which the function then receives as </a:t>
            </a:r>
            <a:r>
              <a:rPr lang="en-US" sz="3400" i="1" dirty="0" smtClean="0">
                <a:solidFill>
                  <a:srgbClr val="0000FF"/>
                </a:solidFill>
              </a:rPr>
              <a:t>parameters</a:t>
            </a:r>
            <a:r>
              <a:rPr lang="en-US" sz="3400" dirty="0" smtClean="0">
                <a:solidFill>
                  <a:srgbClr val="0000FF"/>
                </a:solidFill>
              </a:rPr>
              <a:t>):</a:t>
            </a:r>
          </a:p>
          <a:p>
            <a:pPr lvl="1">
              <a:lnSpc>
                <a:spcPct val="85000"/>
              </a:lnSpc>
              <a:spcBef>
                <a:spcPts val="200"/>
              </a:spcBef>
            </a:pPr>
            <a:r>
              <a:rPr lang="en-US" sz="3200" dirty="0" smtClean="0"/>
              <a:t>The syntax for the 6 types of parameters.</a:t>
            </a:r>
          </a:p>
          <a:p>
            <a:pPr lvl="1">
              <a:lnSpc>
                <a:spcPct val="85000"/>
              </a:lnSpc>
              <a:spcBef>
                <a:spcPts val="1000"/>
              </a:spcBef>
            </a:pPr>
            <a:r>
              <a:rPr lang="en-US" sz="3200" dirty="0"/>
              <a:t>P</a:t>
            </a:r>
            <a:r>
              <a:rPr lang="en-US" sz="3200" dirty="0" smtClean="0"/>
              <a:t>otential bugs caused by:</a:t>
            </a:r>
          </a:p>
          <a:p>
            <a:pPr lvl="2">
              <a:lnSpc>
                <a:spcPct val="85000"/>
              </a:lnSpc>
              <a:spcBef>
                <a:spcPts val="200"/>
              </a:spcBef>
            </a:pPr>
            <a:r>
              <a:rPr lang="en-US" sz="3200" dirty="0" smtClean="0"/>
              <a:t>The default only being initialized once.</a:t>
            </a:r>
          </a:p>
          <a:p>
            <a:pPr lvl="2">
              <a:lnSpc>
                <a:spcPct val="85000"/>
              </a:lnSpc>
              <a:spcBef>
                <a:spcPts val="600"/>
              </a:spcBef>
            </a:pPr>
            <a:r>
              <a:rPr lang="en-US" sz="3200" dirty="0" smtClean="0"/>
              <a:t>The incorrect forwarding of </a:t>
            </a:r>
            <a:r>
              <a:rPr lang="en-US" sz="3200" i="1" dirty="0" smtClean="0"/>
              <a:t>the tuple of extra arguments</a:t>
            </a:r>
            <a:r>
              <a:rPr lang="en-US" sz="3200" dirty="0" smtClean="0"/>
              <a:t> or </a:t>
            </a:r>
            <a:r>
              <a:rPr lang="en-US" sz="3200" i="1" dirty="0" smtClean="0"/>
              <a:t>the dictionary of extra keywords</a:t>
            </a:r>
            <a:r>
              <a:rPr lang="en-US" sz="32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62936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1D7FD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200" y="0"/>
            <a:ext cx="9105900" cy="6858000"/>
          </a:xfrm>
        </p:spPr>
        <p:txBody>
          <a:bodyPr>
            <a:noAutofit/>
          </a:bodyPr>
          <a:lstStyle/>
          <a:p>
            <a:pPr>
              <a:lnSpc>
                <a:spcPct val="85000"/>
              </a:lnSpc>
              <a:spcBef>
                <a:spcPts val="1000"/>
              </a:spcBef>
            </a:pPr>
            <a:r>
              <a:rPr lang="en-US" sz="34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In Lecture 5, we learned </a:t>
            </a:r>
            <a:r>
              <a:rPr lang="en-US" sz="3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how to define functions</a:t>
            </a:r>
            <a:r>
              <a:rPr lang="en-US" sz="34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</a:p>
          <a:p>
            <a:pPr lvl="1">
              <a:lnSpc>
                <a:spcPct val="85000"/>
              </a:lnSpc>
              <a:spcBef>
                <a:spcPts val="200"/>
              </a:spcBef>
            </a:pPr>
            <a:r>
              <a:rPr lang="en-US" sz="3200" dirty="0" smtClean="0">
                <a:solidFill>
                  <a:srgbClr val="B2B2B2"/>
                </a:solidFill>
              </a:rPr>
              <a:t>The syntax.</a:t>
            </a:r>
          </a:p>
          <a:p>
            <a:pPr lvl="1">
              <a:lnSpc>
                <a:spcPct val="85000"/>
              </a:lnSpc>
              <a:spcBef>
                <a:spcPts val="1000"/>
              </a:spcBef>
            </a:pPr>
            <a:r>
              <a:rPr lang="en-US" sz="3200" dirty="0" smtClean="0">
                <a:solidFill>
                  <a:srgbClr val="B2B2B2"/>
                </a:solidFill>
              </a:rPr>
              <a:t>Where they can be defined.</a:t>
            </a:r>
          </a:p>
          <a:p>
            <a:pPr lvl="2">
              <a:lnSpc>
                <a:spcPct val="85000"/>
              </a:lnSpc>
              <a:spcBef>
                <a:spcPts val="200"/>
              </a:spcBef>
            </a:pPr>
            <a:r>
              <a:rPr lang="en-US" sz="3200" dirty="0" smtClean="0">
                <a:solidFill>
                  <a:srgbClr val="B2B2B2"/>
                </a:solidFill>
              </a:rPr>
              <a:t>Including bizarre places, like inside an if's body.</a:t>
            </a:r>
          </a:p>
          <a:p>
            <a:pPr>
              <a:lnSpc>
                <a:spcPct val="85000"/>
              </a:lnSpc>
              <a:spcBef>
                <a:spcPts val="1000"/>
              </a:spcBef>
            </a:pPr>
            <a:r>
              <a:rPr lang="en-US" sz="3400" dirty="0" smtClean="0">
                <a:solidFill>
                  <a:srgbClr val="B1D7FD"/>
                </a:solidFill>
              </a:rPr>
              <a:t>In today's lecture (and at the end of Lecture 5)  we learned </a:t>
            </a:r>
            <a:r>
              <a:rPr lang="en-US" sz="3400" b="1" dirty="0" smtClean="0">
                <a:solidFill>
                  <a:srgbClr val="B1D7FD"/>
                </a:solidFill>
              </a:rPr>
              <a:t>how to pass arguments </a:t>
            </a:r>
            <a:r>
              <a:rPr lang="en-US" sz="3400" dirty="0" smtClean="0">
                <a:solidFill>
                  <a:srgbClr val="B1D7FD"/>
                </a:solidFill>
              </a:rPr>
              <a:t>to functions (which the function then receives as </a:t>
            </a:r>
            <a:r>
              <a:rPr lang="en-US" sz="3400" i="1" dirty="0" smtClean="0">
                <a:solidFill>
                  <a:srgbClr val="B1D7FD"/>
                </a:solidFill>
              </a:rPr>
              <a:t>parameters</a:t>
            </a:r>
            <a:r>
              <a:rPr lang="en-US" sz="3400" dirty="0" smtClean="0">
                <a:solidFill>
                  <a:srgbClr val="B1D7FD"/>
                </a:solidFill>
              </a:rPr>
              <a:t>):</a:t>
            </a:r>
            <a:endParaRPr lang="en-US" sz="3400" dirty="0" smtClean="0">
              <a:solidFill>
                <a:srgbClr val="0000FF"/>
              </a:solidFill>
            </a:endParaRPr>
          </a:p>
          <a:p>
            <a:pPr lvl="1">
              <a:lnSpc>
                <a:spcPct val="85000"/>
              </a:lnSpc>
              <a:spcBef>
                <a:spcPts val="200"/>
              </a:spcBef>
            </a:pPr>
            <a:r>
              <a:rPr lang="en-US" sz="3200" dirty="0" smtClean="0">
                <a:solidFill>
                  <a:srgbClr val="B2B2B2"/>
                </a:solidFill>
              </a:rPr>
              <a:t>The syntax for the 6 types of parameters.</a:t>
            </a:r>
          </a:p>
          <a:p>
            <a:pPr lvl="1">
              <a:lnSpc>
                <a:spcPct val="85000"/>
              </a:lnSpc>
              <a:spcBef>
                <a:spcPts val="1000"/>
              </a:spcBef>
            </a:pPr>
            <a:r>
              <a:rPr lang="en-US" sz="3200" dirty="0">
                <a:solidFill>
                  <a:srgbClr val="B2B2B2"/>
                </a:solidFill>
              </a:rPr>
              <a:t>P</a:t>
            </a:r>
            <a:r>
              <a:rPr lang="en-US" sz="3200" dirty="0" smtClean="0">
                <a:solidFill>
                  <a:srgbClr val="B2B2B2"/>
                </a:solidFill>
              </a:rPr>
              <a:t>otential bugs caused by:</a:t>
            </a:r>
          </a:p>
          <a:p>
            <a:pPr lvl="2">
              <a:lnSpc>
                <a:spcPct val="85000"/>
              </a:lnSpc>
              <a:spcBef>
                <a:spcPts val="200"/>
              </a:spcBef>
            </a:pPr>
            <a:r>
              <a:rPr lang="en-US" sz="3200" dirty="0" smtClean="0">
                <a:solidFill>
                  <a:srgbClr val="B2B2B2"/>
                </a:solidFill>
              </a:rPr>
              <a:t>The default only being initialized once.</a:t>
            </a:r>
          </a:p>
          <a:p>
            <a:pPr lvl="2">
              <a:lnSpc>
                <a:spcPct val="85000"/>
              </a:lnSpc>
              <a:spcBef>
                <a:spcPts val="600"/>
              </a:spcBef>
            </a:pPr>
            <a:r>
              <a:rPr lang="en-US" sz="3200" dirty="0" smtClean="0">
                <a:solidFill>
                  <a:srgbClr val="B2B2B2"/>
                </a:solidFill>
              </a:rPr>
              <a:t>The incorrect forwarding of </a:t>
            </a:r>
            <a:r>
              <a:rPr lang="en-US" sz="3200" i="1" dirty="0" smtClean="0">
                <a:solidFill>
                  <a:srgbClr val="B2B2B2"/>
                </a:solidFill>
              </a:rPr>
              <a:t>the tuple of extra arguments </a:t>
            </a:r>
            <a:r>
              <a:rPr lang="en-US" sz="3200" dirty="0" smtClean="0">
                <a:solidFill>
                  <a:srgbClr val="B2B2B2"/>
                </a:solidFill>
              </a:rPr>
              <a:t>or </a:t>
            </a:r>
            <a:r>
              <a:rPr lang="en-US" sz="3200" i="1" dirty="0" smtClean="0">
                <a:solidFill>
                  <a:srgbClr val="B2B2B2"/>
                </a:solidFill>
              </a:rPr>
              <a:t>the dictionary of extra keywords</a:t>
            </a:r>
            <a:r>
              <a:rPr lang="en-US" sz="3200" dirty="0" smtClean="0">
                <a:solidFill>
                  <a:srgbClr val="B2B2B2"/>
                </a:solidFill>
              </a:rPr>
              <a:t>.</a:t>
            </a:r>
          </a:p>
          <a:p>
            <a:pPr>
              <a:lnSpc>
                <a:spcPct val="85000"/>
              </a:lnSpc>
              <a:spcBef>
                <a:spcPts val="1000"/>
              </a:spcBef>
            </a:pPr>
            <a:r>
              <a:rPr lang="en-US" sz="3400" dirty="0" smtClean="0">
                <a:solidFill>
                  <a:srgbClr val="0000FF"/>
                </a:solidFill>
              </a:rPr>
              <a:t>But </a:t>
            </a:r>
            <a:r>
              <a:rPr lang="en-US" sz="3400" b="1" dirty="0">
                <a:solidFill>
                  <a:srgbClr val="0000FF"/>
                </a:solidFill>
              </a:rPr>
              <a:t>how to </a:t>
            </a:r>
            <a:r>
              <a:rPr lang="en-US" sz="3400" b="1" dirty="0" smtClean="0">
                <a:solidFill>
                  <a:srgbClr val="0000FF"/>
                </a:solidFill>
              </a:rPr>
              <a:t>receive return values</a:t>
            </a:r>
            <a:r>
              <a:rPr lang="en-US" sz="3400" dirty="0" smtClean="0">
                <a:solidFill>
                  <a:srgbClr val="0000FF"/>
                </a:solidFill>
              </a:rPr>
              <a:t> from functions:</a:t>
            </a:r>
            <a:endParaRPr lang="en-US" sz="3400" dirty="0">
              <a:solidFill>
                <a:srgbClr val="0000FF"/>
              </a:solidFill>
            </a:endParaRPr>
          </a:p>
          <a:p>
            <a:pPr lvl="1">
              <a:lnSpc>
                <a:spcPct val="85000"/>
              </a:lnSpc>
              <a:spcBef>
                <a:spcPts val="200"/>
              </a:spcBef>
            </a:pPr>
            <a:r>
              <a:rPr lang="en-US" sz="3200" dirty="0" smtClean="0"/>
              <a:t>Including the returning of </a:t>
            </a:r>
            <a:r>
              <a:rPr lang="en-US" sz="3200" b="1" dirty="0" smtClean="0"/>
              <a:t>multiple values</a:t>
            </a:r>
            <a:r>
              <a:rPr lang="en-US" sz="3200" dirty="0" smtClean="0"/>
              <a:t>.</a:t>
            </a:r>
          </a:p>
          <a:p>
            <a:pPr marL="0" indent="0">
              <a:lnSpc>
                <a:spcPct val="85000"/>
              </a:lnSpc>
              <a:spcBef>
                <a:spcPts val="1000"/>
              </a:spcBef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345701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3582" y="3574473"/>
            <a:ext cx="973776" cy="1151906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5982" y="5094514"/>
            <a:ext cx="973776" cy="425532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9" name="Content Placeholder 4"/>
          <p:cNvSpPr txBox="1">
            <a:spLocks/>
          </p:cNvSpPr>
          <p:nvPr/>
        </p:nvSpPr>
        <p:spPr>
          <a:xfrm>
            <a:off x="199695" y="879838"/>
            <a:ext cx="9530094" cy="57525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 now know how to call a function.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next logical step is to discuss how we return from it.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is done through the “return” keyword:</a:t>
            </a: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	&gt;&gt;&gt; 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def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 f(): return 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1</a:t>
            </a: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	...</a:t>
            </a: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	&gt;&gt;&gt; print(f())</a:t>
            </a: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	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1</a:t>
            </a: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Console" panose="020B0609040504020204" pitchFamily="49" charset="0"/>
                <a:ea typeface="+mn-ea"/>
                <a:cs typeface="+mn-cs"/>
              </a:rPr>
              <a:t>	&gt;&gt;&gt;</a:t>
            </a:r>
            <a:endParaRPr kumimoji="0" lang="en-US" sz="3600" b="0" i="0" u="none" strike="noStrike" kern="120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Although this is obvious, certain special </a:t>
            </a:r>
            <a:b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cases are worth considering further…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Returning from a Function</a:t>
            </a:r>
            <a:endParaRPr lang="en-US" sz="4400" dirty="0" smtClean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7227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4"/>
          <p:cNvSpPr txBox="1">
            <a:spLocks/>
          </p:cNvSpPr>
          <p:nvPr/>
        </p:nvSpPr>
        <p:spPr>
          <a:xfrm>
            <a:off x="-239249" y="1005840"/>
            <a:ext cx="9969037" cy="5852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 cat ReturningOneObject.py</a:t>
            </a: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def</a:t>
            </a:r>
            <a:r>
              <a:rPr lang="en-US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f(): return 1</a:t>
            </a: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a=f(); print("a=",a)</a:t>
            </a:r>
            <a:r>
              <a:rPr lang="en-US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zh-TW" dirty="0" smtClean="0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course 1 variable can get 1 value</a:t>
            </a: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def</a:t>
            </a:r>
            <a:r>
              <a:rPr lang="en-US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f(): return [1,2]</a:t>
            </a: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b=f(); print("b=",b)</a:t>
            </a:r>
            <a:r>
              <a:rPr lang="en-US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zh-TW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en-US" altLang="zh-TW" spc="-10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also assigned just 1 value (a list)</a:t>
            </a:r>
            <a:endParaRPr lang="en-US" spc="-10" dirty="0" smtClean="0">
              <a:solidFill>
                <a:schemeClr val="accent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def</a:t>
            </a:r>
            <a:r>
              <a:rPr lang="en-US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f(): return [1]</a:t>
            </a: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c=f(); print("c=",c)</a:t>
            </a:r>
            <a:r>
              <a:rPr lang="en-US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zh-TW" dirty="0" smtClean="0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altLang="zh-TW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This list has just 1 element</a:t>
            </a:r>
            <a:r>
              <a:rPr lang="en-US" dirty="0" smtClean="0">
                <a:latin typeface="Lucida Console" panose="020B0609040504020204" pitchFamily="49" charset="0"/>
              </a:rPr>
              <a:t> </a:t>
            </a: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def</a:t>
            </a:r>
            <a:r>
              <a:rPr lang="en-US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f(): return (1)</a:t>
            </a: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d=f(); print("d=",d)</a:t>
            </a:r>
            <a:r>
              <a:rPr lang="en-US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zh-TW" spc="-50" dirty="0" smtClean="0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altLang="zh-TW" spc="-50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Did we create a tuple of one element?</a:t>
            </a:r>
            <a:endParaRPr lang="en-US" spc="-50" dirty="0" smtClean="0">
              <a:solidFill>
                <a:schemeClr val="accent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err="1" smtClean="0">
                <a:solidFill>
                  <a:schemeClr val="bg1"/>
                </a:solidFill>
                <a:latin typeface="Lucida Console" panose="020B0609040504020204" pitchFamily="49" charset="0"/>
              </a:rPr>
              <a:t>def</a:t>
            </a:r>
            <a:r>
              <a:rPr 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f(): return (1,)</a:t>
            </a: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e=f(); print("e=",e)</a:t>
            </a:r>
            <a:r>
              <a:rPr lang="en-US" altLang="zh-TW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This time we made a  1 element tuple</a:t>
            </a:r>
            <a:endParaRPr lang="en-US" dirty="0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 python3 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ReturningOneObject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.py</a:t>
            </a: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a= 1		</a:t>
            </a:r>
            <a:r>
              <a:rPr lang="en-US" dirty="0" smtClean="0">
                <a:solidFill>
                  <a:srgbClr val="5B9BD5"/>
                </a:solidFill>
                <a:latin typeface="Lucida Console" panose="020B0609040504020204" pitchFamily="49" charset="0"/>
              </a:rPr>
              <a:t>		</a:t>
            </a:r>
            <a:r>
              <a:rPr lang="en-US" altLang="zh-TW" dirty="0" smtClean="0">
                <a:solidFill>
                  <a:srgbClr val="5B9BD5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A plain number</a:t>
            </a:r>
            <a:endParaRPr lang="en-US" dirty="0" smtClean="0">
              <a:solidFill>
                <a:srgbClr val="5B9BD5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b= [1, 2]		</a:t>
            </a:r>
            <a:r>
              <a:rPr lang="en-US" dirty="0" smtClean="0">
                <a:solidFill>
                  <a:srgbClr val="5B9BD5"/>
                </a:solidFill>
                <a:latin typeface="Lucida Console" panose="020B0609040504020204" pitchFamily="49" charset="0"/>
              </a:rPr>
              <a:t>	</a:t>
            </a:r>
            <a:r>
              <a:rPr lang="en-US" altLang="zh-TW" dirty="0" smtClean="0">
                <a:solidFill>
                  <a:srgbClr val="5B9BD5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A two element list</a:t>
            </a:r>
            <a:endParaRPr lang="en-US" dirty="0" smtClean="0">
              <a:solidFill>
                <a:srgbClr val="5B9BD5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c= [1]				</a:t>
            </a:r>
            <a:r>
              <a:rPr lang="en-US" altLang="zh-TW" dirty="0" smtClean="0">
                <a:solidFill>
                  <a:srgbClr val="5B9BD5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A one element list</a:t>
            </a:r>
            <a:endParaRPr lang="en-US" dirty="0" smtClean="0">
              <a:solidFill>
                <a:srgbClr val="5B9BD5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dirty="0" smtClean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e= (1,)				</a:t>
            </a:r>
            <a:r>
              <a:rPr lang="en-US" dirty="0" smtClean="0">
                <a:solidFill>
                  <a:schemeClr val="bg1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A one element tuple</a:t>
            </a:r>
            <a:endParaRPr lang="en-US" dirty="0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%</a:t>
            </a:r>
            <a:endParaRPr lang="en-US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Returning from a Function</a:t>
            </a:r>
            <a:endParaRPr lang="en-US" sz="4400" dirty="0" smtClean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016774" y="4239494"/>
            <a:ext cx="3752602" cy="130628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Recall...</a:t>
            </a:r>
            <a:endParaRPr lang="zh-TW" altLang="en-US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436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-198369" y="2644877"/>
            <a:ext cx="10187943" cy="4218039"/>
          </a:xfrm>
        </p:spPr>
        <p:txBody>
          <a:bodyPr>
            <a:normAutofit fontScale="92500"/>
          </a:bodyPr>
          <a:lstStyle/>
          <a:p>
            <a:pPr marL="419344" lvl="1" indent="0">
              <a:buNone/>
            </a:pPr>
            <a:r>
              <a:rPr lang="en-US" sz="2201" dirty="0"/>
              <a:t>	</a:t>
            </a:r>
            <a:r>
              <a:rPr lang="en-US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x = </a:t>
            </a:r>
            <a:r>
              <a:rPr lang="en-US" sz="2600" b="1" dirty="0">
                <a:solidFill>
                  <a:srgbClr val="0070C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2+3*</a:t>
            </a:r>
            <a:r>
              <a:rPr lang="en-US" sz="2600" b="1" dirty="0">
                <a:solidFill>
                  <a:srgbClr val="0070C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4+1</a:t>
            </a:r>
            <a:r>
              <a:rPr lang="en-US" sz="2600" b="1" dirty="0">
                <a:solidFill>
                  <a:srgbClr val="0070C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))</a:t>
            </a:r>
          </a:p>
          <a:p>
            <a:pPr lvl="2"/>
            <a:r>
              <a:rPr lang="en-US" sz="2568" dirty="0"/>
              <a:t>But an expression can be as simple as just a number:</a:t>
            </a:r>
          </a:p>
          <a:p>
            <a:pPr marL="1258032" lvl="3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 x = </a:t>
            </a:r>
            <a:r>
              <a:rPr lang="en-US" sz="2600" b="1" dirty="0">
                <a:solidFill>
                  <a:srgbClr val="0070C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50</a:t>
            </a:r>
            <a:r>
              <a:rPr lang="en-US" sz="2600" b="1" dirty="0">
                <a:solidFill>
                  <a:srgbClr val="0070C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; print (x*2)</a:t>
            </a:r>
          </a:p>
          <a:p>
            <a:pPr marL="1258032" lvl="3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100</a:t>
            </a:r>
          </a:p>
          <a:p>
            <a:pPr marL="1258032" lvl="3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 # (50)*2 == 100 tells us (50) is a number</a:t>
            </a:r>
            <a:endParaRPr lang="en-US" altLang="zh-TW" sz="260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altLang="zh-TW" sz="2568" dirty="0"/>
              <a:t>The solution is for tuple singletons to use a comma at the end:</a:t>
            </a:r>
          </a:p>
          <a:p>
            <a:pPr marL="1258032" lvl="3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zh-TW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 x = </a:t>
            </a:r>
            <a:r>
              <a:rPr lang="en-US" altLang="zh-TW" sz="26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zh-TW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50</a:t>
            </a:r>
            <a:r>
              <a:rPr lang="en-US" altLang="zh-TW" sz="26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,)</a:t>
            </a:r>
            <a:r>
              <a:rPr lang="en-US" altLang="zh-TW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; print (x*2)</a:t>
            </a:r>
          </a:p>
          <a:p>
            <a:pPr marL="1258032" lvl="3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6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zh-TW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50, 50</a:t>
            </a:r>
            <a:r>
              <a:rPr lang="en-US" altLang="zh-TW" sz="26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1258032" lvl="3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6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 # Clearly </a:t>
            </a:r>
            <a:r>
              <a:rPr lang="en-US" sz="26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(50,) </a:t>
            </a:r>
            <a:r>
              <a:rPr lang="en-US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was treated like a </a:t>
            </a:r>
            <a:r>
              <a:rPr lang="en-US" sz="26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tuple</a:t>
            </a:r>
            <a:endParaRPr lang="en-US" sz="26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1200"/>
              </a:spcBef>
            </a:pPr>
            <a:r>
              <a:rPr lang="en-US" sz="2700" b="1" dirty="0">
                <a:solidFill>
                  <a:srgbClr val="FF0000"/>
                </a:solidFill>
              </a:rPr>
              <a:t>Non-singletons</a:t>
            </a:r>
            <a:r>
              <a:rPr lang="en-US" sz="2700" dirty="0">
                <a:solidFill>
                  <a:srgbClr val="FF0000"/>
                </a:solidFill>
              </a:rPr>
              <a:t> have no problem, because </a:t>
            </a:r>
            <a:r>
              <a:rPr lang="en-US" sz="2700" spc="-100" dirty="0">
                <a:solidFill>
                  <a:srgbClr val="FF0000"/>
                </a:solidFill>
              </a:rPr>
              <a:t>“</a:t>
            </a:r>
            <a:r>
              <a:rPr lang="en-US" sz="2700" b="1" dirty="0">
                <a:solidFill>
                  <a:srgbClr val="FF0000"/>
                </a:solidFill>
              </a:rPr>
              <a:t>,</a:t>
            </a:r>
            <a:r>
              <a:rPr lang="en-US" sz="2700" dirty="0">
                <a:solidFill>
                  <a:srgbClr val="FF0000"/>
                </a:solidFill>
              </a:rPr>
              <a:t>” is</a:t>
            </a:r>
            <a:r>
              <a:rPr lang="en-US" sz="2700" spc="-100" dirty="0">
                <a:solidFill>
                  <a:srgbClr val="FF0000"/>
                </a:solidFill>
              </a:rPr>
              <a:t>n’</a:t>
            </a:r>
            <a:r>
              <a:rPr lang="en-US" sz="2700" dirty="0">
                <a:solidFill>
                  <a:srgbClr val="FF0000"/>
                </a:solidFill>
              </a:rPr>
              <a:t>t used in expressions.</a:t>
            </a:r>
          </a:p>
          <a:p>
            <a:pPr lvl="1">
              <a:spcBef>
                <a:spcPts val="1200"/>
              </a:spcBef>
            </a:pPr>
            <a:r>
              <a:rPr lang="en-US" sz="2700" b="1" u="sng" dirty="0">
                <a:solidFill>
                  <a:srgbClr val="FF0000"/>
                </a:solidFill>
              </a:rPr>
              <a:t>List</a:t>
            </a:r>
            <a:r>
              <a:rPr lang="en-US" sz="2700" dirty="0">
                <a:solidFill>
                  <a:srgbClr val="FF0000"/>
                </a:solidFill>
              </a:rPr>
              <a:t> singletons have no problem, because “</a:t>
            </a:r>
            <a:r>
              <a:rPr lang="en-US" sz="2700" b="1" dirty="0">
                <a:solidFill>
                  <a:srgbClr val="FF0000"/>
                </a:solidFill>
              </a:rPr>
              <a:t>[</a:t>
            </a:r>
            <a:r>
              <a:rPr lang="en-US" sz="2700" dirty="0">
                <a:solidFill>
                  <a:srgbClr val="FF0000"/>
                </a:solidFill>
              </a:rPr>
              <a:t>” isn’t used in expressions.</a:t>
            </a:r>
          </a:p>
        </p:txBody>
      </p:sp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solidFill>
                  <a:srgbClr val="0070C0"/>
                </a:solidFill>
              </a:rPr>
              <a:t>Creating Singleton Tuples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75256" y="1012724"/>
            <a:ext cx="9554531" cy="1818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436" indent="-182436" algn="l" defTabSz="729742" rtl="0" eaLnBrk="1" latinLnBrk="0" hangingPunct="1">
              <a:lnSpc>
                <a:spcPct val="90000"/>
              </a:lnSpc>
              <a:spcBef>
                <a:spcPts val="798"/>
              </a:spcBef>
              <a:buFont typeface="Arial" panose="020B0604020202020204" pitchFamily="34" charset="0"/>
              <a:buChar char="•"/>
              <a:defRPr sz="31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307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8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177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5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77049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2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1920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2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06790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1662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6533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1404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 smtClean="0">
                <a:solidFill>
                  <a:prstClr val="black"/>
                </a:solidFill>
              </a:rPr>
              <a:t>You can create a tuple with any number of entries, including zero:</a:t>
            </a:r>
          </a:p>
          <a:p>
            <a:pPr lvl="1">
              <a:buFontTx/>
              <a:buNone/>
            </a:pPr>
            <a:r>
              <a:rPr lang="en-US" sz="2600" dirty="0" smtClean="0">
                <a:solidFill>
                  <a:prstClr val="black"/>
                </a:solidFill>
                <a:latin typeface="Lucida Console" panose="020B0609040504020204" pitchFamily="49" charset="0"/>
                <a:cs typeface="Courier New" pitchFamily="49" charset="0"/>
              </a:rPr>
              <a:t>tup1=</a:t>
            </a:r>
            <a:r>
              <a:rPr lang="en-US" sz="2600" b="1" dirty="0" smtClean="0">
                <a:solidFill>
                  <a:srgbClr val="7030A0"/>
                </a:solidFill>
                <a:latin typeface="Lucida Console" panose="020B0609040504020204" pitchFamily="49" charset="0"/>
                <a:cs typeface="Courier New" pitchFamily="49" charset="0"/>
              </a:rPr>
              <a:t>(</a:t>
            </a:r>
            <a:r>
              <a:rPr lang="en-US" sz="2600" dirty="0" smtClean="0">
                <a:solidFill>
                  <a:prstClr val="black"/>
                </a:solidFill>
                <a:latin typeface="Lucida Console" panose="020B0609040504020204" pitchFamily="49" charset="0"/>
                <a:cs typeface="Courier New" pitchFamily="49" charset="0"/>
              </a:rPr>
              <a:t>'phys','chem',2017,2019</a:t>
            </a:r>
            <a:r>
              <a:rPr lang="en-US" sz="2600" b="1" dirty="0" smtClean="0">
                <a:solidFill>
                  <a:srgbClr val="7030A0"/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  <a:r>
              <a:rPr lang="en-US" sz="2600" dirty="0" smtClean="0">
                <a:solidFill>
                  <a:prstClr val="black"/>
                </a:solidFill>
                <a:latin typeface="Lucida Console" panose="020B0609040504020204" pitchFamily="49" charset="0"/>
                <a:cs typeface="Courier New" pitchFamily="49" charset="0"/>
              </a:rPr>
              <a:t>; tup2=</a:t>
            </a:r>
            <a:r>
              <a:rPr lang="en-US" sz="2600" b="1" dirty="0" smtClean="0">
                <a:solidFill>
                  <a:srgbClr val="7030A0"/>
                </a:solidFill>
                <a:latin typeface="Lucida Console" panose="020B0609040504020204" pitchFamily="49" charset="0"/>
                <a:cs typeface="Courier New" pitchFamily="49" charset="0"/>
              </a:rPr>
              <a:t>()</a:t>
            </a:r>
            <a:endParaRPr lang="en-US" sz="2600" dirty="0" smtClean="0">
              <a:solidFill>
                <a:prstClr val="black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>
              <a:spcBef>
                <a:spcPts val="1200"/>
              </a:spcBef>
            </a:pPr>
            <a:r>
              <a:rPr lang="en-US" sz="2600" dirty="0" smtClean="0">
                <a:solidFill>
                  <a:prstClr val="black"/>
                </a:solidFill>
              </a:rPr>
              <a:t>But a tuple</a:t>
            </a:r>
            <a:r>
              <a:rPr lang="en-US" sz="2400" dirty="0" smtClean="0">
                <a:solidFill>
                  <a:prstClr val="black"/>
                </a:solidFill>
              </a:rPr>
              <a:t> </a:t>
            </a:r>
            <a:r>
              <a:rPr lang="en-US" sz="2600" dirty="0" smtClean="0">
                <a:solidFill>
                  <a:prstClr val="black"/>
                </a:solidFill>
              </a:rPr>
              <a:t>with</a:t>
            </a:r>
            <a:r>
              <a:rPr lang="en-US" sz="2400" dirty="0" smtClean="0">
                <a:solidFill>
                  <a:prstClr val="black"/>
                </a:solidFill>
              </a:rPr>
              <a:t> </a:t>
            </a:r>
            <a:r>
              <a:rPr lang="en-US" sz="2600" dirty="0" smtClean="0">
                <a:solidFill>
                  <a:prstClr val="black"/>
                </a:solidFill>
              </a:rPr>
              <a:t>one</a:t>
            </a:r>
            <a:r>
              <a:rPr lang="en-US" sz="2400" dirty="0" smtClean="0">
                <a:solidFill>
                  <a:prstClr val="black"/>
                </a:solidFill>
              </a:rPr>
              <a:t> </a:t>
            </a:r>
            <a:r>
              <a:rPr lang="en-US" sz="2600" spc="-50" dirty="0" smtClean="0">
                <a:solidFill>
                  <a:prstClr val="black"/>
                </a:solidFill>
              </a:rPr>
              <a:t>v</a:t>
            </a:r>
            <a:r>
              <a:rPr lang="en-US" sz="2600" dirty="0" smtClean="0">
                <a:solidFill>
                  <a:prstClr val="black"/>
                </a:solidFill>
              </a:rPr>
              <a:t>alue</a:t>
            </a:r>
            <a:r>
              <a:rPr lang="en-US" sz="2400" dirty="0" smtClean="0">
                <a:solidFill>
                  <a:prstClr val="black"/>
                </a:solidFill>
              </a:rPr>
              <a:t> </a:t>
            </a:r>
            <a:r>
              <a:rPr lang="en-US" sz="2600" spc="-100" dirty="0" smtClean="0">
                <a:solidFill>
                  <a:prstClr val="black"/>
                </a:solidFill>
              </a:rPr>
              <a:t>(</a:t>
            </a:r>
            <a:r>
              <a:rPr lang="en-US" sz="2600" dirty="0" smtClean="0">
                <a:solidFill>
                  <a:prstClr val="black"/>
                </a:solidFill>
              </a:rPr>
              <a:t>mathematicall</a:t>
            </a:r>
            <a:r>
              <a:rPr lang="en-US" sz="2600" spc="-100" dirty="0" smtClean="0">
                <a:solidFill>
                  <a:prstClr val="black"/>
                </a:solidFill>
              </a:rPr>
              <a:t>y</a:t>
            </a:r>
            <a:r>
              <a:rPr lang="en-US" sz="2600" dirty="0" smtClean="0">
                <a:solidFill>
                  <a:prstClr val="black"/>
                </a:solidFill>
              </a:rPr>
              <a:t>,</a:t>
            </a:r>
            <a:r>
              <a:rPr lang="en-US" sz="2400" dirty="0" smtClean="0">
                <a:solidFill>
                  <a:prstClr val="black"/>
                </a:solidFill>
              </a:rPr>
              <a:t> </a:t>
            </a:r>
            <a:r>
              <a:rPr lang="en-US" sz="2600" dirty="0" smtClean="0">
                <a:solidFill>
                  <a:prstClr val="black"/>
                </a:solidFill>
              </a:rPr>
              <a:t>this is called a</a:t>
            </a:r>
            <a:r>
              <a:rPr lang="en-US" sz="2400" dirty="0" smtClean="0">
                <a:solidFill>
                  <a:prstClr val="black"/>
                </a:solidFill>
              </a:rPr>
              <a:t> </a:t>
            </a:r>
            <a:r>
              <a:rPr lang="en-US" sz="2600" i="1" dirty="0" smtClean="0">
                <a:solidFill>
                  <a:srgbClr val="008000"/>
                </a:solidFill>
              </a:rPr>
              <a:t>singleto</a:t>
            </a:r>
            <a:r>
              <a:rPr lang="en-US" sz="2600" i="1" spc="-100" dirty="0" smtClean="0">
                <a:solidFill>
                  <a:srgbClr val="008000"/>
                </a:solidFill>
              </a:rPr>
              <a:t>n</a:t>
            </a:r>
            <a:r>
              <a:rPr lang="en-US" sz="2600" dirty="0" smtClean="0">
                <a:solidFill>
                  <a:prstClr val="black"/>
                </a:solidFill>
              </a:rPr>
              <a:t>)</a:t>
            </a:r>
            <a:r>
              <a:rPr lang="en-US" sz="2600" dirty="0" smtClean="0">
                <a:solidFill>
                  <a:srgbClr val="FF0000"/>
                </a:solidFill>
              </a:rPr>
              <a:t> </a:t>
            </a:r>
            <a:r>
              <a:rPr lang="en-US" sz="2600" dirty="0" smtClean="0">
                <a:solidFill>
                  <a:prstClr val="black"/>
                </a:solidFill>
              </a:rPr>
              <a:t>has a problem, because numerical expressions use parentheses too: 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6774" y="4239494"/>
            <a:ext cx="3752602" cy="130628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Recall...</a:t>
            </a:r>
            <a:endParaRPr lang="zh-TW" altLang="en-US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 flipH="1">
            <a:off x="7340848" y="434793"/>
            <a:ext cx="3125129" cy="784901"/>
            <a:chOff x="-734800" y="434792"/>
            <a:chExt cx="3125129" cy="784901"/>
          </a:xfrm>
        </p:grpSpPr>
        <p:sp>
          <p:nvSpPr>
            <p:cNvPr id="7" name="Trapezoid 6"/>
            <p:cNvSpPr/>
            <p:nvPr/>
          </p:nvSpPr>
          <p:spPr bwMode="auto">
            <a:xfrm rot="-2700000">
              <a:off x="-734800" y="435836"/>
              <a:ext cx="3125129" cy="783857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en-US" sz="2800" dirty="0">
                <a:solidFill>
                  <a:prstClr val="black"/>
                </a:solidFill>
                <a:latin typeface="Arial" charset="0"/>
                <a:ea typeface="新細明體" charset="-12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 rot="-2700000">
              <a:off x="-514076" y="434792"/>
              <a:ext cx="2717649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>
                  <a:solidFill>
                    <a:prstClr val="black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2</a:t>
              </a:r>
              <a:br>
                <a:rPr kumimoji="1" lang="en-US" altLang="zh-TW" sz="2400" dirty="0">
                  <a:solidFill>
                    <a:prstClr val="black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>
                  <a:solidFill>
                    <a:prstClr val="black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Slide </a:t>
              </a:r>
              <a:r>
                <a:rPr kumimoji="1" lang="en-US" altLang="zh-TW" sz="2400" dirty="0" smtClean="0">
                  <a:solidFill>
                    <a:prstClr val="black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#77</a:t>
              </a:r>
              <a:endParaRPr kumimoji="1" lang="en-US" altLang="zh-TW" sz="2400" dirty="0">
                <a:solidFill>
                  <a:prstClr val="black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  <p:sp>
        <p:nvSpPr>
          <p:cNvPr id="2" name="Oval 1"/>
          <p:cNvSpPr/>
          <p:nvPr/>
        </p:nvSpPr>
        <p:spPr>
          <a:xfrm>
            <a:off x="1524000" y="3177309"/>
            <a:ext cx="2179782" cy="69272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51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"/>
          <p:cNvSpPr txBox="1">
            <a:spLocks/>
          </p:cNvSpPr>
          <p:nvPr/>
        </p:nvSpPr>
        <p:spPr>
          <a:xfrm>
            <a:off x="-239248" y="1005840"/>
            <a:ext cx="9969036" cy="5852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dirty="0" smtClean="0">
                <a:latin typeface="Lucida Console" panose="020B0609040504020204" pitchFamily="49" charset="0"/>
              </a:rPr>
              <a:t> 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cat ReturningOneObject.py</a:t>
            </a: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f(): return 1</a:t>
            </a: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a=f(); print("a=",a)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course 1 variable can get 1 value</a:t>
            </a: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f(): return [1,2]</a:t>
            </a: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b=f(); print("b=",b)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en-US" altLang="zh-TW" spc="-1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also assigned just 1 value (a list)</a:t>
            </a:r>
            <a:endParaRPr lang="en-US" dirty="0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f(): return [1]</a:t>
            </a: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c=f(); print("c=",c)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This list has just 1 element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def</a:t>
            </a:r>
            <a:r>
              <a:rPr lang="en-US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f(): return (1)</a:t>
            </a: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d=f(); print("d=",d)</a:t>
            </a:r>
            <a:r>
              <a:rPr lang="en-US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zh-TW" spc="-50" dirty="0" smtClean="0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Did we create a tuple of one element</a:t>
            </a:r>
            <a:r>
              <a:rPr lang="en-US" altLang="zh-TW" dirty="0" smtClean="0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dirty="0" smtClean="0">
              <a:solidFill>
                <a:srgbClr val="5B9BD5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f(): return (1,)</a:t>
            </a: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e=f(); print("e=",e</a:t>
            </a:r>
            <a:r>
              <a:rPr lang="en-US" altLang="zh-TW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This time we made a  1 element tuple</a:t>
            </a:r>
            <a:endParaRPr lang="en-US" dirty="0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dirty="0" smtClean="0">
                <a:latin typeface="Lucida Console" panose="020B0609040504020204" pitchFamily="49" charset="0"/>
              </a:rPr>
              <a:t> 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python3 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ReturningOneObject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.py</a:t>
            </a: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a= 1				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A plain number</a:t>
            </a:r>
            <a:endParaRPr lang="en-US" dirty="0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b= [1, 2]			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A two element list</a:t>
            </a:r>
            <a:endParaRPr lang="en-US" dirty="0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c= [1]				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A one element list</a:t>
            </a:r>
            <a:endParaRPr lang="en-US" dirty="0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d= 1				</a:t>
            </a:r>
            <a:r>
              <a:rPr lang="en-US" altLang="zh-TW" dirty="0" smtClean="0">
                <a:solidFill>
                  <a:srgbClr val="5B9BD5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No, its a plain number</a:t>
            </a:r>
            <a:endParaRPr lang="en-US" dirty="0" smtClean="0">
              <a:solidFill>
                <a:srgbClr val="5B9BD5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e= (1,)				</a:t>
            </a:r>
            <a:r>
              <a:rPr lang="en-US" dirty="0" smtClean="0">
                <a:solidFill>
                  <a:schemeClr val="bg1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A one element tuple</a:t>
            </a:r>
            <a:endParaRPr lang="en-US" dirty="0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</a:t>
            </a:r>
            <a:endParaRPr lang="en-US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Returning from a Function</a:t>
            </a:r>
            <a:endParaRPr lang="en-US" sz="4400" dirty="0" smtClean="0">
              <a:solidFill>
                <a:srgbClr val="0070C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16774" y="4239494"/>
            <a:ext cx="3752602" cy="130628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Recall...</a:t>
            </a:r>
            <a:endParaRPr lang="zh-TW" altLang="en-US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5357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/>
          <p:cNvSpPr txBox="1">
            <a:spLocks/>
          </p:cNvSpPr>
          <p:nvPr/>
        </p:nvSpPr>
        <p:spPr>
          <a:xfrm>
            <a:off x="-239249" y="1005840"/>
            <a:ext cx="9969037" cy="5852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smtClean="0">
                <a:latin typeface="Lucida Console" panose="020B0609040504020204" pitchFamily="49" charset="0"/>
              </a:rPr>
              <a:t> </a:t>
            </a:r>
            <a:r>
              <a:rPr lang="en-US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cat ReturningOneObject.py</a:t>
            </a: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f(): return 1</a:t>
            </a: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a=f(); print("a=",a)</a:t>
            </a:r>
            <a:r>
              <a:rPr lang="en-US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0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course 1 variable can get 1 value</a:t>
            </a: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f(): return [1,2]</a:t>
            </a: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b=f(); print("b=",b)</a:t>
            </a:r>
            <a:r>
              <a:rPr lang="en-US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en-US" altLang="zh-TW" spc="-1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also assigned just 1 value (a list)</a:t>
            </a:r>
            <a:endParaRPr lang="en-US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f(): return [1]</a:t>
            </a: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c=f(); print("c=",c)</a:t>
            </a:r>
            <a:r>
              <a:rPr lang="en-US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This list has just 1 element</a:t>
            </a:r>
            <a:r>
              <a:rPr lang="en-US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f(): return (1)</a:t>
            </a: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d=f(); print("d=",d)</a:t>
            </a:r>
            <a:r>
              <a:rPr lang="en-US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zh-TW" spc="-5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Did we create a tuple of one element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mtClean="0">
                <a:solidFill>
                  <a:srgbClr val="FF0000"/>
                </a:solidFill>
                <a:latin typeface="Lucida Console" panose="020B0609040504020204" pitchFamily="49" charset="0"/>
              </a:rPr>
              <a:t>def f(): return (1,)</a:t>
            </a: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mtClean="0">
                <a:solidFill>
                  <a:srgbClr val="FF0000"/>
                </a:solidFill>
                <a:latin typeface="Lucida Console" panose="020B0609040504020204" pitchFamily="49" charset="0"/>
              </a:rPr>
              <a:t>e=f(); print("e=",e)</a:t>
            </a:r>
            <a:r>
              <a:rPr lang="en-US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0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pc="-50" smtClean="0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en-US" altLang="zh-TW" smtClean="0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time we made a 1 element tuple</a:t>
            </a:r>
            <a:endParaRPr lang="en-US" smtClean="0">
              <a:solidFill>
                <a:srgbClr val="5B9BD5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smtClean="0">
                <a:latin typeface="Lucida Console" panose="020B0609040504020204" pitchFamily="49" charset="0"/>
              </a:rPr>
              <a:t> </a:t>
            </a:r>
            <a:r>
              <a:rPr lang="en-US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python3 </a:t>
            </a:r>
            <a:r>
              <a:rPr lang="en-US" altLang="zh-TW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ReturningOneObject</a:t>
            </a:r>
            <a:r>
              <a:rPr lang="en-US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.py</a:t>
            </a: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a= 1			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A plain number</a:t>
            </a:r>
            <a:endParaRPr lang="en-US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b= [1, 2]		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A two element list</a:t>
            </a:r>
            <a:endParaRPr lang="en-US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c= [1]			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A one element list</a:t>
            </a:r>
            <a:endParaRPr lang="en-US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d= 1			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No, its a plain number</a:t>
            </a:r>
            <a:endParaRPr lang="en-US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mtClean="0">
                <a:solidFill>
                  <a:schemeClr val="bg1"/>
                </a:solidFill>
                <a:latin typeface="Lucida Console" panose="020B0609040504020204" pitchFamily="49" charset="0"/>
              </a:rPr>
              <a:t>e= (1,)				</a:t>
            </a:r>
            <a:r>
              <a:rPr lang="en-US" smtClean="0">
                <a:solidFill>
                  <a:schemeClr val="bg1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A one element tuple</a:t>
            </a:r>
            <a:endParaRPr lang="en-US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</a:t>
            </a:r>
            <a:endParaRPr lang="en-US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Returning from a Function</a:t>
            </a:r>
            <a:endParaRPr lang="en-US" sz="4400" dirty="0" smtClean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16774" y="5273960"/>
            <a:ext cx="3752602" cy="130628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Recall...</a:t>
            </a:r>
            <a:endParaRPr lang="zh-TW" altLang="en-US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221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 txBox="1">
            <a:spLocks/>
          </p:cNvSpPr>
          <p:nvPr/>
        </p:nvSpPr>
        <p:spPr>
          <a:xfrm>
            <a:off x="0" y="1"/>
            <a:ext cx="9729788" cy="11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29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11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 marL="0" marR="0" lvl="0" indent="0" algn="ctr" defTabSz="729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Elephant" panose="02020904090505020303" pitchFamily="18" charset="0"/>
                <a:ea typeface="+mj-ea"/>
                <a:cs typeface="+mj-cs"/>
              </a:rPr>
              <a:t>Creating Singleton Tuples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Elephant" panose="02020904090505020303" pitchFamily="18" charset="0"/>
              <a:ea typeface="+mj-ea"/>
              <a:cs typeface="+mj-cs"/>
            </a:endParaRP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-198369" y="2644877"/>
            <a:ext cx="9928157" cy="4218039"/>
          </a:xfrm>
        </p:spPr>
        <p:txBody>
          <a:bodyPr>
            <a:normAutofit fontScale="92500"/>
          </a:bodyPr>
          <a:lstStyle/>
          <a:p>
            <a:pPr marL="419344" lvl="1" indent="0">
              <a:buNone/>
            </a:pPr>
            <a:r>
              <a:rPr lang="en-US" sz="2201" dirty="0"/>
              <a:t>	</a:t>
            </a:r>
            <a:r>
              <a:rPr lang="en-US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x = </a:t>
            </a:r>
            <a:r>
              <a:rPr lang="en-US" sz="2600" b="1" dirty="0">
                <a:solidFill>
                  <a:srgbClr val="0070C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2+3*</a:t>
            </a:r>
            <a:r>
              <a:rPr lang="en-US" sz="2600" b="1" dirty="0">
                <a:solidFill>
                  <a:srgbClr val="0070C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4+1</a:t>
            </a:r>
            <a:r>
              <a:rPr lang="en-US" sz="2600" b="1" dirty="0">
                <a:solidFill>
                  <a:srgbClr val="0070C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))</a:t>
            </a:r>
          </a:p>
          <a:p>
            <a:pPr lvl="2"/>
            <a:r>
              <a:rPr lang="en-US" sz="2568" dirty="0"/>
              <a:t>But an expression can be as simple as just a number:</a:t>
            </a:r>
          </a:p>
          <a:p>
            <a:pPr marL="1258032" lvl="3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 x = </a:t>
            </a:r>
            <a:r>
              <a:rPr lang="en-US" sz="2600" b="1" dirty="0">
                <a:solidFill>
                  <a:srgbClr val="0070C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50</a:t>
            </a:r>
            <a:r>
              <a:rPr lang="en-US" sz="2600" b="1" dirty="0">
                <a:solidFill>
                  <a:srgbClr val="0070C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; print (x*2)</a:t>
            </a:r>
          </a:p>
          <a:p>
            <a:pPr marL="1258032" lvl="3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100</a:t>
            </a:r>
          </a:p>
          <a:p>
            <a:pPr marL="1258032" lvl="3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 # (50)*2 == 100 tells us (50) is a number</a:t>
            </a:r>
            <a:endParaRPr lang="en-US" altLang="zh-TW" sz="2600" dirty="0"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altLang="zh-TW" sz="2568" dirty="0"/>
              <a:t>The solution is for tuple singletons to use a comma at the end:</a:t>
            </a:r>
          </a:p>
          <a:p>
            <a:pPr marL="1258032" lvl="3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zh-TW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 x = </a:t>
            </a:r>
            <a:r>
              <a:rPr lang="en-US" altLang="zh-TW" sz="26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zh-TW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50</a:t>
            </a:r>
            <a:r>
              <a:rPr lang="en-US" altLang="zh-TW" sz="26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,)</a:t>
            </a:r>
            <a:r>
              <a:rPr lang="en-US" altLang="zh-TW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; print (x*2)</a:t>
            </a:r>
          </a:p>
          <a:p>
            <a:pPr marL="1258032" lvl="3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6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zh-TW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50, 50</a:t>
            </a:r>
            <a:r>
              <a:rPr lang="en-US" altLang="zh-TW" sz="26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pPr marL="1258032" lvl="3" indent="0">
              <a:lnSpc>
                <a:spcPct val="84000"/>
              </a:lnSpc>
              <a:spcBef>
                <a:spcPts val="0"/>
              </a:spcBef>
              <a:buNone/>
            </a:pPr>
            <a:r>
              <a:rPr lang="en-US" altLang="zh-TW" sz="26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 # Clearly </a:t>
            </a:r>
            <a:r>
              <a:rPr lang="en-US" sz="26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(50,) </a:t>
            </a:r>
            <a:r>
              <a:rPr lang="en-US" sz="2600" dirty="0">
                <a:latin typeface="Lucida Console" panose="020B0609040504020204" pitchFamily="49" charset="0"/>
                <a:cs typeface="Courier New" panose="02070309020205020404" pitchFamily="49" charset="0"/>
              </a:rPr>
              <a:t>was treated like a </a:t>
            </a:r>
            <a:r>
              <a:rPr lang="en-US" sz="26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tuple</a:t>
            </a:r>
            <a:endParaRPr lang="en-US" sz="26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1200"/>
              </a:spcBef>
            </a:pPr>
            <a:r>
              <a:rPr lang="en-US" sz="2700" b="1" spc="-40" dirty="0">
                <a:solidFill>
                  <a:srgbClr val="FF0000"/>
                </a:solidFill>
              </a:rPr>
              <a:t>Non-sin</a:t>
            </a:r>
            <a:r>
              <a:rPr lang="en-US" sz="2700" b="1" dirty="0">
                <a:solidFill>
                  <a:srgbClr val="FF0000"/>
                </a:solidFill>
              </a:rPr>
              <a:t>g</a:t>
            </a:r>
            <a:r>
              <a:rPr lang="en-US" sz="2700" b="1" spc="-40" dirty="0">
                <a:solidFill>
                  <a:srgbClr val="FF0000"/>
                </a:solidFill>
              </a:rPr>
              <a:t>leton</a:t>
            </a:r>
            <a:r>
              <a:rPr lang="en-US" sz="2700" b="1" dirty="0">
                <a:solidFill>
                  <a:srgbClr val="FF0000"/>
                </a:solidFill>
              </a:rPr>
              <a:t>s</a:t>
            </a:r>
            <a:r>
              <a:rPr lang="en-US" sz="2700" dirty="0">
                <a:solidFill>
                  <a:srgbClr val="FF0000"/>
                </a:solidFill>
              </a:rPr>
              <a:t> </a:t>
            </a:r>
            <a:r>
              <a:rPr lang="en-US" sz="2700" spc="-40" dirty="0">
                <a:solidFill>
                  <a:srgbClr val="FF0000"/>
                </a:solidFill>
              </a:rPr>
              <a:t>have no problem</a:t>
            </a:r>
            <a:r>
              <a:rPr lang="en-US" sz="2700" dirty="0">
                <a:solidFill>
                  <a:srgbClr val="FF0000"/>
                </a:solidFill>
              </a:rPr>
              <a:t>, because </a:t>
            </a:r>
            <a:r>
              <a:rPr lang="en-US" sz="2700" spc="-100" dirty="0">
                <a:solidFill>
                  <a:srgbClr val="FF0000"/>
                </a:solidFill>
              </a:rPr>
              <a:t>“</a:t>
            </a:r>
            <a:r>
              <a:rPr lang="en-US" sz="2700" b="1" dirty="0">
                <a:solidFill>
                  <a:srgbClr val="FF0000"/>
                </a:solidFill>
              </a:rPr>
              <a:t>,</a:t>
            </a:r>
            <a:r>
              <a:rPr lang="en-US" sz="2700" dirty="0">
                <a:solidFill>
                  <a:srgbClr val="FF0000"/>
                </a:solidFill>
              </a:rPr>
              <a:t>” is</a:t>
            </a:r>
            <a:r>
              <a:rPr lang="en-US" sz="2700" spc="-100" dirty="0">
                <a:solidFill>
                  <a:srgbClr val="FF0000"/>
                </a:solidFill>
              </a:rPr>
              <a:t>n’</a:t>
            </a:r>
            <a:r>
              <a:rPr lang="en-US" sz="2700" dirty="0">
                <a:solidFill>
                  <a:srgbClr val="FF0000"/>
                </a:solidFill>
              </a:rPr>
              <a:t>t used in expressions.</a:t>
            </a:r>
          </a:p>
          <a:p>
            <a:pPr lvl="1">
              <a:spcBef>
                <a:spcPts val="1200"/>
              </a:spcBef>
            </a:pPr>
            <a:r>
              <a:rPr lang="en-US" sz="2700" b="1" u="sng" dirty="0">
                <a:solidFill>
                  <a:srgbClr val="FF0000"/>
                </a:solidFill>
              </a:rPr>
              <a:t>List</a:t>
            </a:r>
            <a:r>
              <a:rPr lang="en-US" sz="2700" dirty="0">
                <a:solidFill>
                  <a:srgbClr val="FF0000"/>
                </a:solidFill>
              </a:rPr>
              <a:t> singletons have no problem, because “</a:t>
            </a:r>
            <a:r>
              <a:rPr lang="en-US" sz="2700" b="1" dirty="0">
                <a:solidFill>
                  <a:srgbClr val="FF0000"/>
                </a:solidFill>
              </a:rPr>
              <a:t>[</a:t>
            </a:r>
            <a:r>
              <a:rPr lang="en-US" sz="2700" dirty="0">
                <a:solidFill>
                  <a:srgbClr val="FF0000"/>
                </a:solidFill>
              </a:rPr>
              <a:t>” isn’t used in expressions.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75256" y="1012724"/>
            <a:ext cx="9554531" cy="1818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436" indent="-182436" algn="l" defTabSz="729742" rtl="0" eaLnBrk="1" latinLnBrk="0" hangingPunct="1">
              <a:lnSpc>
                <a:spcPct val="90000"/>
              </a:lnSpc>
              <a:spcBef>
                <a:spcPts val="798"/>
              </a:spcBef>
              <a:buFont typeface="Arial" panose="020B0604020202020204" pitchFamily="34" charset="0"/>
              <a:buChar char="•"/>
              <a:defRPr sz="319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307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8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2177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5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77049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2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1920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22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06790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1662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6533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1404" indent="-182436" algn="l" defTabSz="729742" rtl="0" eaLnBrk="1" latinLnBrk="0" hangingPunct="1">
              <a:lnSpc>
                <a:spcPct val="90000"/>
              </a:lnSpc>
              <a:spcBef>
                <a:spcPts val="399"/>
              </a:spcBef>
              <a:buFont typeface="Arial" panose="020B0604020202020204" pitchFamily="34" charset="0"/>
              <a:buChar char="•"/>
              <a:defRPr sz="1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 smtClean="0">
                <a:solidFill>
                  <a:prstClr val="black"/>
                </a:solidFill>
              </a:rPr>
              <a:t>You can create a tuple with any number of entries, including zero:</a:t>
            </a:r>
          </a:p>
          <a:p>
            <a:pPr lvl="1">
              <a:buFontTx/>
              <a:buNone/>
            </a:pPr>
            <a:r>
              <a:rPr lang="en-US" sz="2600" dirty="0" smtClean="0">
                <a:solidFill>
                  <a:prstClr val="black"/>
                </a:solidFill>
                <a:latin typeface="Lucida Console" panose="020B0609040504020204" pitchFamily="49" charset="0"/>
                <a:cs typeface="Courier New" pitchFamily="49" charset="0"/>
              </a:rPr>
              <a:t>tup1=</a:t>
            </a:r>
            <a:r>
              <a:rPr lang="en-US" sz="2600" b="1" dirty="0" smtClean="0">
                <a:solidFill>
                  <a:srgbClr val="7030A0"/>
                </a:solidFill>
                <a:latin typeface="Lucida Console" panose="020B0609040504020204" pitchFamily="49" charset="0"/>
                <a:cs typeface="Courier New" pitchFamily="49" charset="0"/>
              </a:rPr>
              <a:t>(</a:t>
            </a:r>
            <a:r>
              <a:rPr lang="en-US" sz="2600" dirty="0" smtClean="0">
                <a:solidFill>
                  <a:prstClr val="black"/>
                </a:solidFill>
                <a:latin typeface="Lucida Console" panose="020B0609040504020204" pitchFamily="49" charset="0"/>
                <a:cs typeface="Courier New" pitchFamily="49" charset="0"/>
              </a:rPr>
              <a:t>'phys','chem',2017,2019</a:t>
            </a:r>
            <a:r>
              <a:rPr lang="en-US" sz="2600" b="1" dirty="0" smtClean="0">
                <a:solidFill>
                  <a:srgbClr val="7030A0"/>
                </a:solidFill>
                <a:latin typeface="Lucida Console" panose="020B0609040504020204" pitchFamily="49" charset="0"/>
                <a:cs typeface="Courier New" pitchFamily="49" charset="0"/>
              </a:rPr>
              <a:t>)</a:t>
            </a:r>
            <a:r>
              <a:rPr lang="en-US" sz="2600" dirty="0" smtClean="0">
                <a:solidFill>
                  <a:prstClr val="black"/>
                </a:solidFill>
                <a:latin typeface="Lucida Console" panose="020B0609040504020204" pitchFamily="49" charset="0"/>
                <a:cs typeface="Courier New" pitchFamily="49" charset="0"/>
              </a:rPr>
              <a:t>; tup2=</a:t>
            </a:r>
            <a:r>
              <a:rPr lang="en-US" sz="2600" b="1" dirty="0" smtClean="0">
                <a:solidFill>
                  <a:srgbClr val="7030A0"/>
                </a:solidFill>
                <a:latin typeface="Lucida Console" panose="020B0609040504020204" pitchFamily="49" charset="0"/>
                <a:cs typeface="Courier New" pitchFamily="49" charset="0"/>
              </a:rPr>
              <a:t>()</a:t>
            </a:r>
            <a:endParaRPr lang="en-US" sz="2600" dirty="0" smtClean="0">
              <a:solidFill>
                <a:prstClr val="black"/>
              </a:solidFill>
              <a:latin typeface="Lucida Console" panose="020B0609040504020204" pitchFamily="49" charset="0"/>
              <a:cs typeface="Courier New" pitchFamily="49" charset="0"/>
            </a:endParaRPr>
          </a:p>
          <a:p>
            <a:pPr>
              <a:spcBef>
                <a:spcPts val="1200"/>
              </a:spcBef>
            </a:pPr>
            <a:r>
              <a:rPr lang="en-US" sz="2600" dirty="0" smtClean="0">
                <a:solidFill>
                  <a:prstClr val="black"/>
                </a:solidFill>
              </a:rPr>
              <a:t>But a tuple</a:t>
            </a:r>
            <a:r>
              <a:rPr lang="en-US" sz="2400" dirty="0" smtClean="0">
                <a:solidFill>
                  <a:prstClr val="black"/>
                </a:solidFill>
              </a:rPr>
              <a:t> </a:t>
            </a:r>
            <a:r>
              <a:rPr lang="en-US" sz="2600" dirty="0" smtClean="0">
                <a:solidFill>
                  <a:prstClr val="black"/>
                </a:solidFill>
              </a:rPr>
              <a:t>with</a:t>
            </a:r>
            <a:r>
              <a:rPr lang="en-US" sz="2400" dirty="0" smtClean="0">
                <a:solidFill>
                  <a:prstClr val="black"/>
                </a:solidFill>
              </a:rPr>
              <a:t> </a:t>
            </a:r>
            <a:r>
              <a:rPr lang="en-US" sz="2600" dirty="0" smtClean="0">
                <a:solidFill>
                  <a:prstClr val="black"/>
                </a:solidFill>
              </a:rPr>
              <a:t>one</a:t>
            </a:r>
            <a:r>
              <a:rPr lang="en-US" sz="2400" dirty="0" smtClean="0">
                <a:solidFill>
                  <a:prstClr val="black"/>
                </a:solidFill>
              </a:rPr>
              <a:t> </a:t>
            </a:r>
            <a:r>
              <a:rPr lang="en-US" sz="2600" spc="-50" dirty="0" smtClean="0">
                <a:solidFill>
                  <a:prstClr val="black"/>
                </a:solidFill>
              </a:rPr>
              <a:t>v</a:t>
            </a:r>
            <a:r>
              <a:rPr lang="en-US" sz="2600" dirty="0" smtClean="0">
                <a:solidFill>
                  <a:prstClr val="black"/>
                </a:solidFill>
              </a:rPr>
              <a:t>alue</a:t>
            </a:r>
            <a:r>
              <a:rPr lang="en-US" sz="2400" dirty="0" smtClean="0">
                <a:solidFill>
                  <a:prstClr val="black"/>
                </a:solidFill>
              </a:rPr>
              <a:t> </a:t>
            </a:r>
            <a:r>
              <a:rPr lang="en-US" sz="2600" spc="-100" dirty="0" smtClean="0">
                <a:solidFill>
                  <a:prstClr val="black"/>
                </a:solidFill>
              </a:rPr>
              <a:t>(</a:t>
            </a:r>
            <a:r>
              <a:rPr lang="en-US" sz="2600" dirty="0" smtClean="0">
                <a:solidFill>
                  <a:prstClr val="black"/>
                </a:solidFill>
              </a:rPr>
              <a:t>mathematicall</a:t>
            </a:r>
            <a:r>
              <a:rPr lang="en-US" sz="2600" spc="-100" dirty="0" smtClean="0">
                <a:solidFill>
                  <a:prstClr val="black"/>
                </a:solidFill>
              </a:rPr>
              <a:t>y</a:t>
            </a:r>
            <a:r>
              <a:rPr lang="en-US" sz="2600" dirty="0" smtClean="0">
                <a:solidFill>
                  <a:prstClr val="black"/>
                </a:solidFill>
              </a:rPr>
              <a:t>,</a:t>
            </a:r>
            <a:r>
              <a:rPr lang="en-US" sz="2400" dirty="0" smtClean="0">
                <a:solidFill>
                  <a:prstClr val="black"/>
                </a:solidFill>
              </a:rPr>
              <a:t> </a:t>
            </a:r>
            <a:r>
              <a:rPr lang="en-US" sz="2600" dirty="0" smtClean="0">
                <a:solidFill>
                  <a:prstClr val="black"/>
                </a:solidFill>
              </a:rPr>
              <a:t>this is called a</a:t>
            </a:r>
            <a:r>
              <a:rPr lang="en-US" sz="2400" dirty="0" smtClean="0">
                <a:solidFill>
                  <a:prstClr val="black"/>
                </a:solidFill>
              </a:rPr>
              <a:t> </a:t>
            </a:r>
            <a:r>
              <a:rPr lang="en-US" sz="2600" i="1" dirty="0" smtClean="0">
                <a:solidFill>
                  <a:srgbClr val="008000"/>
                </a:solidFill>
              </a:rPr>
              <a:t>singleto</a:t>
            </a:r>
            <a:r>
              <a:rPr lang="en-US" sz="2600" i="1" spc="-100" dirty="0" smtClean="0">
                <a:solidFill>
                  <a:srgbClr val="008000"/>
                </a:solidFill>
              </a:rPr>
              <a:t>n</a:t>
            </a:r>
            <a:r>
              <a:rPr lang="en-US" sz="2600" dirty="0" smtClean="0">
                <a:solidFill>
                  <a:prstClr val="black"/>
                </a:solidFill>
              </a:rPr>
              <a:t>)</a:t>
            </a:r>
            <a:r>
              <a:rPr lang="en-US" sz="2600" dirty="0" smtClean="0">
                <a:solidFill>
                  <a:srgbClr val="FF0000"/>
                </a:solidFill>
              </a:rPr>
              <a:t> </a:t>
            </a:r>
            <a:r>
              <a:rPr lang="en-US" sz="2600" dirty="0" smtClean="0">
                <a:solidFill>
                  <a:prstClr val="black"/>
                </a:solidFill>
              </a:rPr>
              <a:t>has a problem, because numerical expressions use parentheses too: </a:t>
            </a:r>
          </a:p>
        </p:txBody>
      </p:sp>
      <p:grpSp>
        <p:nvGrpSpPr>
          <p:cNvPr id="6" name="Group 5"/>
          <p:cNvGrpSpPr/>
          <p:nvPr/>
        </p:nvGrpSpPr>
        <p:grpSpPr>
          <a:xfrm flipH="1">
            <a:off x="7340848" y="434793"/>
            <a:ext cx="3125129" cy="784901"/>
            <a:chOff x="-734800" y="434792"/>
            <a:chExt cx="3125129" cy="784901"/>
          </a:xfrm>
        </p:grpSpPr>
        <p:sp>
          <p:nvSpPr>
            <p:cNvPr id="7" name="Trapezoid 6"/>
            <p:cNvSpPr/>
            <p:nvPr/>
          </p:nvSpPr>
          <p:spPr bwMode="auto">
            <a:xfrm rot="-2700000">
              <a:off x="-734800" y="435836"/>
              <a:ext cx="3125129" cy="783857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en-US" sz="2800" dirty="0">
                <a:solidFill>
                  <a:prstClr val="black"/>
                </a:solidFill>
                <a:latin typeface="Arial" charset="0"/>
                <a:ea typeface="新細明體" charset="-12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 rot="-2700000">
              <a:off x="-514076" y="434792"/>
              <a:ext cx="2717649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>
                  <a:solidFill>
                    <a:prstClr val="black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2</a:t>
              </a:r>
              <a:br>
                <a:rPr kumimoji="1" lang="en-US" altLang="zh-TW" sz="2400" dirty="0">
                  <a:solidFill>
                    <a:prstClr val="black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>
                  <a:solidFill>
                    <a:prstClr val="black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Slide </a:t>
              </a:r>
              <a:r>
                <a:rPr kumimoji="1" lang="en-US" altLang="zh-TW" sz="2400" dirty="0" smtClean="0">
                  <a:solidFill>
                    <a:prstClr val="black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#77</a:t>
              </a:r>
              <a:endParaRPr kumimoji="1" lang="en-US" altLang="zh-TW" sz="2400" dirty="0">
                <a:solidFill>
                  <a:prstClr val="black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  <p:sp>
        <p:nvSpPr>
          <p:cNvPr id="10" name="Oval 9"/>
          <p:cNvSpPr/>
          <p:nvPr/>
        </p:nvSpPr>
        <p:spPr>
          <a:xfrm>
            <a:off x="1625600" y="4525818"/>
            <a:ext cx="2179782" cy="69272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016774" y="5273960"/>
            <a:ext cx="3752602" cy="130628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Recall...</a:t>
            </a:r>
            <a:endParaRPr lang="zh-TW" altLang="en-US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801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4"/>
          <p:cNvSpPr txBox="1">
            <a:spLocks/>
          </p:cNvSpPr>
          <p:nvPr/>
        </p:nvSpPr>
        <p:spPr>
          <a:xfrm>
            <a:off x="-239249" y="996696"/>
            <a:ext cx="9969037" cy="58521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8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dirty="0" smtClean="0">
                <a:latin typeface="Lucida Console" panose="020B0609040504020204" pitchFamily="49" charset="0"/>
              </a:rPr>
              <a:t> 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cat ReturningOneObject.py</a:t>
            </a: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f(): return 1</a:t>
            </a: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a=f(); print("a=",a)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0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course 1 variable can get 1 value</a:t>
            </a: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f(): return [1,2]</a:t>
            </a: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b=f(); print("b=",b)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en-US" altLang="zh-TW" spc="-1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also assigned just 1 value (a list)</a:t>
            </a:r>
            <a:endParaRPr lang="en-US" dirty="0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f(): return [1]</a:t>
            </a: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c=f(); print("c=",c)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This list has just 1 element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f(): return (1)</a:t>
            </a: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d=f(); print("d=",d)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zh-TW" spc="-5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Did we create a tuple of one element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dirty="0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def</a:t>
            </a:r>
            <a:r>
              <a:rPr lang="en-US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f(): return (1,)</a:t>
            </a: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e=f(); print("e=",e)</a:t>
            </a:r>
            <a:r>
              <a:rPr lang="en-US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pc="-50" dirty="0" smtClean="0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en-US" altLang="zh-TW" dirty="0" smtClean="0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time we made a 1 element tuple</a:t>
            </a:r>
            <a:endParaRPr lang="en-US" dirty="0" smtClean="0">
              <a:solidFill>
                <a:srgbClr val="5B9BD5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dirty="0" smtClean="0">
                <a:latin typeface="Lucida Console" panose="020B0609040504020204" pitchFamily="49" charset="0"/>
              </a:rPr>
              <a:t> 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python3 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ReturningOneObject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.py</a:t>
            </a: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a= 1				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A plain number</a:t>
            </a:r>
            <a:endParaRPr lang="en-US" dirty="0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b= [1, 2]			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A two element list</a:t>
            </a:r>
            <a:endParaRPr lang="en-US" dirty="0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c= [1]				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A one element list</a:t>
            </a:r>
            <a:endParaRPr lang="en-US" dirty="0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d= 1				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No, its a plain number</a:t>
            </a:r>
            <a:endParaRPr lang="en-US" dirty="0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e= (1,)		</a:t>
            </a:r>
            <a:r>
              <a:rPr lang="en-US" dirty="0" smtClean="0">
                <a:solidFill>
                  <a:srgbClr val="5B9BD5"/>
                </a:solidFill>
                <a:latin typeface="Lucida Console" panose="020B0609040504020204" pitchFamily="49" charset="0"/>
              </a:rPr>
              <a:t>		</a:t>
            </a:r>
            <a:r>
              <a:rPr lang="en-US" dirty="0" smtClean="0">
                <a:solidFill>
                  <a:srgbClr val="5B9BD5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A one element tuple</a:t>
            </a:r>
            <a:endParaRPr lang="en-US" dirty="0" smtClean="0">
              <a:solidFill>
                <a:srgbClr val="5B9BD5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</a:t>
            </a:r>
            <a:endParaRPr lang="en-US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Returning from a Function</a:t>
            </a:r>
            <a:endParaRPr lang="en-US" sz="4400" dirty="0" smtClean="0">
              <a:solidFill>
                <a:srgbClr val="0070C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16774" y="5273960"/>
            <a:ext cx="3752602" cy="130628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Recall...</a:t>
            </a:r>
            <a:endParaRPr lang="zh-TW" altLang="en-US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069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"/>
          <p:cNvSpPr txBox="1">
            <a:spLocks/>
          </p:cNvSpPr>
          <p:nvPr/>
        </p:nvSpPr>
        <p:spPr>
          <a:xfrm>
            <a:off x="-239249" y="1002590"/>
            <a:ext cx="9969037" cy="585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dirty="0" smtClean="0">
                <a:latin typeface="Lucida Console" panose="020B0609040504020204" pitchFamily="49" charset="0"/>
              </a:rPr>
              <a:t> 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cat </a:t>
            </a: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ReturningMultiValues.py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f(): return (1,2)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a=f(); print("a=",a)		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</a:t>
            </a:r>
            <a:r>
              <a:rPr lang="en-US" altLang="zh-TW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A two-element tuple</a:t>
            </a:r>
            <a:endParaRPr lang="en-US" altLang="zh-TW" dirty="0" smtClean="0">
              <a:solidFill>
                <a:schemeClr val="accent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f(): return </a:t>
            </a:r>
            <a:r>
              <a:rPr lang="en-US" altLang="zh-TW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1,2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err="1" smtClean="0">
                <a:solidFill>
                  <a:srgbClr val="00B050"/>
                </a:solidFill>
                <a:latin typeface="Lucida Console" panose="020B0609040504020204" pitchFamily="49" charset="0"/>
              </a:rPr>
              <a:t>x,y</a:t>
            </a:r>
            <a:r>
              <a:rPr lang="en-US" altLang="zh-TW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=f()</a:t>
            </a: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; print("x=",x," y=",y)	</a:t>
            </a:r>
            <a:r>
              <a:rPr lang="en-US" altLang="zh-TW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Is </a:t>
            </a:r>
            <a:r>
              <a:rPr lang="en-US" altLang="zh-TW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n-US" altLang="zh-TW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legal?</a:t>
            </a:r>
            <a:endParaRPr lang="en-US" altLang="zh-TW" dirty="0" smtClean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f(): return (1,2)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=f(); print("x=",x," y=",y)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a=f(); print("a=",a)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 f(): return 1,2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=f(); print("x=",x," y=",y)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a=f(); print("a=",a)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</a:t>
            </a:r>
            <a:r>
              <a:rPr lang="en-US" altLang="zh-TW" dirty="0" smtClean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python3 ReturningMultiValues.py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a= (1, 2)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 				</a:t>
            </a:r>
            <a:r>
              <a:rPr lang="en-US" altLang="zh-TW" dirty="0" smtClean="0">
                <a:latin typeface="Lucida Console" panose="020B0609040504020204" pitchFamily="49" charset="0"/>
                <a:sym typeface="Symbol" panose="05050102010706020507" pitchFamily="18" charset="2"/>
              </a:rPr>
              <a:t>   </a:t>
            </a:r>
            <a:r>
              <a:rPr lang="en-US" altLang="zh-TW" dirty="0" smtClean="0">
                <a:latin typeface="Lucida Fax" panose="02060602050505020204" pitchFamily="18" charset="0"/>
                <a:sym typeface="Symbol" panose="05050102010706020507" pitchFamily="18" charset="2"/>
              </a:rPr>
              <a:t>A two element tuple</a:t>
            </a:r>
            <a:endParaRPr lang="en-US" altLang="zh-TW" dirty="0" smtClean="0"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b="1" dirty="0" smtClean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x= 1  y= 2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a= (1, 2)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a= 1  b= 2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a= (1, 2)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</a:t>
            </a:r>
            <a:endParaRPr lang="en-US" altLang="zh-TW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2" name="Arc 1"/>
          <p:cNvSpPr/>
          <p:nvPr/>
        </p:nvSpPr>
        <p:spPr>
          <a:xfrm rot="10173868">
            <a:off x="845808" y="663551"/>
            <a:ext cx="6952602" cy="2887127"/>
          </a:xfrm>
          <a:prstGeom prst="arc">
            <a:avLst>
              <a:gd name="adj1" fmla="val 12051677"/>
              <a:gd name="adj2" fmla="val 90334"/>
            </a:avLst>
          </a:prstGeom>
          <a:ln w="28575">
            <a:solidFill>
              <a:srgbClr val="00B05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16774" y="3747541"/>
            <a:ext cx="3752602" cy="121361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Recall...</a:t>
            </a:r>
            <a:endParaRPr lang="zh-TW" altLang="en-US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Returning from a Function</a:t>
            </a:r>
            <a:endParaRPr lang="en-US" sz="4400" dirty="0" smtClean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17334" y="951874"/>
            <a:ext cx="3706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</a:t>
            </a:r>
            <a:endParaRPr lang="en-US" sz="2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3603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 txBox="1">
            <a:spLocks/>
          </p:cNvSpPr>
          <p:nvPr/>
        </p:nvSpPr>
        <p:spPr>
          <a:xfrm>
            <a:off x="-117134" y="1076326"/>
            <a:ext cx="10582728" cy="5895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900" dirty="0">
                <a:solidFill>
                  <a:sysClr val="windowText" lastClr="000000"/>
                </a:solidFill>
                <a:latin typeface="Calibri"/>
              </a:rPr>
              <a:t>    </a:t>
            </a:r>
            <a:r>
              <a:rPr lang="en-US" altLang="en-US" sz="1400" dirty="0">
                <a:solidFill>
                  <a:sysClr val="windowText" lastClr="000000"/>
                </a:solidFill>
                <a:latin typeface="Calibri"/>
                <a:cs typeface="Calibri" panose="020F0502020204030204" pitchFamily="34" charset="0"/>
              </a:rPr>
              <a:t> </a:t>
            </a:r>
            <a:r>
              <a:rPr lang="en-US" altLang="en-US" sz="4000" dirty="0">
                <a:solidFill>
                  <a:sysClr val="window" lastClr="FFFFFF"/>
                </a:solidFill>
                <a:latin typeface="Calibri"/>
                <a:cs typeface="Calibri" panose="020F0502020204030204" pitchFamily="34" charset="0"/>
              </a:rPr>
              <a:t>Several variables can also be </a:t>
            </a:r>
            <a:r>
              <a:rPr lang="en-US" altLang="en-US" sz="4000" b="1" i="1" dirty="0">
                <a:solidFill>
                  <a:sysClr val="window" lastClr="FFFFFF"/>
                </a:solidFill>
                <a:latin typeface="Calibri"/>
                <a:cs typeface="Calibri" panose="020F0502020204030204" pitchFamily="34" charset="0"/>
              </a:rPr>
              <a:t>assigned  simultaneously</a:t>
            </a:r>
            <a:r>
              <a:rPr lang="en-US" altLang="en-US" sz="4000" dirty="0">
                <a:solidFill>
                  <a:sysClr val="window" lastClr="FFFFFF"/>
                </a:solidFill>
                <a:latin typeface="Calibri"/>
                <a:cs typeface="Calibri" panose="020F0502020204030204" pitchFamily="34" charset="0"/>
              </a:rPr>
              <a:t>:</a:t>
            </a:r>
            <a:endParaRPr lang="en-US" altLang="en-US" sz="3900" dirty="0">
              <a:solidFill>
                <a:sysClr val="window" lastClr="FFFFFF"/>
              </a:solidFill>
              <a:latin typeface="Calibri"/>
            </a:endParaRP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>
                <a:solidFill>
                  <a:sysClr val="window" lastClr="FFFFFF">
                    <a:lumMod val="6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en-US" sz="32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32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32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3200" b="1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sz="15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sz="3200" dirty="0" err="1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a,b,c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      </a:t>
            </a:r>
            <a:r>
              <a:rPr lang="en-US" altLang="en-US" sz="15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3200" dirty="0">
                <a:solidFill>
                  <a:sysClr val="window" lastClr="FFFFFF">
                    <a:lumMod val="7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#all set to 1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 </a:t>
            </a:r>
            <a:r>
              <a:rPr lang="en-US" altLang="en-US" sz="32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 </a:t>
            </a:r>
            <a:r>
              <a:rPr lang="en-US" altLang="en-US" sz="32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>
                <a:solidFill>
                  <a:sysClr val="window" lastClr="FFFFFF">
                    <a:lumMod val="6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en-US" sz="3200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3200" dirty="0" err="1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3200" dirty="0" err="1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32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3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sz="15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sz="3200" dirty="0" err="1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a,b,c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  </a:t>
            </a:r>
            <a:r>
              <a:rPr lang="en-US" altLang="en-US" sz="15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3200" dirty="0">
                <a:solidFill>
                  <a:sysClr val="window" lastClr="FFFFFF">
                    <a:lumMod val="7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#respectively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  <a:r>
              <a:rPr lang="en-US" altLang="en-US" sz="32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2</a:t>
            </a:r>
            <a:r>
              <a:rPr lang="en-US" altLang="en-US" sz="3200" b="1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2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3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>
                <a:solidFill>
                  <a:sysClr val="window" lastClr="FFFFFF">
                    <a:lumMod val="6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en-US" sz="32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3200" spc="-1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3200" spc="-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3200" b="1" spc="-2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3200" spc="-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spc="-20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5</a:t>
            </a:r>
            <a:r>
              <a:rPr lang="en-US" altLang="en-US" sz="3200" spc="-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spc="-1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  <a:r>
              <a:rPr lang="en-US" altLang="en-US" sz="3200" spc="-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3200" spc="-1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sz="1300" b="1" spc="-1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200" b="1" spc="-10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3200" spc="-100" dirty="0" err="1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spc="-100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3200" spc="-100" dirty="0" err="1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32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sz="1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</a:t>
            </a:r>
            <a:r>
              <a:rPr lang="en-US" altLang="en-US" sz="3200" spc="-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t(</a:t>
            </a:r>
            <a:r>
              <a:rPr lang="en-US" altLang="en-US" sz="3200" spc="-200" dirty="0" err="1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a,b,c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3200" dirty="0">
                <a:solidFill>
                  <a:sysClr val="window" lastClr="FFFFFF">
                    <a:lumMod val="7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#from</a:t>
            </a:r>
            <a:r>
              <a:rPr lang="en-US" altLang="en-US" sz="2100" dirty="0">
                <a:solidFill>
                  <a:sysClr val="window" lastClr="FFFFFF">
                    <a:lumMod val="7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200" spc="-80" dirty="0">
                <a:solidFill>
                  <a:sysClr val="window" lastClr="FFFFFF">
                    <a:lumMod val="7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li</a:t>
            </a:r>
            <a:r>
              <a:rPr lang="en-US" altLang="en-US" sz="3200" dirty="0">
                <a:solidFill>
                  <a:sysClr val="window" lastClr="FFFFFF">
                    <a:lumMod val="7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</a:t>
            </a:r>
            <a:r>
              <a:rPr lang="en-US" altLang="en-US" sz="3200" dirty="0">
                <a:solidFill>
                  <a:sysClr val="window" lastClr="FFFFFF">
                    <a:lumMod val="75000"/>
                  </a:sysClr>
                </a:solidFill>
                <a:latin typeface="Arial Black" panose="020B0A04020102020204" pitchFamily="34" charset="0"/>
                <a:cs typeface="Leelawadee UI" panose="020B0502040204020203" pitchFamily="34" charset="-34"/>
              </a:rPr>
              <a:t>/</a:t>
            </a:r>
            <a:r>
              <a:rPr lang="en-US" altLang="en-US" sz="3200" dirty="0">
                <a:solidFill>
                  <a:sysClr val="window" lastClr="FFFFFF">
                    <a:lumMod val="7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tu</a:t>
            </a:r>
            <a:r>
              <a:rPr lang="en-US" altLang="en-US" sz="3200" spc="-80" dirty="0">
                <a:solidFill>
                  <a:sysClr val="window" lastClr="FFFFFF">
                    <a:lumMod val="7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pl</a:t>
            </a:r>
            <a:r>
              <a:rPr lang="en-US" altLang="en-US" sz="3200" dirty="0">
                <a:solidFill>
                  <a:sysClr val="window" lastClr="FFFFFF">
                    <a:lumMod val="7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32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5</a:t>
            </a:r>
            <a:r>
              <a:rPr lang="en-US" altLang="en-US" sz="3200" b="1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2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>
                <a:solidFill>
                  <a:sysClr val="window" lastClr="FFFFFF">
                    <a:lumMod val="7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200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3200" dirty="0" err="1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3200" dirty="0" err="1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32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sz="15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endParaRPr lang="en-US" altLang="en-US" sz="3200" dirty="0">
              <a:solidFill>
                <a:sysClr val="windowText" lastClr="0000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 err="1">
                <a:solidFill>
                  <a:srgbClr val="E89898"/>
                </a:solidFill>
                <a:cs typeface="Arial" panose="020B0604020202020204" pitchFamily="34" charset="0"/>
              </a:rPr>
              <a:t>Traceback</a:t>
            </a:r>
            <a:r>
              <a:rPr lang="en-US" altLang="en-US" sz="3200" dirty="0">
                <a:solidFill>
                  <a:srgbClr val="E89898"/>
                </a:solidFill>
                <a:cs typeface="Arial" panose="020B0604020202020204" pitchFamily="34" charset="0"/>
              </a:rPr>
              <a:t> (most recent call last):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>
                <a:solidFill>
                  <a:srgbClr val="E89898"/>
                </a:solidFill>
                <a:cs typeface="Arial" panose="020B0604020202020204" pitchFamily="34" charset="0"/>
              </a:rPr>
              <a:t>  File "&lt;</a:t>
            </a:r>
            <a:r>
              <a:rPr lang="en-US" altLang="en-US" sz="3200" dirty="0" err="1">
                <a:solidFill>
                  <a:srgbClr val="E89898"/>
                </a:solidFill>
                <a:cs typeface="Arial" panose="020B0604020202020204" pitchFamily="34" charset="0"/>
              </a:rPr>
              <a:t>stdin</a:t>
            </a:r>
            <a:r>
              <a:rPr lang="en-US" altLang="en-US" sz="3200" dirty="0">
                <a:solidFill>
                  <a:srgbClr val="E89898"/>
                </a:solidFill>
                <a:cs typeface="Arial" panose="020B0604020202020204" pitchFamily="34" charset="0"/>
              </a:rPr>
              <a:t>&gt;", line 1, in &lt;module&gt;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 err="1">
                <a:solidFill>
                  <a:srgbClr val="FF0000"/>
                </a:solidFill>
                <a:cs typeface="Arial" panose="020B0604020202020204" pitchFamily="34" charset="0"/>
              </a:rPr>
              <a:t>ValueError</a:t>
            </a:r>
            <a:r>
              <a:rPr lang="en-US" altLang="en-US" sz="3200" dirty="0">
                <a:solidFill>
                  <a:srgbClr val="FF0000"/>
                </a:solidFill>
                <a:cs typeface="Arial" panose="020B0604020202020204" pitchFamily="34" charset="0"/>
              </a:rPr>
              <a:t>: not enough values to unpack (expected 3, got 2)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b="1" dirty="0">
                <a:solidFill>
                  <a:srgbClr val="FFFF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32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200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3200" dirty="0" err="1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3200" dirty="0" err="1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32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3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 err="1">
                <a:solidFill>
                  <a:srgbClr val="E89898"/>
                </a:solidFill>
                <a:cs typeface="Arial" panose="020B0604020202020204" pitchFamily="34" charset="0"/>
              </a:rPr>
              <a:t>Traceback</a:t>
            </a:r>
            <a:r>
              <a:rPr lang="en-US" altLang="en-US" sz="3200" dirty="0">
                <a:solidFill>
                  <a:srgbClr val="E89898"/>
                </a:solidFill>
                <a:cs typeface="Arial" panose="020B0604020202020204" pitchFamily="34" charset="0"/>
              </a:rPr>
              <a:t> (most recent call last):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>
                <a:solidFill>
                  <a:srgbClr val="E89898"/>
                </a:solidFill>
                <a:cs typeface="Arial" panose="020B0604020202020204" pitchFamily="34" charset="0"/>
              </a:rPr>
              <a:t>  File "&lt;</a:t>
            </a:r>
            <a:r>
              <a:rPr lang="en-US" altLang="en-US" sz="3200" dirty="0" err="1">
                <a:solidFill>
                  <a:srgbClr val="E89898"/>
                </a:solidFill>
                <a:cs typeface="Arial" panose="020B0604020202020204" pitchFamily="34" charset="0"/>
              </a:rPr>
              <a:t>stdin</a:t>
            </a:r>
            <a:r>
              <a:rPr lang="en-US" altLang="en-US" sz="3200" dirty="0">
                <a:solidFill>
                  <a:srgbClr val="E89898"/>
                </a:solidFill>
                <a:cs typeface="Arial" panose="020B0604020202020204" pitchFamily="34" charset="0"/>
              </a:rPr>
              <a:t>&gt;", line 1, in &lt;module&gt;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 err="1">
                <a:solidFill>
                  <a:srgbClr val="FF0000"/>
                </a:solidFill>
                <a:cs typeface="Arial" panose="020B0604020202020204" pitchFamily="34" charset="0"/>
              </a:rPr>
              <a:t>ValueError</a:t>
            </a:r>
            <a:r>
              <a:rPr lang="en-US" altLang="en-US" sz="3200" dirty="0">
                <a:solidFill>
                  <a:srgbClr val="FF0000"/>
                </a:solidFill>
                <a:cs typeface="Arial" panose="020B0604020202020204" pitchFamily="34" charset="0"/>
              </a:rPr>
              <a:t>: too many values to unpack (expected 3)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>
                <a:solidFill>
                  <a:sysClr val="window" lastClr="FFFFFF">
                    <a:lumMod val="6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5578" y="2235000"/>
            <a:ext cx="710730" cy="21961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>
              <a:defRPr/>
            </a:pPr>
            <a:r>
              <a:rPr lang="en-US" altLang="zh-TW" sz="2500" kern="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  <a:ea typeface="新細明體" panose="02020500000000000000" pitchFamily="18" charset="-120"/>
              </a:rPr>
              <a:t>&gt;&gt;&gt;</a:t>
            </a:r>
            <a:endParaRPr lang="zh-TW" altLang="en-US" sz="2500" kern="0" dirty="0">
              <a:solidFill>
                <a:prstClr val="white">
                  <a:lumMod val="65000"/>
                </a:prstClr>
              </a:solidFill>
              <a:latin typeface="Lucida Console" panose="020B0609040504020204" pitchFamily="49" charset="0"/>
              <a:ea typeface="新細明體" panose="02020500000000000000" pitchFamily="18" charset="-12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05578" y="2925242"/>
            <a:ext cx="710730" cy="21961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>
              <a:defRPr/>
            </a:pPr>
            <a:r>
              <a:rPr lang="en-US" altLang="zh-TW" sz="2500" kern="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  <a:ea typeface="新細明體" panose="02020500000000000000" pitchFamily="18" charset="-120"/>
              </a:rPr>
              <a:t>&gt;&gt;&gt;</a:t>
            </a:r>
            <a:endParaRPr lang="zh-TW" altLang="en-US" sz="2500" kern="0" dirty="0">
              <a:solidFill>
                <a:prstClr val="white">
                  <a:lumMod val="65000"/>
                </a:prstClr>
              </a:solidFill>
              <a:latin typeface="Lucida Console" panose="020B0609040504020204" pitchFamily="49" charset="0"/>
              <a:ea typeface="新細明體" panose="02020500000000000000" pitchFamily="18" charset="-12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05578" y="3624393"/>
            <a:ext cx="710730" cy="21961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>
              <a:defRPr/>
            </a:pPr>
            <a:r>
              <a:rPr lang="en-US" altLang="zh-TW" sz="2500" kern="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  <a:ea typeface="新細明體" panose="02020500000000000000" pitchFamily="18" charset="-120"/>
              </a:rPr>
              <a:t>&gt;&gt;&gt;</a:t>
            </a:r>
            <a:endParaRPr lang="zh-TW" altLang="en-US" sz="2500" kern="0" dirty="0">
              <a:solidFill>
                <a:prstClr val="white">
                  <a:lumMod val="65000"/>
                </a:prstClr>
              </a:solidFill>
              <a:latin typeface="Lucida Console" panose="020B0609040504020204" pitchFamily="49" charset="0"/>
              <a:ea typeface="新細明體" panose="02020500000000000000" pitchFamily="18" charset="-12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05578" y="5013476"/>
            <a:ext cx="710730" cy="219612"/>
          </a:xfrm>
          <a:prstGeom prst="rect">
            <a:avLst/>
          </a:prstGeom>
          <a:solidFill>
            <a:srgbClr val="FDFDF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>
              <a:defRPr/>
            </a:pPr>
            <a:r>
              <a:rPr lang="en-US" altLang="zh-TW" sz="2500" kern="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  <a:ea typeface="新細明體" panose="02020500000000000000" pitchFamily="18" charset="-120"/>
              </a:rPr>
              <a:t>&gt;&gt;&gt;</a:t>
            </a:r>
            <a:endParaRPr lang="zh-TW" altLang="en-US" sz="2500" kern="0" dirty="0">
              <a:solidFill>
                <a:prstClr val="white">
                  <a:lumMod val="65000"/>
                </a:prstClr>
              </a:solidFill>
              <a:latin typeface="Lucida Console" panose="020B0609040504020204" pitchFamily="49" charset="0"/>
              <a:ea typeface="新細明體" panose="02020500000000000000" pitchFamily="18" charset="-12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92895" y="458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Multiple Assignments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7940" y="800101"/>
            <a:ext cx="9647555" cy="8291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8438" indent="-198438">
              <a:lnSpc>
                <a:spcPct val="98000"/>
              </a:lnSpc>
              <a:buClr>
                <a:srgbClr val="3333CC"/>
              </a:buClr>
              <a:buSzPct val="150000"/>
              <a:buFont typeface="Wingdings" panose="05000000000000000000" pitchFamily="2" charset="2"/>
              <a:buChar char="§"/>
            </a:pPr>
            <a:r>
              <a:rPr lang="en-US" altLang="en-US" sz="2400" spc="-100" dirty="0">
                <a:solidFill>
                  <a:sysClr val="windowText" lastClr="000000"/>
                </a:solidFill>
                <a:cs typeface="Calibri" panose="020F0502020204030204" pitchFamily="34" charset="0"/>
              </a:rPr>
              <a:t> </a:t>
            </a:r>
            <a:r>
              <a:rPr lang="en-US" altLang="en-US" sz="3200" kern="0" spc="-100" dirty="0">
                <a:solidFill>
                  <a:srgbClr val="000000"/>
                </a:solidFill>
              </a:rPr>
              <a:t>New topic: variable </a:t>
            </a:r>
            <a:r>
              <a:rPr lang="en-US" altLang="en-US" sz="3200" kern="0" spc="-100" dirty="0">
                <a:solidFill>
                  <a:srgbClr val="FF0000"/>
                </a:solidFill>
              </a:rPr>
              <a:t>assignments</a:t>
            </a:r>
            <a:r>
              <a:rPr lang="en-US" altLang="en-US" sz="3200" kern="0" spc="-100" dirty="0">
                <a:solidFill>
                  <a:srgbClr val="000000"/>
                </a:solidFill>
              </a:rPr>
              <a:t> can be </a:t>
            </a:r>
            <a:r>
              <a:rPr lang="en-US" altLang="en-US" sz="3200" b="1" i="1" kern="0" spc="-100" dirty="0">
                <a:solidFill>
                  <a:srgbClr val="FF0000"/>
                </a:solidFill>
              </a:rPr>
              <a:t>chained</a:t>
            </a:r>
            <a:r>
              <a:rPr lang="en-US" altLang="en-US" sz="3200" kern="0" spc="-100" dirty="0">
                <a:solidFill>
                  <a:srgbClr val="000000"/>
                </a:solidFill>
              </a:rPr>
              <a:t> too</a:t>
            </a:r>
            <a:r>
              <a:rPr lang="en-US" altLang="en-US" sz="1050" kern="0" spc="-100" dirty="0">
                <a:solidFill>
                  <a:srgbClr val="000000"/>
                </a:solidFill>
              </a:rPr>
              <a:t> </a:t>
            </a:r>
            <a:r>
              <a:rPr lang="en-US" altLang="en-US" sz="3200" kern="0" spc="-100" dirty="0">
                <a:solidFill>
                  <a:srgbClr val="000000"/>
                </a:solidFill>
              </a:rPr>
              <a:t>!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755" y="736269"/>
            <a:ext cx="9394798" cy="1425038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" y="3241497"/>
            <a:ext cx="9729788" cy="3444116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016774" y="3747541"/>
            <a:ext cx="3752602" cy="121361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Recall...</a:t>
            </a:r>
            <a:endParaRPr lang="zh-TW" altLang="en-US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 flipH="1">
            <a:off x="7340848" y="434793"/>
            <a:ext cx="3125129" cy="784901"/>
            <a:chOff x="-734800" y="434792"/>
            <a:chExt cx="3125129" cy="784901"/>
          </a:xfrm>
        </p:grpSpPr>
        <p:sp>
          <p:nvSpPr>
            <p:cNvPr id="14" name="Trapezoid 13"/>
            <p:cNvSpPr/>
            <p:nvPr/>
          </p:nvSpPr>
          <p:spPr bwMode="auto">
            <a:xfrm rot="-2700000">
              <a:off x="-734800" y="435836"/>
              <a:ext cx="3125129" cy="783857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en-US" sz="2800" dirty="0">
                <a:solidFill>
                  <a:prstClr val="black"/>
                </a:solidFill>
                <a:latin typeface="Arial" charset="0"/>
                <a:ea typeface="新細明體" charset="-120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 rot="-2700000">
              <a:off x="-514076" y="434792"/>
              <a:ext cx="2717649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>
                  <a:solidFill>
                    <a:prstClr val="black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</a:t>
              </a:r>
              <a:r>
                <a:rPr kumimoji="1" lang="en-US" altLang="zh-TW" sz="2400" dirty="0" smtClean="0">
                  <a:solidFill>
                    <a:prstClr val="black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4</a:t>
              </a:r>
              <a:r>
                <a:rPr kumimoji="1" lang="en-US" altLang="zh-TW" sz="2400" dirty="0">
                  <a:solidFill>
                    <a:prstClr val="black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/>
              </a:r>
              <a:br>
                <a:rPr kumimoji="1" lang="en-US" altLang="zh-TW" sz="2400" dirty="0">
                  <a:solidFill>
                    <a:prstClr val="black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>
                  <a:solidFill>
                    <a:prstClr val="black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Slide </a:t>
              </a:r>
              <a:r>
                <a:rPr kumimoji="1" lang="en-US" altLang="zh-TW" sz="2400" dirty="0" smtClean="0">
                  <a:solidFill>
                    <a:prstClr val="black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#</a:t>
              </a:r>
              <a:r>
                <a:rPr kumimoji="1" lang="en-US" altLang="zh-TW" sz="2400" dirty="0">
                  <a:solidFill>
                    <a:prstClr val="black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2</a:t>
              </a:r>
              <a:endParaRPr kumimoji="1" lang="en-US" altLang="zh-TW" sz="2400" dirty="0">
                <a:solidFill>
                  <a:prstClr val="black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  <p:sp>
        <p:nvSpPr>
          <p:cNvPr id="21" name="Rectangle 20"/>
          <p:cNvSpPr/>
          <p:nvPr/>
        </p:nvSpPr>
        <p:spPr>
          <a:xfrm>
            <a:off x="997527" y="2835635"/>
            <a:ext cx="8732262" cy="37862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651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21" grpId="0" animBg="1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4"/>
          <p:cNvSpPr txBox="1">
            <a:spLocks/>
          </p:cNvSpPr>
          <p:nvPr/>
        </p:nvSpPr>
        <p:spPr>
          <a:xfrm>
            <a:off x="-239249" y="1002590"/>
            <a:ext cx="9969037" cy="585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 cat ReturningMultiValues.py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f(): return (1,2)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a=f(); print("a=",a)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		# A two-element tuple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rgbClr val="FF0000"/>
                </a:solidFill>
                <a:latin typeface="Lucida Console" panose="020B0609040504020204" pitchFamily="49" charset="0"/>
              </a:rPr>
              <a:t>def f(): return </a:t>
            </a:r>
            <a:r>
              <a:rPr lang="en-US" altLang="zh-TW" smtClean="0">
                <a:solidFill>
                  <a:srgbClr val="00B050"/>
                </a:solidFill>
                <a:latin typeface="Lucida Console" panose="020B0609040504020204" pitchFamily="49" charset="0"/>
              </a:rPr>
              <a:t>1,2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rgbClr val="00B050"/>
                </a:solidFill>
                <a:latin typeface="Lucida Console" panose="020B0609040504020204" pitchFamily="49" charset="0"/>
              </a:rPr>
              <a:t>x,y=f()</a:t>
            </a:r>
            <a:r>
              <a:rPr lang="en-US" altLang="zh-TW" smtClean="0">
                <a:solidFill>
                  <a:srgbClr val="FF0000"/>
                </a:solidFill>
                <a:latin typeface="Lucida Console" panose="020B0609040504020204" pitchFamily="49" charset="0"/>
              </a:rPr>
              <a:t>; print("x=",x," y=",y)	</a:t>
            </a:r>
            <a:r>
              <a:rPr lang="en-US" altLang="zh-TW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Is </a:t>
            </a:r>
            <a:r>
              <a:rPr lang="en-US" altLang="zh-TW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n-US" altLang="zh-TW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legal?</a:t>
            </a:r>
            <a:endParaRPr lang="en-US" altLang="zh-TW" smtClean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def f(): return (1,2)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x,y=f(); print("x=",x," y=",y)	</a:t>
            </a:r>
            <a:r>
              <a:rPr lang="en-US" altLang="zh-TW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Is this legal?</a:t>
            </a:r>
            <a:endParaRPr lang="en-US" altLang="zh-TW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a=f(); print("a=",a)			</a:t>
            </a:r>
            <a:r>
              <a:rPr lang="en-US" altLang="zh-TW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We’ve seen this before</a:t>
            </a:r>
            <a:endParaRPr lang="en-US" altLang="zh-TW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def f(): return 1,2			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x,y=f(); print("x=",x," y=",y)	</a:t>
            </a:r>
            <a:r>
              <a:rPr lang="en-US" altLang="zh-TW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We’ve seen this before</a:t>
            </a:r>
            <a:endParaRPr lang="en-US" altLang="zh-TW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a=f(); print("a=",a)			</a:t>
            </a:r>
            <a:r>
              <a:rPr lang="en-US" altLang="zh-TW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But is this legal?</a:t>
            </a:r>
            <a:endParaRPr lang="en-US" altLang="zh-TW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 python3 ReturningMultiValues.py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a= (1, 2)			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 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A two element tuple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rgbClr val="FF0000"/>
                </a:solidFill>
                <a:latin typeface="Lucida Console" panose="020B0609040504020204" pitchFamily="49" charset="0"/>
              </a:rPr>
              <a:t>x= 1  y= 2</a:t>
            </a:r>
            <a:r>
              <a:rPr lang="en-US" altLang="zh-TW" smtClean="0">
                <a:latin typeface="Lucida Console" panose="020B0609040504020204" pitchFamily="49" charset="0"/>
                <a:sym typeface="Symbol" panose="05050102010706020507" pitchFamily="18" charset="2"/>
              </a:rPr>
              <a:t> 				   </a:t>
            </a:r>
            <a:r>
              <a:rPr lang="en-US" altLang="zh-TW" smtClean="0">
                <a:solidFill>
                  <a:srgbClr val="00B050"/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Yes, it is legal</a:t>
            </a:r>
            <a:endParaRPr lang="en-US" altLang="zh-TW" smtClean="0">
              <a:solidFill>
                <a:srgbClr val="FF0000"/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x= 1  y= 2				</a:t>
            </a: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Yes, it is legal, too</a:t>
            </a:r>
            <a:endParaRPr lang="en-US" altLang="zh-TW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a= (1, 2)</a:t>
            </a: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 				 A two element tuple</a:t>
            </a:r>
            <a:endParaRPr lang="en-US" altLang="zh-TW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= (1, 2)</a:t>
            </a: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 				 Yes, it is legal</a:t>
            </a:r>
            <a:endParaRPr lang="en-US" altLang="zh-TW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%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16774" y="3747541"/>
            <a:ext cx="3752602" cy="121361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Recall...</a:t>
            </a:r>
            <a:endParaRPr lang="zh-TW" altLang="en-US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Returning from a Function</a:t>
            </a:r>
            <a:endParaRPr lang="en-US" sz="4400" dirty="0" smtClean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7368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"/>
          <p:cNvSpPr txBox="1">
            <a:spLocks/>
          </p:cNvSpPr>
          <p:nvPr/>
        </p:nvSpPr>
        <p:spPr>
          <a:xfrm>
            <a:off x="-239249" y="1002590"/>
            <a:ext cx="9969037" cy="585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 cat ReturningMultiValues.py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f(): return (1,2)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a=f(); print("a=",a)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		# A two-element tuple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f(): return 1,2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x,y=f(); print("x=",x," y=",y)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Is this legal?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rgbClr val="FF0000"/>
                </a:solidFill>
                <a:latin typeface="Lucida Console" panose="020B0609040504020204" pitchFamily="49" charset="0"/>
              </a:rPr>
              <a:t>def f(): return </a:t>
            </a:r>
            <a:r>
              <a:rPr lang="en-US" altLang="zh-TW" smtClean="0">
                <a:solidFill>
                  <a:srgbClr val="00B050"/>
                </a:solidFill>
                <a:latin typeface="Lucida Console" panose="020B0609040504020204" pitchFamily="49" charset="0"/>
              </a:rPr>
              <a:t>(1,2)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rgbClr val="00B050"/>
                </a:solidFill>
                <a:latin typeface="Lucida Console" panose="020B0609040504020204" pitchFamily="49" charset="0"/>
              </a:rPr>
              <a:t>x,y=f()</a:t>
            </a:r>
            <a:r>
              <a:rPr lang="en-US" altLang="zh-TW" smtClean="0">
                <a:solidFill>
                  <a:srgbClr val="FF0000"/>
                </a:solidFill>
                <a:latin typeface="Lucida Console" panose="020B0609040504020204" pitchFamily="49" charset="0"/>
              </a:rPr>
              <a:t>; print("x=",x," y=",y)	</a:t>
            </a:r>
            <a:r>
              <a:rPr lang="en-US" altLang="zh-TW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Is </a:t>
            </a:r>
            <a:r>
              <a:rPr lang="en-US" altLang="zh-TW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n-US" altLang="zh-TW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legal?</a:t>
            </a:r>
            <a:endParaRPr lang="en-US" altLang="zh-TW" smtClean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a=f(); print("a=",a)			</a:t>
            </a:r>
            <a:r>
              <a:rPr lang="en-US" altLang="zh-TW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We’ve seen this before</a:t>
            </a:r>
            <a:endParaRPr lang="en-US" altLang="zh-TW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def f(): return 1,2			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x,y=f(); print("x=",x," y=",y)	</a:t>
            </a:r>
            <a:r>
              <a:rPr lang="en-US" altLang="zh-TW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We’ve seen this before</a:t>
            </a:r>
            <a:endParaRPr lang="en-US" altLang="zh-TW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a=f(); print("a=",a)			</a:t>
            </a:r>
            <a:r>
              <a:rPr lang="en-US" altLang="zh-TW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But is this legal?</a:t>
            </a:r>
            <a:endParaRPr lang="en-US" altLang="zh-TW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 python3 ReturningMultiValues.py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a= (1, 2)			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 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A two element tuple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x= 1  y= 2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 				  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Yes, it is legal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mtClean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a= (1, 2)</a:t>
            </a: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 				 A two element tuple</a:t>
            </a:r>
            <a:endParaRPr lang="en-US" altLang="zh-TW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x= 1  y= 2				</a:t>
            </a: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Same as before</a:t>
            </a:r>
            <a:endParaRPr lang="en-US" altLang="zh-TW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a= (1, 2)</a:t>
            </a: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 				 Yes, it is legal</a:t>
            </a:r>
            <a:endParaRPr lang="en-US" altLang="zh-TW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%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Arc 5"/>
          <p:cNvSpPr/>
          <p:nvPr/>
        </p:nvSpPr>
        <p:spPr>
          <a:xfrm rot="10173868">
            <a:off x="845808" y="1283486"/>
            <a:ext cx="6952602" cy="2887127"/>
          </a:xfrm>
          <a:prstGeom prst="arc">
            <a:avLst>
              <a:gd name="adj1" fmla="val 12051677"/>
              <a:gd name="adj2" fmla="val 90334"/>
            </a:avLst>
          </a:prstGeom>
          <a:ln w="28575">
            <a:solidFill>
              <a:srgbClr val="00B05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16774" y="3747541"/>
            <a:ext cx="3752602" cy="121361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Recall...</a:t>
            </a:r>
            <a:endParaRPr lang="zh-TW" altLang="en-US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Returning from a Function</a:t>
            </a:r>
            <a:endParaRPr lang="en-US" sz="4400" dirty="0" smtClean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46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 txBox="1">
            <a:spLocks/>
          </p:cNvSpPr>
          <p:nvPr/>
        </p:nvSpPr>
        <p:spPr>
          <a:xfrm>
            <a:off x="-117134" y="1076326"/>
            <a:ext cx="9846922" cy="589597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900" dirty="0">
                <a:solidFill>
                  <a:sysClr val="windowText" lastClr="000000"/>
                </a:solidFill>
                <a:latin typeface="Calibri"/>
              </a:rPr>
              <a:t>    </a:t>
            </a:r>
            <a:r>
              <a:rPr lang="en-US" altLang="en-US" sz="1400" dirty="0">
                <a:solidFill>
                  <a:sysClr val="windowText" lastClr="000000"/>
                </a:solidFill>
                <a:latin typeface="Calibri"/>
                <a:cs typeface="Calibri" panose="020F0502020204030204" pitchFamily="34" charset="0"/>
              </a:rPr>
              <a:t> </a:t>
            </a:r>
            <a:r>
              <a:rPr lang="en-US" altLang="en-US" sz="4000" dirty="0">
                <a:solidFill>
                  <a:sysClr val="window" lastClr="FFFFFF"/>
                </a:solidFill>
                <a:latin typeface="Calibri"/>
                <a:cs typeface="Calibri" panose="020F0502020204030204" pitchFamily="34" charset="0"/>
              </a:rPr>
              <a:t>Several variables can also be </a:t>
            </a:r>
            <a:r>
              <a:rPr lang="en-US" altLang="en-US" sz="4000" b="1" i="1" dirty="0">
                <a:solidFill>
                  <a:sysClr val="window" lastClr="FFFFFF"/>
                </a:solidFill>
                <a:latin typeface="Calibri"/>
                <a:cs typeface="Calibri" panose="020F0502020204030204" pitchFamily="34" charset="0"/>
              </a:rPr>
              <a:t>assigned  simultaneously</a:t>
            </a:r>
            <a:r>
              <a:rPr lang="en-US" altLang="en-US" sz="4000" dirty="0">
                <a:solidFill>
                  <a:sysClr val="window" lastClr="FFFFFF"/>
                </a:solidFill>
                <a:latin typeface="Calibri"/>
                <a:cs typeface="Calibri" panose="020F0502020204030204" pitchFamily="34" charset="0"/>
              </a:rPr>
              <a:t>:</a:t>
            </a:r>
            <a:endParaRPr lang="en-US" altLang="en-US" sz="3900" dirty="0">
              <a:solidFill>
                <a:sysClr val="window" lastClr="FFFFFF"/>
              </a:solidFill>
              <a:latin typeface="Calibri"/>
            </a:endParaRP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>
                <a:solidFill>
                  <a:sysClr val="window" lastClr="FFFFFF">
                    <a:lumMod val="6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en-US" sz="32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32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32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3200" b="1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sz="15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sz="3200" dirty="0" err="1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a,b,c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      </a:t>
            </a:r>
            <a:r>
              <a:rPr lang="en-US" altLang="en-US" sz="15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3200" dirty="0">
                <a:solidFill>
                  <a:sysClr val="window" lastClr="FFFFFF">
                    <a:lumMod val="7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#all set to 1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 </a:t>
            </a:r>
            <a:r>
              <a:rPr lang="en-US" altLang="en-US" sz="32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 </a:t>
            </a:r>
            <a:r>
              <a:rPr lang="en-US" altLang="en-US" sz="32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>
                <a:solidFill>
                  <a:sysClr val="window" lastClr="FFFFFF">
                    <a:lumMod val="6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en-US" sz="3200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3200" dirty="0" err="1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3200" dirty="0" err="1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32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3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sz="15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sz="3200" dirty="0" err="1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a,b,c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  </a:t>
            </a:r>
            <a:r>
              <a:rPr lang="en-US" altLang="en-US" sz="15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3200" dirty="0">
                <a:solidFill>
                  <a:sysClr val="window" lastClr="FFFFFF">
                    <a:lumMod val="7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#respectively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  <a:r>
              <a:rPr lang="en-US" altLang="en-US" sz="32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2</a:t>
            </a:r>
            <a:r>
              <a:rPr lang="en-US" altLang="en-US" sz="3200" b="1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2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3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>
                <a:solidFill>
                  <a:sysClr val="window" lastClr="FFFFFF">
                    <a:lumMod val="6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en-US" sz="32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3200" spc="-1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3200" spc="-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3200" b="1" spc="-2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3200" spc="-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spc="-200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5</a:t>
            </a:r>
            <a:r>
              <a:rPr lang="en-US" altLang="en-US" sz="3200" spc="-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spc="-100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  <a:r>
              <a:rPr lang="en-US" altLang="en-US" sz="3200" spc="-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3200" spc="-1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sz="1300" b="1" spc="-100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200" b="1" spc="-100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3200" spc="-100" dirty="0" err="1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spc="-100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3200" spc="-100" dirty="0" err="1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3200" b="1" dirty="0">
                <a:solidFill>
                  <a:srgbClr val="7030A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sz="1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</a:t>
            </a:r>
            <a:r>
              <a:rPr lang="en-US" altLang="en-US" sz="3200" spc="-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t(</a:t>
            </a:r>
            <a:r>
              <a:rPr lang="en-US" altLang="en-US" sz="3200" spc="-200" dirty="0" err="1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a,b,c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3200" dirty="0">
                <a:solidFill>
                  <a:sysClr val="window" lastClr="FFFFFF">
                    <a:lumMod val="7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#from</a:t>
            </a:r>
            <a:r>
              <a:rPr lang="en-US" altLang="en-US" sz="2100" dirty="0">
                <a:solidFill>
                  <a:sysClr val="window" lastClr="FFFFFF">
                    <a:lumMod val="7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200" spc="-80" dirty="0">
                <a:solidFill>
                  <a:sysClr val="window" lastClr="FFFFFF">
                    <a:lumMod val="7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li</a:t>
            </a:r>
            <a:r>
              <a:rPr lang="en-US" altLang="en-US" sz="3200" dirty="0">
                <a:solidFill>
                  <a:sysClr val="window" lastClr="FFFFFF">
                    <a:lumMod val="7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st</a:t>
            </a:r>
            <a:r>
              <a:rPr lang="en-US" altLang="en-US" sz="3200" dirty="0">
                <a:solidFill>
                  <a:sysClr val="window" lastClr="FFFFFF">
                    <a:lumMod val="75000"/>
                  </a:sysClr>
                </a:solidFill>
                <a:latin typeface="Arial Black" panose="020B0A04020102020204" pitchFamily="34" charset="0"/>
                <a:cs typeface="Leelawadee UI" panose="020B0502040204020203" pitchFamily="34" charset="-34"/>
              </a:rPr>
              <a:t>/</a:t>
            </a:r>
            <a:r>
              <a:rPr lang="en-US" altLang="en-US" sz="3200" dirty="0">
                <a:solidFill>
                  <a:sysClr val="window" lastClr="FFFFFF">
                    <a:lumMod val="7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tu</a:t>
            </a:r>
            <a:r>
              <a:rPr lang="en-US" altLang="en-US" sz="3200" spc="-80" dirty="0">
                <a:solidFill>
                  <a:sysClr val="window" lastClr="FFFFFF">
                    <a:lumMod val="7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pl</a:t>
            </a:r>
            <a:r>
              <a:rPr lang="en-US" altLang="en-US" sz="3200" dirty="0">
                <a:solidFill>
                  <a:sysClr val="window" lastClr="FFFFFF">
                    <a:lumMod val="7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e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32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5</a:t>
            </a:r>
            <a:r>
              <a:rPr lang="en-US" altLang="en-US" sz="3200" b="1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2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6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>
                <a:solidFill>
                  <a:sysClr val="window" lastClr="FFFFFF">
                    <a:lumMod val="7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200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3200" dirty="0" err="1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3200" dirty="0" err="1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 err="1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32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  <a:r>
              <a:rPr lang="en-US" altLang="en-US" sz="15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endParaRPr lang="en-US" altLang="en-US" sz="3200" dirty="0">
              <a:solidFill>
                <a:sysClr val="windowText" lastClr="0000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 err="1">
                <a:solidFill>
                  <a:srgbClr val="E89898"/>
                </a:solidFill>
                <a:cs typeface="Arial" panose="020B0604020202020204" pitchFamily="34" charset="0"/>
              </a:rPr>
              <a:t>Traceback</a:t>
            </a:r>
            <a:r>
              <a:rPr lang="en-US" altLang="en-US" sz="3200" dirty="0">
                <a:solidFill>
                  <a:srgbClr val="E89898"/>
                </a:solidFill>
                <a:cs typeface="Arial" panose="020B0604020202020204" pitchFamily="34" charset="0"/>
              </a:rPr>
              <a:t> (most recent call last):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>
                <a:solidFill>
                  <a:srgbClr val="E89898"/>
                </a:solidFill>
                <a:cs typeface="Arial" panose="020B0604020202020204" pitchFamily="34" charset="0"/>
              </a:rPr>
              <a:t>  File "&lt;</a:t>
            </a:r>
            <a:r>
              <a:rPr lang="en-US" altLang="en-US" sz="3200" dirty="0" err="1">
                <a:solidFill>
                  <a:srgbClr val="E89898"/>
                </a:solidFill>
                <a:cs typeface="Arial" panose="020B0604020202020204" pitchFamily="34" charset="0"/>
              </a:rPr>
              <a:t>stdin</a:t>
            </a:r>
            <a:r>
              <a:rPr lang="en-US" altLang="en-US" sz="3200" dirty="0">
                <a:solidFill>
                  <a:srgbClr val="E89898"/>
                </a:solidFill>
                <a:cs typeface="Arial" panose="020B0604020202020204" pitchFamily="34" charset="0"/>
              </a:rPr>
              <a:t>&gt;", line 1, in &lt;module&gt;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 err="1">
                <a:solidFill>
                  <a:srgbClr val="FF0000"/>
                </a:solidFill>
                <a:cs typeface="Arial" panose="020B0604020202020204" pitchFamily="34" charset="0"/>
              </a:rPr>
              <a:t>ValueError</a:t>
            </a:r>
            <a:r>
              <a:rPr lang="en-US" altLang="en-US" sz="3200" dirty="0">
                <a:solidFill>
                  <a:srgbClr val="FF0000"/>
                </a:solidFill>
                <a:cs typeface="Arial" panose="020B0604020202020204" pitchFamily="34" charset="0"/>
              </a:rPr>
              <a:t>: not enough values to unpack (expected 3, got 2)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b="1" dirty="0">
                <a:solidFill>
                  <a:srgbClr val="FFFFFF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altLang="en-US" sz="32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200" b="1" dirty="0" err="1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3200" dirty="0" err="1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 err="1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b</a:t>
            </a:r>
            <a:r>
              <a:rPr lang="en-US" altLang="en-US" sz="3200" dirty="0" err="1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 err="1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3200" b="1" dirty="0">
                <a:solidFill>
                  <a:srgbClr val="00B0F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>
                <a:solidFill>
                  <a:srgbClr val="00B05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3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32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4</a:t>
            </a:r>
            <a:r>
              <a:rPr lang="en-US" altLang="en-US" sz="3200" dirty="0">
                <a:solidFill>
                  <a:sysClr val="windowText" lastClr="00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;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 err="1">
                <a:solidFill>
                  <a:srgbClr val="E89898"/>
                </a:solidFill>
                <a:cs typeface="Arial" panose="020B0604020202020204" pitchFamily="34" charset="0"/>
              </a:rPr>
              <a:t>Traceback</a:t>
            </a:r>
            <a:r>
              <a:rPr lang="en-US" altLang="en-US" sz="3200" dirty="0">
                <a:solidFill>
                  <a:srgbClr val="E89898"/>
                </a:solidFill>
                <a:cs typeface="Arial" panose="020B0604020202020204" pitchFamily="34" charset="0"/>
              </a:rPr>
              <a:t> (most recent call last):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>
                <a:solidFill>
                  <a:srgbClr val="E89898"/>
                </a:solidFill>
                <a:cs typeface="Arial" panose="020B0604020202020204" pitchFamily="34" charset="0"/>
              </a:rPr>
              <a:t>  File "&lt;</a:t>
            </a:r>
            <a:r>
              <a:rPr lang="en-US" altLang="en-US" sz="3200" dirty="0" err="1">
                <a:solidFill>
                  <a:srgbClr val="E89898"/>
                </a:solidFill>
                <a:cs typeface="Arial" panose="020B0604020202020204" pitchFamily="34" charset="0"/>
              </a:rPr>
              <a:t>stdin</a:t>
            </a:r>
            <a:r>
              <a:rPr lang="en-US" altLang="en-US" sz="3200" dirty="0">
                <a:solidFill>
                  <a:srgbClr val="E89898"/>
                </a:solidFill>
                <a:cs typeface="Arial" panose="020B0604020202020204" pitchFamily="34" charset="0"/>
              </a:rPr>
              <a:t>&gt;", line 1, in &lt;module&gt;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 err="1">
                <a:solidFill>
                  <a:srgbClr val="FF0000"/>
                </a:solidFill>
                <a:cs typeface="Arial" panose="020B0604020202020204" pitchFamily="34" charset="0"/>
              </a:rPr>
              <a:t>ValueError</a:t>
            </a:r>
            <a:r>
              <a:rPr lang="en-US" altLang="en-US" sz="3200" dirty="0">
                <a:solidFill>
                  <a:srgbClr val="FF0000"/>
                </a:solidFill>
                <a:cs typeface="Arial" panose="020B0604020202020204" pitchFamily="34" charset="0"/>
              </a:rPr>
              <a:t>: too many values to unpack (expected 3)</a:t>
            </a:r>
          </a:p>
          <a:p>
            <a:pPr lvl="1">
              <a:lnSpc>
                <a:spcPct val="98000"/>
              </a:lnSpc>
              <a:buFont typeface="Arial" panose="020B0604020202020204" pitchFamily="34" charset="0"/>
              <a:buNone/>
              <a:defRPr/>
            </a:pPr>
            <a:r>
              <a:rPr lang="en-US" altLang="en-US" sz="3200" dirty="0">
                <a:solidFill>
                  <a:sysClr val="window" lastClr="FFFFFF">
                    <a:lumMod val="65000"/>
                  </a:sys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5578" y="2235000"/>
            <a:ext cx="710730" cy="21961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>
              <a:defRPr/>
            </a:pPr>
            <a:r>
              <a:rPr lang="en-US" altLang="zh-TW" sz="2500" kern="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  <a:ea typeface="新細明體" panose="02020500000000000000" pitchFamily="18" charset="-120"/>
              </a:rPr>
              <a:t>&gt;&gt;&gt;</a:t>
            </a:r>
            <a:endParaRPr lang="zh-TW" altLang="en-US" sz="2500" kern="0" dirty="0">
              <a:solidFill>
                <a:prstClr val="white">
                  <a:lumMod val="65000"/>
                </a:prstClr>
              </a:solidFill>
              <a:latin typeface="Lucida Console" panose="020B0609040504020204" pitchFamily="49" charset="0"/>
              <a:ea typeface="新細明體" panose="02020500000000000000" pitchFamily="18" charset="-12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05578" y="2925242"/>
            <a:ext cx="710730" cy="21961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>
              <a:defRPr/>
            </a:pPr>
            <a:r>
              <a:rPr lang="en-US" altLang="zh-TW" sz="2500" kern="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  <a:ea typeface="新細明體" panose="02020500000000000000" pitchFamily="18" charset="-120"/>
              </a:rPr>
              <a:t>&gt;&gt;&gt;</a:t>
            </a:r>
            <a:endParaRPr lang="zh-TW" altLang="en-US" sz="2500" kern="0" dirty="0">
              <a:solidFill>
                <a:prstClr val="white">
                  <a:lumMod val="65000"/>
                </a:prstClr>
              </a:solidFill>
              <a:latin typeface="Lucida Console" panose="020B0609040504020204" pitchFamily="49" charset="0"/>
              <a:ea typeface="新細明體" panose="02020500000000000000" pitchFamily="18" charset="-12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05578" y="3624393"/>
            <a:ext cx="710730" cy="21961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>
              <a:defRPr/>
            </a:pPr>
            <a:r>
              <a:rPr lang="en-US" altLang="zh-TW" sz="2500" kern="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  <a:ea typeface="新細明體" panose="02020500000000000000" pitchFamily="18" charset="-120"/>
              </a:rPr>
              <a:t>&gt;&gt;&gt;</a:t>
            </a:r>
            <a:endParaRPr lang="zh-TW" altLang="en-US" sz="2500" kern="0" dirty="0">
              <a:solidFill>
                <a:prstClr val="white">
                  <a:lumMod val="65000"/>
                </a:prstClr>
              </a:solidFill>
              <a:latin typeface="Lucida Console" panose="020B0609040504020204" pitchFamily="49" charset="0"/>
              <a:ea typeface="新細明體" panose="02020500000000000000" pitchFamily="18" charset="-12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05578" y="5013476"/>
            <a:ext cx="710730" cy="219612"/>
          </a:xfrm>
          <a:prstGeom prst="rect">
            <a:avLst/>
          </a:prstGeom>
          <a:solidFill>
            <a:srgbClr val="FDFDF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>
              <a:defRPr/>
            </a:pPr>
            <a:r>
              <a:rPr lang="en-US" altLang="zh-TW" sz="2500" kern="0" dirty="0">
                <a:solidFill>
                  <a:prstClr val="white">
                    <a:lumMod val="65000"/>
                  </a:prstClr>
                </a:solidFill>
                <a:latin typeface="Lucida Console" panose="020B0609040504020204" pitchFamily="49" charset="0"/>
                <a:ea typeface="新細明體" panose="02020500000000000000" pitchFamily="18" charset="-120"/>
              </a:rPr>
              <a:t>&gt;&gt;&gt;</a:t>
            </a:r>
            <a:endParaRPr lang="zh-TW" altLang="en-US" sz="2500" kern="0" dirty="0">
              <a:solidFill>
                <a:prstClr val="white">
                  <a:lumMod val="65000"/>
                </a:prstClr>
              </a:solidFill>
              <a:latin typeface="Lucida Console" panose="020B0609040504020204" pitchFamily="49" charset="0"/>
              <a:ea typeface="新細明體" panose="02020500000000000000" pitchFamily="18" charset="-12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92895" y="458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r>
              <a:rPr lang="en-US" altLang="zh-TW" sz="4400" kern="0" dirty="0">
                <a:solidFill>
                  <a:srgbClr val="0070C0"/>
                </a:solidFill>
                <a:latin typeface="Elephant" panose="02020904090505020303" pitchFamily="18" charset="0"/>
              </a:rPr>
              <a:t>Multiple Assignments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7940" y="800101"/>
            <a:ext cx="9647555" cy="8291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8905" indent="-198905" algn="l" defTabSz="795619" rtl="0" eaLnBrk="1" latinLnBrk="0" hangingPunct="1">
              <a:lnSpc>
                <a:spcPct val="90000"/>
              </a:lnSpc>
              <a:spcBef>
                <a:spcPts val="870"/>
              </a:spcBef>
              <a:buFont typeface="Arial" panose="020B0604020202020204" pitchFamily="34" charset="0"/>
              <a:buChar char="•"/>
              <a:defRPr sz="34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6715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31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452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7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233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0144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24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8795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8576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8357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81383" indent="-198905" algn="l" defTabSz="795619" rtl="0" eaLnBrk="1" latinLnBrk="0" hangingPunct="1">
              <a:lnSpc>
                <a:spcPct val="90000"/>
              </a:lnSpc>
              <a:spcBef>
                <a:spcPts val="435"/>
              </a:spcBef>
              <a:buFont typeface="Arial" panose="020B0604020202020204" pitchFamily="34" charset="0"/>
              <a:buChar char="•"/>
              <a:defRPr sz="15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8438" indent="-198438">
              <a:lnSpc>
                <a:spcPct val="98000"/>
              </a:lnSpc>
              <a:buClr>
                <a:srgbClr val="3333CC"/>
              </a:buClr>
              <a:buSzPct val="150000"/>
              <a:buFont typeface="Wingdings" panose="05000000000000000000" pitchFamily="2" charset="2"/>
              <a:buChar char="§"/>
            </a:pPr>
            <a:r>
              <a:rPr lang="en-US" altLang="en-US" sz="2400" spc="-100" dirty="0">
                <a:solidFill>
                  <a:sysClr val="windowText" lastClr="000000"/>
                </a:solidFill>
                <a:cs typeface="Calibri" panose="020F0502020204030204" pitchFamily="34" charset="0"/>
              </a:rPr>
              <a:t> </a:t>
            </a:r>
            <a:r>
              <a:rPr lang="en-US" altLang="en-US" sz="3200" kern="0" spc="-100" dirty="0">
                <a:solidFill>
                  <a:srgbClr val="000000"/>
                </a:solidFill>
              </a:rPr>
              <a:t>New topic: variable </a:t>
            </a:r>
            <a:r>
              <a:rPr lang="en-US" altLang="en-US" sz="3200" kern="0" spc="-100" dirty="0">
                <a:solidFill>
                  <a:srgbClr val="FF0000"/>
                </a:solidFill>
              </a:rPr>
              <a:t>assignments</a:t>
            </a:r>
            <a:r>
              <a:rPr lang="en-US" altLang="en-US" sz="3200" kern="0" spc="-100" dirty="0">
                <a:solidFill>
                  <a:srgbClr val="000000"/>
                </a:solidFill>
              </a:rPr>
              <a:t> can be </a:t>
            </a:r>
            <a:r>
              <a:rPr lang="en-US" altLang="en-US" sz="3200" b="1" i="1" kern="0" spc="-100" dirty="0">
                <a:solidFill>
                  <a:srgbClr val="FF0000"/>
                </a:solidFill>
              </a:rPr>
              <a:t>chained</a:t>
            </a:r>
            <a:r>
              <a:rPr lang="en-US" altLang="en-US" sz="3200" kern="0" spc="-100" dirty="0">
                <a:solidFill>
                  <a:srgbClr val="000000"/>
                </a:solidFill>
              </a:rPr>
              <a:t> too</a:t>
            </a:r>
            <a:r>
              <a:rPr lang="en-US" altLang="en-US" sz="1050" kern="0" spc="-100" dirty="0">
                <a:solidFill>
                  <a:srgbClr val="000000"/>
                </a:solidFill>
              </a:rPr>
              <a:t> </a:t>
            </a:r>
            <a:r>
              <a:rPr lang="en-US" altLang="en-US" sz="3200" kern="0" spc="-100" dirty="0">
                <a:solidFill>
                  <a:srgbClr val="000000"/>
                </a:solidFill>
              </a:rPr>
              <a:t>!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755" y="736269"/>
            <a:ext cx="9394798" cy="2101934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" y="3895106"/>
            <a:ext cx="9729788" cy="2790506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grpSp>
        <p:nvGrpSpPr>
          <p:cNvPr id="13" name="Group 12"/>
          <p:cNvGrpSpPr/>
          <p:nvPr/>
        </p:nvGrpSpPr>
        <p:grpSpPr>
          <a:xfrm flipH="1">
            <a:off x="7340848" y="434793"/>
            <a:ext cx="3125129" cy="784901"/>
            <a:chOff x="-734800" y="434792"/>
            <a:chExt cx="3125129" cy="784901"/>
          </a:xfrm>
        </p:grpSpPr>
        <p:sp>
          <p:nvSpPr>
            <p:cNvPr id="14" name="Trapezoid 13"/>
            <p:cNvSpPr/>
            <p:nvPr/>
          </p:nvSpPr>
          <p:spPr bwMode="auto">
            <a:xfrm rot="-2700000">
              <a:off x="-734800" y="435836"/>
              <a:ext cx="3125129" cy="783857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en-US" sz="2800" dirty="0">
                <a:solidFill>
                  <a:prstClr val="black"/>
                </a:solidFill>
                <a:latin typeface="Arial" charset="0"/>
                <a:ea typeface="新細明體" charset="-120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 rot="-2700000">
              <a:off x="-514076" y="434792"/>
              <a:ext cx="2717649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>
                  <a:solidFill>
                    <a:prstClr val="black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</a:t>
              </a:r>
              <a:r>
                <a:rPr kumimoji="1" lang="en-US" altLang="zh-TW" sz="2400" dirty="0" smtClean="0">
                  <a:solidFill>
                    <a:prstClr val="black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4</a:t>
              </a:r>
              <a:r>
                <a:rPr kumimoji="1" lang="en-US" altLang="zh-TW" sz="2400" dirty="0">
                  <a:solidFill>
                    <a:prstClr val="black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/>
              </a:r>
              <a:br>
                <a:rPr kumimoji="1" lang="en-US" altLang="zh-TW" sz="2400" dirty="0">
                  <a:solidFill>
                    <a:prstClr val="black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>
                  <a:solidFill>
                    <a:prstClr val="black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Slide </a:t>
              </a:r>
              <a:r>
                <a:rPr kumimoji="1" lang="en-US" altLang="zh-TW" sz="2400" dirty="0" smtClean="0">
                  <a:solidFill>
                    <a:prstClr val="black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#</a:t>
              </a:r>
              <a:r>
                <a:rPr kumimoji="1" lang="en-US" altLang="zh-TW" sz="2400" dirty="0">
                  <a:solidFill>
                    <a:prstClr val="black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2</a:t>
              </a:r>
              <a:endParaRPr kumimoji="1" lang="en-US" altLang="zh-TW" sz="2400" dirty="0">
                <a:solidFill>
                  <a:prstClr val="black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  <p:sp>
        <p:nvSpPr>
          <p:cNvPr id="21" name="Rectangle 20"/>
          <p:cNvSpPr/>
          <p:nvPr/>
        </p:nvSpPr>
        <p:spPr>
          <a:xfrm>
            <a:off x="1102427" y="3594976"/>
            <a:ext cx="8431991" cy="322613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016774" y="3747541"/>
            <a:ext cx="3752602" cy="121361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Recall...</a:t>
            </a:r>
            <a:endParaRPr lang="zh-TW" altLang="en-US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471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21" grpId="0" animBg="1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"/>
          <p:cNvSpPr txBox="1">
            <a:spLocks/>
          </p:cNvSpPr>
          <p:nvPr/>
        </p:nvSpPr>
        <p:spPr>
          <a:xfrm>
            <a:off x="-239249" y="1002590"/>
            <a:ext cx="9969037" cy="585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 cat ReturningMultiValues.py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f(): return (1,2)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a=f(); print("a=",a)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		# A two-element tuple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f(): return 1,2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x,y=f(); print("x=",x," y=",y)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Is this legal?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rgbClr val="FF0000"/>
                </a:solidFill>
                <a:latin typeface="Lucida Console" panose="020B0609040504020204" pitchFamily="49" charset="0"/>
              </a:rPr>
              <a:t>def f(): return </a:t>
            </a:r>
            <a:r>
              <a:rPr lang="en-US" altLang="zh-TW" smtClean="0">
                <a:solidFill>
                  <a:srgbClr val="00B050"/>
                </a:solidFill>
                <a:latin typeface="Lucida Console" panose="020B0609040504020204" pitchFamily="49" charset="0"/>
              </a:rPr>
              <a:t>(1,2)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rgbClr val="00B050"/>
                </a:solidFill>
                <a:latin typeface="Lucida Console" panose="020B0609040504020204" pitchFamily="49" charset="0"/>
              </a:rPr>
              <a:t>x,y=f()</a:t>
            </a:r>
            <a:r>
              <a:rPr lang="en-US" altLang="zh-TW" smtClean="0">
                <a:solidFill>
                  <a:srgbClr val="FF0000"/>
                </a:solidFill>
                <a:latin typeface="Lucida Console" panose="020B0609040504020204" pitchFamily="49" charset="0"/>
              </a:rPr>
              <a:t>; print("x=",x," y=",y)	</a:t>
            </a:r>
            <a:r>
              <a:rPr lang="en-US" altLang="zh-TW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Is </a:t>
            </a:r>
            <a:r>
              <a:rPr lang="en-US" altLang="zh-TW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n-US" altLang="zh-TW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legal?</a:t>
            </a:r>
            <a:endParaRPr lang="en-US" altLang="zh-TW" smtClean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a=f(); print("a=",a)			</a:t>
            </a:r>
            <a:r>
              <a:rPr lang="en-US" altLang="zh-TW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We’ve seen this before</a:t>
            </a:r>
            <a:endParaRPr lang="en-US" altLang="zh-TW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def f(): return 1,2			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x,y=f(); print("x=",x," y=",y)	</a:t>
            </a:r>
            <a:r>
              <a:rPr lang="en-US" altLang="zh-TW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We’ve seen this before</a:t>
            </a:r>
            <a:endParaRPr lang="en-US" altLang="zh-TW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a=f(); print("a=",a)			</a:t>
            </a:r>
            <a:r>
              <a:rPr lang="en-US" altLang="zh-TW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But is this legal?</a:t>
            </a:r>
            <a:endParaRPr lang="en-US" altLang="zh-TW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 python3 ReturningMultiValues.py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a= (1, 2)			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 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A two element tuple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x= 1  y= 2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 				  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Yes, it is legal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rgbClr val="FF0000"/>
                </a:solidFill>
                <a:latin typeface="Lucida Console" panose="020B0609040504020204" pitchFamily="49" charset="0"/>
              </a:rPr>
              <a:t>x= 1  y= 2				</a:t>
            </a:r>
            <a:r>
              <a:rPr lang="en-US" altLang="zh-TW" smtClean="0">
                <a:latin typeface="Lucida Console" panose="020B0609040504020204" pitchFamily="49" charset="0"/>
                <a:sym typeface="Symbol" panose="05050102010706020507" pitchFamily="18" charset="2"/>
              </a:rPr>
              <a:t>   </a:t>
            </a:r>
            <a:r>
              <a:rPr lang="en-US" altLang="zh-TW" smtClean="0">
                <a:solidFill>
                  <a:srgbClr val="00B050"/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Yes, it is legal, too</a:t>
            </a:r>
            <a:endParaRPr lang="en-US" altLang="zh-TW" smtClean="0">
              <a:solidFill>
                <a:srgbClr val="FF0000"/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a= (1, 2)</a:t>
            </a: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 				 A two element tuple</a:t>
            </a:r>
            <a:endParaRPr lang="en-US" altLang="zh-TW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x= 1  y= 2				</a:t>
            </a: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Same as before</a:t>
            </a:r>
            <a:endParaRPr lang="en-US" altLang="zh-TW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a= (1, 2)</a:t>
            </a: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 				 Yes, it is legal</a:t>
            </a:r>
            <a:endParaRPr lang="en-US" altLang="zh-TW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%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Returning from a Function</a:t>
            </a:r>
            <a:endParaRPr lang="en-US" sz="4400" dirty="0" smtClean="0">
              <a:solidFill>
                <a:srgbClr val="0070C0"/>
              </a:solidFill>
            </a:endParaRPr>
          </a:p>
        </p:txBody>
      </p:sp>
      <p:sp>
        <p:nvSpPr>
          <p:cNvPr id="7" name="Arc 6"/>
          <p:cNvSpPr/>
          <p:nvPr/>
        </p:nvSpPr>
        <p:spPr>
          <a:xfrm rot="10173868">
            <a:off x="845808" y="1283486"/>
            <a:ext cx="6952602" cy="2887127"/>
          </a:xfrm>
          <a:prstGeom prst="arc">
            <a:avLst>
              <a:gd name="adj1" fmla="val 12051677"/>
              <a:gd name="adj2" fmla="val 90334"/>
            </a:avLst>
          </a:prstGeom>
          <a:ln w="28575">
            <a:solidFill>
              <a:srgbClr val="00B05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16774" y="3747541"/>
            <a:ext cx="3752602" cy="121361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Recall...</a:t>
            </a:r>
            <a:endParaRPr lang="zh-TW" altLang="en-US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689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/>
          <p:cNvSpPr txBox="1">
            <a:spLocks/>
          </p:cNvSpPr>
          <p:nvPr/>
        </p:nvSpPr>
        <p:spPr>
          <a:xfrm>
            <a:off x="-239249" y="1002590"/>
            <a:ext cx="9969037" cy="585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 cat ReturningMultiValues.py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f(): return (1,2)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a=f(); print("a=",a)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		# A two-element tuple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f(): return 1,2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x,y=f(); print("x=",x," y=",y)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Is this legal?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latin typeface="Lucida Console" panose="020B0609040504020204" pitchFamily="49" charset="0"/>
              </a:rPr>
              <a:t>def f(): return (1,2)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x,y=f(); print("x=",x," y=",y)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Is this legal?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b="1" smtClean="0">
                <a:solidFill>
                  <a:srgbClr val="00B050"/>
                </a:solidFill>
                <a:latin typeface="Lucida Console" panose="020B0609040504020204" pitchFamily="49" charset="0"/>
              </a:rPr>
              <a:t>a=f()</a:t>
            </a:r>
            <a:r>
              <a:rPr lang="en-US" altLang="zh-TW" smtClean="0">
                <a:solidFill>
                  <a:srgbClr val="FF0000"/>
                </a:solidFill>
                <a:latin typeface="Lucida Console" panose="020B0609040504020204" pitchFamily="49" charset="0"/>
              </a:rPr>
              <a:t>; print("a=",a)			</a:t>
            </a:r>
            <a:r>
              <a:rPr lang="en-US" altLang="zh-TW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en-US" altLang="zh-TW" spc="-10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We’v</a:t>
            </a:r>
            <a:r>
              <a:rPr lang="en-US" altLang="zh-TW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zh-TW" sz="200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seen</a:t>
            </a:r>
            <a:r>
              <a:rPr lang="en-US" altLang="zh-TW" sz="200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n-US" altLang="zh-TW" sz="200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pc="-50" smtClean="0">
                <a:solidFill>
                  <a:srgbClr val="86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</a:t>
            </a:r>
            <a:r>
              <a:rPr lang="en-US" altLang="zh-TW" smtClean="0">
                <a:solidFill>
                  <a:srgbClr val="86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US" altLang="zh-TW" smtClean="0">
              <a:solidFill>
                <a:srgbClr val="860000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def f(): return 1,2			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x,y=f(); print("x=",x," y=",y)	</a:t>
            </a:r>
            <a:r>
              <a:rPr lang="en-US" altLang="zh-TW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We’ve seen this before</a:t>
            </a:r>
            <a:endParaRPr lang="en-US" altLang="zh-TW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a=f(); print("a=",a)			</a:t>
            </a:r>
            <a:r>
              <a:rPr lang="en-US" altLang="zh-TW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But is this legal?</a:t>
            </a:r>
            <a:endParaRPr lang="en-US" altLang="zh-TW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 python3 ReturningMultiValues.py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a= (1, 2)			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 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A two element tuple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x= 1  y= 2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 				  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Yes, it is legal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x= 1  y= 2			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 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Yes, it is legal, too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a= (1, 2)</a:t>
            </a: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 				 Same output as </a:t>
            </a:r>
            <a:r>
              <a:rPr lang="en-US" altLang="zh-TW" b="1" smtClean="0">
                <a:solidFill>
                  <a:schemeClr val="bg1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before</a:t>
            </a:r>
            <a:endParaRPr lang="en-US" altLang="zh-TW" b="1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x= 1(1, 2)</a:t>
            </a: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 				 Yes, it is legal</a:t>
            </a:r>
            <a:endParaRPr lang="en-US" altLang="zh-TW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%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Returning from a Function</a:t>
            </a:r>
            <a:endParaRPr lang="en-US" sz="4400" dirty="0" smtClean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2914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4"/>
          <p:cNvSpPr txBox="1">
            <a:spLocks/>
          </p:cNvSpPr>
          <p:nvPr/>
        </p:nvSpPr>
        <p:spPr>
          <a:xfrm>
            <a:off x="-239249" y="1002590"/>
            <a:ext cx="9969037" cy="585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 cat ReturningMultiValues.py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f(): return </a:t>
            </a:r>
            <a:r>
              <a:rPr lang="en-US" altLang="zh-TW" b="1" smtClean="0">
                <a:solidFill>
                  <a:srgbClr val="860000"/>
                </a:solidFill>
                <a:latin typeface="Lucida Console" panose="020B0609040504020204" pitchFamily="49" charset="0"/>
              </a:rPr>
              <a:t>(1,2)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b="1" smtClean="0">
                <a:solidFill>
                  <a:srgbClr val="860000"/>
                </a:solidFill>
                <a:latin typeface="Lucida Console" panose="020B0609040504020204" pitchFamily="49" charset="0"/>
              </a:rPr>
              <a:t>a=f()</a:t>
            </a:r>
            <a:r>
              <a:rPr lang="en-US" altLang="zh-TW" smtClean="0">
                <a:solidFill>
                  <a:srgbClr val="86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print("a=",a)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		# A two-element tuple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f(): return 1,2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x,y=f(); print("x=",x," y=",y)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Is this legal?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latin typeface="Lucida Console" panose="020B0609040504020204" pitchFamily="49" charset="0"/>
              </a:rPr>
              <a:t>def f(): return </a:t>
            </a:r>
            <a:r>
              <a:rPr lang="en-US" altLang="zh-TW" b="1" smtClean="0">
                <a:solidFill>
                  <a:srgbClr val="00B050"/>
                </a:solidFill>
                <a:latin typeface="Lucida Console" panose="020B0609040504020204" pitchFamily="49" charset="0"/>
              </a:rPr>
              <a:t>(1,2)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x,y=f(); print("x=",x," y=",y)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Is this legal?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b="1" smtClean="0">
                <a:solidFill>
                  <a:srgbClr val="00B050"/>
                </a:solidFill>
                <a:latin typeface="Lucida Console" panose="020B0609040504020204" pitchFamily="49" charset="0"/>
              </a:rPr>
              <a:t>a=f()</a:t>
            </a:r>
            <a:r>
              <a:rPr lang="en-US" altLang="zh-TW" smtClean="0">
                <a:solidFill>
                  <a:srgbClr val="FF0000"/>
                </a:solidFill>
                <a:latin typeface="Lucida Console" panose="020B0609040504020204" pitchFamily="49" charset="0"/>
              </a:rPr>
              <a:t>; print("a=",a)			</a:t>
            </a:r>
            <a:r>
              <a:rPr lang="en-US" altLang="zh-TW" smtClean="0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# </a:t>
            </a:r>
            <a:r>
              <a:rPr lang="en-US" altLang="zh-TW" spc="-100" smtClean="0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We’v</a:t>
            </a:r>
            <a:r>
              <a:rPr lang="en-US" altLang="zh-TW" smtClean="0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zh-TW" sz="2000" smtClean="0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mtClean="0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seen</a:t>
            </a:r>
            <a:r>
              <a:rPr lang="en-US" altLang="zh-TW" sz="2000" smtClean="0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n-US" altLang="zh-TW" sz="2000" smtClean="0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pc="-50" smtClean="0">
                <a:solidFill>
                  <a:srgbClr val="86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</a:t>
            </a:r>
            <a:r>
              <a:rPr lang="en-US" altLang="zh-TW" smtClean="0">
                <a:solidFill>
                  <a:srgbClr val="86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US" altLang="zh-TW" b="1" smtClean="0">
              <a:solidFill>
                <a:srgbClr val="860000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def f(): return 1,2			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x,y=f(); print("x=",x," y=",y)	</a:t>
            </a:r>
            <a:r>
              <a:rPr lang="en-US" altLang="zh-TW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We’ve seen this before</a:t>
            </a:r>
            <a:endParaRPr lang="en-US" altLang="zh-TW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a=f(); print("a=",a)			</a:t>
            </a:r>
            <a:r>
              <a:rPr lang="en-US" altLang="zh-TW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But is this legal?</a:t>
            </a:r>
            <a:endParaRPr lang="en-US" altLang="zh-TW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 python3 ReturningMultiValues.py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a= (1, 2)			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 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A two element tuple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x= 1  y= 2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 				  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Yes, it is legal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x= 1  y= 2			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 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Yes, it is legal, too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a= (1, 2)</a:t>
            </a: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 				 Same output as </a:t>
            </a:r>
            <a:r>
              <a:rPr lang="en-US" altLang="zh-TW" b="1" smtClean="0">
                <a:solidFill>
                  <a:schemeClr val="bg1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before</a:t>
            </a:r>
            <a:endParaRPr lang="en-US" altLang="zh-TW" b="1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x= 1  y= 2				</a:t>
            </a: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Same as before</a:t>
            </a:r>
            <a:endParaRPr lang="en-US" altLang="zh-TW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%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Returning from a Function</a:t>
            </a:r>
            <a:endParaRPr lang="en-US" sz="4400" dirty="0" smtClean="0">
              <a:solidFill>
                <a:srgbClr val="0070C0"/>
              </a:solidFill>
            </a:endParaRPr>
          </a:p>
        </p:txBody>
      </p:sp>
      <p:sp>
        <p:nvSpPr>
          <p:cNvPr id="5" name="Arc 4"/>
          <p:cNvSpPr/>
          <p:nvPr/>
        </p:nvSpPr>
        <p:spPr>
          <a:xfrm rot="10173868">
            <a:off x="755984" y="1101419"/>
            <a:ext cx="8912133" cy="3443285"/>
          </a:xfrm>
          <a:prstGeom prst="arc">
            <a:avLst>
              <a:gd name="adj1" fmla="val 12111175"/>
              <a:gd name="adj2" fmla="val 90334"/>
            </a:avLst>
          </a:prstGeom>
          <a:ln w="28575">
            <a:solidFill>
              <a:srgbClr val="00B05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Arc 5"/>
          <p:cNvSpPr/>
          <p:nvPr/>
        </p:nvSpPr>
        <p:spPr>
          <a:xfrm rot="9897543">
            <a:off x="3567118" y="910578"/>
            <a:ext cx="6105156" cy="3133151"/>
          </a:xfrm>
          <a:prstGeom prst="arc">
            <a:avLst>
              <a:gd name="adj1" fmla="val 13590456"/>
              <a:gd name="adj2" fmla="val 424105"/>
            </a:avLst>
          </a:prstGeom>
          <a:ln w="28575">
            <a:solidFill>
              <a:srgbClr val="00B05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7" name="Arc 6"/>
          <p:cNvSpPr/>
          <p:nvPr/>
        </p:nvSpPr>
        <p:spPr>
          <a:xfrm rot="2741117" flipH="1">
            <a:off x="2877158" y="1347454"/>
            <a:ext cx="7554280" cy="4594761"/>
          </a:xfrm>
          <a:prstGeom prst="arc">
            <a:avLst>
              <a:gd name="adj1" fmla="val 14165077"/>
              <a:gd name="adj2" fmla="val 424105"/>
            </a:avLst>
          </a:prstGeom>
          <a:ln w="28575">
            <a:solidFill>
              <a:srgbClr val="86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1219376" y="1921791"/>
            <a:ext cx="7749152" cy="1286359"/>
          </a:xfrm>
          <a:custGeom>
            <a:avLst/>
            <a:gdLst>
              <a:gd name="connsiteX0" fmla="*/ 7640664 w 7640664"/>
              <a:gd name="connsiteY0" fmla="*/ 1286359 h 1286359"/>
              <a:gd name="connsiteX1" fmla="*/ 6617776 w 7640664"/>
              <a:gd name="connsiteY1" fmla="*/ 836908 h 1286359"/>
              <a:gd name="connsiteX2" fmla="*/ 4432515 w 7640664"/>
              <a:gd name="connsiteY2" fmla="*/ 232474 h 1286359"/>
              <a:gd name="connsiteX3" fmla="*/ 1751308 w 7640664"/>
              <a:gd name="connsiteY3" fmla="*/ 201478 h 1286359"/>
              <a:gd name="connsiteX4" fmla="*/ 464949 w 7640664"/>
              <a:gd name="connsiteY4" fmla="*/ 170481 h 1286359"/>
              <a:gd name="connsiteX5" fmla="*/ 185979 w 7640664"/>
              <a:gd name="connsiteY5" fmla="*/ 92990 h 1286359"/>
              <a:gd name="connsiteX6" fmla="*/ 0 w 7640664"/>
              <a:gd name="connsiteY6" fmla="*/ 0 h 1286359"/>
              <a:gd name="connsiteX7" fmla="*/ 0 w 7640664"/>
              <a:gd name="connsiteY7" fmla="*/ 0 h 1286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40664" h="1286359">
                <a:moveTo>
                  <a:pt x="7640664" y="1286359"/>
                </a:moveTo>
                <a:cubicBezTo>
                  <a:pt x="7396565" y="1149457"/>
                  <a:pt x="7152467" y="1012555"/>
                  <a:pt x="6617776" y="836908"/>
                </a:cubicBezTo>
                <a:cubicBezTo>
                  <a:pt x="6083084" y="661260"/>
                  <a:pt x="5243593" y="338379"/>
                  <a:pt x="4432515" y="232474"/>
                </a:cubicBezTo>
                <a:cubicBezTo>
                  <a:pt x="3621437" y="126569"/>
                  <a:pt x="1751308" y="201478"/>
                  <a:pt x="1751308" y="201478"/>
                </a:cubicBezTo>
                <a:cubicBezTo>
                  <a:pt x="1090047" y="191146"/>
                  <a:pt x="725837" y="188562"/>
                  <a:pt x="464949" y="170481"/>
                </a:cubicBezTo>
                <a:cubicBezTo>
                  <a:pt x="204061" y="152400"/>
                  <a:pt x="263470" y="121403"/>
                  <a:pt x="185979" y="92990"/>
                </a:cubicBezTo>
                <a:cubicBezTo>
                  <a:pt x="108487" y="64576"/>
                  <a:pt x="0" y="0"/>
                  <a:pt x="0" y="0"/>
                </a:cubicBezTo>
                <a:lnTo>
                  <a:pt x="0" y="0"/>
                </a:lnTo>
              </a:path>
            </a:pathLst>
          </a:custGeom>
          <a:noFill/>
          <a:ln w="28575">
            <a:solidFill>
              <a:srgbClr val="860000"/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7067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3" grpId="0" animBg="1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4"/>
          <p:cNvSpPr txBox="1">
            <a:spLocks/>
          </p:cNvSpPr>
          <p:nvPr/>
        </p:nvSpPr>
        <p:spPr>
          <a:xfrm>
            <a:off x="-239249" y="1002590"/>
            <a:ext cx="9969037" cy="585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 cat ReturningMultiValues.py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f(): return </a:t>
            </a:r>
            <a:r>
              <a:rPr lang="en-US" altLang="zh-TW" b="1" smtClean="0">
                <a:solidFill>
                  <a:srgbClr val="860000"/>
                </a:solidFill>
                <a:latin typeface="Lucida Console" panose="020B0609040504020204" pitchFamily="49" charset="0"/>
              </a:rPr>
              <a:t>(1,2)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b="1" smtClean="0">
                <a:solidFill>
                  <a:srgbClr val="860000"/>
                </a:solidFill>
                <a:latin typeface="Lucida Console" panose="020B0609040504020204" pitchFamily="49" charset="0"/>
              </a:rPr>
              <a:t>a=f()</a:t>
            </a:r>
            <a:r>
              <a:rPr lang="en-US" altLang="zh-TW" smtClean="0">
                <a:solidFill>
                  <a:srgbClr val="86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print("a=",a)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		# A two-element tuple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f(): return 1,2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x,y=f(); print("x=",x," y=",y)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Is this legal?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latin typeface="Lucida Console" panose="020B0609040504020204" pitchFamily="49" charset="0"/>
              </a:rPr>
              <a:t>def f(): return </a:t>
            </a:r>
            <a:r>
              <a:rPr lang="en-US" altLang="zh-TW" b="1" smtClean="0">
                <a:solidFill>
                  <a:srgbClr val="00B050"/>
                </a:solidFill>
                <a:latin typeface="Lucida Console" panose="020B0609040504020204" pitchFamily="49" charset="0"/>
              </a:rPr>
              <a:t>(1,2)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x,y=f(); print("x=",x," y=",y)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Is this legal?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b="1" smtClean="0">
                <a:solidFill>
                  <a:srgbClr val="00B050"/>
                </a:solidFill>
                <a:latin typeface="Lucida Console" panose="020B0609040504020204" pitchFamily="49" charset="0"/>
              </a:rPr>
              <a:t>a=f()</a:t>
            </a:r>
            <a:r>
              <a:rPr lang="en-US" altLang="zh-TW" smtClean="0">
                <a:solidFill>
                  <a:srgbClr val="FF0000"/>
                </a:solidFill>
                <a:latin typeface="Lucida Console" panose="020B0609040504020204" pitchFamily="49" charset="0"/>
              </a:rPr>
              <a:t>; print("a=",a)			</a:t>
            </a:r>
            <a:r>
              <a:rPr lang="en-US" altLang="zh-TW" smtClean="0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# </a:t>
            </a:r>
            <a:r>
              <a:rPr lang="en-US" altLang="zh-TW" spc="-100" smtClean="0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We’v</a:t>
            </a:r>
            <a:r>
              <a:rPr lang="en-US" altLang="zh-TW" smtClean="0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zh-TW" sz="2000" smtClean="0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mtClean="0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seen</a:t>
            </a:r>
            <a:r>
              <a:rPr lang="en-US" altLang="zh-TW" sz="2000" smtClean="0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n-US" altLang="zh-TW" sz="2000" smtClean="0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pc="-50" smtClean="0">
                <a:solidFill>
                  <a:srgbClr val="86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</a:t>
            </a:r>
            <a:r>
              <a:rPr lang="en-US" altLang="zh-TW" smtClean="0">
                <a:solidFill>
                  <a:srgbClr val="86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US" altLang="zh-TW" b="1" smtClean="0">
              <a:solidFill>
                <a:srgbClr val="860000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def f(): return 1,2			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x,y=f(); print("x=",x," y=",y)	</a:t>
            </a:r>
            <a:r>
              <a:rPr lang="en-US" altLang="zh-TW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We’ve seen this before</a:t>
            </a:r>
            <a:endParaRPr lang="en-US" altLang="zh-TW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a=f(); print("a=",a)			</a:t>
            </a:r>
            <a:r>
              <a:rPr lang="en-US" altLang="zh-TW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But is this legal?</a:t>
            </a:r>
            <a:endParaRPr lang="en-US" altLang="zh-TW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 python3 ReturningMultiValues.py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b="1" smtClean="0">
                <a:solidFill>
                  <a:srgbClr val="860000"/>
                </a:solidFill>
                <a:latin typeface="Lucida Console" panose="020B0609040504020204" pitchFamily="49" charset="0"/>
              </a:rPr>
              <a:t>a= (1, 2)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			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 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A two element tuple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x= 1  y= 2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 				  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Yes, it is legal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x= 1  y= 2			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 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Yes, it is legal, too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rgbClr val="00B050"/>
                </a:solidFill>
                <a:latin typeface="Lucida Console" panose="020B0609040504020204" pitchFamily="49" charset="0"/>
              </a:rPr>
              <a:t>a= (1, 2)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 				</a:t>
            </a:r>
            <a:r>
              <a:rPr lang="en-US" altLang="zh-TW" smtClean="0">
                <a:latin typeface="Lucida Console" panose="020B0609040504020204" pitchFamily="49" charset="0"/>
                <a:sym typeface="Symbol" panose="05050102010706020507" pitchFamily="18" charset="2"/>
              </a:rPr>
              <a:t>   </a:t>
            </a:r>
            <a:r>
              <a:rPr lang="en-US" altLang="zh-TW" spc="-70" smtClean="0">
                <a:solidFill>
                  <a:srgbClr val="00B050"/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Same output as </a:t>
            </a:r>
            <a:r>
              <a:rPr lang="en-US" altLang="zh-TW" spc="-70" smtClean="0">
                <a:solidFill>
                  <a:srgbClr val="860000"/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before</a:t>
            </a:r>
            <a:endParaRPr lang="en-US" altLang="zh-TW" spc="-70" smtClean="0">
              <a:solidFill>
                <a:srgbClr val="860000"/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x= 1  y= 2				</a:t>
            </a: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Same as before</a:t>
            </a:r>
            <a:endParaRPr lang="en-US" altLang="zh-TW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a= (1, 2)</a:t>
            </a: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 				 Yes, it is legal</a:t>
            </a:r>
            <a:endParaRPr lang="en-US" altLang="zh-TW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%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0" y="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Returning from a Function</a:t>
            </a:r>
            <a:endParaRPr lang="en-US" sz="4400" dirty="0" smtClean="0">
              <a:solidFill>
                <a:srgbClr val="0070C0"/>
              </a:solidFill>
            </a:endParaRPr>
          </a:p>
        </p:txBody>
      </p:sp>
      <p:sp>
        <p:nvSpPr>
          <p:cNvPr id="5" name="Arc 4"/>
          <p:cNvSpPr/>
          <p:nvPr/>
        </p:nvSpPr>
        <p:spPr>
          <a:xfrm rot="10173868">
            <a:off x="755983" y="1101419"/>
            <a:ext cx="8912133" cy="3443285"/>
          </a:xfrm>
          <a:prstGeom prst="arc">
            <a:avLst>
              <a:gd name="adj1" fmla="val 12111175"/>
              <a:gd name="adj2" fmla="val 90334"/>
            </a:avLst>
          </a:prstGeom>
          <a:ln w="28575">
            <a:solidFill>
              <a:srgbClr val="00B05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Arc 5"/>
          <p:cNvSpPr/>
          <p:nvPr/>
        </p:nvSpPr>
        <p:spPr>
          <a:xfrm rot="9897543">
            <a:off x="3567117" y="910578"/>
            <a:ext cx="6105156" cy="3133151"/>
          </a:xfrm>
          <a:prstGeom prst="arc">
            <a:avLst>
              <a:gd name="adj1" fmla="val 13590456"/>
              <a:gd name="adj2" fmla="val 424105"/>
            </a:avLst>
          </a:prstGeom>
          <a:ln w="28575">
            <a:solidFill>
              <a:srgbClr val="00B05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7" name="Arc 6"/>
          <p:cNvSpPr/>
          <p:nvPr/>
        </p:nvSpPr>
        <p:spPr>
          <a:xfrm rot="2741117" flipH="1">
            <a:off x="2877158" y="1347454"/>
            <a:ext cx="7554280" cy="4594761"/>
          </a:xfrm>
          <a:prstGeom prst="arc">
            <a:avLst>
              <a:gd name="adj1" fmla="val 14165077"/>
              <a:gd name="adj2" fmla="val 424105"/>
            </a:avLst>
          </a:prstGeom>
          <a:ln w="28575">
            <a:solidFill>
              <a:srgbClr val="86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1219376" y="1921791"/>
            <a:ext cx="7749152" cy="1286359"/>
          </a:xfrm>
          <a:custGeom>
            <a:avLst/>
            <a:gdLst>
              <a:gd name="connsiteX0" fmla="*/ 7640664 w 7640664"/>
              <a:gd name="connsiteY0" fmla="*/ 1286359 h 1286359"/>
              <a:gd name="connsiteX1" fmla="*/ 6617776 w 7640664"/>
              <a:gd name="connsiteY1" fmla="*/ 836908 h 1286359"/>
              <a:gd name="connsiteX2" fmla="*/ 4432515 w 7640664"/>
              <a:gd name="connsiteY2" fmla="*/ 232474 h 1286359"/>
              <a:gd name="connsiteX3" fmla="*/ 1751308 w 7640664"/>
              <a:gd name="connsiteY3" fmla="*/ 201478 h 1286359"/>
              <a:gd name="connsiteX4" fmla="*/ 464949 w 7640664"/>
              <a:gd name="connsiteY4" fmla="*/ 170481 h 1286359"/>
              <a:gd name="connsiteX5" fmla="*/ 185979 w 7640664"/>
              <a:gd name="connsiteY5" fmla="*/ 92990 h 1286359"/>
              <a:gd name="connsiteX6" fmla="*/ 0 w 7640664"/>
              <a:gd name="connsiteY6" fmla="*/ 0 h 1286359"/>
              <a:gd name="connsiteX7" fmla="*/ 0 w 7640664"/>
              <a:gd name="connsiteY7" fmla="*/ 0 h 1286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40664" h="1286359">
                <a:moveTo>
                  <a:pt x="7640664" y="1286359"/>
                </a:moveTo>
                <a:cubicBezTo>
                  <a:pt x="7396565" y="1149457"/>
                  <a:pt x="7152467" y="1012555"/>
                  <a:pt x="6617776" y="836908"/>
                </a:cubicBezTo>
                <a:cubicBezTo>
                  <a:pt x="6083084" y="661260"/>
                  <a:pt x="5243593" y="338379"/>
                  <a:pt x="4432515" y="232474"/>
                </a:cubicBezTo>
                <a:cubicBezTo>
                  <a:pt x="3621437" y="126569"/>
                  <a:pt x="1751308" y="201478"/>
                  <a:pt x="1751308" y="201478"/>
                </a:cubicBezTo>
                <a:cubicBezTo>
                  <a:pt x="1090047" y="191146"/>
                  <a:pt x="725837" y="188562"/>
                  <a:pt x="464949" y="170481"/>
                </a:cubicBezTo>
                <a:cubicBezTo>
                  <a:pt x="204061" y="152400"/>
                  <a:pt x="263470" y="121403"/>
                  <a:pt x="185979" y="92990"/>
                </a:cubicBezTo>
                <a:cubicBezTo>
                  <a:pt x="108487" y="64576"/>
                  <a:pt x="0" y="0"/>
                  <a:pt x="0" y="0"/>
                </a:cubicBezTo>
                <a:lnTo>
                  <a:pt x="0" y="0"/>
                </a:lnTo>
              </a:path>
            </a:pathLst>
          </a:custGeom>
          <a:noFill/>
          <a:ln w="28575">
            <a:solidFill>
              <a:srgbClr val="860000"/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0" name="Arc 9"/>
          <p:cNvSpPr/>
          <p:nvPr/>
        </p:nvSpPr>
        <p:spPr>
          <a:xfrm rot="10173868">
            <a:off x="1382313" y="4257989"/>
            <a:ext cx="7108730" cy="2327754"/>
          </a:xfrm>
          <a:prstGeom prst="arc">
            <a:avLst>
              <a:gd name="adj1" fmla="val 12376082"/>
              <a:gd name="adj2" fmla="val 90334"/>
            </a:avLst>
          </a:prstGeom>
          <a:ln w="28575">
            <a:solidFill>
              <a:srgbClr val="00B05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2" name="Freeform 11"/>
          <p:cNvSpPr/>
          <p:nvPr/>
        </p:nvSpPr>
        <p:spPr>
          <a:xfrm rot="21421777">
            <a:off x="1504628" y="4858924"/>
            <a:ext cx="7349418" cy="1020063"/>
          </a:xfrm>
          <a:custGeom>
            <a:avLst/>
            <a:gdLst>
              <a:gd name="connsiteX0" fmla="*/ 7640664 w 7640664"/>
              <a:gd name="connsiteY0" fmla="*/ 1286359 h 1286359"/>
              <a:gd name="connsiteX1" fmla="*/ 6617776 w 7640664"/>
              <a:gd name="connsiteY1" fmla="*/ 836908 h 1286359"/>
              <a:gd name="connsiteX2" fmla="*/ 4432515 w 7640664"/>
              <a:gd name="connsiteY2" fmla="*/ 232474 h 1286359"/>
              <a:gd name="connsiteX3" fmla="*/ 1751308 w 7640664"/>
              <a:gd name="connsiteY3" fmla="*/ 201478 h 1286359"/>
              <a:gd name="connsiteX4" fmla="*/ 464949 w 7640664"/>
              <a:gd name="connsiteY4" fmla="*/ 170481 h 1286359"/>
              <a:gd name="connsiteX5" fmla="*/ 185979 w 7640664"/>
              <a:gd name="connsiteY5" fmla="*/ 92990 h 1286359"/>
              <a:gd name="connsiteX6" fmla="*/ 0 w 7640664"/>
              <a:gd name="connsiteY6" fmla="*/ 0 h 1286359"/>
              <a:gd name="connsiteX7" fmla="*/ 0 w 7640664"/>
              <a:gd name="connsiteY7" fmla="*/ 0 h 1286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40664" h="1286359">
                <a:moveTo>
                  <a:pt x="7640664" y="1286359"/>
                </a:moveTo>
                <a:cubicBezTo>
                  <a:pt x="7396565" y="1149457"/>
                  <a:pt x="7152467" y="1012555"/>
                  <a:pt x="6617776" y="836908"/>
                </a:cubicBezTo>
                <a:cubicBezTo>
                  <a:pt x="6083084" y="661260"/>
                  <a:pt x="5243593" y="338379"/>
                  <a:pt x="4432515" y="232474"/>
                </a:cubicBezTo>
                <a:cubicBezTo>
                  <a:pt x="3621437" y="126569"/>
                  <a:pt x="1751308" y="201478"/>
                  <a:pt x="1751308" y="201478"/>
                </a:cubicBezTo>
                <a:cubicBezTo>
                  <a:pt x="1090047" y="191146"/>
                  <a:pt x="725837" y="188562"/>
                  <a:pt x="464949" y="170481"/>
                </a:cubicBezTo>
                <a:cubicBezTo>
                  <a:pt x="204061" y="152400"/>
                  <a:pt x="263470" y="121403"/>
                  <a:pt x="185979" y="92990"/>
                </a:cubicBezTo>
                <a:cubicBezTo>
                  <a:pt x="108487" y="64576"/>
                  <a:pt x="0" y="0"/>
                  <a:pt x="0" y="0"/>
                </a:cubicBezTo>
                <a:lnTo>
                  <a:pt x="0" y="0"/>
                </a:lnTo>
              </a:path>
            </a:pathLst>
          </a:custGeom>
          <a:noFill/>
          <a:ln w="28575">
            <a:solidFill>
              <a:srgbClr val="860000"/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4967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/>
          <p:cNvSpPr txBox="1">
            <a:spLocks/>
          </p:cNvSpPr>
          <p:nvPr/>
        </p:nvSpPr>
        <p:spPr>
          <a:xfrm>
            <a:off x="-239249" y="1002590"/>
            <a:ext cx="9969037" cy="585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 cat ReturningMultiValues.py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f(): return (1,2)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a=f(); print("a=",a)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		# A two-element tuple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f(): return 1,2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x,y=f(); print("x=",x," y=",y)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Is this legal?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latin typeface="Lucida Console" panose="020B0609040504020204" pitchFamily="49" charset="0"/>
              </a:rPr>
              <a:t>def f(): return </a:t>
            </a:r>
            <a:r>
              <a:rPr lang="en-US" altLang="zh-TW" smtClean="0">
                <a:solidFill>
                  <a:srgbClr val="00B050"/>
                </a:solidFill>
                <a:latin typeface="Lucida Console" panose="020B0609040504020204" pitchFamily="49" charset="0"/>
              </a:rPr>
              <a:t>(1,2)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x,y=f(); print("x=",x," y=",y)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Is this legal?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rgbClr val="00B050"/>
                </a:solidFill>
                <a:latin typeface="Lucida Console" panose="020B0609040504020204" pitchFamily="49" charset="0"/>
              </a:rPr>
              <a:t>a=f();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print("a=",a)		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en-US" altLang="zh-TW" spc="-1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We’v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zh-TW" sz="20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seen</a:t>
            </a:r>
            <a:r>
              <a:rPr lang="en-US" altLang="zh-TW" sz="20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n-US" altLang="zh-TW" sz="20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pc="-5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latin typeface="Lucida Console" panose="020B0609040504020204" pitchFamily="49" charset="0"/>
              </a:rPr>
              <a:t>def f(): return 1,2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			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rgbClr val="FF0000"/>
                </a:solidFill>
                <a:latin typeface="Lucida Console" panose="020B0609040504020204" pitchFamily="49" charset="0"/>
              </a:rPr>
              <a:t>x,y=f(); print("x=",x," y=",y)	</a:t>
            </a:r>
            <a:r>
              <a:rPr lang="en-US" altLang="zh-TW" smtClean="0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en-US" altLang="zh-TW" spc="-100" smtClean="0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We’v</a:t>
            </a:r>
            <a:r>
              <a:rPr lang="en-US" altLang="zh-TW" smtClean="0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zh-TW" sz="2000" smtClean="0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mtClean="0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seen</a:t>
            </a:r>
            <a:r>
              <a:rPr lang="en-US" altLang="zh-TW" sz="2000" smtClean="0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n-US" altLang="zh-TW" sz="2000" smtClean="0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pc="-50" smtClean="0">
                <a:solidFill>
                  <a:srgbClr val="86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</a:t>
            </a:r>
            <a:r>
              <a:rPr lang="en-US" altLang="zh-TW" smtClean="0">
                <a:solidFill>
                  <a:srgbClr val="86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US" altLang="zh-TW" b="1" smtClean="0">
              <a:solidFill>
                <a:srgbClr val="860000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a=f(); print("a=",a)			</a:t>
            </a:r>
            <a:r>
              <a:rPr lang="en-US" altLang="zh-TW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But is this legal?</a:t>
            </a:r>
            <a:endParaRPr lang="en-US" altLang="zh-TW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 python3 ReturningMultiValues.py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a= (1, 2)			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 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A two element tuple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x= 1  y= 2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 				  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Yes, it is legal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x= 1  y= 2			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 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Yes, it is legal, too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rgbClr val="00B050"/>
                </a:solidFill>
                <a:latin typeface="Lucida Console" panose="020B0609040504020204" pitchFamily="49" charset="0"/>
              </a:rPr>
              <a:t>a= (1, 2)</a:t>
            </a:r>
            <a:r>
              <a:rPr lang="en-US" altLang="zh-TW" smtClean="0">
                <a:solidFill>
                  <a:srgbClr val="00B050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				   </a:t>
            </a:r>
            <a:r>
              <a:rPr lang="en-US" altLang="zh-TW" spc="-70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Same output as before</a:t>
            </a:r>
            <a:endParaRPr lang="en-US" altLang="zh-TW" spc="-70" smtClean="0">
              <a:solidFill>
                <a:schemeClr val="bg1">
                  <a:lumMod val="65000"/>
                </a:schemeClr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x= 1  y= 2				</a:t>
            </a: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Same output as before</a:t>
            </a:r>
            <a:endParaRPr lang="en-US" altLang="zh-TW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%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Returning from a Function</a:t>
            </a:r>
            <a:endParaRPr lang="en-US" sz="4400" dirty="0" smtClean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100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4"/>
          <p:cNvSpPr txBox="1">
            <a:spLocks/>
          </p:cNvSpPr>
          <p:nvPr/>
        </p:nvSpPr>
        <p:spPr>
          <a:xfrm>
            <a:off x="-239249" y="1002590"/>
            <a:ext cx="9969037" cy="585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 cat ReturningMultiValues.py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f(): return (1,2)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a=f(); print("a=",a)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		# A two-element tuple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f(): return </a:t>
            </a:r>
            <a:r>
              <a:rPr lang="en-US" altLang="zh-TW" b="1" smtClean="0">
                <a:solidFill>
                  <a:srgbClr val="860000"/>
                </a:solidFill>
                <a:latin typeface="Lucida Console" panose="020B0609040504020204" pitchFamily="49" charset="0"/>
              </a:rPr>
              <a:t>1,2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b="1" smtClean="0">
                <a:solidFill>
                  <a:srgbClr val="860000"/>
                </a:solidFill>
                <a:latin typeface="Lucida Console" panose="020B0609040504020204" pitchFamily="49" charset="0"/>
              </a:rPr>
              <a:t>x,y=f()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; print("x=",x," y=",y)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Is this legal?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latin typeface="Lucida Console" panose="020B0609040504020204" pitchFamily="49" charset="0"/>
              </a:rPr>
              <a:t>def f(): return </a:t>
            </a:r>
            <a:r>
              <a:rPr lang="en-US" altLang="zh-TW" smtClean="0">
                <a:solidFill>
                  <a:srgbClr val="00B050"/>
                </a:solidFill>
                <a:latin typeface="Lucida Console" panose="020B0609040504020204" pitchFamily="49" charset="0"/>
              </a:rPr>
              <a:t>(1,2)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x,y=f(); print("x=",x," y=",y)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Is this legal?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rgbClr val="00B050"/>
                </a:solidFill>
                <a:latin typeface="Lucida Console" panose="020B0609040504020204" pitchFamily="49" charset="0"/>
              </a:rPr>
              <a:t>a=f();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print("a=",a)		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en-US" altLang="zh-TW" spc="-1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We’v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zh-TW" sz="20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seen</a:t>
            </a:r>
            <a:r>
              <a:rPr lang="en-US" altLang="zh-TW" sz="20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n-US" altLang="zh-TW" sz="20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pc="-5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lang="en-US" altLang="zh-TW" smtClean="0">
                <a:latin typeface="Lucida Console" panose="020B0609040504020204" pitchFamily="49" charset="0"/>
              </a:rPr>
              <a:t>def f(): return </a:t>
            </a:r>
            <a:r>
              <a:rPr lang="en-US" altLang="zh-TW" b="1" smtClean="0">
                <a:solidFill>
                  <a:srgbClr val="00B0F0"/>
                </a:solidFill>
                <a:latin typeface="Lucida Console" panose="020B0609040504020204" pitchFamily="49" charset="0"/>
              </a:rPr>
              <a:t>1,2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			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b="1" smtClean="0">
                <a:solidFill>
                  <a:srgbClr val="00B0F0"/>
                </a:solidFill>
                <a:latin typeface="Lucida Console" panose="020B0609040504020204" pitchFamily="49" charset="0"/>
              </a:rPr>
              <a:t>x,y=f()</a:t>
            </a:r>
            <a:r>
              <a:rPr lang="en-US" altLang="zh-TW" smtClean="0">
                <a:solidFill>
                  <a:srgbClr val="00B0F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smtClean="0">
                <a:solidFill>
                  <a:srgbClr val="FF0000"/>
                </a:solidFill>
                <a:latin typeface="Lucida Console" panose="020B0609040504020204" pitchFamily="49" charset="0"/>
              </a:rPr>
              <a:t>print("x=",x," y=",y)	</a:t>
            </a:r>
            <a:r>
              <a:rPr lang="en-US" altLang="zh-TW" smtClean="0"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en-US" altLang="zh-TW" spc="-100" smtClean="0">
                <a:latin typeface="Arial" panose="020B0604020202020204" pitchFamily="34" charset="0"/>
                <a:cs typeface="Arial" panose="020B0604020202020204" pitchFamily="34" charset="0"/>
              </a:rPr>
              <a:t>We’v</a:t>
            </a:r>
            <a:r>
              <a:rPr lang="en-US" altLang="zh-TW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zh-TW" sz="200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mtClean="0">
                <a:latin typeface="Arial" panose="020B0604020202020204" pitchFamily="34" charset="0"/>
                <a:cs typeface="Arial" panose="020B0604020202020204" pitchFamily="34" charset="0"/>
              </a:rPr>
              <a:t>seen</a:t>
            </a:r>
            <a:r>
              <a:rPr lang="en-US" altLang="zh-TW" sz="200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n-US" altLang="zh-TW" sz="200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pc="-50" smtClean="0">
                <a:solidFill>
                  <a:srgbClr val="86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</a:t>
            </a:r>
            <a:r>
              <a:rPr lang="en-US" altLang="zh-TW" smtClean="0">
                <a:solidFill>
                  <a:srgbClr val="86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US" altLang="zh-TW" b="1" smtClean="0">
              <a:solidFill>
                <a:srgbClr val="860000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a=f(); print("a=",a)			</a:t>
            </a:r>
            <a:r>
              <a:rPr lang="en-US" altLang="zh-TW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But is this legal?</a:t>
            </a:r>
            <a:endParaRPr lang="en-US" altLang="zh-TW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 python3 ReturningMultiValues.py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a= (1, 2)			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 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A two element tuple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x= 1  y= 2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 				  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Yes, it is legal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x= 1  y= 2			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 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Yes, it is legal, too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rgbClr val="00B050"/>
                </a:solidFill>
                <a:latin typeface="Lucida Console" panose="020B0609040504020204" pitchFamily="49" charset="0"/>
              </a:rPr>
              <a:t>a= (1, 2)</a:t>
            </a:r>
            <a:r>
              <a:rPr lang="en-US" altLang="zh-TW" smtClean="0">
                <a:solidFill>
                  <a:srgbClr val="00B050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				   </a:t>
            </a:r>
            <a:r>
              <a:rPr lang="en-US" altLang="zh-TW" spc="-70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Same output as before</a:t>
            </a:r>
            <a:endParaRPr lang="en-US" altLang="zh-TW" spc="-70" smtClean="0">
              <a:solidFill>
                <a:schemeClr val="bg1">
                  <a:lumMod val="65000"/>
                </a:schemeClr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</a:rPr>
              <a:t>x= 1  y= 2				</a:t>
            </a:r>
            <a:r>
              <a:rPr lang="en-US" altLang="zh-TW" smtClean="0">
                <a:solidFill>
                  <a:schemeClr val="bg1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Same output as before</a:t>
            </a:r>
            <a:endParaRPr lang="en-US" altLang="zh-TW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%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Arc 5"/>
          <p:cNvSpPr/>
          <p:nvPr/>
        </p:nvSpPr>
        <p:spPr>
          <a:xfrm rot="2741117" flipH="1">
            <a:off x="2877158" y="1967385"/>
            <a:ext cx="7554280" cy="4594761"/>
          </a:xfrm>
          <a:prstGeom prst="arc">
            <a:avLst>
              <a:gd name="adj1" fmla="val 14165077"/>
              <a:gd name="adj2" fmla="val 424105"/>
            </a:avLst>
          </a:prstGeom>
          <a:ln w="28575">
            <a:solidFill>
              <a:srgbClr val="86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1219376" y="2541722"/>
            <a:ext cx="7749152" cy="1286359"/>
          </a:xfrm>
          <a:custGeom>
            <a:avLst/>
            <a:gdLst>
              <a:gd name="connsiteX0" fmla="*/ 7640664 w 7640664"/>
              <a:gd name="connsiteY0" fmla="*/ 1286359 h 1286359"/>
              <a:gd name="connsiteX1" fmla="*/ 6617776 w 7640664"/>
              <a:gd name="connsiteY1" fmla="*/ 836908 h 1286359"/>
              <a:gd name="connsiteX2" fmla="*/ 4432515 w 7640664"/>
              <a:gd name="connsiteY2" fmla="*/ 232474 h 1286359"/>
              <a:gd name="connsiteX3" fmla="*/ 1751308 w 7640664"/>
              <a:gd name="connsiteY3" fmla="*/ 201478 h 1286359"/>
              <a:gd name="connsiteX4" fmla="*/ 464949 w 7640664"/>
              <a:gd name="connsiteY4" fmla="*/ 170481 h 1286359"/>
              <a:gd name="connsiteX5" fmla="*/ 185979 w 7640664"/>
              <a:gd name="connsiteY5" fmla="*/ 92990 h 1286359"/>
              <a:gd name="connsiteX6" fmla="*/ 0 w 7640664"/>
              <a:gd name="connsiteY6" fmla="*/ 0 h 1286359"/>
              <a:gd name="connsiteX7" fmla="*/ 0 w 7640664"/>
              <a:gd name="connsiteY7" fmla="*/ 0 h 1286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40664" h="1286359">
                <a:moveTo>
                  <a:pt x="7640664" y="1286359"/>
                </a:moveTo>
                <a:cubicBezTo>
                  <a:pt x="7396565" y="1149457"/>
                  <a:pt x="7152467" y="1012555"/>
                  <a:pt x="6617776" y="836908"/>
                </a:cubicBezTo>
                <a:cubicBezTo>
                  <a:pt x="6083084" y="661260"/>
                  <a:pt x="5243593" y="338379"/>
                  <a:pt x="4432515" y="232474"/>
                </a:cubicBezTo>
                <a:cubicBezTo>
                  <a:pt x="3621437" y="126569"/>
                  <a:pt x="1751308" y="201478"/>
                  <a:pt x="1751308" y="201478"/>
                </a:cubicBezTo>
                <a:cubicBezTo>
                  <a:pt x="1090047" y="191146"/>
                  <a:pt x="725837" y="188562"/>
                  <a:pt x="464949" y="170481"/>
                </a:cubicBezTo>
                <a:cubicBezTo>
                  <a:pt x="204061" y="152400"/>
                  <a:pt x="263470" y="121403"/>
                  <a:pt x="185979" y="92990"/>
                </a:cubicBezTo>
                <a:cubicBezTo>
                  <a:pt x="108487" y="64576"/>
                  <a:pt x="0" y="0"/>
                  <a:pt x="0" y="0"/>
                </a:cubicBezTo>
                <a:lnTo>
                  <a:pt x="0" y="0"/>
                </a:lnTo>
              </a:path>
            </a:pathLst>
          </a:custGeom>
          <a:noFill/>
          <a:ln w="28575">
            <a:solidFill>
              <a:srgbClr val="860000"/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8" name="Arc 7"/>
          <p:cNvSpPr/>
          <p:nvPr/>
        </p:nvSpPr>
        <p:spPr>
          <a:xfrm rot="10173868">
            <a:off x="801822" y="1590207"/>
            <a:ext cx="8991152" cy="3443285"/>
          </a:xfrm>
          <a:prstGeom prst="arc">
            <a:avLst>
              <a:gd name="adj1" fmla="val 12314088"/>
              <a:gd name="adj2" fmla="val 3520"/>
            </a:avLst>
          </a:prstGeom>
          <a:ln w="28575">
            <a:solidFill>
              <a:srgbClr val="00B0F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9" name="Arc 8"/>
          <p:cNvSpPr/>
          <p:nvPr/>
        </p:nvSpPr>
        <p:spPr>
          <a:xfrm rot="9897543">
            <a:off x="3535863" y="1620860"/>
            <a:ext cx="6105156" cy="2985057"/>
          </a:xfrm>
          <a:prstGeom prst="arc">
            <a:avLst>
              <a:gd name="adj1" fmla="val 13590456"/>
              <a:gd name="adj2" fmla="val 120687"/>
            </a:avLst>
          </a:prstGeom>
          <a:ln w="28575">
            <a:solidFill>
              <a:srgbClr val="00B0F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0" y="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Returning from a Function</a:t>
            </a:r>
            <a:endParaRPr lang="en-US" sz="4400" dirty="0" smtClean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6220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4"/>
          <p:cNvSpPr txBox="1">
            <a:spLocks/>
          </p:cNvSpPr>
          <p:nvPr/>
        </p:nvSpPr>
        <p:spPr>
          <a:xfrm>
            <a:off x="-239249" y="1002590"/>
            <a:ext cx="9969037" cy="585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 cat ReturningMultiValues.py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err="1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f(): return (1,2)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a=f(); print("a=",a)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		# A two-element tuple</a:t>
            </a:r>
            <a:endParaRPr lang="en-US" altLang="zh-TW" dirty="0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err="1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f(): return </a:t>
            </a:r>
            <a:r>
              <a:rPr lang="en-US" altLang="zh-TW" b="1" dirty="0" smtClean="0">
                <a:solidFill>
                  <a:srgbClr val="860000"/>
                </a:solidFill>
                <a:latin typeface="Lucida Console" panose="020B0609040504020204" pitchFamily="49" charset="0"/>
              </a:rPr>
              <a:t>1,2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b="1" dirty="0" err="1" smtClean="0">
                <a:solidFill>
                  <a:srgbClr val="860000"/>
                </a:solidFill>
                <a:latin typeface="Lucida Console" panose="020B0609040504020204" pitchFamily="49" charset="0"/>
              </a:rPr>
              <a:t>x,y</a:t>
            </a:r>
            <a:r>
              <a:rPr lang="en-US" altLang="zh-TW" b="1" dirty="0" smtClean="0">
                <a:solidFill>
                  <a:srgbClr val="860000"/>
                </a:solidFill>
                <a:latin typeface="Lucida Console" panose="020B0609040504020204" pitchFamily="49" charset="0"/>
              </a:rPr>
              <a:t>=f()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; print("x=",x," y=",y)	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Is this legal?</a:t>
            </a:r>
            <a:endParaRPr lang="en-US" altLang="zh-TW" dirty="0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err="1" smtClean="0">
                <a:latin typeface="Lucida Console" panose="020B0609040504020204" pitchFamily="49" charset="0"/>
              </a:rPr>
              <a:t>def</a:t>
            </a:r>
            <a:r>
              <a:rPr lang="en-US" altLang="zh-TW" dirty="0" smtClean="0">
                <a:latin typeface="Lucida Console" panose="020B0609040504020204" pitchFamily="49" charset="0"/>
              </a:rPr>
              <a:t> f(): return </a:t>
            </a:r>
            <a:r>
              <a:rPr lang="en-US" altLang="zh-TW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(1,2)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err="1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x,y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=f(); print("x=",x," y=",y)	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Is this legal?</a:t>
            </a:r>
            <a:endParaRPr lang="en-US" altLang="zh-TW" dirty="0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a=f(); 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print("a=",a)			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en-US" altLang="zh-TW" spc="-1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We’v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zh-TW" sz="1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seen</a:t>
            </a:r>
            <a:r>
              <a:rPr lang="en-US" altLang="zh-TW" sz="1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n-US" altLang="zh-TW" sz="1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pc="-5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US" altLang="zh-TW" dirty="0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err="1" smtClean="0">
                <a:latin typeface="Lucida Console" panose="020B0609040504020204" pitchFamily="49" charset="0"/>
              </a:rPr>
              <a:t>def</a:t>
            </a:r>
            <a:r>
              <a:rPr lang="en-US" altLang="zh-TW" dirty="0" smtClean="0">
                <a:latin typeface="Lucida Console" panose="020B0609040504020204" pitchFamily="49" charset="0"/>
              </a:rPr>
              <a:t> f(): return </a:t>
            </a:r>
            <a:r>
              <a:rPr lang="en-US" altLang="zh-TW" b="1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1,2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			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b="1" dirty="0" err="1" smtClean="0">
                <a:solidFill>
                  <a:srgbClr val="00B0F0"/>
                </a:solidFill>
                <a:latin typeface="Lucida Console" panose="020B0609040504020204" pitchFamily="49" charset="0"/>
              </a:rPr>
              <a:t>x,y</a:t>
            </a:r>
            <a:r>
              <a:rPr lang="en-US" altLang="zh-TW" b="1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=f()</a:t>
            </a:r>
            <a:r>
              <a:rPr lang="en-US" altLang="zh-TW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print("x=",x," y=",y)	</a:t>
            </a:r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en-US" altLang="zh-TW" spc="-100" dirty="0" smtClean="0">
                <a:latin typeface="Arial" panose="020B0604020202020204" pitchFamily="34" charset="0"/>
                <a:cs typeface="Arial" panose="020B0604020202020204" pitchFamily="34" charset="0"/>
              </a:rPr>
              <a:t>We’v</a:t>
            </a:r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zh-TW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</a:rPr>
              <a:t>seen</a:t>
            </a:r>
            <a:r>
              <a:rPr lang="en-US" altLang="zh-TW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n-US" altLang="zh-TW" sz="180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pc="-50" dirty="0" smtClean="0">
                <a:solidFill>
                  <a:srgbClr val="86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</a:t>
            </a:r>
            <a:r>
              <a:rPr lang="en-US" altLang="zh-TW" dirty="0" smtClean="0">
                <a:solidFill>
                  <a:srgbClr val="86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US" altLang="zh-TW" dirty="0" smtClean="0">
              <a:solidFill>
                <a:srgbClr val="860000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a=f(); print("a=",a)			</a:t>
            </a:r>
            <a:r>
              <a:rPr lang="en-US" altLang="zh-TW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But is this legal?</a:t>
            </a:r>
            <a:endParaRPr lang="en-US" altLang="zh-TW" dirty="0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 python3 ReturningMultiValues.py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a= (1, 2)				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  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A two element tuple</a:t>
            </a:r>
            <a:endParaRPr lang="en-US" altLang="zh-TW" dirty="0" smtClean="0">
              <a:solidFill>
                <a:schemeClr val="bg1">
                  <a:lumMod val="65000"/>
                </a:schemeClr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b="1" dirty="0" smtClean="0">
                <a:solidFill>
                  <a:srgbClr val="860000"/>
                </a:solidFill>
                <a:latin typeface="Lucida Console" panose="020B0609040504020204" pitchFamily="49" charset="0"/>
              </a:rPr>
              <a:t>x= 1  y= 2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 				   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Yes, it is legal</a:t>
            </a:r>
            <a:endParaRPr lang="en-US" altLang="zh-TW" dirty="0" smtClean="0">
              <a:solidFill>
                <a:schemeClr val="bg1">
                  <a:lumMod val="65000"/>
                </a:schemeClr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x= 1  y= 2				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  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Yes, it is legal, too</a:t>
            </a:r>
            <a:endParaRPr lang="en-US" altLang="zh-TW" dirty="0" smtClean="0">
              <a:solidFill>
                <a:schemeClr val="bg1">
                  <a:lumMod val="65000"/>
                </a:schemeClr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a= (1, 2)</a:t>
            </a:r>
            <a:r>
              <a:rPr lang="en-US" altLang="zh-TW" dirty="0" smtClean="0">
                <a:solidFill>
                  <a:srgbClr val="00B050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 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				   </a:t>
            </a:r>
            <a:r>
              <a:rPr lang="en-US" altLang="zh-TW" spc="-70" dirty="0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Same output as before</a:t>
            </a:r>
            <a:endParaRPr lang="en-US" altLang="zh-TW" spc="-70" dirty="0" smtClean="0">
              <a:solidFill>
                <a:schemeClr val="bg1">
                  <a:lumMod val="65000"/>
                </a:schemeClr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b="1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x= 1  y= 2</a:t>
            </a: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				</a:t>
            </a:r>
            <a:r>
              <a:rPr lang="en-US" altLang="zh-TW" dirty="0" smtClean="0">
                <a:latin typeface="Lucida Console" panose="020B0609040504020204" pitchFamily="49" charset="0"/>
                <a:sym typeface="Symbol" panose="05050102010706020507" pitchFamily="18" charset="2"/>
              </a:rPr>
              <a:t>   </a:t>
            </a:r>
            <a:r>
              <a:rPr lang="en-US" altLang="zh-TW" spc="-70" dirty="0" smtClean="0">
                <a:solidFill>
                  <a:srgbClr val="00B0F0"/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Same output as </a:t>
            </a:r>
            <a:r>
              <a:rPr lang="en-US" altLang="zh-TW" spc="-70" dirty="0" smtClean="0">
                <a:solidFill>
                  <a:srgbClr val="860000"/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before</a:t>
            </a:r>
            <a:endParaRPr lang="en-US" altLang="zh-TW" spc="-70" dirty="0" smtClean="0">
              <a:solidFill>
                <a:srgbClr val="860000"/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smtClean="0">
                <a:solidFill>
                  <a:schemeClr val="bg1"/>
                </a:solidFill>
                <a:latin typeface="Lucida Console" panose="020B0609040504020204" pitchFamily="49" charset="0"/>
              </a:rPr>
              <a:t>a= (1, 2)</a:t>
            </a:r>
            <a:r>
              <a:rPr lang="en-US" altLang="zh-TW" dirty="0" smtClean="0">
                <a:solidFill>
                  <a:schemeClr val="bg1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 				 Yes, it is legal</a:t>
            </a:r>
            <a:endParaRPr lang="en-US" altLang="zh-TW" dirty="0" smtClean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%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Arc 3"/>
          <p:cNvSpPr/>
          <p:nvPr/>
        </p:nvSpPr>
        <p:spPr>
          <a:xfrm rot="10173868">
            <a:off x="801822" y="1590207"/>
            <a:ext cx="8991152" cy="3443285"/>
          </a:xfrm>
          <a:prstGeom prst="arc">
            <a:avLst>
              <a:gd name="adj1" fmla="val 12314088"/>
              <a:gd name="adj2" fmla="val 3520"/>
            </a:avLst>
          </a:prstGeom>
          <a:ln w="28575">
            <a:solidFill>
              <a:srgbClr val="00B0F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" name="Arc 4"/>
          <p:cNvSpPr/>
          <p:nvPr/>
        </p:nvSpPr>
        <p:spPr>
          <a:xfrm rot="9897543">
            <a:off x="3535863" y="1620860"/>
            <a:ext cx="6105156" cy="2985057"/>
          </a:xfrm>
          <a:prstGeom prst="arc">
            <a:avLst>
              <a:gd name="adj1" fmla="val 13590456"/>
              <a:gd name="adj2" fmla="val 120687"/>
            </a:avLst>
          </a:prstGeom>
          <a:ln w="28575">
            <a:solidFill>
              <a:srgbClr val="00B0F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Arc 5"/>
          <p:cNvSpPr/>
          <p:nvPr/>
        </p:nvSpPr>
        <p:spPr>
          <a:xfrm rot="2741117" flipH="1">
            <a:off x="2877158" y="1967385"/>
            <a:ext cx="7554280" cy="4594761"/>
          </a:xfrm>
          <a:prstGeom prst="arc">
            <a:avLst>
              <a:gd name="adj1" fmla="val 14165077"/>
              <a:gd name="adj2" fmla="val 424105"/>
            </a:avLst>
          </a:prstGeom>
          <a:ln w="28575">
            <a:solidFill>
              <a:srgbClr val="86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1219376" y="2541722"/>
            <a:ext cx="7749152" cy="1286359"/>
          </a:xfrm>
          <a:custGeom>
            <a:avLst/>
            <a:gdLst>
              <a:gd name="connsiteX0" fmla="*/ 7640664 w 7640664"/>
              <a:gd name="connsiteY0" fmla="*/ 1286359 h 1286359"/>
              <a:gd name="connsiteX1" fmla="*/ 6617776 w 7640664"/>
              <a:gd name="connsiteY1" fmla="*/ 836908 h 1286359"/>
              <a:gd name="connsiteX2" fmla="*/ 4432515 w 7640664"/>
              <a:gd name="connsiteY2" fmla="*/ 232474 h 1286359"/>
              <a:gd name="connsiteX3" fmla="*/ 1751308 w 7640664"/>
              <a:gd name="connsiteY3" fmla="*/ 201478 h 1286359"/>
              <a:gd name="connsiteX4" fmla="*/ 464949 w 7640664"/>
              <a:gd name="connsiteY4" fmla="*/ 170481 h 1286359"/>
              <a:gd name="connsiteX5" fmla="*/ 185979 w 7640664"/>
              <a:gd name="connsiteY5" fmla="*/ 92990 h 1286359"/>
              <a:gd name="connsiteX6" fmla="*/ 0 w 7640664"/>
              <a:gd name="connsiteY6" fmla="*/ 0 h 1286359"/>
              <a:gd name="connsiteX7" fmla="*/ 0 w 7640664"/>
              <a:gd name="connsiteY7" fmla="*/ 0 h 1286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40664" h="1286359">
                <a:moveTo>
                  <a:pt x="7640664" y="1286359"/>
                </a:moveTo>
                <a:cubicBezTo>
                  <a:pt x="7396565" y="1149457"/>
                  <a:pt x="7152467" y="1012555"/>
                  <a:pt x="6617776" y="836908"/>
                </a:cubicBezTo>
                <a:cubicBezTo>
                  <a:pt x="6083084" y="661260"/>
                  <a:pt x="5243593" y="338379"/>
                  <a:pt x="4432515" y="232474"/>
                </a:cubicBezTo>
                <a:cubicBezTo>
                  <a:pt x="3621437" y="126569"/>
                  <a:pt x="1751308" y="201478"/>
                  <a:pt x="1751308" y="201478"/>
                </a:cubicBezTo>
                <a:cubicBezTo>
                  <a:pt x="1090047" y="191146"/>
                  <a:pt x="725837" y="188562"/>
                  <a:pt x="464949" y="170481"/>
                </a:cubicBezTo>
                <a:cubicBezTo>
                  <a:pt x="204061" y="152400"/>
                  <a:pt x="263470" y="121403"/>
                  <a:pt x="185979" y="92990"/>
                </a:cubicBezTo>
                <a:cubicBezTo>
                  <a:pt x="108487" y="64576"/>
                  <a:pt x="0" y="0"/>
                  <a:pt x="0" y="0"/>
                </a:cubicBezTo>
                <a:lnTo>
                  <a:pt x="0" y="0"/>
                </a:lnTo>
              </a:path>
            </a:pathLst>
          </a:custGeom>
          <a:noFill/>
          <a:ln w="28575">
            <a:solidFill>
              <a:srgbClr val="860000"/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8" name="Arc 7"/>
          <p:cNvSpPr/>
          <p:nvPr/>
        </p:nvSpPr>
        <p:spPr>
          <a:xfrm rot="10173868">
            <a:off x="1521611" y="4663794"/>
            <a:ext cx="7108730" cy="1983431"/>
          </a:xfrm>
          <a:prstGeom prst="arc">
            <a:avLst>
              <a:gd name="adj1" fmla="val 12681903"/>
              <a:gd name="adj2" fmla="val 21569693"/>
            </a:avLst>
          </a:prstGeom>
          <a:ln w="28575">
            <a:solidFill>
              <a:srgbClr val="00B0F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9" name="Freeform 8"/>
          <p:cNvSpPr/>
          <p:nvPr/>
        </p:nvSpPr>
        <p:spPr>
          <a:xfrm rot="21421777">
            <a:off x="1551122" y="5168890"/>
            <a:ext cx="7349418" cy="1020063"/>
          </a:xfrm>
          <a:custGeom>
            <a:avLst/>
            <a:gdLst>
              <a:gd name="connsiteX0" fmla="*/ 7640664 w 7640664"/>
              <a:gd name="connsiteY0" fmla="*/ 1286359 h 1286359"/>
              <a:gd name="connsiteX1" fmla="*/ 6617776 w 7640664"/>
              <a:gd name="connsiteY1" fmla="*/ 836908 h 1286359"/>
              <a:gd name="connsiteX2" fmla="*/ 4432515 w 7640664"/>
              <a:gd name="connsiteY2" fmla="*/ 232474 h 1286359"/>
              <a:gd name="connsiteX3" fmla="*/ 1751308 w 7640664"/>
              <a:gd name="connsiteY3" fmla="*/ 201478 h 1286359"/>
              <a:gd name="connsiteX4" fmla="*/ 464949 w 7640664"/>
              <a:gd name="connsiteY4" fmla="*/ 170481 h 1286359"/>
              <a:gd name="connsiteX5" fmla="*/ 185979 w 7640664"/>
              <a:gd name="connsiteY5" fmla="*/ 92990 h 1286359"/>
              <a:gd name="connsiteX6" fmla="*/ 0 w 7640664"/>
              <a:gd name="connsiteY6" fmla="*/ 0 h 1286359"/>
              <a:gd name="connsiteX7" fmla="*/ 0 w 7640664"/>
              <a:gd name="connsiteY7" fmla="*/ 0 h 1286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40664" h="1286359">
                <a:moveTo>
                  <a:pt x="7640664" y="1286359"/>
                </a:moveTo>
                <a:cubicBezTo>
                  <a:pt x="7396565" y="1149457"/>
                  <a:pt x="7152467" y="1012555"/>
                  <a:pt x="6617776" y="836908"/>
                </a:cubicBezTo>
                <a:cubicBezTo>
                  <a:pt x="6083084" y="661260"/>
                  <a:pt x="5243593" y="338379"/>
                  <a:pt x="4432515" y="232474"/>
                </a:cubicBezTo>
                <a:cubicBezTo>
                  <a:pt x="3621437" y="126569"/>
                  <a:pt x="1751308" y="201478"/>
                  <a:pt x="1751308" y="201478"/>
                </a:cubicBezTo>
                <a:cubicBezTo>
                  <a:pt x="1090047" y="191146"/>
                  <a:pt x="725837" y="188562"/>
                  <a:pt x="464949" y="170481"/>
                </a:cubicBezTo>
                <a:cubicBezTo>
                  <a:pt x="204061" y="152400"/>
                  <a:pt x="263470" y="121403"/>
                  <a:pt x="185979" y="92990"/>
                </a:cubicBezTo>
                <a:cubicBezTo>
                  <a:pt x="108487" y="64576"/>
                  <a:pt x="0" y="0"/>
                  <a:pt x="0" y="0"/>
                </a:cubicBezTo>
                <a:lnTo>
                  <a:pt x="0" y="0"/>
                </a:lnTo>
              </a:path>
            </a:pathLst>
          </a:custGeom>
          <a:noFill/>
          <a:ln w="28575">
            <a:solidFill>
              <a:srgbClr val="860000"/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0" y="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Returning from a Function</a:t>
            </a:r>
            <a:endParaRPr lang="en-US" sz="4400" dirty="0" smtClean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704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4"/>
          <p:cNvSpPr txBox="1">
            <a:spLocks/>
          </p:cNvSpPr>
          <p:nvPr/>
        </p:nvSpPr>
        <p:spPr>
          <a:xfrm>
            <a:off x="-239249" y="1002590"/>
            <a:ext cx="9969037" cy="585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 cat ReturningMultiValues.py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f(): return (1,2)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a=f(); print("a=",a)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		# A two-element tuple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f(): return 1,2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x,y=f(); print("x=",x," y=",y)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Is this legal?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latin typeface="Lucida Console" panose="020B0609040504020204" pitchFamily="49" charset="0"/>
              </a:rPr>
              <a:t>def f(): return </a:t>
            </a:r>
            <a:r>
              <a:rPr lang="en-US" altLang="zh-TW" smtClean="0">
                <a:solidFill>
                  <a:srgbClr val="00B050"/>
                </a:solidFill>
                <a:latin typeface="Lucida Console" panose="020B0609040504020204" pitchFamily="49" charset="0"/>
              </a:rPr>
              <a:t>(1,2)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x,y=f(); print("x=",x," y=",y)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Is this legal?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rgbClr val="00B050"/>
                </a:solidFill>
                <a:latin typeface="Lucida Console" panose="020B0609040504020204" pitchFamily="49" charset="0"/>
              </a:rPr>
              <a:t>a=f();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print("a=",a)		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en-US" altLang="zh-TW" spc="-1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We’v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zh-TW" sz="16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seen</a:t>
            </a:r>
            <a:r>
              <a:rPr lang="en-US" altLang="zh-TW" sz="16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n-US" altLang="zh-TW" sz="16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pc="-5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latin typeface="Lucida Console" panose="020B0609040504020204" pitchFamily="49" charset="0"/>
              </a:rPr>
              <a:t>def f(): return </a:t>
            </a:r>
            <a:r>
              <a:rPr lang="en-US" altLang="zh-TW" smtClean="0">
                <a:solidFill>
                  <a:srgbClr val="00B0F0"/>
                </a:solidFill>
                <a:latin typeface="Lucida Console" panose="020B0609040504020204" pitchFamily="49" charset="0"/>
              </a:rPr>
              <a:t>1,2</a:t>
            </a:r>
            <a:r>
              <a:rPr lang="en-US" altLang="zh-TW" smtClean="0">
                <a:latin typeface="Lucida Console" panose="020B0609040504020204" pitchFamily="49" charset="0"/>
              </a:rPr>
              <a:t>			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rgbClr val="00B0F0"/>
                </a:solidFill>
                <a:latin typeface="Lucida Console" panose="020B0609040504020204" pitchFamily="49" charset="0"/>
              </a:rPr>
              <a:t>x,y=f(); </a:t>
            </a:r>
            <a:r>
              <a:rPr lang="en-US" altLang="zh-TW" smtClean="0">
                <a:latin typeface="Lucida Console" panose="020B0609040504020204" pitchFamily="49" charset="0"/>
              </a:rPr>
              <a:t>print("x=",x," y=",y)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en-US" altLang="zh-TW" spc="-1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We’v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zh-TW" sz="16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seen</a:t>
            </a:r>
            <a:r>
              <a:rPr lang="en-US" altLang="zh-TW" sz="16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n-US" altLang="zh-TW" sz="16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pc="-5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rgbClr val="FF0000"/>
                </a:solidFill>
                <a:latin typeface="Lucida Console" panose="020B0609040504020204" pitchFamily="49" charset="0"/>
              </a:rPr>
              <a:t>a=f(); print("a=",a)			</a:t>
            </a:r>
            <a:r>
              <a:rPr lang="en-US" altLang="zh-TW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But is </a:t>
            </a:r>
            <a:r>
              <a:rPr lang="en-US" altLang="zh-TW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n-US" altLang="zh-TW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legal?</a:t>
            </a:r>
            <a:endParaRPr lang="en-US" altLang="zh-TW" smtClean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 python3 ReturningMultiValues.py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a= (1, 2)			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 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A two element tuple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x= 1  y= 2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 				  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Yes, it is legal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x= 1  y= 2			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 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Yes, it is legal, too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rgbClr val="00B050"/>
                </a:solidFill>
                <a:latin typeface="Lucida Console" panose="020B0609040504020204" pitchFamily="49" charset="0"/>
              </a:rPr>
              <a:t>a= (1, 2)</a:t>
            </a:r>
            <a:r>
              <a:rPr lang="en-US" altLang="zh-TW" smtClean="0">
                <a:solidFill>
                  <a:srgbClr val="00B050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				   </a:t>
            </a:r>
            <a:r>
              <a:rPr lang="en-US" altLang="zh-TW" spc="-70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Same output as before</a:t>
            </a:r>
            <a:endParaRPr lang="en-US" altLang="zh-TW" spc="-70" smtClean="0">
              <a:solidFill>
                <a:schemeClr val="bg1">
                  <a:lumMod val="65000"/>
                </a:schemeClr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rgbClr val="00B0F0"/>
                </a:solidFill>
                <a:latin typeface="Lucida Console" panose="020B0609040504020204" pitchFamily="49" charset="0"/>
              </a:rPr>
              <a:t>x= 1  y= 2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			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  </a:t>
            </a:r>
            <a:r>
              <a:rPr lang="en-US" altLang="zh-TW" spc="-70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Same output as before</a:t>
            </a:r>
            <a:endParaRPr lang="en-US" altLang="zh-TW" spc="-70" smtClean="0">
              <a:solidFill>
                <a:schemeClr val="bg1">
                  <a:lumMod val="65000"/>
                </a:schemeClr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TW" smtClean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%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3" hidden="1"/>
          <p:cNvSpPr/>
          <p:nvPr/>
        </p:nvSpPr>
        <p:spPr>
          <a:xfrm>
            <a:off x="3016774" y="4739434"/>
            <a:ext cx="3752602" cy="121361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Recall...</a:t>
            </a:r>
            <a:endParaRPr lang="zh-TW" altLang="en-US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Returning from a Function</a:t>
            </a:r>
            <a:endParaRPr lang="en-US" sz="4400" dirty="0" smtClean="0">
              <a:solidFill>
                <a:srgbClr val="0070C0"/>
              </a:solidFill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 flipH="1">
            <a:off x="476250" y="3733800"/>
            <a:ext cx="2800351" cy="533400"/>
          </a:xfrm>
          <a:prstGeom prst="straightConnector1">
            <a:avLst/>
          </a:prstGeom>
          <a:ln w="28575"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169174" y="4891834"/>
            <a:ext cx="3752602" cy="121361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Recall...</a:t>
            </a:r>
            <a:endParaRPr lang="zh-TW" altLang="en-US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692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</p:bld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275031" y="1411106"/>
            <a:ext cx="9314263" cy="5370694"/>
          </a:xfrm>
        </p:spPr>
        <p:txBody>
          <a:bodyPr>
            <a:noAutofit/>
          </a:bodyPr>
          <a:lstStyle/>
          <a:p>
            <a:pPr>
              <a:buClr>
                <a:schemeClr val="bg1"/>
              </a:buClr>
            </a:pPr>
            <a:r>
              <a:rPr lang="en-US" sz="3600" dirty="0"/>
              <a:t>Any set of </a:t>
            </a:r>
            <a:r>
              <a:rPr lang="en-US" sz="3600" dirty="0">
                <a:solidFill>
                  <a:srgbClr val="FFC000"/>
                </a:solidFill>
              </a:rPr>
              <a:t>comma-separated</a:t>
            </a:r>
            <a:r>
              <a:rPr lang="en-US" sz="3600" dirty="0"/>
              <a:t> </a:t>
            </a:r>
            <a:r>
              <a:rPr lang="en-US" altLang="zh-TW" sz="3600" dirty="0"/>
              <a:t>objects</a:t>
            </a:r>
            <a:r>
              <a:rPr lang="en-US" sz="3600" dirty="0"/>
              <a:t>, written </a:t>
            </a:r>
            <a:r>
              <a:rPr lang="en-US" sz="3600" dirty="0">
                <a:solidFill>
                  <a:srgbClr val="FF0000"/>
                </a:solidFill>
              </a:rPr>
              <a:t>without</a:t>
            </a:r>
            <a:r>
              <a:rPr lang="en-US" sz="3600" dirty="0"/>
              <a:t> identifying symbols, </a:t>
            </a:r>
            <a:r>
              <a:rPr lang="en-US" sz="3600" dirty="0">
                <a:solidFill>
                  <a:srgbClr val="FFC000"/>
                </a:solidFill>
              </a:rPr>
              <a:t>defaults </a:t>
            </a:r>
            <a:r>
              <a:rPr lang="en-US" sz="3600" dirty="0" smtClean="0">
                <a:solidFill>
                  <a:srgbClr val="FFC000"/>
                </a:solidFill>
              </a:rPr>
              <a:t>to a </a:t>
            </a:r>
            <a:r>
              <a:rPr lang="en-US" sz="3600" dirty="0">
                <a:solidFill>
                  <a:srgbClr val="FFC000"/>
                </a:solidFill>
              </a:rPr>
              <a:t>tuple</a:t>
            </a:r>
            <a:r>
              <a:rPr lang="en-US" sz="3600" dirty="0"/>
              <a:t>:</a:t>
            </a: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sz="2800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sz="2800" dirty="0"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'ab'</a:t>
            </a:r>
            <a:r>
              <a:rPr lang="en-US" sz="28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sz="2800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-4.24e93</a:t>
            </a:r>
            <a:r>
              <a:rPr lang="en-US" sz="28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sz="2800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7+6.6j</a:t>
            </a:r>
            <a:r>
              <a:rPr lang="en-US" sz="28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sz="2800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'xyz'</a:t>
            </a:r>
            <a:r>
              <a:rPr lang="en-US" sz="2800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sz="2800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 (</a:t>
            </a:r>
            <a:r>
              <a:rPr lang="en-US" sz="2800" dirty="0">
                <a:latin typeface="Lucida Console" panose="020B0609040504020204" pitchFamily="49" charset="0"/>
                <a:cs typeface="Courier New" panose="02070309020205020404" pitchFamily="49" charset="0"/>
              </a:rPr>
              <a:t>"X =&gt; ", </a:t>
            </a:r>
            <a:r>
              <a:rPr lang="en-US" sz="28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</a:t>
            </a:r>
          </a:p>
          <a:p>
            <a:pPr lvl="1">
              <a:spcBef>
                <a:spcPts val="0"/>
              </a:spcBef>
              <a:buFontTx/>
              <a:buNone/>
            </a:pPr>
            <a:r>
              <a:rPr lang="en-US" altLang="zh-TW" sz="2800" dirty="0">
                <a:latin typeface="Lucida Console" panose="020B0609040504020204" pitchFamily="49" charset="0"/>
                <a:cs typeface="Courier New" panose="02070309020205020404" pitchFamily="49" charset="0"/>
              </a:rPr>
              <a:t>X =&gt; </a:t>
            </a:r>
            <a:r>
              <a:rPr lang="en-US" altLang="zh-TW" sz="28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zh-TW" sz="28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'ab', -4.24e93, 7+6.6j, 'xyz'</a:t>
            </a:r>
            <a:r>
              <a:rPr lang="en-US" altLang="zh-TW" sz="2800" b="1" dirty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  <a:endParaRPr lang="en-US" sz="2800" b="1" dirty="0">
              <a:solidFill>
                <a:srgbClr val="FFC0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  <a:p>
            <a:pPr>
              <a:spcBef>
                <a:spcPts val="1800"/>
              </a:spcBef>
              <a:buClr>
                <a:schemeClr val="bg1"/>
              </a:buClr>
            </a:pPr>
            <a:r>
              <a:rPr lang="en-US" sz="3600" dirty="0" smtClean="0"/>
              <a:t>(Of course, if there is also </a:t>
            </a:r>
            <a:r>
              <a:rPr lang="en-US" sz="3600" dirty="0" smtClean="0">
                <a:solidFill>
                  <a:srgbClr val="FF0000"/>
                </a:solidFill>
              </a:rPr>
              <a:t>no comma </a:t>
            </a:r>
            <a:r>
              <a:rPr lang="en-US" sz="3600" dirty="0" smtClean="0"/>
              <a:t>or </a:t>
            </a:r>
            <a:r>
              <a:rPr lang="en-US" sz="3600" dirty="0" smtClean="0">
                <a:solidFill>
                  <a:srgbClr val="FF0000"/>
                </a:solidFill>
              </a:rPr>
              <a:t>quote</a:t>
            </a:r>
            <a:r>
              <a:rPr lang="en-US" sz="3600" dirty="0" smtClean="0"/>
              <a:t>, then it </a:t>
            </a:r>
            <a:r>
              <a:rPr lang="en-US" sz="3600" dirty="0" smtClean="0">
                <a:solidFill>
                  <a:srgbClr val="FF0000"/>
                </a:solidFill>
              </a:rPr>
              <a:t>defaults to a number</a:t>
            </a:r>
            <a:r>
              <a:rPr lang="en-US" sz="3600" dirty="0" smtClean="0"/>
              <a:t>):</a:t>
            </a:r>
            <a:endParaRPr lang="en-US" sz="3600" dirty="0"/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sz="2800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sz="2800" dirty="0"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sz="28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  <a:r>
              <a:rPr lang="en-US" sz="28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; </a:t>
            </a:r>
            <a:r>
              <a:rPr lang="en-US" sz="2800" b="1" dirty="0" smtClean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Y</a:t>
            </a:r>
            <a:r>
              <a:rPr lang="en-US" sz="28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US" sz="28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  <a:r>
              <a:rPr lang="en-US" sz="2800" b="1" dirty="0" smtClean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endParaRPr lang="en-US" sz="2800" b="1" dirty="0">
              <a:solidFill>
                <a:srgbClr val="FFC0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  <a:r>
              <a:rPr lang="en-US" sz="2800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print (</a:t>
            </a:r>
            <a:r>
              <a:rPr lang="en-US" sz="2800" dirty="0">
                <a:latin typeface="Lucida Console" panose="020B0609040504020204" pitchFamily="49" charset="0"/>
                <a:cs typeface="Courier New" panose="02070309020205020404" pitchFamily="49" charset="0"/>
              </a:rPr>
              <a:t>"X =&gt; ", </a:t>
            </a:r>
            <a:r>
              <a:rPr lang="en-US" sz="2800" b="1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X</a:t>
            </a:r>
            <a:r>
              <a:rPr lang="en-US" sz="28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  <a:r>
              <a:rPr lang="en-US" sz="2800" dirty="0">
                <a:latin typeface="Lucida Console" panose="020B06090405040202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"; Y </a:t>
            </a:r>
            <a:r>
              <a:rPr lang="en-US" sz="2800" dirty="0">
                <a:latin typeface="Lucida Console" panose="020B0609040504020204" pitchFamily="49" charset="0"/>
                <a:cs typeface="Courier New" panose="02070309020205020404" pitchFamily="49" charset="0"/>
              </a:rPr>
              <a:t>=&gt; ", </a:t>
            </a:r>
            <a:r>
              <a:rPr lang="en-US" sz="2800" b="1" dirty="0" smtClean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Y</a:t>
            </a:r>
            <a:r>
              <a:rPr lang="en-US" sz="28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</a:t>
            </a:r>
            <a:endParaRPr lang="en-US" sz="2800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  <a:cs typeface="Courier New" panose="02070309020205020404" pitchFamily="49" charset="0"/>
              </a:rPr>
              <a:t>X =&gt; </a:t>
            </a:r>
            <a:r>
              <a:rPr lang="en-US" altLang="zh-TW" sz="2800" b="1" dirty="0" smtClean="0">
                <a:solidFill>
                  <a:srgbClr val="FF0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  <a:r>
              <a:rPr lang="en-US" altLang="zh-TW" sz="2800" dirty="0" smtClean="0">
                <a:latin typeface="Lucida Console" panose="020B0609040504020204" pitchFamily="49" charset="0"/>
                <a:cs typeface="Courier New" panose="02070309020205020404" pitchFamily="49" charset="0"/>
              </a:rPr>
              <a:t> ; Y </a:t>
            </a:r>
            <a:r>
              <a:rPr lang="en-US" altLang="zh-TW" sz="2800" dirty="0">
                <a:latin typeface="Lucida Console" panose="020B0609040504020204" pitchFamily="49" charset="0"/>
                <a:cs typeface="Courier New" panose="02070309020205020404" pitchFamily="49" charset="0"/>
              </a:rPr>
              <a:t>=&gt; </a:t>
            </a:r>
            <a:r>
              <a:rPr lang="en-US" altLang="zh-TW" sz="2800" b="1" dirty="0" smtClean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</a:t>
            </a:r>
            <a:r>
              <a:rPr lang="en-US" altLang="zh-TW" sz="2800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  <a:r>
              <a:rPr lang="en-US" altLang="zh-TW" sz="2800" b="1" dirty="0" smtClean="0">
                <a:solidFill>
                  <a:srgbClr val="FFC0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,)</a:t>
            </a:r>
            <a:endParaRPr lang="en-US" sz="2800" b="1" dirty="0">
              <a:solidFill>
                <a:srgbClr val="FFC000"/>
              </a:solidFill>
              <a:latin typeface="Lucida Console" panose="020B06090405040202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&gt;&gt;&gt;</a:t>
            </a:r>
          </a:p>
          <a:p>
            <a:pPr lvl="1">
              <a:spcBef>
                <a:spcPts val="0"/>
              </a:spcBef>
              <a:buFontTx/>
              <a:buNone/>
            </a:pP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729788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29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11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spc="-70" dirty="0" smtClean="0">
                <a:solidFill>
                  <a:srgbClr val="0070C0"/>
                </a:solidFill>
              </a:rPr>
              <a:t>If </a:t>
            </a:r>
            <a:r>
              <a:rPr lang="en-US" sz="4000" spc="-70" dirty="0" smtClean="0">
                <a:solidFill>
                  <a:srgbClr val="0070C0"/>
                </a:solidFill>
              </a:rPr>
              <a:t> </a:t>
            </a:r>
            <a:r>
              <a:rPr lang="en-US" sz="4400" spc="-70" dirty="0" smtClean="0">
                <a:solidFill>
                  <a:srgbClr val="0070C0"/>
                </a:solidFill>
              </a:rPr>
              <a:t>There’s</a:t>
            </a:r>
            <a:r>
              <a:rPr lang="en-US" sz="4000" spc="-70" dirty="0" smtClean="0">
                <a:solidFill>
                  <a:srgbClr val="0070C0"/>
                </a:solidFill>
              </a:rPr>
              <a:t> </a:t>
            </a:r>
            <a:r>
              <a:rPr lang="en-US" sz="4400" spc="-70" dirty="0" smtClean="0">
                <a:solidFill>
                  <a:srgbClr val="0070C0"/>
                </a:solidFill>
              </a:rPr>
              <a:t>No</a:t>
            </a:r>
            <a:r>
              <a:rPr lang="en-US" sz="4000" spc="-70" dirty="0" smtClean="0">
                <a:solidFill>
                  <a:srgbClr val="0070C0"/>
                </a:solidFill>
              </a:rPr>
              <a:t> </a:t>
            </a:r>
            <a:r>
              <a:rPr lang="en-US" sz="4400" spc="-70" dirty="0">
                <a:solidFill>
                  <a:srgbClr val="0070C0"/>
                </a:solidFill>
              </a:rPr>
              <a:t>Enclosing</a:t>
            </a:r>
            <a:r>
              <a:rPr lang="en-US" sz="3600" spc="-70" dirty="0">
                <a:solidFill>
                  <a:srgbClr val="0070C0"/>
                </a:solidFill>
              </a:rPr>
              <a:t> </a:t>
            </a:r>
            <a:r>
              <a:rPr lang="en-US" sz="4400" spc="-70" dirty="0">
                <a:solidFill>
                  <a:srgbClr val="0070C0"/>
                </a:solidFill>
                <a:latin typeface="Bahnschrift" panose="020B0502040204020203" pitchFamily="34" charset="0"/>
              </a:rPr>
              <a:t>[</a:t>
            </a:r>
            <a:r>
              <a:rPr lang="en-US" sz="2000" spc="-70" dirty="0">
                <a:solidFill>
                  <a:srgbClr val="0070C0"/>
                </a:solidFill>
                <a:latin typeface="Bahnschrift" panose="020B0502040204020203" pitchFamily="34" charset="0"/>
              </a:rPr>
              <a:t> </a:t>
            </a:r>
            <a:r>
              <a:rPr lang="en-US" sz="4400" spc="-70" dirty="0">
                <a:solidFill>
                  <a:srgbClr val="0070C0"/>
                </a:solidFill>
                <a:latin typeface="Bahnschrift" panose="020B0502040204020203" pitchFamily="34" charset="0"/>
              </a:rPr>
              <a:t>]</a:t>
            </a:r>
            <a:r>
              <a:rPr lang="en-US" sz="3600" spc="-70" dirty="0">
                <a:solidFill>
                  <a:srgbClr val="0070C0"/>
                </a:solidFill>
              </a:rPr>
              <a:t> </a:t>
            </a:r>
            <a:r>
              <a:rPr lang="en-US" sz="3600" spc="-70" dirty="0" smtClean="0">
                <a:solidFill>
                  <a:srgbClr val="0070C0"/>
                </a:solidFill>
              </a:rPr>
              <a:t/>
            </a:r>
            <a:br>
              <a:rPr lang="en-US" sz="3600" spc="-70" dirty="0" smtClean="0">
                <a:solidFill>
                  <a:srgbClr val="0070C0"/>
                </a:solidFill>
              </a:rPr>
            </a:br>
            <a:r>
              <a:rPr lang="en-US" sz="4400" spc="-70" dirty="0" smtClean="0">
                <a:solidFill>
                  <a:srgbClr val="0070C0"/>
                </a:solidFill>
              </a:rPr>
              <a:t>or</a:t>
            </a:r>
            <a:r>
              <a:rPr lang="en-US" sz="4000" spc="-70" dirty="0" smtClean="0">
                <a:solidFill>
                  <a:srgbClr val="0070C0"/>
                </a:solidFill>
              </a:rPr>
              <a:t> </a:t>
            </a:r>
            <a:r>
              <a:rPr lang="en-US" sz="4400" b="1" spc="-70" dirty="0">
                <a:solidFill>
                  <a:srgbClr val="0070C0"/>
                </a:solidFill>
                <a:latin typeface="Bahnschrift" panose="020B0502040204020203" pitchFamily="34" charset="0"/>
              </a:rPr>
              <a:t>(</a:t>
            </a:r>
            <a:r>
              <a:rPr lang="en-US" sz="900" b="1" spc="-70" dirty="0">
                <a:solidFill>
                  <a:srgbClr val="0070C0"/>
                </a:solidFill>
                <a:latin typeface="Lucida Console" panose="020B0609040504020204" pitchFamily="49" charset="0"/>
              </a:rPr>
              <a:t> </a:t>
            </a:r>
            <a:r>
              <a:rPr lang="en-US" sz="4400" b="1" spc="-70" dirty="0">
                <a:solidFill>
                  <a:srgbClr val="0070C0"/>
                </a:solidFill>
                <a:latin typeface="Bahnschrift" panose="020B0502040204020203" pitchFamily="34" charset="0"/>
              </a:rPr>
              <a:t>)</a:t>
            </a:r>
            <a:r>
              <a:rPr lang="en-US" sz="4000" spc="-70" dirty="0">
                <a:solidFill>
                  <a:srgbClr val="0070C0"/>
                </a:solidFill>
              </a:rPr>
              <a:t> </a:t>
            </a:r>
            <a:r>
              <a:rPr lang="en-US" sz="4400" spc="-70" dirty="0" smtClean="0">
                <a:solidFill>
                  <a:srgbClr val="0070C0"/>
                </a:solidFill>
              </a:rPr>
              <a:t>Symbol</a:t>
            </a:r>
            <a:endParaRPr lang="en-US" sz="4000" spc="-70" dirty="0">
              <a:solidFill>
                <a:srgbClr val="0070C0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 flipH="1">
            <a:off x="7340848" y="434793"/>
            <a:ext cx="3125129" cy="784901"/>
            <a:chOff x="-734800" y="434792"/>
            <a:chExt cx="3125129" cy="784901"/>
          </a:xfrm>
        </p:grpSpPr>
        <p:sp>
          <p:nvSpPr>
            <p:cNvPr id="6" name="Trapezoid 5"/>
            <p:cNvSpPr/>
            <p:nvPr/>
          </p:nvSpPr>
          <p:spPr bwMode="auto">
            <a:xfrm rot="-2700000">
              <a:off x="-734800" y="435836"/>
              <a:ext cx="3125129" cy="783857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en-US" sz="2800" dirty="0">
                <a:solidFill>
                  <a:prstClr val="black"/>
                </a:solidFill>
                <a:latin typeface="Arial" charset="0"/>
                <a:ea typeface="新細明體" charset="-12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 rot="-2700000">
              <a:off x="-514076" y="434792"/>
              <a:ext cx="2717649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>
                  <a:solidFill>
                    <a:prstClr val="black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Lecture 2</a:t>
              </a:r>
              <a:br>
                <a:rPr kumimoji="1" lang="en-US" altLang="zh-TW" sz="2400" dirty="0">
                  <a:solidFill>
                    <a:prstClr val="black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</a:br>
              <a:r>
                <a:rPr kumimoji="1" lang="en-US" altLang="zh-TW" sz="2400" dirty="0">
                  <a:solidFill>
                    <a:prstClr val="black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Slide </a:t>
              </a:r>
              <a:r>
                <a:rPr kumimoji="1" lang="en-US" altLang="zh-TW" sz="2400" dirty="0" smtClean="0">
                  <a:solidFill>
                    <a:prstClr val="black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#</a:t>
              </a:r>
              <a:r>
                <a:rPr kumimoji="1" lang="en-US" altLang="zh-TW" sz="2400" dirty="0" smtClean="0">
                  <a:solidFill>
                    <a:prstClr val="black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79</a:t>
              </a:r>
              <a:endParaRPr kumimoji="1" lang="en-US" altLang="zh-TW" sz="2400" dirty="0">
                <a:solidFill>
                  <a:prstClr val="black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</p:grpSp>
      <p:sp>
        <p:nvSpPr>
          <p:cNvPr id="8" name="Rectangle 7"/>
          <p:cNvSpPr/>
          <p:nvPr/>
        </p:nvSpPr>
        <p:spPr>
          <a:xfrm>
            <a:off x="1" y="3936568"/>
            <a:ext cx="9729788" cy="2820694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16774" y="4739434"/>
            <a:ext cx="3752602" cy="121361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Recall...</a:t>
            </a:r>
            <a:endParaRPr lang="zh-TW" altLang="en-US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081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4"/>
          <p:cNvSpPr txBox="1">
            <a:spLocks/>
          </p:cNvSpPr>
          <p:nvPr/>
        </p:nvSpPr>
        <p:spPr>
          <a:xfrm>
            <a:off x="-239249" y="1002590"/>
            <a:ext cx="9969037" cy="585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 cat ReturningMultiValues.py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f(): return (1,2)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a=f(); print("a=",a)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		# A two-element tuple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 f(): return 1,2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x,y=f(); print("x=",x," y=",y)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Is this legal?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latin typeface="Lucida Console" panose="020B0609040504020204" pitchFamily="49" charset="0"/>
              </a:rPr>
              <a:t>def f(): return </a:t>
            </a:r>
            <a:r>
              <a:rPr lang="en-US" altLang="zh-TW" smtClean="0">
                <a:solidFill>
                  <a:srgbClr val="00B050"/>
                </a:solidFill>
                <a:latin typeface="Lucida Console" panose="020B0609040504020204" pitchFamily="49" charset="0"/>
              </a:rPr>
              <a:t>(1,2)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x,y=f(); print("x=",x," y=",y)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Is this legal?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rgbClr val="00B050"/>
                </a:solidFill>
                <a:latin typeface="Lucida Console" panose="020B0609040504020204" pitchFamily="49" charset="0"/>
              </a:rPr>
              <a:t>a=f();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print("a=",a)		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en-US" altLang="zh-TW" spc="-1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We’v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zh-TW" sz="16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seen</a:t>
            </a:r>
            <a:r>
              <a:rPr lang="en-US" altLang="zh-TW" sz="16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n-US" altLang="zh-TW" sz="16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pc="-5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latin typeface="Lucida Console" panose="020B0609040504020204" pitchFamily="49" charset="0"/>
              </a:rPr>
              <a:t>def f(): return </a:t>
            </a:r>
            <a:r>
              <a:rPr lang="en-US" altLang="zh-TW" smtClean="0">
                <a:solidFill>
                  <a:srgbClr val="00B0F0"/>
                </a:solidFill>
                <a:latin typeface="Lucida Console" panose="020B0609040504020204" pitchFamily="49" charset="0"/>
              </a:rPr>
              <a:t>1,2			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rgbClr val="00B0F0"/>
                </a:solidFill>
                <a:latin typeface="Lucida Console" panose="020B0609040504020204" pitchFamily="49" charset="0"/>
              </a:rPr>
              <a:t>x,y=f();</a:t>
            </a:r>
            <a:r>
              <a:rPr lang="en-US" altLang="zh-TW" smtClean="0">
                <a:latin typeface="Lucida Console" panose="020B0609040504020204" pitchFamily="49" charset="0"/>
              </a:rPr>
              <a:t> print("x=",x," y=",y)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en-US" altLang="zh-TW" spc="-1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We’v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zh-TW" sz="16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seen</a:t>
            </a:r>
            <a:r>
              <a:rPr lang="en-US" altLang="zh-TW" sz="16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n-US" altLang="zh-TW" sz="16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pc="-5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rgbClr val="FF0000"/>
                </a:solidFill>
                <a:latin typeface="Lucida Console" panose="020B0609040504020204" pitchFamily="49" charset="0"/>
              </a:rPr>
              <a:t>a=f(); print("a=",a)			</a:t>
            </a:r>
            <a:r>
              <a:rPr lang="en-US" altLang="zh-TW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But is </a:t>
            </a:r>
            <a:r>
              <a:rPr lang="en-US" altLang="zh-TW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n-US" altLang="zh-TW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legal?</a:t>
            </a:r>
            <a:endParaRPr lang="en-US" altLang="zh-TW" smtClean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 python3 ReturningMultiValues.py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a= (1, 2)			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 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A two element tuple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x= 1  y= 2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 				  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Yes, it is legal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x= 1  y= 2			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  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Yes, it is legal, too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rgbClr val="00B050"/>
                </a:solidFill>
                <a:latin typeface="Lucida Console" panose="020B0609040504020204" pitchFamily="49" charset="0"/>
              </a:rPr>
              <a:t>a= (1, 2)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 				   </a:t>
            </a:r>
            <a:r>
              <a:rPr lang="en-US" altLang="zh-TW" spc="-70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Same output as before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rgbClr val="00B0F0"/>
                </a:solidFill>
                <a:latin typeface="Lucida Console" panose="020B0609040504020204" pitchFamily="49" charset="0"/>
              </a:rPr>
              <a:t>x= 1  y= 2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				</a:t>
            </a:r>
            <a:r>
              <a:rPr lang="en-US" altLang="zh-TW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  </a:t>
            </a:r>
            <a:r>
              <a:rPr lang="en-US" altLang="zh-TW" spc="-70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Same output as before</a:t>
            </a:r>
            <a:endParaRPr lang="en-US" altLang="zh-TW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rgbClr val="FF0000"/>
                </a:solidFill>
                <a:latin typeface="Lucida Console" panose="020B0609040504020204" pitchFamily="49" charset="0"/>
              </a:rPr>
              <a:t>a= (1, 2)</a:t>
            </a:r>
            <a:r>
              <a:rPr lang="en-US" altLang="zh-TW" smtClean="0">
                <a:latin typeface="Lucida Console" panose="020B0609040504020204" pitchFamily="49" charset="0"/>
                <a:sym typeface="Symbol" panose="05050102010706020507" pitchFamily="18" charset="2"/>
              </a:rPr>
              <a:t> 				   </a:t>
            </a:r>
            <a:r>
              <a:rPr lang="en-US" altLang="zh-TW" smtClean="0">
                <a:solidFill>
                  <a:srgbClr val="00B050"/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Yes, it is legal</a:t>
            </a:r>
            <a:endParaRPr lang="en-US" altLang="zh-TW" smtClean="0">
              <a:solidFill>
                <a:srgbClr val="FF0000"/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%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16774" y="4739434"/>
            <a:ext cx="3752602" cy="121361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Recall...</a:t>
            </a:r>
            <a:endParaRPr lang="zh-TW" altLang="en-US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Returning from a Function</a:t>
            </a:r>
            <a:endParaRPr lang="en-US" sz="4400" dirty="0" smtClean="0">
              <a:solidFill>
                <a:srgbClr val="0070C0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476250" y="3733800"/>
            <a:ext cx="2800351" cy="533400"/>
          </a:xfrm>
          <a:prstGeom prst="straightConnector1">
            <a:avLst/>
          </a:prstGeom>
          <a:ln w="28575"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4467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4"/>
          <p:cNvSpPr txBox="1">
            <a:spLocks/>
          </p:cNvSpPr>
          <p:nvPr/>
        </p:nvSpPr>
        <p:spPr>
          <a:xfrm>
            <a:off x="-239249" y="1002590"/>
            <a:ext cx="9969037" cy="5855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 cat ReturningMultiValues.py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err="1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f(): return </a:t>
            </a:r>
            <a:r>
              <a:rPr lang="en-US" altLang="zh-TW" b="1" dirty="0" smtClean="0">
                <a:solidFill>
                  <a:srgbClr val="860000"/>
                </a:solidFill>
                <a:latin typeface="Lucida Console" panose="020B0609040504020204" pitchFamily="49" charset="0"/>
              </a:rPr>
              <a:t>(1,2)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b="1" dirty="0" smtClean="0">
                <a:solidFill>
                  <a:srgbClr val="860000"/>
                </a:solidFill>
                <a:latin typeface="Lucida Console" panose="020B0609040504020204" pitchFamily="49" charset="0"/>
              </a:rPr>
              <a:t>a=f()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; print("a=",a)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		# A two-element tuple</a:t>
            </a:r>
            <a:endParaRPr lang="en-US" altLang="zh-TW" dirty="0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err="1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f(): return 1,2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err="1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x,y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=f(); print("x=",x," y=",y)	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Is this legal?</a:t>
            </a:r>
            <a:endParaRPr lang="en-US" altLang="zh-TW" dirty="0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err="1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f(): return</a:t>
            </a:r>
            <a:r>
              <a:rPr lang="en-US" altLang="zh-TW" dirty="0" smtClean="0">
                <a:latin typeface="Lucida Console" panose="020B0609040504020204" pitchFamily="49" charset="0"/>
              </a:rPr>
              <a:t> 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(1,2)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err="1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x,y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=f(); print("x=",x," y=",y)	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Is this legal?</a:t>
            </a:r>
            <a:endParaRPr lang="en-US" altLang="zh-TW" dirty="0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a=f(); print("a=",a)			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en-US" altLang="zh-TW" spc="-1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We’v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zh-TW" sz="16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seen</a:t>
            </a:r>
            <a:r>
              <a:rPr lang="en-US" altLang="zh-TW" sz="16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n-US" altLang="zh-TW" sz="16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pc="-5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US" altLang="zh-TW" dirty="0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err="1" smtClean="0">
                <a:latin typeface="Lucida Console" panose="020B0609040504020204" pitchFamily="49" charset="0"/>
              </a:rPr>
              <a:t>def</a:t>
            </a:r>
            <a:r>
              <a:rPr lang="en-US" altLang="zh-TW" dirty="0" smtClean="0">
                <a:latin typeface="Lucida Console" panose="020B0609040504020204" pitchFamily="49" charset="0"/>
              </a:rPr>
              <a:t> f(): return</a:t>
            </a:r>
            <a:r>
              <a:rPr lang="en-US" altLang="zh-TW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1,2</a:t>
            </a:r>
            <a:r>
              <a:rPr lang="en-US" altLang="zh-TW" dirty="0" smtClean="0">
                <a:solidFill>
                  <a:srgbClr val="00B0F0"/>
                </a:solidFill>
                <a:latin typeface="Lucida Console" panose="020B0609040504020204" pitchFamily="49" charset="0"/>
              </a:rPr>
              <a:t>			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err="1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x,y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=f(); print("x=",x," y=",y)	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en-US" altLang="zh-TW" spc="-1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We’v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zh-TW" sz="16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seen</a:t>
            </a:r>
            <a:r>
              <a:rPr lang="en-US" altLang="zh-TW" sz="16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n-US" altLang="zh-TW" sz="16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pc="-5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US" altLang="zh-TW" dirty="0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a=f()</a:t>
            </a: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; 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print("a=",a)			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But is this legal?</a:t>
            </a:r>
            <a:endParaRPr lang="en-US" altLang="zh-TW" dirty="0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% python3 ReturningMultiValues.py</a:t>
            </a: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b="1" dirty="0" smtClean="0">
                <a:solidFill>
                  <a:srgbClr val="860000"/>
                </a:solidFill>
                <a:latin typeface="Lucida Console" panose="020B0609040504020204" pitchFamily="49" charset="0"/>
              </a:rPr>
              <a:t>a= (1, 2)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				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  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A two element tuple</a:t>
            </a:r>
            <a:endParaRPr lang="en-US" altLang="zh-TW" dirty="0" smtClean="0">
              <a:solidFill>
                <a:schemeClr val="bg1">
                  <a:lumMod val="65000"/>
                </a:schemeClr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x= 1  y= 2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 				   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Yes, it is legal</a:t>
            </a:r>
            <a:endParaRPr lang="en-US" altLang="zh-TW" dirty="0" smtClean="0">
              <a:solidFill>
                <a:schemeClr val="bg1">
                  <a:lumMod val="65000"/>
                </a:schemeClr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x= 1  y= 2				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  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Yes, it is legal, too</a:t>
            </a:r>
            <a:endParaRPr lang="en-US" altLang="zh-TW" dirty="0" smtClean="0">
              <a:solidFill>
                <a:schemeClr val="bg1">
                  <a:lumMod val="65000"/>
                </a:schemeClr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a= (1, 2)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 				   </a:t>
            </a:r>
            <a:r>
              <a:rPr lang="en-US" altLang="zh-TW" spc="-70" dirty="0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Same output as before</a:t>
            </a:r>
            <a:endParaRPr lang="en-US" altLang="zh-TW" dirty="0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x= 1  y= 2				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  </a:t>
            </a:r>
            <a:r>
              <a:rPr lang="en-US" altLang="zh-TW" spc="-70" dirty="0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Same output as before</a:t>
            </a:r>
            <a:endParaRPr lang="en-US" altLang="zh-TW" dirty="0" smtClean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a= (1, 2)</a:t>
            </a:r>
            <a:r>
              <a:rPr lang="en-US" altLang="zh-TW" dirty="0" smtClean="0">
                <a:solidFill>
                  <a:srgbClr val="FF0000"/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 </a:t>
            </a:r>
            <a:r>
              <a:rPr lang="en-US" altLang="zh-TW" dirty="0" smtClean="0">
                <a:latin typeface="Lucida Console" panose="020B0609040504020204" pitchFamily="49" charset="0"/>
                <a:sym typeface="Symbol" panose="05050102010706020507" pitchFamily="18" charset="2"/>
              </a:rPr>
              <a:t>				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sym typeface="Symbol" panose="05050102010706020507" pitchFamily="18" charset="2"/>
              </a:rPr>
              <a:t>   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latin typeface="Lucida Fax" panose="02060602050505020204" pitchFamily="18" charset="0"/>
                <a:sym typeface="Symbol" panose="05050102010706020507" pitchFamily="18" charset="2"/>
              </a:rPr>
              <a:t>Yes, it is legal</a:t>
            </a:r>
            <a:endParaRPr lang="en-US" altLang="zh-TW" dirty="0" smtClean="0">
              <a:solidFill>
                <a:schemeClr val="bg1">
                  <a:lumMod val="65000"/>
                </a:schemeClr>
              </a:solidFill>
              <a:latin typeface="Lucida Fax" panose="02060602050505020204" pitchFamily="18" charset="0"/>
            </a:endParaRPr>
          </a:p>
          <a:p>
            <a:pPr marL="457200" lvl="1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%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27501" y="4458712"/>
            <a:ext cx="3752602" cy="214526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altLang="zh-TW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is why they got the same answer.</a:t>
            </a:r>
            <a:endParaRPr lang="zh-TW" altLang="en-US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2056285" y="4928020"/>
            <a:ext cx="3471217" cy="96016"/>
          </a:xfrm>
          <a:prstGeom prst="straightConnector1">
            <a:avLst/>
          </a:prstGeom>
          <a:ln w="28575">
            <a:solidFill>
              <a:srgbClr val="86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2056285" y="5935852"/>
            <a:ext cx="3468635" cy="461075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527501" y="1498536"/>
            <a:ext cx="3752602" cy="214526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altLang="zh-TW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are, actually, the same code.</a:t>
            </a:r>
            <a:endParaRPr lang="zh-TW" altLang="en-US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 flipH="1" flipV="1">
            <a:off x="4257043" y="1580828"/>
            <a:ext cx="1270458" cy="483030"/>
          </a:xfrm>
          <a:prstGeom prst="straightConnector1">
            <a:avLst/>
          </a:prstGeom>
          <a:ln w="28575">
            <a:solidFill>
              <a:srgbClr val="86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 flipV="1">
            <a:off x="1281369" y="1844299"/>
            <a:ext cx="4246132" cy="219561"/>
          </a:xfrm>
          <a:prstGeom prst="straightConnector1">
            <a:avLst/>
          </a:prstGeom>
          <a:ln w="28575">
            <a:solidFill>
              <a:srgbClr val="86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3823091" y="2975676"/>
            <a:ext cx="1701828" cy="6681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1172881" y="2975678"/>
            <a:ext cx="4352038" cy="1164073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 txBox="1">
            <a:spLocks/>
          </p:cNvSpPr>
          <p:nvPr/>
        </p:nvSpPr>
        <p:spPr>
          <a:xfrm>
            <a:off x="0" y="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Returning from a Function</a:t>
            </a:r>
            <a:endParaRPr lang="en-US" sz="4400" dirty="0" smtClean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839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 animBg="1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304091" y="1436914"/>
            <a:ext cx="9425697" cy="542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f(): pass</a:t>
            </a:r>
          </a:p>
          <a:p>
            <a:pPr marL="0" indent="0">
              <a:lnSpc>
                <a:spcPct val="7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7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f()</a:t>
            </a:r>
            <a:r>
              <a:rPr lang="en-US" altLang="en-US" sz="8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#Notice that this gives no output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print(f())</a:t>
            </a:r>
            <a:r>
              <a:rPr lang="en-US" altLang="en-US" sz="8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#</a:t>
            </a:r>
            <a:r>
              <a:rPr lang="en-US" altLang="en-US" sz="28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But</a:t>
            </a:r>
            <a:r>
              <a:rPr lang="en-US" altLang="en-US" sz="20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it</a:t>
            </a:r>
            <a:r>
              <a:rPr lang="en-US" altLang="en-US" sz="16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i="1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does</a:t>
            </a:r>
            <a:r>
              <a:rPr lang="en-US" altLang="en-US" sz="24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have</a:t>
            </a:r>
            <a:r>
              <a:rPr lang="en-US" altLang="en-US" sz="24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sz="24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valu</a:t>
            </a:r>
            <a:r>
              <a:rPr lang="en-US" altLang="en-US" sz="2800" kern="0" spc="-200" dirty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28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.</a:t>
            </a:r>
            <a:r>
              <a:rPr lang="en-US" altLang="en-US" sz="24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Se</a:t>
            </a:r>
            <a:r>
              <a:rPr lang="en-US" altLang="en-US" sz="2800" kern="0" spc="-200" dirty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28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: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None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d=f()</a:t>
            </a:r>
            <a:r>
              <a:rPr lang="en-US" altLang="en-US" sz="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#</a:t>
            </a:r>
            <a:r>
              <a:rPr lang="en-US" altLang="en-US" sz="28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If</a:t>
            </a:r>
            <a:r>
              <a:rPr lang="en-US" altLang="en-US" sz="24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we</a:t>
            </a:r>
            <a:r>
              <a:rPr lang="en-US" altLang="en-US" sz="24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save</a:t>
            </a:r>
            <a:r>
              <a:rPr lang="en-US" altLang="en-US" sz="24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the</a:t>
            </a:r>
            <a:r>
              <a:rPr lang="en-US" altLang="en-US" sz="24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output</a:t>
            </a:r>
            <a:r>
              <a:rPr lang="en-US" altLang="en-US" sz="24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to</a:t>
            </a:r>
            <a:r>
              <a:rPr lang="en-US" altLang="en-US" sz="24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sz="24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variable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d </a:t>
            </a:r>
            <a:r>
              <a:rPr lang="en-US" altLang="en-US" sz="28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8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#</a:t>
            </a:r>
            <a:r>
              <a:rPr lang="en-US" altLang="en-US" sz="28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then</a:t>
            </a:r>
            <a:r>
              <a:rPr lang="en-US" altLang="en-US" sz="24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that</a:t>
            </a:r>
            <a:r>
              <a:rPr lang="en-US" altLang="en-US" sz="24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variable</a:t>
            </a:r>
            <a:r>
              <a:rPr lang="en-US" altLang="en-US" sz="24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gives</a:t>
            </a:r>
            <a:r>
              <a:rPr lang="en-US" altLang="en-US" sz="24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en-US" sz="24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outpu</a:t>
            </a:r>
            <a:r>
              <a:rPr lang="en-US" altLang="en-US" sz="2800" kern="0" spc="-300" dirty="0">
                <a:solidFill>
                  <a:srgbClr val="FF0000"/>
                </a:solidFill>
                <a:latin typeface="Lucida Console" panose="020B0609040504020204" pitchFamily="49" charset="0"/>
              </a:rPr>
              <a:t>t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: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print(d)</a:t>
            </a:r>
            <a:r>
              <a:rPr lang="en-US" altLang="en-US" sz="2800" kern="0" dirty="0">
                <a:solidFill>
                  <a:prstClr val="white">
                    <a:lumMod val="75000"/>
                  </a:prst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#But</a:t>
            </a:r>
            <a:r>
              <a:rPr lang="en-US" altLang="en-US" sz="20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it</a:t>
            </a:r>
            <a:r>
              <a:rPr lang="en-US" altLang="en-US" sz="1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i="1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does</a:t>
            </a:r>
            <a:r>
              <a:rPr lang="en-US" altLang="en-US" sz="20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have</a:t>
            </a:r>
            <a:r>
              <a:rPr lang="en-US" altLang="en-US" sz="20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sz="20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value.</a:t>
            </a:r>
            <a:r>
              <a:rPr lang="en-US" altLang="en-US" sz="20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See: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b="1" kern="0" dirty="0">
                <a:solidFill>
                  <a:srgbClr val="7030A0"/>
                </a:solidFill>
                <a:latin typeface="Lucida Console" panose="020B0609040504020204" pitchFamily="49" charset="0"/>
              </a:rPr>
              <a:t>None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spc="-50" dirty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en-US" sz="2800" kern="0" spc="-5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len</a:t>
            </a:r>
            <a:r>
              <a:rPr lang="en-US" altLang="en-US" sz="2800" kern="0" spc="-50" dirty="0">
                <a:solidFill>
                  <a:schemeClr val="tx1"/>
                </a:solidFill>
                <a:latin typeface="Lucida Console" panose="020B0609040504020204" pitchFamily="49" charset="0"/>
              </a:rPr>
              <a:t>(d))</a:t>
            </a:r>
            <a:r>
              <a:rPr lang="en-US" altLang="en-US" sz="400" kern="0" spc="-5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#W</a:t>
            </a:r>
            <a:r>
              <a:rPr lang="en-US" altLang="en-US" sz="2800" kern="0" spc="-50" dirty="0">
                <a:solidFill>
                  <a:srgbClr val="FF0000"/>
                </a:solidFill>
                <a:latin typeface="Lucida Console" panose="020B0609040504020204" pitchFamily="49" charset="0"/>
              </a:rPr>
              <a:t>ha</a:t>
            </a:r>
            <a:r>
              <a:rPr lang="en-US" altLang="en-US" sz="2800" kern="0" spc="-500" dirty="0">
                <a:solidFill>
                  <a:srgbClr val="FF0000"/>
                </a:solidFill>
                <a:latin typeface="Lucida Console" panose="020B0609040504020204" pitchFamily="49" charset="0"/>
              </a:rPr>
              <a:t>t</a:t>
            </a:r>
            <a:r>
              <a:rPr lang="en-US" altLang="en-US" sz="2800" kern="0" spc="-550" dirty="0">
                <a:solidFill>
                  <a:srgbClr val="FF0000"/>
                </a:solidFill>
                <a:latin typeface="Lucida Console" panose="020B0609040504020204" pitchFamily="49" charset="0"/>
              </a:rPr>
              <a:t>’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z="20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t</a:t>
            </a:r>
            <a:r>
              <a:rPr lang="en-US" altLang="en-US" sz="2800" kern="0" spc="-20" dirty="0">
                <a:solidFill>
                  <a:srgbClr val="FF0000"/>
                </a:solidFill>
                <a:latin typeface="Lucida Console" panose="020B0609040504020204" pitchFamily="49" charset="0"/>
              </a:rPr>
              <a:t>he</a:t>
            </a:r>
            <a:r>
              <a:rPr lang="en-US" altLang="en-US" sz="2000" kern="0" spc="-2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50" dirty="0">
                <a:solidFill>
                  <a:srgbClr val="FF0000"/>
                </a:solidFill>
                <a:latin typeface="Lucida Console" panose="020B0609040504020204" pitchFamily="49" charset="0"/>
              </a:rPr>
              <a:t>val</a:t>
            </a:r>
            <a:r>
              <a:rPr lang="en-US" altLang="en-US" sz="2800" kern="0" spc="-20" dirty="0">
                <a:solidFill>
                  <a:srgbClr val="FF0000"/>
                </a:solidFill>
                <a:latin typeface="Lucida Console" panose="020B0609040504020204" pitchFamily="49" charset="0"/>
              </a:rPr>
              <a:t>u</a:t>
            </a:r>
            <a:r>
              <a:rPr lang="en-US" altLang="en-US" sz="2800" kern="0" spc="-50" dirty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2800" kern="0" spc="-20" dirty="0">
                <a:solidFill>
                  <a:srgbClr val="FF0000"/>
                </a:solidFill>
                <a:latin typeface="Lucida Console" panose="020B0609040504020204" pitchFamily="49" charset="0"/>
              </a:rPr>
              <a:t>?</a:t>
            </a:r>
            <a:r>
              <a:rPr lang="en-US" altLang="en-US" sz="2000" kern="0" spc="-2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20" dirty="0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altLang="en-US" sz="2000" kern="0" spc="-2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20" dirty="0">
                <a:solidFill>
                  <a:srgbClr val="FF0000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800" kern="0" spc="-170" dirty="0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800" kern="0" spc="-20" dirty="0">
                <a:solidFill>
                  <a:srgbClr val="FF0000"/>
                </a:solidFill>
                <a:latin typeface="Lucida Console" panose="020B0609040504020204" pitchFamily="49" charset="0"/>
              </a:rPr>
              <a:t>n</a:t>
            </a:r>
            <a:r>
              <a:rPr lang="en-US" altLang="en-US" sz="2800" kern="0" spc="-120" dirty="0">
                <a:solidFill>
                  <a:srgbClr val="FF0000"/>
                </a:solidFill>
                <a:latin typeface="Lucida Console" panose="020B0609040504020204" pitchFamily="49" charset="0"/>
              </a:rPr>
              <a:t>g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?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spc="-12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z="2800" kern="0" spc="-120" dirty="0">
                <a:solidFill>
                  <a:srgbClr val="FFCCCC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spc="-120" dirty="0">
                <a:solidFill>
                  <a:srgbClr val="FFCCCC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800" kern="0" spc="-12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800" kern="0" spc="-120" dirty="0">
                <a:solidFill>
                  <a:srgbClr val="FFCCCC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spc="-14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en-US" sz="2800" kern="0" spc="-140" dirty="0">
                <a:solidFill>
                  <a:srgbClr val="FFCCCC"/>
                </a:solidFill>
                <a:latin typeface="Lucida Console" panose="020B0609040504020204" pitchFamily="49" charset="0"/>
              </a:rPr>
              <a:t>:</a:t>
            </a:r>
            <a:r>
              <a:rPr lang="en-US" altLang="en-US" sz="1200" kern="0" spc="-140" dirty="0">
                <a:latin typeface="Lucida Console" panose="020B0609040504020204" pitchFamily="49" charset="0"/>
              </a:rPr>
              <a:t> </a:t>
            </a:r>
            <a:r>
              <a:rPr lang="en-US" altLang="en-US" sz="2800" kern="0" spc="-140" dirty="0">
                <a:solidFill>
                  <a:srgbClr val="FF0000"/>
                </a:solidFill>
                <a:latin typeface="Lucida Console" panose="020B0609040504020204" pitchFamily="49" charset="0"/>
              </a:rPr>
              <a:t>object</a:t>
            </a:r>
            <a:r>
              <a:rPr lang="en-US" altLang="en-US" sz="2000" kern="0" spc="-14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140" dirty="0">
                <a:solidFill>
                  <a:srgbClr val="FF0000"/>
                </a:solidFill>
                <a:latin typeface="Lucida Console" panose="020B0609040504020204" pitchFamily="49" charset="0"/>
              </a:rPr>
              <a:t>of</a:t>
            </a:r>
            <a:r>
              <a:rPr lang="en-US" altLang="en-US" sz="2000" kern="0" spc="-14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140" dirty="0">
                <a:solidFill>
                  <a:srgbClr val="FF0000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kern="0" spc="-14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140" dirty="0">
                <a:solidFill>
                  <a:srgbClr val="FF0000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800" b="1" kern="0" spc="-14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NoneType</a:t>
            </a:r>
            <a:r>
              <a:rPr lang="en-US" altLang="en-US" sz="2800" kern="0" spc="-140" dirty="0">
                <a:solidFill>
                  <a:srgbClr val="FF0000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1400" kern="0" spc="-14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140" dirty="0">
                <a:solidFill>
                  <a:srgbClr val="FF0000"/>
                </a:solidFill>
                <a:latin typeface="Lucida Console" panose="020B0609040504020204" pitchFamily="49" charset="0"/>
              </a:rPr>
              <a:t>has</a:t>
            </a:r>
            <a:r>
              <a:rPr lang="en-US" altLang="en-US" sz="2000" kern="0" spc="-14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140" dirty="0">
                <a:solidFill>
                  <a:srgbClr val="FF0000"/>
                </a:solidFill>
                <a:latin typeface="Lucida Console" panose="020B0609040504020204" pitchFamily="49" charset="0"/>
              </a:rPr>
              <a:t>no</a:t>
            </a:r>
            <a:r>
              <a:rPr lang="en-US" altLang="en-US" sz="2000" kern="0" spc="-14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14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len</a:t>
            </a:r>
            <a:r>
              <a:rPr lang="en-US" altLang="en-US" sz="2800" kern="0" spc="-140" dirty="0">
                <a:solidFill>
                  <a:srgbClr val="FF0000"/>
                </a:solidFill>
                <a:latin typeface="Lucida Console" panose="020B0609040504020204" pitchFamily="49" charset="0"/>
              </a:rPr>
              <a:t>()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-1"/>
            <a:ext cx="9726745" cy="14844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Functions with no “return”</a:t>
            </a:r>
            <a:br>
              <a:rPr lang="en-US" sz="4400" dirty="0">
                <a:solidFill>
                  <a:srgbClr val="0070C0"/>
                </a:solidFill>
              </a:rPr>
            </a:br>
            <a:r>
              <a:rPr lang="en-US" sz="4400" dirty="0">
                <a:solidFill>
                  <a:srgbClr val="0070C0"/>
                </a:solidFill>
              </a:rPr>
              <a:t>still return “None”</a:t>
            </a:r>
            <a:endParaRPr lang="en-US" sz="4400" dirty="0" smtClean="0">
              <a:solidFill>
                <a:srgbClr val="0070C0"/>
              </a:solidFill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305343" y="1436914"/>
            <a:ext cx="916325" cy="542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sz="2800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7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spc="-1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sz="2800" b="1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spc="-1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dirty="0">
              <a:solidFill>
                <a:prstClr val="white">
                  <a:lumMod val="75000"/>
                </a:prst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en-US" sz="2800" b="1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2800" kern="0" dirty="0" smtClean="0">
                <a:solidFill>
                  <a:srgbClr val="B2B2B2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sz="2800" kern="0" dirty="0" smtClean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</a:t>
            </a:r>
            <a:endParaRPr lang="en-US" altLang="en-US" sz="2800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9" name="Rounded Rectangular Callout 8"/>
          <p:cNvSpPr/>
          <p:nvPr/>
        </p:nvSpPr>
        <p:spPr>
          <a:xfrm>
            <a:off x="760465" y="2838204"/>
            <a:ext cx="2873829" cy="1911923"/>
          </a:xfrm>
          <a:prstGeom prst="wedgeRoundRectCallout">
            <a:avLst>
              <a:gd name="adj1" fmla="val 120730"/>
              <a:gd name="adj2" fmla="val 124692"/>
              <a:gd name="adj3" fmla="val 16667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>
                <a:solidFill>
                  <a:prstClr val="black"/>
                </a:solidFill>
              </a:rPr>
              <a:t>Oh. It is its own special data type.</a:t>
            </a:r>
            <a:endParaRPr lang="zh-TW" altLang="en-US" sz="4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717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200" y="0"/>
            <a:ext cx="9105900" cy="6176963"/>
          </a:xfrm>
        </p:spPr>
        <p:txBody>
          <a:bodyPr>
            <a:noAutofit/>
          </a:bodyPr>
          <a:lstStyle/>
          <a:p>
            <a:pPr>
              <a:lnSpc>
                <a:spcPct val="85000"/>
              </a:lnSpc>
              <a:spcBef>
                <a:spcPts val="1000"/>
              </a:spcBef>
            </a:pPr>
            <a:r>
              <a:rPr lang="en-US" sz="3400" dirty="0" smtClean="0">
                <a:solidFill>
                  <a:srgbClr val="0000FF"/>
                </a:solidFill>
              </a:rPr>
              <a:t>In Lecture 5, we learned </a:t>
            </a:r>
            <a:r>
              <a:rPr lang="en-US" sz="3400" b="1" dirty="0" smtClean="0">
                <a:solidFill>
                  <a:srgbClr val="0000FF"/>
                </a:solidFill>
              </a:rPr>
              <a:t>how to define functions</a:t>
            </a:r>
            <a:r>
              <a:rPr lang="en-US" sz="3400" dirty="0" smtClean="0">
                <a:solidFill>
                  <a:srgbClr val="0000FF"/>
                </a:solidFill>
              </a:rPr>
              <a:t>:</a:t>
            </a:r>
          </a:p>
          <a:p>
            <a:pPr lvl="1">
              <a:lnSpc>
                <a:spcPct val="85000"/>
              </a:lnSpc>
              <a:spcBef>
                <a:spcPts val="200"/>
              </a:spcBef>
            </a:pPr>
            <a:r>
              <a:rPr lang="en-US" sz="3200" dirty="0" smtClean="0"/>
              <a:t>The syntax.</a:t>
            </a:r>
          </a:p>
          <a:p>
            <a:pPr lvl="1">
              <a:lnSpc>
                <a:spcPct val="85000"/>
              </a:lnSpc>
              <a:spcBef>
                <a:spcPts val="0"/>
              </a:spcBef>
            </a:pPr>
            <a:r>
              <a:rPr lang="en-US" sz="3200" dirty="0" smtClean="0"/>
              <a:t>Where they can be defined.</a:t>
            </a:r>
          </a:p>
          <a:p>
            <a:pPr lvl="2">
              <a:lnSpc>
                <a:spcPct val="85000"/>
              </a:lnSpc>
              <a:spcBef>
                <a:spcPts val="200"/>
              </a:spcBef>
            </a:pPr>
            <a:r>
              <a:rPr lang="en-US" sz="3200" dirty="0" smtClean="0"/>
              <a:t>Including bizarre places, like inside an if's body.</a:t>
            </a:r>
          </a:p>
          <a:p>
            <a:pPr>
              <a:lnSpc>
                <a:spcPct val="85000"/>
              </a:lnSpc>
              <a:spcBef>
                <a:spcPts val="400"/>
              </a:spcBef>
            </a:pPr>
            <a:r>
              <a:rPr lang="en-US" sz="3400" dirty="0" smtClean="0">
                <a:solidFill>
                  <a:srgbClr val="0000FF"/>
                </a:solidFill>
              </a:rPr>
              <a:t>In Lecture 6, we learned </a:t>
            </a:r>
            <a:r>
              <a:rPr lang="en-US" sz="3400" b="1" dirty="0" smtClean="0">
                <a:solidFill>
                  <a:srgbClr val="0000FF"/>
                </a:solidFill>
              </a:rPr>
              <a:t>how to pass arguments </a:t>
            </a:r>
            <a:r>
              <a:rPr lang="en-US" sz="3400" dirty="0" smtClean="0">
                <a:solidFill>
                  <a:srgbClr val="0000FF"/>
                </a:solidFill>
              </a:rPr>
              <a:t>to functions (which the function then receives as </a:t>
            </a:r>
            <a:r>
              <a:rPr lang="en-US" sz="3400" i="1" dirty="0" smtClean="0">
                <a:solidFill>
                  <a:srgbClr val="0000FF"/>
                </a:solidFill>
              </a:rPr>
              <a:t>parameters</a:t>
            </a:r>
            <a:r>
              <a:rPr lang="en-US" sz="3400" dirty="0" smtClean="0">
                <a:solidFill>
                  <a:srgbClr val="0000FF"/>
                </a:solidFill>
              </a:rPr>
              <a:t>):</a:t>
            </a:r>
          </a:p>
          <a:p>
            <a:pPr lvl="1">
              <a:lnSpc>
                <a:spcPct val="85000"/>
              </a:lnSpc>
              <a:spcBef>
                <a:spcPts val="200"/>
              </a:spcBef>
            </a:pPr>
            <a:r>
              <a:rPr lang="en-US" sz="3200" dirty="0" smtClean="0"/>
              <a:t>The syntax for the 6 types of parameters.</a:t>
            </a:r>
          </a:p>
          <a:p>
            <a:pPr lvl="1">
              <a:lnSpc>
                <a:spcPct val="85000"/>
              </a:lnSpc>
              <a:spcBef>
                <a:spcPts val="0"/>
              </a:spcBef>
            </a:pPr>
            <a:r>
              <a:rPr lang="en-US" sz="3200" dirty="0"/>
              <a:t>P</a:t>
            </a:r>
            <a:r>
              <a:rPr lang="en-US" sz="3200" dirty="0" smtClean="0"/>
              <a:t>otential bugs caused by:</a:t>
            </a:r>
          </a:p>
          <a:p>
            <a:pPr lvl="2">
              <a:lnSpc>
                <a:spcPct val="85000"/>
              </a:lnSpc>
              <a:spcBef>
                <a:spcPts val="200"/>
              </a:spcBef>
            </a:pPr>
            <a:r>
              <a:rPr lang="en-US" sz="3200" dirty="0" smtClean="0"/>
              <a:t>The default only being initialized once.</a:t>
            </a:r>
          </a:p>
          <a:p>
            <a:pPr lvl="2">
              <a:lnSpc>
                <a:spcPct val="85000"/>
              </a:lnSpc>
              <a:spcBef>
                <a:spcPts val="400"/>
              </a:spcBef>
            </a:pPr>
            <a:r>
              <a:rPr lang="en-US" sz="3200" dirty="0" smtClean="0"/>
              <a:t>The incorrect forwarding of </a:t>
            </a:r>
            <a:r>
              <a:rPr lang="en-US" sz="3200" i="1" dirty="0" smtClean="0"/>
              <a:t>the tuple of extra arguments</a:t>
            </a:r>
            <a:r>
              <a:rPr lang="en-US" sz="3200" dirty="0" smtClean="0"/>
              <a:t> or </a:t>
            </a:r>
            <a:r>
              <a:rPr lang="en-US" sz="3200" i="1" dirty="0" smtClean="0"/>
              <a:t>the dictionary of extra keywords</a:t>
            </a:r>
            <a:r>
              <a:rPr lang="en-US" sz="32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3490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1D7FD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200" y="0"/>
            <a:ext cx="9105900" cy="6176963"/>
          </a:xfrm>
        </p:spPr>
        <p:txBody>
          <a:bodyPr>
            <a:noAutofit/>
          </a:bodyPr>
          <a:lstStyle/>
          <a:p>
            <a:pPr>
              <a:lnSpc>
                <a:spcPct val="85000"/>
              </a:lnSpc>
              <a:spcBef>
                <a:spcPts val="1000"/>
              </a:spcBef>
            </a:pPr>
            <a:r>
              <a:rPr lang="en-US" sz="34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In Lecture 5, we learned </a:t>
            </a:r>
            <a:r>
              <a:rPr lang="en-US" sz="3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how to define functions</a:t>
            </a:r>
            <a:r>
              <a:rPr lang="en-US" sz="34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</a:p>
          <a:p>
            <a:pPr lvl="1">
              <a:lnSpc>
                <a:spcPct val="85000"/>
              </a:lnSpc>
              <a:spcBef>
                <a:spcPts val="200"/>
              </a:spcBef>
            </a:pPr>
            <a:r>
              <a:rPr lang="en-US" sz="3200" dirty="0" smtClean="0">
                <a:solidFill>
                  <a:srgbClr val="B2B2B2"/>
                </a:solidFill>
              </a:rPr>
              <a:t>The syntax.</a:t>
            </a:r>
          </a:p>
          <a:p>
            <a:pPr lvl="1">
              <a:lnSpc>
                <a:spcPct val="85000"/>
              </a:lnSpc>
              <a:spcBef>
                <a:spcPts val="0"/>
              </a:spcBef>
            </a:pPr>
            <a:r>
              <a:rPr lang="en-US" sz="3200" dirty="0" smtClean="0">
                <a:solidFill>
                  <a:srgbClr val="B2B2B2"/>
                </a:solidFill>
              </a:rPr>
              <a:t>Where they can be defined.</a:t>
            </a:r>
          </a:p>
          <a:p>
            <a:pPr lvl="2">
              <a:lnSpc>
                <a:spcPct val="85000"/>
              </a:lnSpc>
              <a:spcBef>
                <a:spcPts val="200"/>
              </a:spcBef>
            </a:pPr>
            <a:r>
              <a:rPr lang="en-US" sz="3200" dirty="0" smtClean="0">
                <a:solidFill>
                  <a:srgbClr val="B2B2B2"/>
                </a:solidFill>
              </a:rPr>
              <a:t>Including bizarre places, like inside an if's body.</a:t>
            </a:r>
          </a:p>
          <a:p>
            <a:pPr>
              <a:lnSpc>
                <a:spcPct val="85000"/>
              </a:lnSpc>
              <a:spcBef>
                <a:spcPts val="400"/>
              </a:spcBef>
            </a:pPr>
            <a:r>
              <a:rPr lang="en-US" sz="3400" dirty="0" smtClean="0">
                <a:solidFill>
                  <a:srgbClr val="B1D7FD"/>
                </a:solidFill>
              </a:rPr>
              <a:t>In Lecture 6, we learned </a:t>
            </a:r>
            <a:r>
              <a:rPr lang="en-US" sz="3400" b="1" dirty="0" smtClean="0">
                <a:solidFill>
                  <a:srgbClr val="B1D7FD"/>
                </a:solidFill>
              </a:rPr>
              <a:t>how to pass arguments </a:t>
            </a:r>
            <a:r>
              <a:rPr lang="en-US" sz="3400" dirty="0" smtClean="0">
                <a:solidFill>
                  <a:srgbClr val="B1D7FD"/>
                </a:solidFill>
              </a:rPr>
              <a:t>to functions (which the function then receives as </a:t>
            </a:r>
            <a:r>
              <a:rPr lang="en-US" sz="3400" i="1" dirty="0" smtClean="0">
                <a:solidFill>
                  <a:srgbClr val="B1D7FD"/>
                </a:solidFill>
              </a:rPr>
              <a:t>parameters</a:t>
            </a:r>
            <a:r>
              <a:rPr lang="en-US" sz="3400" dirty="0" smtClean="0">
                <a:solidFill>
                  <a:srgbClr val="C0DFFD"/>
                </a:solidFill>
              </a:rPr>
              <a:t>):</a:t>
            </a:r>
          </a:p>
          <a:p>
            <a:pPr lvl="1">
              <a:lnSpc>
                <a:spcPct val="85000"/>
              </a:lnSpc>
              <a:spcBef>
                <a:spcPts val="200"/>
              </a:spcBef>
            </a:pPr>
            <a:r>
              <a:rPr lang="en-US" sz="3200" dirty="0" smtClean="0">
                <a:solidFill>
                  <a:srgbClr val="B2B2B2"/>
                </a:solidFill>
              </a:rPr>
              <a:t>The syntax for the 6 types of parameters.</a:t>
            </a:r>
          </a:p>
          <a:p>
            <a:pPr lvl="1">
              <a:lnSpc>
                <a:spcPct val="85000"/>
              </a:lnSpc>
              <a:spcBef>
                <a:spcPts val="0"/>
              </a:spcBef>
            </a:pPr>
            <a:r>
              <a:rPr lang="en-US" sz="3200" dirty="0">
                <a:solidFill>
                  <a:srgbClr val="B2B2B2"/>
                </a:solidFill>
              </a:rPr>
              <a:t>P</a:t>
            </a:r>
            <a:r>
              <a:rPr lang="en-US" sz="3200" dirty="0" smtClean="0">
                <a:solidFill>
                  <a:srgbClr val="B2B2B2"/>
                </a:solidFill>
              </a:rPr>
              <a:t>otential bugs caused by:</a:t>
            </a:r>
          </a:p>
          <a:p>
            <a:pPr lvl="2">
              <a:lnSpc>
                <a:spcPct val="85000"/>
              </a:lnSpc>
              <a:spcBef>
                <a:spcPts val="200"/>
              </a:spcBef>
            </a:pPr>
            <a:r>
              <a:rPr lang="en-US" sz="3200" dirty="0" smtClean="0">
                <a:solidFill>
                  <a:srgbClr val="B2B2B2"/>
                </a:solidFill>
              </a:rPr>
              <a:t>The default only being initialized once.</a:t>
            </a:r>
          </a:p>
          <a:p>
            <a:pPr lvl="2">
              <a:lnSpc>
                <a:spcPct val="85000"/>
              </a:lnSpc>
              <a:spcBef>
                <a:spcPts val="400"/>
              </a:spcBef>
            </a:pPr>
            <a:r>
              <a:rPr lang="en-US" sz="3200" dirty="0" smtClean="0">
                <a:solidFill>
                  <a:srgbClr val="B2B2B2"/>
                </a:solidFill>
              </a:rPr>
              <a:t>The incorrect forwarding of </a:t>
            </a:r>
            <a:r>
              <a:rPr lang="en-US" sz="3200" i="1" dirty="0" smtClean="0">
                <a:solidFill>
                  <a:srgbClr val="B2B2B2"/>
                </a:solidFill>
              </a:rPr>
              <a:t>the tuple of extra arguments </a:t>
            </a:r>
            <a:r>
              <a:rPr lang="en-US" sz="3200" dirty="0" smtClean="0">
                <a:solidFill>
                  <a:srgbClr val="B2B2B2"/>
                </a:solidFill>
              </a:rPr>
              <a:t>or </a:t>
            </a:r>
            <a:r>
              <a:rPr lang="en-US" sz="3200" i="1" dirty="0" smtClean="0">
                <a:solidFill>
                  <a:srgbClr val="B2B2B2"/>
                </a:solidFill>
              </a:rPr>
              <a:t>the dictionary of extra keywords</a:t>
            </a:r>
            <a:r>
              <a:rPr lang="en-US" sz="3200" dirty="0" smtClean="0">
                <a:solidFill>
                  <a:srgbClr val="B2B2B2"/>
                </a:solidFill>
              </a:rPr>
              <a:t>.</a:t>
            </a:r>
          </a:p>
          <a:p>
            <a:pPr>
              <a:lnSpc>
                <a:spcPct val="85000"/>
              </a:lnSpc>
              <a:spcBef>
                <a:spcPts val="400"/>
              </a:spcBef>
            </a:pPr>
            <a:r>
              <a:rPr lang="en-US" sz="3400" dirty="0">
                <a:solidFill>
                  <a:srgbClr val="0000FF"/>
                </a:solidFill>
              </a:rPr>
              <a:t>We </a:t>
            </a:r>
            <a:r>
              <a:rPr lang="en-US" sz="3400" dirty="0" smtClean="0">
                <a:solidFill>
                  <a:srgbClr val="0000FF"/>
                </a:solidFill>
              </a:rPr>
              <a:t>have now </a:t>
            </a:r>
            <a:r>
              <a:rPr lang="en-US" sz="3400" dirty="0">
                <a:solidFill>
                  <a:srgbClr val="0000FF"/>
                </a:solidFill>
              </a:rPr>
              <a:t>learned </a:t>
            </a:r>
            <a:r>
              <a:rPr lang="en-US" sz="3400" b="1" dirty="0">
                <a:solidFill>
                  <a:srgbClr val="0000FF"/>
                </a:solidFill>
              </a:rPr>
              <a:t>how to return values</a:t>
            </a:r>
            <a:r>
              <a:rPr lang="en-US" sz="3400" dirty="0">
                <a:solidFill>
                  <a:srgbClr val="0000FF"/>
                </a:solidFill>
              </a:rPr>
              <a:t>:</a:t>
            </a:r>
          </a:p>
          <a:p>
            <a:pPr lvl="1">
              <a:lnSpc>
                <a:spcPct val="85000"/>
              </a:lnSpc>
              <a:spcBef>
                <a:spcPts val="200"/>
              </a:spcBef>
            </a:pPr>
            <a:r>
              <a:rPr lang="en-US" sz="3200" dirty="0"/>
              <a:t>Including </a:t>
            </a:r>
            <a:r>
              <a:rPr lang="en-US" sz="3200" dirty="0" smtClean="0"/>
              <a:t>how to return </a:t>
            </a:r>
            <a:r>
              <a:rPr lang="en-US" sz="3200" b="1" dirty="0" smtClean="0"/>
              <a:t>multiple </a:t>
            </a:r>
            <a:r>
              <a:rPr lang="en-US" sz="3200" b="1" dirty="0"/>
              <a:t>values</a:t>
            </a:r>
            <a:r>
              <a:rPr lang="en-US" sz="3200" dirty="0"/>
              <a:t>.</a:t>
            </a:r>
          </a:p>
          <a:p>
            <a:pPr>
              <a:lnSpc>
                <a:spcPct val="85000"/>
              </a:lnSpc>
              <a:spcBef>
                <a:spcPts val="400"/>
              </a:spcBef>
            </a:pPr>
            <a:r>
              <a:rPr lang="en-US" sz="3400" spc="-30" dirty="0" smtClean="0">
                <a:solidFill>
                  <a:srgbClr val="0000FF"/>
                </a:solidFill>
              </a:rPr>
              <a:t>What </a:t>
            </a:r>
            <a:r>
              <a:rPr lang="en-US" sz="3400" i="1" spc="-30" dirty="0" smtClean="0">
                <a:solidFill>
                  <a:srgbClr val="0000FF"/>
                </a:solidFill>
              </a:rPr>
              <a:t>else</a:t>
            </a:r>
            <a:r>
              <a:rPr lang="en-US" sz="3400" spc="-30" dirty="0" smtClean="0">
                <a:solidFill>
                  <a:srgbClr val="0000FF"/>
                </a:solidFill>
              </a:rPr>
              <a:t> can be said of functions? </a:t>
            </a:r>
            <a:r>
              <a:rPr lang="en-US" sz="3400" b="1" spc="-30" dirty="0" smtClean="0">
                <a:solidFill>
                  <a:srgbClr val="0000FF"/>
                </a:solidFill>
              </a:rPr>
              <a:t>Scoping Rules.</a:t>
            </a:r>
            <a:endParaRPr lang="en-US" sz="3200" b="1" spc="-30" dirty="0"/>
          </a:p>
        </p:txBody>
      </p:sp>
      <p:sp>
        <p:nvSpPr>
          <p:cNvPr id="2" name="Rectangle 1"/>
          <p:cNvSpPr/>
          <p:nvPr/>
        </p:nvSpPr>
        <p:spPr>
          <a:xfrm>
            <a:off x="6731000" y="6235700"/>
            <a:ext cx="2692400" cy="622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380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1D7FD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Content Placeholder 4"/>
          <p:cNvSpPr>
            <a:spLocks noGrp="1"/>
          </p:cNvSpPr>
          <p:nvPr>
            <p:ph idx="1"/>
          </p:nvPr>
        </p:nvSpPr>
        <p:spPr>
          <a:xfrm>
            <a:off x="292100" y="977900"/>
            <a:ext cx="9437688" cy="5825699"/>
          </a:xfrm>
        </p:spPr>
        <p:txBody>
          <a:bodyPr>
            <a:noAutofit/>
          </a:bodyPr>
          <a:lstStyle/>
          <a:p>
            <a:pPr marL="1143000" indent="-1143000">
              <a:lnSpc>
                <a:spcPct val="100000"/>
              </a:lnSpc>
              <a:spcBef>
                <a:spcPts val="1800"/>
              </a:spcBef>
              <a:buNone/>
            </a:pPr>
            <a:r>
              <a:rPr lang="en-US" sz="3200" b="1" i="1" dirty="0">
                <a:solidFill>
                  <a:srgbClr val="FF0000"/>
                </a:solidFill>
              </a:rPr>
              <a:t>Scope</a:t>
            </a:r>
            <a:r>
              <a:rPr lang="en-US" sz="3200" dirty="0"/>
              <a:t>:</a:t>
            </a:r>
            <a:r>
              <a:rPr lang="en-US" sz="2400" dirty="0"/>
              <a:t> </a:t>
            </a:r>
            <a:r>
              <a:rPr lang="en-US" sz="3200" dirty="0"/>
              <a:t>the</a:t>
            </a:r>
            <a:r>
              <a:rPr lang="en-US" dirty="0"/>
              <a:t> </a:t>
            </a:r>
            <a:r>
              <a:rPr lang="en-US" sz="3200" dirty="0"/>
              <a:t>set</a:t>
            </a:r>
            <a:r>
              <a:rPr lang="en-US" dirty="0"/>
              <a:t> </a:t>
            </a:r>
            <a:r>
              <a:rPr lang="en-US" sz="3200" dirty="0"/>
              <a:t>of</a:t>
            </a:r>
            <a:r>
              <a:rPr lang="en-US" dirty="0"/>
              <a:t> </a:t>
            </a:r>
            <a:r>
              <a:rPr lang="en-US" sz="3200" dirty="0"/>
              <a:t>places</a:t>
            </a:r>
            <a:r>
              <a:rPr lang="en-US" dirty="0"/>
              <a:t> </a:t>
            </a:r>
            <a:r>
              <a:rPr lang="en-US" sz="3200" dirty="0"/>
              <a:t>in</a:t>
            </a:r>
            <a:r>
              <a:rPr lang="en-US" dirty="0"/>
              <a:t> </a:t>
            </a:r>
            <a:r>
              <a:rPr lang="en-US" sz="3200" dirty="0"/>
              <a:t>a</a:t>
            </a:r>
            <a:r>
              <a:rPr lang="en-US" dirty="0"/>
              <a:t> </a:t>
            </a:r>
            <a:r>
              <a:rPr lang="en-US" sz="3200" dirty="0"/>
              <a:t>program</a:t>
            </a:r>
            <a:r>
              <a:rPr lang="en-US" dirty="0"/>
              <a:t> </a:t>
            </a:r>
            <a:r>
              <a:rPr lang="en-US" sz="3200" dirty="0"/>
              <a:t>where</a:t>
            </a:r>
            <a:r>
              <a:rPr lang="en-US" dirty="0"/>
              <a:t> </a:t>
            </a:r>
            <a:r>
              <a:rPr lang="en-US" sz="3200" dirty="0"/>
              <a:t>you</a:t>
            </a:r>
            <a:r>
              <a:rPr lang="en-US" dirty="0"/>
              <a:t> </a:t>
            </a:r>
            <a:r>
              <a:rPr lang="en-US" sz="3200" dirty="0"/>
              <a:t>can</a:t>
            </a:r>
            <a:r>
              <a:rPr lang="en-US" dirty="0"/>
              <a:t> </a:t>
            </a:r>
            <a:r>
              <a:rPr lang="en-US" sz="3200" dirty="0"/>
              <a:t>access</a:t>
            </a:r>
            <a:r>
              <a:rPr lang="en-US" dirty="0"/>
              <a:t> </a:t>
            </a:r>
            <a:r>
              <a:rPr lang="en-US" sz="3200" dirty="0" smtClean="0"/>
              <a:t>a variable.</a:t>
            </a:r>
            <a:endParaRPr lang="en-US" sz="3200" dirty="0"/>
          </a:p>
          <a:p>
            <a:pPr>
              <a:lnSpc>
                <a:spcPct val="100000"/>
              </a:lnSpc>
              <a:spcBef>
                <a:spcPts val="900"/>
              </a:spcBef>
            </a:pPr>
            <a:r>
              <a:rPr lang="en-US" sz="2800" spc="-50" dirty="0"/>
              <a:t>In </a:t>
            </a:r>
            <a:r>
              <a:rPr lang="en-US" sz="2800" spc="-50" dirty="0" smtClean="0"/>
              <a:t>languages </a:t>
            </a:r>
            <a:r>
              <a:rPr lang="en-US" sz="2800" spc="-50" dirty="0"/>
              <a:t>like </a:t>
            </a:r>
            <a:r>
              <a:rPr lang="en-US" sz="2800" b="1" i="1" spc="-50" dirty="0">
                <a:solidFill>
                  <a:srgbClr val="0000FF"/>
                </a:solidFill>
              </a:rPr>
              <a:t>C</a:t>
            </a:r>
            <a:r>
              <a:rPr lang="en-US" sz="2800" spc="-50" dirty="0"/>
              <a:t>, </a:t>
            </a:r>
            <a:r>
              <a:rPr lang="en-US" sz="2800" spc="-50" dirty="0" smtClean="0"/>
              <a:t>variables </a:t>
            </a:r>
            <a:r>
              <a:rPr lang="en-US" sz="2800" spc="-50" dirty="0"/>
              <a:t>are </a:t>
            </a:r>
            <a:r>
              <a:rPr lang="en-US" sz="2800" b="1" i="1" spc="-50" dirty="0">
                <a:solidFill>
                  <a:srgbClr val="008000"/>
                </a:solidFill>
              </a:rPr>
              <a:t>statically</a:t>
            </a:r>
            <a:r>
              <a:rPr lang="en-US" sz="2800" b="1" i="1" spc="-50" dirty="0"/>
              <a:t> </a:t>
            </a:r>
            <a:r>
              <a:rPr lang="en-US" sz="2800" b="1" i="1" spc="-50" dirty="0">
                <a:solidFill>
                  <a:srgbClr val="008000"/>
                </a:solidFill>
              </a:rPr>
              <a:t>declared</a:t>
            </a:r>
            <a:r>
              <a:rPr lang="en-US" sz="2800" spc="-50" dirty="0"/>
              <a:t>, </a:t>
            </a:r>
            <a:r>
              <a:rPr lang="en-US" sz="2800" spc="-50" dirty="0" smtClean="0"/>
              <a:t>so scopes are also </a:t>
            </a:r>
            <a:r>
              <a:rPr lang="en-US" sz="2800" spc="-50" dirty="0"/>
              <a:t>static</a:t>
            </a:r>
            <a:r>
              <a:rPr lang="en-US" sz="2800" spc="-50" dirty="0" smtClean="0"/>
              <a:t>: </a:t>
            </a:r>
            <a:r>
              <a:rPr lang="en-US" spc="-50" dirty="0"/>
              <a:t>the “set of places” </a:t>
            </a:r>
            <a:r>
              <a:rPr lang="en-US" sz="2800" spc="-50" dirty="0" smtClean="0"/>
              <a:t>will be </a:t>
            </a:r>
            <a:r>
              <a:rPr lang="en-US" sz="2800" b="1" i="1" spc="-50" dirty="0">
                <a:solidFill>
                  <a:srgbClr val="B86410"/>
                </a:solidFill>
              </a:rPr>
              <a:t>specific</a:t>
            </a:r>
            <a:r>
              <a:rPr lang="en-US" sz="2800" b="1" i="1" spc="-50" dirty="0"/>
              <a:t> </a:t>
            </a:r>
            <a:r>
              <a:rPr lang="en-US" sz="2800" b="1" i="1" spc="-50" dirty="0">
                <a:solidFill>
                  <a:srgbClr val="B86410"/>
                </a:solidFill>
              </a:rPr>
              <a:t>lines</a:t>
            </a:r>
            <a:r>
              <a:rPr lang="en-US" sz="2800" spc="-50" dirty="0">
                <a:solidFill>
                  <a:srgbClr val="B86410"/>
                </a:solidFill>
              </a:rPr>
              <a:t> </a:t>
            </a:r>
            <a:r>
              <a:rPr lang="en-US" sz="2800" spc="-50" dirty="0"/>
              <a:t>of </a:t>
            </a:r>
            <a:r>
              <a:rPr lang="en-US" sz="2800" spc="-50" dirty="0" smtClean="0"/>
              <a:t>code.</a:t>
            </a:r>
            <a:endParaRPr lang="en-US" sz="2800" spc="-50" dirty="0"/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sz="2800" dirty="0"/>
              <a:t>In </a:t>
            </a:r>
            <a:r>
              <a:rPr lang="en-US" sz="2800" b="1" i="1" dirty="0">
                <a:solidFill>
                  <a:srgbClr val="0000FF"/>
                </a:solidFill>
              </a:rPr>
              <a:t>Python</a:t>
            </a:r>
            <a:r>
              <a:rPr lang="en-US" sz="2800" dirty="0" smtClean="0"/>
              <a:t>, </a:t>
            </a:r>
            <a:r>
              <a:rPr lang="en-US" sz="2800" dirty="0"/>
              <a:t>variables are </a:t>
            </a:r>
            <a:r>
              <a:rPr lang="en-US" sz="2800" b="1" i="1" dirty="0">
                <a:solidFill>
                  <a:srgbClr val="008000"/>
                </a:solidFill>
              </a:rPr>
              <a:t>dynamically</a:t>
            </a:r>
            <a:r>
              <a:rPr lang="en-US" sz="2800" b="1" i="1" dirty="0"/>
              <a:t> </a:t>
            </a:r>
            <a:r>
              <a:rPr lang="en-US" sz="2800" b="1" i="1" dirty="0">
                <a:solidFill>
                  <a:srgbClr val="008000"/>
                </a:solidFill>
              </a:rPr>
              <a:t>declared</a:t>
            </a:r>
            <a:r>
              <a:rPr lang="en-US" sz="2800" dirty="0"/>
              <a:t>, </a:t>
            </a:r>
            <a:r>
              <a:rPr lang="en-US" sz="2800" dirty="0" smtClean="0"/>
              <a:t>so scopes are </a:t>
            </a:r>
            <a:r>
              <a:rPr lang="en-US" sz="2800" b="1" i="1" dirty="0">
                <a:solidFill>
                  <a:srgbClr val="B86410"/>
                </a:solidFill>
              </a:rPr>
              <a:t>not necessarily tied to specific lines</a:t>
            </a:r>
            <a:r>
              <a:rPr lang="en-US" sz="2800" dirty="0">
                <a:solidFill>
                  <a:srgbClr val="B86410"/>
                </a:solidFill>
              </a:rPr>
              <a:t> </a:t>
            </a:r>
            <a:r>
              <a:rPr lang="en-US" sz="2800" dirty="0"/>
              <a:t>of code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8890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The “Scope</a:t>
            </a:r>
            <a:r>
              <a:rPr lang="en-US" sz="4400" dirty="0" smtClean="0">
                <a:solidFill>
                  <a:srgbClr val="0070C0"/>
                </a:solidFill>
              </a:rPr>
              <a:t>” of a Variable</a:t>
            </a:r>
          </a:p>
        </p:txBody>
      </p:sp>
    </p:spTree>
    <p:extLst>
      <p:ext uri="{BB962C8B-B14F-4D97-AF65-F5344CB8AC3E}">
        <p14:creationId xmlns:p14="http://schemas.microsoft.com/office/powerpoint/2010/main" val="3531830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Content Placeholder 4"/>
          <p:cNvSpPr>
            <a:spLocks noGrp="1"/>
          </p:cNvSpPr>
          <p:nvPr>
            <p:ph idx="1"/>
          </p:nvPr>
        </p:nvSpPr>
        <p:spPr>
          <a:xfrm>
            <a:off x="292100" y="977900"/>
            <a:ext cx="9437688" cy="5825699"/>
          </a:xfrm>
        </p:spPr>
        <p:txBody>
          <a:bodyPr>
            <a:noAutofit/>
          </a:bodyPr>
          <a:lstStyle/>
          <a:p>
            <a:pPr marL="1143000" indent="-1143000">
              <a:lnSpc>
                <a:spcPct val="100000"/>
              </a:lnSpc>
              <a:spcBef>
                <a:spcPts val="1800"/>
              </a:spcBef>
              <a:buNone/>
            </a:pPr>
            <a:r>
              <a:rPr lang="en-US" sz="3200" b="1" i="1" dirty="0">
                <a:solidFill>
                  <a:srgbClr val="FF0000"/>
                </a:solidFill>
              </a:rPr>
              <a:t>Scope</a:t>
            </a:r>
            <a:r>
              <a:rPr lang="en-US" sz="3200" dirty="0"/>
              <a:t>:</a:t>
            </a:r>
            <a:r>
              <a:rPr lang="en-US" sz="2400" dirty="0"/>
              <a:t> </a:t>
            </a:r>
            <a:r>
              <a:rPr lang="en-US" sz="3200" dirty="0"/>
              <a:t>the</a:t>
            </a:r>
            <a:r>
              <a:rPr lang="en-US" dirty="0"/>
              <a:t> </a:t>
            </a:r>
            <a:r>
              <a:rPr lang="en-US" sz="3200" dirty="0"/>
              <a:t>set</a:t>
            </a:r>
            <a:r>
              <a:rPr lang="en-US" dirty="0"/>
              <a:t> </a:t>
            </a:r>
            <a:r>
              <a:rPr lang="en-US" sz="3200" dirty="0"/>
              <a:t>of</a:t>
            </a:r>
            <a:r>
              <a:rPr lang="en-US" dirty="0"/>
              <a:t> </a:t>
            </a:r>
            <a:r>
              <a:rPr lang="en-US" sz="3200" dirty="0"/>
              <a:t>places</a:t>
            </a:r>
            <a:r>
              <a:rPr lang="en-US" dirty="0"/>
              <a:t> </a:t>
            </a:r>
            <a:r>
              <a:rPr lang="en-US" sz="3200" dirty="0"/>
              <a:t>in</a:t>
            </a:r>
            <a:r>
              <a:rPr lang="en-US" dirty="0"/>
              <a:t> </a:t>
            </a:r>
            <a:r>
              <a:rPr lang="en-US" sz="3200" dirty="0"/>
              <a:t>a</a:t>
            </a:r>
            <a:r>
              <a:rPr lang="en-US" dirty="0"/>
              <a:t> </a:t>
            </a:r>
            <a:r>
              <a:rPr lang="en-US" sz="3200" dirty="0"/>
              <a:t>program</a:t>
            </a:r>
            <a:r>
              <a:rPr lang="en-US" dirty="0"/>
              <a:t> </a:t>
            </a:r>
            <a:r>
              <a:rPr lang="en-US" sz="3200" dirty="0"/>
              <a:t>where</a:t>
            </a:r>
            <a:r>
              <a:rPr lang="en-US" dirty="0"/>
              <a:t> </a:t>
            </a:r>
            <a:r>
              <a:rPr lang="en-US" sz="3200" dirty="0"/>
              <a:t>you</a:t>
            </a:r>
            <a:r>
              <a:rPr lang="en-US" dirty="0"/>
              <a:t> </a:t>
            </a:r>
            <a:r>
              <a:rPr lang="en-US" sz="3200" dirty="0"/>
              <a:t>can</a:t>
            </a:r>
            <a:r>
              <a:rPr lang="en-US" dirty="0"/>
              <a:t> </a:t>
            </a:r>
            <a:r>
              <a:rPr lang="en-US" sz="3200" dirty="0"/>
              <a:t>access</a:t>
            </a:r>
            <a:r>
              <a:rPr lang="en-US" dirty="0"/>
              <a:t> </a:t>
            </a:r>
            <a:r>
              <a:rPr lang="en-US" sz="3200" dirty="0" smtClean="0"/>
              <a:t>a variable.</a:t>
            </a:r>
            <a:endParaRPr lang="en-US" sz="3200" dirty="0"/>
          </a:p>
          <a:p>
            <a:pPr>
              <a:lnSpc>
                <a:spcPct val="100000"/>
              </a:lnSpc>
              <a:spcBef>
                <a:spcPts val="900"/>
              </a:spcBef>
            </a:pPr>
            <a:r>
              <a:rPr lang="en-US" sz="2800" spc="-50" dirty="0">
                <a:solidFill>
                  <a:schemeClr val="bg1">
                    <a:lumMod val="75000"/>
                  </a:schemeClr>
                </a:solidFill>
              </a:rPr>
              <a:t>In </a:t>
            </a:r>
            <a:r>
              <a:rPr lang="en-US" sz="2800" spc="-50" dirty="0" smtClean="0">
                <a:solidFill>
                  <a:schemeClr val="bg1">
                    <a:lumMod val="75000"/>
                  </a:schemeClr>
                </a:solidFill>
              </a:rPr>
              <a:t>languages </a:t>
            </a:r>
            <a:r>
              <a:rPr lang="en-US" sz="2800" spc="-50" dirty="0">
                <a:solidFill>
                  <a:schemeClr val="bg1">
                    <a:lumMod val="75000"/>
                  </a:schemeClr>
                </a:solidFill>
              </a:rPr>
              <a:t>like </a:t>
            </a:r>
            <a:r>
              <a:rPr lang="en-US" sz="2800" b="1" i="1" spc="-50" dirty="0">
                <a:solidFill>
                  <a:schemeClr val="bg1">
                    <a:lumMod val="75000"/>
                  </a:schemeClr>
                </a:solidFill>
              </a:rPr>
              <a:t>C</a:t>
            </a:r>
            <a:r>
              <a:rPr lang="en-US" sz="2800" spc="-50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en-US" sz="2800" spc="-50" dirty="0" smtClean="0">
                <a:solidFill>
                  <a:schemeClr val="bg1">
                    <a:lumMod val="75000"/>
                  </a:schemeClr>
                </a:solidFill>
              </a:rPr>
              <a:t>variables </a:t>
            </a:r>
            <a:r>
              <a:rPr lang="en-US" sz="2800" spc="-50" dirty="0">
                <a:solidFill>
                  <a:schemeClr val="bg1">
                    <a:lumMod val="75000"/>
                  </a:schemeClr>
                </a:solidFill>
              </a:rPr>
              <a:t>are </a:t>
            </a:r>
            <a:r>
              <a:rPr lang="en-US" sz="2800" b="1" i="1" spc="-50" dirty="0">
                <a:solidFill>
                  <a:schemeClr val="bg1">
                    <a:lumMod val="75000"/>
                  </a:schemeClr>
                </a:solidFill>
              </a:rPr>
              <a:t>statically declared</a:t>
            </a:r>
            <a:r>
              <a:rPr lang="en-US" sz="2800" spc="-50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en-US" sz="2800" spc="-50" dirty="0" smtClean="0">
                <a:solidFill>
                  <a:schemeClr val="bg1">
                    <a:lumMod val="75000"/>
                  </a:schemeClr>
                </a:solidFill>
              </a:rPr>
              <a:t>so scopes are also </a:t>
            </a:r>
            <a:r>
              <a:rPr lang="en-US" sz="2800" spc="-50" dirty="0">
                <a:solidFill>
                  <a:schemeClr val="bg1">
                    <a:lumMod val="75000"/>
                  </a:schemeClr>
                </a:solidFill>
              </a:rPr>
              <a:t>static</a:t>
            </a:r>
            <a:r>
              <a:rPr lang="en-US" sz="2800" spc="-50" dirty="0" smtClean="0">
                <a:solidFill>
                  <a:schemeClr val="bg1">
                    <a:lumMod val="75000"/>
                  </a:schemeClr>
                </a:solidFill>
              </a:rPr>
              <a:t>: </a:t>
            </a:r>
            <a:r>
              <a:rPr lang="en-US" spc="-50" dirty="0">
                <a:solidFill>
                  <a:schemeClr val="bg1">
                    <a:lumMod val="75000"/>
                  </a:schemeClr>
                </a:solidFill>
              </a:rPr>
              <a:t>the “set of places” </a:t>
            </a:r>
            <a:r>
              <a:rPr lang="en-US" sz="2800" spc="-50" dirty="0">
                <a:solidFill>
                  <a:prstClr val="white">
                    <a:lumMod val="75000"/>
                  </a:prstClr>
                </a:solidFill>
              </a:rPr>
              <a:t>will be</a:t>
            </a:r>
            <a:r>
              <a:rPr lang="en-US" sz="2800" spc="-50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2800" b="1" i="1" spc="-50" dirty="0" smtClean="0">
                <a:solidFill>
                  <a:schemeClr val="bg1">
                    <a:lumMod val="75000"/>
                  </a:schemeClr>
                </a:solidFill>
              </a:rPr>
              <a:t>specific </a:t>
            </a:r>
            <a:r>
              <a:rPr lang="en-US" sz="2800" b="1" i="1" spc="-50" dirty="0">
                <a:solidFill>
                  <a:schemeClr val="bg1">
                    <a:lumMod val="75000"/>
                  </a:schemeClr>
                </a:solidFill>
              </a:rPr>
              <a:t>lines</a:t>
            </a:r>
            <a:r>
              <a:rPr lang="en-US" sz="2800" spc="-5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2800" spc="-50" dirty="0" smtClean="0">
                <a:solidFill>
                  <a:schemeClr val="bg1">
                    <a:lumMod val="75000"/>
                  </a:schemeClr>
                </a:solidFill>
              </a:rPr>
              <a:t>of </a:t>
            </a:r>
            <a:r>
              <a:rPr lang="en-US" sz="2800" spc="-50" dirty="0" smtClean="0">
                <a:solidFill>
                  <a:schemeClr val="bg1">
                    <a:lumMod val="75000"/>
                  </a:schemeClr>
                </a:solidFill>
              </a:rPr>
              <a:t>code.</a:t>
            </a:r>
            <a:endParaRPr lang="en-US" sz="2800" spc="-50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</a:rPr>
              <a:t>In </a:t>
            </a:r>
            <a:r>
              <a:rPr lang="en-US" sz="2800" b="1" i="1" dirty="0">
                <a:solidFill>
                  <a:schemeClr val="bg1">
                    <a:lumMod val="75000"/>
                  </a:schemeClr>
                </a:solidFill>
              </a:rPr>
              <a:t>Python</a:t>
            </a:r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</a:rPr>
              <a:t>variables are </a:t>
            </a:r>
            <a:r>
              <a:rPr lang="en-US" sz="2800" b="1" i="1" dirty="0">
                <a:solidFill>
                  <a:schemeClr val="bg1">
                    <a:lumMod val="75000"/>
                  </a:schemeClr>
                </a:solidFill>
              </a:rPr>
              <a:t>dynamically declared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</a:rPr>
              <a:t>so scopes are </a:t>
            </a:r>
            <a:r>
              <a:rPr lang="en-US" sz="2800" b="1" i="1" dirty="0">
                <a:solidFill>
                  <a:schemeClr val="bg1">
                    <a:lumMod val="75000"/>
                  </a:schemeClr>
                </a:solidFill>
              </a:rPr>
              <a:t>not necessarily tied to specific lines</a:t>
            </a:r>
            <a:r>
              <a:rPr lang="en-US" sz="2800" dirty="0">
                <a:solidFill>
                  <a:schemeClr val="bg1">
                    <a:lumMod val="75000"/>
                  </a:schemeClr>
                </a:solidFill>
              </a:rPr>
              <a:t> of code.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altLang="zh-TW" sz="2800" dirty="0"/>
              <a:t>A </a:t>
            </a:r>
            <a:r>
              <a:rPr lang="en-US" altLang="zh-TW" sz="2800" b="1" i="1" dirty="0" smtClean="0">
                <a:solidFill>
                  <a:srgbClr val="0000FF"/>
                </a:solidFill>
              </a:rPr>
              <a:t>global </a:t>
            </a:r>
            <a:r>
              <a:rPr lang="en-US" altLang="zh-TW" sz="2800" b="1" i="1" dirty="0">
                <a:solidFill>
                  <a:srgbClr val="0000FF"/>
                </a:solidFill>
              </a:rPr>
              <a:t>variable</a:t>
            </a:r>
            <a:r>
              <a:rPr lang="en-US" altLang="zh-TW" sz="2800" dirty="0"/>
              <a:t> can be accessed everywhere.</a:t>
            </a:r>
            <a:endParaRPr lang="en-US" altLang="zh-TW" sz="2000" dirty="0"/>
          </a:p>
          <a:p>
            <a:pPr marL="520700" lvl="1">
              <a:lnSpc>
                <a:spcPct val="100000"/>
              </a:lnSpc>
            </a:pPr>
            <a:r>
              <a:rPr lang="en-US" altLang="zh-TW" sz="2600" dirty="0" smtClean="0"/>
              <a:t>But</a:t>
            </a:r>
            <a:r>
              <a:rPr lang="en-US" altLang="zh-TW" sz="2400" dirty="0" smtClean="0"/>
              <a:t> </a:t>
            </a:r>
            <a:r>
              <a:rPr lang="en-US" altLang="zh-TW" sz="2600" dirty="0"/>
              <a:t>only</a:t>
            </a:r>
            <a:r>
              <a:rPr lang="en-US" altLang="zh-TW" sz="2400" dirty="0"/>
              <a:t> </a:t>
            </a:r>
            <a:r>
              <a:rPr lang="en-US" altLang="zh-TW" sz="2600" dirty="0"/>
              <a:t>after</a:t>
            </a:r>
            <a:r>
              <a:rPr lang="en-US" altLang="zh-TW" sz="2400" dirty="0"/>
              <a:t> </a:t>
            </a:r>
            <a:r>
              <a:rPr lang="en-US" altLang="zh-TW" sz="2600" dirty="0"/>
              <a:t>that</a:t>
            </a:r>
            <a:r>
              <a:rPr lang="en-US" altLang="zh-TW" sz="2400" dirty="0"/>
              <a:t> </a:t>
            </a:r>
            <a:r>
              <a:rPr lang="en-US" altLang="zh-TW" sz="2600" dirty="0"/>
              <a:t>(dynamic)</a:t>
            </a:r>
            <a:r>
              <a:rPr lang="en-US" altLang="zh-TW" sz="2400" dirty="0"/>
              <a:t> </a:t>
            </a:r>
            <a:r>
              <a:rPr lang="en-US" altLang="zh-TW" sz="2600" dirty="0"/>
              <a:t>moment</a:t>
            </a:r>
            <a:r>
              <a:rPr lang="en-US" altLang="zh-TW" sz="2400" dirty="0"/>
              <a:t> </a:t>
            </a:r>
            <a:r>
              <a:rPr lang="en-US" altLang="zh-TW" sz="2600" dirty="0"/>
              <a:t>when</a:t>
            </a:r>
            <a:r>
              <a:rPr lang="en-US" altLang="zh-TW" sz="2400" dirty="0"/>
              <a:t> </a:t>
            </a:r>
            <a:r>
              <a:rPr lang="en-US" altLang="zh-TW" sz="2600" dirty="0"/>
              <a:t>it</a:t>
            </a:r>
            <a:r>
              <a:rPr lang="en-US" altLang="zh-TW" sz="2400" dirty="0"/>
              <a:t>’</a:t>
            </a:r>
            <a:r>
              <a:rPr lang="en-US" altLang="zh-TW" sz="2600" dirty="0"/>
              <a:t>s</a:t>
            </a:r>
            <a:r>
              <a:rPr lang="en-US" altLang="zh-TW" sz="2400" dirty="0"/>
              <a:t> </a:t>
            </a:r>
            <a:r>
              <a:rPr lang="en-US" altLang="zh-TW" sz="2600" dirty="0"/>
              <a:t>declared.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US" sz="2800" spc="-40" dirty="0"/>
              <a:t>A</a:t>
            </a:r>
            <a:r>
              <a:rPr lang="en-US" sz="1800" spc="-40" dirty="0"/>
              <a:t> </a:t>
            </a:r>
            <a:r>
              <a:rPr lang="en-US" sz="2800" b="1" i="1" spc="-40" dirty="0">
                <a:solidFill>
                  <a:srgbClr val="0000FF"/>
                </a:solidFill>
              </a:rPr>
              <a:t>local</a:t>
            </a:r>
            <a:r>
              <a:rPr lang="en-US" sz="2000" b="1" i="1" spc="-40" dirty="0">
                <a:solidFill>
                  <a:srgbClr val="0000FF"/>
                </a:solidFill>
              </a:rPr>
              <a:t> </a:t>
            </a:r>
            <a:r>
              <a:rPr lang="en-US" sz="2800" b="1" i="1" spc="-40" dirty="0">
                <a:solidFill>
                  <a:srgbClr val="0000FF"/>
                </a:solidFill>
              </a:rPr>
              <a:t>variable</a:t>
            </a:r>
            <a:r>
              <a:rPr lang="en-US" sz="2400" spc="-40" dirty="0"/>
              <a:t> </a:t>
            </a:r>
            <a:r>
              <a:rPr lang="en-US" sz="2800" spc="-40" dirty="0"/>
              <a:t>can</a:t>
            </a:r>
            <a:r>
              <a:rPr lang="en-US" sz="2000" spc="-40" dirty="0"/>
              <a:t> </a:t>
            </a:r>
            <a:r>
              <a:rPr lang="en-US" sz="2800" spc="-40" dirty="0"/>
              <a:t>only</a:t>
            </a:r>
            <a:r>
              <a:rPr lang="en-US" sz="2000" spc="-40" dirty="0"/>
              <a:t> </a:t>
            </a:r>
            <a:r>
              <a:rPr lang="en-US" sz="2800" spc="-40" dirty="0"/>
              <a:t>be</a:t>
            </a:r>
            <a:r>
              <a:rPr lang="en-US" sz="2000" spc="-40" dirty="0"/>
              <a:t> </a:t>
            </a:r>
            <a:r>
              <a:rPr lang="en-US" sz="2800" spc="-40" dirty="0"/>
              <a:t>accessed</a:t>
            </a:r>
            <a:r>
              <a:rPr lang="en-US" sz="2400" spc="-40" dirty="0"/>
              <a:t> </a:t>
            </a:r>
            <a:r>
              <a:rPr lang="en-US" sz="2800" spc="-40" dirty="0"/>
              <a:t>inside</a:t>
            </a:r>
            <a:r>
              <a:rPr lang="en-US" sz="2400" spc="-40" dirty="0"/>
              <a:t> </a:t>
            </a:r>
            <a:r>
              <a:rPr lang="en-US" sz="2800" spc="-40" dirty="0" smtClean="0"/>
              <a:t>its creating</a:t>
            </a:r>
            <a:r>
              <a:rPr lang="en-US" sz="2400" spc="-40" dirty="0" smtClean="0"/>
              <a:t> </a:t>
            </a:r>
            <a:r>
              <a:rPr lang="en-US" sz="2800" spc="-40" dirty="0" smtClean="0"/>
              <a:t>function.</a:t>
            </a:r>
            <a:endParaRPr lang="en-US" sz="2800" spc="-40" dirty="0"/>
          </a:p>
          <a:p>
            <a:pPr marL="520700" lvl="1">
              <a:lnSpc>
                <a:spcPct val="100000"/>
              </a:lnSpc>
            </a:pPr>
            <a:r>
              <a:rPr lang="en-US" sz="2600" dirty="0"/>
              <a:t>That is to say: not even by functions called within that function.</a:t>
            </a:r>
          </a:p>
          <a:p>
            <a:pPr marL="863600" lvl="2" indent="-292100">
              <a:lnSpc>
                <a:spcPct val="100000"/>
              </a:lnSpc>
            </a:pPr>
            <a:r>
              <a:rPr lang="en-US" sz="2400" dirty="0"/>
              <a:t>Unless</a:t>
            </a:r>
            <a:r>
              <a:rPr lang="en-US" sz="2000" dirty="0"/>
              <a:t> </a:t>
            </a:r>
            <a:r>
              <a:rPr lang="en-US" sz="2400" dirty="0" smtClean="0"/>
              <a:t>it is</a:t>
            </a:r>
            <a:r>
              <a:rPr lang="en-US" sz="2000" dirty="0" smtClean="0"/>
              <a:t> </a:t>
            </a:r>
            <a:r>
              <a:rPr lang="en-US" sz="2400" dirty="0"/>
              <a:t>passed</a:t>
            </a:r>
            <a:r>
              <a:rPr lang="en-US" sz="2000" dirty="0"/>
              <a:t> </a:t>
            </a:r>
            <a:r>
              <a:rPr lang="en-US" sz="2400" dirty="0"/>
              <a:t>to</a:t>
            </a:r>
            <a:r>
              <a:rPr lang="en-US" sz="2000" dirty="0"/>
              <a:t> </a:t>
            </a:r>
            <a:r>
              <a:rPr lang="en-US" sz="2400" dirty="0"/>
              <a:t>those</a:t>
            </a:r>
            <a:r>
              <a:rPr lang="en-US" sz="2000" dirty="0"/>
              <a:t> </a:t>
            </a:r>
            <a:r>
              <a:rPr lang="en-US" sz="2400" dirty="0"/>
              <a:t>functions</a:t>
            </a:r>
            <a:r>
              <a:rPr lang="en-US" sz="2000" dirty="0"/>
              <a:t> </a:t>
            </a:r>
            <a:r>
              <a:rPr lang="en-US" sz="2400" dirty="0"/>
              <a:t>or</a:t>
            </a:r>
            <a:r>
              <a:rPr lang="en-US" sz="2000" dirty="0"/>
              <a:t> </a:t>
            </a:r>
            <a:r>
              <a:rPr lang="en-US" sz="2400" dirty="0"/>
              <a:t>is</a:t>
            </a:r>
            <a:r>
              <a:rPr lang="en-US" sz="2000" dirty="0"/>
              <a:t> </a:t>
            </a:r>
            <a:r>
              <a:rPr lang="en-US" sz="2400" dirty="0" smtClean="0"/>
              <a:t>declared to be</a:t>
            </a:r>
            <a:r>
              <a:rPr lang="en-US" sz="2000" dirty="0" smtClean="0"/>
              <a:t> </a:t>
            </a:r>
            <a:r>
              <a:rPr lang="en-US" sz="2400" b="1" i="1" dirty="0">
                <a:solidFill>
                  <a:srgbClr val="0000FF"/>
                </a:solidFill>
              </a:rPr>
              <a:t>nonlocal</a:t>
            </a:r>
            <a:r>
              <a:rPr lang="en-US" sz="2400" b="1" i="1" dirty="0"/>
              <a:t>.</a:t>
            </a:r>
            <a:endParaRPr lang="en-US" sz="24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88900"/>
            <a:ext cx="972674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rgbClr val="0070C0"/>
                </a:solidFill>
              </a:rPr>
              <a:t>The “Scope</a:t>
            </a:r>
            <a:r>
              <a:rPr lang="en-US" sz="4400" dirty="0" smtClean="0">
                <a:solidFill>
                  <a:srgbClr val="0070C0"/>
                </a:solidFill>
              </a:rPr>
              <a:t>” of a Variable</a:t>
            </a:r>
          </a:p>
        </p:txBody>
      </p:sp>
    </p:spTree>
    <p:extLst>
      <p:ext uri="{BB962C8B-B14F-4D97-AF65-F5344CB8AC3E}">
        <p14:creationId xmlns:p14="http://schemas.microsoft.com/office/powerpoint/2010/main" val="373433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11049</TotalTime>
  <Words>11994</Words>
  <Application>Microsoft Office PowerPoint</Application>
  <PresentationFormat>Custom</PresentationFormat>
  <Paragraphs>2836</Paragraphs>
  <Slides>179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179</vt:i4>
      </vt:variant>
    </vt:vector>
  </HeadingPairs>
  <TitlesOfParts>
    <vt:vector size="210" baseType="lpstr">
      <vt:lpstr>Arial Unicode MS</vt:lpstr>
      <vt:lpstr>LiSu</vt:lpstr>
      <vt:lpstr>ＭＳ Ｐゴシック</vt:lpstr>
      <vt:lpstr>ＭＳ Ｐゴシック</vt:lpstr>
      <vt:lpstr>新細明體</vt:lpstr>
      <vt:lpstr>Agency FB</vt:lpstr>
      <vt:lpstr>Arial</vt:lpstr>
      <vt:lpstr>Arial Black</vt:lpstr>
      <vt:lpstr>Arial Narrow</vt:lpstr>
      <vt:lpstr>Arial Rounded MT Bold</vt:lpstr>
      <vt:lpstr>Bahnschrift</vt:lpstr>
      <vt:lpstr>Bernard MT Condensed</vt:lpstr>
      <vt:lpstr>Calibri</vt:lpstr>
      <vt:lpstr>Calibri Light</vt:lpstr>
      <vt:lpstr>Consolas</vt:lpstr>
      <vt:lpstr>Cooper Black</vt:lpstr>
      <vt:lpstr>Courier New</vt:lpstr>
      <vt:lpstr>Ebrima</vt:lpstr>
      <vt:lpstr>Elephant</vt:lpstr>
      <vt:lpstr>Engravers MT</vt:lpstr>
      <vt:lpstr>Franklin Gothic Medium</vt:lpstr>
      <vt:lpstr>Leelawadee UI</vt:lpstr>
      <vt:lpstr>Lucida Console</vt:lpstr>
      <vt:lpstr>Lucida Fax</vt:lpstr>
      <vt:lpstr>Rockwell Extra Bold</vt:lpstr>
      <vt:lpstr>Symbol</vt:lpstr>
      <vt:lpstr>Times New Roman</vt:lpstr>
      <vt:lpstr>Wingdings</vt:lpstr>
      <vt:lpstr>Default Design</vt:lpstr>
      <vt:lpstr>Office Theme</vt:lpstr>
      <vt:lpstr>4_Office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Review example: These wrapper functions both behave just like print()</vt:lpstr>
      <vt:lpstr>PowerPoint Presentation</vt:lpstr>
      <vt:lpstr>PowerPoint Presentation</vt:lpstr>
      <vt:lpstr>PowerPoint Presentation</vt:lpstr>
      <vt:lpstr>PowerPoint Presentation</vt:lpstr>
      <vt:lpstr>Creating Singleton Tuples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variable names</dc:title>
  <dc:creator>Steve Haga</dc:creator>
  <cp:lastModifiedBy>Me</cp:lastModifiedBy>
  <cp:revision>501</cp:revision>
  <dcterms:created xsi:type="dcterms:W3CDTF">2017-03-07T03:26:49Z</dcterms:created>
  <dcterms:modified xsi:type="dcterms:W3CDTF">2021-03-30T10:23:49Z</dcterms:modified>
</cp:coreProperties>
</file>