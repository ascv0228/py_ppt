
<file path=[Content_Types].xml><?xml version="1.0" encoding="utf-8"?>
<Types xmlns="http://schemas.openxmlformats.org/package/2006/content-types">
  <Default Extension="jfif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84" r:id="rId2"/>
    <p:sldMasterId id="2147483696" r:id="rId3"/>
  </p:sldMasterIdLst>
  <p:notesMasterIdLst>
    <p:notesMasterId r:id="rId114"/>
  </p:notesMasterIdLst>
  <p:handoutMasterIdLst>
    <p:handoutMasterId r:id="rId115"/>
  </p:handoutMasterIdLst>
  <p:sldIdLst>
    <p:sldId id="901" r:id="rId4"/>
    <p:sldId id="902" r:id="rId5"/>
    <p:sldId id="860" r:id="rId6"/>
    <p:sldId id="862" r:id="rId7"/>
    <p:sldId id="861" r:id="rId8"/>
    <p:sldId id="863" r:id="rId9"/>
    <p:sldId id="889" r:id="rId10"/>
    <p:sldId id="890" r:id="rId11"/>
    <p:sldId id="891" r:id="rId12"/>
    <p:sldId id="864" r:id="rId13"/>
    <p:sldId id="865" r:id="rId14"/>
    <p:sldId id="866" r:id="rId15"/>
    <p:sldId id="867" r:id="rId16"/>
    <p:sldId id="868" r:id="rId17"/>
    <p:sldId id="869" r:id="rId18"/>
    <p:sldId id="870" r:id="rId19"/>
    <p:sldId id="871" r:id="rId20"/>
    <p:sldId id="872" r:id="rId21"/>
    <p:sldId id="873" r:id="rId22"/>
    <p:sldId id="888" r:id="rId23"/>
    <p:sldId id="887" r:id="rId24"/>
    <p:sldId id="631" r:id="rId25"/>
    <p:sldId id="845" r:id="rId26"/>
    <p:sldId id="820" r:id="rId27"/>
    <p:sldId id="903" r:id="rId28"/>
    <p:sldId id="839" r:id="rId29"/>
    <p:sldId id="611" r:id="rId30"/>
    <p:sldId id="838" r:id="rId31"/>
    <p:sldId id="616" r:id="rId32"/>
    <p:sldId id="617" r:id="rId33"/>
    <p:sldId id="618" r:id="rId34"/>
    <p:sldId id="619" r:id="rId35"/>
    <p:sldId id="622" r:id="rId36"/>
    <p:sldId id="623" r:id="rId37"/>
    <p:sldId id="624" r:id="rId38"/>
    <p:sldId id="625" r:id="rId39"/>
    <p:sldId id="626" r:id="rId40"/>
    <p:sldId id="627" r:id="rId41"/>
    <p:sldId id="840" r:id="rId42"/>
    <p:sldId id="824" r:id="rId43"/>
    <p:sldId id="639" r:id="rId44"/>
    <p:sldId id="641" r:id="rId45"/>
    <p:sldId id="642" r:id="rId46"/>
    <p:sldId id="643" r:id="rId47"/>
    <p:sldId id="644" r:id="rId48"/>
    <p:sldId id="651" r:id="rId49"/>
    <p:sldId id="628" r:id="rId50"/>
    <p:sldId id="850" r:id="rId51"/>
    <p:sldId id="894" r:id="rId52"/>
    <p:sldId id="892" r:id="rId53"/>
    <p:sldId id="846" r:id="rId54"/>
    <p:sldId id="847" r:id="rId55"/>
    <p:sldId id="848" r:id="rId56"/>
    <p:sldId id="693" r:id="rId57"/>
    <p:sldId id="694" r:id="rId58"/>
    <p:sldId id="855" r:id="rId59"/>
    <p:sldId id="695" r:id="rId60"/>
    <p:sldId id="696" r:id="rId61"/>
    <p:sldId id="843" r:id="rId62"/>
    <p:sldId id="697" r:id="rId63"/>
    <p:sldId id="698" r:id="rId64"/>
    <p:sldId id="844" r:id="rId65"/>
    <p:sldId id="851" r:id="rId66"/>
    <p:sldId id="852" r:id="rId67"/>
    <p:sldId id="853" r:id="rId68"/>
    <p:sldId id="849" r:id="rId69"/>
    <p:sldId id="856" r:id="rId70"/>
    <p:sldId id="858" r:id="rId71"/>
    <p:sldId id="897" r:id="rId72"/>
    <p:sldId id="895" r:id="rId73"/>
    <p:sldId id="896" r:id="rId74"/>
    <p:sldId id="899" r:id="rId75"/>
    <p:sldId id="898" r:id="rId76"/>
    <p:sldId id="900" r:id="rId77"/>
    <p:sldId id="635" r:id="rId78"/>
    <p:sldId id="702" r:id="rId79"/>
    <p:sldId id="884" r:id="rId80"/>
    <p:sldId id="703" r:id="rId81"/>
    <p:sldId id="706" r:id="rId82"/>
    <p:sldId id="704" r:id="rId83"/>
    <p:sldId id="663" r:id="rId84"/>
    <p:sldId id="686" r:id="rId85"/>
    <p:sldId id="678" r:id="rId86"/>
    <p:sldId id="685" r:id="rId87"/>
    <p:sldId id="690" r:id="rId88"/>
    <p:sldId id="688" r:id="rId89"/>
    <p:sldId id="689" r:id="rId90"/>
    <p:sldId id="692" r:id="rId91"/>
    <p:sldId id="683" r:id="rId92"/>
    <p:sldId id="691" r:id="rId93"/>
    <p:sldId id="684" r:id="rId94"/>
    <p:sldId id="708" r:id="rId95"/>
    <p:sldId id="819" r:id="rId96"/>
    <p:sldId id="633" r:id="rId97"/>
    <p:sldId id="634" r:id="rId98"/>
    <p:sldId id="654" r:id="rId99"/>
    <p:sldId id="653" r:id="rId100"/>
    <p:sldId id="590" r:id="rId101"/>
    <p:sldId id="591" r:id="rId102"/>
    <p:sldId id="707" r:id="rId103"/>
    <p:sldId id="877" r:id="rId104"/>
    <p:sldId id="829" r:id="rId105"/>
    <p:sldId id="830" r:id="rId106"/>
    <p:sldId id="878" r:id="rId107"/>
    <p:sldId id="832" r:id="rId108"/>
    <p:sldId id="879" r:id="rId109"/>
    <p:sldId id="880" r:id="rId110"/>
    <p:sldId id="881" r:id="rId111"/>
    <p:sldId id="882" r:id="rId112"/>
    <p:sldId id="883" r:id="rId1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B9"/>
    <a:srgbClr val="D97373"/>
    <a:srgbClr val="FF99FF"/>
    <a:srgbClr val="BFBFBF"/>
    <a:srgbClr val="B2B2B2"/>
    <a:srgbClr val="969696"/>
    <a:srgbClr val="DF5050"/>
    <a:srgbClr val="606060"/>
    <a:srgbClr val="DF5A5A"/>
    <a:srgbClr val="DF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2" autoAdjust="0"/>
    <p:restoredTop sz="94103" autoAdjust="0"/>
  </p:normalViewPr>
  <p:slideViewPr>
    <p:cSldViewPr>
      <p:cViewPr varScale="1">
        <p:scale>
          <a:sx n="86" d="100"/>
          <a:sy n="86" d="100"/>
        </p:scale>
        <p:origin x="1373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viewProps" Target="viewProps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theme" Target="theme/theme1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2CD3497-8034-4B7C-8079-30ED79BBBC0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65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703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92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104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460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451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237B5F0F-4982-4A43-AC78-B6371C509A7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184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20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4156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601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86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952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182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285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598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5654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20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913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21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038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5B7E9486-EDDC-4DFA-8203-DF66E0FCAE80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22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8492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23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8212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291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249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27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6342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28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78877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A81B20C3-515D-4A7C-86E7-ED572C54B17F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29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596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260E208A-ABF6-4D79-B3DA-5207AFD5B575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30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9411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53822B2-EE95-4FBB-9311-2C3110EC853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31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43385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FA382B70-92C3-4AEB-B347-FB1E7DF8A8E6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32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5484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40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3102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41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45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42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3097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43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2602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44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6237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45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9591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46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4886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27B31E6-A583-4518-A2CA-B71790968F55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47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21884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48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9411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49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8498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2074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3218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8959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69339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90284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0865DE5A-5E7F-4FC8-AF56-149B92A923B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4173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2014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6861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0520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4471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92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26105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93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5201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9BFE112-C377-4BCE-B81D-05CA901F435B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94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2877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A9FA42C-6CD1-4F7F-A094-B3037CF884E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95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4300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96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9797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97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32112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98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414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/>
              <a:pPr eaLnBrk="1" hangingPunct="1"/>
              <a:t>99</a:t>
            </a:fld>
            <a:endParaRPr lang="en-GB" altLang="en-US" sz="1200"/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6107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/>
              <a:pPr eaLnBrk="1" hangingPunct="1"/>
              <a:t>100</a:t>
            </a:fld>
            <a:endParaRPr lang="en-GB" altLang="en-US" sz="1200"/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744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56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3602038"/>
            <a:ext cx="6858000" cy="1655762"/>
          </a:xfrm>
        </p:spPr>
        <p:txBody>
          <a:bodyPr/>
          <a:lstStyle>
            <a:lvl1pPr marL="0" indent="0" algn="ctr">
              <a:buNone/>
              <a:defRPr sz="2254"/>
            </a:lvl1pPr>
            <a:lvl2pPr marL="429311" indent="0" algn="ctr">
              <a:buNone/>
              <a:defRPr sz="1878"/>
            </a:lvl2pPr>
            <a:lvl3pPr marL="858622" indent="0" algn="ctr">
              <a:buNone/>
              <a:defRPr sz="1690"/>
            </a:lvl3pPr>
            <a:lvl4pPr marL="1287932" indent="0" algn="ctr">
              <a:buNone/>
              <a:defRPr sz="1502"/>
            </a:lvl4pPr>
            <a:lvl5pPr marL="1717243" indent="0" algn="ctr">
              <a:buNone/>
              <a:defRPr sz="1502"/>
            </a:lvl5pPr>
            <a:lvl6pPr marL="2146554" indent="0" algn="ctr">
              <a:buNone/>
              <a:defRPr sz="1502"/>
            </a:lvl6pPr>
            <a:lvl7pPr marL="2575865" indent="0" algn="ctr">
              <a:buNone/>
              <a:defRPr sz="1502"/>
            </a:lvl7pPr>
            <a:lvl8pPr marL="3005176" indent="0" algn="ctr">
              <a:buNone/>
              <a:defRPr sz="1502"/>
            </a:lvl8pPr>
            <a:lvl9pPr marL="3434486" indent="0" algn="ctr">
              <a:buNone/>
              <a:defRPr sz="150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388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705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defRPr sz="56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254">
                <a:solidFill>
                  <a:schemeClr val="tx1"/>
                </a:solidFill>
              </a:defRPr>
            </a:lvl1pPr>
            <a:lvl2pPr marL="429311" indent="0">
              <a:buNone/>
              <a:defRPr sz="1878">
                <a:solidFill>
                  <a:schemeClr val="tx1">
                    <a:tint val="75000"/>
                  </a:schemeClr>
                </a:solidFill>
              </a:defRPr>
            </a:lvl2pPr>
            <a:lvl3pPr marL="858622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3pPr>
            <a:lvl4pPr marL="1287932" indent="0">
              <a:buNone/>
              <a:defRPr sz="1502">
                <a:solidFill>
                  <a:schemeClr val="tx1">
                    <a:tint val="75000"/>
                  </a:schemeClr>
                </a:solidFill>
              </a:defRPr>
            </a:lvl4pPr>
            <a:lvl5pPr marL="1717243" indent="0">
              <a:buNone/>
              <a:defRPr sz="1502">
                <a:solidFill>
                  <a:schemeClr val="tx1">
                    <a:tint val="75000"/>
                  </a:schemeClr>
                </a:solidFill>
              </a:defRPr>
            </a:lvl5pPr>
            <a:lvl6pPr marL="2146554" indent="0">
              <a:buNone/>
              <a:defRPr sz="1502">
                <a:solidFill>
                  <a:schemeClr val="tx1">
                    <a:tint val="75000"/>
                  </a:schemeClr>
                </a:solidFill>
              </a:defRPr>
            </a:lvl6pPr>
            <a:lvl7pPr marL="2575865" indent="0">
              <a:buNone/>
              <a:defRPr sz="1502">
                <a:solidFill>
                  <a:schemeClr val="tx1">
                    <a:tint val="75000"/>
                  </a:schemeClr>
                </a:solidFill>
              </a:defRPr>
            </a:lvl7pPr>
            <a:lvl8pPr marL="3005176" indent="0">
              <a:buNone/>
              <a:defRPr sz="1502">
                <a:solidFill>
                  <a:schemeClr val="tx1">
                    <a:tint val="75000"/>
                  </a:schemeClr>
                </a:solidFill>
              </a:defRPr>
            </a:lvl8pPr>
            <a:lvl9pPr marL="3434486" indent="0">
              <a:buNone/>
              <a:defRPr sz="15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99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98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1" cy="82391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311" indent="0">
              <a:buNone/>
              <a:defRPr sz="1878" b="1"/>
            </a:lvl2pPr>
            <a:lvl3pPr marL="858622" indent="0">
              <a:buNone/>
              <a:defRPr sz="1690" b="1"/>
            </a:lvl3pPr>
            <a:lvl4pPr marL="1287932" indent="0">
              <a:buNone/>
              <a:defRPr sz="1502" b="1"/>
            </a:lvl4pPr>
            <a:lvl5pPr marL="1717243" indent="0">
              <a:buNone/>
              <a:defRPr sz="1502" b="1"/>
            </a:lvl5pPr>
            <a:lvl6pPr marL="2146554" indent="0">
              <a:buNone/>
              <a:defRPr sz="1502" b="1"/>
            </a:lvl6pPr>
            <a:lvl7pPr marL="2575865" indent="0">
              <a:buNone/>
              <a:defRPr sz="1502" b="1"/>
            </a:lvl7pPr>
            <a:lvl8pPr marL="3005176" indent="0">
              <a:buNone/>
              <a:defRPr sz="1502" b="1"/>
            </a:lvl8pPr>
            <a:lvl9pPr marL="3434486" indent="0">
              <a:buNone/>
              <a:defRPr sz="15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311" indent="0">
              <a:buNone/>
              <a:defRPr sz="1878" b="1"/>
            </a:lvl2pPr>
            <a:lvl3pPr marL="858622" indent="0">
              <a:buNone/>
              <a:defRPr sz="1690" b="1"/>
            </a:lvl3pPr>
            <a:lvl4pPr marL="1287932" indent="0">
              <a:buNone/>
              <a:defRPr sz="1502" b="1"/>
            </a:lvl4pPr>
            <a:lvl5pPr marL="1717243" indent="0">
              <a:buNone/>
              <a:defRPr sz="1502" b="1"/>
            </a:lvl5pPr>
            <a:lvl6pPr marL="2146554" indent="0">
              <a:buNone/>
              <a:defRPr sz="1502" b="1"/>
            </a:lvl6pPr>
            <a:lvl7pPr marL="2575865" indent="0">
              <a:buNone/>
              <a:defRPr sz="1502" b="1"/>
            </a:lvl7pPr>
            <a:lvl8pPr marL="3005176" indent="0">
              <a:buNone/>
              <a:defRPr sz="1502" b="1"/>
            </a:lvl8pPr>
            <a:lvl9pPr marL="3434486" indent="0">
              <a:buNone/>
              <a:defRPr sz="15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095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090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85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0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9"/>
            <a:ext cx="4629150" cy="4873625"/>
          </a:xfrm>
        </p:spPr>
        <p:txBody>
          <a:bodyPr/>
          <a:lstStyle>
            <a:lvl1pPr>
              <a:defRPr sz="3005"/>
            </a:lvl1pPr>
            <a:lvl2pPr>
              <a:defRPr sz="2629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502"/>
            </a:lvl1pPr>
            <a:lvl2pPr marL="429311" indent="0">
              <a:buNone/>
              <a:defRPr sz="1315"/>
            </a:lvl2pPr>
            <a:lvl3pPr marL="858622" indent="0">
              <a:buNone/>
              <a:defRPr sz="1127"/>
            </a:lvl3pPr>
            <a:lvl4pPr marL="1287932" indent="0">
              <a:buNone/>
              <a:defRPr sz="939"/>
            </a:lvl4pPr>
            <a:lvl5pPr marL="1717243" indent="0">
              <a:buNone/>
              <a:defRPr sz="939"/>
            </a:lvl5pPr>
            <a:lvl6pPr marL="2146554" indent="0">
              <a:buNone/>
              <a:defRPr sz="939"/>
            </a:lvl6pPr>
            <a:lvl7pPr marL="2575865" indent="0">
              <a:buNone/>
              <a:defRPr sz="939"/>
            </a:lvl7pPr>
            <a:lvl8pPr marL="3005176" indent="0">
              <a:buNone/>
              <a:defRPr sz="939"/>
            </a:lvl8pPr>
            <a:lvl9pPr marL="3434486" indent="0">
              <a:buNone/>
              <a:defRPr sz="9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710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0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9"/>
            <a:ext cx="4629150" cy="4873625"/>
          </a:xfrm>
        </p:spPr>
        <p:txBody>
          <a:bodyPr anchor="t"/>
          <a:lstStyle>
            <a:lvl1pPr marL="0" indent="0">
              <a:buNone/>
              <a:defRPr sz="3005"/>
            </a:lvl1pPr>
            <a:lvl2pPr marL="429311" indent="0">
              <a:buNone/>
              <a:defRPr sz="2629"/>
            </a:lvl2pPr>
            <a:lvl3pPr marL="858622" indent="0">
              <a:buNone/>
              <a:defRPr sz="2254"/>
            </a:lvl3pPr>
            <a:lvl4pPr marL="1287932" indent="0">
              <a:buNone/>
              <a:defRPr sz="1878"/>
            </a:lvl4pPr>
            <a:lvl5pPr marL="1717243" indent="0">
              <a:buNone/>
              <a:defRPr sz="1878"/>
            </a:lvl5pPr>
            <a:lvl6pPr marL="2146554" indent="0">
              <a:buNone/>
              <a:defRPr sz="1878"/>
            </a:lvl6pPr>
            <a:lvl7pPr marL="2575865" indent="0">
              <a:buNone/>
              <a:defRPr sz="1878"/>
            </a:lvl7pPr>
            <a:lvl8pPr marL="3005176" indent="0">
              <a:buNone/>
              <a:defRPr sz="1878"/>
            </a:lvl8pPr>
            <a:lvl9pPr marL="3434486" indent="0">
              <a:buNone/>
              <a:defRPr sz="18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502"/>
            </a:lvl1pPr>
            <a:lvl2pPr marL="429311" indent="0">
              <a:buNone/>
              <a:defRPr sz="1315"/>
            </a:lvl2pPr>
            <a:lvl3pPr marL="858622" indent="0">
              <a:buNone/>
              <a:defRPr sz="1127"/>
            </a:lvl3pPr>
            <a:lvl4pPr marL="1287932" indent="0">
              <a:buNone/>
              <a:defRPr sz="939"/>
            </a:lvl4pPr>
            <a:lvl5pPr marL="1717243" indent="0">
              <a:buNone/>
              <a:defRPr sz="939"/>
            </a:lvl5pPr>
            <a:lvl6pPr marL="2146554" indent="0">
              <a:buNone/>
              <a:defRPr sz="939"/>
            </a:lvl6pPr>
            <a:lvl7pPr marL="2575865" indent="0">
              <a:buNone/>
              <a:defRPr sz="939"/>
            </a:lvl7pPr>
            <a:lvl8pPr marL="3005176" indent="0">
              <a:buNone/>
              <a:defRPr sz="939"/>
            </a:lvl8pPr>
            <a:lvl9pPr marL="3434486" indent="0">
              <a:buNone/>
              <a:defRPr sz="9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003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192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5677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1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683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3159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75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311" indent="0">
              <a:buNone/>
              <a:defRPr sz="1690"/>
            </a:lvl2pPr>
            <a:lvl3pPr marL="858622" indent="0">
              <a:buNone/>
              <a:defRPr sz="1502"/>
            </a:lvl3pPr>
            <a:lvl4pPr marL="1287932" indent="0">
              <a:buNone/>
              <a:defRPr sz="1315"/>
            </a:lvl4pPr>
            <a:lvl5pPr marL="1717243" indent="0">
              <a:buNone/>
              <a:defRPr sz="1315"/>
            </a:lvl5pPr>
            <a:lvl6pPr marL="2146554" indent="0">
              <a:buNone/>
              <a:defRPr sz="1315"/>
            </a:lvl6pPr>
            <a:lvl7pPr marL="2575865" indent="0">
              <a:buNone/>
              <a:defRPr sz="1315"/>
            </a:lvl7pPr>
            <a:lvl8pPr marL="3005176" indent="0">
              <a:buNone/>
              <a:defRPr sz="1315"/>
            </a:lvl8pPr>
            <a:lvl9pPr marL="3434486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74891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1" y="1676400"/>
            <a:ext cx="3962400" cy="4572000"/>
          </a:xfrm>
        </p:spPr>
        <p:txBody>
          <a:bodyPr/>
          <a:lstStyle>
            <a:lvl1pPr>
              <a:defRPr sz="2629"/>
            </a:lvl1pPr>
            <a:lvl2pPr>
              <a:defRPr sz="2254"/>
            </a:lvl2pPr>
            <a:lvl3pPr>
              <a:defRPr sz="1878"/>
            </a:lvl3pPr>
            <a:lvl4pPr>
              <a:defRPr sz="1690"/>
            </a:lvl4pPr>
            <a:lvl5pPr>
              <a:defRPr sz="1690"/>
            </a:lvl5pPr>
            <a:lvl6pPr>
              <a:defRPr sz="1690"/>
            </a:lvl6pPr>
            <a:lvl7pPr>
              <a:defRPr sz="1690"/>
            </a:lvl7pPr>
            <a:lvl8pPr>
              <a:defRPr sz="1690"/>
            </a:lvl8pPr>
            <a:lvl9pPr>
              <a:defRPr sz="16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29"/>
            </a:lvl1pPr>
            <a:lvl2pPr>
              <a:defRPr sz="2254"/>
            </a:lvl2pPr>
            <a:lvl3pPr>
              <a:defRPr sz="1878"/>
            </a:lvl3pPr>
            <a:lvl4pPr>
              <a:defRPr sz="1690"/>
            </a:lvl4pPr>
            <a:lvl5pPr>
              <a:defRPr sz="1690"/>
            </a:lvl5pPr>
            <a:lvl6pPr>
              <a:defRPr sz="1690"/>
            </a:lvl6pPr>
            <a:lvl7pPr>
              <a:defRPr sz="1690"/>
            </a:lvl7pPr>
            <a:lvl8pPr>
              <a:defRPr sz="1690"/>
            </a:lvl8pPr>
            <a:lvl9pPr>
              <a:defRPr sz="16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503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311" indent="0">
              <a:buNone/>
              <a:defRPr sz="1878" b="1"/>
            </a:lvl2pPr>
            <a:lvl3pPr marL="858622" indent="0">
              <a:buNone/>
              <a:defRPr sz="1690" b="1"/>
            </a:lvl3pPr>
            <a:lvl4pPr marL="1287932" indent="0">
              <a:buNone/>
              <a:defRPr sz="1502" b="1"/>
            </a:lvl4pPr>
            <a:lvl5pPr marL="1717243" indent="0">
              <a:buNone/>
              <a:defRPr sz="1502" b="1"/>
            </a:lvl5pPr>
            <a:lvl6pPr marL="2146554" indent="0">
              <a:buNone/>
              <a:defRPr sz="1502" b="1"/>
            </a:lvl6pPr>
            <a:lvl7pPr marL="2575865" indent="0">
              <a:buNone/>
              <a:defRPr sz="1502" b="1"/>
            </a:lvl7pPr>
            <a:lvl8pPr marL="3005176" indent="0">
              <a:buNone/>
              <a:defRPr sz="1502" b="1"/>
            </a:lvl8pPr>
            <a:lvl9pPr marL="3434486" indent="0">
              <a:buNone/>
              <a:defRPr sz="15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0"/>
            </a:lvl3pPr>
            <a:lvl4pPr>
              <a:defRPr sz="1502"/>
            </a:lvl4pPr>
            <a:lvl5pPr>
              <a:defRPr sz="1502"/>
            </a:lvl5pPr>
            <a:lvl6pPr>
              <a:defRPr sz="1502"/>
            </a:lvl6pPr>
            <a:lvl7pPr>
              <a:defRPr sz="1502"/>
            </a:lvl7pPr>
            <a:lvl8pPr>
              <a:defRPr sz="1502"/>
            </a:lvl8pPr>
            <a:lvl9pPr>
              <a:defRPr sz="15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311" indent="0">
              <a:buNone/>
              <a:defRPr sz="1878" b="1"/>
            </a:lvl2pPr>
            <a:lvl3pPr marL="858622" indent="0">
              <a:buNone/>
              <a:defRPr sz="1690" b="1"/>
            </a:lvl3pPr>
            <a:lvl4pPr marL="1287932" indent="0">
              <a:buNone/>
              <a:defRPr sz="1502" b="1"/>
            </a:lvl4pPr>
            <a:lvl5pPr marL="1717243" indent="0">
              <a:buNone/>
              <a:defRPr sz="1502" b="1"/>
            </a:lvl5pPr>
            <a:lvl6pPr marL="2146554" indent="0">
              <a:buNone/>
              <a:defRPr sz="1502" b="1"/>
            </a:lvl6pPr>
            <a:lvl7pPr marL="2575865" indent="0">
              <a:buNone/>
              <a:defRPr sz="1502" b="1"/>
            </a:lvl7pPr>
            <a:lvl8pPr marL="3005176" indent="0">
              <a:buNone/>
              <a:defRPr sz="1502" b="1"/>
            </a:lvl8pPr>
            <a:lvl9pPr marL="3434486" indent="0">
              <a:buNone/>
              <a:defRPr sz="15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0"/>
            </a:lvl3pPr>
            <a:lvl4pPr>
              <a:defRPr sz="1502"/>
            </a:lvl4pPr>
            <a:lvl5pPr>
              <a:defRPr sz="1502"/>
            </a:lvl5pPr>
            <a:lvl6pPr>
              <a:defRPr sz="1502"/>
            </a:lvl6pPr>
            <a:lvl7pPr>
              <a:defRPr sz="1502"/>
            </a:lvl7pPr>
            <a:lvl8pPr>
              <a:defRPr sz="1502"/>
            </a:lvl8pPr>
            <a:lvl9pPr>
              <a:defRPr sz="15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9651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73471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9012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29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311" indent="0">
              <a:buNone/>
              <a:defRPr sz="1127"/>
            </a:lvl2pPr>
            <a:lvl3pPr marL="858622" indent="0">
              <a:buNone/>
              <a:defRPr sz="939"/>
            </a:lvl3pPr>
            <a:lvl4pPr marL="1287932" indent="0">
              <a:buNone/>
              <a:defRPr sz="845"/>
            </a:lvl4pPr>
            <a:lvl5pPr marL="1717243" indent="0">
              <a:buNone/>
              <a:defRPr sz="845"/>
            </a:lvl5pPr>
            <a:lvl6pPr marL="2146554" indent="0">
              <a:buNone/>
              <a:defRPr sz="845"/>
            </a:lvl6pPr>
            <a:lvl7pPr marL="2575865" indent="0">
              <a:buNone/>
              <a:defRPr sz="845"/>
            </a:lvl7pPr>
            <a:lvl8pPr marL="3005176" indent="0">
              <a:buNone/>
              <a:defRPr sz="845"/>
            </a:lvl8pPr>
            <a:lvl9pPr marL="3434486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375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311" indent="0">
              <a:buNone/>
              <a:defRPr sz="2629"/>
            </a:lvl2pPr>
            <a:lvl3pPr marL="858622" indent="0">
              <a:buNone/>
              <a:defRPr sz="2254"/>
            </a:lvl3pPr>
            <a:lvl4pPr marL="1287932" indent="0">
              <a:buNone/>
              <a:defRPr sz="1878"/>
            </a:lvl4pPr>
            <a:lvl5pPr marL="1717243" indent="0">
              <a:buNone/>
              <a:defRPr sz="1878"/>
            </a:lvl5pPr>
            <a:lvl6pPr marL="2146554" indent="0">
              <a:buNone/>
              <a:defRPr sz="1878"/>
            </a:lvl6pPr>
            <a:lvl7pPr marL="2575865" indent="0">
              <a:buNone/>
              <a:defRPr sz="1878"/>
            </a:lvl7pPr>
            <a:lvl8pPr marL="3005176" indent="0">
              <a:buNone/>
              <a:defRPr sz="1878"/>
            </a:lvl8pPr>
            <a:lvl9pPr marL="3434486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311" indent="0">
              <a:buNone/>
              <a:defRPr sz="1127"/>
            </a:lvl2pPr>
            <a:lvl3pPr marL="858622" indent="0">
              <a:buNone/>
              <a:defRPr sz="939"/>
            </a:lvl3pPr>
            <a:lvl4pPr marL="1287932" indent="0">
              <a:buNone/>
              <a:defRPr sz="845"/>
            </a:lvl4pPr>
            <a:lvl5pPr marL="1717243" indent="0">
              <a:buNone/>
              <a:defRPr sz="845"/>
            </a:lvl5pPr>
            <a:lvl6pPr marL="2146554" indent="0">
              <a:buNone/>
              <a:defRPr sz="845"/>
            </a:lvl6pPr>
            <a:lvl7pPr marL="2575865" indent="0">
              <a:buNone/>
              <a:defRPr sz="845"/>
            </a:lvl7pPr>
            <a:lvl8pPr marL="3005176" indent="0">
              <a:buNone/>
              <a:defRPr sz="845"/>
            </a:lvl8pPr>
            <a:lvl9pPr marL="3434486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3715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7318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21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5/18/2021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862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58622" rtl="0" eaLnBrk="1" latinLnBrk="0" hangingPunct="1">
        <a:lnSpc>
          <a:spcPct val="90000"/>
        </a:lnSpc>
        <a:spcBef>
          <a:spcPct val="0"/>
        </a:spcBef>
        <a:buNone/>
        <a:defRPr sz="41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655" indent="-214655" algn="l" defTabSz="858622" rtl="0" eaLnBrk="1" latinLnBrk="0" hangingPunct="1">
        <a:lnSpc>
          <a:spcPct val="90000"/>
        </a:lnSpc>
        <a:spcBef>
          <a:spcPts val="939"/>
        </a:spcBef>
        <a:buFont typeface="Arial" panose="020B0604020202020204" pitchFamily="34" charset="0"/>
        <a:buChar char="•"/>
        <a:defRPr sz="2629" kern="1200">
          <a:solidFill>
            <a:schemeClr val="tx1"/>
          </a:solidFill>
          <a:latin typeface="+mn-lt"/>
          <a:ea typeface="+mn-ea"/>
          <a:cs typeface="+mn-cs"/>
        </a:defRPr>
      </a:lvl1pPr>
      <a:lvl2pPr marL="643966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4" kern="1200">
          <a:solidFill>
            <a:schemeClr val="tx1"/>
          </a:solidFill>
          <a:latin typeface="+mn-lt"/>
          <a:ea typeface="+mn-ea"/>
          <a:cs typeface="+mn-cs"/>
        </a:defRPr>
      </a:lvl2pPr>
      <a:lvl3pPr marL="1073277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3pPr>
      <a:lvl4pPr marL="1502588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4pPr>
      <a:lvl5pPr marL="1931899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5pPr>
      <a:lvl6pPr marL="2361209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6pPr>
      <a:lvl7pPr marL="2790520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7pPr>
      <a:lvl8pPr marL="3219831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8pPr>
      <a:lvl9pPr marL="3649142" indent="-214655" algn="l" defTabSz="858622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29311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2pPr>
      <a:lvl3pPr marL="858622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3pPr>
      <a:lvl4pPr marL="1287932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4pPr>
      <a:lvl5pPr marL="1717243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5pPr>
      <a:lvl6pPr marL="2146554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6pPr>
      <a:lvl7pPr marL="2575865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7pPr>
      <a:lvl8pPr marL="3005176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8pPr>
      <a:lvl9pPr marL="3434486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15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2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311" algn="ctr" rtl="0" eaLnBrk="1" fontAlgn="base" hangingPunct="1">
        <a:spcBef>
          <a:spcPct val="0"/>
        </a:spcBef>
        <a:spcAft>
          <a:spcPct val="0"/>
        </a:spcAft>
        <a:defRPr sz="3380">
          <a:solidFill>
            <a:srgbClr val="222222"/>
          </a:solidFill>
          <a:latin typeface="Arial" charset="0"/>
        </a:defRPr>
      </a:lvl6pPr>
      <a:lvl7pPr marL="858622" algn="ctr" rtl="0" eaLnBrk="1" fontAlgn="base" hangingPunct="1">
        <a:spcBef>
          <a:spcPct val="0"/>
        </a:spcBef>
        <a:spcAft>
          <a:spcPct val="0"/>
        </a:spcAft>
        <a:defRPr sz="3380">
          <a:solidFill>
            <a:srgbClr val="222222"/>
          </a:solidFill>
          <a:latin typeface="Arial" charset="0"/>
        </a:defRPr>
      </a:lvl7pPr>
      <a:lvl8pPr marL="1287932" algn="ctr" rtl="0" eaLnBrk="1" fontAlgn="base" hangingPunct="1">
        <a:spcBef>
          <a:spcPct val="0"/>
        </a:spcBef>
        <a:spcAft>
          <a:spcPct val="0"/>
        </a:spcAft>
        <a:defRPr sz="3380">
          <a:solidFill>
            <a:srgbClr val="222222"/>
          </a:solidFill>
          <a:latin typeface="Arial" charset="0"/>
        </a:defRPr>
      </a:lvl8pPr>
      <a:lvl9pPr marL="1717243" algn="ctr" rtl="0" eaLnBrk="1" fontAlgn="base" hangingPunct="1">
        <a:spcBef>
          <a:spcPct val="0"/>
        </a:spcBef>
        <a:spcAft>
          <a:spcPct val="0"/>
        </a:spcAft>
        <a:defRPr sz="3380">
          <a:solidFill>
            <a:srgbClr val="222222"/>
          </a:solidFill>
          <a:latin typeface="Arial" charset="0"/>
        </a:defRPr>
      </a:lvl9pPr>
    </p:titleStyle>
    <p:bodyStyle>
      <a:lvl1pPr marL="321983" indent="-321983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1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630" indent="-268319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277" indent="-214655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588" indent="-214655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1899" indent="-214655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209" indent="-214655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0520" indent="-214655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19831" indent="-214655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49142" indent="-214655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29311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2pPr>
      <a:lvl3pPr marL="858622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3pPr>
      <a:lvl4pPr marL="1287932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4pPr>
      <a:lvl5pPr marL="1717243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5pPr>
      <a:lvl6pPr marL="2146554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6pPr>
      <a:lvl7pPr marL="2575865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7pPr>
      <a:lvl8pPr marL="3005176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8pPr>
      <a:lvl9pPr marL="3434486" algn="l" defTabSz="858622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609600" y="2286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Class will be online </a:t>
            </a:r>
            <a:b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</a:br>
            <a: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from next week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457200" y="2133600"/>
            <a:ext cx="8001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This slide demonstrates the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Recorded Slide Show format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It must be played to hear the audio.</a:t>
            </a: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1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439"/>
    </mc:Choice>
    <mc:Fallback xmlns="">
      <p:transition spd="slow" advTm="55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048" x="5822950" y="4140200"/>
          <p14:tracePt t="13341" x="6000750" y="4235450"/>
          <p14:tracePt t="13355" x="6254750" y="4394200"/>
          <p14:tracePt t="13377" x="6559550" y="4559300"/>
          <p14:tracePt t="13391" x="6838950" y="4724400"/>
          <p14:tracePt t="13404" x="7086600" y="4851400"/>
          <p14:tracePt t="13425" x="7289800" y="4984750"/>
          <p14:tracePt t="13440" x="7473950" y="5092700"/>
          <p14:tracePt t="13454" x="7651750" y="5200650"/>
          <p14:tracePt t="13474" x="7804150" y="5289550"/>
          <p14:tracePt t="13488" x="7893050" y="5346700"/>
          <p14:tracePt t="13502" x="7988300" y="5416550"/>
          <p14:tracePt t="13522" x="8083550" y="5480050"/>
          <p14:tracePt t="13536" x="8204200" y="5549900"/>
          <p14:tracePt t="13551" x="8312150" y="5613400"/>
          <p14:tracePt t="13567" x="8458200" y="5708650"/>
          <p14:tracePt t="13579" x="8553450" y="5772150"/>
          <p14:tracePt t="13593" x="8655050" y="5835650"/>
          <p14:tracePt t="13607" x="8731250" y="5892800"/>
          <p14:tracePt t="13621" x="8801100" y="5943600"/>
          <p14:tracePt t="13635" x="8858250" y="5981700"/>
          <p14:tracePt t="13650" x="8915400" y="6019800"/>
          <p14:tracePt t="13664" x="8959850" y="6057900"/>
          <p14:tracePt t="13681" x="8991600" y="6083300"/>
          <p14:tracePt t="13699" x="9048750" y="6127750"/>
          <p14:tracePt t="13715" x="9055100" y="6153150"/>
          <p14:tracePt t="13732" x="9067800" y="6159500"/>
          <p14:tracePt t="13748" x="9067800" y="6165850"/>
          <p14:tracePt t="13769" x="9074150" y="6172200"/>
          <p14:tracePt t="13860" x="9067800" y="6172200"/>
          <p14:tracePt t="13888" x="9061450" y="6178550"/>
          <p14:tracePt t="13902" x="9055100" y="6191250"/>
          <p14:tracePt t="13916" x="9029700" y="6203950"/>
          <p14:tracePt t="13929" x="9004300" y="6229350"/>
          <p14:tracePt t="13944" x="8959850" y="6273800"/>
          <p14:tracePt t="13950" x="8902700" y="6324600"/>
          <p14:tracePt t="13968" x="8839200" y="6375400"/>
          <p14:tracePt t="13980" x="8794750" y="6432550"/>
          <p14:tracePt t="13997" x="8756650" y="6464300"/>
          <p14:tracePt t="14014" x="8737600" y="6489700"/>
          <p14:tracePt t="14031" x="8731250" y="6496050"/>
          <p14:tracePt t="14047" x="8724900" y="6502400"/>
          <p14:tracePt t="14063" x="8718550" y="6515100"/>
          <p14:tracePt t="14080" x="8718550" y="6521450"/>
          <p14:tracePt t="14097" x="8712200" y="6534150"/>
          <p14:tracePt t="14113" x="8712200" y="6540500"/>
          <p14:tracePt t="14130" x="8705850" y="6559550"/>
          <p14:tracePt t="14147" x="8699500" y="6597650"/>
          <p14:tracePt t="14163" x="8693150" y="6629400"/>
          <p14:tracePt t="14180" x="8693150" y="6667500"/>
          <p14:tracePt t="14197" x="8680450" y="6711950"/>
          <p14:tracePt t="14213" x="8680450" y="6718300"/>
          <p14:tracePt t="14231" x="8674100" y="6743700"/>
          <p14:tracePt t="14246" x="8667750" y="6756400"/>
          <p14:tracePt t="14263" x="8661400" y="6769100"/>
          <p14:tracePt t="14280" x="8648700" y="6788150"/>
          <p14:tracePt t="14296" x="8636000" y="6788150"/>
          <p14:tracePt t="14313" x="8629650" y="6794500"/>
          <p14:tracePt t="14330" x="8623300" y="6794500"/>
          <p14:tracePt t="14357" x="8616950" y="6794500"/>
          <p14:tracePt t="14455" x="8629650" y="6788150"/>
          <p14:tracePt t="14469" x="8642350" y="6781800"/>
          <p14:tracePt t="14483" x="8667750" y="6781800"/>
          <p14:tracePt t="14490" x="8705850" y="6781800"/>
          <p14:tracePt t="14504" x="8763000" y="6781800"/>
          <p14:tracePt t="14517" x="8826500" y="6781800"/>
          <p14:tracePt t="14532" x="8877300" y="6781800"/>
          <p14:tracePt t="14548" x="8902700" y="6781800"/>
          <p14:tracePt t="14562" x="8921750" y="6781800"/>
          <p14:tracePt t="14578" x="8934450" y="6781800"/>
          <p14:tracePt t="14595" x="8940800" y="6781800"/>
          <p14:tracePt t="14651" x="8934450" y="6781800"/>
          <p14:tracePt t="14693" x="8921750" y="6781800"/>
          <p14:tracePt t="14699" x="8915400" y="6775450"/>
          <p14:tracePt t="14714" x="8902700" y="6769100"/>
          <p14:tracePt t="14730" x="8883650" y="6756400"/>
          <p14:tracePt t="14744" x="8851900" y="6737350"/>
          <p14:tracePt t="14761" x="8813800" y="6705600"/>
          <p14:tracePt t="14778" x="8782050" y="6673850"/>
          <p14:tracePt t="14794" x="8750300" y="6635750"/>
          <p14:tracePt t="14812" x="8718550" y="6572250"/>
          <p14:tracePt t="14827" x="8699500" y="6540500"/>
          <p14:tracePt t="14844" x="8699500" y="6515100"/>
          <p14:tracePt t="14861" x="8699500" y="6502400"/>
          <p14:tracePt t="14877" x="8699500" y="6470650"/>
          <p14:tracePt t="14894" x="8705850" y="6457950"/>
          <p14:tracePt t="14911" x="8737600" y="6432550"/>
          <p14:tracePt t="14927" x="8743950" y="6432550"/>
          <p14:tracePt t="14943" x="8769350" y="6426200"/>
          <p14:tracePt t="14947" x="8782050" y="6426200"/>
          <p14:tracePt t="14960" x="8794750" y="6432550"/>
          <p14:tracePt t="14977" x="8801100" y="6438900"/>
          <p14:tracePt t="14994" x="8807450" y="6438900"/>
          <p14:tracePt t="15010" x="8813800" y="6445250"/>
          <p14:tracePt t="15027" x="8813800" y="6451600"/>
          <p14:tracePt t="15043" x="8826500" y="6457950"/>
          <p14:tracePt t="15060" x="8826500" y="6464300"/>
          <p14:tracePt t="15077" x="8826500" y="6477000"/>
          <p14:tracePt t="15093" x="8826500" y="6502400"/>
          <p14:tracePt t="15109" x="8807450" y="6521450"/>
          <p14:tracePt t="15127" x="8782050" y="6553200"/>
          <p14:tracePt t="15143" x="8737600" y="6591300"/>
          <p14:tracePt t="15159" x="8693150" y="6616700"/>
          <p14:tracePt t="15177" x="8661400" y="6635750"/>
          <p14:tracePt t="15193" x="8616950" y="6642100"/>
          <p14:tracePt t="15209" x="8597900" y="6648450"/>
          <p14:tracePt t="15226" x="8578850" y="6648450"/>
          <p14:tracePt t="15246" x="8572500" y="6648450"/>
          <p14:tracePt t="15302" x="8578850" y="6648450"/>
          <p14:tracePt t="15372" x="8585200" y="6648450"/>
          <p14:tracePt t="15400" x="8585200" y="6642100"/>
          <p14:tracePt t="15428" x="8585200" y="6629400"/>
          <p14:tracePt t="15443" x="8585200" y="6623050"/>
          <p14:tracePt t="15469" x="8585200" y="6616700"/>
          <p14:tracePt t="15512" x="8585200" y="6604000"/>
          <p14:tracePt t="15540" x="8591550" y="6597650"/>
          <p14:tracePt t="15561" x="8597900" y="6597650"/>
          <p14:tracePt t="15589" x="8604250" y="6591300"/>
          <p14:tracePt t="15602" x="8610600" y="6591300"/>
          <p14:tracePt t="15618" x="8629650" y="6591300"/>
          <p14:tracePt t="15631" x="8636000" y="6591300"/>
          <p14:tracePt t="15646" x="8655050" y="6591300"/>
          <p14:tracePt t="15661" x="8674100" y="6591300"/>
          <p14:tracePt t="15674" x="8680450" y="6597650"/>
          <p14:tracePt t="15691" x="8693150" y="6597650"/>
          <p14:tracePt t="15751" x="8693150" y="6610350"/>
          <p14:tracePt t="15807" x="8693150" y="6616700"/>
          <p14:tracePt t="15835" x="8693150" y="6623050"/>
          <p14:tracePt t="15863" x="8686800" y="6629400"/>
          <p14:tracePt t="15890" x="8680450" y="6629400"/>
          <p14:tracePt t="15939" x="8674100" y="6623050"/>
          <p14:tracePt t="15967" x="8674100" y="6610350"/>
          <p14:tracePt t="15982" x="8674100" y="6597650"/>
          <p14:tracePt t="15995" x="8699500" y="6572250"/>
          <p14:tracePt t="16009" x="8724900" y="6527800"/>
          <p14:tracePt t="16025" x="8769350" y="6483350"/>
          <p14:tracePt t="16037" x="8839200" y="6445250"/>
          <p14:tracePt t="16044" x="8921750" y="6394450"/>
          <p14:tracePt t="16060" x="8991600" y="6362700"/>
          <p14:tracePt t="16073" x="9067800" y="6330950"/>
          <p14:tracePt t="16090" x="9124950" y="6330950"/>
          <p14:tracePt t="16306" x="9112250" y="6540500"/>
          <p14:tracePt t="16322" x="9074150" y="6578600"/>
          <p14:tracePt t="16339" x="8972550" y="6673850"/>
          <p14:tracePt t="16356" x="8902700" y="6711950"/>
          <p14:tracePt t="16373" x="8832850" y="6762750"/>
          <p14:tracePt t="16375" x="8756650" y="6781800"/>
          <p14:tracePt t="16389" x="8699500" y="6794500"/>
          <p14:tracePt t="16405" x="8648700" y="6794500"/>
          <p14:tracePt t="16423" x="8623300" y="6794500"/>
          <p14:tracePt t="16438" x="8591550" y="6788150"/>
          <p14:tracePt t="16455" x="8572500" y="6781800"/>
          <p14:tracePt t="16472" x="8534400" y="6756400"/>
          <p14:tracePt t="16488" x="8528050" y="6743700"/>
          <p14:tracePt t="16506" x="8521700" y="6731000"/>
          <p14:tracePt t="16522" x="8515350" y="6699250"/>
          <p14:tracePt t="16538" x="8509000" y="6673850"/>
          <p14:tracePt t="16555" x="8509000" y="6629400"/>
          <p14:tracePt t="16571" x="8502650" y="6610350"/>
          <p14:tracePt t="16588" x="8496300" y="6578600"/>
          <p14:tracePt t="16605" x="8496300" y="6572250"/>
          <p14:tracePt t="16622" x="8496300" y="6559550"/>
          <p14:tracePt t="16640" x="8496300" y="6540500"/>
          <p14:tracePt t="16655" x="8496300" y="6534150"/>
          <p14:tracePt t="16682" x="8502650" y="6527800"/>
          <p14:tracePt t="16691" x="8509000" y="6521450"/>
          <p14:tracePt t="16704" x="8521700" y="6521450"/>
          <p14:tracePt t="16721" x="8528050" y="6515100"/>
          <p14:tracePt t="16738" x="8547100" y="6515100"/>
          <p14:tracePt t="16754" x="8566150" y="6508750"/>
          <p14:tracePt t="16771" x="8604250" y="6508750"/>
          <p14:tracePt t="16788" x="8712200" y="6521450"/>
          <p14:tracePt t="16804" x="8750300" y="6540500"/>
          <p14:tracePt t="16822" x="8858250" y="6616700"/>
          <p14:tracePt t="16837" x="8915400" y="6661150"/>
          <p14:tracePt t="16853" x="8953500" y="6711950"/>
          <p14:tracePt t="16871" x="9004300" y="6794500"/>
          <p14:tracePt t="16887" x="9004300" y="6819900"/>
          <p14:tracePt t="16904" x="9004300" y="6838950"/>
          <p14:tracePt t="16920" x="8997950" y="6851650"/>
          <p14:tracePt t="16937" x="8978900" y="6851650"/>
          <p14:tracePt t="16953" x="8947150" y="6851650"/>
          <p14:tracePt t="16970" x="8928100" y="6851650"/>
          <p14:tracePt t="16987" x="8909050" y="6851650"/>
          <p14:tracePt t="17004" x="8851900" y="6851650"/>
          <p14:tracePt t="17020" x="8826500" y="6845300"/>
          <p14:tracePt t="17037" x="8801100" y="6845300"/>
          <p14:tracePt t="17054" x="8756650" y="6832600"/>
          <p14:tracePt t="17070" x="8750300" y="6819900"/>
          <p14:tracePt t="17087" x="8731250" y="6813550"/>
          <p14:tracePt t="17103" x="8724900" y="6794500"/>
          <p14:tracePt t="17122" x="8718550" y="6794500"/>
          <p14:tracePt t="17137" x="8718550" y="6775450"/>
          <p14:tracePt t="17153" x="8718550" y="6762750"/>
          <p14:tracePt t="17170" x="8718550" y="6743700"/>
          <p14:tracePt t="17187" x="8724900" y="6699250"/>
          <p14:tracePt t="17202" x="8743950" y="6667500"/>
          <p14:tracePt t="17219" x="8756650" y="6648450"/>
          <p14:tracePt t="17236" x="8782050" y="6623050"/>
          <p14:tracePt t="17252" x="8788400" y="6616700"/>
          <p14:tracePt t="17271" x="8794750" y="6610350"/>
          <p14:tracePt t="17291" x="8801100" y="6610350"/>
          <p14:tracePt t="17312" x="8807450" y="6604000"/>
          <p14:tracePt t="17452" x="8807450" y="6610350"/>
          <p14:tracePt t="17473" x="8801100" y="6610350"/>
          <p14:tracePt t="17488" x="8794750" y="6616700"/>
          <p14:tracePt t="17502" x="8788400" y="6616700"/>
          <p14:tracePt t="17536" x="8782050" y="6616700"/>
          <p14:tracePt t="17550" x="8763000" y="6616700"/>
          <p14:tracePt t="17564" x="8743950" y="6616700"/>
          <p14:tracePt t="17578" x="8712200" y="6616700"/>
          <p14:tracePt t="17593" x="8693150" y="6616700"/>
          <p14:tracePt t="17606" x="8667750" y="6610350"/>
          <p14:tracePt t="17621" x="8655050" y="6604000"/>
          <p14:tracePt t="17637" x="8655050" y="6597650"/>
          <p14:tracePt t="17655" x="8655050" y="6591300"/>
          <p14:tracePt t="17880" x="8648700" y="6591300"/>
          <p14:tracePt t="17894" x="0" y="0"/>
        </p14:tracePtLst>
        <p14:tracePtLst>
          <p14:tracePt t="25358" x="8610600" y="6457950"/>
          <p14:tracePt t="25595" x="8616950" y="6477000"/>
          <p14:tracePt t="25609" x="8616950" y="6496050"/>
          <p14:tracePt t="25625" x="8623300" y="6508750"/>
          <p14:tracePt t="25644" x="8623300" y="6515100"/>
          <p14:tracePt t="25659" x="8629650" y="6527800"/>
          <p14:tracePt t="25674" x="8636000" y="6540500"/>
          <p14:tracePt t="25693" x="8636000" y="6553200"/>
          <p14:tracePt t="25708" x="8648700" y="6565900"/>
          <p14:tracePt t="25721" x="8655050" y="6591300"/>
          <p14:tracePt t="25743" x="8667750" y="6604000"/>
          <p14:tracePt t="25758" x="8693150" y="6623050"/>
          <p14:tracePt t="25771" x="8712200" y="6648450"/>
          <p14:tracePt t="25792" x="8743950" y="6667500"/>
          <p14:tracePt t="25807" x="8769350" y="6692900"/>
          <p14:tracePt t="25820" x="8801100" y="6737350"/>
          <p14:tracePt t="25833" x="8826500" y="6769100"/>
          <p14:tracePt t="25855" x="8877300" y="6819900"/>
          <p14:tracePt t="25869" x="8928100" y="6851650"/>
          <p14:tracePt t="25883" x="8966200" y="6851650"/>
          <p14:tracePt t="25904" x="9004300" y="6851650"/>
          <p14:tracePt t="25918" x="9029700" y="6851650"/>
          <p14:tracePt t="25932" x="9042400" y="6851650"/>
          <p14:tracePt t="25953" x="9055100" y="6851650"/>
          <p14:tracePt t="25967" x="9061450" y="6851650"/>
          <p14:tracePt t="26177" x="9061450" y="6845300"/>
          <p14:tracePt t="26212" x="9061450" y="6838950"/>
          <p14:tracePt t="26226" x="9061450" y="6832600"/>
          <p14:tracePt t="26247" x="9061450" y="6826250"/>
          <p14:tracePt t="26261" x="9061450" y="6819900"/>
          <p14:tracePt t="26275" x="9061450" y="6813550"/>
          <p14:tracePt t="26310" x="9061450" y="6800850"/>
          <p14:tracePt t="26338" x="9055100" y="6794500"/>
          <p14:tracePt t="26359" x="9048750" y="6781800"/>
          <p14:tracePt t="26373" x="9036050" y="6775450"/>
          <p14:tracePt t="26388" x="9004300" y="6756400"/>
          <p14:tracePt t="26408" x="8972550" y="6743700"/>
          <p14:tracePt t="26422" x="8921750" y="6731000"/>
          <p14:tracePt t="26436" x="8890000" y="6718300"/>
          <p14:tracePt t="26457" x="8864600" y="6711950"/>
          <p14:tracePt t="26472" x="8845550" y="6711950"/>
          <p14:tracePt t="26485" x="8832850" y="6711950"/>
          <p14:tracePt t="26506" x="8820150" y="6711950"/>
          <p14:tracePt t="26555" x="8813800" y="6711950"/>
          <p14:tracePt t="26667" x="8820150" y="6718300"/>
          <p14:tracePt t="26702" x="8826500" y="6718300"/>
          <p14:tracePt t="26730" x="8832850" y="6724650"/>
          <p14:tracePt t="26779" x="8839200" y="6731000"/>
          <p14:tracePt t="26828" x="8845550" y="6731000"/>
          <p14:tracePt t="26863" x="8845550" y="6718300"/>
          <p14:tracePt t="26891" x="8851900" y="6711950"/>
          <p14:tracePt t="26912" x="8858250" y="6711950"/>
          <p14:tracePt t="26926" x="8870950" y="6699250"/>
          <p14:tracePt t="26940" x="8883650" y="6692900"/>
          <p14:tracePt t="26961" x="8902700" y="6686550"/>
          <p14:tracePt t="26975" x="8928100" y="6686550"/>
          <p14:tracePt t="26989" x="8966200" y="6686550"/>
          <p14:tracePt t="27010" x="8997950" y="6711950"/>
          <p14:tracePt t="27024" x="9029700" y="6737350"/>
          <p14:tracePt t="27038" x="9055100" y="6756400"/>
          <p14:tracePt t="27059" x="9061450" y="6788150"/>
          <p14:tracePt t="27073" x="9067800" y="6800850"/>
          <p14:tracePt t="27087" x="9067800" y="6819900"/>
          <p14:tracePt t="27108" x="9067800" y="6832600"/>
          <p14:tracePt t="27122" x="9061450" y="6838950"/>
          <p14:tracePt t="27137" x="9042400" y="6838950"/>
          <p14:tracePt t="27157" x="9029700" y="6838950"/>
          <p14:tracePt t="27171" x="9017000" y="6838950"/>
          <p14:tracePt t="27186" x="9004300" y="6826250"/>
          <p14:tracePt t="27206" x="8985250" y="6819900"/>
          <p14:tracePt t="27220" x="8972550" y="6800850"/>
          <p14:tracePt t="27235" x="8953500" y="6788150"/>
          <p14:tracePt t="27255" x="8953500" y="6781800"/>
          <p14:tracePt t="27270" x="8947150" y="6781800"/>
          <p14:tracePt t="27283" x="8940800" y="6775450"/>
          <p14:tracePt t="27297" x="8940800" y="6769100"/>
          <p14:tracePt t="27319" x="8934450" y="6762750"/>
          <p14:tracePt t="27332" x="8934450" y="6750050"/>
          <p14:tracePt t="27346" x="8934450" y="6737350"/>
          <p14:tracePt t="27369" x="8934450" y="6731000"/>
          <p14:tracePt t="27381" x="8934450" y="6724650"/>
          <p14:tracePt t="27395" x="8934450" y="6718300"/>
          <p14:tracePt t="27479" x="8934450" y="6711950"/>
          <p14:tracePt t="27528" x="8940800" y="6711950"/>
          <p14:tracePt t="27542" x="8947150" y="6711950"/>
          <p14:tracePt t="27577" x="8947150" y="6718300"/>
          <p14:tracePt t="27640" x="8947150" y="6724650"/>
          <p14:tracePt t="27675" x="8947150" y="6731000"/>
          <p14:tracePt t="27710" x="8947150" y="6737350"/>
          <p14:tracePt t="27738" x="8940800" y="6737350"/>
          <p14:tracePt t="27773" x="8934450" y="6737350"/>
          <p14:tracePt t="27871" x="8934450" y="6731000"/>
          <p14:tracePt t="27920" x="8940800" y="6731000"/>
          <p14:tracePt t="28033" x="8947150" y="6731000"/>
          <p14:tracePt t="28067" x="8953500" y="6731000"/>
          <p14:tracePt t="28083" x="8959850" y="6724650"/>
          <p14:tracePt t="28095" x="8966200" y="6724650"/>
          <p14:tracePt t="28123" x="8978900" y="6724650"/>
          <p14:tracePt t="28137" x="8985250" y="6724650"/>
          <p14:tracePt t="28151" x="8991600" y="6724650"/>
          <p14:tracePt t="28166" x="9017000" y="6724650"/>
          <p14:tracePt t="28180" x="9042400" y="6724650"/>
          <p14:tracePt t="28194" x="9074150" y="6731000"/>
          <p14:tracePt t="28201" x="9099550" y="6737350"/>
          <p14:tracePt t="28222" x="9124950" y="6750050"/>
          <p14:tracePt t="28236" x="9131300" y="6756400"/>
          <p14:tracePt t="28251" x="9131300" y="6769100"/>
          <p14:tracePt t="28271" x="9131300" y="6781800"/>
          <p14:tracePt t="28285" x="9118600" y="6788150"/>
          <p14:tracePt t="28300" x="9086850" y="6800850"/>
          <p14:tracePt t="28320" x="9055100" y="6807200"/>
          <p14:tracePt t="28334" x="9036050" y="6819900"/>
          <p14:tracePt t="28350" x="9017000" y="6819900"/>
          <p14:tracePt t="28369" x="9004300" y="6819900"/>
          <p14:tracePt t="28384" x="8991600" y="6819900"/>
          <p14:tracePt t="28401" x="8985250" y="6813550"/>
          <p14:tracePt t="28418" x="8985250" y="6807200"/>
          <p14:tracePt t="28433" x="8985250" y="6800850"/>
          <p14:tracePt t="28447" x="8985250" y="6794500"/>
          <p14:tracePt t="28469" x="8991600" y="6788150"/>
          <p14:tracePt t="28483" x="8991600" y="6781800"/>
          <p14:tracePt t="28498" x="8997950" y="6775450"/>
          <p14:tracePt t="28517" x="9004300" y="6775450"/>
          <p14:tracePt t="28544" x="9010650" y="6775450"/>
          <p14:tracePt t="28579" x="9017000" y="6775450"/>
          <p14:tracePt t="28677" x="9023350" y="6775450"/>
          <p14:tracePt t="28691" x="9023350" y="6769100"/>
          <p14:tracePt t="28705" x="9023350" y="6762750"/>
          <p14:tracePt t="28740" x="9023350" y="6756400"/>
          <p14:tracePt t="28761" x="9036050" y="6756400"/>
          <p14:tracePt t="28789" x="9048750" y="6756400"/>
          <p14:tracePt t="28803" x="9055100" y="6756400"/>
          <p14:tracePt t="28817" x="9074150" y="6756400"/>
          <p14:tracePt t="28831" x="9080500" y="6756400"/>
          <p14:tracePt t="28846" x="9093200" y="6769100"/>
          <p14:tracePt t="28866" x="9099550" y="6775450"/>
          <p14:tracePt t="28880" x="9099550" y="6794500"/>
          <p14:tracePt t="28894" x="9099550" y="6807200"/>
          <p14:tracePt t="28908" x="9080500" y="6826250"/>
          <p14:tracePt t="28930" x="9067800" y="6832600"/>
          <p14:tracePt t="28943" x="9055100" y="6838950"/>
          <p14:tracePt t="28957" x="9042400" y="6838950"/>
          <p14:tracePt t="28979" x="9036050" y="6845300"/>
          <p14:tracePt t="28992" x="9029700" y="6845300"/>
          <p14:tracePt t="29042" x="9023350" y="6851650"/>
          <p14:tracePt t="29104" x="9017000" y="6851650"/>
          <p14:tracePt t="29125" x="0" y="0"/>
        </p14:tracePtLst>
        <p14:tracePtLst>
          <p14:tracePt t="32303" x="8540750" y="6299200"/>
          <p14:tracePt t="32478" x="8489950" y="6280150"/>
          <p14:tracePt t="32491" x="8426450" y="6254750"/>
          <p14:tracePt t="32506" x="8369300" y="6210300"/>
          <p14:tracePt t="32527" x="8324850" y="6203950"/>
          <p14:tracePt t="32541" x="8274050" y="6184900"/>
          <p14:tracePt t="32554" x="8242300" y="6178550"/>
          <p14:tracePt t="32577" x="8223250" y="6172200"/>
          <p14:tracePt t="32590" x="8191500" y="6165850"/>
          <p14:tracePt t="32604" x="8178800" y="6165850"/>
          <p14:tracePt t="32625" x="8159750" y="6159500"/>
          <p14:tracePt t="32638" x="8147050" y="6153150"/>
          <p14:tracePt t="32653" x="8128000" y="6146800"/>
          <p14:tracePt t="32674" x="8108950" y="6134100"/>
          <p14:tracePt t="32688" x="8102600" y="6115050"/>
          <p14:tracePt t="32702" x="8083550" y="6102350"/>
          <p14:tracePt t="32723" x="8077200" y="6076950"/>
          <p14:tracePt t="32737" x="8070850" y="6051550"/>
          <p14:tracePt t="32751" x="8064500" y="6026150"/>
          <p14:tracePt t="32767" x="8051800" y="5994400"/>
          <p14:tracePt t="32786" x="8058150" y="5969000"/>
          <p14:tracePt t="32801" x="8064500" y="5937250"/>
          <p14:tracePt t="32813" x="8070850" y="5880100"/>
          <p14:tracePt t="32835" x="8089900" y="5854700"/>
          <p14:tracePt t="32850" x="8121650" y="5803900"/>
          <p14:tracePt t="32863" x="8159750" y="5778500"/>
          <p14:tracePt t="32884" x="8204200" y="5753100"/>
          <p14:tracePt t="32899" x="8280400" y="5721350"/>
          <p14:tracePt t="32912" x="8362950" y="5702300"/>
          <p14:tracePt t="32933" x="8451850" y="5695950"/>
          <p14:tracePt t="32947" x="8528050" y="5683250"/>
          <p14:tracePt t="32961" x="8604250" y="5683250"/>
          <p14:tracePt t="32968" x="8642350" y="5683250"/>
          <p14:tracePt t="32984" x="8674100" y="5683250"/>
          <p14:tracePt t="32998" x="8686800" y="5689600"/>
          <p14:tracePt t="33014" x="8699500" y="5695950"/>
          <p14:tracePt t="33031" x="8718550" y="5708650"/>
          <p14:tracePt t="33047" x="8731250" y="5721350"/>
          <p14:tracePt t="33067" x="8756650" y="5753100"/>
          <p14:tracePt t="33081" x="8763000" y="5765800"/>
          <p14:tracePt t="33098" x="8769350" y="5784850"/>
          <p14:tracePt t="33116" x="8775700" y="5848350"/>
          <p14:tracePt t="33131" x="8775700" y="5873750"/>
          <p14:tracePt t="33148" x="8775700" y="5905500"/>
          <p14:tracePt t="33165" x="8756650" y="5937250"/>
          <p14:tracePt t="33181" x="8743950" y="5969000"/>
          <p14:tracePt t="33198" x="8705850" y="6013450"/>
          <p14:tracePt t="33216" x="8623300" y="6096000"/>
          <p14:tracePt t="33230" x="8566150" y="6134100"/>
          <p14:tracePt t="33248" x="8483600" y="6184900"/>
          <p14:tracePt t="33264" x="8407400" y="6210300"/>
          <p14:tracePt t="33280" x="8324850" y="6242050"/>
          <p14:tracePt t="33298" x="8172450" y="6273800"/>
          <p14:tracePt t="33314" x="8115300" y="6273800"/>
          <p14:tracePt t="33330" x="8077200" y="6267450"/>
          <p14:tracePt t="33347" x="8045450" y="6254750"/>
          <p14:tracePt t="33363" x="8026400" y="6242050"/>
          <p14:tracePt t="33381" x="8001000" y="6216650"/>
          <p14:tracePt t="33396" x="7988300" y="6184900"/>
          <p14:tracePt t="33413" x="7981950" y="6165850"/>
          <p14:tracePt t="33431" x="7969250" y="6127750"/>
          <p14:tracePt t="33447" x="7962900" y="6096000"/>
          <p14:tracePt t="33463" x="7962900" y="6057900"/>
          <p14:tracePt t="33480" x="7962900" y="5994400"/>
          <p14:tracePt t="33496" x="7962900" y="5943600"/>
          <p14:tracePt t="33515" x="7962900" y="5803900"/>
          <p14:tracePt t="33529" x="7969250" y="5721350"/>
          <p14:tracePt t="33550" x="7988300" y="5657850"/>
          <p14:tracePt t="33566" x="8013700" y="5600700"/>
          <p14:tracePt t="33579" x="8051800" y="5556250"/>
          <p14:tracePt t="33599" x="8108950" y="5537200"/>
          <p14:tracePt t="33614" x="8159750" y="5530850"/>
          <p14:tracePt t="33629" x="8223250" y="5530850"/>
          <p14:tracePt t="33649" x="8305800" y="5543550"/>
          <p14:tracePt t="33662" x="8369300" y="5549900"/>
          <p14:tracePt t="33679" x="8413750" y="5568950"/>
          <p14:tracePt t="33698" x="8432800" y="5588000"/>
          <p14:tracePt t="33712" x="8445500" y="5613400"/>
          <p14:tracePt t="33729" x="8451850" y="5632450"/>
          <p14:tracePt t="33748" x="8451850" y="5657850"/>
          <p14:tracePt t="33762" x="8445500" y="5689600"/>
          <p14:tracePt t="33779" x="8413750" y="5721350"/>
          <p14:tracePt t="33795" x="8375650" y="5772150"/>
          <p14:tracePt t="33812" x="8343900" y="5803900"/>
          <p14:tracePt t="33830" x="8280400" y="5842000"/>
          <p14:tracePt t="33845" x="8210550" y="5892800"/>
          <p14:tracePt t="33862" x="8140700" y="5943600"/>
          <p14:tracePt t="33879" x="8077200" y="5969000"/>
          <p14:tracePt t="33895" x="8007350" y="6000750"/>
          <p14:tracePt t="33912" x="7950200" y="6019800"/>
          <p14:tracePt t="33929" x="7899400" y="6026150"/>
          <p14:tracePt t="33944" x="7880350" y="6026150"/>
          <p14:tracePt t="33961" x="7848600" y="6019800"/>
          <p14:tracePt t="33978" x="7829550" y="6007100"/>
          <p14:tracePt t="33995" x="7804150" y="5981700"/>
          <p14:tracePt t="34012" x="7791450" y="5949950"/>
          <p14:tracePt t="34028" x="7772400" y="5930900"/>
          <p14:tracePt t="34045" x="7766050" y="5899150"/>
          <p14:tracePt t="34061" x="7753350" y="5867400"/>
          <p14:tracePt t="34079" x="7753350" y="5842000"/>
          <p14:tracePt t="34096" x="7753350" y="5803900"/>
          <p14:tracePt t="34111" x="7753350" y="5784850"/>
          <p14:tracePt t="34128" x="7778750" y="5734050"/>
          <p14:tracePt t="34145" x="7797800" y="5708650"/>
          <p14:tracePt t="34161" x="7848600" y="5670550"/>
          <p14:tracePt t="34178" x="7886700" y="5657850"/>
          <p14:tracePt t="34194" x="7956550" y="5638800"/>
          <p14:tracePt t="34210" x="8045450" y="5613400"/>
          <p14:tracePt t="34229" x="8159750" y="5613400"/>
          <p14:tracePt t="34230" x="8286750" y="5613400"/>
          <p14:tracePt t="34250" x="8413750" y="5632450"/>
          <p14:tracePt t="34264" x="8528050" y="5664200"/>
          <p14:tracePt t="34280" x="8623300" y="5695950"/>
          <p14:tracePt t="34293" x="8686800" y="5715000"/>
          <p14:tracePt t="34310" x="8731250" y="5721350"/>
          <p14:tracePt t="34327" x="8750300" y="5734050"/>
          <p14:tracePt t="34343" x="8756650" y="5734050"/>
          <p14:tracePt t="34376" x="8750300" y="5746750"/>
          <p14:tracePt t="34390" x="8737600" y="5759450"/>
          <p14:tracePt t="34411" x="8712200" y="5772150"/>
          <p14:tracePt t="34424" x="8693150" y="5784850"/>
          <p14:tracePt t="34439" x="8674100" y="5803900"/>
          <p14:tracePt t="34461" x="8636000" y="5835650"/>
          <p14:tracePt t="34474" x="8604250" y="5861050"/>
          <p14:tracePt t="34488" x="8559800" y="5886450"/>
          <p14:tracePt t="34501" x="8515350" y="5905500"/>
          <p14:tracePt t="34522" x="8477250" y="5918200"/>
          <p14:tracePt t="34537" x="8445500" y="5924550"/>
          <p14:tracePt t="34550" x="8394700" y="5924550"/>
          <p14:tracePt t="34572" x="8362950" y="5918200"/>
          <p14:tracePt t="34586" x="8331200" y="5892800"/>
          <p14:tracePt t="34600" x="8305800" y="5861050"/>
          <p14:tracePt t="34621" x="8280400" y="5829300"/>
          <p14:tracePt t="34635" x="8267700" y="5797550"/>
          <p14:tracePt t="34649" x="8255000" y="5727700"/>
          <p14:tracePt t="34670" x="8235950" y="5676900"/>
          <p14:tracePt t="34684" x="8229600" y="5581650"/>
          <p14:tracePt t="34697" x="8216900" y="5505450"/>
          <p14:tracePt t="34718" x="8216900" y="5454650"/>
          <p14:tracePt t="34733" x="8216900" y="5403850"/>
          <p14:tracePt t="34747" x="8229600" y="5372100"/>
          <p14:tracePt t="34768" x="8242300" y="5353050"/>
          <p14:tracePt t="34782" x="8255000" y="5334000"/>
          <p14:tracePt t="34796" x="8267700" y="5327650"/>
          <p14:tracePt t="34817" x="8286750" y="5327650"/>
          <p14:tracePt t="34831" x="8299450" y="5327650"/>
          <p14:tracePt t="34845" x="8312150" y="5327650"/>
          <p14:tracePt t="34867" x="0" y="0"/>
        </p14:tracePtLst>
        <p14:tracePtLst>
          <p14:tracePt t="39472" x="8426450" y="5422900"/>
          <p14:tracePt t="39786" x="8426450" y="5448300"/>
          <p14:tracePt t="39800" x="8432800" y="5486400"/>
          <p14:tracePt t="39814" x="8464550" y="5562600"/>
          <p14:tracePt t="39836" x="8515350" y="5670550"/>
          <p14:tracePt t="39849" x="8566150" y="5791200"/>
          <p14:tracePt t="39863" x="8623300" y="5924550"/>
          <p14:tracePt t="39885" x="8693150" y="6045200"/>
          <p14:tracePt t="39898" x="8743950" y="6165850"/>
          <p14:tracePt t="39912" x="8788400" y="6248400"/>
          <p14:tracePt t="39934" x="8801100" y="6286500"/>
          <p14:tracePt t="39947" x="8820150" y="6318250"/>
          <p14:tracePt t="39962" x="8826500" y="6324600"/>
          <p14:tracePt t="39983" x="8826500" y="6337300"/>
          <p14:tracePt t="39996" x="8820150" y="6350000"/>
          <p14:tracePt t="40010" x="8794750" y="6375400"/>
          <p14:tracePt t="40025" x="8775700" y="6394450"/>
          <p14:tracePt t="40046" x="8750300" y="6407150"/>
          <p14:tracePt t="40060" x="8731250" y="6426200"/>
          <p14:tracePt t="40075" x="8705850" y="6432550"/>
          <p14:tracePt t="40095" x="8661400" y="6438900"/>
          <p14:tracePt t="40108" x="8629650" y="6445250"/>
          <p14:tracePt t="40122" x="8591550" y="6445250"/>
          <p14:tracePt t="40143" x="8559800" y="6438900"/>
          <p14:tracePt t="40158" x="8515350" y="6419850"/>
          <p14:tracePt t="40171" x="8483600" y="6394450"/>
          <p14:tracePt t="40193" x="8439150" y="6350000"/>
          <p14:tracePt t="40208" x="8388350" y="6280150"/>
          <p14:tracePt t="40221" x="8337550" y="6184900"/>
          <p14:tracePt t="40242" x="8293100" y="6089650"/>
          <p14:tracePt t="40255" x="8255000" y="5988050"/>
          <p14:tracePt t="40270" x="8223250" y="5905500"/>
          <p14:tracePt t="40291" x="8210550" y="5842000"/>
          <p14:tracePt t="40304" x="8210550" y="5778500"/>
          <p14:tracePt t="40319" x="8216900" y="5721350"/>
          <p14:tracePt t="40340" x="8229600" y="5689600"/>
          <p14:tracePt t="40354" x="8235950" y="5670550"/>
          <p14:tracePt t="40367" x="8261350" y="5651500"/>
          <p14:tracePt t="40380" x="8280400" y="5632450"/>
          <p14:tracePt t="40402" x="8305800" y="5626100"/>
          <p14:tracePt t="40415" x="8318500" y="5619750"/>
          <p14:tracePt t="40437" x="8337550" y="5613400"/>
          <p14:tracePt t="40451" x="8356600" y="5613400"/>
          <p14:tracePt t="40465" x="8375650" y="5607050"/>
          <p14:tracePt t="40486" x="8401050" y="5607050"/>
          <p14:tracePt t="40500" x="8413750" y="5607050"/>
          <p14:tracePt t="40514" x="8426450" y="5619750"/>
          <p14:tracePt t="40528" x="8439150" y="5626100"/>
          <p14:tracePt t="40549" x="8445500" y="5638800"/>
          <p14:tracePt t="40563" x="8451850" y="5664200"/>
          <p14:tracePt t="40578" x="8451850" y="5670550"/>
          <p14:tracePt t="40599" x="8451850" y="5683250"/>
          <p14:tracePt t="40612" x="8451850" y="5695950"/>
          <p14:tracePt t="40627" x="8451850" y="5721350"/>
          <p14:tracePt t="40648" x="8451850" y="5740400"/>
          <p14:tracePt t="40662" x="8445500" y="5753100"/>
          <p14:tracePt t="40676" x="8439150" y="5784850"/>
          <p14:tracePt t="40697" x="8426450" y="5822950"/>
          <p14:tracePt t="40711" x="8420100" y="5867400"/>
          <p14:tracePt t="40723" x="0" y="0"/>
        </p14:tracePtLst>
        <p14:tracePtLst>
          <p14:tracePt t="40740" x="8420100" y="5867400"/>
          <p14:tracePt t="40761" x="0" y="0"/>
        </p14:tracePtLst>
        <p14:tracePtLst>
          <p14:tracePt t="41475" x="8991600" y="6769100"/>
          <p14:tracePt t="42070" x="8985250" y="6769100"/>
          <p14:tracePt t="42112" x="0" y="0"/>
        </p14:tracePtLst>
        <p14:tracePtLst>
          <p14:tracePt t="46297" x="5022850" y="3168650"/>
          <p14:tracePt t="46424" x="4972050" y="3162300"/>
          <p14:tracePt t="46438" x="4883150" y="3149600"/>
          <p14:tracePt t="46458" x="4794250" y="3143250"/>
          <p14:tracePt t="46472" x="4692650" y="3130550"/>
          <p14:tracePt t="46493" x="4603750" y="3130550"/>
          <p14:tracePt t="46514" x="4527550" y="3130550"/>
          <p14:tracePt t="46536" x="4445000" y="3143250"/>
          <p14:tracePt t="46557" x="4356100" y="3155950"/>
          <p14:tracePt t="46577" x="4267200" y="3168650"/>
          <p14:tracePt t="46597" x="4197350" y="3175000"/>
          <p14:tracePt t="46619" x="4133850" y="3187700"/>
          <p14:tracePt t="46633" x="4095750" y="3181350"/>
          <p14:tracePt t="46653" x="4051300" y="3175000"/>
          <p14:tracePt t="46670" x="4032250" y="3162300"/>
          <p14:tracePt t="46682" x="4019550" y="3149600"/>
          <p14:tracePt t="46703" x="4013200" y="3124200"/>
          <p14:tracePt t="46718" x="4013200" y="3105150"/>
          <p14:tracePt t="46731" x="4013200" y="3086100"/>
          <p14:tracePt t="46752" x="4025900" y="3060700"/>
          <p14:tracePt t="46766" x="4038600" y="3041650"/>
          <p14:tracePt t="46780" x="4070350" y="2997200"/>
          <p14:tracePt t="46802" x="4108450" y="2952750"/>
          <p14:tracePt t="46815" x="4159250" y="2908300"/>
          <p14:tracePt t="46829" x="4241800" y="2832100"/>
          <p14:tracePt t="46851" x="4349750" y="2762250"/>
          <p14:tracePt t="46865" x="4470400" y="2692400"/>
          <p14:tracePt t="46878" x="4635500" y="2616200"/>
          <p14:tracePt t="46899" x="4851400" y="2527300"/>
          <p14:tracePt t="46913" x="5067300" y="2444750"/>
          <p14:tracePt t="46927" x="5302250" y="2387600"/>
          <p14:tracePt t="46948" x="5499100" y="2343150"/>
          <p14:tracePt t="46962" x="5626100" y="2336800"/>
          <p14:tracePt t="46976" x="5803900" y="2336800"/>
          <p14:tracePt t="46997" x="5930900" y="2349500"/>
          <p14:tracePt t="47011" x="6045200" y="2381250"/>
          <p14:tracePt t="47025" x="6153150" y="2419350"/>
          <p14:tracePt t="47046" x="6242050" y="2476500"/>
          <p14:tracePt t="47060" x="6324600" y="2533650"/>
          <p14:tracePt t="47074" x="6407150" y="2597150"/>
          <p14:tracePt t="47088" x="6483350" y="2667000"/>
          <p14:tracePt t="47109" x="6553200" y="2755900"/>
          <p14:tracePt t="47123" x="6616700" y="2838450"/>
          <p14:tracePt t="47137" x="6680200" y="2940050"/>
          <p14:tracePt t="47158" x="6731000" y="3060700"/>
          <p14:tracePt t="47179" x="6762750" y="3187700"/>
          <p14:tracePt t="47194" x="6788150" y="3352800"/>
          <p14:tracePt t="47207" x="6762750" y="3670300"/>
          <p14:tracePt t="47228" x="6686550" y="3930650"/>
          <p14:tracePt t="47243" x="6597650" y="4171950"/>
          <p14:tracePt t="47263" x="6464300" y="4375150"/>
          <p14:tracePt t="47278" x="6248400" y="4641850"/>
          <p14:tracePt t="47292" x="6019800" y="4864100"/>
          <p14:tracePt t="47312" x="5740400" y="5048250"/>
          <p14:tracePt t="47326" x="5461000" y="5194300"/>
          <p14:tracePt t="47341" x="5099050" y="5302250"/>
          <p14:tracePt t="47362" x="4800600" y="5346700"/>
          <p14:tracePt t="47376" x="4464050" y="5334000"/>
          <p14:tracePt t="47389" x="4127500" y="5251450"/>
          <p14:tracePt t="47411" x="3778250" y="5080000"/>
          <p14:tracePt t="47424" x="3492500" y="4895850"/>
          <p14:tracePt t="47439" x="3251200" y="4686300"/>
          <p14:tracePt t="47459" x="3067050" y="4464050"/>
          <p14:tracePt t="47474" x="2882900" y="4203700"/>
          <p14:tracePt t="47495" x="2736850" y="3905250"/>
          <p14:tracePt t="47516" x="2628900" y="3517900"/>
          <p14:tracePt t="47529" x="2578100" y="3143250"/>
          <p14:tracePt t="47551" x="2578100" y="2730500"/>
          <p14:tracePt t="47566" x="2616200" y="2482850"/>
          <p14:tracePt t="47578" x="2717800" y="2286000"/>
          <p14:tracePt t="47600" x="2819400" y="2165350"/>
          <p14:tracePt t="47613" x="2997200" y="2057400"/>
          <p14:tracePt t="47628" x="3238500" y="1968500"/>
          <p14:tracePt t="47642" x="3549650" y="1885950"/>
          <p14:tracePt t="47662" x="3892550" y="1854200"/>
          <p14:tracePt t="47676" x="4368800" y="1885950"/>
          <p14:tracePt t="47689" x="4756150" y="2025650"/>
          <p14:tracePt t="47712" x="5308600" y="2260600"/>
          <p14:tracePt t="47726" x="5772150" y="2552700"/>
          <p14:tracePt t="47748" x="6216650" y="2895600"/>
          <p14:tracePt t="47760" x="6464300" y="3149600"/>
          <p14:tracePt t="47781" x="6724650" y="3441700"/>
          <p14:tracePt t="47796" x="6800850" y="3587750"/>
          <p14:tracePt t="47810" x="6819900" y="3733800"/>
          <p14:tracePt t="47832" x="6788150" y="3816350"/>
          <p14:tracePt t="47844" x="6673850" y="3930650"/>
          <p14:tracePt t="47859" x="6496050" y="4025900"/>
          <p14:tracePt t="47881" x="6248400" y="4152900"/>
          <p14:tracePt t="47894" x="6026150" y="4191000"/>
          <p14:tracePt t="47908" x="5746750" y="4152900"/>
          <p14:tracePt t="47928" x="5480050" y="4044950"/>
          <p14:tracePt t="47950" x="5181600" y="3784600"/>
          <p14:tracePt t="47964" x="4953000" y="3448050"/>
          <p14:tracePt t="47984" x="4749800" y="2997200"/>
          <p14:tracePt t="47999" x="4641850" y="2584450"/>
          <p14:tracePt t="48014" x="4603750" y="2190750"/>
          <p14:tracePt t="48034" x="4629150" y="1866900"/>
          <p14:tracePt t="48048" x="4743450" y="1574800"/>
          <p14:tracePt t="48061" x="4870450" y="1390650"/>
          <p14:tracePt t="48083" x="5035550" y="1257300"/>
          <p14:tracePt t="48098" x="5187950" y="1168400"/>
          <p14:tracePt t="48111" x="5416550" y="1111250"/>
          <p14:tracePt t="48132" x="5607050" y="1098550"/>
          <p14:tracePt t="48153" x="5886450" y="1136650"/>
          <p14:tracePt t="48167" x="6134100" y="1257300"/>
          <p14:tracePt t="48180" x="6527800" y="1600200"/>
          <p14:tracePt t="48202" x="6864350" y="1974850"/>
          <p14:tracePt t="48215" x="7258050" y="2444750"/>
          <p14:tracePt t="48237" x="7512050" y="2806700"/>
          <p14:tracePt t="48251" x="7708900" y="3162300"/>
          <p14:tracePt t="48265" x="7791450" y="3378200"/>
          <p14:tracePt t="48285" x="7785100" y="3594100"/>
          <p14:tracePt t="48300" x="7727950" y="3733800"/>
          <p14:tracePt t="48314" x="7556500" y="3886200"/>
          <p14:tracePt t="48335" x="7346950" y="4038600"/>
          <p14:tracePt t="48356" x="7035800" y="4140200"/>
          <p14:tracePt t="48377" x="6743700" y="4165600"/>
          <p14:tracePt t="48391" x="6280150" y="4064000"/>
          <p14:tracePt t="48413" x="5899150" y="3848100"/>
          <p14:tracePt t="48433" x="5473700" y="3441700"/>
          <p14:tracePt t="48447" x="5118100" y="2946400"/>
          <p14:tracePt t="48461" x="4762500" y="2457450"/>
          <p14:tracePt t="48482" x="4546600" y="2076450"/>
          <p14:tracePt t="48496" x="4356100" y="1746250"/>
          <p14:tracePt t="48509" x="4254500" y="1549400"/>
          <p14:tracePt t="48531" x="4191000" y="1384300"/>
          <p14:tracePt t="48546" x="4171950" y="1270000"/>
          <p14:tracePt t="48559" x="4171950" y="1130300"/>
          <p14:tracePt t="48580" x="4178300" y="1003300"/>
          <p14:tracePt t="48595" x="4210050" y="889000"/>
          <p14:tracePt t="48608" x="4229100" y="793750"/>
          <p14:tracePt t="48629" x="4267200" y="704850"/>
          <p14:tracePt t="48643" x="4305300" y="654050"/>
          <p14:tracePt t="48657" x="4343400" y="596900"/>
          <p14:tracePt t="48679" x="4368800" y="565150"/>
          <p14:tracePt t="48692" x="4400550" y="539750"/>
          <p14:tracePt t="48705" x="4425950" y="527050"/>
          <p14:tracePt t="48727" x="4432300" y="520700"/>
          <p14:tracePt t="48741" x="4438650" y="514350"/>
          <p14:tracePt t="48756" x="0" y="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609600" y="2286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Class will be online </a:t>
            </a:r>
            <a:b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</a:br>
            <a: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from next week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457200" y="2133600"/>
            <a:ext cx="8001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This slide demonstrates the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Recorded Slide Show format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It must be played to hear the audio.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I will just use the</a:t>
            </a:r>
            <a:b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</a:b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Cyber University's Discussion Forum </a:t>
            </a:r>
            <a:b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</a:b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for live feedback during the lecture time from 2:10 to 5:00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75"/>
    </mc:Choice>
    <mc:Fallback xmlns="">
      <p:transition spd="slow" advTm="555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584720" cy="4591528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6600"/>
                </a:solidFill>
              </a:rPr>
              <a:t>Information hiding (</a:t>
            </a:r>
            <a:r>
              <a:rPr lang="zh-TW" altLang="en-US" sz="3600" dirty="0"/>
              <a:t>資訊隱藏</a:t>
            </a:r>
            <a:r>
              <a:rPr lang="en-US" altLang="en-US" sz="40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4000" b="1" dirty="0">
                <a:solidFill>
                  <a:srgbClr val="006600"/>
                </a:solidFill>
              </a:rPr>
              <a:t>Abstraction (</a:t>
            </a:r>
            <a:r>
              <a:rPr lang="zh-TW" altLang="en-US" sz="3600" dirty="0"/>
              <a:t>資料抽象化</a:t>
            </a:r>
            <a:r>
              <a:rPr lang="en-US" altLang="en-US" sz="40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40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3600" dirty="0"/>
              <a:t>封裝</a:t>
            </a:r>
            <a:r>
              <a:rPr lang="en-US" altLang="en-US" sz="40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4000" b="1" dirty="0">
                <a:solidFill>
                  <a:srgbClr val="006600"/>
                </a:solidFill>
              </a:rPr>
              <a:t>Modularity (</a:t>
            </a:r>
            <a:r>
              <a:rPr lang="zh-TW" altLang="en-US" sz="3600" dirty="0"/>
              <a:t>模組化</a:t>
            </a:r>
            <a:r>
              <a:rPr lang="en-US" altLang="en-US" sz="40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40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3600" dirty="0"/>
              <a:t>多型</a:t>
            </a:r>
            <a:r>
              <a:rPr lang="en-US" altLang="en-US" sz="40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4000" b="1" dirty="0">
                <a:solidFill>
                  <a:srgbClr val="006600"/>
                </a:solidFill>
              </a:rPr>
              <a:t>Inheritance (</a:t>
            </a:r>
            <a:r>
              <a:rPr lang="zh-TW" altLang="en-US" sz="3600" dirty="0"/>
              <a:t>繼承</a:t>
            </a:r>
            <a:r>
              <a:rPr lang="en-US" altLang="en-US" sz="4000" b="1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1491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Fundamental</a:t>
            </a:r>
            <a:r>
              <a:rPr lang="en-US" altLang="en-US" sz="3756" dirty="0">
                <a:latin typeface="Elephant" panose="02020904090505020303" pitchFamily="18" charset="0"/>
              </a:rPr>
              <a:t> </a:t>
            </a:r>
            <a:r>
              <a:rPr lang="en-US" altLang="en-US" sz="4132" dirty="0">
                <a:latin typeface="Elephant" panose="02020904090505020303" pitchFamily="18" charset="0"/>
              </a:rPr>
              <a:t>Concepts of Object-Oriented Programming (</a:t>
            </a:r>
            <a:r>
              <a:rPr lang="zh-TW" altLang="en-US" sz="3756" dirty="0"/>
              <a:t>物件導向</a:t>
            </a:r>
            <a:r>
              <a:rPr lang="en-US" altLang="en-US" sz="4132" dirty="0">
                <a:latin typeface="Elephant" panose="02020904090505020303" pitchFamily="18" charset="0"/>
              </a:rPr>
              <a:t>)</a:t>
            </a:r>
            <a:endParaRPr lang="en-US" altLang="en-US" sz="4132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35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  <a:cs typeface="Times New Roman" pitchFamily="18" charset="0"/>
              </a:rPr>
              <a:t>Object-Oriented Basics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78763" y="1014054"/>
            <a:ext cx="8865237" cy="5634874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6600"/>
                </a:solidFill>
              </a:rPr>
              <a:t>Object:</a:t>
            </a:r>
            <a:r>
              <a:rPr lang="en-US" altLang="en-US" sz="3200" b="1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single software unit that combines </a:t>
            </a:r>
            <a:r>
              <a:rPr lang="en-US" altLang="en-US" sz="3200" b="1" dirty="0">
                <a:solidFill>
                  <a:schemeClr val="tx1"/>
                </a:solidFill>
              </a:rPr>
              <a:t>method</a:t>
            </a:r>
            <a:r>
              <a:rPr lang="en-US" altLang="en-US" sz="3200" b="1" spc="-94" dirty="0">
                <a:solidFill>
                  <a:schemeClr val="tx1"/>
                </a:solidFill>
              </a:rPr>
              <a:t>s </a:t>
            </a:r>
            <a:r>
              <a:rPr lang="en-US" altLang="en-US" sz="3200" dirty="0">
                <a:solidFill>
                  <a:schemeClr val="tx1"/>
                </a:solidFill>
              </a:rPr>
              <a:t>and </a:t>
            </a:r>
            <a:r>
              <a:rPr lang="en-US" altLang="en-US" sz="3200" b="1" dirty="0">
                <a:solidFill>
                  <a:schemeClr val="tx1"/>
                </a:solidFill>
              </a:rPr>
              <a:t>attributes</a:t>
            </a:r>
            <a:r>
              <a:rPr lang="en-US" altLang="en-US" sz="3200" dirty="0">
                <a:solidFill>
                  <a:schemeClr val="tx1"/>
                </a:solidFill>
              </a:rPr>
              <a:t>. </a:t>
            </a:r>
          </a:p>
          <a:p>
            <a:pPr eaLnBrk="1" hangingPunct="1">
              <a:spcBef>
                <a:spcPts val="169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Method(</a:t>
            </a:r>
            <a:r>
              <a:rPr lang="zh-TW" altLang="en-US" sz="2800" dirty="0">
                <a:solidFill>
                  <a:srgbClr val="006600"/>
                </a:solidFill>
              </a:rPr>
              <a:t>方法</a:t>
            </a:r>
            <a:r>
              <a:rPr lang="en-US" altLang="en-US" sz="3200" b="1" dirty="0">
                <a:solidFill>
                  <a:srgbClr val="006600"/>
                </a:solidFill>
              </a:rPr>
              <a:t>):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"behavior" of an object; it is</a:t>
            </a:r>
            <a:br>
              <a:rPr lang="en-US" altLang="en-US" sz="3200" dirty="0">
                <a:solidFill>
                  <a:schemeClr val="tx1"/>
                </a:solidFill>
              </a:rPr>
            </a:br>
            <a:r>
              <a:rPr lang="en-US" altLang="en-US" sz="3200" dirty="0">
                <a:solidFill>
                  <a:schemeClr val="tx1"/>
                </a:solidFill>
              </a:rPr>
              <a:t> a special </a:t>
            </a:r>
            <a:r>
              <a:rPr lang="en-US" altLang="en-US" sz="3200" b="1" dirty="0">
                <a:solidFill>
                  <a:schemeClr val="tx1"/>
                </a:solidFill>
              </a:rPr>
              <a:t>function</a:t>
            </a:r>
            <a:r>
              <a:rPr lang="en-US" altLang="en-US" sz="3200" dirty="0">
                <a:solidFill>
                  <a:schemeClr val="tx1"/>
                </a:solidFill>
              </a:rPr>
              <a:t> associated with an object.</a:t>
            </a:r>
          </a:p>
          <a:p>
            <a:pPr eaLnBrk="1" hangingPunct="1">
              <a:spcBef>
                <a:spcPts val="169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Attribut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e(</a:t>
            </a:r>
            <a:r>
              <a:rPr lang="zh-TW" altLang="en-US" sz="2800" b="1" dirty="0">
                <a:solidFill>
                  <a:srgbClr val="006600"/>
                </a:solidFill>
              </a:rPr>
              <a:t>屬</a:t>
            </a:r>
            <a:r>
              <a:rPr lang="zh-TW" altLang="en-US" sz="2800" b="1" spc="-100" dirty="0">
                <a:solidFill>
                  <a:srgbClr val="006600"/>
                </a:solidFill>
              </a:rPr>
              <a:t>性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8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"characteristic"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of an object; it</a:t>
            </a:r>
            <a:r>
              <a:rPr lang="en-US" altLang="en-US" sz="3200" spc="-300" dirty="0">
                <a:solidFill>
                  <a:schemeClr val="tx1"/>
                </a:solidFill>
              </a:rPr>
              <a:t>'</a:t>
            </a:r>
            <a:r>
              <a:rPr lang="en-US" altLang="en-US" sz="3200" dirty="0">
                <a:solidFill>
                  <a:schemeClr val="tx1"/>
                </a:solidFill>
              </a:rPr>
              <a:t>s a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special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</a:rPr>
              <a:t>varia</a:t>
            </a:r>
            <a:r>
              <a:rPr lang="en-US" altLang="en-US" sz="3200" b="1" spc="-100" dirty="0">
                <a:solidFill>
                  <a:schemeClr val="tx1"/>
                </a:solidFill>
              </a:rPr>
              <a:t>bl</a:t>
            </a:r>
            <a:r>
              <a:rPr lang="en-US" altLang="en-US" sz="3200" b="1" dirty="0">
                <a:solidFill>
                  <a:schemeClr val="tx1"/>
                </a:solidFill>
              </a:rPr>
              <a:t>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assoc</a:t>
            </a:r>
            <a:r>
              <a:rPr lang="en-US" altLang="en-US" sz="3200" spc="-100" dirty="0">
                <a:solidFill>
                  <a:schemeClr val="tx1"/>
                </a:solidFill>
              </a:rPr>
              <a:t>ia</a:t>
            </a:r>
            <a:r>
              <a:rPr lang="en-US" altLang="en-US" sz="3200" dirty="0">
                <a:solidFill>
                  <a:schemeClr val="tx1"/>
                </a:solidFill>
              </a:rPr>
              <a:t>ted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with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an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obj</a:t>
            </a:r>
            <a:r>
              <a:rPr lang="en-US" altLang="en-US" sz="3200" dirty="0">
                <a:solidFill>
                  <a:schemeClr val="tx1"/>
                </a:solidFill>
              </a:rPr>
              <a:t>ect.</a:t>
            </a:r>
          </a:p>
          <a:p>
            <a:pPr eaLnBrk="1" hangingPunct="1">
              <a:spcBef>
                <a:spcPts val="169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An </a:t>
            </a:r>
            <a:r>
              <a:rPr lang="en-US" altLang="en-US" sz="3200" b="1" dirty="0">
                <a:solidFill>
                  <a:schemeClr val="tx1"/>
                </a:solidFill>
              </a:rPr>
              <a:t>object</a:t>
            </a:r>
            <a:r>
              <a:rPr lang="en-US" altLang="en-US" sz="3200" dirty="0">
                <a:solidFill>
                  <a:schemeClr val="tx1"/>
                </a:solidFill>
              </a:rPr>
              <a:t> is 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(</a:t>
            </a:r>
            <a:r>
              <a:rPr lang="zh-TW" altLang="en-US" sz="2800" b="1" dirty="0">
                <a:solidFill>
                  <a:srgbClr val="006600"/>
                </a:solidFill>
              </a:rPr>
              <a:t>實體</a:t>
            </a:r>
            <a:r>
              <a:rPr lang="en-US" altLang="en-US" sz="3200" b="1" dirty="0">
                <a:solidFill>
                  <a:srgbClr val="006600"/>
                </a:solidFill>
              </a:rPr>
              <a:t>) </a:t>
            </a:r>
            <a:r>
              <a:rPr lang="en-US" altLang="en-US" sz="3200" dirty="0">
                <a:solidFill>
                  <a:schemeClr val="tx1"/>
                </a:solidFill>
              </a:rPr>
              <a:t>of a </a:t>
            </a:r>
            <a:r>
              <a:rPr lang="en-US" altLang="en-US" sz="3200" b="1" dirty="0">
                <a:solidFill>
                  <a:schemeClr val="tx1"/>
                </a:solidFill>
              </a:rPr>
              <a:t>clas</a:t>
            </a:r>
            <a:r>
              <a:rPr lang="en-US" altLang="en-US" sz="3200" b="1" spc="-94" dirty="0">
                <a:solidFill>
                  <a:schemeClr val="tx1"/>
                </a:solidFill>
              </a:rPr>
              <a:t>s</a:t>
            </a:r>
            <a:r>
              <a:rPr lang="en-US" altLang="en-US" sz="32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ts val="1690"/>
              </a:spcBef>
            </a:pPr>
            <a:r>
              <a:rPr lang="en-US" altLang="en-US" sz="3200" b="1" spc="-75" dirty="0">
                <a:solidFill>
                  <a:srgbClr val="006600"/>
                </a:solidFill>
              </a:rPr>
              <a:t>Clas</a:t>
            </a:r>
            <a:r>
              <a:rPr lang="en-US" altLang="en-US" sz="3200" b="1" spc="-280" dirty="0">
                <a:solidFill>
                  <a:srgbClr val="006600"/>
                </a:solidFill>
              </a:rPr>
              <a:t>s</a:t>
            </a:r>
            <a:r>
              <a:rPr lang="en-US" altLang="en-US" sz="3200" b="1" spc="-180" dirty="0">
                <a:solidFill>
                  <a:srgbClr val="006600"/>
                </a:solidFill>
              </a:rPr>
              <a:t>:</a:t>
            </a:r>
            <a:r>
              <a:rPr lang="en-US" altLang="en-US" sz="3200" spc="-180" dirty="0">
                <a:solidFill>
                  <a:srgbClr val="006600"/>
                </a:solidFill>
              </a:rPr>
              <a:t> </a:t>
            </a:r>
            <a:r>
              <a:rPr lang="en-US" altLang="en-US" sz="3200" spc="-180" dirty="0">
                <a:solidFill>
                  <a:schemeClr val="tx1"/>
                </a:solidFill>
              </a:rPr>
              <a:t>A</a:t>
            </a:r>
            <a:r>
              <a:rPr lang="en-US" altLang="en-US" sz="2800" spc="-180" dirty="0">
                <a:solidFill>
                  <a:schemeClr val="tx1"/>
                </a:solidFill>
              </a:rPr>
              <a:t> </a:t>
            </a:r>
            <a:r>
              <a:rPr lang="en-US" altLang="en-US" sz="3200" spc="-75" dirty="0">
                <a:solidFill>
                  <a:schemeClr val="tx1"/>
                </a:solidFill>
              </a:rPr>
              <a:t>set</a:t>
            </a:r>
            <a:r>
              <a:rPr lang="en-US" altLang="en-US" sz="2800" spc="-75" dirty="0">
                <a:solidFill>
                  <a:schemeClr val="tx1"/>
                </a:solidFill>
              </a:rPr>
              <a:t> </a:t>
            </a:r>
            <a:r>
              <a:rPr lang="en-US" altLang="en-US" sz="3200" spc="-75" dirty="0">
                <a:solidFill>
                  <a:schemeClr val="tx1"/>
                </a:solidFill>
              </a:rPr>
              <a:t>of variables</a:t>
            </a:r>
            <a:r>
              <a:rPr lang="en-US" altLang="en-US" sz="2400" spc="-75" dirty="0">
                <a:solidFill>
                  <a:schemeClr val="tx1"/>
                </a:solidFill>
              </a:rPr>
              <a:t> </a:t>
            </a:r>
            <a:r>
              <a:rPr lang="en-US" altLang="en-US" sz="3200" spc="-260" dirty="0">
                <a:solidFill>
                  <a:schemeClr val="tx1"/>
                </a:solidFill>
              </a:rPr>
              <a:t>(</a:t>
            </a:r>
            <a:r>
              <a:rPr lang="en-US" altLang="en-US" sz="3200" i="1" spc="-75" dirty="0" err="1">
                <a:solidFill>
                  <a:schemeClr val="tx1"/>
                </a:solidFill>
              </a:rPr>
              <a:t>i</a:t>
            </a:r>
            <a:r>
              <a:rPr lang="en-US" altLang="en-US" sz="3200" i="1" spc="-390" dirty="0" err="1">
                <a:solidFill>
                  <a:schemeClr val="tx1"/>
                </a:solidFill>
              </a:rPr>
              <a:t>e</a:t>
            </a:r>
            <a:r>
              <a:rPr lang="en-US" altLang="en-US" sz="3200" spc="-75" dirty="0">
                <a:solidFill>
                  <a:schemeClr val="tx1"/>
                </a:solidFill>
              </a:rPr>
              <a:t>,</a:t>
            </a:r>
            <a:r>
              <a:rPr lang="en-US" altLang="en-US" sz="2400" spc="-75" dirty="0">
                <a:solidFill>
                  <a:schemeClr val="tx1"/>
                </a:solidFill>
              </a:rPr>
              <a:t> </a:t>
            </a:r>
            <a:r>
              <a:rPr lang="en-US" altLang="en-US" sz="3200" spc="-75" dirty="0">
                <a:solidFill>
                  <a:schemeClr val="tx1"/>
                </a:solidFill>
              </a:rPr>
              <a:t>attribute</a:t>
            </a:r>
            <a:r>
              <a:rPr lang="en-US" altLang="en-US" sz="3200" spc="-300" dirty="0">
                <a:solidFill>
                  <a:schemeClr val="tx1"/>
                </a:solidFill>
              </a:rPr>
              <a:t>s) &amp; </a:t>
            </a:r>
            <a:r>
              <a:rPr lang="en-US" altLang="en-US" sz="3200" spc="-75" dirty="0">
                <a:solidFill>
                  <a:schemeClr val="tx1"/>
                </a:solidFill>
              </a:rPr>
              <a:t>functions </a:t>
            </a:r>
            <a:r>
              <a:rPr lang="en-US" altLang="en-US" sz="3200" spc="-94" dirty="0">
                <a:solidFill>
                  <a:schemeClr val="tx1"/>
                </a:solidFill>
              </a:rPr>
              <a:t>(</a:t>
            </a:r>
            <a:r>
              <a:rPr lang="en-US" altLang="en-US" sz="3200" i="1" dirty="0" err="1">
                <a:solidFill>
                  <a:schemeClr val="tx1"/>
                </a:solidFill>
              </a:rPr>
              <a:t>ie</a:t>
            </a:r>
            <a:r>
              <a:rPr lang="en-US" altLang="en-US" sz="3200" dirty="0">
                <a:solidFill>
                  <a:schemeClr val="tx1"/>
                </a:solidFill>
              </a:rPr>
              <a:t>, method</a:t>
            </a:r>
            <a:r>
              <a:rPr lang="en-US" altLang="en-US" sz="3200" spc="-94" dirty="0">
                <a:solidFill>
                  <a:schemeClr val="tx1"/>
                </a:solidFill>
              </a:rPr>
              <a:t>s</a:t>
            </a:r>
            <a:r>
              <a:rPr lang="en-US" altLang="en-US" sz="3200" dirty="0">
                <a:solidFill>
                  <a:schemeClr val="tx1"/>
                </a:solidFill>
              </a:rPr>
              <a:t>) for working with those variables.</a:t>
            </a:r>
          </a:p>
        </p:txBody>
      </p:sp>
    </p:spTree>
    <p:extLst>
      <p:ext uri="{BB962C8B-B14F-4D97-AF65-F5344CB8AC3E}">
        <p14:creationId xmlns:p14="http://schemas.microsoft.com/office/powerpoint/2010/main" val="229502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15540"/>
          </a:xfrm>
        </p:spPr>
        <p:txBody>
          <a:bodyPr/>
          <a:lstStyle/>
          <a:p>
            <a:pPr eaLnBrk="1" hangingPunct="1"/>
            <a:r>
              <a:rPr lang="en-US" altLang="en-US" sz="4132" spc="-254" dirty="0">
                <a:latin typeface="Elephant" panose="02020904090505020303" pitchFamily="18" charset="0"/>
              </a:rPr>
              <a:t>O</a:t>
            </a:r>
            <a:r>
              <a:rPr lang="en-US" altLang="en-US" sz="4132" spc="-188" dirty="0">
                <a:latin typeface="Elephant" panose="02020904090505020303" pitchFamily="18" charset="0"/>
              </a:rPr>
              <a:t>bject</a:t>
            </a:r>
            <a:r>
              <a:rPr lang="en-US" altLang="en-US" sz="3756" spc="-188" dirty="0">
                <a:latin typeface="Elephant" panose="02020904090505020303" pitchFamily="18" charset="0"/>
              </a:rPr>
              <a:t> </a:t>
            </a:r>
            <a:r>
              <a:rPr lang="en-US" altLang="en-US" sz="4132" spc="-188" dirty="0">
                <a:latin typeface="Elephant" panose="02020904090505020303" pitchFamily="18" charset="0"/>
              </a:rPr>
              <a:t>Oriented</a:t>
            </a:r>
            <a:r>
              <a:rPr lang="en-US" altLang="en-US" sz="3756" spc="-188" dirty="0">
                <a:latin typeface="Elephant" panose="02020904090505020303" pitchFamily="18" charset="0"/>
              </a:rPr>
              <a:t> </a:t>
            </a:r>
            <a:r>
              <a:rPr lang="en-US" altLang="en-US" sz="4132" spc="-188" dirty="0">
                <a:latin typeface="Elephant" panose="02020904090505020303" pitchFamily="18" charset="0"/>
              </a:rPr>
              <a:t>Programming</a:t>
            </a:r>
            <a:r>
              <a:rPr lang="en-US" altLang="en-US" sz="3756" spc="-188" dirty="0">
                <a:latin typeface="Elephant" panose="02020904090505020303" pitchFamily="18" charset="0"/>
              </a:rPr>
              <a:t> </a:t>
            </a:r>
            <a:r>
              <a:rPr lang="en-US" altLang="en-US" sz="4132" b="1" spc="-423" dirty="0">
                <a:latin typeface="Agency FB" panose="020B0503020202020204" pitchFamily="34" charset="0"/>
              </a:rPr>
              <a:t>(</a:t>
            </a:r>
            <a:r>
              <a:rPr lang="en-US" altLang="en-US" sz="4132" spc="-300" dirty="0">
                <a:latin typeface="Elephant" panose="02020904090505020303" pitchFamily="18" charset="0"/>
              </a:rPr>
              <a:t>O</a:t>
            </a:r>
            <a:r>
              <a:rPr lang="en-US" altLang="en-US" sz="4132" spc="-516" dirty="0">
                <a:latin typeface="Elephant" panose="02020904090505020303" pitchFamily="18" charset="0"/>
              </a:rPr>
              <a:t>O</a:t>
            </a:r>
            <a:r>
              <a:rPr lang="en-US" altLang="en-US" sz="4132" spc="-423" dirty="0">
                <a:latin typeface="Elephant" panose="02020904090505020303" pitchFamily="18" charset="0"/>
              </a:rPr>
              <a:t>P</a:t>
            </a:r>
            <a:r>
              <a:rPr lang="en-US" altLang="en-US" sz="4132" b="1" spc="-423" dirty="0">
                <a:latin typeface="Agency FB" panose="020B0503020202020204" pitchFamily="34" charset="0"/>
              </a:rPr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72521" y="1060558"/>
            <a:ext cx="8586475" cy="565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21983" indent="-32198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441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697630" indent="-26831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54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073277" indent="-21465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6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502588" indent="-21465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6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1931899" indent="-21465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78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361209" indent="-21465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78">
                <a:solidFill>
                  <a:schemeClr val="tx1"/>
                </a:solidFill>
                <a:latin typeface="Times New Roman" charset="0"/>
              </a:defRPr>
            </a:lvl6pPr>
            <a:lvl7pPr marL="2790520" indent="-21465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78">
                <a:solidFill>
                  <a:schemeClr val="tx1"/>
                </a:solidFill>
                <a:latin typeface="Times New Roman" charset="0"/>
              </a:defRPr>
            </a:lvl7pPr>
            <a:lvl8pPr marL="3219831" indent="-21465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78">
                <a:solidFill>
                  <a:schemeClr val="tx1"/>
                </a:solidFill>
                <a:latin typeface="Times New Roman" charset="0"/>
              </a:defRPr>
            </a:lvl8pPr>
            <a:lvl9pPr marL="3649142" indent="-21465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78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380" kern="0" dirty="0">
                <a:solidFill>
                  <a:schemeClr val="tx1"/>
                </a:solidFill>
              </a:rPr>
              <a:t>OOP is a programming model focused on:</a:t>
            </a:r>
          </a:p>
          <a:p>
            <a:pPr marL="643966" lvl="1" indent="-321983" eaLnBrk="1" hangingPunct="1">
              <a:lnSpc>
                <a:spcPct val="90000"/>
              </a:lnSpc>
              <a:spcBef>
                <a:spcPts val="282"/>
              </a:spcBef>
            </a:pPr>
            <a:r>
              <a:rPr lang="en-US" altLang="en-US" sz="3005" b="1" kern="0" dirty="0">
                <a:solidFill>
                  <a:srgbClr val="006600"/>
                </a:solidFill>
              </a:rPr>
              <a:t>The idea of abstract </a:t>
            </a:r>
            <a:r>
              <a:rPr lang="en-US" altLang="en-US" sz="3005" b="1" i="1" kern="0" dirty="0">
                <a:solidFill>
                  <a:srgbClr val="006600"/>
                </a:solidFill>
              </a:rPr>
              <a:t>objects</a:t>
            </a:r>
            <a:r>
              <a:rPr lang="en-US" altLang="en-US" sz="3005" b="1" kern="0" dirty="0">
                <a:solidFill>
                  <a:srgbClr val="006600"/>
                </a:solidFill>
              </a:rPr>
              <a:t> </a:t>
            </a:r>
            <a:br>
              <a:rPr lang="en-US" altLang="en-US" sz="3005" kern="0" dirty="0">
                <a:solidFill>
                  <a:schemeClr val="tx1"/>
                </a:solidFill>
              </a:rPr>
            </a:br>
            <a:r>
              <a:rPr lang="en-US" altLang="en-US" sz="3005" kern="0" dirty="0">
                <a:solidFill>
                  <a:schemeClr val="tx1"/>
                </a:solidFill>
              </a:rPr>
              <a:t>(Rather than the details of what data structures are used to create those objects) </a:t>
            </a:r>
          </a:p>
          <a:p>
            <a:pPr marL="643966" lvl="1" indent="-321983" eaLnBrk="1" hangingPunct="1">
              <a:lnSpc>
                <a:spcPct val="90000"/>
              </a:lnSpc>
              <a:spcBef>
                <a:spcPts val="282"/>
              </a:spcBef>
            </a:pPr>
            <a:r>
              <a:rPr lang="en-US" altLang="ja-JP" sz="3005" b="1" kern="0" dirty="0">
                <a:solidFill>
                  <a:srgbClr val="006600"/>
                </a:solidFill>
              </a:rPr>
              <a:t>The specific </a:t>
            </a:r>
            <a:r>
              <a:rPr lang="en-US" altLang="ja-JP" sz="3005" b="1" i="1" kern="0" dirty="0">
                <a:solidFill>
                  <a:srgbClr val="006600"/>
                </a:solidFill>
              </a:rPr>
              <a:t>ways</a:t>
            </a:r>
            <a:r>
              <a:rPr lang="en-US" altLang="ja-JP" sz="3005" b="1" kern="0" dirty="0">
                <a:solidFill>
                  <a:srgbClr val="006600"/>
                </a:solidFill>
              </a:rPr>
              <a:t> that objects can be manipulated </a:t>
            </a:r>
            <a:r>
              <a:rPr lang="en-US" altLang="ja-JP" sz="3005" kern="0" dirty="0">
                <a:solidFill>
                  <a:schemeClr val="tx1"/>
                </a:solidFill>
              </a:rPr>
              <a:t>(</a:t>
            </a:r>
            <a:r>
              <a:rPr lang="en-US" altLang="ja-JP" sz="3005" kern="0" dirty="0" err="1">
                <a:solidFill>
                  <a:schemeClr val="tx1"/>
                </a:solidFill>
              </a:rPr>
              <a:t>ie</a:t>
            </a:r>
            <a:r>
              <a:rPr lang="en-US" altLang="ja-JP" sz="3005" kern="0" dirty="0">
                <a:solidFill>
                  <a:schemeClr val="tx1"/>
                </a:solidFill>
              </a:rPr>
              <a:t>, the provided </a:t>
            </a:r>
            <a:r>
              <a:rPr lang="en-US" altLang="ja-JP" sz="3005" i="1" kern="0" dirty="0">
                <a:solidFill>
                  <a:schemeClr val="tx1"/>
                </a:solidFill>
              </a:rPr>
              <a:t>methods</a:t>
            </a:r>
            <a:r>
              <a:rPr lang="en-US" altLang="ja-JP" sz="3005" kern="0" dirty="0">
                <a:solidFill>
                  <a:schemeClr val="tx1"/>
                </a:solidFill>
              </a:rPr>
              <a:t>)</a:t>
            </a:r>
            <a:br>
              <a:rPr lang="en-US" altLang="ja-JP" sz="3005" kern="0" dirty="0">
                <a:solidFill>
                  <a:schemeClr val="tx1"/>
                </a:solidFill>
              </a:rPr>
            </a:br>
            <a:r>
              <a:rPr lang="en-US" altLang="ja-JP" sz="3005" kern="0" dirty="0">
                <a:solidFill>
                  <a:schemeClr val="tx1"/>
                </a:solidFill>
              </a:rPr>
              <a:t>(Rather than the logic of those manipulations)</a:t>
            </a:r>
          </a:p>
          <a:p>
            <a:pPr eaLnBrk="1" hangingPunct="1">
              <a:lnSpc>
                <a:spcPct val="90000"/>
              </a:lnSpc>
              <a:spcBef>
                <a:spcPts val="1409"/>
              </a:spcBef>
            </a:pPr>
            <a:r>
              <a:rPr lang="en-US" altLang="en-US" sz="3380" kern="0" dirty="0">
                <a:solidFill>
                  <a:schemeClr val="tx1"/>
                </a:solidFill>
              </a:rPr>
              <a:t>The</a:t>
            </a:r>
            <a:r>
              <a:rPr lang="en-US" altLang="en-US" sz="3005" kern="0" dirty="0">
                <a:solidFill>
                  <a:schemeClr val="tx1"/>
                </a:solidFill>
              </a:rPr>
              <a:t> </a:t>
            </a:r>
            <a:r>
              <a:rPr lang="en-US" altLang="en-US" sz="3380" b="1" kern="0" dirty="0">
                <a:solidFill>
                  <a:srgbClr val="006600"/>
                </a:solidFill>
              </a:rPr>
              <a:t>client</a:t>
            </a:r>
            <a:r>
              <a:rPr lang="en-US" altLang="en-US" sz="3005" b="1" kern="0" dirty="0">
                <a:solidFill>
                  <a:srgbClr val="006600"/>
                </a:solidFill>
              </a:rPr>
              <a:t> </a:t>
            </a:r>
            <a:r>
              <a:rPr lang="en-US" altLang="en-US" sz="3380" b="1" kern="0" dirty="0">
                <a:solidFill>
                  <a:srgbClr val="006600"/>
                </a:solidFill>
              </a:rPr>
              <a:t>space</a:t>
            </a:r>
            <a:r>
              <a:rPr lang="en-US" altLang="en-US" sz="2629" kern="0" dirty="0"/>
              <a:t> </a:t>
            </a:r>
            <a:r>
              <a:rPr lang="en-US" altLang="en-US" sz="3380" kern="0" dirty="0">
                <a:solidFill>
                  <a:schemeClr val="tx1"/>
                </a:solidFill>
              </a:rPr>
              <a:t>is</a:t>
            </a:r>
            <a:r>
              <a:rPr lang="en-US" altLang="en-US" sz="3005" kern="0" dirty="0">
                <a:solidFill>
                  <a:schemeClr val="tx1"/>
                </a:solidFill>
              </a:rPr>
              <a:t> </a:t>
            </a:r>
            <a:r>
              <a:rPr lang="en-US" altLang="en-US" sz="3380" kern="0" dirty="0">
                <a:solidFill>
                  <a:schemeClr val="tx1"/>
                </a:solidFill>
              </a:rPr>
              <a:t>where</a:t>
            </a:r>
            <a:r>
              <a:rPr lang="en-US" altLang="en-US" sz="3005" kern="0" dirty="0">
                <a:solidFill>
                  <a:schemeClr val="tx1"/>
                </a:solidFill>
              </a:rPr>
              <a:t> </a:t>
            </a:r>
            <a:r>
              <a:rPr lang="en-US" altLang="en-US" sz="3380" kern="0" dirty="0">
                <a:solidFill>
                  <a:schemeClr val="tx1"/>
                </a:solidFill>
              </a:rPr>
              <a:t>these</a:t>
            </a:r>
            <a:r>
              <a:rPr lang="en-US" altLang="en-US" sz="3005" kern="0" dirty="0">
                <a:solidFill>
                  <a:schemeClr val="tx1"/>
                </a:solidFill>
              </a:rPr>
              <a:t> </a:t>
            </a:r>
            <a:r>
              <a:rPr lang="en-US" altLang="en-US" sz="3380" kern="0" dirty="0">
                <a:solidFill>
                  <a:schemeClr val="tx1"/>
                </a:solidFill>
              </a:rPr>
              <a:t>methods and attributes get accessed from.</a:t>
            </a:r>
          </a:p>
          <a:p>
            <a:pPr lvl="1" eaLnBrk="1" hangingPunct="1">
              <a:lnSpc>
                <a:spcPct val="90000"/>
              </a:lnSpc>
              <a:spcBef>
                <a:spcPts val="282"/>
              </a:spcBef>
            </a:pPr>
            <a:r>
              <a:rPr lang="en-US" altLang="en-US" sz="3193" kern="0" dirty="0">
                <a:solidFill>
                  <a:schemeClr val="tx1"/>
                </a:solidFill>
              </a:rPr>
              <a:t>The class can limit the client</a:t>
            </a:r>
            <a:r>
              <a:rPr lang="en-US" altLang="en-US" sz="3193" kern="0" spc="-235" dirty="0">
                <a:solidFill>
                  <a:schemeClr val="tx1"/>
                </a:solidFill>
              </a:rPr>
              <a:t>’</a:t>
            </a:r>
            <a:r>
              <a:rPr lang="en-US" altLang="en-US" sz="3193" kern="0" dirty="0">
                <a:solidFill>
                  <a:schemeClr val="tx1"/>
                </a:solidFill>
              </a:rPr>
              <a:t>s access, by using private attributes and methods.</a:t>
            </a:r>
          </a:p>
        </p:txBody>
      </p:sp>
    </p:spTree>
    <p:extLst>
      <p:ext uri="{BB962C8B-B14F-4D97-AF65-F5344CB8AC3E}">
        <p14:creationId xmlns:p14="http://schemas.microsoft.com/office/powerpoint/2010/main" val="96521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78763" y="1057483"/>
            <a:ext cx="8586475" cy="572431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class Critter(</a:t>
            </a:r>
            <a:r>
              <a:rPr lang="en-US" altLang="en-US" sz="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   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268319" indent="-268319" eaLnBrk="1" hangingPunct="1">
              <a:lnSpc>
                <a:spcPct val="90000"/>
              </a:lnSpc>
            </a:pPr>
            <a:r>
              <a:rPr lang="en-US" altLang="en-US" sz="3005" dirty="0">
                <a:solidFill>
                  <a:srgbClr val="FF0000"/>
                </a:solidFill>
              </a:rPr>
              <a:t>Defining a class:</a:t>
            </a:r>
          </a:p>
          <a:p>
            <a:pPr marL="536639" lvl="1" eaLnBrk="1" hangingPunct="1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altLang="en-US" sz="2629" spc="-94" dirty="0">
                <a:solidFill>
                  <a:schemeClr val="tx1"/>
                </a:solidFill>
              </a:rPr>
              <a:t>Name begins with capital letter, by convention </a:t>
            </a:r>
            <a:r>
              <a:rPr lang="en-US" altLang="en-US" sz="3005" spc="-188" dirty="0">
                <a:solidFill>
                  <a:schemeClr val="tx1"/>
                </a:solidFill>
              </a:rPr>
              <a:t>(</a:t>
            </a:r>
            <a:r>
              <a:rPr lang="zh-TW" altLang="en-US" sz="2629" spc="-188" dirty="0">
                <a:solidFill>
                  <a:schemeClr val="tx1"/>
                </a:solidFill>
              </a:rPr>
              <a:t>命名慣例</a:t>
            </a:r>
            <a:r>
              <a:rPr lang="en-US" altLang="en-US" sz="3005" spc="-188" dirty="0">
                <a:solidFill>
                  <a:schemeClr val="tx1"/>
                </a:solidFill>
              </a:rPr>
              <a:t>)</a:t>
            </a:r>
            <a:r>
              <a:rPr lang="en-US" altLang="en-US" sz="2629" spc="-94" dirty="0">
                <a:solidFill>
                  <a:schemeClr val="tx1"/>
                </a:solidFill>
              </a:rPr>
              <a:t>. 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40" y="76200"/>
            <a:ext cx="758472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Creating and Using a Class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2362200" y="1371600"/>
            <a:ext cx="457200" cy="1447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1752600" y="1295400"/>
            <a:ext cx="2133600" cy="2057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3245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78763" y="1057483"/>
            <a:ext cx="8586475" cy="572431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class Critter(</a:t>
            </a:r>
            <a:r>
              <a:rPr lang="en-US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   print ("An instance of the class.")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268319" indent="-268319" eaLnBrk="1" hangingPunct="1">
              <a:lnSpc>
                <a:spcPct val="90000"/>
              </a:lnSpc>
              <a:buClrTx/>
            </a:pPr>
            <a:r>
              <a:rPr lang="en-US" altLang="en-US" sz="3005" dirty="0">
                <a:solidFill>
                  <a:srgbClr val="DF5050"/>
                </a:solidFill>
              </a:rPr>
              <a:t>Defining a class:</a:t>
            </a:r>
          </a:p>
          <a:p>
            <a:pPr marL="536639" lvl="1" eaLnBrk="1" hangingPunct="1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altLang="en-US" sz="2629" spc="-94" dirty="0">
                <a:solidFill>
                  <a:srgbClr val="606060"/>
                </a:solidFill>
              </a:rPr>
              <a:t>Name begins with capital letter, by convention </a:t>
            </a:r>
            <a:r>
              <a:rPr lang="en-US" altLang="en-US" sz="3005" spc="-188" dirty="0">
                <a:solidFill>
                  <a:srgbClr val="606060"/>
                </a:solidFill>
              </a:rPr>
              <a:t>(</a:t>
            </a:r>
            <a:r>
              <a:rPr lang="zh-TW" altLang="en-US" sz="2629" spc="-188" dirty="0">
                <a:solidFill>
                  <a:srgbClr val="606060"/>
                </a:solidFill>
              </a:rPr>
              <a:t>命名慣例</a:t>
            </a:r>
            <a:r>
              <a:rPr lang="en-US" altLang="en-US" sz="3005" spc="-188" dirty="0">
                <a:solidFill>
                  <a:srgbClr val="606060"/>
                </a:solidFill>
              </a:rPr>
              <a:t>)</a:t>
            </a:r>
            <a:r>
              <a:rPr lang="en-US" altLang="en-US" sz="2629" spc="-94" dirty="0">
                <a:solidFill>
                  <a:srgbClr val="606060"/>
                </a:solidFill>
              </a:rPr>
              <a:t>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5" dirty="0">
                <a:solidFill>
                  <a:srgbClr val="FF0000"/>
                </a:solidFill>
              </a:rPr>
              <a:t>Defining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629" spc="-66" dirty="0">
                <a:solidFill>
                  <a:schemeClr val="tx1"/>
                </a:solidFill>
              </a:rPr>
              <a:t>The first parameter </a:t>
            </a:r>
            <a:r>
              <a:rPr lang="en-US" altLang="en-US" sz="2629" spc="-94" dirty="0">
                <a:solidFill>
                  <a:schemeClr val="tx1"/>
                </a:solidFill>
              </a:rPr>
              <a:t>(self, by convention</a:t>
            </a:r>
            <a:r>
              <a:rPr lang="en-US" altLang="en-US" sz="2629" spc="-66" dirty="0">
                <a:solidFill>
                  <a:schemeClr val="tx1"/>
                </a:solidFill>
              </a:rPr>
              <a:t>) is needed so that the method can refer to the object itself.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40" y="76200"/>
            <a:ext cx="758472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Creating and Using a Class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1981200" y="1752600"/>
            <a:ext cx="990600" cy="2133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 flipV="1">
            <a:off x="2971800" y="1676400"/>
            <a:ext cx="1143000" cy="2590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6363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78763" y="1057483"/>
            <a:ext cx="8586475" cy="572431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class Critter(</a:t>
            </a:r>
            <a:r>
              <a:rPr lang="en-US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62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print ("An instance of the class.")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crit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= Critter(</a:t>
            </a:r>
            <a:r>
              <a:rPr lang="en-US" altLang="en-US" sz="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268319" indent="-268319" eaLnBrk="1" hangingPunct="1">
              <a:lnSpc>
                <a:spcPct val="90000"/>
              </a:lnSpc>
              <a:buClrTx/>
            </a:pPr>
            <a:r>
              <a:rPr lang="en-US" altLang="en-US" sz="3005" dirty="0">
                <a:solidFill>
                  <a:srgbClr val="DF5050"/>
                </a:solidFill>
              </a:rPr>
              <a:t>Defining a class:</a:t>
            </a:r>
          </a:p>
          <a:p>
            <a:pPr marL="536639" lvl="1" eaLnBrk="1" hangingPunct="1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altLang="en-US" sz="2629" spc="-94" dirty="0">
                <a:solidFill>
                  <a:srgbClr val="606060"/>
                </a:solidFill>
              </a:rPr>
              <a:t>Name begins with capital letter, by convention </a:t>
            </a:r>
            <a:r>
              <a:rPr lang="en-US" altLang="en-US" sz="3005" spc="-188" dirty="0">
                <a:solidFill>
                  <a:srgbClr val="606060"/>
                </a:solidFill>
              </a:rPr>
              <a:t>(</a:t>
            </a:r>
            <a:r>
              <a:rPr lang="zh-TW" altLang="en-US" sz="2629" spc="-188" dirty="0">
                <a:solidFill>
                  <a:srgbClr val="606060"/>
                </a:solidFill>
              </a:rPr>
              <a:t>命名慣例</a:t>
            </a:r>
            <a:r>
              <a:rPr lang="en-US" altLang="en-US" sz="3005" spc="-188" dirty="0">
                <a:solidFill>
                  <a:srgbClr val="606060"/>
                </a:solidFill>
              </a:rPr>
              <a:t>)</a:t>
            </a:r>
            <a:r>
              <a:rPr lang="en-US" altLang="en-US" sz="2629" spc="-94" dirty="0">
                <a:solidFill>
                  <a:srgbClr val="606060"/>
                </a:solidFill>
              </a:rPr>
              <a:t>.  </a:t>
            </a:r>
          </a:p>
          <a:p>
            <a:pPr eaLnBrk="1" hangingPunct="1">
              <a:lnSpc>
                <a:spcPct val="90000"/>
              </a:lnSpc>
              <a:buClrTx/>
            </a:pPr>
            <a:r>
              <a:rPr lang="en-US" altLang="en-US" sz="3005" dirty="0">
                <a:solidFill>
                  <a:srgbClr val="DF5050"/>
                </a:solidFill>
              </a:rPr>
              <a:t>Defining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629" spc="-66" dirty="0">
                <a:solidFill>
                  <a:srgbClr val="606060"/>
                </a:solidFill>
              </a:rPr>
              <a:t>The first parameter </a:t>
            </a:r>
            <a:r>
              <a:rPr lang="en-US" altLang="en-US" sz="2629" spc="-94" dirty="0">
                <a:solidFill>
                  <a:srgbClr val="606060"/>
                </a:solidFill>
              </a:rPr>
              <a:t>(self, by convention</a:t>
            </a:r>
            <a:r>
              <a:rPr lang="en-US" altLang="en-US" sz="2629" spc="-66" dirty="0">
                <a:solidFill>
                  <a:srgbClr val="606060"/>
                </a:solidFill>
              </a:rPr>
              <a:t>) is needed so that the method can refer to the object itself.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5" dirty="0">
                <a:solidFill>
                  <a:srgbClr val="FF0000"/>
                </a:solidFill>
              </a:rPr>
              <a:t>Creating an instance: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altLang="en-US" sz="2629" spc="-56" dirty="0">
                <a:solidFill>
                  <a:schemeClr val="tx1"/>
                </a:solidFill>
              </a:rPr>
              <a:t>Avoid using a lowercase-version of the class name.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3005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40" y="76200"/>
            <a:ext cx="758472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Creating and Using a Class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>
            <a:off x="990600" y="2362200"/>
            <a:ext cx="2209800" cy="2743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 flipV="1">
            <a:off x="2438400" y="1371600"/>
            <a:ext cx="4953000" cy="4114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6946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78763" y="1057483"/>
            <a:ext cx="8586475" cy="572431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class Critter(</a:t>
            </a:r>
            <a:r>
              <a:rPr lang="en-US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62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print ("An instance of the class.")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crit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= Critter(</a:t>
            </a:r>
            <a:r>
              <a:rPr lang="en-US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crit.talk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marL="268319" indent="-268319" eaLnBrk="1" hangingPunct="1">
              <a:lnSpc>
                <a:spcPct val="90000"/>
              </a:lnSpc>
              <a:buClrTx/>
            </a:pPr>
            <a:r>
              <a:rPr lang="en-US" altLang="en-US" sz="3005" dirty="0">
                <a:solidFill>
                  <a:srgbClr val="DF5050"/>
                </a:solidFill>
              </a:rPr>
              <a:t>Defining a class:</a:t>
            </a:r>
          </a:p>
          <a:p>
            <a:pPr marL="536639" lvl="1" eaLnBrk="1" hangingPunct="1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altLang="en-US" sz="2629" spc="-94" dirty="0">
                <a:solidFill>
                  <a:srgbClr val="606060"/>
                </a:solidFill>
              </a:rPr>
              <a:t>Name begins with capital letter, by convention </a:t>
            </a:r>
            <a:r>
              <a:rPr lang="en-US" altLang="en-US" sz="3005" spc="-188" dirty="0">
                <a:solidFill>
                  <a:srgbClr val="606060"/>
                </a:solidFill>
              </a:rPr>
              <a:t>(</a:t>
            </a:r>
            <a:r>
              <a:rPr lang="zh-TW" altLang="en-US" sz="2629" spc="-188" dirty="0">
                <a:solidFill>
                  <a:srgbClr val="606060"/>
                </a:solidFill>
              </a:rPr>
              <a:t>命名慣例</a:t>
            </a:r>
            <a:r>
              <a:rPr lang="en-US" altLang="en-US" sz="3005" spc="-188" dirty="0">
                <a:solidFill>
                  <a:srgbClr val="606060"/>
                </a:solidFill>
              </a:rPr>
              <a:t>)</a:t>
            </a:r>
            <a:r>
              <a:rPr lang="en-US" altLang="en-US" sz="2629" spc="-94" dirty="0">
                <a:solidFill>
                  <a:srgbClr val="606060"/>
                </a:solidFill>
              </a:rPr>
              <a:t>.  </a:t>
            </a:r>
          </a:p>
          <a:p>
            <a:pPr eaLnBrk="1" hangingPunct="1">
              <a:lnSpc>
                <a:spcPct val="90000"/>
              </a:lnSpc>
              <a:buClrTx/>
            </a:pPr>
            <a:r>
              <a:rPr lang="en-US" altLang="en-US" sz="3005" dirty="0">
                <a:solidFill>
                  <a:srgbClr val="DF5050"/>
                </a:solidFill>
              </a:rPr>
              <a:t>Defining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629" spc="-66" dirty="0">
                <a:solidFill>
                  <a:srgbClr val="606060"/>
                </a:solidFill>
              </a:rPr>
              <a:t>The first parameter </a:t>
            </a:r>
            <a:r>
              <a:rPr lang="en-US" altLang="en-US" sz="2629" spc="-94" dirty="0">
                <a:solidFill>
                  <a:srgbClr val="606060"/>
                </a:solidFill>
              </a:rPr>
              <a:t>(self, by convention</a:t>
            </a:r>
            <a:r>
              <a:rPr lang="en-US" altLang="en-US" sz="2629" spc="-66" dirty="0">
                <a:solidFill>
                  <a:srgbClr val="606060"/>
                </a:solidFill>
              </a:rPr>
              <a:t>) is needed so that the method can refer to the object itself.</a:t>
            </a:r>
          </a:p>
          <a:p>
            <a:pPr eaLnBrk="1" hangingPunct="1">
              <a:lnSpc>
                <a:spcPct val="90000"/>
              </a:lnSpc>
              <a:buClrTx/>
            </a:pPr>
            <a:r>
              <a:rPr lang="en-US" altLang="en-US" sz="3005" dirty="0">
                <a:solidFill>
                  <a:srgbClr val="DF5050"/>
                </a:solidFill>
              </a:rPr>
              <a:t>Creating an instance: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</a:pPr>
            <a:r>
              <a:rPr lang="en-US" altLang="en-US" sz="2629" spc="-56" dirty="0">
                <a:solidFill>
                  <a:srgbClr val="606060"/>
                </a:solidFill>
              </a:rPr>
              <a:t>Avoid using a lowercase-version of the class name.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5" dirty="0">
                <a:solidFill>
                  <a:srgbClr val="FF0000"/>
                </a:solidFill>
              </a:rPr>
              <a:t>Calling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629" spc="-56" dirty="0">
                <a:solidFill>
                  <a:schemeClr val="tx1"/>
                </a:solidFill>
              </a:rPr>
              <a:t>Don't give the self argument (it's given automatically).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40" y="76200"/>
            <a:ext cx="758472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Creating and Using a Class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1752600" y="2667000"/>
            <a:ext cx="1143000" cy="3352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H="1" flipV="1">
            <a:off x="2400300" y="2533650"/>
            <a:ext cx="952500" cy="38671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6692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40" y="76200"/>
            <a:ext cx="758472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Creating Multiple Objects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78763" y="762000"/>
            <a:ext cx="8586475" cy="579587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1127" dirty="0">
              <a:latin typeface="Courier New" pitchFamily="49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3005" dirty="0"/>
              <a:t>Two objects are created here: </a:t>
            </a:r>
          </a:p>
          <a:p>
            <a:pPr indent="375647" eaLnBrk="1" hangingPunct="1">
              <a:buNone/>
            </a:pPr>
            <a:r>
              <a:rPr lang="en-US" altLang="en-US" sz="2629" dirty="0">
                <a:latin typeface="Lucida Console" panose="020B0609040504020204" pitchFamily="49" charset="0"/>
              </a:rPr>
              <a:t>crit1 = Critter()</a:t>
            </a:r>
          </a:p>
          <a:p>
            <a:pPr indent="375647" eaLnBrk="1" hangingPunct="1">
              <a:buNone/>
            </a:pPr>
            <a:r>
              <a:rPr lang="en-US" altLang="en-US" sz="2629" dirty="0">
                <a:latin typeface="Lucida Console" panose="020B0609040504020204" pitchFamily="49" charset="0"/>
              </a:rPr>
              <a:t>crit2 = Critter()</a:t>
            </a:r>
          </a:p>
          <a:p>
            <a:pPr eaLnBrk="1" hangingPunct="1">
              <a:spcBef>
                <a:spcPts val="1690"/>
              </a:spcBef>
            </a:pPr>
            <a:r>
              <a:rPr lang="en-US" altLang="en-US" sz="3005" dirty="0"/>
              <a:t>Each object is independent, so changing one won't affect the other.</a:t>
            </a:r>
          </a:p>
          <a:p>
            <a:pPr lvl="1" eaLnBrk="1" hangingPunct="1"/>
            <a:r>
              <a:rPr lang="en-US" altLang="en-US" sz="2817" dirty="0"/>
              <a:t>But we already knew that, because we’ve used multiple independent objects since lecture #1:</a:t>
            </a:r>
          </a:p>
          <a:p>
            <a:pPr lvl="1" eaLnBrk="1" hangingPunct="1">
              <a:buClr>
                <a:schemeClr val="bg1"/>
              </a:buClr>
            </a:pPr>
            <a:r>
              <a:rPr lang="en-US" altLang="en-US" sz="2629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629" dirty="0">
                <a:latin typeface="Lucida Console" panose="020B0609040504020204" pitchFamily="49" charset="0"/>
              </a:rPr>
              <a:t> a=list(); b=list(); type(a)</a:t>
            </a:r>
            <a:br>
              <a:rPr lang="en-US" altLang="en-US" sz="2629" dirty="0">
                <a:latin typeface="Lucida Console" panose="020B0609040504020204" pitchFamily="49" charset="0"/>
              </a:rPr>
            </a:b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&lt;class 'list'&gt;</a:t>
            </a:r>
            <a:br>
              <a:rPr lang="en-US" altLang="en-US" sz="2629" dirty="0">
                <a:latin typeface="Lucida Console" panose="020B0609040504020204" pitchFamily="49" charset="0"/>
              </a:rPr>
            </a:br>
            <a:r>
              <a:rPr lang="en-US" altLang="en-US" sz="2629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629" dirty="0">
                <a:latin typeface="Lucida Console" panose="020B0609040504020204" pitchFamily="49" charset="0"/>
              </a:rPr>
              <a:t> b+</a:t>
            </a:r>
            <a:r>
              <a:rPr lang="en-US" altLang="en-US" sz="2629" spc="-94" dirty="0">
                <a:latin typeface="Lucida Console" panose="020B0609040504020204" pitchFamily="49" charset="0"/>
              </a:rPr>
              <a:t>=[1]; a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#Se</a:t>
            </a:r>
            <a:r>
              <a:rPr lang="en-US" altLang="en-US" sz="2629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e,</a:t>
            </a:r>
            <a:r>
              <a:rPr lang="en-US" altLang="en-US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(&amp;</a:t>
            </a:r>
            <a:r>
              <a:rPr lang="en-US" altLang="en-US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b)</a:t>
            </a:r>
            <a:r>
              <a:rPr lang="en-US" altLang="en-US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188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objects</a:t>
            </a:r>
            <a:br>
              <a:rPr lang="en-US" altLang="en-US" sz="2629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[]</a:t>
            </a:r>
            <a:br>
              <a:rPr lang="en-US" altLang="en-US" sz="2629" dirty="0">
                <a:latin typeface="Lucida Console" panose="020B0609040504020204" pitchFamily="49" charset="0"/>
              </a:rPr>
            </a:br>
            <a:r>
              <a:rPr lang="en-US" altLang="en-US" sz="2629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#See,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independent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of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how</a:t>
            </a:r>
            <a:r>
              <a:rPr lang="en-US" altLang="en-US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spc="-94" dirty="0">
                <a:solidFill>
                  <a:srgbClr val="FFC000"/>
                </a:solidFill>
                <a:latin typeface="Lucida Console" panose="020B0609040504020204" pitchFamily="49" charset="0"/>
              </a:rPr>
              <a:t>b changes</a:t>
            </a:r>
            <a:endParaRPr lang="en-US" altLang="en-US" sz="2629" spc="-94" dirty="0">
              <a:solidFill>
                <a:srgbClr val="FFC000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405737" y="5312182"/>
            <a:ext cx="1824626" cy="49437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en-US" sz="1878">
              <a:latin typeface="Times New Roman" charset="0"/>
              <a:ea typeface="+mn-ea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976414" y="5764273"/>
            <a:ext cx="7888824" cy="79359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en-US" sz="1878">
              <a:latin typeface="Times New Roman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461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79640" y="76200"/>
            <a:ext cx="7584720" cy="715540"/>
          </a:xfrm>
        </p:spPr>
        <p:txBody>
          <a:bodyPr/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A simple class de</a:t>
            </a:r>
            <a:r>
              <a:rPr lang="en-US" altLang="en-US" sz="4132" spc="260" dirty="0">
                <a:latin typeface="Elephant" panose="02020904090505020303" pitchFamily="18" charset="0"/>
              </a:rPr>
              <a:t>f</a:t>
            </a:r>
            <a:r>
              <a:rPr lang="en-US" altLang="en-US" sz="4132" dirty="0">
                <a:latin typeface="Elephant" panose="02020904090505020303" pitchFamily="18" charset="0"/>
              </a:rPr>
              <a:t>inition: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    greet(self):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...      print ("Good afternoon.")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=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solidFill>
                <a:schemeClr val="bg1"/>
              </a:solidFill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When you </a:t>
            </a:r>
            <a:r>
              <a:rPr lang="en-US" altLang="en-US" sz="3005" i="1" dirty="0">
                <a:solidFill>
                  <a:srgbClr val="00B0F0"/>
                </a:solidFill>
              </a:rPr>
              <a:t>define</a:t>
            </a:r>
            <a:r>
              <a:rPr lang="en-US" altLang="en-US" sz="3005" dirty="0"/>
              <a:t> a </a:t>
            </a:r>
            <a:r>
              <a:rPr lang="en-US" altLang="en-US" sz="3005" i="1" dirty="0">
                <a:solidFill>
                  <a:srgbClr val="FF0000"/>
                </a:solidFill>
              </a:rPr>
              <a:t>class</a:t>
            </a:r>
            <a:r>
              <a:rPr lang="en-US" altLang="en-US" sz="3005" dirty="0"/>
              <a:t>, you provide: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</a:t>
            </a:r>
            <a:r>
              <a:rPr lang="en-US" altLang="en-US" sz="1878" dirty="0"/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class</a:t>
            </a:r>
            <a:r>
              <a:rPr lang="en-US" altLang="en-US" sz="1878" dirty="0">
                <a:solidFill>
                  <a:srgbClr val="FF0000"/>
                </a:solidFill>
              </a:rPr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name</a:t>
            </a:r>
            <a:r>
              <a:rPr lang="en-US" altLang="en-US" sz="1690" dirty="0"/>
              <a:t> </a:t>
            </a:r>
            <a:r>
              <a:rPr lang="en-US" altLang="en-US" sz="2629" dirty="0"/>
              <a:t>(begin</a:t>
            </a:r>
            <a:r>
              <a:rPr lang="en-US" altLang="en-US" sz="1690" dirty="0"/>
              <a:t> </a:t>
            </a:r>
            <a:r>
              <a:rPr lang="en-US" altLang="en-US" sz="2629" dirty="0"/>
              <a:t>with</a:t>
            </a:r>
            <a:r>
              <a:rPr lang="en-US" altLang="en-US" sz="1878" dirty="0"/>
              <a:t> </a:t>
            </a:r>
            <a:r>
              <a:rPr lang="en-US" altLang="en-US" sz="2629" dirty="0"/>
              <a:t>capital</a:t>
            </a:r>
            <a:r>
              <a:rPr lang="en-US" altLang="en-US" sz="1878" dirty="0"/>
              <a:t> </a:t>
            </a:r>
            <a:r>
              <a:rPr lang="en-US" altLang="en-US" sz="2629" dirty="0"/>
              <a:t>letter,</a:t>
            </a:r>
            <a:r>
              <a:rPr lang="en-US" altLang="en-US" sz="1690" dirty="0"/>
              <a:t> </a:t>
            </a:r>
            <a:r>
              <a:rPr lang="en-US" altLang="en-US" sz="2629" dirty="0"/>
              <a:t>by</a:t>
            </a:r>
            <a:r>
              <a:rPr lang="en-US" altLang="en-US" sz="1690" dirty="0"/>
              <a:t> </a:t>
            </a:r>
            <a:r>
              <a:rPr lang="en-US" altLang="en-US" sz="2629" dirty="0"/>
              <a:t>convention)  </a:t>
            </a:r>
          </a:p>
          <a:p>
            <a:pPr eaLnBrk="1" hangingPunct="1">
              <a:buFontTx/>
              <a:buNone/>
            </a:pPr>
            <a:endParaRPr lang="en-US" altLang="en-US" sz="2254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512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629" dirty="0">
                <a:latin typeface="Lucida Console" panose="020B0609040504020204" pitchFamily="49" charset="0"/>
              </a:rPr>
              <a:t>self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629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629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 =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solidFill>
                <a:schemeClr val="bg1"/>
              </a:solidFill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When you </a:t>
            </a:r>
            <a:r>
              <a:rPr lang="en-US" altLang="en-US" sz="3005" i="1" dirty="0">
                <a:solidFill>
                  <a:srgbClr val="00B0F0"/>
                </a:solidFill>
              </a:rPr>
              <a:t>define</a:t>
            </a:r>
            <a:r>
              <a:rPr lang="en-US" altLang="en-US" sz="3005" dirty="0"/>
              <a:t> a </a:t>
            </a:r>
            <a:r>
              <a:rPr lang="en-US" altLang="en-US" sz="3005" i="1" dirty="0">
                <a:solidFill>
                  <a:srgbClr val="FF0000"/>
                </a:solidFill>
              </a:rPr>
              <a:t>class</a:t>
            </a:r>
            <a:r>
              <a:rPr lang="en-US" altLang="en-US" sz="3005" dirty="0"/>
              <a:t>, you provide: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</a:t>
            </a:r>
            <a:r>
              <a:rPr lang="en-US" altLang="en-US" sz="1878" dirty="0"/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class</a:t>
            </a:r>
            <a:r>
              <a:rPr lang="en-US" altLang="en-US" sz="1878" dirty="0">
                <a:solidFill>
                  <a:srgbClr val="FF0000"/>
                </a:solidFill>
              </a:rPr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name</a:t>
            </a:r>
            <a:r>
              <a:rPr lang="en-US" altLang="en-US" sz="1690" dirty="0"/>
              <a:t> </a:t>
            </a:r>
            <a:r>
              <a:rPr lang="en-US" altLang="en-US" sz="2629" dirty="0"/>
              <a:t>(begin</a:t>
            </a:r>
            <a:r>
              <a:rPr lang="en-US" altLang="en-US" sz="1690" dirty="0"/>
              <a:t> </a:t>
            </a:r>
            <a:r>
              <a:rPr lang="en-US" altLang="en-US" sz="2629" dirty="0"/>
              <a:t>with</a:t>
            </a:r>
            <a:r>
              <a:rPr lang="en-US" altLang="en-US" sz="1878" dirty="0"/>
              <a:t> </a:t>
            </a:r>
            <a:r>
              <a:rPr lang="en-US" altLang="en-US" sz="2629" dirty="0"/>
              <a:t>capital</a:t>
            </a:r>
            <a:r>
              <a:rPr lang="en-US" altLang="en-US" sz="1878" dirty="0"/>
              <a:t> </a:t>
            </a:r>
            <a:r>
              <a:rPr lang="en-US" altLang="en-US" sz="2629" dirty="0"/>
              <a:t>letter,</a:t>
            </a:r>
            <a:r>
              <a:rPr lang="en-US" altLang="en-US" sz="1690" dirty="0"/>
              <a:t> </a:t>
            </a:r>
            <a:r>
              <a:rPr lang="en-US" altLang="en-US" sz="2629" dirty="0"/>
              <a:t>by</a:t>
            </a:r>
            <a:r>
              <a:rPr lang="en-US" altLang="en-US" sz="1690" dirty="0"/>
              <a:t> </a:t>
            </a:r>
            <a:r>
              <a:rPr lang="en-US" altLang="en-US" sz="2629" dirty="0"/>
              <a:t>convention)  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Maybe some </a:t>
            </a:r>
            <a:r>
              <a:rPr lang="en-US" altLang="en-US" sz="2629" dirty="0" err="1">
                <a:solidFill>
                  <a:srgbClr val="FFC000"/>
                </a:solidFill>
              </a:rPr>
              <a:t>attributes</a:t>
            </a:r>
            <a:r>
              <a:rPr lang="en-US" altLang="en-US" sz="2629" dirty="0" err="1"/>
              <a:t>&amp;</a:t>
            </a:r>
            <a:r>
              <a:rPr lang="en-US" altLang="en-US" sz="2629" dirty="0" err="1">
                <a:solidFill>
                  <a:srgbClr val="7030A0"/>
                </a:solidFill>
              </a:rPr>
              <a:t>methods</a:t>
            </a:r>
            <a:r>
              <a:rPr lang="en-US" altLang="en-US" sz="2629" dirty="0"/>
              <a:t> (like </a:t>
            </a:r>
            <a:r>
              <a:rPr lang="en-US" altLang="en-US" sz="2629" dirty="0">
                <a:solidFill>
                  <a:srgbClr val="7030A0"/>
                </a:solidFill>
              </a:rPr>
              <a:t>greet()</a:t>
            </a:r>
            <a:r>
              <a:rPr lang="en-US" altLang="en-US" sz="2629" dirty="0"/>
              <a:t>, above)</a:t>
            </a:r>
            <a:endParaRPr lang="en-US" altLang="en-US" sz="1033" dirty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endParaRPr lang="en-US" altLang="en-US" sz="2254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493424" y="4359201"/>
            <a:ext cx="8157152" cy="429324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137410" y="996165"/>
            <a:ext cx="4293238" cy="35777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78763" y="76200"/>
            <a:ext cx="8586475" cy="715540"/>
          </a:xfrm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A class containing a method:</a:t>
            </a:r>
            <a:endParaRPr lang="en-US" altLang="en-US" sz="4132" dirty="0"/>
          </a:p>
        </p:txBody>
      </p:sp>
    </p:spTree>
    <p:extLst>
      <p:ext uri="{BB962C8B-B14F-4D97-AF65-F5344CB8AC3E}">
        <p14:creationId xmlns:p14="http://schemas.microsoft.com/office/powerpoint/2010/main" val="420598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629" dirty="0">
                <a:latin typeface="Lucida Console" panose="020B0609040504020204" pitchFamily="49" charset="0"/>
              </a:rPr>
              <a:t>self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629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629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latin typeface="Lucida Console" panose="020B0609040504020204" pitchFamily="49" charset="0"/>
              </a:rPr>
              <a:t>=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solidFill>
                <a:schemeClr val="bg1"/>
              </a:solidFill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When you </a:t>
            </a:r>
            <a:r>
              <a:rPr lang="en-US" altLang="en-US" sz="3005" i="1" dirty="0">
                <a:solidFill>
                  <a:srgbClr val="00B0F0"/>
                </a:solidFill>
              </a:rPr>
              <a:t>define</a:t>
            </a:r>
            <a:r>
              <a:rPr lang="en-US" altLang="en-US" sz="3005" dirty="0"/>
              <a:t> a </a:t>
            </a:r>
            <a:r>
              <a:rPr lang="en-US" altLang="en-US" sz="3005" i="1" dirty="0">
                <a:solidFill>
                  <a:srgbClr val="FF0000"/>
                </a:solidFill>
              </a:rPr>
              <a:t>class</a:t>
            </a:r>
            <a:r>
              <a:rPr lang="en-US" altLang="en-US" sz="3005" dirty="0"/>
              <a:t>, you provide: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</a:t>
            </a:r>
            <a:r>
              <a:rPr lang="en-US" altLang="en-US" sz="1878" dirty="0"/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class</a:t>
            </a:r>
            <a:r>
              <a:rPr lang="en-US" altLang="en-US" sz="1878" dirty="0">
                <a:solidFill>
                  <a:srgbClr val="FF0000"/>
                </a:solidFill>
              </a:rPr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name</a:t>
            </a:r>
            <a:r>
              <a:rPr lang="en-US" altLang="en-US" sz="1690" dirty="0"/>
              <a:t> </a:t>
            </a:r>
            <a:r>
              <a:rPr lang="en-US" altLang="en-US" sz="2629" dirty="0"/>
              <a:t>(begin</a:t>
            </a:r>
            <a:r>
              <a:rPr lang="en-US" altLang="en-US" sz="1690" dirty="0"/>
              <a:t> </a:t>
            </a:r>
            <a:r>
              <a:rPr lang="en-US" altLang="en-US" sz="2629" dirty="0"/>
              <a:t>with</a:t>
            </a:r>
            <a:r>
              <a:rPr lang="en-US" altLang="en-US" sz="1878" dirty="0"/>
              <a:t> </a:t>
            </a:r>
            <a:r>
              <a:rPr lang="en-US" altLang="en-US" sz="2629" dirty="0"/>
              <a:t>capital</a:t>
            </a:r>
            <a:r>
              <a:rPr lang="en-US" altLang="en-US" sz="1878" dirty="0"/>
              <a:t> </a:t>
            </a:r>
            <a:r>
              <a:rPr lang="en-US" altLang="en-US" sz="2629" dirty="0"/>
              <a:t>letter,</a:t>
            </a:r>
            <a:r>
              <a:rPr lang="en-US" altLang="en-US" sz="1690" dirty="0"/>
              <a:t> </a:t>
            </a:r>
            <a:r>
              <a:rPr lang="en-US" altLang="en-US" sz="2629" dirty="0"/>
              <a:t>by</a:t>
            </a:r>
            <a:r>
              <a:rPr lang="en-US" altLang="en-US" sz="1690" dirty="0"/>
              <a:t> </a:t>
            </a:r>
            <a:r>
              <a:rPr lang="en-US" altLang="en-US" sz="2629" dirty="0"/>
              <a:t>convention)  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Maybe some </a:t>
            </a:r>
            <a:r>
              <a:rPr lang="en-US" altLang="en-US" sz="2629" dirty="0" err="1">
                <a:solidFill>
                  <a:srgbClr val="FFC000"/>
                </a:solidFill>
              </a:rPr>
              <a:t>attributes</a:t>
            </a:r>
            <a:r>
              <a:rPr lang="en-US" altLang="en-US" sz="2629" dirty="0" err="1"/>
              <a:t>&amp;</a:t>
            </a:r>
            <a:r>
              <a:rPr lang="en-US" altLang="en-US" sz="2629" dirty="0" err="1">
                <a:solidFill>
                  <a:srgbClr val="7030A0"/>
                </a:solidFill>
              </a:rPr>
              <a:t>methods</a:t>
            </a:r>
            <a:r>
              <a:rPr lang="en-US" altLang="en-US" sz="2629" dirty="0"/>
              <a:t> (like </a:t>
            </a:r>
            <a:r>
              <a:rPr lang="en-US" altLang="en-US" sz="2629" dirty="0">
                <a:solidFill>
                  <a:srgbClr val="7030A0"/>
                </a:solidFill>
              </a:rPr>
              <a:t>greet()</a:t>
            </a:r>
            <a:r>
              <a:rPr lang="en-US" altLang="en-US" sz="2629" dirty="0"/>
              <a:t>, above)</a:t>
            </a:r>
            <a:endParaRPr lang="en-US" altLang="en-US" sz="1033" dirty="0">
              <a:latin typeface="Courier New" pitchFamily="49" charset="0"/>
            </a:endParaRPr>
          </a:p>
          <a:p>
            <a:pPr marL="266829" indent="-266829" eaLnBrk="1" hangingPunct="1"/>
            <a:r>
              <a:rPr lang="en-US" altLang="en-US" sz="3005" dirty="0"/>
              <a:t>But you </a:t>
            </a:r>
            <a:r>
              <a:rPr lang="en-US" altLang="en-US" sz="3005" i="1" dirty="0">
                <a:solidFill>
                  <a:srgbClr val="00B0F0"/>
                </a:solidFill>
              </a:rPr>
              <a:t>create</a:t>
            </a:r>
            <a:r>
              <a:rPr lang="en-US" altLang="en-US" sz="3005" dirty="0"/>
              <a:t> an </a:t>
            </a:r>
            <a:r>
              <a:rPr lang="en-US" altLang="en-US" sz="3005" i="1" dirty="0">
                <a:solidFill>
                  <a:srgbClr val="006600"/>
                </a:solidFill>
              </a:rPr>
              <a:t>instance</a:t>
            </a:r>
            <a:r>
              <a:rPr lang="en-US" altLang="en-US" sz="3005" dirty="0"/>
              <a:t> of t</a:t>
            </a:r>
            <a:r>
              <a:rPr lang="en-US" altLang="en-US" sz="3005" dirty="0">
                <a:solidFill>
                  <a:schemeClr val="tx1"/>
                </a:solidFill>
              </a:rPr>
              <a:t>he class</a:t>
            </a:r>
            <a:r>
              <a:rPr lang="en-US" altLang="en-US" sz="3005" dirty="0"/>
              <a:t> when you define an </a:t>
            </a:r>
            <a:r>
              <a:rPr lang="en-US" altLang="en-US" sz="3005" dirty="0">
                <a:solidFill>
                  <a:srgbClr val="006600"/>
                </a:solidFill>
              </a:rPr>
              <a:t>object</a:t>
            </a:r>
            <a:r>
              <a:rPr lang="en-US" altLang="en-US" sz="3005" dirty="0"/>
              <a:t> (like </a:t>
            </a:r>
            <a:r>
              <a:rPr lang="en-US" altLang="en-US" sz="3005" dirty="0" err="1">
                <a:solidFill>
                  <a:srgbClr val="006600"/>
                </a:solidFill>
              </a:rPr>
              <a:t>inst</a:t>
            </a:r>
            <a:r>
              <a:rPr lang="en-US" altLang="en-US" sz="3005" dirty="0"/>
              <a:t>, above)</a:t>
            </a:r>
          </a:p>
          <a:p>
            <a:pPr eaLnBrk="1" hangingPunct="1">
              <a:buFontTx/>
              <a:buNone/>
            </a:pPr>
            <a:endParaRPr lang="en-US" altLang="en-US" sz="2254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278763" y="3786770"/>
            <a:ext cx="8586475" cy="1502633"/>
          </a:xfrm>
          <a:prstGeom prst="rect">
            <a:avLst/>
          </a:prstGeom>
          <a:solidFill>
            <a:srgbClr val="FFFFFF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137410" y="924612"/>
            <a:ext cx="6439857" cy="1144863"/>
          </a:xfrm>
          <a:prstGeom prst="rect">
            <a:avLst/>
          </a:prstGeom>
          <a:solidFill>
            <a:srgbClr val="FFFFFF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78763" y="76200"/>
            <a:ext cx="8586475" cy="715540"/>
          </a:xfrm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A class containing a method:</a:t>
            </a:r>
            <a:endParaRPr lang="en-US" altLang="en-US" sz="4132" dirty="0"/>
          </a:p>
        </p:txBody>
      </p:sp>
    </p:spTree>
    <p:extLst>
      <p:ext uri="{BB962C8B-B14F-4D97-AF65-F5344CB8AC3E}">
        <p14:creationId xmlns:p14="http://schemas.microsoft.com/office/powerpoint/2010/main" val="3973552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629" dirty="0">
                <a:latin typeface="Lucida Console" panose="020B0609040504020204" pitchFamily="49" charset="0"/>
              </a:rPr>
              <a:t>self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629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629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latin typeface="Lucida Console" panose="020B0609040504020204" pitchFamily="49" charset="0"/>
              </a:rPr>
              <a:t>=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greet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When you </a:t>
            </a:r>
            <a:r>
              <a:rPr lang="en-US" altLang="en-US" sz="3005" i="1" dirty="0">
                <a:solidFill>
                  <a:srgbClr val="00B0F0"/>
                </a:solidFill>
              </a:rPr>
              <a:t>define</a:t>
            </a:r>
            <a:r>
              <a:rPr lang="en-US" altLang="en-US" sz="3005" dirty="0"/>
              <a:t> a </a:t>
            </a:r>
            <a:r>
              <a:rPr lang="en-US" altLang="en-US" sz="3005" i="1" dirty="0">
                <a:solidFill>
                  <a:srgbClr val="FF0000"/>
                </a:solidFill>
              </a:rPr>
              <a:t>class</a:t>
            </a:r>
            <a:r>
              <a:rPr lang="en-US" altLang="en-US" sz="3005" dirty="0"/>
              <a:t>, you provide: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</a:t>
            </a:r>
            <a:r>
              <a:rPr lang="en-US" altLang="en-US" sz="1878" dirty="0"/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class</a:t>
            </a:r>
            <a:r>
              <a:rPr lang="en-US" altLang="en-US" sz="1878" dirty="0">
                <a:solidFill>
                  <a:srgbClr val="FF0000"/>
                </a:solidFill>
              </a:rPr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name</a:t>
            </a:r>
            <a:r>
              <a:rPr lang="en-US" altLang="en-US" sz="1690" dirty="0"/>
              <a:t> </a:t>
            </a:r>
            <a:r>
              <a:rPr lang="en-US" altLang="en-US" sz="2629" dirty="0"/>
              <a:t>(begin</a:t>
            </a:r>
            <a:r>
              <a:rPr lang="en-US" altLang="en-US" sz="1690" dirty="0"/>
              <a:t> </a:t>
            </a:r>
            <a:r>
              <a:rPr lang="en-US" altLang="en-US" sz="2629" dirty="0"/>
              <a:t>with</a:t>
            </a:r>
            <a:r>
              <a:rPr lang="en-US" altLang="en-US" sz="1878" dirty="0"/>
              <a:t> </a:t>
            </a:r>
            <a:r>
              <a:rPr lang="en-US" altLang="en-US" sz="2629" dirty="0"/>
              <a:t>capital</a:t>
            </a:r>
            <a:r>
              <a:rPr lang="en-US" altLang="en-US" sz="1878" dirty="0"/>
              <a:t> </a:t>
            </a:r>
            <a:r>
              <a:rPr lang="en-US" altLang="en-US" sz="2629" dirty="0"/>
              <a:t>letter,</a:t>
            </a:r>
            <a:r>
              <a:rPr lang="en-US" altLang="en-US" sz="1690" dirty="0"/>
              <a:t> </a:t>
            </a:r>
            <a:r>
              <a:rPr lang="en-US" altLang="en-US" sz="2629" dirty="0"/>
              <a:t>by</a:t>
            </a:r>
            <a:r>
              <a:rPr lang="en-US" altLang="en-US" sz="1690" dirty="0"/>
              <a:t> </a:t>
            </a:r>
            <a:r>
              <a:rPr lang="en-US" altLang="en-US" sz="2629" dirty="0"/>
              <a:t>convention)  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Maybe some </a:t>
            </a:r>
            <a:r>
              <a:rPr lang="en-US" altLang="en-US" sz="2629" dirty="0" err="1">
                <a:solidFill>
                  <a:srgbClr val="FFC000"/>
                </a:solidFill>
              </a:rPr>
              <a:t>attributes</a:t>
            </a:r>
            <a:r>
              <a:rPr lang="en-US" altLang="en-US" sz="2629" dirty="0" err="1"/>
              <a:t>&amp;</a:t>
            </a:r>
            <a:r>
              <a:rPr lang="en-US" altLang="en-US" sz="2629" dirty="0" err="1">
                <a:solidFill>
                  <a:srgbClr val="7030A0"/>
                </a:solidFill>
              </a:rPr>
              <a:t>methods</a:t>
            </a:r>
            <a:r>
              <a:rPr lang="en-US" altLang="en-US" sz="2629" dirty="0"/>
              <a:t> (like </a:t>
            </a:r>
            <a:r>
              <a:rPr lang="en-US" altLang="en-US" sz="2629" dirty="0">
                <a:solidFill>
                  <a:srgbClr val="7030A0"/>
                </a:solidFill>
              </a:rPr>
              <a:t>greet()</a:t>
            </a:r>
            <a:r>
              <a:rPr lang="en-US" altLang="en-US" sz="2629" dirty="0"/>
              <a:t>, above)</a:t>
            </a:r>
            <a:endParaRPr lang="en-US" altLang="en-US" sz="1033" dirty="0">
              <a:latin typeface="Courier New" pitchFamily="49" charset="0"/>
            </a:endParaRPr>
          </a:p>
          <a:p>
            <a:pPr marL="266829" indent="-266829" eaLnBrk="1" hangingPunct="1"/>
            <a:r>
              <a:rPr lang="en-US" altLang="en-US" sz="3005" dirty="0"/>
              <a:t>But you </a:t>
            </a:r>
            <a:r>
              <a:rPr lang="en-US" altLang="en-US" sz="3005" i="1" dirty="0">
                <a:solidFill>
                  <a:srgbClr val="00B0F0"/>
                </a:solidFill>
              </a:rPr>
              <a:t>create</a:t>
            </a:r>
            <a:r>
              <a:rPr lang="en-US" altLang="en-US" sz="3005" dirty="0"/>
              <a:t> an </a:t>
            </a:r>
            <a:r>
              <a:rPr lang="en-US" altLang="en-US" sz="3005" i="1" dirty="0">
                <a:solidFill>
                  <a:srgbClr val="006600"/>
                </a:solidFill>
              </a:rPr>
              <a:t>instance</a:t>
            </a:r>
            <a:r>
              <a:rPr lang="en-US" altLang="en-US" sz="3005" dirty="0"/>
              <a:t> of t</a:t>
            </a:r>
            <a:r>
              <a:rPr lang="en-US" altLang="en-US" sz="3005" dirty="0">
                <a:solidFill>
                  <a:schemeClr val="tx1"/>
                </a:solidFill>
              </a:rPr>
              <a:t>he class</a:t>
            </a:r>
            <a:r>
              <a:rPr lang="en-US" altLang="en-US" sz="3005" dirty="0"/>
              <a:t> when you define an </a:t>
            </a:r>
            <a:r>
              <a:rPr lang="en-US" altLang="en-US" sz="3005" dirty="0">
                <a:solidFill>
                  <a:srgbClr val="006600"/>
                </a:solidFill>
              </a:rPr>
              <a:t>object</a:t>
            </a:r>
            <a:r>
              <a:rPr lang="en-US" altLang="en-US" sz="3005" dirty="0"/>
              <a:t> (like </a:t>
            </a:r>
            <a:r>
              <a:rPr lang="en-US" altLang="en-US" sz="3005" dirty="0" err="1">
                <a:solidFill>
                  <a:srgbClr val="006600"/>
                </a:solidFill>
              </a:rPr>
              <a:t>inst</a:t>
            </a:r>
            <a:r>
              <a:rPr lang="en-US" altLang="en-US" sz="3005" dirty="0"/>
              <a:t>, above)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An instance can invoke methods</a:t>
            </a:r>
            <a:r>
              <a:rPr lang="en-US" altLang="en-US" sz="1690" dirty="0"/>
              <a:t> </a:t>
            </a:r>
            <a:r>
              <a:rPr lang="en-US" altLang="en-US" sz="2629" dirty="0"/>
              <a:t>(like  </a:t>
            </a:r>
            <a:r>
              <a:rPr lang="en-US" altLang="en-US" sz="2629" dirty="0" err="1">
                <a:solidFill>
                  <a:srgbClr val="006600"/>
                </a:solidFill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</a:rPr>
              <a:t>greet</a:t>
            </a:r>
            <a:r>
              <a:rPr lang="en-US" altLang="en-US" sz="2629" dirty="0">
                <a:solidFill>
                  <a:srgbClr val="7030A0"/>
                </a:solidFill>
              </a:rPr>
              <a:t>()</a:t>
            </a:r>
            <a:r>
              <a:rPr lang="en-US" altLang="en-US" sz="2629" dirty="0"/>
              <a:t>)  </a:t>
            </a:r>
            <a:endParaRPr lang="en-US" altLang="en-US" sz="2817" dirty="0"/>
          </a:p>
          <a:p>
            <a:pPr eaLnBrk="1" hangingPunct="1">
              <a:buFontTx/>
              <a:buNone/>
            </a:pPr>
            <a:endParaRPr lang="en-US" altLang="en-US" sz="2254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424733" y="5289403"/>
            <a:ext cx="8440505" cy="930201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137410" y="2141029"/>
            <a:ext cx="6439857" cy="64398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137410" y="924612"/>
            <a:ext cx="6439857" cy="46311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24733" y="3786770"/>
            <a:ext cx="8440505" cy="150263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78763" y="76200"/>
            <a:ext cx="8586475" cy="715540"/>
          </a:xfrm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A class containing a method:</a:t>
            </a:r>
            <a:endParaRPr lang="en-US" altLang="en-US" sz="4132" dirty="0"/>
          </a:p>
        </p:txBody>
      </p:sp>
    </p:spTree>
    <p:extLst>
      <p:ext uri="{BB962C8B-B14F-4D97-AF65-F5344CB8AC3E}">
        <p14:creationId xmlns:p14="http://schemas.microsoft.com/office/powerpoint/2010/main" val="1244071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78763" y="76200"/>
            <a:ext cx="8586475" cy="715540"/>
          </a:xfrm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A class containing a method:</a:t>
            </a:r>
            <a:endParaRPr lang="en-US" altLang="en-US" sz="4132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629" dirty="0">
                <a:latin typeface="Lucida Console" panose="020B0609040504020204" pitchFamily="49" charset="0"/>
              </a:rPr>
              <a:t>self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629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629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latin typeface="Lucida Console" panose="020B0609040504020204" pitchFamily="49" charset="0"/>
              </a:rPr>
              <a:t>= 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greet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When you </a:t>
            </a:r>
            <a:r>
              <a:rPr lang="en-US" altLang="en-US" sz="3005" i="1" dirty="0">
                <a:solidFill>
                  <a:srgbClr val="00B0F0"/>
                </a:solidFill>
              </a:rPr>
              <a:t>define</a:t>
            </a:r>
            <a:r>
              <a:rPr lang="en-US" altLang="en-US" sz="3005" dirty="0"/>
              <a:t> a </a:t>
            </a:r>
            <a:r>
              <a:rPr lang="en-US" altLang="en-US" sz="3005" i="1" dirty="0">
                <a:solidFill>
                  <a:srgbClr val="FF0000"/>
                </a:solidFill>
              </a:rPr>
              <a:t>class</a:t>
            </a:r>
            <a:r>
              <a:rPr lang="en-US" altLang="en-US" sz="3005" dirty="0"/>
              <a:t>, you provide: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</a:t>
            </a:r>
            <a:r>
              <a:rPr lang="en-US" altLang="en-US" sz="1878" dirty="0"/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class</a:t>
            </a:r>
            <a:r>
              <a:rPr lang="en-US" altLang="en-US" sz="1878" dirty="0">
                <a:solidFill>
                  <a:srgbClr val="FF0000"/>
                </a:solidFill>
              </a:rPr>
              <a:t> </a:t>
            </a:r>
            <a:r>
              <a:rPr lang="en-US" altLang="en-US" sz="2629" dirty="0">
                <a:solidFill>
                  <a:srgbClr val="FF0000"/>
                </a:solidFill>
              </a:rPr>
              <a:t>name</a:t>
            </a:r>
            <a:r>
              <a:rPr lang="en-US" altLang="en-US" sz="1690" dirty="0"/>
              <a:t> </a:t>
            </a:r>
            <a:r>
              <a:rPr lang="en-US" altLang="en-US" sz="2629" dirty="0"/>
              <a:t>(begin</a:t>
            </a:r>
            <a:r>
              <a:rPr lang="en-US" altLang="en-US" sz="1690" dirty="0"/>
              <a:t> </a:t>
            </a:r>
            <a:r>
              <a:rPr lang="en-US" altLang="en-US" sz="2629" dirty="0"/>
              <a:t>with</a:t>
            </a:r>
            <a:r>
              <a:rPr lang="en-US" altLang="en-US" sz="1878" dirty="0"/>
              <a:t> </a:t>
            </a:r>
            <a:r>
              <a:rPr lang="en-US" altLang="en-US" sz="2629" dirty="0"/>
              <a:t>capital</a:t>
            </a:r>
            <a:r>
              <a:rPr lang="en-US" altLang="en-US" sz="1878" dirty="0"/>
              <a:t> </a:t>
            </a:r>
            <a:r>
              <a:rPr lang="en-US" altLang="en-US" sz="2629" dirty="0"/>
              <a:t>letter,</a:t>
            </a:r>
            <a:r>
              <a:rPr lang="en-US" altLang="en-US" sz="1690" dirty="0"/>
              <a:t> </a:t>
            </a:r>
            <a:r>
              <a:rPr lang="en-US" altLang="en-US" sz="2629" dirty="0"/>
              <a:t>by</a:t>
            </a:r>
            <a:r>
              <a:rPr lang="en-US" altLang="en-US" sz="1690" dirty="0"/>
              <a:t> </a:t>
            </a:r>
            <a:r>
              <a:rPr lang="en-US" altLang="en-US" sz="2629" dirty="0"/>
              <a:t>convention)  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Maybe some </a:t>
            </a:r>
            <a:r>
              <a:rPr lang="en-US" altLang="en-US" sz="2629" dirty="0" err="1">
                <a:solidFill>
                  <a:srgbClr val="FFC000"/>
                </a:solidFill>
              </a:rPr>
              <a:t>attributes</a:t>
            </a:r>
            <a:r>
              <a:rPr lang="en-US" altLang="en-US" sz="2629" dirty="0" err="1"/>
              <a:t>&amp;</a:t>
            </a:r>
            <a:r>
              <a:rPr lang="en-US" altLang="en-US" sz="2629" dirty="0" err="1">
                <a:solidFill>
                  <a:srgbClr val="7030A0"/>
                </a:solidFill>
              </a:rPr>
              <a:t>methods</a:t>
            </a:r>
            <a:r>
              <a:rPr lang="en-US" altLang="en-US" sz="2629" dirty="0"/>
              <a:t> (like </a:t>
            </a:r>
            <a:r>
              <a:rPr lang="en-US" altLang="en-US" sz="2629" dirty="0">
                <a:solidFill>
                  <a:srgbClr val="7030A0"/>
                </a:solidFill>
              </a:rPr>
              <a:t>greet()</a:t>
            </a:r>
            <a:r>
              <a:rPr lang="en-US" altLang="en-US" sz="2629" dirty="0"/>
              <a:t>, above)</a:t>
            </a:r>
            <a:endParaRPr lang="en-US" altLang="en-US" sz="1033" dirty="0">
              <a:latin typeface="Courier New" pitchFamily="49" charset="0"/>
            </a:endParaRPr>
          </a:p>
          <a:p>
            <a:pPr marL="266829" indent="-266829" eaLnBrk="1" hangingPunct="1"/>
            <a:r>
              <a:rPr lang="en-US" altLang="en-US" sz="3005" dirty="0"/>
              <a:t>But you </a:t>
            </a:r>
            <a:r>
              <a:rPr lang="en-US" altLang="en-US" sz="3005" i="1" dirty="0">
                <a:solidFill>
                  <a:srgbClr val="00B0F0"/>
                </a:solidFill>
              </a:rPr>
              <a:t>create</a:t>
            </a:r>
            <a:r>
              <a:rPr lang="en-US" altLang="en-US" sz="3005" dirty="0"/>
              <a:t> an </a:t>
            </a:r>
            <a:r>
              <a:rPr lang="en-US" altLang="en-US" sz="3005" i="1" dirty="0">
                <a:solidFill>
                  <a:srgbClr val="006600"/>
                </a:solidFill>
              </a:rPr>
              <a:t>instance</a:t>
            </a:r>
            <a:r>
              <a:rPr lang="en-US" altLang="en-US" sz="3005" dirty="0"/>
              <a:t> of t</a:t>
            </a:r>
            <a:r>
              <a:rPr lang="en-US" altLang="en-US" sz="3005" dirty="0">
                <a:solidFill>
                  <a:schemeClr val="tx1"/>
                </a:solidFill>
              </a:rPr>
              <a:t>he class</a:t>
            </a:r>
            <a:r>
              <a:rPr lang="en-US" altLang="en-US" sz="3005" dirty="0"/>
              <a:t> when you define an </a:t>
            </a:r>
            <a:r>
              <a:rPr lang="en-US" altLang="en-US" sz="3005" dirty="0">
                <a:solidFill>
                  <a:srgbClr val="006600"/>
                </a:solidFill>
              </a:rPr>
              <a:t>object</a:t>
            </a:r>
            <a:r>
              <a:rPr lang="en-US" altLang="en-US" sz="3005" dirty="0"/>
              <a:t> (like </a:t>
            </a:r>
            <a:r>
              <a:rPr lang="en-US" altLang="en-US" sz="3005" dirty="0" err="1">
                <a:solidFill>
                  <a:srgbClr val="006600"/>
                </a:solidFill>
              </a:rPr>
              <a:t>inst</a:t>
            </a:r>
            <a:r>
              <a:rPr lang="en-US" altLang="en-US" sz="3005" dirty="0"/>
              <a:t>, above)</a:t>
            </a:r>
          </a:p>
          <a:p>
            <a:pPr marL="372666" lvl="1" indent="-210184" eaLnBrk="1" hangingPunct="1">
              <a:spcBef>
                <a:spcPts val="0"/>
              </a:spcBef>
            </a:pPr>
            <a:r>
              <a:rPr lang="en-US" altLang="en-US" sz="2629" dirty="0"/>
              <a:t>An instance can invoke methods</a:t>
            </a:r>
            <a:r>
              <a:rPr lang="en-US" altLang="en-US" sz="1690" dirty="0"/>
              <a:t> </a:t>
            </a:r>
            <a:r>
              <a:rPr lang="en-US" altLang="en-US" sz="2629" dirty="0"/>
              <a:t>(like  </a:t>
            </a:r>
            <a:r>
              <a:rPr lang="en-US" altLang="en-US" sz="2629" dirty="0" err="1">
                <a:solidFill>
                  <a:srgbClr val="006600"/>
                </a:solidFill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</a:rPr>
              <a:t>greet</a:t>
            </a:r>
            <a:r>
              <a:rPr lang="en-US" altLang="en-US" sz="2629" dirty="0">
                <a:solidFill>
                  <a:srgbClr val="7030A0"/>
                </a:solidFill>
              </a:rPr>
              <a:t>()</a:t>
            </a:r>
            <a:r>
              <a:rPr lang="en-US" altLang="en-US" sz="2629" dirty="0"/>
              <a:t>)  </a:t>
            </a:r>
            <a:endParaRPr lang="en-US" altLang="en-US" sz="2817" dirty="0"/>
          </a:p>
          <a:p>
            <a:pPr eaLnBrk="1" hangingPunct="1">
              <a:buFontTx/>
              <a:buNone/>
            </a:pPr>
            <a:endParaRPr lang="en-US" altLang="en-US" sz="2254" dirty="0">
              <a:latin typeface="Courier New" pitchFamily="49" charset="0"/>
            </a:endParaRPr>
          </a:p>
        </p:txBody>
      </p:sp>
      <p:sp>
        <p:nvSpPr>
          <p:cNvPr id="9" name="Rounded Rectangular Callout 6"/>
          <p:cNvSpPr/>
          <p:nvPr/>
        </p:nvSpPr>
        <p:spPr bwMode="auto">
          <a:xfrm>
            <a:off x="4214230" y="5217849"/>
            <a:ext cx="4364792" cy="1359525"/>
          </a:xfrm>
          <a:prstGeom prst="wedgeRoundRectCallout">
            <a:avLst>
              <a:gd name="adj1" fmla="val -46920"/>
              <a:gd name="adj2" fmla="val -31510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But look at its definition! It takes 1 argument, “self”. </a:t>
            </a: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Q: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What’s going on?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496286" y="5217849"/>
            <a:ext cx="3717944" cy="1359525"/>
          </a:xfrm>
          <a:prstGeom prst="wedgeRoundRectCallout">
            <a:avLst>
              <a:gd name="adj1" fmla="val 31277"/>
              <a:gd name="adj2" fmla="val -2147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Hey! When we called greet(), we didn’t pass any arguments…</a:t>
            </a:r>
            <a:endParaRPr lang="zh-TW" altLang="en-US" sz="3005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10" name="Rounded Rectangular Callout 6"/>
          <p:cNvSpPr/>
          <p:nvPr/>
        </p:nvSpPr>
        <p:spPr bwMode="auto">
          <a:xfrm>
            <a:off x="5573756" y="209072"/>
            <a:ext cx="3291482" cy="2719051"/>
          </a:xfrm>
          <a:prstGeom prst="wedgeRoundRectCallout">
            <a:avLst>
              <a:gd name="adj1" fmla="val -79023"/>
              <a:gd name="adj2" fmla="val -435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2932" rIns="0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A:</a:t>
            </a:r>
            <a:r>
              <a:rPr lang="en-US" altLang="zh-TW" sz="1878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the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1</a:t>
            </a:r>
            <a:r>
              <a:rPr lang="en-US" altLang="zh-TW" sz="3005" baseline="30000" dirty="0">
                <a:solidFill>
                  <a:srgbClr val="006600"/>
                </a:solidFill>
                <a:latin typeface="Times New Roman" charset="0"/>
              </a:rPr>
              <a:t>st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parameter (which we usually name as “self,” by convention) is not put into the caller’s argument list. </a:t>
            </a:r>
          </a:p>
          <a:p>
            <a:pPr algn="ctr">
              <a:lnSpc>
                <a:spcPct val="90000"/>
              </a:lnSpc>
            </a:pPr>
            <a:endParaRPr lang="en-US" altLang="zh-TW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1" name="Rounded Rectangular Callout 6"/>
          <p:cNvSpPr/>
          <p:nvPr/>
        </p:nvSpPr>
        <p:spPr bwMode="auto">
          <a:xfrm>
            <a:off x="278762" y="3607886"/>
            <a:ext cx="2289727" cy="1037533"/>
          </a:xfrm>
          <a:prstGeom prst="wedgeRoundRectCallout">
            <a:avLst>
              <a:gd name="adj1" fmla="val 109758"/>
              <a:gd name="adj2" fmla="val -23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Q2: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OK. But what is it?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421870" y="1461267"/>
            <a:ext cx="2289727" cy="1824627"/>
          </a:xfrm>
          <a:prstGeom prst="wedgeRoundRectCallout">
            <a:avLst>
              <a:gd name="adj1" fmla="val -36132"/>
              <a:gd name="adj2" fmla="val 742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A2: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To answer, let’s see another example…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52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026"/>
          <p:cNvSpPr txBox="1">
            <a:spLocks noChangeArrowheads="1"/>
          </p:cNvSpPr>
          <p:nvPr/>
        </p:nvSpPr>
        <p:spPr bwMode="auto">
          <a:xfrm>
            <a:off x="278763" y="76200"/>
            <a:ext cx="8586475" cy="715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29311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6pPr>
            <a:lvl7pPr marL="858622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7pPr>
            <a:lvl8pPr marL="1287932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8pPr>
            <a:lvl9pPr marL="1717243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132" kern="0" dirty="0">
                <a:latin typeface="Elephant" panose="02020904090505020303" pitchFamily="18" charset="0"/>
              </a:rPr>
              <a:t>A class containing an attribute:</a:t>
            </a:r>
          </a:p>
        </p:txBody>
      </p:sp>
      <p:sp>
        <p:nvSpPr>
          <p:cNvPr id="18" name="Rectangle 1027"/>
          <p:cNvSpPr txBox="1">
            <a:spLocks noChangeArrowheads="1"/>
          </p:cNvSpPr>
          <p:nvPr/>
        </p:nvSpPr>
        <p:spPr bwMode="auto">
          <a:xfrm>
            <a:off x="424733" y="996165"/>
            <a:ext cx="8440505" cy="5652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29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kern="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kern="0" dirty="0">
                <a:latin typeface="Lucida Console" panose="020B0609040504020204" pitchFamily="49" charset="0"/>
              </a:rPr>
              <a:t>   </a:t>
            </a:r>
            <a:r>
              <a:rPr lang="en-US" altLang="en-US" sz="2629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kern="0" dirty="0">
                <a:latin typeface="Lucida Console" panose="020B0609040504020204" pitchFamily="49" charset="0"/>
              </a:rPr>
              <a:t> </a:t>
            </a:r>
            <a:r>
              <a:rPr lang="en-US" altLang="en-US" sz="2629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629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629" kern="0" dirty="0" err="1">
                <a:latin typeface="Lucida Console" panose="020B0609040504020204" pitchFamily="49" charset="0"/>
              </a:rPr>
              <a:t>,</a:t>
            </a:r>
            <a:r>
              <a:rPr lang="en-US" altLang="en-US" sz="2629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629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kern="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kern="0" dirty="0">
                <a:latin typeface="Lucida Console" panose="020B0609040504020204" pitchFamily="49" charset="0"/>
              </a:rPr>
              <a:t>      </a:t>
            </a:r>
            <a:r>
              <a:rPr lang="en-US" altLang="en-US" sz="2629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629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629" kern="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kern="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kern="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kern="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629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kern="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629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629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629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kern="0" dirty="0">
              <a:latin typeface="Courier New" pitchFamily="49" charset="0"/>
            </a:endParaRP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629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,x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</a:t>
            </a:r>
            <a:r>
              <a:rPr lang="en-US" altLang="en-US" sz="2629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.val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endParaRPr lang="en-US" altLang="en-US" sz="1033" dirty="0">
              <a:latin typeface="Courier New" pitchFamily="49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3355583" y="1711705"/>
            <a:ext cx="1001755" cy="105443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ounded Rectangular Callout 6"/>
          <p:cNvSpPr/>
          <p:nvPr/>
        </p:nvSpPr>
        <p:spPr bwMode="auto">
          <a:xfrm>
            <a:off x="4351948" y="4376108"/>
            <a:ext cx="4370183" cy="2272821"/>
          </a:xfrm>
          <a:prstGeom prst="wedgeRoundRectCallout">
            <a:avLst>
              <a:gd name="adj1" fmla="val -79689"/>
              <a:gd name="adj2" fmla="val -15219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FFC000"/>
                </a:solidFill>
                <a:latin typeface="Times New Roman" charset="0"/>
              </a:rPr>
              <a:t>A3: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Because what “self” is, actually, is a pointer to it</a:t>
            </a:r>
            <a:r>
              <a:rPr lang="en-US" altLang="zh-TW" sz="3005" u="sng" dirty="0">
                <a:solidFill>
                  <a:srgbClr val="006600"/>
                </a:solidFill>
                <a:latin typeface="Times New Roman" charset="0"/>
              </a:rPr>
              <a:t>self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(</a:t>
            </a:r>
            <a:r>
              <a:rPr lang="en-US" altLang="zh-TW" sz="3005" dirty="0" err="1">
                <a:solidFill>
                  <a:srgbClr val="006600"/>
                </a:solidFill>
                <a:latin typeface="Times New Roman" charset="0"/>
              </a:rPr>
              <a:t>ie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,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to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the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object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that all of the attributes and methods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are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associated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to).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1" name="Rounded Rectangular Callout 6"/>
          <p:cNvSpPr/>
          <p:nvPr/>
        </p:nvSpPr>
        <p:spPr bwMode="auto">
          <a:xfrm>
            <a:off x="278762" y="3607886"/>
            <a:ext cx="2289727" cy="1037533"/>
          </a:xfrm>
          <a:prstGeom prst="wedgeRoundRectCallout">
            <a:avLst>
              <a:gd name="adj1" fmla="val 98457"/>
              <a:gd name="adj2" fmla="val -23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Q2: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OK. But what is it?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421870" y="1461267"/>
            <a:ext cx="2289727" cy="1824627"/>
          </a:xfrm>
          <a:prstGeom prst="wedgeRoundRectCallout">
            <a:avLst>
              <a:gd name="adj1" fmla="val -36132"/>
              <a:gd name="adj2" fmla="val 742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A2: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To answer, let’s see another example…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3" name="Rounded Rectangular Callout 6"/>
          <p:cNvSpPr/>
          <p:nvPr/>
        </p:nvSpPr>
        <p:spPr bwMode="auto">
          <a:xfrm>
            <a:off x="4357338" y="2355691"/>
            <a:ext cx="4364792" cy="930201"/>
          </a:xfrm>
          <a:prstGeom prst="wedgeRoundRectCallout">
            <a:avLst>
              <a:gd name="adj1" fmla="val -83977"/>
              <a:gd name="adj2" fmla="val -8300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Now, “self” is used here. </a:t>
            </a:r>
            <a:b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Q3: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Why?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4" name="Rounded Rectangular Callout 6"/>
          <p:cNvSpPr/>
          <p:nvPr/>
        </p:nvSpPr>
        <p:spPr bwMode="auto">
          <a:xfrm>
            <a:off x="4351948" y="4376108"/>
            <a:ext cx="4370183" cy="2272821"/>
          </a:xfrm>
          <a:prstGeom prst="wedgeRoundRectCallout">
            <a:avLst>
              <a:gd name="adj1" fmla="val -13748"/>
              <a:gd name="adj2" fmla="val -10044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A3: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Because what “self” is, actually, is a pointer to it</a:t>
            </a:r>
            <a:r>
              <a:rPr lang="en-US" altLang="zh-TW" sz="3005" u="sng" dirty="0">
                <a:solidFill>
                  <a:srgbClr val="006600"/>
                </a:solidFill>
                <a:latin typeface="Times New Roman" charset="0"/>
              </a:rPr>
              <a:t>self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(</a:t>
            </a:r>
            <a:r>
              <a:rPr lang="en-US" altLang="zh-TW" sz="3005" dirty="0" err="1">
                <a:solidFill>
                  <a:srgbClr val="006600"/>
                </a:solidFill>
                <a:latin typeface="Times New Roman" charset="0"/>
              </a:rPr>
              <a:t>ie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,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to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the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object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that all of the attributes and methods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are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associated</a:t>
            </a:r>
            <a:r>
              <a:rPr lang="en-US" altLang="zh-TW" sz="2254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to).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5" name="Rounded Rectangular Callout 6"/>
          <p:cNvSpPr/>
          <p:nvPr/>
        </p:nvSpPr>
        <p:spPr bwMode="auto">
          <a:xfrm>
            <a:off x="273372" y="4359203"/>
            <a:ext cx="2724441" cy="2272821"/>
          </a:xfrm>
          <a:prstGeom prst="wedgeRoundRectCallout">
            <a:avLst>
              <a:gd name="adj1" fmla="val 107569"/>
              <a:gd name="adj2" fmla="val 46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In other words, it is similar to the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*this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 pointer in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C++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 class instances.</a:t>
            </a:r>
            <a:endParaRPr lang="zh-TW" altLang="en-US" sz="3005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20" name="Rounded Rectangular Callout 6"/>
          <p:cNvSpPr/>
          <p:nvPr/>
        </p:nvSpPr>
        <p:spPr bwMode="auto">
          <a:xfrm>
            <a:off x="5573756" y="209072"/>
            <a:ext cx="3291482" cy="1860403"/>
          </a:xfrm>
          <a:prstGeom prst="wedgeRoundRectCallout">
            <a:avLst>
              <a:gd name="adj1" fmla="val -78973"/>
              <a:gd name="adj2" fmla="val 202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So the </a:t>
            </a:r>
            <a:r>
              <a:rPr lang="en-US" altLang="zh-TW" sz="3005" i="1" dirty="0">
                <a:solidFill>
                  <a:srgbClr val="000000"/>
                </a:solidFill>
                <a:latin typeface="Times New Roman" charset="0"/>
              </a:rPr>
              <a:t>pointer to myself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is passed to </a:t>
            </a:r>
            <a:r>
              <a:rPr lang="en-US" altLang="zh-TW" sz="3005" dirty="0">
                <a:solidFill>
                  <a:srgbClr val="037EED"/>
                </a:solidFill>
                <a:latin typeface="Times New Roman" charset="0"/>
              </a:rPr>
              <a:t>self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,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and the value of </a:t>
            </a:r>
            <a:r>
              <a:rPr lang="en-US" altLang="zh-TW" sz="3005" i="1" dirty="0">
                <a:solidFill>
                  <a:srgbClr val="C00000"/>
                </a:solidFill>
                <a:latin typeface="Times New Roman" charset="0"/>
              </a:rPr>
              <a:t>4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is passed to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x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21" name="Rounded Rectangular Callout 6"/>
          <p:cNvSpPr/>
          <p:nvPr/>
        </p:nvSpPr>
        <p:spPr bwMode="auto">
          <a:xfrm>
            <a:off x="496286" y="5647173"/>
            <a:ext cx="3717944" cy="930201"/>
          </a:xfrm>
          <a:prstGeom prst="wedgeRoundRectCallout">
            <a:avLst>
              <a:gd name="adj1" fmla="val 21786"/>
              <a:gd name="adj2" fmla="val -32242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This time we pass</a:t>
            </a:r>
            <a:b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one argument…</a:t>
            </a:r>
            <a:endParaRPr lang="zh-TW" altLang="en-US" sz="3005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22" name="Rounded Rectangular Callout 6"/>
          <p:cNvSpPr/>
          <p:nvPr/>
        </p:nvSpPr>
        <p:spPr bwMode="auto">
          <a:xfrm>
            <a:off x="5573756" y="2069476"/>
            <a:ext cx="3291482" cy="2664402"/>
          </a:xfrm>
          <a:prstGeom prst="wedgeRoundRectCallout">
            <a:avLst>
              <a:gd name="adj1" fmla="val -115066"/>
              <a:gd name="adj2" fmla="val -49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2932" rIns="0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In</a:t>
            </a:r>
            <a:r>
              <a:rPr lang="en-US" altLang="zh-TW" sz="1878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Python, to</a:t>
            </a:r>
            <a:r>
              <a:rPr lang="en-US" altLang="zh-TW" sz="2629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assign a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variable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declares it. Here, we assign to </a:t>
            </a:r>
            <a:r>
              <a:rPr lang="en-US" altLang="zh-TW" sz="3005" b="1" dirty="0" err="1">
                <a:solidFill>
                  <a:srgbClr val="037EED"/>
                </a:solidFill>
                <a:latin typeface="Times New Roman" charset="0"/>
              </a:rPr>
              <a:t>self</a:t>
            </a:r>
            <a:r>
              <a:rPr lang="en-US" altLang="zh-TW" sz="3005" b="1" dirty="0" err="1">
                <a:solidFill>
                  <a:srgbClr val="000000"/>
                </a:solidFill>
                <a:latin typeface="Times New Roman" charset="0"/>
              </a:rPr>
              <a:t>.val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; so we are creating an attribute in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myself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24" name="Rounded Rectangular Callout 6"/>
          <p:cNvSpPr/>
          <p:nvPr/>
        </p:nvSpPr>
        <p:spPr bwMode="auto">
          <a:xfrm>
            <a:off x="6143659" y="5718727"/>
            <a:ext cx="2721579" cy="930201"/>
          </a:xfrm>
          <a:prstGeom prst="wedgeRoundRectCallout">
            <a:avLst>
              <a:gd name="adj1" fmla="val 19531"/>
              <a:gd name="adj2" fmla="val -1618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Q4: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And what am I, myself?</a:t>
            </a:r>
            <a:endParaRPr lang="zh-TW" altLang="en-US" sz="3005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2210719" y="5718727"/>
            <a:ext cx="3935468" cy="930201"/>
          </a:xfrm>
          <a:prstGeom prst="wedgeRoundRectCallout">
            <a:avLst>
              <a:gd name="adj1" fmla="val -53836"/>
              <a:gd name="adj2" fmla="val -34518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A4: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I am an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instance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of the </a:t>
            </a:r>
            <a:r>
              <a:rPr lang="en-US" altLang="zh-TW" sz="3005" dirty="0" err="1">
                <a:solidFill>
                  <a:srgbClr val="C00000"/>
                </a:solidFill>
                <a:latin typeface="Times New Roman" charset="0"/>
              </a:rPr>
              <a:t>SimpleClass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type.</a:t>
            </a:r>
            <a:endParaRPr lang="zh-TW" altLang="en-US" sz="3005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29" name="Rounded Rectangular Callout 6"/>
          <p:cNvSpPr/>
          <p:nvPr/>
        </p:nvSpPr>
        <p:spPr bwMode="auto">
          <a:xfrm>
            <a:off x="278762" y="5344053"/>
            <a:ext cx="1931957" cy="1304877"/>
          </a:xfrm>
          <a:prstGeom prst="wedgeRoundRectCallout">
            <a:avLst>
              <a:gd name="adj1" fmla="val 79007"/>
              <a:gd name="adj2" fmla="val -30064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Q5: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Then what is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b="1" dirty="0" err="1">
                <a:solidFill>
                  <a:srgbClr val="037EED"/>
                </a:solidFill>
                <a:latin typeface="Times New Roman" charset="0"/>
              </a:rPr>
              <a:t>self</a:t>
            </a:r>
            <a:r>
              <a:rPr lang="en-US" altLang="zh-TW" sz="3005" b="1" dirty="0" err="1">
                <a:solidFill>
                  <a:srgbClr val="000000"/>
                </a:solidFill>
                <a:latin typeface="Times New Roman" charset="0"/>
              </a:rPr>
              <a:t>.val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?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30" name="Rounded Rectangular Callout 6"/>
          <p:cNvSpPr/>
          <p:nvPr/>
        </p:nvSpPr>
        <p:spPr bwMode="auto">
          <a:xfrm>
            <a:off x="267490" y="2999676"/>
            <a:ext cx="1728567" cy="2201267"/>
          </a:xfrm>
          <a:prstGeom prst="wedgeRoundRectCallout">
            <a:avLst>
              <a:gd name="adj1" fmla="val 91415"/>
              <a:gd name="adj2" fmla="val -92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A5: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b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It must be an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instance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variable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 flipV="1">
            <a:off x="1781396" y="4573864"/>
            <a:ext cx="3005266" cy="128797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37EED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 flipH="1">
            <a:off x="1709842" y="3052360"/>
            <a:ext cx="4722561" cy="187927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0531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602" grpId="0" build="p" animBg="1"/>
      <p:bldP spid="25602" grpId="1" build="allAtOnce" animBg="1"/>
      <p:bldP spid="16" grpId="0" animBg="1"/>
      <p:bldP spid="16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0" grpId="0" animBg="1"/>
      <p:bldP spid="21" grpId="0" animBg="1"/>
      <p:bldP spid="21" grpId="1" animBg="1"/>
      <p:bldP spid="22" grpId="0" animBg="1"/>
      <p:bldP spid="24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026"/>
          <p:cNvSpPr txBox="1">
            <a:spLocks noChangeArrowheads="1"/>
          </p:cNvSpPr>
          <p:nvPr/>
        </p:nvSpPr>
        <p:spPr bwMode="auto">
          <a:xfrm>
            <a:off x="278763" y="76200"/>
            <a:ext cx="8586475" cy="715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29311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6pPr>
            <a:lvl7pPr marL="858622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7pPr>
            <a:lvl8pPr marL="1287932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8pPr>
            <a:lvl9pPr marL="1717243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132" kern="0" dirty="0">
                <a:latin typeface="Elephant" panose="02020904090505020303" pitchFamily="18" charset="0"/>
              </a:rPr>
              <a:t>A class containing an attribute: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629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629" dirty="0" err="1">
                <a:latin typeface="Lucida Console" panose="020B0609040504020204" pitchFamily="49" charset="0"/>
              </a:rPr>
              <a:t>,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</a:t>
            </a:r>
            <a:r>
              <a:rPr lang="en-US" altLang="en-US" sz="2629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629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altLang="en-US" sz="2629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inst.val</a:t>
            </a: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solidFill>
                <a:schemeClr val="bg1"/>
              </a:solidFill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Notice that we can invoke the method with </a:t>
            </a:r>
            <a:r>
              <a:rPr lang="en-US" altLang="en-US" sz="3005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005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3005" dirty="0">
                <a:solidFill>
                  <a:srgbClr val="7030A0"/>
                </a:solidFill>
                <a:latin typeface="Lucida Console" panose="020B0609040504020204" pitchFamily="49" charset="0"/>
              </a:rPr>
              <a:t>(…)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 flipV="1">
            <a:off x="3355583" y="1711705"/>
            <a:ext cx="1001755" cy="105443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ounded Rectangular Callout 6"/>
          <p:cNvSpPr/>
          <p:nvPr/>
        </p:nvSpPr>
        <p:spPr bwMode="auto">
          <a:xfrm>
            <a:off x="6289295" y="3735956"/>
            <a:ext cx="1728567" cy="1431079"/>
          </a:xfrm>
          <a:prstGeom prst="wedgeRoundRectCallout">
            <a:avLst>
              <a:gd name="adj1" fmla="val -137551"/>
              <a:gd name="adj2" fmla="val -16927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The value of 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x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is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  <p:sp>
        <p:nvSpPr>
          <p:cNvPr id="12" name="Arc 11"/>
          <p:cNvSpPr/>
          <p:nvPr/>
        </p:nvSpPr>
        <p:spPr bwMode="auto">
          <a:xfrm>
            <a:off x="4404004" y="1282381"/>
            <a:ext cx="513322" cy="572432"/>
          </a:xfrm>
          <a:prstGeom prst="arc">
            <a:avLst>
              <a:gd name="adj1" fmla="val 12775278"/>
              <a:gd name="adj2" fmla="val 4669863"/>
            </a:avLst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878">
              <a:latin typeface="Times New Roman" charset="0"/>
            </a:endParaRPr>
          </a:p>
        </p:txBody>
      </p:sp>
      <p:sp>
        <p:nvSpPr>
          <p:cNvPr id="18" name="Rounded Rectangular Callout 6"/>
          <p:cNvSpPr/>
          <p:nvPr/>
        </p:nvSpPr>
        <p:spPr bwMode="auto">
          <a:xfrm>
            <a:off x="5752257" y="1640151"/>
            <a:ext cx="3112980" cy="1001755"/>
          </a:xfrm>
          <a:prstGeom prst="wedgeRoundRectCallout">
            <a:avLst>
              <a:gd name="adj1" fmla="val -83087"/>
              <a:gd name="adj2" fmla="val -22623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So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 err="1">
                <a:solidFill>
                  <a:srgbClr val="006600"/>
                </a:solidFill>
                <a:latin typeface="Times New Roman" charset="0"/>
              </a:rPr>
              <a:t>inst’s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instance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variable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 err="1">
                <a:solidFill>
                  <a:srgbClr val="FFA300"/>
                </a:solidFill>
                <a:latin typeface="Times New Roman" charset="0"/>
              </a:rPr>
              <a:t>val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005" b="1" dirty="0">
                <a:solidFill>
                  <a:srgbClr val="000000"/>
                </a:solidFill>
                <a:latin typeface="Times New Roman" charset="0"/>
              </a:rPr>
              <a:t>=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0" name="Rounded Rectangular Callout 6"/>
          <p:cNvSpPr/>
          <p:nvPr/>
        </p:nvSpPr>
        <p:spPr bwMode="auto">
          <a:xfrm>
            <a:off x="5752257" y="638396"/>
            <a:ext cx="3112980" cy="1001755"/>
          </a:xfrm>
          <a:prstGeom prst="wedgeRoundRectCallout">
            <a:avLst>
              <a:gd name="adj1" fmla="val -134746"/>
              <a:gd name="adj2" fmla="val 2822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And it has a method, </a:t>
            </a:r>
            <a:r>
              <a:rPr lang="en-US" altLang="zh-TW" sz="3005" dirty="0">
                <a:solidFill>
                  <a:srgbClr val="7030A0"/>
                </a:solidFill>
                <a:latin typeface="Times New Roman" charset="0"/>
              </a:rPr>
              <a:t>set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7616" y="3071240"/>
            <a:ext cx="795411" cy="404598"/>
          </a:xfrm>
          <a:prstGeom prst="rect">
            <a:avLst/>
          </a:prstGeom>
        </p:spPr>
        <p:txBody>
          <a:bodyPr wrap="none" tIns="0" bIns="0" anchor="ctr" anchorCtr="0">
            <a:spAutoFit/>
          </a:bodyPr>
          <a:lstStyle/>
          <a:p>
            <a:r>
              <a:rPr lang="en-US" altLang="en-US" sz="262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629" dirty="0"/>
          </a:p>
        </p:txBody>
      </p:sp>
      <p:sp>
        <p:nvSpPr>
          <p:cNvPr id="21" name="Rounded Rectangular Callout 6"/>
          <p:cNvSpPr/>
          <p:nvPr/>
        </p:nvSpPr>
        <p:spPr bwMode="auto">
          <a:xfrm>
            <a:off x="267490" y="2999676"/>
            <a:ext cx="1728567" cy="2201267"/>
          </a:xfrm>
          <a:prstGeom prst="wedgeRoundRectCallout">
            <a:avLst>
              <a:gd name="adj1" fmla="val 91415"/>
              <a:gd name="adj2" fmla="val -92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b="1" dirty="0">
                <a:solidFill>
                  <a:srgbClr val="0033CC"/>
                </a:solidFill>
                <a:latin typeface="Times New Roman" charset="0"/>
              </a:rPr>
              <a:t>A5: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b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It must be an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instance</a:t>
            </a:r>
            <a:r>
              <a:rPr lang="en-US" altLang="zh-TW" sz="3005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variable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66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2" grpId="0" animBg="1"/>
      <p:bldP spid="12" grpId="1" animBg="1"/>
      <p:bldP spid="18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26"/>
          <p:cNvSpPr txBox="1">
            <a:spLocks noChangeArrowheads="1"/>
          </p:cNvSpPr>
          <p:nvPr/>
        </p:nvSpPr>
        <p:spPr bwMode="auto">
          <a:xfrm>
            <a:off x="278763" y="76200"/>
            <a:ext cx="8586475" cy="715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8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29311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6pPr>
            <a:lvl7pPr marL="858622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7pPr>
            <a:lvl8pPr marL="1287932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8pPr>
            <a:lvl9pPr marL="1717243" algn="ctr" rtl="0" eaLnBrk="1" fontAlgn="base" hangingPunct="1">
              <a:spcBef>
                <a:spcPct val="0"/>
              </a:spcBef>
              <a:spcAft>
                <a:spcPct val="0"/>
              </a:spcAft>
              <a:defRPr sz="338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132" kern="0" dirty="0">
                <a:latin typeface="Elephant" panose="02020904090505020303" pitchFamily="18" charset="0"/>
              </a:rPr>
              <a:t>A class containing an attribute: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629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629" dirty="0" err="1">
                <a:latin typeface="Lucida Console" panose="020B0609040504020204" pitchFamily="49" charset="0"/>
              </a:rPr>
              <a:t>,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629" dirty="0">
                <a:latin typeface="Lucida Console" panose="020B0609040504020204" pitchFamily="49" charset="0"/>
              </a:rPr>
              <a:t>      </a:t>
            </a:r>
            <a:r>
              <a:rPr lang="en-US" altLang="en-US" sz="2629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629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latin typeface="Courier New" pitchFamily="49" charset="0"/>
            </a:endParaRPr>
          </a:p>
          <a:p>
            <a:pPr marL="266829" indent="-266829" eaLnBrk="1" hangingPunct="1">
              <a:spcBef>
                <a:spcPts val="563"/>
              </a:spcBef>
            </a:pPr>
            <a:r>
              <a:rPr lang="en-US" altLang="en-US" sz="3005" dirty="0"/>
              <a:t>Notice that we can invoke the method with </a:t>
            </a:r>
            <a:r>
              <a:rPr lang="en-US" altLang="en-US" sz="3005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005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3005" dirty="0">
                <a:solidFill>
                  <a:srgbClr val="7030A0"/>
                </a:solidFill>
                <a:latin typeface="Lucida Console" panose="020B0609040504020204" pitchFamily="49" charset="0"/>
              </a:rPr>
              <a:t>(…)</a:t>
            </a:r>
          </a:p>
          <a:p>
            <a:pPr marL="266829" indent="-266829" eaLnBrk="1" hangingPunct="1"/>
            <a:r>
              <a:rPr lang="en-US" altLang="en-US" sz="3005" dirty="0"/>
              <a:t>Notice that we can also access the instance variable with </a:t>
            </a:r>
            <a:r>
              <a:rPr lang="en-US" altLang="en-US" sz="3005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005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endParaRPr lang="en-US" altLang="en-US" sz="2817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endParaRPr lang="en-US" altLang="en-US" sz="2254" dirty="0">
              <a:latin typeface="Courier New" pitchFamily="49" charset="0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5752257" y="1640151"/>
            <a:ext cx="3112980" cy="1001755"/>
          </a:xfrm>
          <a:prstGeom prst="wedgeRoundRectCallout">
            <a:avLst>
              <a:gd name="adj1" fmla="val -83087"/>
              <a:gd name="adj2" fmla="val -22623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So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 err="1">
                <a:solidFill>
                  <a:srgbClr val="006600"/>
                </a:solidFill>
                <a:latin typeface="Times New Roman" charset="0"/>
              </a:rPr>
              <a:t>inst’s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b="1" dirty="0">
                <a:solidFill>
                  <a:srgbClr val="037EED"/>
                </a:solidFill>
                <a:latin typeface="Times New Roman" charset="0"/>
              </a:rPr>
              <a:t>instance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variable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 err="1">
                <a:solidFill>
                  <a:srgbClr val="FFA300"/>
                </a:solidFill>
                <a:latin typeface="Times New Roman" charset="0"/>
              </a:rPr>
              <a:t>val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005" b="1" dirty="0">
                <a:solidFill>
                  <a:srgbClr val="000000"/>
                </a:solidFill>
                <a:latin typeface="Times New Roman" charset="0"/>
              </a:rPr>
              <a:t>=</a:t>
            </a:r>
            <a:r>
              <a:rPr lang="en-US" altLang="zh-TW" sz="3005" dirty="0">
                <a:solidFill>
                  <a:srgbClr val="006600"/>
                </a:solidFill>
                <a:latin typeface="Times New Roman" charset="0"/>
              </a:rPr>
              <a:t> </a:t>
            </a:r>
            <a:r>
              <a:rPr lang="en-US" altLang="zh-TW" sz="3005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9" name="Rounded Rectangular Callout 6"/>
          <p:cNvSpPr/>
          <p:nvPr/>
        </p:nvSpPr>
        <p:spPr bwMode="auto">
          <a:xfrm>
            <a:off x="5752257" y="638396"/>
            <a:ext cx="3112980" cy="1001755"/>
          </a:xfrm>
          <a:prstGeom prst="wedgeRoundRectCallout">
            <a:avLst>
              <a:gd name="adj1" fmla="val -134746"/>
              <a:gd name="adj2" fmla="val 2822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And it has a method, </a:t>
            </a:r>
            <a:r>
              <a:rPr lang="en-US" altLang="zh-TW" sz="3005" dirty="0">
                <a:solidFill>
                  <a:srgbClr val="7030A0"/>
                </a:solidFill>
                <a:latin typeface="Times New Roman" charset="0"/>
              </a:rPr>
              <a:t>set</a:t>
            </a:r>
            <a:r>
              <a:rPr lang="en-US" altLang="zh-TW" sz="3005" dirty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005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616" y="3071240"/>
            <a:ext cx="795411" cy="404598"/>
          </a:xfrm>
          <a:prstGeom prst="rect">
            <a:avLst/>
          </a:prstGeom>
        </p:spPr>
        <p:txBody>
          <a:bodyPr wrap="none" tIns="0" bIns="0" anchor="ctr" anchorCtr="0">
            <a:spAutoFit/>
          </a:bodyPr>
          <a:lstStyle/>
          <a:p>
            <a:r>
              <a:rPr lang="en-US" altLang="en-US" sz="262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629" dirty="0"/>
          </a:p>
        </p:txBody>
      </p:sp>
    </p:spTree>
    <p:extLst>
      <p:ext uri="{BB962C8B-B14F-4D97-AF65-F5344CB8AC3E}">
        <p14:creationId xmlns:p14="http://schemas.microsoft.com/office/powerpoint/2010/main" val="343302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78763" y="76200"/>
            <a:ext cx="8586475" cy="715540"/>
          </a:xfrm>
        </p:spPr>
        <p:txBody>
          <a:bodyPr vert="horz" wrap="square" lIns="0" tIns="42932" rIns="0" bIns="42932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132" dirty="0">
                <a:latin typeface="Elephant" panose="02020904090505020303" pitchFamily="18" charset="0"/>
              </a:rPr>
              <a:t>Dynamically adding to an object: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24733" y="996165"/>
            <a:ext cx="8440505" cy="5652763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629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629" dirty="0" err="1">
                <a:latin typeface="Lucida Console" panose="020B0609040504020204" pitchFamily="49" charset="0"/>
              </a:rPr>
              <a:t>,</a:t>
            </a:r>
            <a:r>
              <a:rPr lang="en-US" altLang="en-US" sz="2629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latin typeface="Lucida Console" panose="020B0609040504020204" pitchFamily="49" charset="0"/>
              </a:rPr>
              <a:t>      </a:t>
            </a:r>
            <a:r>
              <a:rPr lang="en-US" altLang="en-US" sz="2629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629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563"/>
              </a:spcBef>
              <a:buNone/>
            </a:pPr>
            <a:r>
              <a:rPr lang="en-US" altLang="en-US" sz="2629" dirty="0">
                <a:latin typeface="Lucida Console" panose="020B0609040504020204" pitchFamily="49" charset="0"/>
              </a:rPr>
              <a:t>  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latin typeface="Lucida Console" panose="020B0609040504020204" pitchFamily="49" charset="0"/>
              </a:rPr>
              <a:t>def</a:t>
            </a:r>
            <a:r>
              <a:rPr lang="en-US" altLang="en-US" sz="2629" dirty="0">
                <a:latin typeface="Lucida Console" panose="020B0609040504020204" pitchFamily="49" charset="0"/>
              </a:rPr>
              <a:t> 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629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629" dirty="0">
                <a:latin typeface="Lucida Console" panose="020B0609040504020204" pitchFamily="49" charset="0"/>
              </a:rPr>
              <a:t>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endParaRPr lang="en-US" altLang="en-US" sz="2629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=f  </a:t>
            </a:r>
            <a:r>
              <a:rPr lang="en-US" altLang="en-US" sz="262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 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method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629" dirty="0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629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62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#Two arguments needed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62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an </a:t>
            </a:r>
            <a:r>
              <a:rPr lang="en-US" altLang="en-US" sz="2629" dirty="0">
                <a:solidFill>
                  <a:srgbClr val="FFC000"/>
                </a:solidFill>
                <a:latin typeface="Lucida Console" panose="020B0609040504020204" pitchFamily="49" charset="0"/>
              </a:rPr>
              <a:t>attribute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629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629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629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62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033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69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8915400" cy="60553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 </a:t>
            </a:r>
            <a:r>
              <a:rPr lang="en-US" altLang="en-US" sz="3200" dirty="0"/>
              <a:t>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When a method accesses it, the attribute </a:t>
            </a:r>
            <a:r>
              <a:rPr lang="en-US" altLang="ja-JP" sz="3200" spc="-30" dirty="0"/>
              <a:t>is referenced through the </a:t>
            </a:r>
            <a:r>
              <a:rPr lang="en-US" altLang="ja-JP" sz="3200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spc="-30" dirty="0"/>
              <a:t>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>
                <a:solidFill>
                  <a:srgbClr val="BFBFBF"/>
                </a:solidFill>
              </a:rPr>
              <a:t>2.	A </a:t>
            </a:r>
            <a:r>
              <a:rPr lang="en-US" altLang="ja-JP" sz="3200" b="1" dirty="0">
                <a:solidFill>
                  <a:srgbClr val="BFBFBF"/>
                </a:solidFill>
              </a:rPr>
              <a:t>class attribute</a:t>
            </a:r>
            <a:r>
              <a:rPr lang="en-US" altLang="ja-JP" sz="3200" dirty="0">
                <a:solidFill>
                  <a:srgbClr val="BFBFBF"/>
                </a:solidFill>
              </a:rPr>
              <a:t> is a static variable whose value is shared by </a:t>
            </a:r>
            <a:r>
              <a:rPr lang="en-US" altLang="ja-JP" sz="3200" i="1" dirty="0">
                <a:solidFill>
                  <a:srgbClr val="BFBFBF"/>
                </a:solidFill>
              </a:rPr>
              <a:t>all instances</a:t>
            </a:r>
            <a:r>
              <a:rPr lang="en-US" altLang="ja-JP" sz="3200" dirty="0">
                <a:solidFill>
                  <a:srgbClr val="BFBFBF"/>
                </a:solidFill>
              </a:rPr>
              <a:t> of the </a:t>
            </a:r>
            <a:r>
              <a:rPr lang="en-US" altLang="ja-JP" sz="3200" i="1" dirty="0">
                <a:solidFill>
                  <a:srgbClr val="BFBFBF"/>
                </a:solidFill>
              </a:rPr>
              <a:t>class.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>
                <a:solidFill>
                  <a:srgbClr val="BFBFBF"/>
                </a:solidFill>
              </a:rPr>
              <a:t>When accessing it, you don't use </a:t>
            </a:r>
            <a:r>
              <a:rPr lang="en-US" altLang="ja-JP" sz="3200" dirty="0">
                <a:solidFill>
                  <a:srgbClr val="BFBFBF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>
                <a:solidFill>
                  <a:srgbClr val="BFBFBF"/>
                </a:solidFill>
              </a:rPr>
              <a:t>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>
                <a:solidFill>
                  <a:srgbClr val="BFBFBF"/>
                </a:solidFill>
              </a:rPr>
              <a:t>A class attribute could be used to count the number of instantiations, for example.</a:t>
            </a:r>
          </a:p>
        </p:txBody>
      </p:sp>
    </p:spTree>
    <p:extLst>
      <p:ext uri="{BB962C8B-B14F-4D97-AF65-F5344CB8AC3E}">
        <p14:creationId xmlns:p14="http://schemas.microsoft.com/office/powerpoint/2010/main" val="311780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8915400" cy="60553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rgbClr val="B2B2B2"/>
                </a:solidFill>
              </a:rPr>
              <a:t>1.	An </a:t>
            </a:r>
            <a:r>
              <a:rPr lang="en-US" altLang="en-US" sz="3200" b="1" dirty="0">
                <a:solidFill>
                  <a:srgbClr val="B2B2B2"/>
                </a:solidFill>
              </a:rPr>
              <a:t>instance attribute </a:t>
            </a:r>
            <a:r>
              <a:rPr lang="en-US" altLang="en-US" sz="3200" dirty="0">
                <a:solidFill>
                  <a:srgbClr val="B2B2B2"/>
                </a:solidFill>
              </a:rPr>
              <a:t>(or </a:t>
            </a:r>
            <a:r>
              <a:rPr lang="en-US" altLang="en-US" sz="3200" b="1" dirty="0">
                <a:solidFill>
                  <a:srgbClr val="B2B2B2"/>
                </a:solidFill>
              </a:rPr>
              <a:t>object attribute </a:t>
            </a:r>
            <a:r>
              <a:rPr lang="en-US" altLang="en-US" sz="3200" dirty="0">
                <a:solidFill>
                  <a:srgbClr val="B2B2B2"/>
                </a:solidFill>
              </a:rPr>
              <a:t>or </a:t>
            </a:r>
            <a:r>
              <a:rPr lang="en-US" altLang="en-US" sz="3200" b="1" dirty="0">
                <a:solidFill>
                  <a:srgbClr val="B2B2B2"/>
                </a:solidFill>
              </a:rPr>
              <a:t>object variable</a:t>
            </a:r>
            <a:r>
              <a:rPr lang="en-US" altLang="en-US" sz="3200" dirty="0">
                <a:solidFill>
                  <a:srgbClr val="B2B2B2"/>
                </a:solidFill>
              </a:rPr>
              <a:t> or </a:t>
            </a:r>
            <a:r>
              <a:rPr lang="en-US" altLang="en-US" sz="3200" b="1" dirty="0">
                <a:solidFill>
                  <a:srgbClr val="B2B2B2"/>
                </a:solidFill>
              </a:rPr>
              <a:t>instance variable</a:t>
            </a:r>
            <a:r>
              <a:rPr lang="en-US" altLang="en-US" sz="3200" dirty="0">
                <a:solidFill>
                  <a:srgbClr val="B2B2B2"/>
                </a:solidFill>
              </a:rPr>
              <a:t>) is a </a:t>
            </a:r>
            <a:r>
              <a:rPr lang="en-US" altLang="ja-JP" sz="3200" dirty="0">
                <a:solidFill>
                  <a:srgbClr val="B2B2B2"/>
                </a:solidFill>
              </a:rPr>
              <a:t>variable associated with an object.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>
                <a:solidFill>
                  <a:srgbClr val="B2B2B2"/>
                </a:solidFill>
              </a:rPr>
              <a:t>When a method accesses it, the attribute </a:t>
            </a:r>
            <a:r>
              <a:rPr lang="en-US" altLang="ja-JP" sz="3200" spc="-30" dirty="0">
                <a:solidFill>
                  <a:srgbClr val="B2B2B2"/>
                </a:solidFill>
              </a:rPr>
              <a:t>is referenced through the </a:t>
            </a:r>
            <a:r>
              <a:rPr lang="en-US" altLang="ja-JP" sz="3200" spc="-30" dirty="0">
                <a:solidFill>
                  <a:srgbClr val="B2B2B2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spc="-30" dirty="0">
                <a:solidFill>
                  <a:srgbClr val="B2B2B2"/>
                </a:solidFill>
              </a:rPr>
              <a:t>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/>
              <a:t>2.	A </a:t>
            </a:r>
            <a:r>
              <a:rPr lang="en-US" altLang="ja-JP" sz="3200" b="1" dirty="0">
                <a:solidFill>
                  <a:srgbClr val="006600"/>
                </a:solidFill>
              </a:rPr>
              <a:t>class attribute</a:t>
            </a:r>
            <a:r>
              <a:rPr lang="en-US" altLang="ja-JP" sz="3200" dirty="0"/>
              <a:t> is a static variable whose value is shared by </a:t>
            </a:r>
            <a:r>
              <a:rPr lang="en-US" altLang="ja-JP" sz="3200" i="1" dirty="0"/>
              <a:t>all instances</a:t>
            </a:r>
            <a:r>
              <a:rPr lang="en-US" altLang="ja-JP" sz="3200" dirty="0"/>
              <a:t> of the </a:t>
            </a:r>
            <a:r>
              <a:rPr lang="en-US" altLang="ja-JP" sz="3200" i="1" dirty="0"/>
              <a:t>class.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When accessing it, you don't use 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A class attribute could be used to count the number of instantiations, for example.</a:t>
            </a:r>
          </a:p>
          <a:p>
            <a:pPr lvl="2" eaLnBrk="1" hangingPunct="1">
              <a:spcBef>
                <a:spcPts val="600"/>
              </a:spcBef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246154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a Class Attribute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534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buFontTx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total=0</a:t>
            </a:r>
          </a:p>
          <a:p>
            <a:pPr eaLnBrk="1" hangingPunct="1"/>
            <a:r>
              <a:rPr lang="en-US" altLang="en-US" sz="2800" dirty="0">
                <a:latin typeface="Lucida Console" panose="020B0609040504020204" pitchFamily="49" charset="0"/>
              </a:rPr>
              <a:t>total=0</a:t>
            </a:r>
            <a:r>
              <a:rPr lang="en-US" altLang="en-US" sz="32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/>
              <a:t>creates class attribute </a:t>
            </a:r>
            <a:r>
              <a:rPr lang="en-US" altLang="en-US" sz="2800" dirty="0">
                <a:latin typeface="Lucida Console" panose="020B0609040504020204" pitchFamily="49" charset="0"/>
              </a:rPr>
              <a:t>total</a:t>
            </a:r>
            <a:r>
              <a:rPr lang="en-US" altLang="en-US" sz="2800" dirty="0">
                <a:latin typeface="Courier New" pitchFamily="49" charset="0"/>
              </a:rPr>
              <a:t> </a:t>
            </a:r>
            <a:r>
              <a:rPr lang="en-US" altLang="en-US" sz="2800" dirty="0"/>
              <a:t>set to </a:t>
            </a:r>
            <a:r>
              <a:rPr lang="en-US" altLang="en-US" sz="2800" dirty="0">
                <a:latin typeface="Lucida Console" panose="020B0609040504020204" pitchFamily="49" charset="0"/>
              </a:rPr>
              <a:t>0</a:t>
            </a:r>
            <a:r>
              <a:rPr lang="en-US" altLang="en-US" sz="2800" dirty="0">
                <a:latin typeface="Courier New" pitchFamily="49" charset="0"/>
              </a:rPr>
              <a:t> </a:t>
            </a:r>
          </a:p>
          <a:p>
            <a:pPr eaLnBrk="1" hangingPunct="1"/>
            <a:r>
              <a:rPr lang="en-US" altLang="en-US" sz="2800" dirty="0"/>
              <a:t>Assignment statement in class but outside method creates class attribute </a:t>
            </a:r>
          </a:p>
          <a:p>
            <a:pPr eaLnBrk="1" hangingPunct="1"/>
            <a:r>
              <a:rPr lang="en-US" altLang="en-US" sz="2800" b="1" dirty="0"/>
              <a:t>Assignment statement executed only once, when Python first sees class definition </a:t>
            </a:r>
          </a:p>
          <a:p>
            <a:pPr eaLnBrk="1" hangingPunct="1"/>
            <a:r>
              <a:rPr lang="en-US" altLang="en-US" sz="2800" dirty="0"/>
              <a:t>Class attribute exists even before single object created </a:t>
            </a:r>
          </a:p>
          <a:p>
            <a:pPr eaLnBrk="1" hangingPunct="1"/>
            <a:r>
              <a:rPr lang="en-US" altLang="en-US" sz="2800" dirty="0"/>
              <a:t>Can use class attribute without any objects of class in existence</a:t>
            </a:r>
          </a:p>
        </p:txBody>
      </p:sp>
    </p:spTree>
    <p:extLst>
      <p:ext uri="{BB962C8B-B14F-4D97-AF65-F5344CB8AC3E}">
        <p14:creationId xmlns:p14="http://schemas.microsoft.com/office/powerpoint/2010/main" val="3943570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Accessing a Class Attribute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85800"/>
            <a:ext cx="8458200" cy="6172200"/>
          </a:xfrm>
        </p:spPr>
        <p:txBody>
          <a:bodyPr/>
          <a:lstStyle/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class Critter(object): T=0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Critter.T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Accessible,</a:t>
            </a:r>
            <a:r>
              <a:rPr lang="en-US" altLang="en-US" sz="20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even if no instances</a:t>
            </a:r>
            <a:endParaRPr lang="en-US" altLang="en-US" sz="24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0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Critter.T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+=1;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Critter.T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1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crit1=Critter(</a:t>
            </a:r>
            <a:r>
              <a:rPr lang="en-US" altLang="en-US" sz="240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altLang="en-US" sz="1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crit1.T</a:t>
            </a:r>
            <a:r>
              <a:rPr lang="en-US" alt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Access</a:t>
            </a:r>
            <a:r>
              <a:rPr lang="en-US" altLang="en-US" sz="16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via</a:t>
            </a:r>
            <a:r>
              <a:rPr lang="en-US" altLang="en-US" sz="16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instance</a:t>
            </a:r>
            <a:endParaRPr lang="en-US" altLang="en-US" sz="24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1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Critter.T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+=1;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Critter.T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crit1.T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Instance sees the change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crit1.T+=1 </a:t>
            </a:r>
            <a:r>
              <a:rPr lang="en-US" alt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Looks OK, but is it?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crit1.T    </a:t>
            </a:r>
            <a:r>
              <a:rPr lang="en-US" alt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This checks out. Still looks OK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3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Critter.T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100" dirty="0">
                <a:solidFill>
                  <a:srgbClr val="E03044"/>
                </a:solidFill>
                <a:latin typeface="Lucida Console" panose="020B0609040504020204" pitchFamily="49" charset="0"/>
              </a:rPr>
              <a:t>But this doesn't look OK: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50" dirty="0">
                <a:solidFill>
                  <a:srgbClr val="E03044"/>
                </a:solidFill>
                <a:latin typeface="Lucida Console" panose="020B0609040504020204" pitchFamily="49" charset="0"/>
              </a:rPr>
              <a:t>Why</a:t>
            </a:r>
            <a:r>
              <a:rPr lang="en-US" altLang="en-US" sz="2000" spc="-5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 err="1">
                <a:solidFill>
                  <a:srgbClr val="E03044"/>
                </a:solidFill>
                <a:latin typeface="Lucida Console" panose="020B0609040504020204" pitchFamily="49" charset="0"/>
              </a:rPr>
              <a:t>Critter.T</a:t>
            </a:r>
            <a:r>
              <a:rPr lang="en-US" altLang="en-US" sz="1400" spc="-5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spc="-50" dirty="0">
                <a:solidFill>
                  <a:srgbClr val="E03044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</a:t>
            </a:r>
            <a:r>
              <a:rPr lang="en-US" altLang="en-US" sz="1400" spc="-5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>
                <a:solidFill>
                  <a:srgbClr val="E03044"/>
                </a:solidFill>
                <a:latin typeface="Lucida Console" panose="020B0609040504020204" pitchFamily="49" charset="0"/>
              </a:rPr>
              <a:t>3?</a:t>
            </a:r>
            <a:r>
              <a:rPr lang="en-US" altLang="en-US" sz="2000" spc="-50" dirty="0">
                <a:solidFill>
                  <a:srgbClr val="E03044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90" dirty="0">
                <a:solidFill>
                  <a:srgbClr val="CC00CC"/>
                </a:solidFill>
                <a:latin typeface="Lucida Console" panose="020B0609040504020204" pitchFamily="49" charset="0"/>
              </a:rPr>
              <a:t>Becaus</a:t>
            </a:r>
            <a:r>
              <a:rPr lang="en-US" altLang="en-US" sz="24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0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crit</a:t>
            </a:r>
            <a:r>
              <a:rPr lang="en-US" altLang="en-US" sz="2400" spc="-200" dirty="0">
                <a:solidFill>
                  <a:srgbClr val="CC00CC"/>
                </a:solidFill>
                <a:latin typeface="Lucida Console" panose="020B0609040504020204" pitchFamily="49" charset="0"/>
              </a:rPr>
              <a:t>1.</a:t>
            </a:r>
            <a:r>
              <a:rPr lang="en-US" altLang="en-US" sz="24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T+=1</a:t>
            </a:r>
            <a:r>
              <a:rPr lang="en-US" altLang="en-US" sz="20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50" dirty="0">
                <a:solidFill>
                  <a:srgbClr val="CC00CC"/>
                </a:solidFill>
                <a:latin typeface="Lucida Console" panose="020B0609040504020204" pitchFamily="49" charset="0"/>
              </a:rPr>
              <a:t>di</a:t>
            </a:r>
            <a:r>
              <a:rPr lang="en-US" altLang="en-US" sz="24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sz="2400" spc="-400" dirty="0">
                <a:solidFill>
                  <a:srgbClr val="CC00CC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en-US" sz="2400" spc="-50" dirty="0">
                <a:solidFill>
                  <a:srgbClr val="CC00CC"/>
                </a:solidFill>
                <a:latin typeface="Lucida Console" panose="020B0609040504020204" pitchFamily="49" charset="0"/>
              </a:rPr>
              <a:t>t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dirty="0">
                <a:solidFill>
                  <a:srgbClr val="CC00CC"/>
                </a:solidFill>
                <a:latin typeface="Lucida Console" panose="020B0609040504020204" pitchFamily="49" charset="0"/>
              </a:rPr>
              <a:t>update the class attribute,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but instead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8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400" spc="-80" dirty="0">
                <a:solidFill>
                  <a:srgbClr val="00B0F0"/>
                </a:solidFill>
                <a:latin typeface="Lucida Console" panose="020B0609040504020204" pitchFamily="49" charset="0"/>
              </a:rPr>
              <a:t>accessed it, </a:t>
            </a:r>
            <a:r>
              <a:rPr lang="en-US" altLang="en-US" sz="2400" spc="-80" dirty="0">
                <a:solidFill>
                  <a:srgbClr val="00B050"/>
                </a:solidFill>
                <a:latin typeface="Lucida Console" panose="020B0609040504020204" pitchFamily="49" charset="0"/>
              </a:rPr>
              <a:t>then made an object attribute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685800"/>
            <a:ext cx="7620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4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spc="-5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491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91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491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491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4915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915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b="1" dirty="0">
                <a:latin typeface="Lucida Console" panose="020B0609040504020204" pitchFamily="49" charset="0"/>
              </a:rPr>
              <a:t>class </a:t>
            </a:r>
            <a:r>
              <a:rPr lang="en-US" b="1" dirty="0" err="1">
                <a:latin typeface="Lucida Console" panose="020B0609040504020204" pitchFamily="49" charset="0"/>
              </a:rPr>
              <a:t>AtrTest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b="1" dirty="0">
                <a:latin typeface="Lucida Console" panose="020B0609040504020204" pitchFamily="49" charset="0"/>
              </a:rPr>
              <a:t>: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="1"</a:t>
            </a:r>
            <a:r>
              <a:rPr lang="en-US" sz="1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#class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attribute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(shared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by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all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instances)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dirty="0" err="1">
                <a:latin typeface="Lucida Console" panose="020B0609040504020204" pitchFamily="49" charset="0"/>
              </a:rPr>
              <a:t>def</a:t>
            </a:r>
            <a:r>
              <a:rPr lang="en-US" dirty="0">
                <a:latin typeface="Lucida Console" panose="020B0609040504020204" pitchFamily="49" charset="0"/>
              </a:rPr>
              <a:t> f(self): </a:t>
            </a:r>
            <a:r>
              <a:rPr lang="en-US" dirty="0" err="1">
                <a:latin typeface="Lucida Console" panose="020B0609040504020204" pitchFamily="49" charset="0"/>
              </a:rPr>
              <a:t>self.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="2"</a:t>
            </a:r>
            <a:r>
              <a:rPr lang="en-US" b="1" dirty="0">
                <a:solidFill>
                  <a:srgbClr val="00B050"/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#instance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attribute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endParaRPr lang="en-US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70" dirty="0">
                <a:latin typeface="Lucida Console" panose="020B0609040504020204" pitchFamily="49" charset="0"/>
              </a:rPr>
              <a:t>a=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2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spc="-70" dirty="0">
                <a:latin typeface="Lucida Console" panose="020B0609040504020204" pitchFamily="49" charset="0"/>
              </a:rPr>
              <a:t>b=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spc="-70" dirty="0">
                <a:latin typeface="Lucida Console" panose="020B0609040504020204" pitchFamily="49" charset="0"/>
              </a:rPr>
              <a:t>c=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spc="-70" dirty="0">
                <a:latin typeface="Lucida Console" panose="020B0609040504020204" pitchFamily="49" charset="0"/>
              </a:rPr>
              <a:t>d=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endParaRPr lang="en-US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b.f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  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c.f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c.i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="3"</a:t>
            </a:r>
            <a:r>
              <a:rPr lang="en-US" dirty="0">
                <a:latin typeface="Lucida Console" panose="020B0609040504020204" pitchFamily="49" charset="0"/>
              </a:rPr>
              <a:t>;  </a:t>
            </a:r>
            <a:r>
              <a:rPr lang="en-US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d.i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="3"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d.f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endParaRPr lang="en-US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print(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"a="+a.</a:t>
            </a:r>
            <a:r>
              <a:rPr lang="en-US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"b="+b.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"c="+c.</a:t>
            </a:r>
            <a:r>
              <a:rPr lang="en-US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"d"+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d.i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b=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c=3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d=2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latin typeface="Lucida Console" panose="020B0609040504020204" pitchFamily="49" charset="0"/>
              </a:rPr>
              <a:t>del</a:t>
            </a:r>
            <a:r>
              <a:rPr lang="en-US" sz="1400" spc="-100" dirty="0"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 err="1">
                <a:latin typeface="Lucida Console" panose="020B0609040504020204" pitchFamily="49" charset="0"/>
              </a:rPr>
              <a:t>;print</a:t>
            </a:r>
            <a:r>
              <a:rPr lang="en-US" spc="-100" dirty="0">
                <a:latin typeface="Lucida Console" panose="020B0609040504020204" pitchFamily="49" charset="0"/>
              </a:rPr>
              <a:t>(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"a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"b="+</a:t>
            </a:r>
            <a:r>
              <a:rPr lang="en-US" spc="-300" dirty="0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50" dirty="0">
                <a:latin typeface="Lucida Console" panose="020B0609040504020204" pitchFamily="49" charset="0"/>
              </a:rPr>
              <a:t>,</a:t>
            </a:r>
            <a:r>
              <a:rPr lang="en-US" spc="-150" dirty="0">
                <a:solidFill>
                  <a:srgbClr val="CC00CC"/>
                </a:solidFill>
                <a:latin typeface="Lucida Console" panose="020B0609040504020204" pitchFamily="49" charset="0"/>
              </a:rPr>
              <a:t>"</a:t>
            </a:r>
            <a:r>
              <a:rPr lang="en-US" spc="-100" dirty="0">
                <a:solidFill>
                  <a:srgbClr val="CC00CC"/>
                </a:solidFill>
                <a:latin typeface="Lucida Console" panose="020B0609040504020204" pitchFamily="49" charset="0"/>
              </a:rPr>
              <a:t>c</a:t>
            </a:r>
            <a:r>
              <a:rPr lang="en-US" spc="-200" dirty="0">
                <a:solidFill>
                  <a:srgbClr val="CC00CC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CC00CC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CC00CC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>
                <a:solidFill>
                  <a:srgbClr val="CC00CC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"d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b=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c=3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d=1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pc="-100" dirty="0">
                <a:latin typeface="Lucida Console" panose="020B0609040504020204" pitchFamily="49" charset="0"/>
              </a:rPr>
              <a:t>del</a:t>
            </a:r>
            <a:r>
              <a:rPr lang="en-US" sz="1600" spc="-100" dirty="0"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 err="1">
                <a:latin typeface="Lucida Console" panose="020B0609040504020204" pitchFamily="49" charset="0"/>
              </a:rPr>
              <a:t>;print</a:t>
            </a:r>
            <a:r>
              <a:rPr lang="en-US" spc="-100" dirty="0">
                <a:latin typeface="Lucida Console" panose="020B0609040504020204" pitchFamily="49" charset="0"/>
              </a:rPr>
              <a:t>(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"a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"b="+</a:t>
            </a:r>
            <a:r>
              <a:rPr lang="en-US" spc="-300" dirty="0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50" dirty="0">
                <a:latin typeface="Lucida Console" panose="020B0609040504020204" pitchFamily="49" charset="0"/>
              </a:rPr>
              <a:t>,</a:t>
            </a:r>
            <a:r>
              <a:rPr lang="en-US" spc="-150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"d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b=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c=1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d=1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latin typeface="Lucida Console" panose="020B0609040504020204" pitchFamily="49" charset="0"/>
              </a:rPr>
              <a:t>del</a:t>
            </a:r>
            <a:r>
              <a:rPr lang="en-US" sz="1800" spc="-100" dirty="0"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 err="1">
                <a:latin typeface="Lucida Console" panose="020B0609040504020204" pitchFamily="49" charset="0"/>
              </a:rPr>
              <a:t>;print</a:t>
            </a:r>
            <a:r>
              <a:rPr lang="en-US" spc="-100" dirty="0">
                <a:latin typeface="Lucida Console" panose="020B0609040504020204" pitchFamily="49" charset="0"/>
              </a:rPr>
              <a:t>(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"a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"b="+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50" dirty="0">
                <a:latin typeface="Lucida Console" panose="020B0609040504020204" pitchFamily="49" charset="0"/>
              </a:rPr>
              <a:t>,</a:t>
            </a:r>
            <a:r>
              <a:rPr lang="en-US" spc="-150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"d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b=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 c=1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d=1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del </a:t>
            </a:r>
            <a:r>
              <a:rPr lang="en-US" spc="-3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 a never had its own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attribute…</a:t>
            </a:r>
          </a:p>
          <a:p>
            <a:pPr>
              <a:lnSpc>
                <a:spcPct val="85000"/>
              </a:lnSpc>
            </a:pP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Traceback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5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stdin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85000"/>
              </a:lnSpc>
            </a:pPr>
            <a:r>
              <a:rPr lang="en-US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AttributeError</a:t>
            </a:r>
            <a:r>
              <a:rPr lang="en-US" dirty="0">
                <a:solidFill>
                  <a:srgbClr val="FF9797"/>
                </a:solidFill>
                <a:latin typeface="Lucida Console" panose="020B0609040504020204" pitchFamily="49" charset="0"/>
              </a:rPr>
              <a:t>: </a:t>
            </a:r>
            <a:r>
              <a:rPr lang="en-US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i</a:t>
            </a:r>
            <a:endParaRPr lang="en-US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del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AtrTes</a:t>
            </a:r>
            <a:r>
              <a:rPr lang="en-US" spc="-200" dirty="0" err="1">
                <a:latin typeface="Lucida Console" panose="020B0609040504020204" pitchFamily="49" charset="0"/>
              </a:rPr>
              <a:t>t.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sz="1800" spc="-100" dirty="0"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#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But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the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class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has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an</a:t>
            </a:r>
            <a:r>
              <a:rPr lang="en-US" sz="16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sz="16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attribute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#W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el</a:t>
            </a:r>
            <a:r>
              <a:rPr lang="en-US" spc="-450" dirty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,</a:t>
            </a:r>
            <a:r>
              <a:rPr lang="en-US" sz="12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it</a:t>
            </a:r>
            <a:r>
              <a:rPr lang="en-US" sz="20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had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an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attribute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unt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sz="16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we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el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eted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t</a:t>
            </a:r>
          </a:p>
          <a:p>
            <a:pPr>
              <a:lnSpc>
                <a:spcPct val="85000"/>
              </a:lnSpc>
            </a:pP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Traceback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5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stdin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85000"/>
              </a:lnSpc>
            </a:pPr>
            <a:r>
              <a:rPr lang="en-US" spc="-1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spc="-16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r</a:t>
            </a:r>
            <a:r>
              <a:rPr lang="en-US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:</a:t>
            </a:r>
            <a:r>
              <a:rPr lang="en-US" sz="2000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  <a:r>
              <a:rPr lang="en-US" spc="-1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AtrTes</a:t>
            </a:r>
            <a:r>
              <a:rPr lang="en-US" spc="-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t</a:t>
            </a:r>
            <a:r>
              <a:rPr lang="en-US" spc="-4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  <a:r>
              <a:rPr lang="en-US" sz="2000" spc="-4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object</a:t>
            </a:r>
            <a:r>
              <a:rPr lang="en-US" sz="2000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has</a:t>
            </a:r>
            <a:r>
              <a:rPr lang="en-US" sz="2000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no</a:t>
            </a:r>
            <a:r>
              <a:rPr lang="en-US" sz="20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attribute</a:t>
            </a:r>
            <a:r>
              <a:rPr lang="en-US" sz="18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  <a:r>
              <a:rPr lang="en-US" spc="-3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i</a:t>
            </a:r>
            <a:r>
              <a:rPr lang="en-US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</a:p>
          <a:p>
            <a:pPr>
              <a:lnSpc>
                <a:spcPct val="75000"/>
              </a:lnSpc>
            </a:pPr>
            <a:endParaRPr lang="en-US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0"/>
            <a:ext cx="914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pc="-3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95948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1843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b="1" dirty="0">
                <a:latin typeface="Lucida Console" panose="020B0609040504020204" pitchFamily="49" charset="0"/>
              </a:rPr>
              <a:t>class </a:t>
            </a:r>
            <a:r>
              <a:rPr lang="en-US" b="1" dirty="0" err="1">
                <a:latin typeface="Lucida Console" panose="020B0609040504020204" pitchFamily="49" charset="0"/>
              </a:rPr>
              <a:t>AtrTest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b="1" dirty="0">
                <a:latin typeface="Lucida Console" panose="020B0609040504020204" pitchFamily="49" charset="0"/>
              </a:rPr>
              <a:t>: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="1"</a:t>
            </a:r>
            <a:r>
              <a:rPr lang="en-US" sz="1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#class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attribute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(shared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by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all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instances)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dirty="0" err="1">
                <a:latin typeface="Lucida Console" panose="020B0609040504020204" pitchFamily="49" charset="0"/>
              </a:rPr>
              <a:t>def</a:t>
            </a:r>
            <a:r>
              <a:rPr lang="en-US" dirty="0">
                <a:latin typeface="Lucida Console" panose="020B0609040504020204" pitchFamily="49" charset="0"/>
              </a:rPr>
              <a:t> f(self): </a:t>
            </a:r>
            <a:r>
              <a:rPr lang="en-US" dirty="0" err="1">
                <a:latin typeface="Lucida Console" panose="020B0609040504020204" pitchFamily="49" charset="0"/>
              </a:rPr>
              <a:t>self.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="2"</a:t>
            </a:r>
            <a:r>
              <a:rPr lang="en-US" b="1" dirty="0">
                <a:solidFill>
                  <a:srgbClr val="00B050"/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#instance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attribute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Lucida Sans" panose="020B0602030504020204" pitchFamily="34" charset="0"/>
              </a:rPr>
              <a:t> 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endParaRPr lang="en-US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70" dirty="0">
                <a:latin typeface="Lucida Console" panose="020B0609040504020204" pitchFamily="49" charset="0"/>
              </a:rPr>
              <a:t>a=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2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spc="-70" dirty="0">
                <a:latin typeface="Lucida Console" panose="020B0609040504020204" pitchFamily="49" charset="0"/>
              </a:rPr>
              <a:t>b=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spc="-70" dirty="0">
                <a:latin typeface="Lucida Console" panose="020B0609040504020204" pitchFamily="49" charset="0"/>
              </a:rPr>
              <a:t>c=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spc="-70" dirty="0">
                <a:latin typeface="Lucida Console" panose="020B0609040504020204" pitchFamily="49" charset="0"/>
              </a:rPr>
              <a:t>d=</a:t>
            </a:r>
            <a:r>
              <a:rPr lang="en-US" spc="-70" dirty="0" err="1">
                <a:latin typeface="Lucida Console" panose="020B0609040504020204" pitchFamily="49" charset="0"/>
              </a:rPr>
              <a:t>A</a:t>
            </a:r>
            <a:r>
              <a:rPr lang="en-US" spc="-110" dirty="0" err="1">
                <a:latin typeface="Lucida Console" panose="020B0609040504020204" pitchFamily="49" charset="0"/>
              </a:rPr>
              <a:t>t</a:t>
            </a:r>
            <a:r>
              <a:rPr lang="en-US" spc="-70" dirty="0" err="1">
                <a:latin typeface="Lucida Console" panose="020B0609040504020204" pitchFamily="49" charset="0"/>
              </a:rPr>
              <a:t>r</a:t>
            </a:r>
            <a:r>
              <a:rPr lang="en-US" spc="-160" dirty="0" err="1">
                <a:latin typeface="Lucida Console" panose="020B0609040504020204" pitchFamily="49" charset="0"/>
              </a:rPr>
              <a:t>T</a:t>
            </a:r>
            <a:r>
              <a:rPr lang="en-US" spc="-110" dirty="0" err="1">
                <a:latin typeface="Lucida Console" panose="020B0609040504020204" pitchFamily="49" charset="0"/>
              </a:rPr>
              <a:t>es</a:t>
            </a:r>
            <a:r>
              <a:rPr lang="en-US" spc="-70" dirty="0" err="1">
                <a:latin typeface="Lucida Console" panose="020B0609040504020204" pitchFamily="49" charset="0"/>
              </a:rPr>
              <a:t>t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endParaRPr lang="en-US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b.f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  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c.f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c.i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="3"</a:t>
            </a:r>
            <a:r>
              <a:rPr lang="en-US" dirty="0">
                <a:latin typeface="Lucida Console" panose="020B0609040504020204" pitchFamily="49" charset="0"/>
              </a:rPr>
              <a:t>;  </a:t>
            </a:r>
            <a:r>
              <a:rPr lang="en-US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d.i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="3"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d.f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)</a:t>
            </a:r>
            <a:endParaRPr lang="en-US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print(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"a="+a.</a:t>
            </a:r>
            <a:r>
              <a:rPr lang="en-US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"b="+b.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,",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c="+c.</a:t>
            </a:r>
            <a:r>
              <a:rPr lang="en-US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"d"+</a:t>
            </a:r>
            <a:r>
              <a:rPr 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d.i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b=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c=3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d=2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latin typeface="Lucida Console" panose="020B0609040504020204" pitchFamily="49" charset="0"/>
              </a:rPr>
              <a:t>del</a:t>
            </a:r>
            <a:r>
              <a:rPr lang="en-US" sz="1400" spc="-100" dirty="0"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 err="1">
                <a:latin typeface="Lucida Console" panose="020B0609040504020204" pitchFamily="49" charset="0"/>
              </a:rPr>
              <a:t>;print</a:t>
            </a:r>
            <a:r>
              <a:rPr lang="en-US" spc="-100" dirty="0">
                <a:latin typeface="Lucida Console" panose="020B0609040504020204" pitchFamily="49" charset="0"/>
              </a:rPr>
              <a:t>(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"a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"b="+</a:t>
            </a:r>
            <a:r>
              <a:rPr lang="en-US" spc="-300" dirty="0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50" dirty="0">
                <a:latin typeface="Lucida Console" panose="020B0609040504020204" pitchFamily="49" charset="0"/>
              </a:rPr>
              <a:t>,</a:t>
            </a:r>
            <a:r>
              <a:rPr lang="en-US" spc="-150" dirty="0">
                <a:solidFill>
                  <a:srgbClr val="CC00CC"/>
                </a:solidFill>
                <a:latin typeface="Lucida Console" panose="020B0609040504020204" pitchFamily="49" charset="0"/>
              </a:rPr>
              <a:t>"</a:t>
            </a:r>
            <a:r>
              <a:rPr lang="en-US" spc="-100" dirty="0">
                <a:solidFill>
                  <a:srgbClr val="CC00CC"/>
                </a:solidFill>
                <a:latin typeface="Lucida Console" panose="020B0609040504020204" pitchFamily="49" charset="0"/>
              </a:rPr>
              <a:t>c</a:t>
            </a:r>
            <a:r>
              <a:rPr lang="en-US" spc="-200" dirty="0">
                <a:solidFill>
                  <a:srgbClr val="CC00CC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CC00CC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CC00CC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>
                <a:solidFill>
                  <a:srgbClr val="CC00CC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"d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b=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CC00CC"/>
                </a:solidFill>
                <a:latin typeface="Lucida Console" panose="020B0609040504020204" pitchFamily="49" charset="0"/>
              </a:rPr>
              <a:t>c=3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d=1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pc="-100" dirty="0">
                <a:latin typeface="Lucida Console" panose="020B0609040504020204" pitchFamily="49" charset="0"/>
              </a:rPr>
              <a:t>del</a:t>
            </a:r>
            <a:r>
              <a:rPr lang="en-US" sz="1600" spc="-100" dirty="0"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 err="1">
                <a:latin typeface="Lucida Console" panose="020B0609040504020204" pitchFamily="49" charset="0"/>
              </a:rPr>
              <a:t>;print</a:t>
            </a:r>
            <a:r>
              <a:rPr lang="en-US" spc="-100" dirty="0">
                <a:latin typeface="Lucida Console" panose="020B0609040504020204" pitchFamily="49" charset="0"/>
              </a:rPr>
              <a:t>(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"a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"b="+</a:t>
            </a:r>
            <a:r>
              <a:rPr lang="en-US" spc="-300" dirty="0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50" dirty="0">
                <a:latin typeface="Lucida Console" panose="020B0609040504020204" pitchFamily="49" charset="0"/>
              </a:rPr>
              <a:t>,</a:t>
            </a:r>
            <a:r>
              <a:rPr lang="en-US" spc="-150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"d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</a:t>
            </a:r>
            <a:r>
              <a:rPr lang="en-US" dirty="0">
                <a:solidFill>
                  <a:srgbClr val="FFC000"/>
                </a:solidFill>
                <a:latin typeface="Lucida Console" panose="020B0609040504020204" pitchFamily="49" charset="0"/>
              </a:rPr>
              <a:t>b=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c=1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d=1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latin typeface="Lucida Console" panose="020B0609040504020204" pitchFamily="49" charset="0"/>
              </a:rPr>
              <a:t>del</a:t>
            </a:r>
            <a:r>
              <a:rPr lang="en-US" sz="1800" spc="-100" dirty="0"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 err="1">
                <a:latin typeface="Lucida Console" panose="020B0609040504020204" pitchFamily="49" charset="0"/>
              </a:rPr>
              <a:t>;print</a:t>
            </a:r>
            <a:r>
              <a:rPr lang="en-US" spc="-100" dirty="0">
                <a:latin typeface="Lucida Console" panose="020B0609040504020204" pitchFamily="49" charset="0"/>
              </a:rPr>
              <a:t>(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"a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"b="+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50" dirty="0">
                <a:latin typeface="Lucida Console" panose="020B0609040504020204" pitchFamily="49" charset="0"/>
              </a:rPr>
              <a:t>,</a:t>
            </a:r>
            <a:r>
              <a:rPr lang="en-US" spc="-150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  <a:r>
              <a:rPr lang="en-US" spc="-600" dirty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,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"d</a:t>
            </a:r>
            <a:r>
              <a:rPr lang="en-US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="</a:t>
            </a:r>
            <a:r>
              <a:rPr 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+</a:t>
            </a:r>
            <a:r>
              <a:rPr lang="en-US" spc="-3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spc="-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a=1 b=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 c=1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Lucida Console" panose="020B0609040504020204" pitchFamily="49" charset="0"/>
              </a:rPr>
              <a:t>d=1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del </a:t>
            </a:r>
            <a:r>
              <a:rPr lang="en-US" spc="-3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 a never had its own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attribute…</a:t>
            </a:r>
          </a:p>
          <a:p>
            <a:pPr>
              <a:lnSpc>
                <a:spcPct val="85000"/>
              </a:lnSpc>
            </a:pP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Traceback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5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stdin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85000"/>
              </a:lnSpc>
            </a:pPr>
            <a:r>
              <a:rPr lang="en-US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AttributeError</a:t>
            </a:r>
            <a:r>
              <a:rPr lang="en-US" dirty="0">
                <a:solidFill>
                  <a:srgbClr val="FF9797"/>
                </a:solidFill>
                <a:latin typeface="Lucida Console" panose="020B0609040504020204" pitchFamily="49" charset="0"/>
              </a:rPr>
              <a:t>: </a:t>
            </a:r>
            <a:r>
              <a:rPr lang="en-US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i</a:t>
            </a:r>
            <a:endParaRPr lang="en-US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del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AtrTes</a:t>
            </a:r>
            <a:r>
              <a:rPr lang="en-US" spc="-200" dirty="0" err="1">
                <a:latin typeface="Lucida Console" panose="020B0609040504020204" pitchFamily="49" charset="0"/>
              </a:rPr>
              <a:t>t.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sz="1800" spc="-100" dirty="0"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#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But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the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class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has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an</a:t>
            </a:r>
            <a:r>
              <a:rPr lang="en-US" sz="16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sz="16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attribute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pc="-3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pc="-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#W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el</a:t>
            </a:r>
            <a:r>
              <a:rPr lang="en-US" spc="-450" dirty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,</a:t>
            </a:r>
            <a:r>
              <a:rPr lang="en-US" sz="12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it</a:t>
            </a:r>
            <a:r>
              <a:rPr lang="en-US" sz="20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had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an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attribute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unt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sz="16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we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el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eted</a:t>
            </a:r>
            <a:r>
              <a:rPr lang="en-US" sz="1800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t</a:t>
            </a:r>
          </a:p>
          <a:p>
            <a:pPr>
              <a:lnSpc>
                <a:spcPct val="85000"/>
              </a:lnSpc>
            </a:pP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Traceback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5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stdin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85000"/>
              </a:lnSpc>
            </a:pPr>
            <a:r>
              <a:rPr lang="en-US" spc="-1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spc="-16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r</a:t>
            </a:r>
            <a:r>
              <a:rPr lang="en-US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:</a:t>
            </a:r>
            <a:r>
              <a:rPr lang="en-US" sz="2000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  <a:r>
              <a:rPr lang="en-US" spc="-1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AtrTes</a:t>
            </a:r>
            <a:r>
              <a:rPr lang="en-US" spc="-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t</a:t>
            </a:r>
            <a:r>
              <a:rPr lang="en-US" spc="-4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  <a:r>
              <a:rPr lang="en-US" sz="2000" spc="-4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object</a:t>
            </a:r>
            <a:r>
              <a:rPr lang="en-US" sz="2000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has</a:t>
            </a:r>
            <a:r>
              <a:rPr lang="en-US" sz="2000" spc="-16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no</a:t>
            </a:r>
            <a:r>
              <a:rPr lang="en-US" sz="20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attribute</a:t>
            </a:r>
            <a:r>
              <a:rPr lang="en-US" sz="18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  <a:r>
              <a:rPr lang="en-US" spc="-3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i</a:t>
            </a:r>
            <a:r>
              <a:rPr lang="en-US" spc="-300" dirty="0">
                <a:solidFill>
                  <a:srgbClr val="FF9797"/>
                </a:solidFill>
                <a:latin typeface="Lucida Console" panose="020B0609040504020204" pitchFamily="49" charset="0"/>
              </a:rPr>
              <a:t>'</a:t>
            </a:r>
          </a:p>
          <a:p>
            <a:pPr>
              <a:lnSpc>
                <a:spcPct val="75000"/>
              </a:lnSpc>
            </a:pPr>
            <a:endParaRPr lang="en-US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0"/>
            <a:ext cx="914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pc="-100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pc="-3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4038600" y="2438400"/>
            <a:ext cx="4495800" cy="1981200"/>
          </a:xfrm>
          <a:prstGeom prst="wedgeRoundRectCallout">
            <a:avLst>
              <a:gd name="adj1" fmla="val -74392"/>
              <a:gd name="adj2" fmla="val -49295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Notice that, in the case of each object, the last value assigned to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i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is the one that printed here.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038600" y="3048000"/>
            <a:ext cx="4495800" cy="2590800"/>
          </a:xfrm>
          <a:prstGeom prst="wedgeRoundRectCallout">
            <a:avLst>
              <a:gd name="adj1" fmla="val -74392"/>
              <a:gd name="adj2" fmla="val -49295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Notice that d still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has the value of 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charset="0"/>
              </a:rPr>
              <a:t>"1"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from its class. The point: it did not become 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rgbClr val="FF43FF"/>
                </a:solidFill>
                <a:effectLst/>
                <a:latin typeface="Times New Roman" charset="0"/>
              </a:rPr>
              <a:t>"3"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, which indicates that </a:t>
            </a:r>
            <a:r>
              <a:rPr kumimoji="0" lang="en-US" sz="3200" b="0" i="0" u="none" strike="noStrike" cap="none" normalizeH="0" dirty="0" err="1">
                <a:ln>
                  <a:noFill/>
                </a:ln>
                <a:solidFill>
                  <a:srgbClr val="FF43FF"/>
                </a:solidFill>
                <a:effectLst/>
                <a:latin typeface="Times New Roman" charset="0"/>
              </a:rPr>
              <a:t>d.i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rgbClr val="FF43FF"/>
                </a:solidFill>
                <a:effectLst/>
                <a:latin typeface="Times New Roman" charset="0"/>
              </a:rPr>
              <a:t>="3" 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was overwritten by </a:t>
            </a:r>
            <a:r>
              <a:rPr kumimoji="0" lang="en-US" sz="3200" b="0" i="0" u="none" strike="noStrike" cap="none" normalizeH="0" dirty="0" err="1">
                <a:ln>
                  <a:noFill/>
                </a:ln>
                <a:solidFill>
                  <a:srgbClr val="FFC000"/>
                </a:solidFill>
                <a:effectLst/>
                <a:latin typeface="Times New Roman" charset="0"/>
              </a:rPr>
              <a:t>self.i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352800" y="3657600"/>
            <a:ext cx="4495800" cy="1143000"/>
          </a:xfrm>
          <a:prstGeom prst="wedgeRoundRectCallout">
            <a:avLst>
              <a:gd name="adj1" fmla="val -74392"/>
              <a:gd name="adj2" fmla="val -49295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Similarly, the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c.i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must have overwritten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self.i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 flipV="1">
            <a:off x="5867400" y="1828800"/>
            <a:ext cx="1524000" cy="3048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C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7010400" y="1828800"/>
            <a:ext cx="838200" cy="3352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H="1" flipV="1">
            <a:off x="5410200" y="914400"/>
            <a:ext cx="1524000" cy="685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 flipV="1">
            <a:off x="2438400" y="533400"/>
            <a:ext cx="3810000" cy="3124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2109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6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7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5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0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3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6" dur="500"/>
                                        <p:tgtEl>
                                          <p:spTgt spid="1843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9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6096000"/>
          </a:xfrm>
        </p:spPr>
        <p:txBody>
          <a:bodyPr/>
          <a:lstStyle/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class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SimpleClass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(): pass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f(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self,x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self.v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= x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SimpleClass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inst.v</a:t>
            </a:r>
            <a:endParaRPr lang="en-US" altLang="en-US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Traceback</a:t>
            </a: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(most recent call last):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&gt;", line 1, in &lt;module&gt;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AttributeError</a:t>
            </a: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: '</a:t>
            </a:r>
            <a:r>
              <a:rPr lang="en-US" altLang="en-US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SimpleClass</a:t>
            </a: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' object has no attribute 'v'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f(inst,3);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inst.v</a:t>
            </a:r>
            <a:endParaRPr lang="en-US" altLang="en-US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SimpleClass.f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=f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inst.f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(4);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inst.v</a:t>
            </a:r>
            <a:endParaRPr lang="en-US" altLang="en-US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inst.f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=f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inst.f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(5)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latin typeface="Lucida Fax" panose="02060602050505020204" pitchFamily="18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Traceback</a:t>
            </a: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(most recent call last):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&gt;", line 1, in &lt;module&gt;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40" dirty="0" err="1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TypeError</a:t>
            </a:r>
            <a:r>
              <a:rPr lang="en-US" altLang="en-US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: f() missing</a:t>
            </a:r>
            <a:r>
              <a:rPr lang="en-US" altLang="en-US" sz="2000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</a:t>
            </a:r>
            <a:r>
              <a:rPr lang="en-US" altLang="en-US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2000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</a:t>
            </a:r>
            <a:r>
              <a:rPr lang="en-US" altLang="en-US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required</a:t>
            </a:r>
            <a:r>
              <a:rPr lang="en-US" altLang="en-US" sz="2000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</a:t>
            </a:r>
            <a:r>
              <a:rPr lang="en-US" altLang="en-US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positional</a:t>
            </a:r>
            <a:r>
              <a:rPr lang="en-US" altLang="en-US" sz="2000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</a:t>
            </a:r>
            <a:r>
              <a:rPr lang="en-US" altLang="en-US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argument:</a:t>
            </a:r>
            <a:r>
              <a:rPr lang="en-US" altLang="en-US" sz="1100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 </a:t>
            </a:r>
            <a:r>
              <a:rPr lang="en-US" altLang="en-US" spc="-40" dirty="0">
                <a:solidFill>
                  <a:srgbClr val="FF9797"/>
                </a:solidFill>
                <a:latin typeface="Lucida Fax" panose="02060602050505020204" pitchFamily="18" charset="0"/>
                <a:cs typeface="Courier New" panose="02070309020205020404" pitchFamily="49" charset="0"/>
              </a:rPr>
              <a:t>'x'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1026"/>
          <p:cNvSpPr txBox="1"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400" kern="0" dirty="0">
                <a:latin typeface="Elephant" panose="02020904090505020303" pitchFamily="18" charset="0"/>
              </a:rPr>
              <a:t>Dynamically adding to a class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838200"/>
            <a:ext cx="8382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solidFill>
                <a:srgbClr val="FF9797"/>
              </a:solidFill>
              <a:latin typeface="Lucida Fax" panose="02060602050505020204" pitchFamily="18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solidFill>
                <a:srgbClr val="FF9797"/>
              </a:solidFill>
              <a:latin typeface="Lucida Fax" panose="02060602050505020204" pitchFamily="18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solidFill>
                <a:srgbClr val="FF9797"/>
              </a:solidFill>
              <a:latin typeface="Lucida Fax" panose="02060602050505020204" pitchFamily="18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solidFill>
                <a:srgbClr val="FF9797"/>
              </a:solidFill>
              <a:latin typeface="Lucida Fax" panose="02060602050505020204" pitchFamily="18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dirty="0">
              <a:solidFill>
                <a:srgbClr val="FF9797"/>
              </a:solidFill>
              <a:latin typeface="Lucida Fax" panose="02060602050505020204" pitchFamily="18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40" dirty="0">
              <a:solidFill>
                <a:srgbClr val="FF9797"/>
              </a:solidFill>
              <a:latin typeface="Lucida Fax" panose="02060602050505020204" pitchFamily="18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61032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24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24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4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45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24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24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 lIns="0" rIns="0"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Dynamically adding to instance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155448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FontTx/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 pass</a:t>
            </a:r>
          </a:p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800" dirty="0">
                <a:latin typeface="Lucida Console" panose="020B0609040504020204" pitchFamily="49" charset="0"/>
              </a:rPr>
              <a:t>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add a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function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#Two arguments needed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an </a:t>
            </a:r>
            <a:r>
              <a:rPr lang="en-US" altLang="en-US" sz="28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attribute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38200"/>
            <a:ext cx="8915400" cy="601980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 </a:t>
            </a:r>
            <a:r>
              <a:rPr lang="en-US" altLang="en-US" sz="3200" dirty="0"/>
              <a:t>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When a method accesses it, the attribute </a:t>
            </a:r>
            <a:r>
              <a:rPr lang="en-US" altLang="ja-JP" sz="3200" spc="-30" dirty="0"/>
              <a:t>is referenced through the </a:t>
            </a:r>
            <a:r>
              <a:rPr lang="en-US" altLang="ja-JP" sz="3200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spc="-30" dirty="0"/>
              <a:t>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/>
              <a:t>2.	A </a:t>
            </a:r>
            <a:r>
              <a:rPr lang="en-US" altLang="ja-JP" sz="3200" b="1" dirty="0">
                <a:solidFill>
                  <a:srgbClr val="006600"/>
                </a:solidFill>
              </a:rPr>
              <a:t>class attribute</a:t>
            </a:r>
            <a:r>
              <a:rPr lang="en-US" altLang="ja-JP" sz="3200" dirty="0"/>
              <a:t> is a static variable whose value is shared by </a:t>
            </a:r>
            <a:r>
              <a:rPr lang="en-US" altLang="ja-JP" sz="3200" i="1" dirty="0"/>
              <a:t>all instances</a:t>
            </a:r>
            <a:r>
              <a:rPr lang="en-US" altLang="ja-JP" sz="3200" dirty="0"/>
              <a:t> of the </a:t>
            </a:r>
            <a:r>
              <a:rPr lang="en-US" altLang="ja-JP" sz="3200" i="1" dirty="0"/>
              <a:t>class.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When accessing it, you don't use 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A class attribute could be used to count the number of instantiations, for example</a:t>
            </a:r>
          </a:p>
          <a:p>
            <a:pPr lvl="2" eaLnBrk="1" hangingPunct="1">
              <a:spcBef>
                <a:spcPts val="600"/>
              </a:spcBef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921675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Constructors</a:t>
            </a:r>
          </a:p>
        </p:txBody>
      </p:sp>
      <p:sp>
        <p:nvSpPr>
          <p:cNvPr id="33794" name="Rectangle 4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077200" cy="49530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6600"/>
                </a:solidFill>
              </a:rPr>
              <a:t>The Constructor</a:t>
            </a:r>
            <a:r>
              <a:rPr lang="en-US" altLang="en-US" sz="3200" dirty="0">
                <a:solidFill>
                  <a:schemeClr val="tx1"/>
                </a:solidFill>
              </a:rPr>
              <a:t>: A special method that is automatically invoked right after a new object is created</a:t>
            </a:r>
          </a:p>
          <a:p>
            <a:pPr eaLnBrk="1" hangingPunct="1"/>
            <a:r>
              <a:rPr lang="en-US" altLang="en-US" sz="3200" dirty="0">
                <a:solidFill>
                  <a:schemeClr val="tx1"/>
                </a:solidFill>
              </a:rPr>
              <a:t>You usually write one in each class </a:t>
            </a:r>
          </a:p>
          <a:p>
            <a:pPr eaLnBrk="1" hangingPunct="1"/>
            <a:r>
              <a:rPr lang="en-US" altLang="en-US" sz="3200" b="1" dirty="0">
                <a:solidFill>
                  <a:schemeClr val="tx1"/>
                </a:solidFill>
              </a:rPr>
              <a:t>You usually set up the initial attribute values of new object in constructor</a:t>
            </a:r>
          </a:p>
        </p:txBody>
      </p:sp>
    </p:spTree>
    <p:extLst>
      <p:ext uri="{BB962C8B-B14F-4D97-AF65-F5344CB8AC3E}">
        <p14:creationId xmlns:p14="http://schemas.microsoft.com/office/powerpoint/2010/main" val="2932617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512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a Constructor</a:t>
            </a:r>
          </a:p>
        </p:txBody>
      </p:sp>
      <p:sp>
        <p:nvSpPr>
          <p:cNvPr id="35842" name="Rectangle 512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229600" cy="594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__(self):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print ("A new critter has been born!")</a:t>
            </a: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3200" dirty="0"/>
              <a:t>New </a:t>
            </a:r>
            <a:r>
              <a:rPr lang="en-US" altLang="en-US" sz="3200" dirty="0">
                <a:latin typeface="Lucida Console" panose="020B0609040504020204" pitchFamily="49" charset="0"/>
              </a:rPr>
              <a:t>Critter</a:t>
            </a:r>
            <a:r>
              <a:rPr lang="en-US" altLang="en-US" sz="3200" dirty="0"/>
              <a:t> object automatically announces itself to world</a:t>
            </a:r>
            <a:endParaRPr lang="en-US" altLang="en-US" sz="28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>
                <a:latin typeface="Lucida Console" panose="020B0609040504020204" pitchFamily="49" charset="0"/>
              </a:rPr>
              <a:t>__</a:t>
            </a:r>
            <a:r>
              <a:rPr lang="en-US" altLang="en-US" sz="28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800" dirty="0">
                <a:latin typeface="Lucida Console" panose="020B0609040504020204" pitchFamily="49" charset="0"/>
              </a:rPr>
              <a:t>__</a:t>
            </a:r>
            <a:r>
              <a:rPr lang="en-US" altLang="en-US" sz="3200" dirty="0">
                <a:latin typeface="Lucida Console" panose="020B0609040504020204" pitchFamily="49" charset="0"/>
              </a:rPr>
              <a:t> </a:t>
            </a:r>
          </a:p>
          <a:p>
            <a:pPr lvl="1" eaLnBrk="1" hangingPunct="1"/>
            <a:r>
              <a:rPr lang="en-US" altLang="en-US" sz="2800" dirty="0"/>
              <a:t>Is special method name</a:t>
            </a:r>
          </a:p>
          <a:p>
            <a:pPr lvl="1" eaLnBrk="1" hangingPunct="1"/>
            <a:r>
              <a:rPr lang="en-US" altLang="en-US" sz="2800" dirty="0"/>
              <a:t>Automatically called by new </a:t>
            </a:r>
            <a:r>
              <a:rPr lang="en-US" altLang="en-US" dirty="0">
                <a:latin typeface="Lucida Console" panose="020B0609040504020204" pitchFamily="49" charset="0"/>
              </a:rPr>
              <a:t>Critter</a:t>
            </a:r>
            <a:r>
              <a:rPr lang="en-US" altLang="en-US" sz="2800" dirty="0"/>
              <a:t> object</a:t>
            </a:r>
          </a:p>
          <a:p>
            <a:pPr marL="457200" lvl="1" indent="0" eaLnBrk="1" hangingPunct="1">
              <a:buNone/>
            </a:pPr>
            <a:endParaRPr lang="en-US" altLang="en-US" sz="2800" dirty="0"/>
          </a:p>
          <a:p>
            <a:pPr marL="0" lvl="1" indent="0" algn="ctr" eaLnBrk="1" hangingPunct="1">
              <a:buNone/>
            </a:pPr>
            <a:r>
              <a:rPr lang="en-US" altLang="en-US" sz="2800" i="1" dirty="0"/>
              <a:t>(Recall that C++ classes also have constructors.)</a:t>
            </a:r>
          </a:p>
          <a:p>
            <a:pPr marL="0" lvl="1" indent="0" algn="ctr" eaLnBrk="1" hangingPunct="1">
              <a:buNone/>
            </a:pPr>
            <a:r>
              <a:rPr lang="en-US" altLang="en-US" sz="2800" i="1" dirty="0"/>
              <a:t>(And C++ has destructors (~) – but Python does not need them, because of garbage collection.)</a:t>
            </a:r>
            <a:br>
              <a:rPr lang="en-US" altLang="en-US" sz="2800" i="1" dirty="0"/>
            </a:br>
            <a:endParaRPr lang="en-US" alt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47452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Initialize</a:t>
            </a:r>
            <a:r>
              <a:rPr lang="en-US" altLang="en-US" dirty="0">
                <a:latin typeface="Elephant" panose="02020904090505020303" pitchFamily="18" charset="0"/>
              </a:rPr>
              <a:t> </a:t>
            </a:r>
            <a:r>
              <a:rPr lang="en-US" altLang="en-US" sz="4400" dirty="0" err="1">
                <a:latin typeface="Elephant" panose="02020904090505020303" pitchFamily="18" charset="0"/>
              </a:rPr>
              <a:t>Attribs</a:t>
            </a:r>
            <a:r>
              <a:rPr lang="en-US" altLang="en-US" sz="4000" dirty="0">
                <a:latin typeface="Elephant" panose="02020904090505020303" pitchFamily="18" charset="0"/>
              </a:rPr>
              <a:t> </a:t>
            </a:r>
            <a:r>
              <a:rPr lang="en-US" altLang="en-US" sz="4400" dirty="0">
                <a:latin typeface="Elephant" panose="02020904090505020303" pitchFamily="18" charset="0"/>
              </a:rPr>
              <a:t>in</a:t>
            </a:r>
            <a:r>
              <a:rPr lang="en-US" altLang="en-US" sz="4000" dirty="0">
                <a:latin typeface="Elephant" panose="02020904090505020303" pitchFamily="18" charset="0"/>
              </a:rPr>
              <a:t> </a:t>
            </a:r>
            <a:r>
              <a:rPr lang="en-US" altLang="en-US" sz="4400" dirty="0">
                <a:latin typeface="Elephant" panose="02020904090505020303" pitchFamily="18" charset="0"/>
              </a:rPr>
              <a:t>Constructor</a:t>
            </a:r>
          </a:p>
        </p:txBody>
      </p:sp>
      <p:sp>
        <p:nvSpPr>
          <p:cNvPr id="37890" name="Rectangle 6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610600" cy="59436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self.name = name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0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crit1 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ja-JP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Tx/>
              <a:buNone/>
            </a:pPr>
            <a:endParaRPr lang="en-US" altLang="en-US" sz="1050" dirty="0">
              <a:latin typeface="Courier New" pitchFamily="49" charset="0"/>
            </a:endParaRPr>
          </a:p>
          <a:p>
            <a:pPr eaLnBrk="1" hangingPunct="1"/>
            <a:r>
              <a:rPr lang="en-US" altLang="en-US" sz="3200" dirty="0"/>
              <a:t>A</a:t>
            </a:r>
            <a:r>
              <a:rPr lang="en-US" altLang="ja-JP" sz="3200" dirty="0"/>
              <a:t>ttributes can be </a:t>
            </a:r>
            <a:r>
              <a:rPr lang="en-US" altLang="ja-JP" sz="3200" b="1" dirty="0"/>
              <a:t>automatically</a:t>
            </a:r>
            <a:r>
              <a:rPr lang="en-US" altLang="ja-JP" sz="3200" dirty="0"/>
              <a:t> created and initialized through constructor</a:t>
            </a:r>
            <a:endParaRPr lang="en-US" altLang="ja-JP" sz="2400" dirty="0">
              <a:latin typeface="Courier New" pitchFamily="49" charset="0"/>
            </a:endParaRPr>
          </a:p>
          <a:p>
            <a:pPr eaLnBrk="1" hangingPunct="1"/>
            <a:r>
              <a:rPr lang="en-US" altLang="en-US" sz="3000" dirty="0">
                <a:latin typeface="Lucida Console" panose="020B0609040504020204" pitchFamily="49" charset="0"/>
              </a:rPr>
              <a:t>Self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1</a:t>
            </a:r>
            <a:r>
              <a:rPr lang="en-US" alt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parameter of every instance method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/>
              <a:t> receives reference to new </a:t>
            </a:r>
            <a:r>
              <a:rPr lang="en-US" altLang="en-US" sz="2800" dirty="0">
                <a:latin typeface="Lucida Console" panose="020B0609040504020204" pitchFamily="49" charset="0"/>
              </a:rPr>
              <a:t>Critter</a:t>
            </a:r>
            <a:r>
              <a:rPr lang="en-US" altLang="en-US" sz="2800" dirty="0"/>
              <a:t> object </a:t>
            </a:r>
          </a:p>
          <a:p>
            <a:pPr lvl="1" eaLnBrk="1" hangingPunct="1"/>
            <a:r>
              <a:rPr lang="en-US" altLang="en-US" sz="2800" dirty="0">
                <a:latin typeface="Lucida Console" panose="020B0609040504020204" pitchFamily="49" charset="0"/>
              </a:rPr>
              <a:t>name </a:t>
            </a:r>
            <a:r>
              <a:rPr lang="en-US" altLang="en-US" sz="2800" dirty="0"/>
              <a:t>receives </a:t>
            </a:r>
            <a:r>
              <a:rPr lang="en-US" altLang="en-US" sz="2800" dirty="0">
                <a:latin typeface="Lucida Console" panose="020B0609040504020204" pitchFamily="49" charset="0"/>
              </a:rPr>
              <a:t>"</a:t>
            </a:r>
            <a:r>
              <a:rPr lang="en-US" altLang="en-US" sz="28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800" dirty="0">
                <a:latin typeface="Lucida Console" panose="020B0609040504020204" pitchFamily="49" charset="0"/>
              </a:rPr>
              <a:t>"</a:t>
            </a:r>
          </a:p>
          <a:p>
            <a:pPr lvl="1" eaLnBrk="1" hangingPunct="1"/>
            <a:r>
              <a:rPr lang="en-US" altLang="en-US" sz="2800" dirty="0">
                <a:latin typeface="Lucida Console" panose="020B0609040504020204" pitchFamily="49" charset="0"/>
              </a:rPr>
              <a:t>self.name = name</a:t>
            </a:r>
            <a:r>
              <a:rPr lang="en-US" altLang="en-US" sz="2800" dirty="0"/>
              <a:t> creates the attribute </a:t>
            </a:r>
            <a:r>
              <a:rPr lang="en-US" altLang="en-US" sz="2800" dirty="0">
                <a:latin typeface="Lucida Console" panose="020B0609040504020204" pitchFamily="49" charset="0"/>
              </a:rPr>
              <a:t>name</a:t>
            </a:r>
            <a:r>
              <a:rPr lang="en-US" altLang="en-US" sz="2800" dirty="0"/>
              <a:t> for object and sets to </a:t>
            </a:r>
            <a:r>
              <a:rPr lang="en-US" altLang="en-US" sz="2800" dirty="0">
                <a:latin typeface="Lucida Console" panose="020B0609040504020204" pitchFamily="49" charset="0"/>
              </a:rPr>
              <a:t>"</a:t>
            </a:r>
            <a:r>
              <a:rPr lang="en-US" altLang="en-US" sz="28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800" dirty="0">
                <a:latin typeface="Lucida Console" panose="020B0609040504020204" pitchFamily="49" charset="0"/>
              </a:rPr>
              <a:t>"</a:t>
            </a:r>
          </a:p>
          <a:p>
            <a:pPr lvl="1" eaLnBrk="1" hangingPunct="1"/>
            <a:r>
              <a:rPr lang="en-US" altLang="en-US" sz="2800" dirty="0">
                <a:latin typeface="Lucida Console" panose="020B0609040504020204" pitchFamily="49" charset="0"/>
              </a:rPr>
              <a:t>crit1</a:t>
            </a:r>
            <a:r>
              <a:rPr lang="en-US" altLang="en-US" sz="2800" dirty="0"/>
              <a:t> gets new </a:t>
            </a:r>
            <a:r>
              <a:rPr lang="en-US" alt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Critter</a:t>
            </a:r>
            <a:r>
              <a:rPr lang="en-US" altLang="en-US" sz="2800" dirty="0"/>
              <a:t> object</a:t>
            </a:r>
          </a:p>
        </p:txBody>
      </p:sp>
    </p:spTree>
    <p:extLst>
      <p:ext uri="{BB962C8B-B14F-4D97-AF65-F5344CB8AC3E}">
        <p14:creationId xmlns:p14="http://schemas.microsoft.com/office/powerpoint/2010/main" val="1891619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Accessing Attributes</a:t>
            </a:r>
          </a:p>
        </p:txBody>
      </p:sp>
      <p:sp>
        <p:nvSpPr>
          <p:cNvPr id="39938" name="Rectangle 1027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534400" cy="59436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self.name = name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print ("Hi. I'm", self.name, "\n")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crit1 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ja-JP" sz="2400" dirty="0">
                <a:latin typeface="Lucida Console" panose="020B0609040504020204" pitchFamily="49" charset="0"/>
              </a:rPr>
              <a:t>")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crit1.talk()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(crit1.name)</a:t>
            </a: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3200" dirty="0"/>
              <a:t>Accessing attributes using methods:  talk() </a:t>
            </a:r>
          </a:p>
          <a:p>
            <a:pPr lvl="1" eaLnBrk="1" hangingPunct="1"/>
            <a:r>
              <a:rPr lang="en-US" altLang="en-US" sz="2800" dirty="0"/>
              <a:t>Uses a</a:t>
            </a:r>
            <a:r>
              <a:rPr lang="en-US" altLang="en-US" dirty="0"/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Critter</a:t>
            </a:r>
            <a:r>
              <a:rPr lang="en-US" altLang="en-US" dirty="0"/>
              <a:t> </a:t>
            </a:r>
            <a:r>
              <a:rPr lang="en-US" altLang="en-US" sz="2800" dirty="0"/>
              <a:t>object</a:t>
            </a:r>
            <a:r>
              <a:rPr lang="ja-JP" altLang="en-US" sz="2800" dirty="0"/>
              <a:t>’</a:t>
            </a:r>
            <a:r>
              <a:rPr lang="en-US" altLang="ja-JP" sz="2800" dirty="0"/>
              <a:t>s</a:t>
            </a:r>
            <a:r>
              <a:rPr lang="en-US" altLang="ja-JP" dirty="0"/>
              <a:t> </a:t>
            </a:r>
            <a:r>
              <a:rPr lang="en-US" altLang="ja-JP" sz="2800" dirty="0">
                <a:latin typeface="Lucida Console" panose="020B0609040504020204" pitchFamily="49" charset="0"/>
              </a:rPr>
              <a:t>name</a:t>
            </a:r>
            <a:r>
              <a:rPr lang="en-US" altLang="ja-JP" dirty="0"/>
              <a:t> </a:t>
            </a:r>
            <a:r>
              <a:rPr lang="en-US" altLang="ja-JP" sz="2800" dirty="0"/>
              <a:t>attribute</a:t>
            </a:r>
          </a:p>
          <a:p>
            <a:pPr lvl="1" eaLnBrk="1" hangingPunct="1"/>
            <a:r>
              <a:rPr lang="en-US" altLang="en-US" sz="2800" dirty="0"/>
              <a:t>Receives reference to the object itself into 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sz="3200" dirty="0"/>
              <a:t>Accessing Attributes Directly: </a:t>
            </a:r>
            <a:r>
              <a:rPr lang="en-US" altLang="en-US" sz="2800" dirty="0"/>
              <a:t>crit1.name</a:t>
            </a:r>
          </a:p>
        </p:txBody>
      </p:sp>
    </p:spTree>
    <p:extLst>
      <p:ext uri="{BB962C8B-B14F-4D97-AF65-F5344CB8AC3E}">
        <p14:creationId xmlns:p14="http://schemas.microsoft.com/office/powerpoint/2010/main" val="1191971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cat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class Puppy(object):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color = 0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endParaRPr lang="en-US" altLang="en-US" sz="2000" dirty="0">
              <a:solidFill>
                <a:schemeClr val="bg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6440214" y="685800"/>
            <a:ext cx="2362200" cy="990600"/>
          </a:xfrm>
          <a:prstGeom prst="wedgeRoundRectCallout">
            <a:avLst>
              <a:gd name="adj1" fmla="val -208374"/>
              <a:gd name="adj2" fmla="val 35444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Classes</a:t>
            </a:r>
            <a:r>
              <a:rPr lang="en-US" altLang="en-US" sz="2800" dirty="0">
                <a:solidFill>
                  <a:srgbClr val="000000"/>
                </a:solidFill>
              </a:rPr>
              <a:t> have </a:t>
            </a:r>
            <a:r>
              <a:rPr lang="en-US" altLang="en-US" sz="2800" b="1" dirty="0">
                <a:solidFill>
                  <a:srgbClr val="000000"/>
                </a:solidFill>
              </a:rPr>
              <a:t>attributes.</a:t>
            </a:r>
          </a:p>
        </p:txBody>
      </p:sp>
    </p:spTree>
    <p:extLst>
      <p:ext uri="{BB962C8B-B14F-4D97-AF65-F5344CB8AC3E}">
        <p14:creationId xmlns:p14="http://schemas.microsoft.com/office/powerpoint/2010/main" val="3970501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cat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class Puppy(object):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color = 0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name, color):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endParaRPr lang="en-US" altLang="en-US" sz="2000" dirty="0">
              <a:solidFill>
                <a:schemeClr val="bg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6424448" y="1828800"/>
            <a:ext cx="2362200" cy="990600"/>
          </a:xfrm>
          <a:prstGeom prst="wedgeRoundRectCallout">
            <a:avLst>
              <a:gd name="adj1" fmla="val -248419"/>
              <a:gd name="adj2" fmla="val -53681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Classes</a:t>
            </a:r>
            <a:r>
              <a:rPr lang="en-US" altLang="en-US" sz="2800" dirty="0">
                <a:solidFill>
                  <a:srgbClr val="000000"/>
                </a:solidFill>
              </a:rPr>
              <a:t> have </a:t>
            </a:r>
            <a:r>
              <a:rPr lang="en-US" altLang="en-US" sz="2800" b="1" dirty="0">
                <a:solidFill>
                  <a:srgbClr val="000000"/>
                </a:solidFill>
              </a:rPr>
              <a:t>methods.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943600" y="2971800"/>
            <a:ext cx="2843048" cy="990600"/>
          </a:xfrm>
          <a:prstGeom prst="wedgeRoundRectCallout">
            <a:avLst>
              <a:gd name="adj1" fmla="val -167236"/>
              <a:gd name="adj2" fmla="val -15076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__</a:t>
            </a:r>
            <a:r>
              <a:rPr lang="en-US" altLang="en-US" sz="2800" b="1" dirty="0" err="1">
                <a:solidFill>
                  <a:srgbClr val="000000"/>
                </a:solidFill>
              </a:rPr>
              <a:t>init</a:t>
            </a:r>
            <a:r>
              <a:rPr lang="en-US" altLang="en-US" sz="2800" b="1" dirty="0">
                <a:solidFill>
                  <a:srgbClr val="000000"/>
                </a:solidFill>
              </a:rPr>
              <a:t>__ is a special </a:t>
            </a:r>
            <a:r>
              <a:rPr lang="en-US" altLang="en-US" sz="2800" dirty="0">
                <a:solidFill>
                  <a:srgbClr val="000000"/>
                </a:solidFill>
              </a:rPr>
              <a:t> </a:t>
            </a:r>
            <a:r>
              <a:rPr lang="en-US" altLang="en-US" sz="2800" b="1" dirty="0">
                <a:solidFill>
                  <a:srgbClr val="000000"/>
                </a:solidFill>
              </a:rPr>
              <a:t>method.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124200" y="3962400"/>
            <a:ext cx="2286000" cy="1981200"/>
          </a:xfrm>
          <a:prstGeom prst="wedgeRoundRectCallout">
            <a:avLst>
              <a:gd name="adj1" fmla="val -34506"/>
              <a:gd name="adj2" fmla="val -15251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This first argument is for self referencing.</a:t>
            </a:r>
          </a:p>
        </p:txBody>
      </p:sp>
    </p:spTree>
    <p:extLst>
      <p:ext uri="{BB962C8B-B14F-4D97-AF65-F5344CB8AC3E}">
        <p14:creationId xmlns:p14="http://schemas.microsoft.com/office/powerpoint/2010/main" val="123330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cat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class Puppy(object):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color = 0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name, color):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self.name = name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Puppy.color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= color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'__</a:t>
            </a:r>
            <a:r>
              <a:rPr lang="en-US" altLang="en-US" sz="20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black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&lt;__</a:t>
            </a:r>
            <a:r>
              <a:rPr lang="en-US" altLang="en-US" sz="20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object at 0x6ffffc8bd68&gt;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black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943600" y="1828800"/>
            <a:ext cx="2370083" cy="1371600"/>
          </a:xfrm>
          <a:prstGeom prst="wedgeRoundRectCallout">
            <a:avLst>
              <a:gd name="adj1" fmla="val -120571"/>
              <a:gd name="adj2" fmla="val -3106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This creates an instance attribute.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572000" y="3434254"/>
            <a:ext cx="3699641" cy="1975945"/>
          </a:xfrm>
          <a:prstGeom prst="wedgeRoundRectCallout">
            <a:avLst>
              <a:gd name="adj1" fmla="val -103057"/>
              <a:gd name="adj2" fmla="val -965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This changes the class attribute (because it accesses through Puppy, self).</a:t>
            </a:r>
          </a:p>
        </p:txBody>
      </p:sp>
    </p:spTree>
    <p:extLst>
      <p:ext uri="{BB962C8B-B14F-4D97-AF65-F5344CB8AC3E}">
        <p14:creationId xmlns:p14="http://schemas.microsoft.com/office/powerpoint/2010/main" val="300193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cat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class Puppy(object):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color = 0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name, color):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self.name = name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Puppy.color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= color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puppy1 = Puppy("Max", "brown")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print(Puppy);   print(</a:t>
            </a:r>
            <a:r>
              <a:rPr lang="en-US" altLang="en-US" sz="2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Puppy.color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print(puppy1);  print(puppy1.color)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puppy2 = Puppy("Ruby", "black")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print(Puppy);   print(</a:t>
            </a:r>
            <a:r>
              <a:rPr lang="en-US" altLang="en-US" sz="20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Puppy.color</a:t>
            </a: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print(puppy1);  print(puppy1.color)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python3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'__</a:t>
            </a:r>
            <a:r>
              <a:rPr lang="en-US" altLang="en-US" sz="2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brown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&lt;__</a:t>
            </a:r>
            <a:r>
              <a:rPr lang="en-US" altLang="en-US" sz="2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object at 0x6ffffc8bd68&gt;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brown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'__</a:t>
            </a:r>
            <a:r>
              <a:rPr lang="en-US" altLang="en-US" sz="20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black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&lt;__</a:t>
            </a:r>
            <a:r>
              <a:rPr lang="en-US" altLang="en-US" sz="20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object at 0x6ffffc8bd68&gt;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black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441731" y="3048000"/>
            <a:ext cx="2330670" cy="1143000"/>
          </a:xfrm>
          <a:prstGeom prst="wedgeRoundRectCallout">
            <a:avLst>
              <a:gd name="adj1" fmla="val -224161"/>
              <a:gd name="adj2" fmla="val -8089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This is an instantiation.</a:t>
            </a:r>
          </a:p>
        </p:txBody>
      </p:sp>
    </p:spTree>
    <p:extLst>
      <p:ext uri="{BB962C8B-B14F-4D97-AF65-F5344CB8AC3E}">
        <p14:creationId xmlns:p14="http://schemas.microsoft.com/office/powerpoint/2010/main" val="386820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cat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class Puppy(object):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color = 0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name, color):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self.name = name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Puppy.color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= color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puppy1 = Puppy("Max", "brown")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print(Puppy);   print(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Puppy.color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print(puppy1);  print(puppy1.color)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puppy2 = Puppy("Ruby", "black")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print(Puppy);   print(puppy1.color)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print(puppy1);  print(puppy1.name)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% python3 class0.py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&lt;class '__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brown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&lt;__</a:t>
            </a:r>
            <a:r>
              <a:rPr lang="en-US" altLang="en-US" sz="20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object at 0x6ffffc8bd68&gt;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brown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'__</a:t>
            </a:r>
            <a:r>
              <a:rPr lang="en-US" altLang="en-US" sz="2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black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&lt;__</a:t>
            </a:r>
            <a:r>
              <a:rPr lang="en-US" altLang="en-US" sz="2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main__.Puppy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object at 0x6ffffc8bd68&gt;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800600" y="4343400"/>
            <a:ext cx="3854670" cy="990600"/>
          </a:xfrm>
          <a:prstGeom prst="wedgeRoundRectCallout">
            <a:avLst>
              <a:gd name="adj1" fmla="val -140441"/>
              <a:gd name="adj2" fmla="val 108309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puppy2 has changed puppy1’s attribute.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4724400" y="5334000"/>
            <a:ext cx="3962400" cy="609600"/>
          </a:xfrm>
          <a:prstGeom prst="wedgeRoundRectCallout">
            <a:avLst>
              <a:gd name="adj1" fmla="val -140590"/>
              <a:gd name="adj2" fmla="val 13138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 dirty="0">
                <a:solidFill>
                  <a:srgbClr val="000000"/>
                </a:solidFill>
              </a:rPr>
              <a:t>But not its local variable.</a:t>
            </a:r>
          </a:p>
        </p:txBody>
      </p:sp>
    </p:spTree>
    <p:extLst>
      <p:ext uri="{BB962C8B-B14F-4D97-AF65-F5344CB8AC3E}">
        <p14:creationId xmlns:p14="http://schemas.microsoft.com/office/powerpoint/2010/main" val="354694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5626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% cat class1.py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class Puppy(object):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name, color):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self.name = name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self.color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= color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	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bark(self):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     print ("I am", </a:t>
            </a:r>
            <a:r>
              <a:rPr lang="en-US" altLang="en-US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self.color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, self.name)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puppy1 = Puppy("Max", "brown")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puppy2 = Puppy("Ruby", "black")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puppy1.bark()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puppy2.bark()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 python3 class1.py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 am brown Max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 am black Ruby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90073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Creating Classes for Objects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610600" cy="6019800"/>
          </a:xfrm>
        </p:spPr>
        <p:txBody>
          <a:bodyPr/>
          <a:lstStyle/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cs typeface="Courier New" panose="02070309020205020404" pitchFamily="49" charset="0"/>
              </a:rPr>
              <a:t> class CSE282(): 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</a:t>
            </a:r>
            <a:r>
              <a:rPr lang="en-US" altLang="en-US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 __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  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  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(self):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  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 print("No")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(self):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   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CSE282.handSpray: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   </a:t>
            </a:r>
          </a:p>
          <a:p>
            <a:pPr marL="342900" lvl="1" indent="-342900" eaLnBrk="1" hangingPunct="1"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96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8915400" cy="60553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 </a:t>
            </a:r>
            <a:r>
              <a:rPr lang="en-US" altLang="en-US" sz="3200" dirty="0"/>
              <a:t>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When a method accesses it, the attribute </a:t>
            </a:r>
            <a:r>
              <a:rPr lang="en-US" altLang="ja-JP" sz="3200" spc="-30" dirty="0"/>
              <a:t>is referenced through the </a:t>
            </a:r>
            <a:r>
              <a:rPr lang="en-US" altLang="ja-JP" sz="3200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spc="-30" dirty="0"/>
              <a:t>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/>
              <a:t>2.	A </a:t>
            </a:r>
            <a:r>
              <a:rPr lang="en-US" altLang="ja-JP" sz="3200" b="1" dirty="0">
                <a:solidFill>
                  <a:srgbClr val="006600"/>
                </a:solidFill>
              </a:rPr>
              <a:t>class attribute</a:t>
            </a:r>
            <a:r>
              <a:rPr lang="en-US" altLang="ja-JP" sz="3200" dirty="0"/>
              <a:t> is a static variable whose value is shared by </a:t>
            </a:r>
            <a:r>
              <a:rPr lang="en-US" altLang="ja-JP" sz="3200" i="1" dirty="0"/>
              <a:t>all instances</a:t>
            </a:r>
            <a:r>
              <a:rPr lang="en-US" altLang="ja-JP" sz="3200" dirty="0"/>
              <a:t> of the </a:t>
            </a:r>
            <a:r>
              <a:rPr lang="en-US" altLang="ja-JP" sz="3200" i="1" dirty="0"/>
              <a:t>class.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When accessing it, you don't use 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A class attribute could be used to count the number of instantiations, for example</a:t>
            </a:r>
          </a:p>
          <a:p>
            <a:pPr lvl="2" eaLnBrk="1" hangingPunct="1">
              <a:spcBef>
                <a:spcPts val="600"/>
              </a:spcBef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272682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95000"/>
                  </a:schemeClr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chemeClr val="bg1">
                    <a:lumMod val="95000"/>
                  </a:schemeClr>
                </a:solidFill>
              </a:rPr>
              <a:t>These use </a:t>
            </a:r>
            <a:r>
              <a:rPr lang="en-US" altLang="en-US" sz="3000" dirty="0" err="1">
                <a:solidFill>
                  <a:schemeClr val="bg1">
                    <a:lumMod val="95000"/>
                  </a:schemeClr>
                </a:solidFill>
              </a:rPr>
              <a:t>staticmethod</a:t>
            </a:r>
            <a:r>
              <a:rPr lang="en-US" altLang="en-US" sz="3000" dirty="0">
                <a:solidFill>
                  <a:schemeClr val="bg1">
                    <a:lumMod val="95000"/>
                  </a:schemeClr>
                </a:solidFill>
              </a:rPr>
              <a:t>() or </a:t>
            </a:r>
            <a:r>
              <a:rPr lang="en-US" altLang="en-US" sz="3000" dirty="0" err="1">
                <a:solidFill>
                  <a:schemeClr val="bg1">
                    <a:lumMod val="95000"/>
                  </a:schemeClr>
                </a:solidFill>
              </a:rPr>
              <a:t>classmethod</a:t>
            </a:r>
            <a:r>
              <a:rPr lang="en-US" altLang="en-US" sz="3000" dirty="0">
                <a:solidFill>
                  <a:schemeClr val="bg1">
                    <a:lumMod val="95000"/>
                  </a:schemeClr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95000"/>
                  </a:schemeClr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have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specific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names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that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Python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We already learned the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constructor,</a:t>
            </a:r>
            <a:r>
              <a:rPr lang="en-US" altLang="en-US" sz="2800" spc="-1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chemeClr val="bg1">
                  <a:lumMod val="95000"/>
                </a:schemeClr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712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rgbClr val="FF0000"/>
                </a:solidFill>
              </a:rPr>
              <a:t>These use </a:t>
            </a:r>
            <a:r>
              <a:rPr lang="en-US" altLang="en-US" sz="3000" dirty="0" err="1">
                <a:solidFill>
                  <a:srgbClr val="FF0000"/>
                </a:solidFill>
              </a:rPr>
              <a:t>staticmethod</a:t>
            </a:r>
            <a:r>
              <a:rPr lang="en-US" altLang="en-US" sz="3000" dirty="0">
                <a:solidFill>
                  <a:srgbClr val="FF0000"/>
                </a:solidFill>
              </a:rPr>
              <a:t>() or </a:t>
            </a:r>
            <a:r>
              <a:rPr lang="en-US" altLang="en-US" sz="3000" dirty="0" err="1">
                <a:solidFill>
                  <a:srgbClr val="FF0000"/>
                </a:solidFill>
              </a:rPr>
              <a:t>classmethod</a:t>
            </a:r>
            <a:r>
              <a:rPr lang="en-US" altLang="en-US" sz="3000" dirty="0">
                <a:solidFill>
                  <a:srgbClr val="FF0000"/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95000"/>
                  </a:schemeClr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have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specific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names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that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Python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We already learned the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constructor,</a:t>
            </a:r>
            <a:r>
              <a:rPr lang="en-US" altLang="en-US" sz="2800" spc="-1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chemeClr val="bg1">
                  <a:lumMod val="95000"/>
                </a:schemeClr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143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These use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staticmethod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 or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classmethod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have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specific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that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Python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We already learned the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constructor,</a:t>
            </a:r>
            <a:r>
              <a:rPr lang="en-US" altLang="en-US" sz="2800" spc="-1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chemeClr val="bg1">
                  <a:lumMod val="95000"/>
                </a:schemeClr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725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These use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staticmethod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 or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classmethod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have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specific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that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Python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6600"/>
                </a:solidFill>
              </a:rPr>
              <a:t>We already learned the</a:t>
            </a:r>
            <a:r>
              <a:rPr lang="en-US" altLang="en-US" sz="2400" dirty="0">
                <a:solidFill>
                  <a:srgbClr val="006600"/>
                </a:solidFill>
              </a:rPr>
              <a:t> </a:t>
            </a:r>
            <a:r>
              <a:rPr lang="en-US" altLang="en-US" sz="2800" dirty="0">
                <a:solidFill>
                  <a:srgbClr val="006600"/>
                </a:solidFill>
              </a:rPr>
              <a:t>constructor,</a:t>
            </a:r>
            <a:r>
              <a:rPr lang="en-US" altLang="en-US" sz="28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rgbClr val="FF0000"/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6600"/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19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These use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staticmethod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 or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classmethod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have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specific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that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Python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6600"/>
                </a:solidFill>
              </a:rPr>
              <a:t>We already learned the</a:t>
            </a:r>
            <a:r>
              <a:rPr lang="en-US" altLang="en-US" sz="2400" dirty="0">
                <a:solidFill>
                  <a:srgbClr val="006600"/>
                </a:solidFill>
              </a:rPr>
              <a:t> </a:t>
            </a:r>
            <a:r>
              <a:rPr lang="en-US" altLang="en-US" sz="2800" dirty="0">
                <a:solidFill>
                  <a:srgbClr val="006600"/>
                </a:solidFill>
              </a:rPr>
              <a:t>constructor,</a:t>
            </a:r>
            <a:r>
              <a:rPr lang="en-US" altLang="en-US" sz="28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rgbClr val="FF0000"/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6600"/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145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These use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staticmethod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 or </a:t>
            </a:r>
            <a:r>
              <a:rPr lang="en-US" altLang="en-US" sz="3000" dirty="0" err="1">
                <a:solidFill>
                  <a:schemeClr val="bg1">
                    <a:lumMod val="75000"/>
                  </a:schemeClr>
                </a:solidFill>
              </a:rPr>
              <a:t>classmethod</a:t>
            </a:r>
            <a:r>
              <a:rPr lang="en-US" altLang="en-US" sz="3000" dirty="0">
                <a:solidFill>
                  <a:schemeClr val="bg1">
                    <a:lumMod val="75000"/>
                  </a:schemeClr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have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specific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that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Python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6600"/>
                </a:solidFill>
              </a:rPr>
              <a:t>We already learned the</a:t>
            </a:r>
            <a:r>
              <a:rPr lang="en-US" altLang="en-US" sz="2400" dirty="0">
                <a:solidFill>
                  <a:srgbClr val="006600"/>
                </a:solidFill>
              </a:rPr>
              <a:t> </a:t>
            </a:r>
            <a:r>
              <a:rPr lang="en-US" altLang="en-US" sz="2800" dirty="0">
                <a:solidFill>
                  <a:srgbClr val="006600"/>
                </a:solidFill>
              </a:rPr>
              <a:t>constructor,</a:t>
            </a:r>
            <a:r>
              <a:rPr lang="en-US" altLang="en-US" sz="28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rgbClr val="FF0000"/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6600"/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209800" y="1905000"/>
            <a:ext cx="4572000" cy="179016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There are other indirect ones besides __</a:t>
            </a:r>
            <a:r>
              <a:rPr kumimoji="0" lang="en-US" altLang="zh-TW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init</a:t>
            </a:r>
            <a:r>
              <a:rPr kumimoji="0" lang="en-US" altLang="zh-TW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__()…</a:t>
            </a:r>
            <a:endParaRPr kumimoji="0" lang="zh-TW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00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839200" cy="49530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class Critter(object):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name):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self.name = name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>
                <a:latin typeface="Lucida Console" panose="020B0609040504020204" pitchFamily="49" charset="0"/>
              </a:rPr>
              <a:t>(self):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rep = "</a:t>
            </a:r>
            <a:r>
              <a:rPr lang="en-US" altLang="en-US" sz="2400" dirty="0">
                <a:solidFill>
                  <a:srgbClr val="CC00CC"/>
                </a:solidFill>
                <a:latin typeface="Lucida Console" panose="020B0609040504020204" pitchFamily="49" charset="0"/>
              </a:rPr>
              <a:t>Critter object\n</a:t>
            </a:r>
            <a:r>
              <a:rPr lang="en-US" altLang="en-US" sz="2400" dirty="0">
                <a:latin typeface="Lucida Console" panose="020B0609040504020204" pitchFamily="49" charset="0"/>
              </a:rPr>
              <a:t>"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rep += "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name: </a:t>
            </a:r>
            <a:r>
              <a:rPr lang="en-US" altLang="en-US" sz="2400" dirty="0">
                <a:latin typeface="Lucida Console" panose="020B0609040504020204" pitchFamily="49" charset="0"/>
              </a:rPr>
              <a:t>" +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self.name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return rep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2400" dirty="0">
                <a:latin typeface="Lucida Console" panose="020B0609040504020204" pitchFamily="49" charset="0"/>
              </a:rPr>
              <a:t>=Critter("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Benji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rgbClr val="CC00CC"/>
                </a:solidFill>
                <a:latin typeface="Lucida Console" panose="020B0609040504020204" pitchFamily="49" charset="0"/>
              </a:rPr>
              <a:t>Critter object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name: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Benji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FFB1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18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FF9966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800" dirty="0">
                <a:solidFill>
                  <a:srgbClr val="FF996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FF9966"/>
                </a:solidFill>
              </a:rPr>
              <a:t>But __</a:t>
            </a:r>
            <a:r>
              <a:rPr lang="en-US" altLang="en-US" sz="2400" dirty="0" err="1">
                <a:solidFill>
                  <a:srgbClr val="FF9966"/>
                </a:solidFill>
              </a:rPr>
              <a:t>str</a:t>
            </a:r>
            <a:r>
              <a:rPr lang="en-US" altLang="en-US" sz="2400" dirty="0">
                <a:solidFill>
                  <a:srgbClr val="FF9966"/>
                </a:solidFill>
              </a:rPr>
              <a:t>__() only gets invoked from inside of print: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&lt;__</a:t>
            </a:r>
            <a:r>
              <a:rPr lang="en-US" altLang="en-US" sz="2400" dirty="0" err="1">
                <a:latin typeface="Lucida Console" panose="020B0609040504020204" pitchFamily="49" charset="0"/>
              </a:rPr>
              <a:t>main__.Critter</a:t>
            </a:r>
            <a:r>
              <a:rPr lang="en-US" altLang="en-US" sz="2400" dirty="0">
                <a:latin typeface="Lucida Console" panose="020B0609040504020204" pitchFamily="49" charset="0"/>
              </a:rPr>
              <a:t> object at 0x6ffff7c7748&gt;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2400" dirty="0">
                <a:latin typeface="Lucida Console" panose="020B0609040504020204" pitchFamily="49" charset="0"/>
              </a:rPr>
              <a:t>.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__()</a:t>
            </a:r>
            <a:r>
              <a:rPr lang="en-US" alt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9966"/>
                </a:solidFill>
                <a:latin typeface="Arial Narrow" panose="020B0606020202030204" pitchFamily="34" charset="0"/>
              </a:rPr>
              <a:t># Of course, you can (aren't meant to) run it directly: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'</a:t>
            </a:r>
            <a:r>
              <a:rPr lang="en-US" altLang="en-US" sz="2400" dirty="0">
                <a:solidFill>
                  <a:srgbClr val="CC00CC"/>
                </a:solidFill>
                <a:latin typeface="Lucida Console" panose="020B0609040504020204" pitchFamily="49" charset="0"/>
              </a:rPr>
              <a:t>Critter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CC00CC"/>
                </a:solidFill>
                <a:latin typeface="Lucida Console" panose="020B0609040504020204" pitchFamily="49" charset="0"/>
              </a:rPr>
              <a:t>object\</a:t>
            </a:r>
            <a:r>
              <a:rPr lang="en-US" altLang="en-US" sz="240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Benji</a:t>
            </a:r>
            <a:r>
              <a:rPr lang="en-US" altLang="en-US" sz="2400" dirty="0">
                <a:latin typeface="Lucida Console" panose="020B0609040504020204" pitchFamily="49" charset="0"/>
              </a:rPr>
              <a:t>'</a:t>
            </a:r>
          </a:p>
          <a:p>
            <a:pPr eaLnBrk="1" hangingPunct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800" y="838200"/>
            <a:ext cx="8382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altLang="en-US" sz="20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altLang="en-US" sz="20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Printing an Object</a:t>
            </a:r>
            <a:r>
              <a:rPr lang="en-US" altLang="en-US" sz="4400" dirty="0"/>
              <a:t>: </a:t>
            </a:r>
            <a:r>
              <a:rPr lang="en-US" altLang="en-US" sz="4400" b="1" dirty="0">
                <a:solidFill>
                  <a:srgbClr val="FF0000"/>
                </a:solidFill>
              </a:rPr>
              <a:t>__</a:t>
            </a:r>
            <a:r>
              <a:rPr lang="en-US" altLang="en-US" sz="4400" b="1" dirty="0" err="1">
                <a:solidFill>
                  <a:srgbClr val="FF0000"/>
                </a:solidFill>
              </a:rPr>
              <a:t>str</a:t>
            </a:r>
            <a:r>
              <a:rPr lang="en-US" altLang="en-US" sz="4400" b="1" dirty="0">
                <a:solidFill>
                  <a:srgbClr val="FF0000"/>
                </a:solidFill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159112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19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19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19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19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19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19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198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198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198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229600" cy="5562600"/>
          </a:xfrm>
        </p:spPr>
        <p:txBody>
          <a:bodyPr/>
          <a:lstStyle/>
          <a:p>
            <a:pPr marL="3600450" indent="-3600450" eaLnBrk="1" hangingPunct="1"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eq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==</a:t>
            </a:r>
            <a:r>
              <a:rPr lang="en-US" altLang="en-US" dirty="0"/>
              <a:t> operator to work 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ge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&gt;=</a:t>
            </a:r>
            <a:r>
              <a:rPr lang="en-US" altLang="en-US" dirty="0"/>
              <a:t> operator to work 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gt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dirty="0"/>
              <a:t> operator to work 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__le__(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&lt;=</a:t>
            </a:r>
            <a:r>
              <a:rPr lang="en-US" altLang="en-US" dirty="0"/>
              <a:t> operator to work 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lt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dirty="0"/>
              <a:t> operator to work 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__ne__(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!=</a:t>
            </a:r>
            <a:r>
              <a:rPr lang="en-US" altLang="en-US" dirty="0"/>
              <a:t> operator to work on objects of this class type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4400" kern="0" dirty="0">
                <a:solidFill>
                  <a:schemeClr val="accent2"/>
                </a:solidFill>
                <a:latin typeface="Elephant" panose="02020904090505020303" pitchFamily="18" charset="0"/>
              </a:rPr>
              <a:t>Special Methods for Comparison Operator Symbols</a:t>
            </a:r>
          </a:p>
        </p:txBody>
      </p:sp>
    </p:spTree>
    <p:extLst>
      <p:ext uri="{BB962C8B-B14F-4D97-AF65-F5344CB8AC3E}">
        <p14:creationId xmlns:p14="http://schemas.microsoft.com/office/powerpoint/2010/main" val="3334464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763000" cy="5562600"/>
          </a:xfrm>
        </p:spPr>
        <p:txBody>
          <a:bodyPr/>
          <a:lstStyle/>
          <a:p>
            <a:pPr marL="3600450" indent="-3600450" eaLnBrk="1" hangingPunct="1"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__add__(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+</a:t>
            </a:r>
            <a:r>
              <a:rPr lang="en-US" altLang="en-US" dirty="0"/>
              <a:t> operator to work</a:t>
            </a:r>
            <a:br>
              <a:rPr lang="en-US" altLang="en-US" dirty="0"/>
            </a:br>
            <a:r>
              <a:rPr lang="en-US" altLang="en-US" dirty="0"/>
              <a:t>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__sub__(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-</a:t>
            </a:r>
            <a:r>
              <a:rPr lang="en-US" altLang="en-US" dirty="0"/>
              <a:t> operator to work </a:t>
            </a:r>
            <a:br>
              <a:rPr lang="en-US" altLang="en-US" dirty="0"/>
            </a:br>
            <a:r>
              <a:rPr lang="en-US" altLang="en-US" dirty="0"/>
              <a:t>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mul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dirty="0"/>
              <a:t> operator to work</a:t>
            </a:r>
            <a:br>
              <a:rPr lang="en-US" altLang="en-US" dirty="0"/>
            </a:br>
            <a:r>
              <a:rPr lang="en-US" altLang="en-US" dirty="0"/>
              <a:t>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__pow__(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	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dirty="0"/>
              <a:t> operator to work</a:t>
            </a:r>
            <a:br>
              <a:rPr lang="en-US" altLang="en-US" dirty="0"/>
            </a:br>
            <a:r>
              <a:rPr lang="en-US" altLang="en-US" dirty="0"/>
              <a:t>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truediv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/</a:t>
            </a:r>
            <a:r>
              <a:rPr lang="en-US" altLang="en-US" dirty="0"/>
              <a:t> operator to work </a:t>
            </a:r>
            <a:br>
              <a:rPr lang="en-US" altLang="en-US" dirty="0"/>
            </a:br>
            <a:r>
              <a:rPr lang="en-US" altLang="en-US" dirty="0"/>
              <a:t>on objects of this class type</a:t>
            </a:r>
          </a:p>
          <a:p>
            <a:pPr marL="3543300" indent="-3543300" eaLnBrk="1" hangingPunct="1"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__</a:t>
            </a:r>
            <a:r>
              <a:rPr lang="en-US" altLang="en-US" dirty="0" err="1">
                <a:latin typeface="Lucida Console" panose="020B0609040504020204" pitchFamily="49" charset="0"/>
              </a:rPr>
              <a:t>floordiv</a:t>
            </a:r>
            <a:r>
              <a:rPr lang="en-US" altLang="en-US" dirty="0">
                <a:latin typeface="Lucida Console" panose="020B0609040504020204" pitchFamily="49" charset="0"/>
              </a:rPr>
              <a:t>__(</a:t>
            </a:r>
            <a:r>
              <a:rPr lang="en-US" altLang="en-US" dirty="0" err="1">
                <a:latin typeface="Lucida Console" panose="020B0609040504020204" pitchFamily="49" charset="0"/>
              </a:rPr>
              <a:t>self,val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  <a:r>
              <a:rPr lang="en-US" altLang="en-US" dirty="0"/>
              <a:t> allows the </a:t>
            </a:r>
            <a:r>
              <a:rPr lang="en-US" altLang="en-US" b="1" dirty="0">
                <a:solidFill>
                  <a:srgbClr val="2D2DB9"/>
                </a:solidFill>
                <a:latin typeface="Lucida Console" panose="020B0609040504020204" pitchFamily="49" charset="0"/>
              </a:rPr>
              <a:t>//</a:t>
            </a:r>
            <a:r>
              <a:rPr lang="en-US" altLang="en-US" dirty="0"/>
              <a:t> operator to work on objects of this class type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4400" kern="0" dirty="0">
                <a:solidFill>
                  <a:schemeClr val="accent2"/>
                </a:solidFill>
                <a:latin typeface="Elephant" panose="02020904090505020303" pitchFamily="18" charset="0"/>
              </a:rPr>
              <a:t>Special Methods for </a:t>
            </a:r>
            <a:br>
              <a:rPr lang="en-US" altLang="en-US" sz="4400" kern="0" dirty="0">
                <a:solidFill>
                  <a:schemeClr val="accent2"/>
                </a:solidFill>
                <a:latin typeface="Elephant" panose="02020904090505020303" pitchFamily="18" charset="0"/>
              </a:rPr>
            </a:br>
            <a:r>
              <a:rPr lang="en-US" altLang="en-US" sz="4400" kern="0" dirty="0">
                <a:solidFill>
                  <a:schemeClr val="accent2"/>
                </a:solidFill>
                <a:latin typeface="Elephant" panose="02020904090505020303" pitchFamily="18" charset="0"/>
              </a:rPr>
              <a:t>Math Operator Symbols</a:t>
            </a:r>
          </a:p>
        </p:txBody>
      </p:sp>
    </p:spTree>
    <p:extLst>
      <p:ext uri="{BB962C8B-B14F-4D97-AF65-F5344CB8AC3E}">
        <p14:creationId xmlns:p14="http://schemas.microsoft.com/office/powerpoint/2010/main" val="188332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spc="-200" dirty="0">
                <a:latin typeface="Elephant" panose="02020904090505020303" pitchFamily="18" charset="0"/>
              </a:rPr>
              <a:t>Which classes support which ops?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 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[x for x in 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dir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spc="-30" dirty="0" err="1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if x[4:]=="__"]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['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ge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gt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__le__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lt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__ne__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ismath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"_" in x and</a:t>
            </a:r>
            <a:r>
              <a:rPr lang="en-US" altLang="ja-JP" sz="2000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spc="-1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x[2:-3]</a:t>
            </a:r>
            <a:r>
              <a:rPr lang="en-US" altLang="ja-JP" sz="2000" spc="-1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spc="-1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ja-JP" sz="2000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adsumu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 eaLnBrk="1" hangingPunct="1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[*filter(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ismath,dir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spc="-3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int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))] 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#eg:</a:t>
            </a:r>
            <a:r>
              <a:rPr lang="en-US" altLang="ja-JP" b="1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</a:t>
            </a:r>
            <a:r>
              <a:rPr lang="en-US" altLang="ja-JP" b="1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-</a:t>
            </a:r>
            <a:r>
              <a:rPr lang="en-US" altLang="ja-JP" b="1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*</a:t>
            </a:r>
            <a:r>
              <a:rPr lang="en-US" altLang="ja-JP" b="1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__add__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mul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__sub__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[*filter(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ismath,dir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spc="-3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list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))]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spc="-30" dirty="0" err="1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eg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ja-JP" b="1" spc="-3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[1]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</a:t>
            </a:r>
            <a:r>
              <a:rPr lang="en-US" altLang="ja-JP" b="1" spc="-3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[2]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*</a:t>
            </a:r>
            <a:r>
              <a:rPr lang="en-US" altLang="ja-JP" b="1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__add__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mul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[*filter(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ismath,dir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spc="-3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))] 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#eg:</a:t>
            </a:r>
            <a:r>
              <a:rPr lang="en-US" altLang="ja-JP" b="1" spc="-3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"1"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</a:t>
            </a:r>
            <a:r>
              <a:rPr lang="en-US" altLang="ja-JP" b="1" spc="-3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"2"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*</a:t>
            </a:r>
            <a:r>
              <a:rPr lang="en-US" altLang="ja-JP" b="1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__add__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', 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mul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[*filter(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ismath,dir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spc="-3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set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))] 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spc="-30" dirty="0" err="1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eg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ja-JP" b="1" spc="-3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{1,2}</a:t>
            </a:r>
            <a:r>
              <a:rPr lang="en-US" altLang="ja-JP" b="1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-</a:t>
            </a:r>
            <a:r>
              <a:rPr lang="en-US" altLang="ja-JP" b="1" spc="-3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{2}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['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__sub__</a:t>
            </a: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[*filter(</a:t>
            </a:r>
            <a:r>
              <a:rPr lang="en-US" altLang="ja-JP" spc="-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ismath,dir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spc="-3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dict</a:t>
            </a:r>
            <a:r>
              <a:rPr lang="en-US" altLang="ja-JP" spc="-3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))]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</a:t>
            </a:r>
            <a:r>
              <a:rPr lang="en-US" altLang="ja-JP" spc="-30" dirty="0" err="1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dict</a:t>
            </a:r>
            <a:r>
              <a:rPr lang="en-US" altLang="ja-JP" spc="-30" dirty="0">
                <a:solidFill>
                  <a:srgbClr val="D9737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math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ja-JP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[]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None/>
            </a:pPr>
            <a:endParaRPr lang="en-US" altLang="ja-JP" spc="-3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838200"/>
            <a:ext cx="838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1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3" name="AutoShape 2" descr="All aboard the Murder Mystery Express | Duluth News Tribu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6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491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Solve the mystery…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from mystery import 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#What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sz="2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&amp;</a:t>
            </a:r>
            <a:r>
              <a:rPr lang="en-US" altLang="ja-JP" sz="2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?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</a:t>
            </a:r>
            <a:r>
              <a:rPr lang="en-US" altLang="ja-JP" b="1" spc="-3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t’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some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test</a:t>
            </a:r>
            <a:r>
              <a:rPr lang="en-US" altLang="ja-JP" b="1" spc="-3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print(type(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),type(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sep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=", 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</a:t>
            </a:r>
            <a:r>
              <a:rPr lang="en-US" altLang="ja-JP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'&gt;, &lt;class '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</a:t>
            </a:r>
            <a:r>
              <a:rPr lang="en-US" altLang="ja-JP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 they the same?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b="1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US" altLang="ja-JP" sz="16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tha</a:t>
            </a:r>
            <a:r>
              <a:rPr lang="en-US" altLang="ja-JP" b="1" spc="-3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ja-JP" b="1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18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</a:t>
            </a:r>
            <a:r>
              <a:rPr lang="en-US" altLang="ja-JP" b="1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this</a:t>
            </a:r>
            <a:r>
              <a:rPr lang="en-US" altLang="ja-JP" sz="18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ja-JP" sz="2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to</a:t>
            </a:r>
            <a:r>
              <a:rPr lang="en-US" altLang="ja-JP" b="1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right?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  <a:endParaRPr lang="en-US" altLang="ja-JP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from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os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import system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x=system("cat mystery.py")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A():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self,x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B():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self,x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False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ja-JP" dirty="0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A()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ja-JP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B()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838200"/>
            <a:ext cx="838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3" name="AutoShape 2" descr="All aboard the Murder Mystery Express | Duluth News Tribu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057400" y="3810000"/>
            <a:ext cx="6934200" cy="1524000"/>
            <a:chOff x="2057400" y="3733800"/>
            <a:chExt cx="6934200" cy="1524000"/>
          </a:xfrm>
        </p:grpSpPr>
        <p:sp>
          <p:nvSpPr>
            <p:cNvPr id="8" name="Rounded Rectangular Callout 6"/>
            <p:cNvSpPr/>
            <p:nvPr/>
          </p:nvSpPr>
          <p:spPr bwMode="auto">
            <a:xfrm>
              <a:off x="2057400" y="3733800"/>
              <a:ext cx="6934200" cy="1524000"/>
            </a:xfrm>
            <a:prstGeom prst="wedgeRoundRectCallout">
              <a:avLst>
                <a:gd name="adj1" fmla="val -63136"/>
                <a:gd name="adj2" fmla="val -47110"/>
                <a:gd name="adj3" fmla="val 16667"/>
              </a:avLst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90000"/>
                </a:lnSpc>
              </a:pP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Aha, a mystery!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How can == be true one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way, but not the other?</a:t>
              </a:r>
              <a:endParaRPr lang="zh-TW" altLang="en-US" sz="3200" dirty="0">
                <a:solidFill>
                  <a:schemeClr val="tx1"/>
                </a:solidFill>
                <a:latin typeface="Times New Roman" charset="0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00" y="3733800"/>
              <a:ext cx="2445288" cy="152400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 bwMode="auto">
            <a:xfrm>
              <a:off x="6172200" y="3733800"/>
              <a:ext cx="228600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8594203" y="3733800"/>
              <a:ext cx="112854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26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91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491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Solve the mystery…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2861"/>
            <a:ext cx="8763000" cy="6025139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from mystery import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#What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sz="20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&amp;</a:t>
            </a:r>
            <a:r>
              <a:rPr lang="en-US" altLang="ja-JP" sz="20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?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</a:t>
            </a:r>
            <a:r>
              <a:rPr lang="en-US" altLang="ja-JP" b="1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t’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some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test</a:t>
            </a:r>
            <a:r>
              <a:rPr lang="en-US" altLang="ja-JP" b="1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print(type(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),type(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sep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=", 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'&gt;, &lt;class '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mystery.B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 they the same?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b="1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US" altLang="ja-JP" sz="1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tha</a:t>
            </a:r>
            <a:r>
              <a:rPr lang="en-US" altLang="ja-JP" b="1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ja-JP" b="1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18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</a:t>
            </a:r>
            <a:r>
              <a:rPr lang="en-US" altLang="ja-JP" b="1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this</a:t>
            </a:r>
            <a:r>
              <a:rPr lang="en-US" altLang="ja-JP" sz="18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ja-JP" sz="20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to</a:t>
            </a:r>
            <a:r>
              <a:rPr lang="en-US" altLang="ja-JP" b="1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right?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  <a:endParaRPr lang="en-US" altLang="ja-JP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from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os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import system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x=system("cat mystery.py")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A():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self,x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B():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=A();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=B()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utoShape 2" descr="All aboard the Murder Mystery Express | Duluth News Tribu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4" name="Curved Connector 3"/>
          <p:cNvCxnSpPr/>
          <p:nvPr/>
        </p:nvCxnSpPr>
        <p:spPr bwMode="auto">
          <a:xfrm rot="16200000" flipH="1">
            <a:off x="2100364" y="3533097"/>
            <a:ext cx="2316804" cy="2250332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CC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Curved Connector 17"/>
          <p:cNvCxnSpPr/>
          <p:nvPr/>
        </p:nvCxnSpPr>
        <p:spPr bwMode="auto">
          <a:xfrm rot="16200000" flipH="1">
            <a:off x="952500" y="4299961"/>
            <a:ext cx="2362200" cy="762000"/>
          </a:xfrm>
          <a:prstGeom prst="curvedConnector3">
            <a:avLst>
              <a:gd name="adj1" fmla="val 67845"/>
            </a:avLst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Curved Connector 13"/>
          <p:cNvCxnSpPr/>
          <p:nvPr/>
        </p:nvCxnSpPr>
        <p:spPr bwMode="auto">
          <a:xfrm rot="16200000" flipH="1">
            <a:off x="1371600" y="3499861"/>
            <a:ext cx="2286000" cy="2286000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Arc 22"/>
          <p:cNvSpPr/>
          <p:nvPr/>
        </p:nvSpPr>
        <p:spPr bwMode="auto">
          <a:xfrm rot="1686133" flipH="1" flipV="1">
            <a:off x="442667" y="3430743"/>
            <a:ext cx="6861585" cy="2734375"/>
          </a:xfrm>
          <a:prstGeom prst="arc">
            <a:avLst>
              <a:gd name="adj1" fmla="val 21256887"/>
              <a:gd name="adj2" fmla="val 1018347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599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Solve the mystery…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from mystery import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#What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sz="20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&amp;</a:t>
            </a:r>
            <a:r>
              <a:rPr lang="en-US" altLang="ja-JP" sz="20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?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</a:t>
            </a:r>
            <a:r>
              <a:rPr lang="en-US" altLang="ja-JP" b="1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t’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some</a:t>
            </a:r>
            <a:r>
              <a:rPr lang="en-US" altLang="ja-JP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test</a:t>
            </a:r>
            <a:r>
              <a:rPr lang="en-US" altLang="ja-JP" b="1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print(type(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),type(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sep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=", 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'&gt;, &lt;class '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mystery.B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 they the same?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va#If</a:t>
            </a:r>
            <a:r>
              <a:rPr lang="en-US" altLang="ja-JP" sz="1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tha</a:t>
            </a:r>
            <a:r>
              <a:rPr lang="en-US" altLang="ja-JP" b="1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ja-JP" b="1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18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</a:t>
            </a:r>
            <a:r>
              <a:rPr lang="en-US" altLang="ja-JP" b="1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this</a:t>
            </a:r>
            <a:r>
              <a:rPr lang="en-US" altLang="ja-JP" sz="18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ja-JP" sz="20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to</a:t>
            </a:r>
            <a:r>
              <a:rPr lang="en-US" altLang="ja-JP" b="1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right?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  <a:endParaRPr lang="en-US" altLang="ja-JP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from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os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import system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x=system("cat mystery.py")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A():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</a:t>
            </a:r>
            <a:r>
              <a:rPr lang="en-US" altLang="ja-JP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B():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ja-JP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=A();</a:t>
            </a:r>
            <a:r>
              <a:rPr lang="en-US" altLang="ja-JP" b="1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=B()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utoShape 2" descr="All aboard the Murder Mystery Express | Duluth News Tribu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rc 22"/>
          <p:cNvSpPr/>
          <p:nvPr/>
        </p:nvSpPr>
        <p:spPr bwMode="auto">
          <a:xfrm rot="1686133" flipH="1" flipV="1">
            <a:off x="442667" y="2744943"/>
            <a:ext cx="6861585" cy="2734375"/>
          </a:xfrm>
          <a:prstGeom prst="arc">
            <a:avLst>
              <a:gd name="adj1" fmla="val 21256887"/>
              <a:gd name="adj2" fmla="val 10183475"/>
            </a:avLst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cxnSp>
        <p:nvCxnSpPr>
          <p:cNvPr id="4" name="Curved Connector 3"/>
          <p:cNvCxnSpPr/>
          <p:nvPr/>
        </p:nvCxnSpPr>
        <p:spPr bwMode="auto">
          <a:xfrm rot="16200000" flipH="1">
            <a:off x="2065693" y="2811108"/>
            <a:ext cx="2386146" cy="2250332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CC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Curved Connector 17"/>
          <p:cNvCxnSpPr/>
          <p:nvPr/>
        </p:nvCxnSpPr>
        <p:spPr bwMode="auto">
          <a:xfrm rot="16200000" flipH="1">
            <a:off x="917149" y="3578652"/>
            <a:ext cx="2432901" cy="762000"/>
          </a:xfrm>
          <a:prstGeom prst="curvedConnector3">
            <a:avLst>
              <a:gd name="adj1" fmla="val 67845"/>
            </a:avLst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Curved Connector 13"/>
          <p:cNvCxnSpPr/>
          <p:nvPr/>
        </p:nvCxnSpPr>
        <p:spPr bwMode="auto">
          <a:xfrm rot="16200000" flipH="1">
            <a:off x="1337390" y="2777411"/>
            <a:ext cx="2354421" cy="2286000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878978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eq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b="1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4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1400" b="1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y.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'3.1415929203539825'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6477000" y="5596449"/>
            <a:ext cx="970966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46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eq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b="1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4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1400" b="1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my.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'3.14159'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6477000" y="5596449"/>
            <a:ext cx="970966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48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eq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60" dirty="0">
                <a:latin typeface="Lucida Console" panose="020B0609040504020204" pitchFamily="49" charset="0"/>
              </a:rPr>
              <a:t>_', '</a:t>
            </a:r>
            <a:r>
              <a:rPr lang="en-US" altLang="zh-TW" sz="1400" b="1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zh-TW" sz="1400" b="1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from math import pi;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.__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>
                <a:latin typeface="Lucida Console" panose="020B0609040504020204" pitchFamily="49" charset="0"/>
              </a:rPr>
              <a:t>(pi)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3726787" y="4834449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78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.__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>
                <a:latin typeface="Lucida Console" panose="020B0609040504020204" pitchFamily="49" charset="0"/>
              </a:rPr>
              <a:t>(355/113)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dirty="0">
                <a:latin typeface="Lucida Console" panose="020B0609040504020204" pitchFamily="49" charset="0"/>
              </a:rPr>
              <a:t>355/113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481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from math import pi;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.__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dirty="0">
                <a:latin typeface="Lucida Console" panose="020B0609040504020204" pitchFamily="49" charset="0"/>
              </a:rPr>
              <a:t>(pi)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3619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9807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return </a:t>
            </a:r>
            <a:r>
              <a:rPr lang="en-US" altLang="zh-TW" dirty="0" err="1">
                <a:latin typeface="Lucida Console" panose="020B0609040504020204" pitchFamily="49" charset="0"/>
              </a:rPr>
              <a:t>str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round(self.val,5)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dirty="0">
                <a:latin typeface="Lucida Console" panose="020B0609040504020204" pitchFamily="49" charset="0"/>
              </a:rPr>
              <a:t>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251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==x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dirty="0"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0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==x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52400" y="3549935"/>
            <a:ext cx="6934200" cy="1524000"/>
            <a:chOff x="2057400" y="3733800"/>
            <a:chExt cx="6934200" cy="1524000"/>
          </a:xfrm>
        </p:grpSpPr>
        <p:sp>
          <p:nvSpPr>
            <p:cNvPr id="5" name="Rounded Rectangular Callout 6"/>
            <p:cNvSpPr/>
            <p:nvPr/>
          </p:nvSpPr>
          <p:spPr bwMode="auto">
            <a:xfrm>
              <a:off x="2057400" y="3733800"/>
              <a:ext cx="6934200" cy="1524000"/>
            </a:xfrm>
            <a:prstGeom prst="wedgeRoundRectCallout">
              <a:avLst>
                <a:gd name="adj1" fmla="val -32995"/>
                <a:gd name="adj2" fmla="val 130985"/>
                <a:gd name="adj3" fmla="val 16667"/>
              </a:avLst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90000"/>
                </a:lnSpc>
              </a:pP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Aha, a new mystery!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Slide #40 showed that 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== isn't reciprocal.</a:t>
              </a:r>
              <a:endParaRPr lang="zh-TW" altLang="en-US" sz="3200" dirty="0">
                <a:solidFill>
                  <a:schemeClr val="tx1"/>
                </a:solidFill>
                <a:latin typeface="Times New Roman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00" y="3733800"/>
              <a:ext cx="2445288" cy="152400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 bwMode="auto">
            <a:xfrm>
              <a:off x="6172200" y="3733800"/>
              <a:ext cx="228600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8594203" y="3733800"/>
              <a:ext cx="112854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18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Solve the mystery…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1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from mystery import 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#What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sz="2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&amp;</a:t>
            </a:r>
            <a:r>
              <a:rPr lang="en-US" altLang="ja-JP" sz="2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?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</a:t>
            </a:r>
            <a:r>
              <a:rPr lang="en-US" altLang="ja-JP" b="1" spc="-3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t’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some</a:t>
            </a:r>
            <a:r>
              <a:rPr lang="en-US" altLang="ja-JP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test</a:t>
            </a:r>
            <a:r>
              <a:rPr lang="en-US" altLang="ja-JP" b="1" spc="-3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print(type(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),type(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sep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=", ")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&lt;class '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</a:t>
            </a:r>
            <a:r>
              <a:rPr lang="en-US" altLang="ja-JP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'&gt;, &lt;class '</a:t>
            </a:r>
            <a:r>
              <a:rPr lang="en-US" altLang="ja-JP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mystery.</a:t>
            </a:r>
            <a:r>
              <a:rPr lang="en-US" altLang="ja-JP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Are they the same?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vb</a:t>
            </a:r>
            <a:r>
              <a:rPr lang="en-US" altLang="ja-JP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==</a:t>
            </a:r>
            <a:r>
              <a:rPr lang="en-US" altLang="ja-JP" b="1" dirty="0" err="1">
                <a:solidFill>
                  <a:srgbClr val="CC00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</a:t>
            </a:r>
            <a:r>
              <a:rPr lang="en-US" altLang="ja-JP" b="1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ja-JP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US" altLang="ja-JP" sz="16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tha</a:t>
            </a:r>
            <a:r>
              <a:rPr lang="en-US" altLang="ja-JP" b="1" spc="-3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ja-JP" b="1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ja-JP" sz="18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</a:t>
            </a:r>
            <a:r>
              <a:rPr lang="en-US" altLang="ja-JP" b="1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this</a:t>
            </a:r>
            <a:r>
              <a:rPr lang="en-US" altLang="ja-JP" sz="18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ja-JP" sz="2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to</a:t>
            </a:r>
            <a:r>
              <a:rPr lang="en-US" altLang="ja-JP" b="1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sz="1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right?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  <a:endParaRPr lang="en-US" altLang="ja-JP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838200"/>
            <a:ext cx="838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ja-JP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ja-JP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utoShape 2" descr="All aboard the Murder Mystery Express | Duluth News Tribu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057400" y="3810000"/>
            <a:ext cx="6934200" cy="1524000"/>
            <a:chOff x="2057400" y="3733800"/>
            <a:chExt cx="6934200" cy="1524000"/>
          </a:xfrm>
        </p:grpSpPr>
        <p:sp>
          <p:nvSpPr>
            <p:cNvPr id="8" name="Rounded Rectangular Callout 6"/>
            <p:cNvSpPr/>
            <p:nvPr/>
          </p:nvSpPr>
          <p:spPr bwMode="auto">
            <a:xfrm>
              <a:off x="2057400" y="3733800"/>
              <a:ext cx="6934200" cy="1524000"/>
            </a:xfrm>
            <a:prstGeom prst="wedgeRoundRectCallout">
              <a:avLst>
                <a:gd name="adj1" fmla="val -63136"/>
                <a:gd name="adj2" fmla="val -47110"/>
                <a:gd name="adj3" fmla="val 16667"/>
              </a:avLst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90000"/>
                </a:lnSpc>
              </a:pP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Aha, a mystery!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How can == be true one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way, but not the other?</a:t>
              </a:r>
              <a:endParaRPr lang="zh-TW" altLang="en-US" sz="3200" dirty="0">
                <a:solidFill>
                  <a:schemeClr val="tx1"/>
                </a:solidFill>
                <a:latin typeface="Times New Roman" charset="0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00" y="3733800"/>
              <a:ext cx="2445288" cy="152400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 bwMode="auto">
            <a:xfrm>
              <a:off x="6172200" y="3733800"/>
              <a:ext cx="228600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8594203" y="3733800"/>
              <a:ext cx="112854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14" name="Trapezoid 13"/>
          <p:cNvSpPr>
            <a:spLocks noChangeAspect="1"/>
          </p:cNvSpPr>
          <p:nvPr/>
        </p:nvSpPr>
        <p:spPr bwMode="auto">
          <a:xfrm rot="2700000" flipH="1">
            <a:off x="7047025" y="401035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Recall</a:t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#40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784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110049"/>
            <a:ext cx="8991600" cy="67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class 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latin typeface="Lucida Console" panose="020B0609040504020204" pitchFamily="49" charset="0"/>
              </a:rPr>
              <a:t>self,val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 err="1"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val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    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zh-TW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==x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y=355/113;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dirty="0" err="1"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latin typeface="Lucida Console" panose="020B0609040504020204" pitchFamily="49" charset="0"/>
              </a:rPr>
              <a:t>(y); 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&lt;__main__.</a:t>
            </a:r>
            <a:r>
              <a:rPr lang="en-US" altLang="zh-TW" dirty="0" err="1">
                <a:solidFill>
                  <a:srgbClr val="DC0000"/>
                </a:solidFill>
                <a:latin typeface="Lucida Console" panose="020B0609040504020204" pitchFamily="49" charset="0"/>
              </a:rPr>
              <a:t>myfloat</a:t>
            </a:r>
            <a:r>
              <a:rPr lang="en-US" altLang="zh-TW" dirty="0">
                <a:solidFill>
                  <a:srgbClr val="DC0000"/>
                </a:solidFill>
                <a:latin typeface="Lucida Console" panose="020B0609040504020204" pitchFamily="49" charset="0"/>
              </a:rPr>
              <a:t> object at 0x6ffffcd3470&gt;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y,myy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3.1415929203539825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3.14159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dir</a:t>
            </a:r>
            <a:r>
              <a:rPr lang="en-US" altLang="zh-TW" dirty="0">
                <a:latin typeface="Lucida Console" panose="020B0609040504020204" pitchFamily="49" charset="0"/>
              </a:rPr>
              <a:t>(float)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1400" spc="-40" dirty="0">
                <a:latin typeface="Lucida Console" panose="020B0609040504020204" pitchFamily="49" charset="0"/>
              </a:rPr>
              <a:t>['__abs__', '__add__', '__bool__', '__class__',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delattr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9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doc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b="1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zh-TW" sz="1400" b="1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1400" spc="-13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</a:t>
            </a:r>
            <a:r>
              <a:rPr lang="en-US" altLang="zh-TW" sz="13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float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floordi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v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format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getattribut</a:t>
            </a:r>
            <a:r>
              <a:rPr lang="en-US" altLang="zh-TW" sz="1400" spc="-110" dirty="0" err="1">
                <a:latin typeface="Lucida Console" panose="020B0609040504020204" pitchFamily="49" charset="0"/>
              </a:rPr>
              <a:t>e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</a:t>
            </a:r>
            <a:r>
              <a:rPr lang="en-US" altLang="zh-TW" sz="1400" spc="-50" dirty="0">
                <a:latin typeface="Lucida Console" panose="020B0609040504020204" pitchFamily="49" charset="0"/>
              </a:rPr>
              <a:t>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getformat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getnewargs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gt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__', '__hash__', '__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50" dirty="0" err="1">
                <a:latin typeface="Lucida Console" panose="020B0609040504020204" pitchFamily="49" charset="0"/>
              </a:rPr>
              <a:t>init_subclass</a:t>
            </a:r>
            <a:r>
              <a:rPr lang="en-US" altLang="zh-TW" sz="1400" spc="-5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int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'__le__',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lt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'__mod__',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neg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'__new__',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pos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'__pow__',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radd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rdivmod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'__reduce__',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reduce_ex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repr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rfloordiv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rmod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rmul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_round_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_',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rpow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rsub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21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, '_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rtruediv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setformat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sizeof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8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str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1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40" dirty="0">
                <a:latin typeface="Lucida Console" panose="020B0609040504020204" pitchFamily="49" charset="0"/>
              </a:rPr>
              <a:t> '__sub_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_',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 </a:t>
            </a:r>
            <a:r>
              <a:rPr lang="en-US" altLang="zh-TW" sz="1400" spc="-170" dirty="0">
                <a:latin typeface="Lucida Console" panose="020B0609040504020204" pitchFamily="49" charset="0"/>
              </a:rPr>
              <a:t>'</a:t>
            </a:r>
            <a:r>
              <a:rPr lang="en-US" altLang="zh-TW" sz="1400" spc="-11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subclasshook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truediv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'__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trunc</a:t>
            </a:r>
            <a:r>
              <a:rPr lang="en-US" altLang="zh-TW" sz="1400" spc="-40" dirty="0">
                <a:latin typeface="Lucida Console" panose="020B0609040504020204" pitchFamily="49" charset="0"/>
              </a:rPr>
              <a:t>__',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as_integer_ratio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'conjugate',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'hex',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imag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</a:t>
            </a:r>
            <a:r>
              <a:rPr lang="en-US" altLang="zh-TW" sz="1400" spc="-40" dirty="0" err="1">
                <a:latin typeface="Lucida Console" panose="020B0609040504020204" pitchFamily="49" charset="0"/>
              </a:rPr>
              <a:t>is_integer</a:t>
            </a:r>
            <a:r>
              <a:rPr lang="en-US" altLang="zh-TW" sz="1400" spc="-40" dirty="0">
                <a:latin typeface="Lucida Console" panose="020B0609040504020204" pitchFamily="49" charset="0"/>
              </a:rPr>
              <a:t>', 'real']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y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dirty="0" err="1">
                <a:latin typeface="Lucida Console" panose="020B0609040504020204" pitchFamily="49" charset="0"/>
              </a:rPr>
              <a:t>myy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249118" y="4642780"/>
            <a:ext cx="845213" cy="304800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52400" y="3549935"/>
            <a:ext cx="6934200" cy="1524000"/>
            <a:chOff x="2057400" y="3733800"/>
            <a:chExt cx="6934200" cy="1524000"/>
          </a:xfrm>
        </p:grpSpPr>
        <p:sp>
          <p:nvSpPr>
            <p:cNvPr id="5" name="Rounded Rectangular Callout 6"/>
            <p:cNvSpPr/>
            <p:nvPr/>
          </p:nvSpPr>
          <p:spPr bwMode="auto">
            <a:xfrm>
              <a:off x="2057400" y="3733800"/>
              <a:ext cx="6934200" cy="1524000"/>
            </a:xfrm>
            <a:prstGeom prst="wedgeRoundRectCallout">
              <a:avLst>
                <a:gd name="adj1" fmla="val -32995"/>
                <a:gd name="adj2" fmla="val 130985"/>
                <a:gd name="adj3" fmla="val 16667"/>
              </a:avLst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90000"/>
                </a:lnSpc>
              </a:pP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Aha, a new mystery!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Slide #40 showed that </a:t>
              </a:r>
              <a:b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chemeClr val="tx1"/>
                  </a:solidFill>
                  <a:latin typeface="Times New Roman" charset="0"/>
                </a:rPr>
                <a:t>== isn't reciprocal.</a:t>
              </a:r>
              <a:endParaRPr lang="zh-TW" altLang="en-US" sz="3200" dirty="0">
                <a:solidFill>
                  <a:schemeClr val="tx1"/>
                </a:solidFill>
                <a:latin typeface="Times New Roman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00" y="3733800"/>
              <a:ext cx="2445288" cy="152400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 bwMode="auto">
            <a:xfrm>
              <a:off x="6172200" y="3733800"/>
              <a:ext cx="228600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8594203" y="3733800"/>
              <a:ext cx="112854" cy="1524000"/>
            </a:xfrm>
            <a:prstGeom prst="rect">
              <a:avLst/>
            </a:prstGeom>
            <a:solidFill>
              <a:srgbClr val="E030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2" name="Rounded Rectangular Callout 1"/>
          <p:cNvSpPr/>
          <p:nvPr/>
        </p:nvSpPr>
        <p:spPr bwMode="auto">
          <a:xfrm>
            <a:off x="2133600" y="5486400"/>
            <a:ext cx="6858000" cy="1371600"/>
          </a:xfrm>
          <a:prstGeom prst="wedgeRoundRectCallout">
            <a:avLst>
              <a:gd name="adj1" fmla="val -66589"/>
              <a:gd name="adj2" fmla="val 36502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But our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change of the 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myfloat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 class has now cause the float class to also understand how to equality-compare to a 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myfloat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. </a:t>
            </a:r>
            <a:r>
              <a:rPr kumimoji="0" lang="en-US" sz="2800" b="1" i="1" u="none" strike="noStrike" cap="none" normalizeH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charset="0"/>
              </a:rPr>
              <a:t>HOW?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68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Solving the mystery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762000"/>
            <a:ext cx="8458200" cy="61722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ja-JP" sz="2800" dirty="0">
                <a:solidFill>
                  <a:schemeClr val="tx1"/>
                </a:solidFill>
                <a:cs typeface="Courier New" panose="02070309020205020404" pitchFamily="49" charset="0"/>
              </a:rPr>
              <a:t>What if the float class implements </a:t>
            </a:r>
            <a:r>
              <a:rPr lang="en-US" altLang="ja-JP" sz="280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z="280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sz="280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ja-JP" sz="2800" dirty="0">
                <a:solidFill>
                  <a:schemeClr val="tx1"/>
                </a:solidFill>
                <a:cs typeface="Courier New" panose="02070309020205020404" pitchFamily="49" charset="0"/>
              </a:rPr>
              <a:t> in a way that is similar to the following: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eq</a:t>
            </a: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self,x</a:t>
            </a: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if(type(x) not in 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float.typesIknow</a:t>
            </a: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return x == 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self.real</a:t>
            </a:r>
            <a:endParaRPr lang="en-US" altLang="ja-JP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try: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tmp</a:t>
            </a: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=float(x)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except: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return False</a:t>
            </a: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return 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allBytesSam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ja-JP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</a:t>
            </a:r>
            <a:r>
              <a:rPr lang="en-US" altLang="ja-JP" spc="-5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f.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</a:t>
            </a:r>
            <a:r>
              <a:rPr lang="en-US" altLang="ja-JP" spc="-6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ja-JP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ja-JP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tm</a:t>
            </a:r>
            <a:r>
              <a:rPr lang="en-US" altLang="ja-JP" spc="-4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</a:t>
            </a:r>
            <a:r>
              <a:rPr lang="en-US" altLang="ja-JP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ja-JP" sz="1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ja-JP" sz="2800" dirty="0">
                <a:solidFill>
                  <a:schemeClr val="tx1"/>
                </a:solidFill>
                <a:cs typeface="Courier New" panose="02070309020205020404" pitchFamily="49" charset="0"/>
              </a:rPr>
              <a:t>The advantages of such an implementation are that:</a:t>
            </a:r>
          </a:p>
          <a:p>
            <a:pPr eaLnBrk="1" hangingPunct="1">
              <a:spcBef>
                <a:spcPts val="0"/>
              </a:spcBef>
            </a:pPr>
            <a:r>
              <a:rPr lang="en-US" altLang="ja-JP" dirty="0">
                <a:solidFill>
                  <a:schemeClr val="accent2"/>
                </a:solidFill>
                <a:cs typeface="Courier New" panose="02070309020205020404" pitchFamily="49" charset="0"/>
              </a:rPr>
              <a:t>It lets the float type work with newly created types.</a:t>
            </a:r>
          </a:p>
          <a:p>
            <a:pPr eaLnBrk="1" hangingPunct="1">
              <a:spcBef>
                <a:spcPts val="0"/>
              </a:spcBef>
            </a:pPr>
            <a:r>
              <a:rPr lang="en-US" altLang="ja-JP" dirty="0">
                <a:solidFill>
                  <a:schemeClr val="accent2"/>
                </a:solidFill>
                <a:cs typeface="Courier New" panose="02070309020205020404" pitchFamily="49" charset="0"/>
              </a:rPr>
              <a:t>It avoids programmer bugs where someone assumes that knowing a==b implies knowing that b==a.</a:t>
            </a:r>
          </a:p>
        </p:txBody>
      </p:sp>
    </p:spTree>
    <p:extLst>
      <p:ext uri="{BB962C8B-B14F-4D97-AF65-F5344CB8AC3E}">
        <p14:creationId xmlns:p14="http://schemas.microsoft.com/office/powerpoint/2010/main" val="394780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91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91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763000" cy="6019800"/>
          </a:xfrm>
        </p:spPr>
        <p:txBody>
          <a:bodyPr/>
          <a:lstStyle/>
          <a:p>
            <a:pPr marL="0" indent="0" eaLnBrk="1" hangingPunct="1">
              <a:spcBef>
                <a:spcPts val="2400"/>
              </a:spcBef>
              <a:buNone/>
            </a:pPr>
            <a:r>
              <a:rPr lang="en-US" altLang="en-US" sz="3600" dirty="0">
                <a:latin typeface="+mn-ea"/>
              </a:rPr>
              <a:t>For classes that act like sets, lists, etc.:</a:t>
            </a:r>
          </a:p>
          <a:p>
            <a:pPr marL="233363" indent="-60325" eaLnBrk="1" hangingPunct="1"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__contains__(</a:t>
            </a:r>
            <a:r>
              <a:rPr lang="en-US" altLang="en-US" sz="3200" dirty="0" err="1">
                <a:solidFill>
                  <a:srgbClr val="FFAB00"/>
                </a:solidFill>
                <a:latin typeface="Lucida Console" panose="020B0609040504020204" pitchFamily="49" charset="0"/>
              </a:rPr>
              <a:t>self,key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FAB00"/>
              </a:solidFill>
            </a:endParaRPr>
          </a:p>
          <a:p>
            <a:pPr marL="457200" indent="-223838" eaLnBrk="1" hangingPunct="1">
              <a:spcBef>
                <a:spcPts val="0"/>
              </a:spcBef>
              <a:buNone/>
            </a:pPr>
            <a:r>
              <a:rPr lang="en-US" altLang="en-US" sz="3200" dirty="0"/>
              <a:t>  Lets the client know if it contains a specific value, by typing: 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key in </a:t>
            </a:r>
            <a:r>
              <a:rPr lang="en-US" altLang="en-US" sz="3200" dirty="0" err="1">
                <a:solidFill>
                  <a:srgbClr val="FFAB00"/>
                </a:solidFill>
                <a:latin typeface="Lucida Console" panose="020B0609040504020204" pitchFamily="49" charset="0"/>
              </a:rPr>
              <a:t>myinstance</a:t>
            </a:r>
            <a:endParaRPr lang="en-US" altLang="en-US" sz="3200" dirty="0">
              <a:solidFill>
                <a:srgbClr val="FFAB00"/>
              </a:solidFill>
              <a:latin typeface="Lucida Console" panose="020B0609040504020204" pitchFamily="49" charset="0"/>
            </a:endParaRPr>
          </a:p>
          <a:p>
            <a:pPr marL="284163" indent="-50800" eaLnBrk="1" hangingPunct="1"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len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__(self)</a:t>
            </a:r>
            <a:endParaRPr lang="en-US" altLang="en-US" sz="3200" dirty="0">
              <a:solidFill>
                <a:srgbClr val="92D050"/>
              </a:solidFill>
            </a:endParaRPr>
          </a:p>
          <a:p>
            <a:pPr marL="457200" indent="-223838" eaLnBrk="1" hangingPunct="1">
              <a:spcBef>
                <a:spcPts val="0"/>
              </a:spcBef>
              <a:buNone/>
            </a:pPr>
            <a:r>
              <a:rPr lang="en-US" altLang="en-US" sz="3200" dirty="0"/>
              <a:t>  Get the size, by typing: </a:t>
            </a:r>
            <a:r>
              <a:rPr lang="en-US" altLang="en-US" sz="3200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len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myinstance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)</a:t>
            </a:r>
          </a:p>
          <a:p>
            <a:pPr marL="284163" indent="-50800" eaLnBrk="1" hangingPunct="1">
              <a:spcBef>
                <a:spcPts val="24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More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34546020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For classes that are </a:t>
            </a:r>
            <a:r>
              <a:rPr lang="en-US" altLang="en-US" sz="3600" dirty="0" err="1"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  The client iterates through the class instance by typing: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for item in 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myinstance</a:t>
            </a:r>
            <a:endParaRPr lang="en-US" altLang="en-US" sz="32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233363" indent="-60325" eaLnBrk="1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__next__(self)</a:t>
            </a:r>
            <a:endParaRPr lang="en-US" altLang="en-US" sz="3200" dirty="0">
              <a:solidFill>
                <a:srgbClr val="FFAB00"/>
              </a:solidFill>
            </a:endParaRP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	The client gets the next item of the instance by typing: 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3200" dirty="0" err="1">
                <a:solidFill>
                  <a:srgbClr val="FFAB00"/>
                </a:solidFill>
                <a:latin typeface="Lucida Console" panose="020B0609040504020204" pitchFamily="49" charset="0"/>
              </a:rPr>
              <a:t>myinstance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	(__next__() is also needed so as to allow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for item in 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myinstance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/>
              <a:t>to work) </a:t>
            </a:r>
            <a:endParaRPr lang="en-US" altLang="en-US" sz="3200" dirty="0">
              <a:solidFill>
                <a:srgbClr val="FFAB00"/>
              </a:solidFill>
              <a:latin typeface="Lucida Console" panose="020B0609040504020204" pitchFamily="49" charset="0"/>
            </a:endParaRPr>
          </a:p>
          <a:p>
            <a:pPr marL="284163" indent="-173038" eaLnBrk="1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__reverse__(self)</a:t>
            </a:r>
            <a:endParaRPr lang="en-US" altLang="en-US" sz="3200" dirty="0">
              <a:solidFill>
                <a:srgbClr val="92D050"/>
              </a:solidFill>
            </a:endParaRP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 The client iterates in reverse, by typing: 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reversed(</a:t>
            </a:r>
            <a:r>
              <a:rPr lang="en-US" altLang="en-US" sz="3200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myinstance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25287477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77824"/>
            <a:ext cx="8458200" cy="6019800"/>
          </a:xfrm>
        </p:spPr>
        <p:txBody>
          <a:bodyPr/>
          <a:lstStyle/>
          <a:p>
            <a:pPr marL="0" indent="0" eaLnBrk="1" hangingPunct="1">
              <a:lnSpc>
                <a:spcPct val="94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For classes that act like dictionaries (or like lists, if the index is used as a key):</a:t>
            </a:r>
          </a:p>
          <a:p>
            <a:pPr marL="233363" indent="-60325" eaLnBrk="1" hangingPunct="1">
              <a:lnSpc>
                <a:spcPct val="94000"/>
              </a:lnSpc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getitem</a:t>
            </a:r>
            <a:r>
              <a:rPr lang="en-US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self,key</a:t>
            </a:r>
            <a:r>
              <a:rPr lang="en-US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006600"/>
                </a:solidFill>
              </a:rPr>
              <a:t> </a:t>
            </a: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the client get a value by its key, by  	typing: </a:t>
            </a:r>
            <a:r>
              <a:rPr lang="en-US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x[key]	</a:t>
            </a:r>
          </a:p>
          <a:p>
            <a:pPr marL="233363" indent="-60325" eaLnBrk="1" hangingPunct="1">
              <a:lnSpc>
                <a:spcPct val="94000"/>
              </a:lnSpc>
              <a:spcBef>
                <a:spcPts val="2400"/>
              </a:spcBef>
              <a:buNone/>
            </a:pP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	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setitem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self,key,value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chemeClr val="accent2"/>
              </a:solidFill>
            </a:endParaRP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the client set a value for a key, by 	typing: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x[key]=value</a:t>
            </a:r>
          </a:p>
          <a:p>
            <a:pPr marL="233363" indent="-60325" eaLnBrk="1" hangingPunct="1">
              <a:lnSpc>
                <a:spcPct val="94000"/>
              </a:lnSpc>
              <a:spcBef>
                <a:spcPts val="24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	__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delitem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self,key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the client delete a key-value pair by 	typing: 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del x[key]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Container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6874100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9067800" cy="6096000"/>
          </a:xfrm>
        </p:spPr>
        <p:txBody>
          <a:bodyPr/>
          <a:lstStyle/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Puppy(object):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__(self):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self.names</a:t>
            </a:r>
            <a:r>
              <a:rPr lang="en-US" altLang="en-US" sz="2400" dirty="0">
                <a:latin typeface="Lucida Console" panose="020B0609040504020204" pitchFamily="49" charset="0"/>
              </a:rPr>
              <a:t> = []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self.colors</a:t>
            </a:r>
            <a:r>
              <a:rPr lang="en-US" altLang="en-US" sz="2400" dirty="0">
                <a:latin typeface="Lucida Console" panose="020B0609040504020204" pitchFamily="49" charset="0"/>
              </a:rPr>
              <a:t> = []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1600" dirty="0">
                <a:latin typeface="Lucida Console" panose="020B0609040504020204" pitchFamily="49" charset="0"/>
              </a:rPr>
              <a:t>\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setitem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name, color):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self.names.append</a:t>
            </a:r>
            <a:r>
              <a:rPr lang="en-US" altLang="en-US" sz="2400" dirty="0">
                <a:latin typeface="Lucida Console" panose="020B0609040504020204" pitchFamily="49" charset="0"/>
              </a:rPr>
              <a:t>(name)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self.colors.append</a:t>
            </a:r>
            <a:r>
              <a:rPr lang="en-US" altLang="en-US" sz="2400" dirty="0">
                <a:latin typeface="Lucida Console" panose="020B0609040504020204" pitchFamily="49" charset="0"/>
              </a:rPr>
              <a:t>(color)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1600" dirty="0">
                <a:latin typeface="Lucida Console" panose="020B0609040504020204" pitchFamily="49" charset="0"/>
              </a:rPr>
              <a:t>\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getitem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name):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if name in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self.names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self.colors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[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self.names.index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(name)]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else: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return None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1800" dirty="0">
              <a:latin typeface="Lucida Console" panose="020B0609040504020204" pitchFamily="49" charset="0"/>
            </a:endParaRP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dog = Puppy()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dog['Max'] = 'brown'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dog['Ruby'] = 'yellow'</a:t>
            </a:r>
            <a:endParaRPr lang="en-US" altLang="ja-JP" sz="2400" dirty="0">
              <a:latin typeface="Lucida Console" panose="020B0609040504020204" pitchFamily="49" charset="0"/>
            </a:endParaRP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("Max is", dog['Max'])</a:t>
            </a:r>
          </a:p>
          <a:p>
            <a:pPr marL="255588"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76200" y="762000"/>
            <a:ext cx="84328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78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7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400" kern="0" spc="-100" dirty="0">
                <a:latin typeface="Elephant" panose="02020904090505020303" pitchFamily="18" charset="0"/>
              </a:rPr>
              <a:t>I</a:t>
            </a:r>
            <a:r>
              <a:rPr lang="en-US" altLang="en-US" sz="4400" kern="0" spc="-200" dirty="0">
                <a:latin typeface="Elephant" panose="02020904090505020303" pitchFamily="18" charset="0"/>
              </a:rPr>
              <a:t>nd</a:t>
            </a:r>
            <a:r>
              <a:rPr lang="en-US" altLang="en-US" sz="4400" kern="0" spc="-300" dirty="0">
                <a:latin typeface="Elephant" panose="02020904090505020303" pitchFamily="18" charset="0"/>
              </a:rPr>
              <a:t>e</a:t>
            </a:r>
            <a:r>
              <a:rPr lang="en-US" altLang="en-US" sz="4400" kern="0" spc="-100" dirty="0">
                <a:latin typeface="Elephant" panose="02020904090505020303" pitchFamily="18" charset="0"/>
              </a:rPr>
              <a:t>xing</a:t>
            </a:r>
            <a:r>
              <a:rPr lang="en-US" altLang="en-US" sz="4400" kern="0" spc="-100" dirty="0"/>
              <a:t>: 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spc="-3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 err="1">
                <a:solidFill>
                  <a:srgbClr val="FF0000"/>
                </a:solidFill>
              </a:rPr>
              <a:t>setit</a:t>
            </a:r>
            <a:r>
              <a:rPr lang="en-US" altLang="en-US" sz="4400" b="1" kern="0" spc="-100" dirty="0" err="1">
                <a:solidFill>
                  <a:srgbClr val="FF0000"/>
                </a:solidFill>
              </a:rPr>
              <a:t>e</a:t>
            </a:r>
            <a:r>
              <a:rPr lang="en-US" altLang="en-US" sz="4400" b="1" kern="0" spc="-200" dirty="0" err="1">
                <a:solidFill>
                  <a:srgbClr val="FF0000"/>
                </a:solidFill>
              </a:rPr>
              <a:t>m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>
                <a:solidFill>
                  <a:srgbClr val="FF0000"/>
                </a:solidFill>
              </a:rPr>
              <a:t>_</a:t>
            </a:r>
            <a:r>
              <a:rPr lang="en-US" altLang="en-US" kern="0" dirty="0"/>
              <a:t> </a:t>
            </a:r>
            <a:r>
              <a:rPr lang="en-US" altLang="en-US" sz="4400" kern="0" dirty="0"/>
              <a:t>&amp;</a:t>
            </a:r>
            <a:r>
              <a:rPr lang="en-US" altLang="en-US" kern="0" dirty="0"/>
              <a:t> 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spc="-15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 err="1">
                <a:solidFill>
                  <a:srgbClr val="FF0000"/>
                </a:solidFill>
              </a:rPr>
              <a:t>getit</a:t>
            </a:r>
            <a:r>
              <a:rPr lang="en-US" altLang="en-US" sz="4400" b="1" kern="0" spc="-100" dirty="0" err="1">
                <a:solidFill>
                  <a:srgbClr val="FF0000"/>
                </a:solidFill>
              </a:rPr>
              <a:t>e</a:t>
            </a:r>
            <a:r>
              <a:rPr lang="en-US" altLang="en-US" sz="4400" b="1" kern="0" spc="-200" dirty="0" err="1">
                <a:solidFill>
                  <a:srgbClr val="FF0000"/>
                </a:solidFill>
              </a:rPr>
              <a:t>m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>
                <a:solidFill>
                  <a:srgbClr val="FF0000"/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96009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4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4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4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40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440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440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440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440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xfrm>
            <a:off x="914400" y="838200"/>
            <a:ext cx="8153400" cy="6019800"/>
          </a:xfrm>
        </p:spPr>
        <p:txBody>
          <a:bodyPr/>
          <a:lstStyle/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self.name = []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self.color</a:t>
            </a:r>
            <a:r>
              <a:rPr lang="en-US" altLang="en-US" sz="2400" dirty="0">
                <a:latin typeface="Lucida Console" panose="020B0609040504020204" pitchFamily="49" charset="0"/>
              </a:rPr>
              <a:t> = []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1600" dirty="0">
                <a:latin typeface="Lucida Console" panose="020B0609040504020204" pitchFamily="49" charset="0"/>
              </a:rPr>
              <a:t>\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setitem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name, color):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self.name.append</a:t>
            </a:r>
            <a:r>
              <a:rPr lang="en-US" altLang="en-US" sz="2400" dirty="0">
                <a:latin typeface="Lucida Console" panose="020B0609040504020204" pitchFamily="49" charset="0"/>
              </a:rPr>
              <a:t>(name)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self.color.append</a:t>
            </a:r>
            <a:r>
              <a:rPr lang="en-US" altLang="en-US" sz="2400" dirty="0">
                <a:latin typeface="Lucida Console" panose="020B0609040504020204" pitchFamily="49" charset="0"/>
              </a:rPr>
              <a:t>(color)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1600" dirty="0">
                <a:latin typeface="Lucida Console" panose="020B0609040504020204" pitchFamily="49" charset="0"/>
              </a:rPr>
              <a:t>\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</a:rPr>
              <a:t>getitem</a:t>
            </a:r>
            <a:r>
              <a:rPr lang="en-US" altLang="en-US" sz="2400" dirty="0">
                <a:latin typeface="Lucida Console" panose="020B0609040504020204" pitchFamily="49" charset="0"/>
              </a:rPr>
              <a:t>__(self, name):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if name in self.name: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self.color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[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self.name.index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(name)]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else: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return None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1800" dirty="0">
              <a:latin typeface="Lucida Console" panose="020B0609040504020204" pitchFamily="49" charset="0"/>
            </a:endParaRP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dog = Puppy()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dog['Max'] = 'brown'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dog['Ruby'] = 'yellow'</a:t>
            </a:r>
            <a:endParaRPr lang="en-US" altLang="ja-JP" sz="2400" dirty="0">
              <a:latin typeface="Lucida Console" panose="020B0609040504020204" pitchFamily="49" charset="0"/>
            </a:endParaRP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("Max is", dog['Max'])</a:t>
            </a:r>
          </a:p>
          <a:p>
            <a:pPr marL="255588"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en-US" sz="2000" dirty="0">
              <a:latin typeface="Lucida Console" panose="020B0609040504020204" pitchFamily="49" charset="0"/>
            </a:endParaRPr>
          </a:p>
          <a:p>
            <a:pPr marL="255588" eaLnBrk="1" hangingPunct="1"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#So</a:t>
            </a:r>
            <a:r>
              <a:rPr lang="en-US" altLang="en-US" sz="20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setit</a:t>
            </a:r>
            <a:r>
              <a:rPr lang="en-US" altLang="en-US" sz="2400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em</a:t>
            </a:r>
            <a:r>
              <a:rPr lang="en-US" altLang="en-US" sz="2400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400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/_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getit</a:t>
            </a:r>
            <a:r>
              <a:rPr lang="en-US" altLang="en-US" sz="2400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em</a:t>
            </a:r>
            <a:r>
              <a:rPr lang="en-US" altLang="en-US" sz="2400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20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2400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000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mak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0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0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dictiona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28600" y="838200"/>
            <a:ext cx="2743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78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7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83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Max is brown</a:t>
            </a:r>
          </a:p>
          <a:p>
            <a:pPr marL="255588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400" kern="0" spc="-100" dirty="0">
                <a:latin typeface="Elephant" panose="02020904090505020303" pitchFamily="18" charset="0"/>
              </a:rPr>
              <a:t>I</a:t>
            </a:r>
            <a:r>
              <a:rPr lang="en-US" altLang="en-US" sz="4400" kern="0" spc="-200" dirty="0">
                <a:latin typeface="Elephant" panose="02020904090505020303" pitchFamily="18" charset="0"/>
              </a:rPr>
              <a:t>nd</a:t>
            </a:r>
            <a:r>
              <a:rPr lang="en-US" altLang="en-US" sz="4400" kern="0" spc="-300" dirty="0">
                <a:latin typeface="Elephant" panose="02020904090505020303" pitchFamily="18" charset="0"/>
              </a:rPr>
              <a:t>e</a:t>
            </a:r>
            <a:r>
              <a:rPr lang="en-US" altLang="en-US" sz="4400" kern="0" spc="-100" dirty="0">
                <a:latin typeface="Elephant" panose="02020904090505020303" pitchFamily="18" charset="0"/>
              </a:rPr>
              <a:t>xing</a:t>
            </a:r>
            <a:r>
              <a:rPr lang="en-US" altLang="en-US" sz="4400" kern="0" spc="-100" dirty="0"/>
              <a:t>: 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spc="-3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 err="1">
                <a:solidFill>
                  <a:srgbClr val="FF0000"/>
                </a:solidFill>
              </a:rPr>
              <a:t>setit</a:t>
            </a:r>
            <a:r>
              <a:rPr lang="en-US" altLang="en-US" sz="4400" b="1" kern="0" spc="-100" dirty="0" err="1">
                <a:solidFill>
                  <a:srgbClr val="FF0000"/>
                </a:solidFill>
              </a:rPr>
              <a:t>e</a:t>
            </a:r>
            <a:r>
              <a:rPr lang="en-US" altLang="en-US" sz="4400" b="1" kern="0" spc="-200" dirty="0" err="1">
                <a:solidFill>
                  <a:srgbClr val="FF0000"/>
                </a:solidFill>
              </a:rPr>
              <a:t>m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>
                <a:solidFill>
                  <a:srgbClr val="FF0000"/>
                </a:solidFill>
              </a:rPr>
              <a:t>_</a:t>
            </a:r>
            <a:r>
              <a:rPr lang="en-US" altLang="en-US" kern="0" dirty="0"/>
              <a:t> </a:t>
            </a:r>
            <a:r>
              <a:rPr lang="en-US" altLang="en-US" sz="4400" kern="0" dirty="0"/>
              <a:t>&amp;</a:t>
            </a:r>
            <a:r>
              <a:rPr lang="en-US" altLang="en-US" kern="0" dirty="0"/>
              <a:t> 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spc="-15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 err="1">
                <a:solidFill>
                  <a:srgbClr val="FF0000"/>
                </a:solidFill>
              </a:rPr>
              <a:t>getit</a:t>
            </a:r>
            <a:r>
              <a:rPr lang="en-US" altLang="en-US" sz="4400" b="1" kern="0" spc="-100" dirty="0" err="1">
                <a:solidFill>
                  <a:srgbClr val="FF0000"/>
                </a:solidFill>
              </a:rPr>
              <a:t>e</a:t>
            </a:r>
            <a:r>
              <a:rPr lang="en-US" altLang="en-US" sz="4400" b="1" kern="0" spc="-200" dirty="0" err="1">
                <a:solidFill>
                  <a:srgbClr val="FF0000"/>
                </a:solidFill>
              </a:rPr>
              <a:t>m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>
                <a:solidFill>
                  <a:srgbClr val="FF0000"/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67935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77824"/>
            <a:ext cx="8458200" cy="6019800"/>
          </a:xfrm>
        </p:spPr>
        <p:txBody>
          <a:bodyPr/>
          <a:lstStyle/>
          <a:p>
            <a:pPr marL="0" indent="0" eaLnBrk="1" hangingPunct="1">
              <a:lnSpc>
                <a:spcPct val="94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In Python, everything</a:t>
            </a:r>
            <a:r>
              <a:rPr lang="en-US" altLang="en-US" sz="3600" dirty="0">
                <a:latin typeface="+mn-ea"/>
              </a:rPr>
              <a:t>, even a function,</a:t>
            </a:r>
            <a:r>
              <a:rPr lang="en-US" altLang="en-US" sz="3600" dirty="0">
                <a:latin typeface="+mn-ea"/>
                <a:ea typeface="+mn-ea"/>
              </a:rPr>
              <a:t> </a:t>
            </a:r>
            <a:br>
              <a:rPr lang="en-US" altLang="en-US" sz="3600" dirty="0">
                <a:latin typeface="+mn-ea"/>
                <a:ea typeface="+mn-ea"/>
              </a:rPr>
            </a:br>
            <a:r>
              <a:rPr lang="en-US" altLang="en-US" sz="3600" dirty="0">
                <a:latin typeface="+mn-ea"/>
                <a:ea typeface="+mn-ea"/>
              </a:rPr>
              <a:t>is an object.</a:t>
            </a:r>
          </a:p>
          <a:p>
            <a:pPr marL="0" indent="0" eaLnBrk="1" hangingPunct="1">
              <a:lnSpc>
                <a:spcPct val="94000"/>
              </a:lnSpc>
              <a:buNone/>
            </a:pPr>
            <a:endParaRPr lang="en-US" altLang="en-US" sz="1400" dirty="0">
              <a:latin typeface="+mn-ea"/>
              <a:ea typeface="+mn-ea"/>
            </a:endParaRPr>
          </a:p>
          <a:p>
            <a:pPr marL="0" indent="0" eaLnBrk="1" hangingPunct="1">
              <a:lnSpc>
                <a:spcPct val="94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Logically, then, custom classes should allow objects that are functions.</a:t>
            </a:r>
          </a:p>
          <a:p>
            <a:pPr marL="0" indent="0" eaLnBrk="1" hangingPunct="1">
              <a:lnSpc>
                <a:spcPct val="94000"/>
              </a:lnSpc>
              <a:buNone/>
            </a:pPr>
            <a:endParaRPr lang="en-US" altLang="en-US" sz="1400" dirty="0">
              <a:latin typeface="+mn-ea"/>
              <a:ea typeface="+mn-ea"/>
            </a:endParaRPr>
          </a:p>
          <a:p>
            <a:pPr marL="0" indent="0" eaLnBrk="1" hangingPunct="1">
              <a:lnSpc>
                <a:spcPct val="94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This is achieved by defining the __call__ method to describe how the call is implemented.</a:t>
            </a:r>
            <a:endParaRPr lang="en-US" altLang="en-US" sz="32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Function-like Special Method</a:t>
            </a:r>
          </a:p>
        </p:txBody>
      </p:sp>
    </p:spTree>
    <p:extLst>
      <p:ext uri="{BB962C8B-B14F-4D97-AF65-F5344CB8AC3E}">
        <p14:creationId xmlns:p14="http://schemas.microsoft.com/office/powerpoint/2010/main" val="11003566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153400" cy="6019800"/>
          </a:xfrm>
        </p:spPr>
        <p:txBody>
          <a:bodyPr/>
          <a:lstStyle/>
          <a:p>
            <a:pPr marL="255588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class f():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spc="-5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__call__(self):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en-US" sz="2400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Hello?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g=f()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callable(g)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True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g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&lt;__</a:t>
            </a:r>
            <a:r>
              <a:rPr lang="en-US" altLang="en-US" sz="2400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main__.f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 object at 0x6ffff7c70b8&gt;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g()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Hello?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g=5.5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g()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spc="-50" dirty="0">
                <a:solidFill>
                  <a:srgbClr val="FF979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rgbClr val="FF979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spc="-5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spc="-50" dirty="0">
                <a:solidFill>
                  <a:srgbClr val="FF979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4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: 'float' object is not callable</a:t>
            </a:r>
          </a:p>
          <a:p>
            <a:pPr marL="255588" eaLnBrk="1" hangingPunct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altLang="en-US" sz="2400" spc="-5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400" kern="0" spc="-100" dirty="0">
                <a:latin typeface="Elephant" panose="02020904090505020303" pitchFamily="18" charset="0"/>
              </a:rPr>
              <a:t>Making a class callable</a:t>
            </a:r>
            <a:r>
              <a:rPr lang="en-US" altLang="en-US" sz="4400" kern="0" spc="-100" dirty="0"/>
              <a:t>: 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spc="-3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>
                <a:solidFill>
                  <a:srgbClr val="FF0000"/>
                </a:solidFill>
              </a:rPr>
              <a:t>call</a:t>
            </a:r>
            <a:r>
              <a:rPr lang="en-US" altLang="en-US" sz="4400" b="1" kern="0" spc="-800" dirty="0">
                <a:solidFill>
                  <a:srgbClr val="FF0000"/>
                </a:solidFill>
              </a:rPr>
              <a:t>_</a:t>
            </a:r>
            <a:r>
              <a:rPr lang="en-US" altLang="en-US" sz="4400" b="1" kern="0" dirty="0">
                <a:solidFill>
                  <a:srgbClr val="FF0000"/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5608948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9801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807720"/>
            <a:ext cx="8839200" cy="605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class Person(object):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guy = Person()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guy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#This is not how you invoke __</a:t>
            </a:r>
            <a:r>
              <a:rPr lang="en-U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__: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0x6ffff7bf2b0&gt;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print(guy)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#Rather, you have to print it: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Bob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guy.talk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()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Fax" panose="02060602050505020204" pitchFamily="18" charset="0"/>
                <a:cs typeface="Courier New" pitchFamily="49" charset="0"/>
              </a:rPr>
              <a:t>#Note the different mechanism used here: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 Bob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7126410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807720"/>
            <a:ext cx="8839200" cy="605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class Person(object):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5704609"/>
            <a:ext cx="742511" cy="3913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742511" cy="42702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886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807720"/>
            <a:ext cx="8839200" cy="605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class Person(object):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5704609"/>
            <a:ext cx="742511" cy="3913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742511" cy="42702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94456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807720"/>
            <a:ext cx="8839200" cy="605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altLang="en-US" sz="2400" kern="0" spc="-9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</a:t>
            </a:r>
          </a:p>
        </p:txBody>
      </p:sp>
    </p:spTree>
    <p:extLst>
      <p:ext uri="{BB962C8B-B14F-4D97-AF65-F5344CB8AC3E}">
        <p14:creationId xmlns:p14="http://schemas.microsoft.com/office/powerpoint/2010/main" val="415443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807720"/>
            <a:ext cx="8839200" cy="605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altLang="en-US" sz="2400" kern="0" spc="-9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spc="-12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AttributeError</a:t>
            </a:r>
            <a:r>
              <a:rPr lang="en-US" altLang="en-US" sz="24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altLang="en-US" sz="20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400" kern="0" spc="-12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int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object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has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no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attribute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'talk'</a:t>
            </a:r>
          </a:p>
        </p:txBody>
      </p:sp>
    </p:spTree>
    <p:extLst>
      <p:ext uri="{BB962C8B-B14F-4D97-AF65-F5344CB8AC3E}">
        <p14:creationId xmlns:p14="http://schemas.microsoft.com/office/powerpoint/2010/main" val="284319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807720"/>
            <a:ext cx="8839200" cy="605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Hi, I am Alice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altLang="en-US" sz="2400" kern="0" spc="-9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spc="-12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AttributeError</a:t>
            </a:r>
            <a:r>
              <a:rPr lang="en-US" altLang="en-US" sz="24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altLang="en-US" sz="20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400" kern="0" spc="-12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int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object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has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no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attribute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'talk'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4450418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71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from scope import *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from </a:t>
            </a:r>
            <a:r>
              <a:rPr lang="en-US" altLang="zh-TW" dirty="0" err="1"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Scope(object):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attr1=1; attr2=2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self.attr1 = -1; Scope.attr2 = 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self.attr1 =-10; Scope.attr3 = 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attr1=attr2="local"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print(self.attr1,self.attr2,end="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print(Scope.attr1,Scope.attr2,end="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print(Scope.attr3,end="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dirty="0" err="1">
                <a:latin typeface="Lucida Console" panose="020B0609040504020204" pitchFamily="49" charset="0"/>
              </a:rPr>
              <a:t>NO",end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print(attr1,attr2)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dirty="0" err="1">
                <a:latin typeface="Lucida Console" panose="020B0609040504020204" pitchFamily="49" charset="0"/>
              </a:rPr>
              <a:t>inst.prt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-1 20 1 20 NO local </a:t>
            </a:r>
            <a:r>
              <a:rPr lang="en-US" altLang="zh-TW" dirty="0" err="1">
                <a:latin typeface="Lucida Console" panose="020B0609040504020204" pitchFamily="49" charset="0"/>
              </a:rPr>
              <a:t>local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589655"/>
            <a:ext cx="762000" cy="10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7000"/>
              </a:lnSpc>
            </a:pP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17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from scope import *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from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0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589655"/>
            <a:ext cx="762000" cy="10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7000"/>
              </a:lnSpc>
            </a:pPr>
            <a:endParaRPr lang="en-US" altLang="zh-TW" dirty="0"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556701" y="5984403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Times New Roman" charset="0"/>
              </a:rPr>
              <a:t>Q: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317186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02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from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3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 File "&lt;</a:t>
            </a: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stdin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&gt;", line 1, in &lt;module&gt;</a:t>
            </a: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638800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Times New Roman" charset="0"/>
              </a:rPr>
              <a:t>Q: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317987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">
        <p:cut/>
      </p:transition>
    </mc:Choice>
    <mc:Fallback xmlns="">
      <p:transition spd="slow" advClick="0" advTm="300">
        <p:cut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987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3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 File "&lt;</a:t>
            </a: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stdin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>
              <a:lnSpc>
                <a:spcPct val="83000"/>
              </a:lnSpc>
            </a:pPr>
            <a:r>
              <a:rPr lang="en-US" altLang="zh-TW" spc="-20" dirty="0" err="1">
                <a:solidFill>
                  <a:srgbClr val="FF9797"/>
                </a:solidFill>
                <a:cs typeface="Arial" panose="020B0604020202020204" pitchFamily="34" charset="0"/>
              </a:rPr>
              <a:t>TypeError</a:t>
            </a:r>
            <a:r>
              <a:rPr lang="en-US" altLang="zh-TW" spc="-20" dirty="0">
                <a:solidFill>
                  <a:srgbClr val="FF9797"/>
                </a:solidFill>
                <a:cs typeface="Arial" panose="020B0604020202020204" pitchFamily="34" charset="0"/>
              </a:rPr>
              <a:t>:</a:t>
            </a:r>
            <a:r>
              <a:rPr lang="en-US" altLang="zh-TW" spc="-20" dirty="0">
                <a:cs typeface="Arial" panose="020B0604020202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cs typeface="Arial" panose="020B0604020202020204" pitchFamily="34" charset="0"/>
              </a:rPr>
              <a:t>prt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() missing 1 required positional argument: </a:t>
            </a:r>
            <a:r>
              <a:rPr lang="en-US" altLang="zh-TW" spc="-30" dirty="0">
                <a:solidFill>
                  <a:srgbClr val="FF0000"/>
                </a:solidFill>
                <a:cs typeface="Arial" panose="020B0604020202020204" pitchFamily="34" charset="0"/>
              </a:rPr>
              <a:t>'se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lf'</a:t>
            </a: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334000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Times New Roman" charset="0"/>
              </a:rPr>
              <a:t>Q: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231007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">
        <p:cut/>
      </p:transition>
    </mc:Choice>
    <mc:Fallback xmlns="">
      <p:transition advClick="0" advTm="300">
        <p:cut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972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zh-TW" dirty="0"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3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 File "&lt;</a:t>
            </a: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stdin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>
              <a:lnSpc>
                <a:spcPct val="83000"/>
              </a:lnSpc>
            </a:pPr>
            <a:r>
              <a:rPr lang="en-US" altLang="zh-TW" spc="-20" dirty="0" err="1">
                <a:solidFill>
                  <a:srgbClr val="FF9797"/>
                </a:solidFill>
                <a:cs typeface="Arial" panose="020B0604020202020204" pitchFamily="34" charset="0"/>
              </a:rPr>
              <a:t>TypeError</a:t>
            </a:r>
            <a:r>
              <a:rPr lang="en-US" altLang="zh-TW" spc="-20" dirty="0">
                <a:solidFill>
                  <a:srgbClr val="FF9797"/>
                </a:solidFill>
                <a:cs typeface="Arial" panose="020B0604020202020204" pitchFamily="34" charset="0"/>
              </a:rPr>
              <a:t>:</a:t>
            </a:r>
            <a:r>
              <a:rPr lang="en-US" altLang="zh-TW" spc="-20" dirty="0">
                <a:cs typeface="Arial" panose="020B0604020202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cs typeface="Arial" panose="020B0604020202020204" pitchFamily="34" charset="0"/>
              </a:rPr>
              <a:t>prt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() missing 1 required positional argument: </a:t>
            </a:r>
            <a:r>
              <a:rPr lang="en-US" altLang="zh-TW" spc="-30" dirty="0">
                <a:solidFill>
                  <a:srgbClr val="FF0000"/>
                </a:solidFill>
                <a:cs typeface="Arial" panose="020B0604020202020204" pitchFamily="34" charset="0"/>
              </a:rPr>
              <a:t>'se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lf'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029200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Times New Roman" charset="0"/>
              </a:rPr>
              <a:t>Q: Can we do this?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495801" y="5656007"/>
            <a:ext cx="4501700" cy="592393"/>
          </a:xfrm>
          <a:prstGeom prst="wedgeRoundRectCallout">
            <a:avLst>
              <a:gd name="adj1" fmla="val -86712"/>
              <a:gd name="adj2" fmla="val -80657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Times New Roman" charset="0"/>
              </a:rPr>
              <a:t>A: No, we need an object.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791200" y="3886200"/>
            <a:ext cx="3200400" cy="914400"/>
          </a:xfrm>
          <a:prstGeom prst="wedgeRoundRectCallout">
            <a:avLst>
              <a:gd name="adj1" fmla="val -68156"/>
              <a:gd name="adj2" fmla="val 52320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B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ut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this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on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di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d</a:t>
            </a:r>
            <a:r>
              <a:rPr kumimoji="0" lang="en-US" sz="3200" b="0" i="0" u="none" strike="noStrike" cap="none" spc="-5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n</a:t>
            </a:r>
            <a:r>
              <a:rPr kumimoji="0" lang="en-US" sz="3200" b="0" i="0" u="none" strike="noStrike" cap="none" spc="-2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’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t</a:t>
            </a:r>
            <a:b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</a:b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need an object.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76200" y="3733800"/>
            <a:ext cx="3352800" cy="914400"/>
          </a:xfrm>
          <a:prstGeom prst="wedgeRoundRectCallout">
            <a:avLst>
              <a:gd name="adj1" fmla="val 64693"/>
              <a:gd name="adj2" fmla="val 63256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B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ecause 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t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he object was given already.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6200" y="2743200"/>
            <a:ext cx="3352800" cy="914400"/>
          </a:xfrm>
          <a:prstGeom prst="wedgeRoundRectCallout">
            <a:avLst>
              <a:gd name="adj1" fmla="val 57135"/>
              <a:gd name="adj2" fmla="val -247587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kumimoji="0" lang="en-US" sz="3200" b="0" i="0" u="none" strike="noStrike" cap="none" spc="-2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S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o</a:t>
            </a:r>
            <a:r>
              <a:rPr kumimoji="0" lang="en-US" sz="24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t</a:t>
            </a:r>
            <a:r>
              <a:rPr kumimoji="0" lang="en-US" sz="3200" b="0" i="0" u="none" strike="noStrike" cap="none" spc="-6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h</a:t>
            </a: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a</a:t>
            </a:r>
            <a:r>
              <a:rPr kumimoji="0" lang="en-US" sz="3200" b="0" i="0" u="none" strike="noStrike" cap="none" spc="-2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t’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s t</a:t>
            </a:r>
            <a:r>
              <a:rPr kumimoji="0" lang="en-US" sz="3200" b="0" i="0" u="none" strike="noStrike" cap="none" spc="-16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h</a:t>
            </a:r>
            <a:r>
              <a:rPr kumimoji="0" lang="en-US" sz="3200" b="0" i="0" u="none" strike="noStrike" cap="none" spc="-6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e </a:t>
            </a:r>
            <a:r>
              <a:rPr kumimoji="0" lang="en-US" sz="3200" b="0" i="0" u="none" strike="noStrike" cap="none" spc="-16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lo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g</a:t>
            </a:r>
            <a:r>
              <a:rPr kumimoji="0" lang="en-US" sz="3200" b="0" i="0" u="none" strike="noStrike" cap="none" spc="-6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i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c</a:t>
            </a:r>
            <a:r>
              <a:rPr kumimoji="0" lang="en-US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lang="en-US" sz="3200" spc="-300" dirty="0">
                <a:solidFill>
                  <a:srgbClr val="7030A0"/>
                </a:solidFill>
                <a:latin typeface="Times New Roman" charset="0"/>
              </a:rPr>
              <a:t>o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f</a:t>
            </a:r>
            <a:b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</a:br>
            <a:r>
              <a:rPr kumimoji="0" lang="en-US" sz="3200" b="0" i="0" u="none" strike="noStrike" cap="none" spc="-8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w</a:t>
            </a:r>
            <a:r>
              <a:rPr kumimoji="0" lang="en-US" sz="3200" b="0" i="0" u="none" strike="noStrike" cap="none" spc="-2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h</a:t>
            </a:r>
            <a:r>
              <a:rPr kumimoji="0" lang="en-US" sz="3200" b="0" i="0" u="none" strike="noStrike" cap="none" spc="-17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y we</a:t>
            </a:r>
            <a:r>
              <a:rPr kumimoji="0" lang="en-US" sz="2800" b="0" i="0" u="none" strike="noStrike" cap="none" spc="-17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8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call</a:t>
            </a:r>
            <a:r>
              <a:rPr kumimoji="0" lang="en-US" sz="2800" b="0" i="0" u="none" strike="noStrike" cap="none" spc="-8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it</a:t>
            </a:r>
            <a:r>
              <a:rPr kumimoji="0" lang="en-US" sz="2800" b="0" i="0" u="none" strike="noStrike" cap="none" spc="-7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2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‘</a:t>
            </a:r>
            <a:r>
              <a:rPr kumimoji="0" lang="en-US" sz="3200" b="0" i="0" u="none" strike="noStrike" cap="none" spc="-3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‘</a:t>
            </a:r>
            <a:r>
              <a:rPr kumimoji="0" lang="en-US" sz="3200" b="0" i="0" u="none" strike="noStrike" cap="none" spc="-7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s</a:t>
            </a:r>
            <a:r>
              <a:rPr kumimoji="0" lang="en-US" sz="3200" b="0" i="0" u="none" strike="noStrike" cap="none" spc="-14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e</a:t>
            </a:r>
            <a:r>
              <a:rPr kumimoji="0" lang="en-US" sz="3200" b="0" i="0" u="none" strike="noStrike" cap="none" spc="-7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l</a:t>
            </a:r>
            <a:r>
              <a:rPr kumimoji="0" lang="en-US" sz="3200" b="0" i="0" u="none" strike="noStrike" cap="none" spc="-1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f</a:t>
            </a:r>
            <a:r>
              <a:rPr lang="en-US" sz="3200" spc="-300" dirty="0">
                <a:solidFill>
                  <a:srgbClr val="7030A0"/>
                </a:solidFill>
                <a:latin typeface="Times New Roman" charset="0"/>
              </a:rPr>
              <a:t>’</a:t>
            </a:r>
            <a:r>
              <a:rPr lang="en-US" sz="3200" spc="-500" dirty="0">
                <a:solidFill>
                  <a:srgbClr val="7030A0"/>
                </a:solidFill>
                <a:latin typeface="Times New Roman" charset="0"/>
              </a:rPr>
              <a:t>’</a:t>
            </a:r>
            <a:r>
              <a:rPr kumimoji="0" lang="en-US" sz="3200" b="0" i="0" u="none" strike="noStrike" cap="none" spc="-10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960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3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Scope.prt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latin typeface="Lucida Console" panose="020B0609040504020204" pitchFamily="49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047488"/>
            <a:ext cx="3440799" cy="592393"/>
          </a:xfrm>
          <a:prstGeom prst="wedgeRoundRectCallout">
            <a:avLst>
              <a:gd name="adj1" fmla="val -103508"/>
              <a:gd name="adj2" fmla="val 2050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Times New Roman" charset="0"/>
              </a:rPr>
              <a:t>Q: Can we do this?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562600" y="5884607"/>
            <a:ext cx="3440799" cy="820993"/>
          </a:xfrm>
          <a:prstGeom prst="wedgeRoundRectCallout">
            <a:avLst>
              <a:gd name="adj1" fmla="val -114511"/>
              <a:gd name="adj2" fmla="val -92115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t" anchorCtr="0" compatLnSpc="1">
            <a:prstTxWarp prst="textNoShape">
              <a:avLst/>
            </a:prstTxWarp>
          </a:bodyPr>
          <a:lstStyle/>
          <a:p>
            <a:pPr marL="514350" marR="0" indent="-51435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A: Yes, because we gave an object.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Times New Roman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5276088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1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06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X.m</a:t>
            </a:r>
            <a:r>
              <a:rPr lang="en-US" altLang="zh-TW" dirty="0">
                <a:latin typeface="Lucida Console" panose="020B0609040504020204" pitchFamily="49" charset="0"/>
              </a:rPr>
              <a:t>();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276088"/>
            <a:ext cx="762000" cy="413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709100" y="4495800"/>
            <a:ext cx="3282500" cy="592393"/>
          </a:xfrm>
          <a:prstGeom prst="wedgeRoundRectCallout">
            <a:avLst>
              <a:gd name="adj1" fmla="val -114199"/>
              <a:gd name="adj2" fmla="val 103078"/>
              <a:gd name="adj3" fmla="val 16667"/>
            </a:avLst>
          </a:prstGeom>
          <a:solidFill>
            <a:srgbClr val="FFCCCC"/>
          </a:solidFill>
          <a:ln w="9525" cap="flat" cmpd="sng" algn="ctr">
            <a:solidFill>
              <a:srgbClr val="D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Q: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Wha</a:t>
            </a:r>
            <a:r>
              <a:rPr kumimoji="0" lang="en-US" sz="3200" b="0" i="0" u="none" strike="noStrike" cap="none" spc="-150" normalizeH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t’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ll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this d</a:t>
            </a: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o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?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114800" y="245808"/>
            <a:ext cx="2977700" cy="575186"/>
          </a:xfrm>
          <a:prstGeom prst="wedgeRoundRectCallout">
            <a:avLst>
              <a:gd name="adj1" fmla="val -75025"/>
              <a:gd name="adj2" fmla="val 191110"/>
              <a:gd name="adj3" fmla="val 16667"/>
            </a:avLst>
          </a:prstGeom>
          <a:solidFill>
            <a:srgbClr val="FFCCCC"/>
          </a:solidFill>
          <a:ln w="9525" cap="flat" cmpd="sng" algn="ctr">
            <a:solidFill>
              <a:srgbClr val="D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A: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It changes thi</a:t>
            </a:r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s.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DC0000"/>
              </a:solidFill>
              <a:effectLst/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162800" y="228600"/>
            <a:ext cx="1981200" cy="592393"/>
          </a:xfrm>
          <a:prstGeom prst="wedgeRoundRectCallout">
            <a:avLst>
              <a:gd name="adj1" fmla="val -97213"/>
              <a:gd name="adj2" fmla="val 189904"/>
              <a:gd name="adj3" fmla="val 16667"/>
            </a:avLst>
          </a:prstGeom>
          <a:solidFill>
            <a:srgbClr val="FFCCCC"/>
          </a:solidFill>
          <a:ln w="9525" cap="flat" cmpd="sng" algn="ctr">
            <a:solidFill>
              <a:srgbClr val="D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150" normalizeH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A: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And thi</a:t>
            </a:r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s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DC0000"/>
                </a:solidFill>
                <a:effectLst/>
                <a:latin typeface="Times New Roman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4251" y="5238690"/>
            <a:ext cx="2044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638800" y="5884607"/>
            <a:ext cx="3282500" cy="820993"/>
          </a:xfrm>
          <a:prstGeom prst="wedgeRoundRectCallout">
            <a:avLst>
              <a:gd name="adj1" fmla="val -73906"/>
              <a:gd name="adj2" fmla="val -89844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9144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-3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Q: Did changing</a:t>
            </a:r>
            <a:r>
              <a:rPr kumimoji="0" lang="en-US" sz="2800" b="0" i="0" u="none" strike="noStrike" cap="none" spc="-3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3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X</a:t>
            </a:r>
            <a:br>
              <a:rPr kumimoji="0" lang="en-US" sz="3200" b="0" i="0" u="none" strike="noStrike" cap="none" spc="-3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</a:b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    </a:t>
            </a:r>
            <a:r>
              <a:rPr kumimoji="0" lang="en-US" sz="16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 </a:t>
            </a: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also change </a:t>
            </a:r>
            <a:r>
              <a:rPr kumimoji="0" lang="en-US" sz="3200" b="0" i="0" u="none" strike="noStrike" cap="none" spc="-100" normalizeH="0" dirty="0" err="1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inst</a:t>
            </a:r>
            <a:r>
              <a:rPr kumimoji="0" lang="en-US" sz="3200" b="0" i="0" u="none" strike="noStrike" cap="none" spc="-100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?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0" y="2127095"/>
            <a:ext cx="4044500" cy="2063905"/>
            <a:chOff x="0" y="2127095"/>
            <a:chExt cx="4044500" cy="2063905"/>
          </a:xfrm>
        </p:grpSpPr>
        <p:sp>
          <p:nvSpPr>
            <p:cNvPr id="2" name="Isosceles Triangle 1"/>
            <p:cNvSpPr/>
            <p:nvPr/>
          </p:nvSpPr>
          <p:spPr bwMode="auto">
            <a:xfrm rot="9519822">
              <a:off x="935422" y="2231264"/>
              <a:ext cx="2231891" cy="1282523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1" name="Rounded Rectangular Callout 10"/>
            <p:cNvSpPr/>
            <p:nvPr/>
          </p:nvSpPr>
          <p:spPr bwMode="auto">
            <a:xfrm>
              <a:off x="0" y="2625214"/>
              <a:ext cx="4044500" cy="1565786"/>
            </a:xfrm>
            <a:prstGeom prst="wedgeRoundRectCallout">
              <a:avLst>
                <a:gd name="adj1" fmla="val -11236"/>
                <a:gd name="adj2" fmla="val -50306"/>
                <a:gd name="adj3" fmla="val 16667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75000"/>
                </a:lnSpc>
              </a:pP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A: </a:t>
              </a: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Times New Roman" charset="0"/>
                </a:rPr>
                <a:t>It didn’t change </a:t>
              </a: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latin typeface="Times New Roman" charset="0"/>
                </a:rPr>
                <a:t>thi</a:t>
              </a:r>
              <a:r>
                <a:rPr lang="en-US" sz="3200" spc="-150" dirty="0">
                  <a:solidFill>
                    <a:srgbClr val="00B0F0"/>
                  </a:solidFill>
                  <a:latin typeface="Times New Roman" charset="0"/>
                </a:rPr>
                <a:t>s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, since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i</a:t>
              </a:r>
              <a:r>
                <a:rPr lang="en-US" sz="3200" spc="-220" dirty="0">
                  <a:solidFill>
                    <a:srgbClr val="7030A0"/>
                  </a:solidFill>
                  <a:latin typeface="Times New Roman" charset="0"/>
                </a:rPr>
                <a:t>t’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s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an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object variable (and X &amp; </a:t>
              </a:r>
              <a:r>
                <a:rPr lang="en-US" sz="3200" spc="-150" dirty="0" err="1">
                  <a:solidFill>
                    <a:srgbClr val="7030A0"/>
                  </a:solidFill>
                  <a:latin typeface="Times New Roman" charset="0"/>
                </a:rPr>
                <a:t>inst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 are different objects). X it</a:t>
              </a:r>
              <a:r>
                <a:rPr lang="en-US" sz="3200" i="1" spc="-150" dirty="0">
                  <a:solidFill>
                    <a:srgbClr val="7030A0"/>
                  </a:solidFill>
                  <a:latin typeface="Times New Roman" charset="0"/>
                </a:rPr>
                <a:t>self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 isn’t inst.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4" name="Isosceles Triangle 13"/>
            <p:cNvSpPr/>
            <p:nvPr/>
          </p:nvSpPr>
          <p:spPr bwMode="auto">
            <a:xfrm>
              <a:off x="821493" y="2127095"/>
              <a:ext cx="1425477" cy="539905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30" name="Rounded Rectangle 29"/>
          <p:cNvSpPr/>
          <p:nvPr/>
        </p:nvSpPr>
        <p:spPr bwMode="auto">
          <a:xfrm>
            <a:off x="2209800" y="4928954"/>
            <a:ext cx="483102" cy="1072775"/>
          </a:xfrm>
          <a:prstGeom prst="roundRect">
            <a:avLst>
              <a:gd name="adj" fmla="val 43957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202698" y="4928954"/>
            <a:ext cx="483102" cy="1072775"/>
          </a:xfrm>
          <a:prstGeom prst="roundRect">
            <a:avLst>
              <a:gd name="adj" fmla="val 43957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52400" y="2590194"/>
            <a:ext cx="5715001" cy="5650444"/>
            <a:chOff x="152400" y="2590194"/>
            <a:chExt cx="5715001" cy="5650444"/>
          </a:xfrm>
        </p:grpSpPr>
        <p:sp>
          <p:nvSpPr>
            <p:cNvPr id="16" name="Arc 15"/>
            <p:cNvSpPr/>
            <p:nvPr/>
          </p:nvSpPr>
          <p:spPr bwMode="auto">
            <a:xfrm rot="2617116">
              <a:off x="2777894" y="2590194"/>
              <a:ext cx="1413950" cy="2433716"/>
            </a:xfrm>
            <a:prstGeom prst="arc">
              <a:avLst>
                <a:gd name="adj1" fmla="val 14706802"/>
                <a:gd name="adj2" fmla="val 4317096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8" name="Arc 17"/>
            <p:cNvSpPr/>
            <p:nvPr/>
          </p:nvSpPr>
          <p:spPr bwMode="auto">
            <a:xfrm rot="16200000">
              <a:off x="1293507" y="3666744"/>
              <a:ext cx="3432787" cy="5715001"/>
            </a:xfrm>
            <a:prstGeom prst="arc">
              <a:avLst>
                <a:gd name="adj1" fmla="val 17404637"/>
                <a:gd name="adj2" fmla="val 10488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 flipH="1">
            <a:off x="5591255" y="2203295"/>
            <a:ext cx="3324145" cy="2063905"/>
            <a:chOff x="186955" y="2127095"/>
            <a:chExt cx="3324145" cy="2063905"/>
          </a:xfrm>
        </p:grpSpPr>
        <p:sp>
          <p:nvSpPr>
            <p:cNvPr id="22" name="Isosceles Triangle 21"/>
            <p:cNvSpPr/>
            <p:nvPr/>
          </p:nvSpPr>
          <p:spPr bwMode="auto">
            <a:xfrm rot="9519822">
              <a:off x="935422" y="2231264"/>
              <a:ext cx="2231891" cy="1282523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3" name="Rounded Rectangular Callout 22"/>
            <p:cNvSpPr/>
            <p:nvPr/>
          </p:nvSpPr>
          <p:spPr bwMode="auto">
            <a:xfrm flipH="1">
              <a:off x="186955" y="2625214"/>
              <a:ext cx="3324145" cy="1565786"/>
            </a:xfrm>
            <a:prstGeom prst="wedgeRoundRectCallout">
              <a:avLst>
                <a:gd name="adj1" fmla="val -11236"/>
                <a:gd name="adj2" fmla="val -50306"/>
                <a:gd name="adj3" fmla="val 16667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75000"/>
                </a:lnSpc>
              </a:pP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A: </a:t>
              </a: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Times New Roman" charset="0"/>
                </a:rPr>
                <a:t>It </a:t>
              </a:r>
              <a:r>
                <a:rPr kumimoji="0" lang="en-US" sz="3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Times New Roman" charset="0"/>
                </a:rPr>
                <a:t>did</a:t>
              </a: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Times New Roman" charset="0"/>
                </a:rPr>
                <a:t> change</a:t>
              </a:r>
              <a:b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Times New Roman" charset="0"/>
                </a:rPr>
              </a:b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latin typeface="Times New Roman" charset="0"/>
                </a:rPr>
                <a:t>thi</a:t>
              </a:r>
              <a:r>
                <a:rPr lang="en-US" sz="3200" spc="-150" dirty="0">
                  <a:solidFill>
                    <a:srgbClr val="00B0F0"/>
                  </a:solidFill>
                  <a:latin typeface="Times New Roman" charset="0"/>
                </a:rPr>
                <a:t>s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, since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i</a:t>
              </a:r>
              <a:r>
                <a:rPr lang="en-US" sz="3200" spc="-220" dirty="0">
                  <a:solidFill>
                    <a:srgbClr val="7030A0"/>
                  </a:solidFill>
                  <a:latin typeface="Times New Roman" charset="0"/>
                </a:rPr>
                <a:t>t’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s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class </a:t>
              </a:r>
            </a:p>
            <a:p>
              <a:pPr>
                <a:lnSpc>
                  <a:spcPct val="75000"/>
                </a:lnSpc>
              </a:pP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attribute (and</a:t>
              </a:r>
              <a:r>
                <a:rPr lang="en-US" sz="3200" spc="-350" dirty="0">
                  <a:solidFill>
                    <a:srgbClr val="7030A0"/>
                  </a:solidFill>
                  <a:latin typeface="Times New Roman" charset="0"/>
                </a:rPr>
                <a:t> X &amp; </a:t>
              </a:r>
              <a:r>
                <a:rPr lang="en-US" sz="3200" spc="-150" dirty="0" err="1">
                  <a:solidFill>
                    <a:srgbClr val="7030A0"/>
                  </a:solidFill>
                  <a:latin typeface="Times New Roman" charset="0"/>
                </a:rPr>
                <a:t>inst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b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</a:b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are the same class).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4" name="Isosceles Triangle 23"/>
            <p:cNvSpPr/>
            <p:nvPr/>
          </p:nvSpPr>
          <p:spPr bwMode="auto">
            <a:xfrm>
              <a:off x="821493" y="2127095"/>
              <a:ext cx="1425477" cy="539905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905000" y="2430236"/>
            <a:ext cx="7162799" cy="6104164"/>
            <a:chOff x="1981201" y="2430236"/>
            <a:chExt cx="7162799" cy="6104164"/>
          </a:xfrm>
        </p:grpSpPr>
        <p:sp>
          <p:nvSpPr>
            <p:cNvPr id="26" name="Arc 25"/>
            <p:cNvSpPr/>
            <p:nvPr/>
          </p:nvSpPr>
          <p:spPr bwMode="auto">
            <a:xfrm rot="2617116">
              <a:off x="3385050" y="2430236"/>
              <a:ext cx="1437216" cy="3098686"/>
            </a:xfrm>
            <a:prstGeom prst="arc">
              <a:avLst>
                <a:gd name="adj1" fmla="val 19115985"/>
                <a:gd name="adj2" fmla="val 4264836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7" name="Arc 26"/>
            <p:cNvSpPr/>
            <p:nvPr/>
          </p:nvSpPr>
          <p:spPr bwMode="auto">
            <a:xfrm rot="16200000">
              <a:off x="2482904" y="4599910"/>
              <a:ext cx="3432787" cy="4436193"/>
            </a:xfrm>
            <a:prstGeom prst="arc">
              <a:avLst>
                <a:gd name="adj1" fmla="val 18337968"/>
                <a:gd name="adj2" fmla="val 20324037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8" name="Arc 27"/>
            <p:cNvSpPr/>
            <p:nvPr/>
          </p:nvSpPr>
          <p:spPr bwMode="auto">
            <a:xfrm rot="16200000">
              <a:off x="5215976" y="2628964"/>
              <a:ext cx="3419856" cy="4436193"/>
            </a:xfrm>
            <a:prstGeom prst="arc">
              <a:avLst>
                <a:gd name="adj1" fmla="val 17579265"/>
                <a:gd name="adj2" fmla="val 19275034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80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  <p:bldP spid="8" grpId="1"/>
      <p:bldP spid="9" grpId="0" animBg="1"/>
      <p:bldP spid="9" grpId="1" animBg="1"/>
      <p:bldP spid="10" grpId="0"/>
      <p:bldP spid="30" grpId="0" animBg="1"/>
      <p:bldP spid="30" grpId="1" animBg="1"/>
      <p:bldP spid="33" grpId="0" animBg="1"/>
      <p:bldP spid="33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0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X.m</a:t>
            </a:r>
            <a:r>
              <a:rPr lang="en-US" altLang="zh-TW" dirty="0">
                <a:latin typeface="Lucida Console" panose="020B0609040504020204" pitchFamily="49" charset="0"/>
              </a:rPr>
              <a:t>(); 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 err="1">
                <a:latin typeface="Lucida Console" panose="020B0609040504020204" pitchFamily="49" charset="0"/>
              </a:rPr>
              <a:t>.pr</a:t>
            </a:r>
            <a:r>
              <a:rPr lang="en-US" altLang="zh-TW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  <a:r>
              <a:rPr lang="en-US" altLang="zh-TW" dirty="0">
                <a:solidFill>
                  <a:srgbClr val="FF0000"/>
                </a:solidFill>
                <a:latin typeface="+mj-ea"/>
                <a:ea typeface="+mj-ea"/>
              </a:rPr>
              <a:t>#</a:t>
            </a:r>
            <a:r>
              <a:rPr lang="en-US" altLang="zh-TW" spc="-100" dirty="0">
                <a:solidFill>
                  <a:srgbClr val="FF0000"/>
                </a:solidFill>
                <a:latin typeface="+mj-ea"/>
                <a:ea typeface="+mj-ea"/>
              </a:rPr>
              <a:t>New </a:t>
            </a:r>
            <a:r>
              <a:rPr lang="en-US" altLang="zh-TW" dirty="0">
                <a:solidFill>
                  <a:srgbClr val="FF0000"/>
                </a:solidFill>
                <a:latin typeface="+mj-ea"/>
                <a:ea typeface="+mj-ea"/>
              </a:rPr>
              <a:t>instanc</a:t>
            </a:r>
            <a:r>
              <a:rPr lang="en-US" altLang="zh-TW" spc="-50" dirty="0">
                <a:solidFill>
                  <a:srgbClr val="FF0000"/>
                </a:solidFill>
                <a:latin typeface="+mj-ea"/>
                <a:ea typeface="+mj-ea"/>
              </a:rPr>
              <a:t>es now </a:t>
            </a:r>
            <a:r>
              <a:rPr lang="en-US" altLang="zh-TW" dirty="0">
                <a:solidFill>
                  <a:srgbClr val="FF0000"/>
                </a:solidFill>
                <a:latin typeface="+mj-ea"/>
                <a:ea typeface="+mj-ea"/>
              </a:rPr>
              <a:t>start with attr3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latin typeface="Lucida Console" panose="020B0609040504020204" pitchFamily="49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276088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50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1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 is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latin typeface="Lucida Console" panose="020B0609040504020204" pitchFamily="49" charset="0"/>
              </a:rPr>
              <a:t>True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 err="1">
                <a:latin typeface="Lucida Console" panose="020B0609040504020204" pitchFamily="49" charset="0"/>
              </a:rPr>
              <a:t>.m</a:t>
            </a:r>
            <a:r>
              <a:rPr lang="en-US" altLang="zh-TW" dirty="0">
                <a:latin typeface="Lucida Console" panose="020B0609040504020204" pitchFamily="49" charset="0"/>
              </a:rPr>
              <a:t>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#If a really is b, then a’s attr1 will change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#a.attr1 has changed to -10. So a really is b.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latin typeface="Lucida Console" panose="020B0609040504020204" pitchFamily="49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285232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9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3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latin typeface="Lucida Console" panose="020B0609040504020204" pitchFamily="49" charset="0"/>
              </a:rPr>
              <a:t>=Scope();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 is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latin typeface="Lucida Console" panose="020B0609040504020204" pitchFamily="49" charset="0"/>
              </a:rPr>
              <a:t>True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.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b="1" dirty="0">
                <a:solidFill>
                  <a:srgbClr val="7030A0"/>
                </a:solidFill>
              </a:rPr>
              <a:t> ☺ </a:t>
            </a:r>
            <a:r>
              <a:rPr lang="en-US" altLang="zh-TW" dirty="0">
                <a:latin typeface="Lucida Console" panose="020B0609040504020204" pitchFamily="49" charset="0"/>
              </a:rPr>
              <a:t>";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b="1" dirty="0">
                <a:solidFill>
                  <a:srgbClr val="7030A0"/>
                </a:solidFill>
              </a:rPr>
              <a:t>☺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4236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3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latin typeface="Lucida Console" panose="020B0609040504020204" pitchFamily="49" charset="0"/>
              </a:rPr>
              <a:t>(object):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    print("</a:t>
            </a:r>
            <a:r>
              <a:rPr lang="en-US" altLang="zh-TW" dirty="0" err="1">
                <a:latin typeface="Lucida Console" panose="020B0609040504020204" pitchFamily="49" charset="0"/>
              </a:rPr>
              <a:t>NO",end</a:t>
            </a:r>
            <a:r>
              <a:rPr lang="en-US" altLang="zh-TW" dirty="0"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=Scope();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latin typeface="Lucida Console" panose="020B0609040504020204" pitchFamily="49" charset="0"/>
              </a:rPr>
              <a:t>=Scope();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latin typeface="Lucida Console" panose="020B0609040504020204" pitchFamily="49" charset="0"/>
              </a:rPr>
              <a:t>.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attr3</a:t>
            </a:r>
            <a:r>
              <a:rPr lang="en-US" altLang="zh-TW" dirty="0">
                <a:latin typeface="Lucida Console" panose="020B0609040504020204" pitchFamily="49" charset="0"/>
              </a:rPr>
              <a:t>=0;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latin typeface="Lucida Console" panose="020B0609040504020204" pitchFamily="49" charset="0"/>
              </a:rPr>
              <a:t>.m();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-10 20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20 30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a.attr1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a.attr2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a.attr3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#t</a:t>
            </a:r>
            <a:r>
              <a:rPr lang="en-US" altLang="zh-TW" spc="-20" dirty="0">
                <a:solidFill>
                  <a:srgbClr val="FF0000"/>
                </a:solidFill>
                <a:latin typeface="+mn-lt"/>
              </a:rPr>
              <a:t>his</a:t>
            </a:r>
            <a:r>
              <a:rPr lang="en-US" altLang="zh-TW" sz="2000" spc="-2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pc="-20" dirty="0">
                <a:solidFill>
                  <a:srgbClr val="FF0000"/>
                </a:solidFill>
                <a:latin typeface="+mn-lt"/>
              </a:rPr>
              <a:t>makes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pc="-20" dirty="0">
                <a:solidFill>
                  <a:srgbClr val="FF0000"/>
                </a:solidFill>
                <a:latin typeface="+mn-lt"/>
              </a:rPr>
              <a:t>sense: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7030A0"/>
                </a:solidFill>
                <a:latin typeface="Lucida Console" panose="020B0609040504020204" pitchFamily="49" charset="0"/>
              </a:rPr>
              <a:t>del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a.attr1</a:t>
            </a:r>
            <a:r>
              <a:rPr lang="en-US" altLang="zh-TW" dirty="0">
                <a:latin typeface="Lucida Console" panose="020B0609040504020204" pitchFamily="49" charset="0"/>
              </a:rPr>
              <a:t>;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Scope.attr4</a:t>
            </a:r>
            <a:r>
              <a:rPr lang="en-US" altLang="zh-TW" dirty="0"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99</a:t>
            </a:r>
            <a:r>
              <a:rPr lang="en-US" altLang="zh-TW" dirty="0">
                <a:latin typeface="Lucida Console" panose="020B0609040504020204" pitchFamily="49" charset="0"/>
              </a:rPr>
              <a:t>;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b.attr4</a:t>
            </a:r>
            <a:r>
              <a:rPr lang="en-US" altLang="zh-TW" dirty="0">
                <a:latin typeface="Lucida Console" panose="020B0609040504020204" pitchFamily="49" charset="0"/>
              </a:rPr>
              <a:t>+=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a.attr1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a.attr4</a:t>
            </a:r>
            <a:r>
              <a:rPr lang="en-US" altLang="zh-TW" dirty="0"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b.attr4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  <a:r>
              <a:rPr lang="en-US" altLang="zh-TW" dirty="0">
                <a:solidFill>
                  <a:srgbClr val="FF0000"/>
                </a:solidFill>
              </a:rPr>
              <a:t>#Try to guess this: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1 99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 100</a:t>
            </a:r>
          </a:p>
        </p:txBody>
      </p:sp>
    </p:spTree>
    <p:extLst>
      <p:ext uri="{BB962C8B-B14F-4D97-AF65-F5344CB8AC3E}">
        <p14:creationId xmlns:p14="http://schemas.microsoft.com/office/powerpoint/2010/main" val="8287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%</a:t>
            </a:r>
            <a:r>
              <a:rPr lang="en-US" altLang="en-US" dirty="0"/>
              <a:t> cat runaclass.py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b="1" dirty="0"/>
              <a:t>class Person(object):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</a:t>
            </a:r>
            <a:r>
              <a:rPr lang="en-US" altLang="en-US" dirty="0">
                <a:solidFill>
                  <a:schemeClr val="accent2"/>
                </a:solidFill>
              </a:rPr>
              <a:t>total </a:t>
            </a:r>
            <a:r>
              <a:rPr lang="en-US" altLang="en-US" dirty="0"/>
              <a:t>= 0  </a:t>
            </a:r>
            <a:r>
              <a:rPr lang="en-US" altLang="en-US" dirty="0">
                <a:solidFill>
                  <a:srgbClr val="FF0000"/>
                </a:solidFill>
              </a:rPr>
              <a:t># a class attribute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</a:t>
            </a:r>
            <a:r>
              <a:rPr lang="en-US" altLang="en-US" dirty="0" err="1"/>
              <a:t>def</a:t>
            </a:r>
            <a:r>
              <a:rPr lang="en-US" altLang="en-US" dirty="0"/>
              <a:t> __</a:t>
            </a:r>
            <a:r>
              <a:rPr lang="en-US" altLang="en-US" dirty="0" err="1"/>
              <a:t>init</a:t>
            </a:r>
            <a:r>
              <a:rPr lang="en-US" altLang="en-US" dirty="0"/>
              <a:t>__(</a:t>
            </a:r>
            <a:r>
              <a:rPr lang="en-US" altLang="en-US" dirty="0" err="1"/>
              <a:t>self,name</a:t>
            </a:r>
            <a:r>
              <a:rPr lang="en-US" altLang="en-US" dirty="0"/>
              <a:t>="</a:t>
            </a:r>
            <a:r>
              <a:rPr lang="en-US" altLang="en-US" dirty="0" err="1"/>
              <a:t>Tom",age</a:t>
            </a:r>
            <a:r>
              <a:rPr lang="en-US" altLang="en-US" dirty="0"/>
              <a:t>=19,location="Kaohsiung"):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     self.</a:t>
            </a:r>
            <a:r>
              <a:rPr lang="en-US" altLang="en-US" dirty="0">
                <a:solidFill>
                  <a:schemeClr val="accent2"/>
                </a:solidFill>
              </a:rPr>
              <a:t>name</a:t>
            </a:r>
            <a:r>
              <a:rPr lang="en-US" altLang="en-US" dirty="0"/>
              <a:t> = name        </a:t>
            </a:r>
            <a:r>
              <a:rPr lang="en-US" altLang="en-US" dirty="0">
                <a:solidFill>
                  <a:srgbClr val="FF0000"/>
                </a:solidFill>
              </a:rPr>
              <a:t># an object attribute</a:t>
            </a:r>
            <a:endParaRPr lang="en-US" altLang="en-US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     </a:t>
            </a:r>
            <a:r>
              <a:rPr lang="en-US" altLang="en-US" dirty="0" err="1"/>
              <a:t>self.</a:t>
            </a:r>
            <a:r>
              <a:rPr lang="en-US" altLang="en-US" dirty="0" err="1">
                <a:solidFill>
                  <a:schemeClr val="accent2"/>
                </a:solidFill>
              </a:rPr>
              <a:t>age</a:t>
            </a:r>
            <a:r>
              <a:rPr lang="en-US" altLang="en-US" dirty="0"/>
              <a:t> = age</a:t>
            </a:r>
            <a:r>
              <a:rPr lang="en-US" altLang="en-US" dirty="0">
                <a:solidFill>
                  <a:srgbClr val="FF0000"/>
                </a:solidFill>
              </a:rPr>
              <a:t>              # an object attribute</a:t>
            </a:r>
            <a:endParaRPr lang="en-US" altLang="en-US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     </a:t>
            </a:r>
            <a:r>
              <a:rPr lang="en-US" altLang="en-US" dirty="0" err="1"/>
              <a:t>self.</a:t>
            </a:r>
            <a:r>
              <a:rPr lang="en-US" altLang="en-US" dirty="0" err="1">
                <a:solidFill>
                  <a:schemeClr val="accent2"/>
                </a:solidFill>
              </a:rPr>
              <a:t>location</a:t>
            </a:r>
            <a:r>
              <a:rPr lang="en-US" altLang="en-US" dirty="0"/>
              <a:t> = location </a:t>
            </a:r>
            <a:r>
              <a:rPr lang="en-US" altLang="en-US" dirty="0">
                <a:solidFill>
                  <a:srgbClr val="FF0000"/>
                </a:solidFill>
              </a:rPr>
              <a:t># an object attribute</a:t>
            </a:r>
            <a:endParaRPr lang="en-US" altLang="en-US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     </a:t>
            </a:r>
            <a:r>
              <a:rPr lang="en-US" altLang="en-US" dirty="0" err="1"/>
              <a:t>Person.</a:t>
            </a:r>
            <a:r>
              <a:rPr lang="en-US" altLang="en-US" dirty="0" err="1">
                <a:solidFill>
                  <a:schemeClr val="accent2"/>
                </a:solidFill>
              </a:rPr>
              <a:t>total</a:t>
            </a:r>
            <a:r>
              <a:rPr lang="en-US" altLang="en-US" dirty="0"/>
              <a:t> += 1         </a:t>
            </a:r>
            <a:r>
              <a:rPr lang="en-US" altLang="en-US" dirty="0">
                <a:solidFill>
                  <a:srgbClr val="FF0000"/>
                </a:solidFill>
              </a:rPr>
              <a:t># updates the class attribute</a:t>
            </a:r>
            <a:endParaRPr lang="en-US" altLang="en-US" sz="1400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</a:t>
            </a:r>
            <a:r>
              <a:rPr lang="en-US" altLang="en-US" dirty="0" err="1">
                <a:solidFill>
                  <a:srgbClr val="00B050"/>
                </a:solidFill>
              </a:rPr>
              <a:t>def</a:t>
            </a:r>
            <a:r>
              <a:rPr lang="en-US" altLang="en-US" dirty="0">
                <a:solidFill>
                  <a:srgbClr val="00B050"/>
                </a:solidFill>
              </a:rPr>
              <a:t> talk(self):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     print ("I'm", self.name, "and I'm", </a:t>
            </a:r>
            <a:r>
              <a:rPr lang="en-US" altLang="en-US" dirty="0" err="1"/>
              <a:t>self.age</a:t>
            </a:r>
            <a:r>
              <a:rPr lang="en-US" altLang="en-US" dirty="0"/>
              <a:t>, "years old")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</a:t>
            </a:r>
            <a:r>
              <a:rPr lang="en-US" altLang="en-US" dirty="0" err="1">
                <a:solidFill>
                  <a:srgbClr val="00B050"/>
                </a:solidFill>
              </a:rPr>
              <a:t>def</a:t>
            </a:r>
            <a:r>
              <a:rPr lang="en-US" altLang="en-US" dirty="0">
                <a:solidFill>
                  <a:srgbClr val="00B050"/>
                </a:solidFill>
              </a:rPr>
              <a:t> __</a:t>
            </a:r>
            <a:r>
              <a:rPr lang="en-US" altLang="en-US" dirty="0" err="1">
                <a:solidFill>
                  <a:srgbClr val="00B050"/>
                </a:solidFill>
              </a:rPr>
              <a:t>str</a:t>
            </a:r>
            <a:r>
              <a:rPr lang="en-US" altLang="en-US" dirty="0">
                <a:solidFill>
                  <a:srgbClr val="00B050"/>
                </a:solidFill>
              </a:rPr>
              <a:t>__(self):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         return("I'm "+self.name+" and I live in "+</a:t>
            </a:r>
            <a:r>
              <a:rPr lang="en-US" altLang="en-US" dirty="0" err="1"/>
              <a:t>str</a:t>
            </a:r>
            <a:r>
              <a:rPr lang="en-US" altLang="en-US" dirty="0"/>
              <a:t>(</a:t>
            </a:r>
            <a:r>
              <a:rPr lang="en-US" altLang="en-US" dirty="0" err="1"/>
              <a:t>self.location</a:t>
            </a:r>
            <a:r>
              <a:rPr lang="en-US" altLang="en-US" dirty="0"/>
              <a:t>))</a:t>
            </a:r>
            <a:endParaRPr lang="en-US" altLang="en-US" sz="1400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("\</a:t>
            </a:r>
            <a:r>
              <a:rPr lang="en-US" altLang="en-US" dirty="0" err="1"/>
              <a:t>nBefore</a:t>
            </a:r>
            <a:r>
              <a:rPr lang="en-US" altLang="en-US" dirty="0"/>
              <a:t> creating instances: </a:t>
            </a:r>
            <a:r>
              <a:rPr lang="en-US" altLang="en-US" dirty="0" err="1"/>
              <a:t>Person.total</a:t>
            </a:r>
            <a:r>
              <a:rPr lang="en-US" altLang="en-US" dirty="0"/>
              <a:t>=", </a:t>
            </a:r>
            <a:r>
              <a:rPr lang="en-US" altLang="en-US" dirty="0" err="1"/>
              <a:t>Person.total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aperson</a:t>
            </a:r>
            <a:r>
              <a:rPr lang="en-US" altLang="en-US" dirty="0"/>
              <a:t> = Person()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print("Hi, </a:t>
            </a:r>
            <a:r>
              <a:rPr lang="en-US" altLang="en-US" dirty="0" err="1"/>
              <a:t>I'm",aperson.name,"and</a:t>
            </a:r>
            <a:r>
              <a:rPr lang="en-US" altLang="en-US" dirty="0"/>
              <a:t> </a:t>
            </a:r>
            <a:r>
              <a:rPr lang="en-US" altLang="en-US" dirty="0" err="1"/>
              <a:t>I'm",aperson.age,"years</a:t>
            </a:r>
            <a:r>
              <a:rPr lang="en-US" altLang="en-US" dirty="0"/>
              <a:t> old")</a:t>
            </a:r>
            <a:endParaRPr lang="en-US" altLang="ja-JP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aperson.talk</a:t>
            </a:r>
            <a:r>
              <a:rPr lang="en-US" altLang="en-US" dirty="0"/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</a:t>
            </a:r>
            <a:r>
              <a:rPr lang="en-US" altLang="en-US" dirty="0" err="1"/>
              <a:t>aperson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ruby = Person("Ruby", 21)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("Hi, I'm", ruby.name, "and I'm", </a:t>
            </a:r>
            <a:r>
              <a:rPr lang="en-US" altLang="en-US" dirty="0" err="1"/>
              <a:t>ruby.age</a:t>
            </a:r>
            <a:r>
              <a:rPr lang="en-US" altLang="en-US" dirty="0"/>
              <a:t>, "years old")</a:t>
            </a:r>
            <a:endParaRPr lang="en-US" altLang="ja-JP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ruby.talk</a:t>
            </a:r>
            <a:r>
              <a:rPr lang="en-US" altLang="en-US" dirty="0"/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(ruby)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("Now </a:t>
            </a:r>
            <a:r>
              <a:rPr lang="en-US" altLang="en-US" dirty="0" err="1"/>
              <a:t>Person.total</a:t>
            </a:r>
            <a:r>
              <a:rPr lang="en-US" altLang="en-US" dirty="0"/>
              <a:t>=", </a:t>
            </a:r>
            <a:r>
              <a:rPr lang="en-US" altLang="en-US" dirty="0" err="1"/>
              <a:t>Person.total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%</a:t>
            </a:r>
            <a:r>
              <a:rPr lang="en-US" altLang="en-US" dirty="0"/>
              <a:t> python3 runaclass.py</a:t>
            </a:r>
          </a:p>
          <a:p>
            <a:pPr eaLnBrk="1" hangingPunct="1">
              <a:lnSpc>
                <a:spcPct val="81000"/>
              </a:lnSpc>
            </a:pPr>
            <a:endParaRPr lang="en-US" altLang="en-US" dirty="0"/>
          </a:p>
          <a:p>
            <a:r>
              <a:rPr lang="en-US" dirty="0"/>
              <a:t>Before creating instances: </a:t>
            </a:r>
            <a:r>
              <a:rPr lang="en-US" dirty="0" err="1"/>
              <a:t>Person.total</a:t>
            </a:r>
            <a:r>
              <a:rPr lang="en-US" dirty="0"/>
              <a:t>= 0</a:t>
            </a:r>
          </a:p>
          <a:p>
            <a:r>
              <a:rPr lang="en-US" dirty="0"/>
              <a:t>Hi, I'm Tom and I'm 19 years old</a:t>
            </a:r>
          </a:p>
          <a:p>
            <a:r>
              <a:rPr lang="en-US" dirty="0"/>
              <a:t>I'm Tom and I'm 19 years old</a:t>
            </a:r>
          </a:p>
          <a:p>
            <a:r>
              <a:rPr lang="en-US" dirty="0"/>
              <a:t>I'm Tom and I live in Kaohsiung</a:t>
            </a:r>
          </a:p>
          <a:p>
            <a:r>
              <a:rPr lang="en-US" dirty="0"/>
              <a:t>Hi, I'm Ruby and I'm 21 years old</a:t>
            </a:r>
          </a:p>
          <a:p>
            <a:r>
              <a:rPr lang="en-US" dirty="0"/>
              <a:t>I'm Ruby and I'm 21 years old</a:t>
            </a:r>
          </a:p>
          <a:p>
            <a:r>
              <a:rPr lang="en-US" dirty="0"/>
              <a:t>I'm Ruby and I live in Kaohsiung</a:t>
            </a:r>
          </a:p>
          <a:p>
            <a:r>
              <a:rPr lang="en-US" dirty="0"/>
              <a:t>Now </a:t>
            </a:r>
            <a:r>
              <a:rPr lang="en-US" dirty="0" err="1"/>
              <a:t>Person.total</a:t>
            </a:r>
            <a:r>
              <a:rPr lang="en-US" dirty="0"/>
              <a:t>= 2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%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("\</a:t>
            </a:r>
            <a:r>
              <a:rPr lang="en-US" altLang="en-US" dirty="0" err="1"/>
              <a:t>nBefore</a:t>
            </a:r>
            <a:r>
              <a:rPr lang="en-US" altLang="en-US" dirty="0"/>
              <a:t> creating instances: </a:t>
            </a:r>
            <a:r>
              <a:rPr lang="en-US" altLang="en-US" dirty="0" err="1"/>
              <a:t>Person.total</a:t>
            </a:r>
            <a:r>
              <a:rPr lang="en-US" altLang="en-US" dirty="0"/>
              <a:t>=", </a:t>
            </a:r>
            <a:r>
              <a:rPr lang="en-US" altLang="en-US" dirty="0" err="1"/>
              <a:t>Person.total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aperson</a:t>
            </a:r>
            <a:r>
              <a:rPr lang="en-US" altLang="en-US" dirty="0"/>
              <a:t> = Person()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print("Hi, </a:t>
            </a:r>
            <a:r>
              <a:rPr lang="en-US" altLang="en-US" dirty="0" err="1"/>
              <a:t>I'm",aperson.name,"and</a:t>
            </a:r>
            <a:r>
              <a:rPr lang="en-US" altLang="en-US" dirty="0"/>
              <a:t> </a:t>
            </a:r>
            <a:r>
              <a:rPr lang="en-US" altLang="en-US" dirty="0" err="1"/>
              <a:t>I'm",aperson.age,"years</a:t>
            </a:r>
            <a:r>
              <a:rPr lang="en-US" altLang="en-US" dirty="0"/>
              <a:t> old")</a:t>
            </a:r>
            <a:endParaRPr lang="en-US" altLang="ja-JP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aperson.talk</a:t>
            </a:r>
            <a:r>
              <a:rPr lang="en-US" altLang="en-US" dirty="0"/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</a:t>
            </a:r>
            <a:r>
              <a:rPr lang="en-US" altLang="en-US" dirty="0" err="1"/>
              <a:t>aperson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ruby = Person("Ruby", 21)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("Hi, I'm", ruby.name, "and I'm", </a:t>
            </a:r>
            <a:r>
              <a:rPr lang="en-US" altLang="en-US" dirty="0" err="1"/>
              <a:t>ruby.age</a:t>
            </a:r>
            <a:r>
              <a:rPr lang="en-US" altLang="en-US" dirty="0"/>
              <a:t>, "years old")</a:t>
            </a:r>
            <a:endParaRPr lang="en-US" altLang="ja-JP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ruby.talk</a:t>
            </a:r>
            <a:r>
              <a:rPr lang="en-US" altLang="en-US" dirty="0"/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(ruby)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("Now </a:t>
            </a:r>
            <a:r>
              <a:rPr lang="en-US" altLang="en-US" dirty="0" err="1"/>
              <a:t>Person.total</a:t>
            </a:r>
            <a:r>
              <a:rPr lang="en-US" altLang="en-US" dirty="0"/>
              <a:t>=", </a:t>
            </a:r>
            <a:r>
              <a:rPr lang="en-US" altLang="en-US" dirty="0" err="1"/>
              <a:t>Person.total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%</a:t>
            </a:r>
            <a:r>
              <a:rPr lang="en-US" altLang="en-US" dirty="0"/>
              <a:t> python3 runaclass.py</a:t>
            </a:r>
          </a:p>
          <a:p>
            <a:pPr eaLnBrk="1" hangingPunct="1">
              <a:lnSpc>
                <a:spcPct val="81000"/>
              </a:lnSpc>
            </a:pPr>
            <a:endParaRPr lang="en-US" altLang="en-US" dirty="0"/>
          </a:p>
          <a:p>
            <a:r>
              <a:rPr lang="en-US" dirty="0"/>
              <a:t>Before creating instances: </a:t>
            </a:r>
            <a:r>
              <a:rPr lang="en-US" dirty="0" err="1"/>
              <a:t>Person.total</a:t>
            </a:r>
            <a:r>
              <a:rPr lang="en-US" dirty="0"/>
              <a:t>= 0</a:t>
            </a:r>
          </a:p>
          <a:p>
            <a:r>
              <a:rPr lang="en-US" dirty="0"/>
              <a:t>Hi, I'm Tom and I'm 19 years old</a:t>
            </a:r>
          </a:p>
          <a:p>
            <a:r>
              <a:rPr lang="en-US" dirty="0"/>
              <a:t>I'm Tom and I'm 19 years old</a:t>
            </a:r>
          </a:p>
          <a:p>
            <a:r>
              <a:rPr lang="en-US" dirty="0"/>
              <a:t>I'm Tom and I live in Kaohsiung</a:t>
            </a:r>
          </a:p>
          <a:p>
            <a:r>
              <a:rPr lang="en-US" dirty="0"/>
              <a:t>Hi, I'm Ruby and I'm 21 years old</a:t>
            </a:r>
          </a:p>
          <a:p>
            <a:r>
              <a:rPr lang="en-US" dirty="0"/>
              <a:t>I'm Ruby and I'm 21 years old</a:t>
            </a:r>
          </a:p>
          <a:p>
            <a:r>
              <a:rPr lang="en-US" dirty="0"/>
              <a:t>I'm Ruby and I live in Kaohsiung</a:t>
            </a:r>
          </a:p>
          <a:p>
            <a:r>
              <a:rPr lang="en-US" dirty="0"/>
              <a:t>Now </a:t>
            </a:r>
            <a:r>
              <a:rPr lang="en-US" dirty="0" err="1"/>
              <a:t>Person.total</a:t>
            </a:r>
            <a:r>
              <a:rPr lang="en-US" dirty="0"/>
              <a:t>= 2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02875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00034 -0.5182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2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4" grpId="1"/>
      <p:bldP spid="3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</a:t>
            </a:r>
            <a:r>
              <a:rPr lang="en-US" altLang="en-US" dirty="0">
                <a:solidFill>
                  <a:srgbClr val="FF0000"/>
                </a:solidFill>
              </a:rPr>
              <a:t>\</a:t>
            </a:r>
            <a:r>
              <a:rPr lang="en-US" altLang="en-US" dirty="0" err="1">
                <a:solidFill>
                  <a:srgbClr val="FF0000"/>
                </a:solidFill>
              </a:rPr>
              <a:t>nBefore</a:t>
            </a:r>
            <a:r>
              <a:rPr lang="en-US" altLang="en-US" dirty="0">
                <a:solidFill>
                  <a:srgbClr val="FF0000"/>
                </a:solidFill>
              </a:rPr>
              <a:t> creating instances: </a:t>
            </a:r>
            <a:r>
              <a:rPr lang="en-US" altLang="en-US" dirty="0" err="1">
                <a:solidFill>
                  <a:srgbClr val="FF0000"/>
                </a:solidFill>
              </a:rPr>
              <a:t>Person.total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dirty="0"/>
              <a:t>", </a:t>
            </a:r>
            <a:r>
              <a:rPr lang="en-US" altLang="en-US" dirty="0" err="1">
                <a:solidFill>
                  <a:srgbClr val="00B050"/>
                </a:solidFill>
              </a:rPr>
              <a:t>Person.total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/>
              <a:t>aperson</a:t>
            </a:r>
            <a:r>
              <a:rPr lang="en-US" altLang="en-US" dirty="0"/>
              <a:t> = Person()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print("</a:t>
            </a:r>
            <a:r>
              <a:rPr lang="en-US" altLang="en-US" dirty="0">
                <a:solidFill>
                  <a:schemeClr val="accent2"/>
                </a:solidFill>
              </a:rPr>
              <a:t>Hi, </a:t>
            </a:r>
            <a:r>
              <a:rPr lang="en-US" altLang="en-US" dirty="0" err="1">
                <a:solidFill>
                  <a:schemeClr val="accent2"/>
                </a:solidFill>
              </a:rPr>
              <a:t>I'm</a:t>
            </a:r>
            <a:r>
              <a:rPr lang="en-US" altLang="en-US" dirty="0" err="1"/>
              <a:t>",</a:t>
            </a:r>
            <a:r>
              <a:rPr lang="en-US" altLang="en-US" dirty="0" err="1">
                <a:solidFill>
                  <a:srgbClr val="00B050"/>
                </a:solidFill>
              </a:rPr>
              <a:t>aperson.name</a:t>
            </a:r>
            <a:r>
              <a:rPr lang="en-US" altLang="en-US" dirty="0" err="1"/>
              <a:t>,"</a:t>
            </a:r>
            <a:r>
              <a:rPr lang="en-US" altLang="en-US" dirty="0" err="1">
                <a:solidFill>
                  <a:schemeClr val="accent2"/>
                </a:solidFill>
              </a:rPr>
              <a:t>and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</a:rPr>
              <a:t>I'm</a:t>
            </a:r>
            <a:r>
              <a:rPr lang="en-US" altLang="en-US" dirty="0" err="1"/>
              <a:t>",</a:t>
            </a:r>
            <a:r>
              <a:rPr lang="en-US" altLang="en-US" dirty="0" err="1">
                <a:solidFill>
                  <a:srgbClr val="00B050"/>
                </a:solidFill>
              </a:rPr>
              <a:t>aperson.age</a:t>
            </a:r>
            <a:r>
              <a:rPr lang="en-US" altLang="en-US" dirty="0" err="1"/>
              <a:t>,"</a:t>
            </a:r>
            <a:r>
              <a:rPr lang="en-US" altLang="en-US" dirty="0" err="1">
                <a:solidFill>
                  <a:schemeClr val="accent2"/>
                </a:solidFill>
              </a:rPr>
              <a:t>years</a:t>
            </a:r>
            <a:r>
              <a:rPr lang="en-US" altLang="en-US" dirty="0">
                <a:solidFill>
                  <a:schemeClr val="accent2"/>
                </a:solidFill>
              </a:rPr>
              <a:t> old</a:t>
            </a:r>
            <a:r>
              <a:rPr lang="en-US" altLang="en-US" dirty="0"/>
              <a:t>")</a:t>
            </a:r>
            <a:endParaRPr lang="en-US" altLang="ja-JP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CC00CC"/>
                </a:solidFill>
              </a:rPr>
              <a:t>aperson.talk</a:t>
            </a:r>
            <a:r>
              <a:rPr lang="en-US" altLang="en-US" dirty="0">
                <a:solidFill>
                  <a:srgbClr val="CC00CC"/>
                </a:solidFill>
              </a:rPr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</a:t>
            </a:r>
            <a:r>
              <a:rPr lang="en-US" altLang="en-US" dirty="0" err="1">
                <a:solidFill>
                  <a:srgbClr val="DAA100"/>
                </a:solidFill>
              </a:rPr>
              <a:t>aperson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ruby = Person("Ruby", 21)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</a:t>
            </a:r>
            <a:r>
              <a:rPr lang="en-US" altLang="en-US" dirty="0">
                <a:solidFill>
                  <a:schemeClr val="accent2"/>
                </a:solidFill>
              </a:rPr>
              <a:t>Hi, I'm</a:t>
            </a:r>
            <a:r>
              <a:rPr lang="en-US" altLang="en-US" dirty="0"/>
              <a:t>", </a:t>
            </a:r>
            <a:r>
              <a:rPr lang="en-US" altLang="en-US" dirty="0">
                <a:solidFill>
                  <a:srgbClr val="00B050"/>
                </a:solidFill>
              </a:rPr>
              <a:t>ruby.name</a:t>
            </a:r>
            <a:r>
              <a:rPr lang="en-US" altLang="en-US" dirty="0"/>
              <a:t>, "</a:t>
            </a:r>
            <a:r>
              <a:rPr lang="en-US" altLang="en-US" dirty="0">
                <a:solidFill>
                  <a:schemeClr val="accent2"/>
                </a:solidFill>
              </a:rPr>
              <a:t>and I'm</a:t>
            </a:r>
            <a:r>
              <a:rPr lang="en-US" altLang="en-US" dirty="0"/>
              <a:t>", </a:t>
            </a:r>
            <a:r>
              <a:rPr lang="en-US" altLang="en-US" dirty="0" err="1">
                <a:solidFill>
                  <a:srgbClr val="00B050"/>
                </a:solidFill>
              </a:rPr>
              <a:t>ruby.age</a:t>
            </a:r>
            <a:r>
              <a:rPr lang="en-US" altLang="en-US" dirty="0"/>
              <a:t>, "</a:t>
            </a:r>
            <a:r>
              <a:rPr lang="en-US" altLang="en-US" dirty="0">
                <a:solidFill>
                  <a:schemeClr val="accent2"/>
                </a:solidFill>
              </a:rPr>
              <a:t>years old</a:t>
            </a:r>
            <a:r>
              <a:rPr lang="en-US" altLang="en-US" dirty="0"/>
              <a:t>")</a:t>
            </a:r>
            <a:endParaRPr lang="en-US" altLang="ja-JP" dirty="0"/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CC00CC"/>
                </a:solidFill>
              </a:rPr>
              <a:t>ruby.talk</a:t>
            </a:r>
            <a:r>
              <a:rPr lang="en-US" altLang="en-US" dirty="0">
                <a:solidFill>
                  <a:srgbClr val="CC00CC"/>
                </a:solidFill>
              </a:rPr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</a:t>
            </a:r>
            <a:r>
              <a:rPr lang="en-US" altLang="en-US" dirty="0">
                <a:solidFill>
                  <a:srgbClr val="DAA100"/>
                </a:solidFill>
              </a:rPr>
              <a:t>ruby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/>
              <a:t>print ("</a:t>
            </a:r>
            <a:r>
              <a:rPr lang="en-US" altLang="en-US" dirty="0">
                <a:solidFill>
                  <a:srgbClr val="FF0000"/>
                </a:solidFill>
              </a:rPr>
              <a:t>Now </a:t>
            </a:r>
            <a:r>
              <a:rPr lang="en-US" altLang="en-US" dirty="0" err="1">
                <a:solidFill>
                  <a:srgbClr val="FF0000"/>
                </a:solidFill>
              </a:rPr>
              <a:t>Person.total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dirty="0"/>
              <a:t>", </a:t>
            </a:r>
            <a:r>
              <a:rPr lang="en-US" altLang="en-US" dirty="0" err="1">
                <a:solidFill>
                  <a:srgbClr val="00B050"/>
                </a:solidFill>
              </a:rPr>
              <a:t>Person.total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%</a:t>
            </a:r>
            <a:r>
              <a:rPr lang="en-US" altLang="en-US" dirty="0"/>
              <a:t> python3 runaclass.py</a:t>
            </a:r>
          </a:p>
          <a:p>
            <a:pPr eaLnBrk="1" hangingPunct="1">
              <a:lnSpc>
                <a:spcPct val="81000"/>
              </a:lnSpc>
            </a:pPr>
            <a:endParaRPr lang="en-US" altLang="en-US" dirty="0"/>
          </a:p>
          <a:p>
            <a:r>
              <a:rPr lang="en-US" dirty="0">
                <a:solidFill>
                  <a:srgbClr val="FF0000"/>
                </a:solidFill>
              </a:rPr>
              <a:t>Before creating instances: </a:t>
            </a:r>
            <a:r>
              <a:rPr lang="en-US" dirty="0" err="1">
                <a:solidFill>
                  <a:srgbClr val="FF0000"/>
                </a:solidFill>
              </a:rPr>
              <a:t>Person.total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>
                <a:solidFill>
                  <a:srgbClr val="00B050"/>
                </a:solidFill>
              </a:rPr>
              <a:t>0</a:t>
            </a:r>
          </a:p>
          <a:p>
            <a:r>
              <a:rPr lang="en-US" dirty="0">
                <a:solidFill>
                  <a:schemeClr val="accent2"/>
                </a:solidFill>
              </a:rPr>
              <a:t>Hi, I'm </a:t>
            </a:r>
            <a:r>
              <a:rPr lang="en-US" dirty="0">
                <a:solidFill>
                  <a:srgbClr val="00B050"/>
                </a:solidFill>
              </a:rPr>
              <a:t>Tom</a:t>
            </a:r>
            <a:r>
              <a:rPr lang="en-US" dirty="0">
                <a:solidFill>
                  <a:schemeClr val="accent2"/>
                </a:solidFill>
              </a:rPr>
              <a:t> and I'm </a:t>
            </a:r>
            <a:r>
              <a:rPr lang="en-US" dirty="0">
                <a:solidFill>
                  <a:srgbClr val="00B050"/>
                </a:solidFill>
              </a:rPr>
              <a:t>19</a:t>
            </a:r>
            <a:r>
              <a:rPr lang="en-US" dirty="0">
                <a:solidFill>
                  <a:schemeClr val="accent2"/>
                </a:solidFill>
              </a:rPr>
              <a:t> years old</a:t>
            </a:r>
          </a:p>
          <a:p>
            <a:r>
              <a:rPr lang="en-US" dirty="0">
                <a:solidFill>
                  <a:srgbClr val="CC00CC"/>
                </a:solidFill>
              </a:rPr>
              <a:t>I'm Tom and I'm 19 years old</a:t>
            </a:r>
          </a:p>
          <a:p>
            <a:r>
              <a:rPr lang="en-US" dirty="0">
                <a:solidFill>
                  <a:srgbClr val="DAA100"/>
                </a:solidFill>
              </a:rPr>
              <a:t>I'm Tom and I live in Kaohsiung</a:t>
            </a:r>
          </a:p>
          <a:p>
            <a:r>
              <a:rPr lang="en-US" dirty="0">
                <a:solidFill>
                  <a:schemeClr val="accent2"/>
                </a:solidFill>
              </a:rPr>
              <a:t>Hi, I'm </a:t>
            </a:r>
            <a:r>
              <a:rPr lang="en-US" dirty="0">
                <a:solidFill>
                  <a:srgbClr val="00B050"/>
                </a:solidFill>
              </a:rPr>
              <a:t>Ruby</a:t>
            </a:r>
            <a:r>
              <a:rPr lang="en-US" dirty="0">
                <a:solidFill>
                  <a:schemeClr val="accent2"/>
                </a:solidFill>
              </a:rPr>
              <a:t> and I'm </a:t>
            </a:r>
            <a:r>
              <a:rPr lang="en-US" dirty="0">
                <a:solidFill>
                  <a:srgbClr val="00B050"/>
                </a:solidFill>
              </a:rPr>
              <a:t>21</a:t>
            </a:r>
            <a:r>
              <a:rPr lang="en-US" dirty="0">
                <a:solidFill>
                  <a:schemeClr val="accent2"/>
                </a:solidFill>
              </a:rPr>
              <a:t> years old</a:t>
            </a:r>
          </a:p>
          <a:p>
            <a:r>
              <a:rPr lang="en-US" dirty="0">
                <a:solidFill>
                  <a:srgbClr val="CC00CC"/>
                </a:solidFill>
              </a:rPr>
              <a:t>I'm Ruby and I'm 21 years old</a:t>
            </a:r>
          </a:p>
          <a:p>
            <a:r>
              <a:rPr lang="en-US" dirty="0">
                <a:solidFill>
                  <a:srgbClr val="DAA100"/>
                </a:solidFill>
              </a:rPr>
              <a:t>I'm Ruby and I live in Kaohsiung</a:t>
            </a:r>
          </a:p>
          <a:p>
            <a:r>
              <a:rPr lang="en-US" dirty="0">
                <a:solidFill>
                  <a:srgbClr val="FF0000"/>
                </a:solidFill>
              </a:rPr>
              <a:t>Now </a:t>
            </a:r>
            <a:r>
              <a:rPr lang="en-US" dirty="0" err="1">
                <a:solidFill>
                  <a:srgbClr val="FF0000"/>
                </a:solidFill>
              </a:rPr>
              <a:t>Person.total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>
                <a:solidFill>
                  <a:srgbClr val="00B050"/>
                </a:solidFill>
              </a:rPr>
              <a:t>2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%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171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a Static Method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86106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status():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print("Total critters",</a:t>
            </a:r>
            <a:r>
              <a:rPr lang="en-US" altLang="en-US" sz="2400" dirty="0" err="1">
                <a:latin typeface="Lucida Console" panose="020B0609040504020204" pitchFamily="49" charset="0"/>
              </a:rPr>
              <a:t>Critter.total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status = 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latin typeface="Lucida Console" panose="020B0609040504020204" pitchFamily="49" charset="0"/>
              </a:rPr>
              <a:t>(status)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400" dirty="0">
                <a:latin typeface="Lucida Console" panose="020B0609040504020204" pitchFamily="49" charset="0"/>
              </a:rPr>
              <a:t>status()</a:t>
            </a:r>
          </a:p>
          <a:p>
            <a:pPr lvl="1" eaLnBrk="1" hangingPunct="1"/>
            <a:r>
              <a:rPr lang="en-US" altLang="en-US" sz="2800" dirty="0"/>
              <a:t>Is a </a:t>
            </a:r>
            <a:r>
              <a:rPr lang="en-US" altLang="en-US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8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1" eaLnBrk="1" hangingPunct="1"/>
            <a:r>
              <a:rPr lang="en-US" altLang="en-US" sz="2800" dirty="0"/>
              <a:t>It doesn't have the </a:t>
            </a:r>
            <a:r>
              <a:rPr lang="en-US" altLang="en-US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/>
              <a:t> parameter because it will be invoked through the class not the object.</a:t>
            </a:r>
          </a:p>
          <a:p>
            <a:pPr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latin typeface="Lucida Console" panose="020B0609040504020204" pitchFamily="49" charset="0"/>
              </a:rPr>
              <a:t>()</a:t>
            </a:r>
          </a:p>
          <a:p>
            <a:pPr lvl="1" eaLnBrk="1" hangingPunct="1"/>
            <a:r>
              <a:rPr lang="en-US" altLang="en-US" sz="2800" dirty="0"/>
              <a:t>This is a built-in Python function</a:t>
            </a:r>
          </a:p>
          <a:p>
            <a:pPr lvl="1" eaLnBrk="1" hangingPunct="1"/>
            <a:r>
              <a:rPr lang="en-US" altLang="en-US" sz="2800" dirty="0"/>
              <a:t>It takes a method and returns a static method</a:t>
            </a:r>
          </a:p>
          <a:p>
            <a:pPr lvl="1"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454677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Invoking a Static Method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914400"/>
            <a:ext cx="80772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crit1 = Critter("critter 1")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crit2 = Critter("critter 2")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crit3 = Critter("critter 3")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Critter.status</a:t>
            </a:r>
            <a:r>
              <a:rPr lang="en-US" altLang="en-US" sz="24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Critter.status</a:t>
            </a:r>
            <a:r>
              <a:rPr lang="en-US" altLang="en-US" sz="2400" dirty="0">
                <a:latin typeface="Lucida Console" panose="020B0609040504020204" pitchFamily="49" charset="0"/>
              </a:rPr>
              <a:t>()</a:t>
            </a:r>
          </a:p>
          <a:p>
            <a:pPr lvl="1" eaLnBrk="1" hangingPunct="1"/>
            <a:r>
              <a:rPr lang="en-US" altLang="en-US" sz="2800" dirty="0"/>
              <a:t>Invokes static method </a:t>
            </a:r>
            <a:r>
              <a:rPr lang="en-US" altLang="en-US" dirty="0">
                <a:latin typeface="Lucida Console" panose="020B0609040504020204" pitchFamily="49" charset="0"/>
              </a:rPr>
              <a:t>status() </a:t>
            </a:r>
            <a:r>
              <a:rPr lang="en-US" altLang="en-US" sz="2800" dirty="0"/>
              <a:t>defined in</a:t>
            </a:r>
            <a:r>
              <a:rPr lang="en-US" altLang="en-US" sz="2800" dirty="0">
                <a:latin typeface="Courier New" pitchFamily="49" charset="0"/>
              </a:rPr>
              <a:t> </a:t>
            </a:r>
            <a:r>
              <a:rPr lang="en-US" altLang="en-US" dirty="0">
                <a:latin typeface="Lucida Console" panose="020B0609040504020204" pitchFamily="49" charset="0"/>
              </a:rPr>
              <a:t>Critter</a:t>
            </a:r>
          </a:p>
          <a:p>
            <a:pPr lvl="1" eaLnBrk="1" hangingPunct="1"/>
            <a:r>
              <a:rPr lang="en-US" altLang="en-US" sz="2800" dirty="0"/>
              <a:t>Prints a message stating that 3 critters exist</a:t>
            </a:r>
          </a:p>
          <a:p>
            <a:pPr lvl="1" eaLnBrk="1" hangingPunct="1"/>
            <a:r>
              <a:rPr lang="en-US" altLang="en-US" sz="2800" dirty="0"/>
              <a:t>Works because constructor increments class attribute </a:t>
            </a:r>
            <a:r>
              <a:rPr lang="en-US" altLang="en-US" dirty="0">
                <a:latin typeface="Lucida Console" panose="020B0609040504020204" pitchFamily="49" charset="0"/>
              </a:rPr>
              <a:t>total</a:t>
            </a:r>
            <a:r>
              <a:rPr lang="en-US" altLang="en-US" sz="2800" dirty="0"/>
              <a:t>, which </a:t>
            </a:r>
            <a:r>
              <a:rPr lang="en-US" altLang="en-US" dirty="0">
                <a:latin typeface="Lucida Console" panose="020B0609040504020204" pitchFamily="49" charset="0"/>
              </a:rPr>
              <a:t>status()</a:t>
            </a:r>
            <a:r>
              <a:rPr lang="en-US" altLang="en-US" dirty="0"/>
              <a:t> </a:t>
            </a:r>
            <a:r>
              <a:rPr lang="en-US" altLang="en-US" sz="2800" dirty="0"/>
              <a:t>displays</a:t>
            </a:r>
          </a:p>
        </p:txBody>
      </p:sp>
    </p:spTree>
    <p:extLst>
      <p:ext uri="{BB962C8B-B14F-4D97-AF65-F5344CB8AC3E}">
        <p14:creationId xmlns:p14="http://schemas.microsoft.com/office/powerpoint/2010/main" val="15716448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-609600" y="726440"/>
            <a:ext cx="9601200" cy="5902960"/>
          </a:xfrm>
        </p:spPr>
        <p:txBody>
          <a:bodyPr/>
          <a:lstStyle/>
          <a:p>
            <a:pPr marL="914400" lvl="2" indent="0" eaLnBrk="1" hangingPunct="1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ja-JP" sz="3200" dirty="0"/>
              <a:t>A </a:t>
            </a:r>
            <a:r>
              <a:rPr lang="en-US" altLang="ja-JP" sz="3200" dirty="0" err="1"/>
              <a:t>staticmethod</a:t>
            </a:r>
            <a:r>
              <a:rPr lang="en-US" altLang="ja-JP" sz="3200" dirty="0"/>
              <a:t> can be accessed, even if no objects have been created:</a:t>
            </a:r>
          </a:p>
          <a:p>
            <a:pPr marL="914400" lvl="2" indent="0" eaLnBrk="1" hangingPunct="1">
              <a:spcBef>
                <a:spcPts val="1200"/>
              </a:spcBef>
              <a:spcAft>
                <a:spcPts val="0"/>
              </a:spcAft>
              <a:buNone/>
            </a:pPr>
            <a:endParaRPr lang="en-US" altLang="ja-JP" sz="3200" dirty="0"/>
          </a:p>
          <a:p>
            <a:pPr marL="914400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class C():</a:t>
            </a:r>
          </a:p>
          <a:p>
            <a:pPr marL="914400" lvl="2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f(self):</a:t>
            </a:r>
          </a:p>
          <a:p>
            <a:pPr marL="914400" lvl="2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print ("It ran.") </a:t>
            </a:r>
          </a:p>
          <a:p>
            <a:pPr marL="914400" lvl="2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sf = </a:t>
            </a:r>
            <a:r>
              <a:rPr lang="en-US" altLang="en-US" sz="28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800" dirty="0">
                <a:latin typeface="Lucida Console" panose="020B0609040504020204" pitchFamily="49" charset="0"/>
              </a:rPr>
              <a:t>(f)</a:t>
            </a:r>
          </a:p>
          <a:p>
            <a:pPr marL="914400" lvl="2" indent="168275" eaLnBrk="1" hangingPunct="1">
              <a:spcBef>
                <a:spcPts val="0"/>
              </a:spcBef>
              <a:buNone/>
            </a:pPr>
            <a:r>
              <a:rPr lang="en-US" altLang="en-US" sz="2800" dirty="0" err="1">
                <a:latin typeface="Lucida Console" panose="020B0609040504020204" pitchFamily="49" charset="0"/>
              </a:rPr>
              <a:t>C.sf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000" kern="0" dirty="0" err="1">
                <a:latin typeface="Lucida Console" panose="020B0609040504020204" pitchFamily="49" charset="0"/>
              </a:rPr>
              <a:t>classmethod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kern="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endParaRPr lang="en-US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36896317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Three types of methods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264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</a:rPr>
              <a:t>Simple methods belonging to the instance and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belong to the class, not the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rgbClr val="FF0000"/>
                </a:solidFill>
              </a:rPr>
              <a:t>These use </a:t>
            </a:r>
            <a:r>
              <a:rPr lang="en-US" altLang="en-US" sz="3000" dirty="0" err="1">
                <a:solidFill>
                  <a:srgbClr val="FF0000"/>
                </a:solidFill>
              </a:rPr>
              <a:t>staticmethod</a:t>
            </a:r>
            <a:r>
              <a:rPr lang="en-US" altLang="en-US" sz="3000" dirty="0">
                <a:solidFill>
                  <a:srgbClr val="FF0000"/>
                </a:solidFill>
              </a:rPr>
              <a:t>() or </a:t>
            </a:r>
            <a:r>
              <a:rPr lang="en-US" altLang="en-US" sz="3000" dirty="0" err="1">
                <a:solidFill>
                  <a:srgbClr val="FF0000"/>
                </a:solidFill>
              </a:rPr>
              <a:t>classmethod</a:t>
            </a:r>
            <a:r>
              <a:rPr lang="en-US" altLang="en-US" sz="3000" dirty="0">
                <a:solidFill>
                  <a:srgbClr val="FF0000"/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95000"/>
                  </a:schemeClr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have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specific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names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that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Python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 1</a:t>
            </a:r>
            <a:r>
              <a:rPr lang="en-US" altLang="en-US" sz="2800" baseline="30000" dirty="0">
                <a:solidFill>
                  <a:schemeClr val="bg1">
                    <a:lumMod val="95000"/>
                  </a:schemeClr>
                </a:solidFill>
              </a:rPr>
              <a:t>st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 we’ll learn is the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constructor,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dirty="0" err="1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95000"/>
                  </a:schemeClr>
                </a:solidFill>
              </a:rPr>
              <a:t>These indirect methods all begin their names with “__” (but they are not the only things to do so).</a:t>
            </a: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#29</a:t>
              </a: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2209800" y="1143000"/>
            <a:ext cx="4572000" cy="133296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4000" dirty="0">
                <a:solidFill>
                  <a:schemeClr val="tx1"/>
                </a:solidFill>
                <a:latin typeface="Times New Roman" charset="0"/>
              </a:rPr>
              <a:t>So what are these?</a:t>
            </a:r>
            <a:endParaRPr kumimoji="0" lang="zh-TW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4343400" y="2133600"/>
            <a:ext cx="1066800" cy="10668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5943600" y="2133600"/>
            <a:ext cx="685800" cy="10668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0128862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26440"/>
            <a:ext cx="8915400" cy="59029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They are similar, but: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ja-JP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ja-JP" sz="3200" dirty="0" err="1"/>
              <a:t>s</a:t>
            </a:r>
            <a:r>
              <a:rPr lang="en-US" altLang="ja-JP" sz="3200" dirty="0"/>
              <a:t> have access to class attributes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ja-JP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ja-JP" sz="3200" dirty="0" err="1"/>
              <a:t>s</a:t>
            </a:r>
            <a:r>
              <a:rPr lang="en-US" altLang="ja-JP" sz="3200" dirty="0"/>
              <a:t> don’t have direct access to these attributes. 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2800" dirty="0"/>
              <a:t>But look back as slide 42 and see how it accessed the </a:t>
            </a:r>
            <a:r>
              <a:rPr lang="en-US" altLang="ja-JP" sz="3200" dirty="0">
                <a:latin typeface="Lucida Console" panose="020B0609040504020204" pitchFamily="49" charset="0"/>
              </a:rPr>
              <a:t>total</a:t>
            </a:r>
            <a:r>
              <a:rPr lang="en-US" altLang="ja-JP" sz="3200" dirty="0"/>
              <a:t> </a:t>
            </a:r>
            <a:r>
              <a:rPr lang="en-US" altLang="ja-JP" sz="2800" dirty="0"/>
              <a:t>attribute indirectly through </a:t>
            </a:r>
            <a:r>
              <a:rPr lang="en-US" altLang="ja-JP" sz="3200" dirty="0">
                <a:latin typeface="Lucida Console" panose="020B0609040504020204" pitchFamily="49" charset="0"/>
              </a:rPr>
              <a:t>Critter </a:t>
            </a:r>
            <a:r>
              <a:rPr lang="en-US" altLang="ja-JP" sz="2800" dirty="0"/>
              <a:t>(i.e.: </a:t>
            </a:r>
            <a:r>
              <a:rPr lang="en-US" altLang="en-US" sz="3200" dirty="0" err="1">
                <a:latin typeface="Lucida Console" panose="020B0609040504020204" pitchFamily="49" charset="0"/>
              </a:rPr>
              <a:t>Critter.total</a:t>
            </a:r>
            <a:r>
              <a:rPr lang="en-US" altLang="en-US" sz="3600" dirty="0">
                <a:latin typeface="Courier New" pitchFamily="49" charset="0"/>
              </a:rPr>
              <a:t>)</a:t>
            </a:r>
            <a:endParaRPr lang="en-US" altLang="ja-JP" sz="3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000" kern="0" dirty="0" err="1">
                <a:latin typeface="Lucida Console" panose="020B0609040504020204" pitchFamily="49" charset="0"/>
              </a:rPr>
              <a:t>classmethod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kern="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endParaRPr lang="en-US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406336649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400" dirty="0">
                <a:solidFill>
                  <a:srgbClr val="2D2DB9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endParaRPr lang="en-GB" altLang="en-US" sz="360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400" dirty="0"/>
              <a:t>Static methods know nothing about the class and just deal with the parameters: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8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Person: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age = 20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(s):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print("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Hi,",s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print('The age is:',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("Bob")</a:t>
            </a:r>
            <a:r>
              <a:rPr lang="en-US" altLang="en-US" sz="2400" dirty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Hi, Bob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5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4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20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() missing 1 required positional argument:</a:t>
            </a:r>
            <a:r>
              <a:rPr lang="en-US" altLang="en-US" sz="20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40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cl</a:t>
            </a:r>
            <a:r>
              <a:rPr lang="en-US" altLang="en-US" sz="2400" spc="-300" dirty="0" err="1">
                <a:solidFill>
                  <a:srgbClr val="FF0000"/>
                </a:solidFill>
                <a:latin typeface="Lucida Fax" panose="02060602050505020204" pitchFamily="18" charset="0"/>
              </a:rPr>
              <a:t>s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solidFill>
                  <a:srgbClr val="FF0000"/>
                </a:solidFill>
                <a:latin typeface="Lucida Fax" panose="02060602050505020204" pitchFamily="18" charset="0"/>
              </a:rPr>
              <a:t>#Why doesn’t it crash, this time?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lvl="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000" kern="0" dirty="0" err="1">
                <a:latin typeface="Lucida Console" panose="020B0609040504020204" pitchFamily="49" charset="0"/>
              </a:rPr>
              <a:t>classmethod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kern="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endParaRPr lang="en-US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2624868724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0"/>
            <a:ext cx="929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400" kern="0" dirty="0">
                <a:solidFill>
                  <a:srgbClr val="2D2DB9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endParaRPr lang="en-GB" altLang="en-US" sz="36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600" kern="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class Person:</a:t>
            </a:r>
          </a:p>
          <a:p>
            <a:pPr marL="9525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age = 20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):print('Age is</a:t>
            </a:r>
            <a:r>
              <a:rPr lang="en-US" alt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:'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</a:t>
            </a:r>
            <a:r>
              <a:rPr lang="en-US" altLang="en-US" sz="2400" kern="0" spc="-5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s.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age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: </a:t>
            </a:r>
            <a:r>
              <a:rPr lang="en-US" altLang="en-US" sz="2100" kern="0" dirty="0" err="1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</a:rPr>
              <a:t>() missing</a:t>
            </a:r>
            <a:r>
              <a:rPr lang="en-US" altLang="en-US" sz="2100" kern="0" spc="-100" dirty="0">
                <a:solidFill>
                  <a:srgbClr val="FF0000"/>
                </a:solidFill>
                <a:latin typeface="Lucida Fax" panose="02060602050505020204" pitchFamily="18" charset="0"/>
              </a:rPr>
              <a:t> 1 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</a:rPr>
              <a:t>required positional argumen</a:t>
            </a:r>
            <a:r>
              <a:rPr lang="en-US" altLang="en-US" sz="2100" kern="0" spc="-30" dirty="0">
                <a:solidFill>
                  <a:srgbClr val="FF0000"/>
                </a:solidFill>
                <a:latin typeface="Lucida Fax" panose="02060602050505020204" pitchFamily="18" charset="0"/>
              </a:rPr>
              <a:t>t: '</a:t>
            </a:r>
            <a:r>
              <a:rPr lang="en-US" altLang="en-US" sz="2100" kern="0" spc="-30" dirty="0" err="1">
                <a:solidFill>
                  <a:srgbClr val="FF0000"/>
                </a:solidFill>
                <a:latin typeface="Lucida Fax" panose="02060602050505020204" pitchFamily="18" charset="0"/>
              </a:rPr>
              <a:t>cls</a:t>
            </a:r>
            <a:r>
              <a:rPr lang="en-US" altLang="en-US" sz="2100" kern="0" spc="-3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kern="0" dirty="0">
                <a:solidFill>
                  <a:srgbClr val="CC00CC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=Person(); </a:t>
            </a:r>
            <a:r>
              <a:rPr lang="en-US" altLang="en-US" sz="2400" kern="0" dirty="0" err="1">
                <a:solidFill>
                  <a:srgbClr val="CC00CC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kern="0" dirty="0">
                <a:solidFill>
                  <a:srgbClr val="CC00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kern="0" dirty="0">
                <a:solidFill>
                  <a:srgbClr val="CC00CC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400" kern="0" dirty="0">
                <a:solidFill>
                  <a:srgbClr val="CC00CC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FF0000"/>
                </a:solidFill>
                <a:latin typeface="Lucida Fax" panose="02060602050505020204" pitchFamily="18" charset="0"/>
              </a:rPr>
              <a:t>#x treated as self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CC00CC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lvl="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+mn-cs"/>
              </a:rPr>
              <a:t>&gt;&gt;&gt; </a:t>
            </a:r>
            <a:r>
              <a:rPr lang="en-US" altLang="en-US" sz="2400" kern="0" dirty="0" err="1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Person.prAge</a:t>
            </a:r>
            <a:r>
              <a:rPr lang="en-US" altLang="en-US" sz="24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=</a:t>
            </a:r>
            <a:r>
              <a:rPr lang="en-US" altLang="en-US" sz="2400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staticmetho</a:t>
            </a:r>
            <a:r>
              <a:rPr lang="en-US" altLang="en-US" sz="2400" b="1" kern="0" spc="-30" dirty="0" err="1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d</a:t>
            </a:r>
            <a:r>
              <a:rPr lang="en-US" altLang="en-US" sz="2400" kern="0" spc="-3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(</a:t>
            </a:r>
            <a:r>
              <a:rPr lang="en-US" altLang="en-US" sz="2400" kern="0" spc="-30" dirty="0" err="1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Person.printAge</a:t>
            </a:r>
            <a:r>
              <a:rPr lang="en-US" altLang="en-US" sz="2400" kern="0" spc="-3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)</a:t>
            </a:r>
          </a:p>
          <a:p>
            <a:pPr marL="95250" lvl="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+mn-cs"/>
              </a:rPr>
              <a:t>&gt;&gt;&gt; </a:t>
            </a:r>
            <a:r>
              <a:rPr lang="en-US" altLang="en-US" sz="2400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Person.prAge</a:t>
            </a:r>
            <a:r>
              <a:rPr lang="en-US" alt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()</a:t>
            </a:r>
          </a:p>
          <a:p>
            <a:pPr marL="95250" lvl="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Traceback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 (most recent call last):</a:t>
            </a:r>
          </a:p>
          <a:p>
            <a:pPr marL="95250" lvl="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  File "&lt;</a:t>
            </a: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stdin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&gt;", line 1, in &lt;module&gt;</a:t>
            </a:r>
          </a:p>
          <a:p>
            <a:pPr marL="95250" lvl="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TypeError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: </a:t>
            </a:r>
            <a:r>
              <a:rPr lang="en-US" altLang="en-US" sz="2100" kern="0" dirty="0" err="1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printAge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() missing</a:t>
            </a:r>
            <a:r>
              <a:rPr lang="en-US" altLang="en-US" sz="2100" kern="0" spc="-10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 1 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required positional argumen</a:t>
            </a:r>
            <a:r>
              <a:rPr lang="en-US" altLang="en-US" sz="2100" kern="0" spc="-3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t: '</a:t>
            </a:r>
            <a:r>
              <a:rPr lang="en-US" altLang="en-US" sz="2100" kern="0" spc="-30" dirty="0" err="1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cls</a:t>
            </a:r>
            <a:r>
              <a:rPr lang="en-US" altLang="en-US" sz="2100" kern="0" spc="-3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'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+mn-cs"/>
              </a:rPr>
              <a:t>&gt;&gt;&gt; </a:t>
            </a:r>
            <a:r>
              <a:rPr lang="en-US" altLang="en-US" sz="2400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Person.printAge</a:t>
            </a:r>
            <a:r>
              <a:rPr lang="en-US" alt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(x)</a:t>
            </a:r>
            <a:r>
              <a:rPr lang="en-US" altLang="en-US" sz="2400" kern="0" dirty="0">
                <a:solidFill>
                  <a:srgbClr val="FF0000"/>
                </a:solidFill>
                <a:latin typeface="Lucida Fax" panose="02060602050505020204" pitchFamily="18" charset="0"/>
              </a:rPr>
              <a:t> # x is treated as “self” </a:t>
            </a:r>
            <a:endParaRPr lang="en-US" altLang="en-US" sz="2400" b="1" kern="0" dirty="0">
              <a:solidFill>
                <a:srgbClr val="FFC000"/>
              </a:solidFill>
              <a:latin typeface="Lucida Console" panose="020B0609040504020204" pitchFamily="49" charset="0"/>
              <a:cs typeface="+mn-cs"/>
            </a:endParaRPr>
          </a:p>
          <a:p>
            <a:pPr marL="95250" lvl="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The age is: 20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Person.prAge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Person.prAge</a:t>
            </a:r>
            <a:r>
              <a:rPr lang="en-US" altLang="en-US" sz="2400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(x)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</a:rPr>
              <a:t>#like we saw for “self”, “</a:t>
            </a:r>
            <a:r>
              <a:rPr lang="en-US" altLang="en-US" sz="2100" kern="0" dirty="0" err="1">
                <a:solidFill>
                  <a:srgbClr val="FF0000"/>
                </a:solidFill>
                <a:latin typeface="Lucida Fax" panose="02060602050505020204" pitchFamily="18" charset="0"/>
              </a:rPr>
              <a:t>cls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</a:rPr>
              <a:t>” isn’t given </a:t>
            </a:r>
            <a:endParaRPr lang="en-US" altLang="en-US" sz="2100" kern="0" dirty="0">
              <a:solidFill>
                <a:srgbClr val="00B0F0"/>
              </a:solidFill>
              <a:latin typeface="Lucida Fax" panose="02060602050505020204" pitchFamily="18" charset="0"/>
            </a:endParaRP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</a:rPr>
              <a:t>: </a:t>
            </a:r>
            <a:r>
              <a:rPr lang="en-US" altLang="en-US" sz="2100" kern="0" dirty="0" err="1">
                <a:solidFill>
                  <a:srgbClr val="FF0000"/>
                </a:solidFill>
                <a:latin typeface="Lucida Fax" panose="02060602050505020204" pitchFamily="18" charset="0"/>
              </a:rPr>
              <a:t>prAge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</a:rPr>
              <a:t>()</a:t>
            </a:r>
            <a:r>
              <a:rPr lang="en-US" altLang="en-US" sz="2100" kern="0" spc="-20" dirty="0">
                <a:solidFill>
                  <a:srgbClr val="FF0000"/>
                </a:solidFill>
                <a:latin typeface="Lucida Fax" panose="02060602050505020204" pitchFamily="18" charset="0"/>
              </a:rPr>
              <a:t> takes 1 positional argument but 2 were given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Person.prAge</a:t>
            </a:r>
            <a:r>
              <a:rPr lang="en-US" altLang="en-US" sz="2400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000" kern="0" dirty="0" err="1">
                <a:latin typeface="Lucida Console" panose="020B0609040504020204" pitchFamily="49" charset="0"/>
              </a:rPr>
              <a:t>classmethod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kern="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>
                <a:latin typeface="MS PGothic" panose="020B0600070205080204" pitchFamily="34" charset="-128"/>
              </a:rPr>
              <a:t>)</a:t>
            </a:r>
            <a:endParaRPr lang="en-US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39531189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2D2DB9"/>
                </a:solidFill>
              </a:rPr>
              <a:t>Other Fu</a:t>
            </a:r>
            <a:r>
              <a:rPr lang="en-US" altLang="en-US" sz="4200" spc="-200" dirty="0">
                <a:solidFill>
                  <a:srgbClr val="2D2DB9"/>
                </a:solidFill>
              </a:rPr>
              <a:t>n</a:t>
            </a:r>
            <a:r>
              <a:rPr lang="en-US" altLang="en-US" sz="4200" spc="-100" dirty="0">
                <a:solidFill>
                  <a:srgbClr val="2D2DB9"/>
                </a:solidFill>
              </a:rPr>
              <a:t>ct</a:t>
            </a:r>
            <a:r>
              <a:rPr lang="en-US" altLang="en-US" sz="4200" spc="-200" dirty="0">
                <a:solidFill>
                  <a:srgbClr val="2D2DB9"/>
                </a:solidFill>
              </a:rPr>
              <a:t>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8" y="609600"/>
            <a:ext cx="9140542" cy="6248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/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  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altLang="zh-TW" sz="20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圓角矩形圖說文字 4"/>
          <p:cNvSpPr/>
          <p:nvPr/>
        </p:nvSpPr>
        <p:spPr bwMode="auto">
          <a:xfrm>
            <a:off x="6781800" y="5872480"/>
            <a:ext cx="2361565" cy="985520"/>
          </a:xfrm>
          <a:prstGeom prst="wedgeRoundRectCallout">
            <a:avLst>
              <a:gd name="adj1" fmla="val -158841"/>
              <a:gd name="adj2" fmla="val -5533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These all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involve classes.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428358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73396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97596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rapezoid 11"/>
          <p:cNvSpPr>
            <a:spLocks noChangeAspect="1"/>
          </p:cNvSpPr>
          <p:nvPr/>
        </p:nvSpPr>
        <p:spPr bwMode="auto">
          <a:xfrm rot="2700000" flipH="1">
            <a:off x="6883994" y="459515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#87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859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0000"/>
              </a:lnSpc>
            </a:pPr>
            <a:r>
              <a:rPr lang="en-US" altLang="zh-TW" sz="2600" spc="-4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Return an iterator yielding those items of </a:t>
            </a:r>
            <a:r>
              <a:rPr lang="en-US" altLang="zh-TW" sz="2600" spc="-4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4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for which function(item) is true. If function is None, return the items that are true.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Make an iterator that computes the function using arguments from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of the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  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1396" y="6428358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7620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962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7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>
                <a:solidFill>
                  <a:srgbClr val="2D2DB9"/>
                </a:solidFill>
              </a:rPr>
              <a:t>classmethod</a:t>
            </a:r>
            <a:r>
              <a:rPr lang="en-US" altLang="en-US" spc="-100" dirty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Help 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:</a:t>
            </a:r>
          </a:p>
          <a:p>
            <a:pPr defTabSz="914400">
              <a:lnSpc>
                <a:spcPct val="84000"/>
              </a:lnSpc>
            </a:pPr>
            <a:endParaRPr lang="en-US" altLang="zh-TW" sz="1200" spc="-1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(object)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100" dirty="0">
                <a:solidFill>
                  <a:schemeClr val="bg1"/>
                </a:solidFill>
                <a:latin typeface="Consolas" panose="020B0609020204030204" pitchFamily="49" charset="0"/>
              </a:rPr>
              <a:t>Convert a function to be a class method.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class method receives</a:t>
            </a:r>
            <a:r>
              <a:rPr lang="en-US" altLang="zh-TW" spc="-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pc="-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as implicit</a:t>
            </a:r>
            <a:r>
              <a:rPr lang="en-US" altLang="zh-TW" spc="-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schemeClr val="bg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2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100" dirty="0">
                <a:solidFill>
                  <a:schemeClr val="bg1"/>
                </a:solidFill>
                <a:latin typeface="Consolas" panose="020B0609020204030204" pitchFamily="49" charset="0"/>
              </a:rPr>
              <a:t>just like an instance method receives the instance.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To declare a class method, use this idiom: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class C: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@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endParaRPr lang="en-US" altLang="zh-TW" sz="2400" spc="-1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f(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cls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, arg1, arg2, ...):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    ...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A6A6A6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 err="1">
                <a:solidFill>
                  <a:srgbClr val="A6A6A6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instance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A6A6A6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. C().f())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.  The instance is ignored except for its clas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 If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clas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6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17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A6A6A6"/>
                </a:solidFill>
                <a:latin typeface="Consolas" panose="020B0609020204030204" pitchFamily="49" charset="0"/>
              </a:rPr>
              <a:t>derived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50" dirty="0">
                <a:solidFill>
                  <a:srgbClr val="A6A6A6"/>
                </a:solidFill>
                <a:latin typeface="Consolas" panose="020B0609020204030204" pitchFamily="49" charset="0"/>
              </a:rPr>
              <a:t>class object is passed as the implied first argument.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Class</a:t>
            </a:r>
            <a:r>
              <a:rPr lang="en-US" altLang="zh-TW" sz="18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methods</a:t>
            </a:r>
            <a:r>
              <a:rPr lang="en-US" altLang="zh-TW" sz="18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differ</a:t>
            </a:r>
            <a:r>
              <a:rPr lang="en-US" altLang="zh-TW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C++</a:t>
            </a:r>
            <a:r>
              <a:rPr lang="en-US" altLang="zh-TW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Java</a:t>
            </a:r>
            <a:r>
              <a:rPr lang="en-US" altLang="zh-TW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z="18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methods.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If you want those, see the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endParaRPr lang="en-US" altLang="zh-TW" sz="2400" spc="-1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endParaRPr lang="en-US" altLang="zh-TW" sz="2400" spc="-1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98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None, return the items that are true.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Make an iterator that computes the function using arguments from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of the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1396" y="6400800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762000" y="64770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67200" y="64770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6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>
                <a:solidFill>
                  <a:srgbClr val="2D2DB9"/>
                </a:solidFill>
              </a:rPr>
              <a:t>staticmethod</a:t>
            </a:r>
            <a:r>
              <a:rPr lang="en-US" altLang="en-US" spc="-100" dirty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Help 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:</a:t>
            </a:r>
          </a:p>
          <a:p>
            <a:pPr defTabSz="914400">
              <a:lnSpc>
                <a:spcPct val="84000"/>
              </a:lnSpc>
            </a:pPr>
            <a:endParaRPr lang="en-US" altLang="zh-TW" sz="2400" spc="-1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(object)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Convert a function to be a static method.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6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z="18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does</a:t>
            </a:r>
            <a:r>
              <a:rPr lang="en-US" altLang="zh-TW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not</a:t>
            </a:r>
            <a:r>
              <a:rPr lang="en-US" altLang="zh-TW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rec</a:t>
            </a:r>
            <a:r>
              <a:rPr lang="en-US" altLang="zh-TW" sz="2400" spc="-250" dirty="0">
                <a:solidFill>
                  <a:srgbClr val="A6A6A6"/>
                </a:solidFill>
                <a:latin typeface="Consolas" panose="020B0609020204030204" pitchFamily="49" charset="0"/>
              </a:rPr>
              <a:t>ei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ve</a:t>
            </a:r>
            <a:r>
              <a:rPr lang="en-US" altLang="zh-TW" sz="18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implicit</a:t>
            </a:r>
            <a:r>
              <a:rPr lang="en-US" altLang="zh-TW" sz="18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260" dirty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rst</a:t>
            </a:r>
            <a:r>
              <a:rPr lang="en-US" altLang="zh-TW" sz="18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To declare a static method, use this idiom: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 class C: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     @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endParaRPr lang="en-US" altLang="zh-TW" sz="2400" spc="-1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    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f(arg1, arg2, ...):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             ...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A6A6A6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err="1">
                <a:solidFill>
                  <a:srgbClr val="A6A6A6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instance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A6A6A6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. C().f())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.  The instance is ignored except for its clas</a:t>
            </a:r>
            <a:r>
              <a:rPr lang="en-US" altLang="zh-TW" sz="2400" spc="-400" dirty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250" dirty="0">
                <a:solidFill>
                  <a:srgbClr val="A6A6A6"/>
                </a:solidFill>
                <a:latin typeface="Consolas" panose="020B0609020204030204" pitchFamily="49" charset="0"/>
              </a:rPr>
              <a:t>Static methods in Python are similar to those of Java or C++.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For a more advanced concept, see the </a:t>
            </a:r>
            <a:r>
              <a:rPr lang="en-US" altLang="zh-TW" sz="2400" spc="-16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 err="1">
                <a:solidFill>
                  <a:srgbClr val="A6A6A6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6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852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Make an iterator that computes the function using arguments from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of the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[0];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1396" y="6403657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767052" y="646019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935608" y="6469423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91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Make an iterator that computes the function using arguments from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of the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[0];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30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Make an iterator that computes the function using arguments from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of the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[0];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88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arguments from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of the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[0];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84000"/>
              </a:lnSpc>
            </a:pPr>
            <a:r>
              <a:rPr lang="en-US" altLang="zh-TW" sz="2600" spc="-5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852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iter(callable, sentinel) -&gt; iterator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>
                <a:solidFill>
                  <a:srgbClr val="2D2DB9"/>
                </a:solidFill>
              </a:rPr>
              <a:t>Remaining Built-in Functions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0840" y="685800"/>
            <a:ext cx="9179892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the shortest 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is exhausted.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StillLef</a:t>
            </a:r>
            <a:r>
              <a:rPr lang="en-US" altLang="zh-TW" sz="2600" spc="-2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t.</a:t>
            </a:r>
            <a:r>
              <a:rPr lang="en-US" altLang="zh-TW" sz="2600" spc="-6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35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StillLeft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'object</a:t>
            </a:r>
            <a:r>
              <a:rPr lang="en-US" altLang="zh-TW" sz="2600" spc="-3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, 'property',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 'super'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[6]; 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 help(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endParaRPr lang="en-US" altLang="zh-TW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[0];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300" dirty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84000"/>
              </a:lnSpc>
            </a:pPr>
            <a:r>
              <a:rPr lang="en-US" altLang="zh-TW" sz="2600" spc="-5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-11396" y="6428358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7620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20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13120</TotalTime>
  <Words>16714</Words>
  <Application>Microsoft Office PowerPoint</Application>
  <PresentationFormat>如螢幕大小 (4:3)</PresentationFormat>
  <Paragraphs>2011</Paragraphs>
  <Slides>110</Slides>
  <Notes>57</Notes>
  <HiddenSlides>0</HiddenSlides>
  <MMClips>2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110</vt:i4>
      </vt:variant>
    </vt:vector>
  </HeadingPairs>
  <TitlesOfParts>
    <vt:vector size="129" baseType="lpstr">
      <vt:lpstr>Arial Unicode MS</vt:lpstr>
      <vt:lpstr>MS PGothic</vt:lpstr>
      <vt:lpstr>Agency FB</vt:lpstr>
      <vt:lpstr>Arial</vt:lpstr>
      <vt:lpstr>Arial Narrow</vt:lpstr>
      <vt:lpstr>Calibri</vt:lpstr>
      <vt:lpstr>Calibri Light</vt:lpstr>
      <vt:lpstr>Century</vt:lpstr>
      <vt:lpstr>Consolas</vt:lpstr>
      <vt:lpstr>Courier New</vt:lpstr>
      <vt:lpstr>Elephant</vt:lpstr>
      <vt:lpstr>Lucida Console</vt:lpstr>
      <vt:lpstr>Lucida Fax</vt:lpstr>
      <vt:lpstr>Lucida Sans</vt:lpstr>
      <vt:lpstr>Times New Roman</vt:lpstr>
      <vt:lpstr>Wingdings</vt:lpstr>
      <vt:lpstr>Default Design</vt:lpstr>
      <vt:lpstr>3_Office Theme</vt:lpstr>
      <vt:lpstr>1_Default Design</vt:lpstr>
      <vt:lpstr>PowerPoint 簡報</vt:lpstr>
      <vt:lpstr>PowerPoint 簡報</vt:lpstr>
      <vt:lpstr>PowerPoint 簡報</vt:lpstr>
      <vt:lpstr>Object-Oriented Basics</vt:lpstr>
      <vt:lpstr>Object Oriented Programming (OOP)</vt:lpstr>
      <vt:lpstr>Creating and Using a Class</vt:lpstr>
      <vt:lpstr>Creating and Using a Class</vt:lpstr>
      <vt:lpstr>Creating and Using a Class</vt:lpstr>
      <vt:lpstr>Creating and Using a Class</vt:lpstr>
      <vt:lpstr>Creating Multiple Objects</vt:lpstr>
      <vt:lpstr>A simple class definition:</vt:lpstr>
      <vt:lpstr>A class containing a method:</vt:lpstr>
      <vt:lpstr>A class containing a method:</vt:lpstr>
      <vt:lpstr>A class containing a method:</vt:lpstr>
      <vt:lpstr>A class containing a method:</vt:lpstr>
      <vt:lpstr>PowerPoint 簡報</vt:lpstr>
      <vt:lpstr>PowerPoint 簡報</vt:lpstr>
      <vt:lpstr>PowerPoint 簡報</vt:lpstr>
      <vt:lpstr>Dynamically adding to an object:</vt:lpstr>
      <vt:lpstr>Two Types of Attributes</vt:lpstr>
      <vt:lpstr>Two Types of Attributes</vt:lpstr>
      <vt:lpstr>Creating a Class Attribute</vt:lpstr>
      <vt:lpstr>Accessing a Class Attribute</vt:lpstr>
      <vt:lpstr>PowerPoint 簡報</vt:lpstr>
      <vt:lpstr>PowerPoint 簡報</vt:lpstr>
      <vt:lpstr>PowerPoint 簡報</vt:lpstr>
      <vt:lpstr>Dynamically adding to instance</vt:lpstr>
      <vt:lpstr>Two Types of Attributes</vt:lpstr>
      <vt:lpstr>Using Constructors</vt:lpstr>
      <vt:lpstr>Creating a Constructor</vt:lpstr>
      <vt:lpstr>Initialize Attribs in Constructor</vt:lpstr>
      <vt:lpstr>Accessing Attributes</vt:lpstr>
      <vt:lpstr>Creating Classes for Objects</vt:lpstr>
      <vt:lpstr>Creating Classes for Objects</vt:lpstr>
      <vt:lpstr>Creating Classes for Objects</vt:lpstr>
      <vt:lpstr>Creating Classes for Objects</vt:lpstr>
      <vt:lpstr>Creating Classes for Objects</vt:lpstr>
      <vt:lpstr>Creating Classes for Objects</vt:lpstr>
      <vt:lpstr>Creating Classes for Objects</vt:lpstr>
      <vt:lpstr>Two Types of Attributes</vt:lpstr>
      <vt:lpstr>Three Types of Methods</vt:lpstr>
      <vt:lpstr>Three Types of Methods</vt:lpstr>
      <vt:lpstr>Three Types of Methods</vt:lpstr>
      <vt:lpstr>Three Types of Methods</vt:lpstr>
      <vt:lpstr>Three Types of Methods</vt:lpstr>
      <vt:lpstr>Three Types of Methods</vt:lpstr>
      <vt:lpstr>Printing an Object: __str__</vt:lpstr>
      <vt:lpstr>PowerPoint 簡報</vt:lpstr>
      <vt:lpstr>PowerPoint 簡報</vt:lpstr>
      <vt:lpstr>Which classes support which ops?</vt:lpstr>
      <vt:lpstr>Solve the mystery…</vt:lpstr>
      <vt:lpstr>Solve the mystery…</vt:lpstr>
      <vt:lpstr>Solve the mystery…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Solve the mystery…</vt:lpstr>
      <vt:lpstr>PowerPoint 簡報</vt:lpstr>
      <vt:lpstr>Solving the mystery</vt:lpstr>
      <vt:lpstr>More Special Methods</vt:lpstr>
      <vt:lpstr>Iterable Special Methods</vt:lpstr>
      <vt:lpstr>Container Special Methods</vt:lpstr>
      <vt:lpstr>PowerPoint 簡報</vt:lpstr>
      <vt:lpstr>PowerPoint 簡報</vt:lpstr>
      <vt:lpstr>Function-like Special Method</vt:lpstr>
      <vt:lpstr>PowerPoint 簡報</vt:lpstr>
      <vt:lpstr>PowerPoint 簡報</vt:lpstr>
      <vt:lpstr>Setting default values</vt:lpstr>
      <vt:lpstr>Setting default values</vt:lpstr>
      <vt:lpstr>Setting default values</vt:lpstr>
      <vt:lpstr>Setting default values</vt:lpstr>
      <vt:lpstr>Setting default values</vt:lpstr>
      <vt:lpstr>Setting default values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Creating a Static Method</vt:lpstr>
      <vt:lpstr>Invoking a Static Method</vt:lpstr>
      <vt:lpstr>PowerPoint 簡報</vt:lpstr>
      <vt:lpstr>Three types of methods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黃啟桓</cp:lastModifiedBy>
  <cp:revision>705</cp:revision>
  <dcterms:created xsi:type="dcterms:W3CDTF">2009-03-01T03:18:16Z</dcterms:created>
  <dcterms:modified xsi:type="dcterms:W3CDTF">2021-05-18T12:45:25Z</dcterms:modified>
</cp:coreProperties>
</file>