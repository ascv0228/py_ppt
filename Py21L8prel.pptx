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  <p:sldMasterId id="2147484032" r:id="rId2"/>
    <p:sldMasterId id="2147484044" r:id="rId3"/>
    <p:sldMasterId id="2147484056" r:id="rId4"/>
    <p:sldMasterId id="2147484068" r:id="rId5"/>
    <p:sldMasterId id="2147484080" r:id="rId6"/>
    <p:sldMasterId id="2147484092" r:id="rId7"/>
    <p:sldMasterId id="2147484152" r:id="rId8"/>
    <p:sldMasterId id="2147484164" r:id="rId9"/>
    <p:sldMasterId id="2147484176" r:id="rId10"/>
  </p:sldMasterIdLst>
  <p:notesMasterIdLst>
    <p:notesMasterId r:id="rId196"/>
  </p:notesMasterIdLst>
  <p:sldIdLst>
    <p:sldId id="2273" r:id="rId11"/>
    <p:sldId id="2274" r:id="rId12"/>
    <p:sldId id="2275" r:id="rId13"/>
    <p:sldId id="2276" r:id="rId14"/>
    <p:sldId id="2277" r:id="rId15"/>
    <p:sldId id="2278" r:id="rId16"/>
    <p:sldId id="2279" r:id="rId17"/>
    <p:sldId id="2280" r:id="rId18"/>
    <p:sldId id="2281" r:id="rId19"/>
    <p:sldId id="2282" r:id="rId20"/>
    <p:sldId id="2283" r:id="rId21"/>
    <p:sldId id="2284" r:id="rId22"/>
    <p:sldId id="2285" r:id="rId23"/>
    <p:sldId id="2287" r:id="rId24"/>
    <p:sldId id="2288" r:id="rId25"/>
    <p:sldId id="2289" r:id="rId26"/>
    <p:sldId id="2290" r:id="rId27"/>
    <p:sldId id="2324" r:id="rId28"/>
    <p:sldId id="2325" r:id="rId29"/>
    <p:sldId id="2326" r:id="rId30"/>
    <p:sldId id="2327" r:id="rId31"/>
    <p:sldId id="2295" r:id="rId32"/>
    <p:sldId id="2296" r:id="rId33"/>
    <p:sldId id="2323" r:id="rId34"/>
    <p:sldId id="2146" r:id="rId35"/>
    <p:sldId id="2145" r:id="rId36"/>
    <p:sldId id="2140" r:id="rId37"/>
    <p:sldId id="2141" r:id="rId38"/>
    <p:sldId id="2160" r:id="rId39"/>
    <p:sldId id="2161" r:id="rId40"/>
    <p:sldId id="2163" r:id="rId41"/>
    <p:sldId id="2162" r:id="rId42"/>
    <p:sldId id="2164" r:id="rId43"/>
    <p:sldId id="2166" r:id="rId44"/>
    <p:sldId id="2165" r:id="rId45"/>
    <p:sldId id="2272" r:id="rId46"/>
    <p:sldId id="2244" r:id="rId47"/>
    <p:sldId id="2245" r:id="rId48"/>
    <p:sldId id="2247" r:id="rId49"/>
    <p:sldId id="2257" r:id="rId50"/>
    <p:sldId id="2252" r:id="rId51"/>
    <p:sldId id="2253" r:id="rId52"/>
    <p:sldId id="2256" r:id="rId53"/>
    <p:sldId id="2254" r:id="rId54"/>
    <p:sldId id="2255" r:id="rId55"/>
    <p:sldId id="2248" r:id="rId56"/>
    <p:sldId id="2258" r:id="rId57"/>
    <p:sldId id="2259" r:id="rId58"/>
    <p:sldId id="2233" r:id="rId59"/>
    <p:sldId id="2260" r:id="rId60"/>
    <p:sldId id="2261" r:id="rId61"/>
    <p:sldId id="2263" r:id="rId62"/>
    <p:sldId id="2265" r:id="rId63"/>
    <p:sldId id="2264" r:id="rId64"/>
    <p:sldId id="2242" r:id="rId65"/>
    <p:sldId id="2037" r:id="rId66"/>
    <p:sldId id="2038" r:id="rId67"/>
    <p:sldId id="2039" r:id="rId68"/>
    <p:sldId id="2040" r:id="rId69"/>
    <p:sldId id="2041" r:id="rId70"/>
    <p:sldId id="2042" r:id="rId71"/>
    <p:sldId id="2167" r:id="rId72"/>
    <p:sldId id="2043" r:id="rId73"/>
    <p:sldId id="2044" r:id="rId74"/>
    <p:sldId id="2045" r:id="rId75"/>
    <p:sldId id="2046" r:id="rId76"/>
    <p:sldId id="2047" r:id="rId77"/>
    <p:sldId id="2048" r:id="rId78"/>
    <p:sldId id="2049" r:id="rId79"/>
    <p:sldId id="2050" r:id="rId80"/>
    <p:sldId id="2051" r:id="rId81"/>
    <p:sldId id="2269" r:id="rId82"/>
    <p:sldId id="2270" r:id="rId83"/>
    <p:sldId id="2056" r:id="rId84"/>
    <p:sldId id="2057" r:id="rId85"/>
    <p:sldId id="2058" r:id="rId86"/>
    <p:sldId id="2059" r:id="rId87"/>
    <p:sldId id="2060" r:id="rId88"/>
    <p:sldId id="2061" r:id="rId89"/>
    <p:sldId id="2062" r:id="rId90"/>
    <p:sldId id="2063" r:id="rId91"/>
    <p:sldId id="2064" r:id="rId92"/>
    <p:sldId id="2267" r:id="rId93"/>
    <p:sldId id="2268" r:id="rId94"/>
    <p:sldId id="2067" r:id="rId95"/>
    <p:sldId id="2068" r:id="rId96"/>
    <p:sldId id="2069" r:id="rId97"/>
    <p:sldId id="2070" r:id="rId98"/>
    <p:sldId id="2071" r:id="rId99"/>
    <p:sldId id="2148" r:id="rId100"/>
    <p:sldId id="2072" r:id="rId101"/>
    <p:sldId id="2073" r:id="rId102"/>
    <p:sldId id="2151" r:id="rId103"/>
    <p:sldId id="2153" r:id="rId104"/>
    <p:sldId id="2152" r:id="rId105"/>
    <p:sldId id="2150" r:id="rId106"/>
    <p:sldId id="1896" r:id="rId107"/>
    <p:sldId id="1897" r:id="rId108"/>
    <p:sldId id="1898" r:id="rId109"/>
    <p:sldId id="1899" r:id="rId110"/>
    <p:sldId id="1900" r:id="rId111"/>
    <p:sldId id="1944" r:id="rId112"/>
    <p:sldId id="2123" r:id="rId113"/>
    <p:sldId id="2122" r:id="rId114"/>
    <p:sldId id="1993" r:id="rId115"/>
    <p:sldId id="1996" r:id="rId116"/>
    <p:sldId id="1997" r:id="rId117"/>
    <p:sldId id="1998" r:id="rId118"/>
    <p:sldId id="1999" r:id="rId119"/>
    <p:sldId id="2000" r:id="rId120"/>
    <p:sldId id="1912" r:id="rId121"/>
    <p:sldId id="1913" r:id="rId122"/>
    <p:sldId id="1914" r:id="rId123"/>
    <p:sldId id="1915" r:id="rId124"/>
    <p:sldId id="1916" r:id="rId125"/>
    <p:sldId id="2106" r:id="rId126"/>
    <p:sldId id="2124" r:id="rId127"/>
    <p:sldId id="1918" r:id="rId128"/>
    <p:sldId id="1919" r:id="rId129"/>
    <p:sldId id="1920" r:id="rId130"/>
    <p:sldId id="1921" r:id="rId131"/>
    <p:sldId id="1922" r:id="rId132"/>
    <p:sldId id="1923" r:id="rId133"/>
    <p:sldId id="1924" r:id="rId134"/>
    <p:sldId id="1925" r:id="rId135"/>
    <p:sldId id="1931" r:id="rId136"/>
    <p:sldId id="1934" r:id="rId137"/>
    <p:sldId id="1935" r:id="rId138"/>
    <p:sldId id="1928" r:id="rId139"/>
    <p:sldId id="1929" r:id="rId140"/>
    <p:sldId id="1945" r:id="rId141"/>
    <p:sldId id="1932" r:id="rId142"/>
    <p:sldId id="1936" r:id="rId143"/>
    <p:sldId id="1937" r:id="rId144"/>
    <p:sldId id="2001" r:id="rId145"/>
    <p:sldId id="1938" r:id="rId146"/>
    <p:sldId id="2194" r:id="rId147"/>
    <p:sldId id="2195" r:id="rId148"/>
    <p:sldId id="2196" r:id="rId149"/>
    <p:sldId id="2197" r:id="rId150"/>
    <p:sldId id="2321" r:id="rId151"/>
    <p:sldId id="2198" r:id="rId152"/>
    <p:sldId id="2199" r:id="rId153"/>
    <p:sldId id="2200" r:id="rId154"/>
    <p:sldId id="2201" r:id="rId155"/>
    <p:sldId id="2322" r:id="rId156"/>
    <p:sldId id="2202" r:id="rId157"/>
    <p:sldId id="2203" r:id="rId158"/>
    <p:sldId id="2204" r:id="rId159"/>
    <p:sldId id="2205" r:id="rId160"/>
    <p:sldId id="2206" r:id="rId161"/>
    <p:sldId id="2207" r:id="rId162"/>
    <p:sldId id="2208" r:id="rId163"/>
    <p:sldId id="2209" r:id="rId164"/>
    <p:sldId id="2210" r:id="rId165"/>
    <p:sldId id="2320" r:id="rId166"/>
    <p:sldId id="2212" r:id="rId167"/>
    <p:sldId id="2213" r:id="rId168"/>
    <p:sldId id="2214" r:id="rId169"/>
    <p:sldId id="2215" r:id="rId170"/>
    <p:sldId id="2216" r:id="rId171"/>
    <p:sldId id="2217" r:id="rId172"/>
    <p:sldId id="2218" r:id="rId173"/>
    <p:sldId id="2219" r:id="rId174"/>
    <p:sldId id="2297" r:id="rId175"/>
    <p:sldId id="2298" r:id="rId176"/>
    <p:sldId id="2313" r:id="rId177"/>
    <p:sldId id="2303" r:id="rId178"/>
    <p:sldId id="2301" r:id="rId179"/>
    <p:sldId id="2302" r:id="rId180"/>
    <p:sldId id="2304" r:id="rId181"/>
    <p:sldId id="2305" r:id="rId182"/>
    <p:sldId id="2306" r:id="rId183"/>
    <p:sldId id="2309" r:id="rId184"/>
    <p:sldId id="2310" r:id="rId185"/>
    <p:sldId id="2311" r:id="rId186"/>
    <p:sldId id="2314" r:id="rId187"/>
    <p:sldId id="2315" r:id="rId188"/>
    <p:sldId id="2316" r:id="rId189"/>
    <p:sldId id="2318" r:id="rId190"/>
    <p:sldId id="2317" r:id="rId191"/>
    <p:sldId id="2319" r:id="rId192"/>
    <p:sldId id="2328" r:id="rId193"/>
    <p:sldId id="2329" r:id="rId194"/>
    <p:sldId id="2330" r:id="rId195"/>
  </p:sldIdLst>
  <p:sldSz cx="9737725" cy="6858000"/>
  <p:notesSz cx="6858000" cy="9144000"/>
  <p:defaultTextStyle>
    <a:defPPr>
      <a:defRPr lang="en-US"/>
    </a:defPPr>
    <a:lvl1pPr marL="0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1pPr>
    <a:lvl2pPr marL="423270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2pPr>
    <a:lvl3pPr marL="846541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3pPr>
    <a:lvl4pPr marL="1269811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4pPr>
    <a:lvl5pPr marL="169308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5pPr>
    <a:lvl6pPr marL="211635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6pPr>
    <a:lvl7pPr marL="253962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7pPr>
    <a:lvl8pPr marL="2962893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8pPr>
    <a:lvl9pPr marL="3386164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D2DB9"/>
    <a:srgbClr val="D9D9D9"/>
    <a:srgbClr val="00B050"/>
    <a:srgbClr val="FFCCFF"/>
    <a:srgbClr val="BFBFBF"/>
    <a:srgbClr val="FF66CC"/>
    <a:srgbClr val="FF3333"/>
    <a:srgbClr val="9D9D9D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48" autoAdjust="0"/>
    <p:restoredTop sz="94660"/>
  </p:normalViewPr>
  <p:slideViewPr>
    <p:cSldViewPr>
      <p:cViewPr>
        <p:scale>
          <a:sx n="45" d="100"/>
          <a:sy n="45" d="100"/>
        </p:scale>
        <p:origin x="632" y="532"/>
      </p:cViewPr>
      <p:guideLst>
        <p:guide orient="horz" pos="2160"/>
        <p:guide pos="30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57150" cy="5715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7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63" Type="http://schemas.openxmlformats.org/officeDocument/2006/relationships/slide" Target="slides/slide53.xml"/><Relationship Id="rId84" Type="http://schemas.openxmlformats.org/officeDocument/2006/relationships/slide" Target="slides/slide74.xml"/><Relationship Id="rId138" Type="http://schemas.openxmlformats.org/officeDocument/2006/relationships/slide" Target="slides/slide128.xml"/><Relationship Id="rId159" Type="http://schemas.openxmlformats.org/officeDocument/2006/relationships/slide" Target="slides/slide149.xml"/><Relationship Id="rId170" Type="http://schemas.openxmlformats.org/officeDocument/2006/relationships/slide" Target="slides/slide160.xml"/><Relationship Id="rId191" Type="http://schemas.openxmlformats.org/officeDocument/2006/relationships/slide" Target="slides/slide181.xml"/><Relationship Id="rId107" Type="http://schemas.openxmlformats.org/officeDocument/2006/relationships/slide" Target="slides/slide97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53" Type="http://schemas.openxmlformats.org/officeDocument/2006/relationships/slide" Target="slides/slide43.xml"/><Relationship Id="rId74" Type="http://schemas.openxmlformats.org/officeDocument/2006/relationships/slide" Target="slides/slide64.xml"/><Relationship Id="rId128" Type="http://schemas.openxmlformats.org/officeDocument/2006/relationships/slide" Target="slides/slide118.xml"/><Relationship Id="rId149" Type="http://schemas.openxmlformats.org/officeDocument/2006/relationships/slide" Target="slides/slide139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5.xml"/><Relationship Id="rId160" Type="http://schemas.openxmlformats.org/officeDocument/2006/relationships/slide" Target="slides/slide150.xml"/><Relationship Id="rId181" Type="http://schemas.openxmlformats.org/officeDocument/2006/relationships/slide" Target="slides/slide171.xml"/><Relationship Id="rId22" Type="http://schemas.openxmlformats.org/officeDocument/2006/relationships/slide" Target="slides/slide12.xml"/><Relationship Id="rId43" Type="http://schemas.openxmlformats.org/officeDocument/2006/relationships/slide" Target="slides/slide33.xml"/><Relationship Id="rId64" Type="http://schemas.openxmlformats.org/officeDocument/2006/relationships/slide" Target="slides/slide54.xml"/><Relationship Id="rId118" Type="http://schemas.openxmlformats.org/officeDocument/2006/relationships/slide" Target="slides/slide108.xml"/><Relationship Id="rId139" Type="http://schemas.openxmlformats.org/officeDocument/2006/relationships/slide" Target="slides/slide129.xml"/><Relationship Id="rId85" Type="http://schemas.openxmlformats.org/officeDocument/2006/relationships/slide" Target="slides/slide75.xml"/><Relationship Id="rId150" Type="http://schemas.openxmlformats.org/officeDocument/2006/relationships/slide" Target="slides/slide140.xml"/><Relationship Id="rId171" Type="http://schemas.openxmlformats.org/officeDocument/2006/relationships/slide" Target="slides/slide161.xml"/><Relationship Id="rId192" Type="http://schemas.openxmlformats.org/officeDocument/2006/relationships/slide" Target="slides/slide182.xml"/><Relationship Id="rId12" Type="http://schemas.openxmlformats.org/officeDocument/2006/relationships/slide" Target="slides/slide2.xml"/><Relationship Id="rId33" Type="http://schemas.openxmlformats.org/officeDocument/2006/relationships/slide" Target="slides/slide23.xml"/><Relationship Id="rId108" Type="http://schemas.openxmlformats.org/officeDocument/2006/relationships/slide" Target="slides/slide98.xml"/><Relationship Id="rId129" Type="http://schemas.openxmlformats.org/officeDocument/2006/relationships/slide" Target="slides/slide119.xml"/><Relationship Id="rId54" Type="http://schemas.openxmlformats.org/officeDocument/2006/relationships/slide" Target="slides/slide44.xml"/><Relationship Id="rId75" Type="http://schemas.openxmlformats.org/officeDocument/2006/relationships/slide" Target="slides/slide65.xml"/><Relationship Id="rId96" Type="http://schemas.openxmlformats.org/officeDocument/2006/relationships/slide" Target="slides/slide86.xml"/><Relationship Id="rId140" Type="http://schemas.openxmlformats.org/officeDocument/2006/relationships/slide" Target="slides/slide130.xml"/><Relationship Id="rId161" Type="http://schemas.openxmlformats.org/officeDocument/2006/relationships/slide" Target="slides/slide151.xml"/><Relationship Id="rId182" Type="http://schemas.openxmlformats.org/officeDocument/2006/relationships/slide" Target="slides/slide172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3.xml"/><Relationship Id="rId119" Type="http://schemas.openxmlformats.org/officeDocument/2006/relationships/slide" Target="slides/slide109.xml"/><Relationship Id="rId44" Type="http://schemas.openxmlformats.org/officeDocument/2006/relationships/slide" Target="slides/slide34.xml"/><Relationship Id="rId65" Type="http://schemas.openxmlformats.org/officeDocument/2006/relationships/slide" Target="slides/slide55.xml"/><Relationship Id="rId86" Type="http://schemas.openxmlformats.org/officeDocument/2006/relationships/slide" Target="slides/slide76.xml"/><Relationship Id="rId130" Type="http://schemas.openxmlformats.org/officeDocument/2006/relationships/slide" Target="slides/slide120.xml"/><Relationship Id="rId151" Type="http://schemas.openxmlformats.org/officeDocument/2006/relationships/slide" Target="slides/slide141.xml"/><Relationship Id="rId172" Type="http://schemas.openxmlformats.org/officeDocument/2006/relationships/slide" Target="slides/slide162.xml"/><Relationship Id="rId193" Type="http://schemas.openxmlformats.org/officeDocument/2006/relationships/slide" Target="slides/slide183.xml"/><Relationship Id="rId13" Type="http://schemas.openxmlformats.org/officeDocument/2006/relationships/slide" Target="slides/slide3.xml"/><Relationship Id="rId109" Type="http://schemas.openxmlformats.org/officeDocument/2006/relationships/slide" Target="slides/slide99.xml"/><Relationship Id="rId34" Type="http://schemas.openxmlformats.org/officeDocument/2006/relationships/slide" Target="slides/slide24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97" Type="http://schemas.openxmlformats.org/officeDocument/2006/relationships/slide" Target="slides/slide87.xml"/><Relationship Id="rId120" Type="http://schemas.openxmlformats.org/officeDocument/2006/relationships/slide" Target="slides/slide110.xml"/><Relationship Id="rId141" Type="http://schemas.openxmlformats.org/officeDocument/2006/relationships/slide" Target="slides/slide13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92" Type="http://schemas.openxmlformats.org/officeDocument/2006/relationships/slide" Target="slides/slide82.xml"/><Relationship Id="rId162" Type="http://schemas.openxmlformats.org/officeDocument/2006/relationships/slide" Target="slides/slide152.xml"/><Relationship Id="rId183" Type="http://schemas.openxmlformats.org/officeDocument/2006/relationships/slide" Target="slides/slide17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slide" Target="slides/slide77.xml"/><Relationship Id="rId110" Type="http://schemas.openxmlformats.org/officeDocument/2006/relationships/slide" Target="slides/slide100.xml"/><Relationship Id="rId115" Type="http://schemas.openxmlformats.org/officeDocument/2006/relationships/slide" Target="slides/slide105.xml"/><Relationship Id="rId131" Type="http://schemas.openxmlformats.org/officeDocument/2006/relationships/slide" Target="slides/slide121.xml"/><Relationship Id="rId136" Type="http://schemas.openxmlformats.org/officeDocument/2006/relationships/slide" Target="slides/slide126.xml"/><Relationship Id="rId157" Type="http://schemas.openxmlformats.org/officeDocument/2006/relationships/slide" Target="slides/slide147.xml"/><Relationship Id="rId178" Type="http://schemas.openxmlformats.org/officeDocument/2006/relationships/slide" Target="slides/slide168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52" Type="http://schemas.openxmlformats.org/officeDocument/2006/relationships/slide" Target="slides/slide142.xml"/><Relationship Id="rId173" Type="http://schemas.openxmlformats.org/officeDocument/2006/relationships/slide" Target="slides/slide163.xml"/><Relationship Id="rId194" Type="http://schemas.openxmlformats.org/officeDocument/2006/relationships/slide" Target="slides/slide184.xml"/><Relationship Id="rId199" Type="http://schemas.openxmlformats.org/officeDocument/2006/relationships/theme" Target="theme/theme1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56" Type="http://schemas.openxmlformats.org/officeDocument/2006/relationships/slide" Target="slides/slide46.xml"/><Relationship Id="rId77" Type="http://schemas.openxmlformats.org/officeDocument/2006/relationships/slide" Target="slides/slide67.xml"/><Relationship Id="rId100" Type="http://schemas.openxmlformats.org/officeDocument/2006/relationships/slide" Target="slides/slide90.xml"/><Relationship Id="rId105" Type="http://schemas.openxmlformats.org/officeDocument/2006/relationships/slide" Target="slides/slide95.xml"/><Relationship Id="rId126" Type="http://schemas.openxmlformats.org/officeDocument/2006/relationships/slide" Target="slides/slide116.xml"/><Relationship Id="rId147" Type="http://schemas.openxmlformats.org/officeDocument/2006/relationships/slide" Target="slides/slide137.xml"/><Relationship Id="rId168" Type="http://schemas.openxmlformats.org/officeDocument/2006/relationships/slide" Target="slides/slide15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93" Type="http://schemas.openxmlformats.org/officeDocument/2006/relationships/slide" Target="slides/slide83.xml"/><Relationship Id="rId98" Type="http://schemas.openxmlformats.org/officeDocument/2006/relationships/slide" Target="slides/slide88.xml"/><Relationship Id="rId121" Type="http://schemas.openxmlformats.org/officeDocument/2006/relationships/slide" Target="slides/slide111.xml"/><Relationship Id="rId142" Type="http://schemas.openxmlformats.org/officeDocument/2006/relationships/slide" Target="slides/slide132.xml"/><Relationship Id="rId163" Type="http://schemas.openxmlformats.org/officeDocument/2006/relationships/slide" Target="slides/slide153.xml"/><Relationship Id="rId184" Type="http://schemas.openxmlformats.org/officeDocument/2006/relationships/slide" Target="slides/slide174.xml"/><Relationship Id="rId189" Type="http://schemas.openxmlformats.org/officeDocument/2006/relationships/slide" Target="slides/slide179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5.xml"/><Relationship Id="rId46" Type="http://schemas.openxmlformats.org/officeDocument/2006/relationships/slide" Target="slides/slide36.xml"/><Relationship Id="rId67" Type="http://schemas.openxmlformats.org/officeDocument/2006/relationships/slide" Target="slides/slide57.xml"/><Relationship Id="rId116" Type="http://schemas.openxmlformats.org/officeDocument/2006/relationships/slide" Target="slides/slide106.xml"/><Relationship Id="rId137" Type="http://schemas.openxmlformats.org/officeDocument/2006/relationships/slide" Target="slides/slide127.xml"/><Relationship Id="rId158" Type="http://schemas.openxmlformats.org/officeDocument/2006/relationships/slide" Target="slides/slide148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62" Type="http://schemas.openxmlformats.org/officeDocument/2006/relationships/slide" Target="slides/slide52.xml"/><Relationship Id="rId83" Type="http://schemas.openxmlformats.org/officeDocument/2006/relationships/slide" Target="slides/slide73.xml"/><Relationship Id="rId88" Type="http://schemas.openxmlformats.org/officeDocument/2006/relationships/slide" Target="slides/slide78.xml"/><Relationship Id="rId111" Type="http://schemas.openxmlformats.org/officeDocument/2006/relationships/slide" Target="slides/slide101.xml"/><Relationship Id="rId132" Type="http://schemas.openxmlformats.org/officeDocument/2006/relationships/slide" Target="slides/slide122.xml"/><Relationship Id="rId153" Type="http://schemas.openxmlformats.org/officeDocument/2006/relationships/slide" Target="slides/slide143.xml"/><Relationship Id="rId174" Type="http://schemas.openxmlformats.org/officeDocument/2006/relationships/slide" Target="slides/slide164.xml"/><Relationship Id="rId179" Type="http://schemas.openxmlformats.org/officeDocument/2006/relationships/slide" Target="slides/slide169.xml"/><Relationship Id="rId195" Type="http://schemas.openxmlformats.org/officeDocument/2006/relationships/slide" Target="slides/slide185.xml"/><Relationship Id="rId190" Type="http://schemas.openxmlformats.org/officeDocument/2006/relationships/slide" Target="slides/slide180.xml"/><Relationship Id="rId15" Type="http://schemas.openxmlformats.org/officeDocument/2006/relationships/slide" Target="slides/slide5.xml"/><Relationship Id="rId36" Type="http://schemas.openxmlformats.org/officeDocument/2006/relationships/slide" Target="slides/slide26.xml"/><Relationship Id="rId57" Type="http://schemas.openxmlformats.org/officeDocument/2006/relationships/slide" Target="slides/slide47.xml"/><Relationship Id="rId106" Type="http://schemas.openxmlformats.org/officeDocument/2006/relationships/slide" Target="slides/slide96.xml"/><Relationship Id="rId127" Type="http://schemas.openxmlformats.org/officeDocument/2006/relationships/slide" Target="slides/slide11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52" Type="http://schemas.openxmlformats.org/officeDocument/2006/relationships/slide" Target="slides/slide42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94" Type="http://schemas.openxmlformats.org/officeDocument/2006/relationships/slide" Target="slides/slide84.xml"/><Relationship Id="rId99" Type="http://schemas.openxmlformats.org/officeDocument/2006/relationships/slide" Target="slides/slide89.xml"/><Relationship Id="rId101" Type="http://schemas.openxmlformats.org/officeDocument/2006/relationships/slide" Target="slides/slide91.xml"/><Relationship Id="rId122" Type="http://schemas.openxmlformats.org/officeDocument/2006/relationships/slide" Target="slides/slide112.xml"/><Relationship Id="rId143" Type="http://schemas.openxmlformats.org/officeDocument/2006/relationships/slide" Target="slides/slide133.xml"/><Relationship Id="rId148" Type="http://schemas.openxmlformats.org/officeDocument/2006/relationships/slide" Target="slides/slide138.xml"/><Relationship Id="rId164" Type="http://schemas.openxmlformats.org/officeDocument/2006/relationships/slide" Target="slides/slide154.xml"/><Relationship Id="rId169" Type="http://schemas.openxmlformats.org/officeDocument/2006/relationships/slide" Target="slides/slide159.xml"/><Relationship Id="rId185" Type="http://schemas.openxmlformats.org/officeDocument/2006/relationships/slide" Target="slides/slide17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80" Type="http://schemas.openxmlformats.org/officeDocument/2006/relationships/slide" Target="slides/slide170.xml"/><Relationship Id="rId26" Type="http://schemas.openxmlformats.org/officeDocument/2006/relationships/slide" Target="slides/slide16.xml"/><Relationship Id="rId47" Type="http://schemas.openxmlformats.org/officeDocument/2006/relationships/slide" Target="slides/slide37.xml"/><Relationship Id="rId68" Type="http://schemas.openxmlformats.org/officeDocument/2006/relationships/slide" Target="slides/slide58.xml"/><Relationship Id="rId89" Type="http://schemas.openxmlformats.org/officeDocument/2006/relationships/slide" Target="slides/slide79.xml"/><Relationship Id="rId112" Type="http://schemas.openxmlformats.org/officeDocument/2006/relationships/slide" Target="slides/slide102.xml"/><Relationship Id="rId133" Type="http://schemas.openxmlformats.org/officeDocument/2006/relationships/slide" Target="slides/slide123.xml"/><Relationship Id="rId154" Type="http://schemas.openxmlformats.org/officeDocument/2006/relationships/slide" Target="slides/slide144.xml"/><Relationship Id="rId175" Type="http://schemas.openxmlformats.org/officeDocument/2006/relationships/slide" Target="slides/slide165.xml"/><Relationship Id="rId196" Type="http://schemas.openxmlformats.org/officeDocument/2006/relationships/notesMaster" Target="notesMasters/notesMaster1.xml"/><Relationship Id="rId200" Type="http://schemas.openxmlformats.org/officeDocument/2006/relationships/tableStyles" Target="tableStyles.xml"/><Relationship Id="rId16" Type="http://schemas.openxmlformats.org/officeDocument/2006/relationships/slide" Target="slides/slide6.xml"/><Relationship Id="rId37" Type="http://schemas.openxmlformats.org/officeDocument/2006/relationships/slide" Target="slides/slide27.xml"/><Relationship Id="rId58" Type="http://schemas.openxmlformats.org/officeDocument/2006/relationships/slide" Target="slides/slide48.xml"/><Relationship Id="rId79" Type="http://schemas.openxmlformats.org/officeDocument/2006/relationships/slide" Target="slides/slide69.xml"/><Relationship Id="rId102" Type="http://schemas.openxmlformats.org/officeDocument/2006/relationships/slide" Target="slides/slide92.xml"/><Relationship Id="rId123" Type="http://schemas.openxmlformats.org/officeDocument/2006/relationships/slide" Target="slides/slide113.xml"/><Relationship Id="rId144" Type="http://schemas.openxmlformats.org/officeDocument/2006/relationships/slide" Target="slides/slide134.xml"/><Relationship Id="rId90" Type="http://schemas.openxmlformats.org/officeDocument/2006/relationships/slide" Target="slides/slide80.xml"/><Relationship Id="rId165" Type="http://schemas.openxmlformats.org/officeDocument/2006/relationships/slide" Target="slides/slide155.xml"/><Relationship Id="rId186" Type="http://schemas.openxmlformats.org/officeDocument/2006/relationships/slide" Target="slides/slide176.xml"/><Relationship Id="rId27" Type="http://schemas.openxmlformats.org/officeDocument/2006/relationships/slide" Target="slides/slide17.xml"/><Relationship Id="rId48" Type="http://schemas.openxmlformats.org/officeDocument/2006/relationships/slide" Target="slides/slide38.xml"/><Relationship Id="rId69" Type="http://schemas.openxmlformats.org/officeDocument/2006/relationships/slide" Target="slides/slide59.xml"/><Relationship Id="rId113" Type="http://schemas.openxmlformats.org/officeDocument/2006/relationships/slide" Target="slides/slide103.xml"/><Relationship Id="rId134" Type="http://schemas.openxmlformats.org/officeDocument/2006/relationships/slide" Target="slides/slide124.xml"/><Relationship Id="rId80" Type="http://schemas.openxmlformats.org/officeDocument/2006/relationships/slide" Target="slides/slide70.xml"/><Relationship Id="rId155" Type="http://schemas.openxmlformats.org/officeDocument/2006/relationships/slide" Target="slides/slide145.xml"/><Relationship Id="rId176" Type="http://schemas.openxmlformats.org/officeDocument/2006/relationships/slide" Target="slides/slide166.xml"/><Relationship Id="rId197" Type="http://schemas.openxmlformats.org/officeDocument/2006/relationships/presProps" Target="presProps.xml"/><Relationship Id="rId17" Type="http://schemas.openxmlformats.org/officeDocument/2006/relationships/slide" Target="slides/slide7.xml"/><Relationship Id="rId38" Type="http://schemas.openxmlformats.org/officeDocument/2006/relationships/slide" Target="slides/slide28.xml"/><Relationship Id="rId59" Type="http://schemas.openxmlformats.org/officeDocument/2006/relationships/slide" Target="slides/slide49.xml"/><Relationship Id="rId103" Type="http://schemas.openxmlformats.org/officeDocument/2006/relationships/slide" Target="slides/slide93.xml"/><Relationship Id="rId124" Type="http://schemas.openxmlformats.org/officeDocument/2006/relationships/slide" Target="slides/slide114.xml"/><Relationship Id="rId70" Type="http://schemas.openxmlformats.org/officeDocument/2006/relationships/slide" Target="slides/slide60.xml"/><Relationship Id="rId91" Type="http://schemas.openxmlformats.org/officeDocument/2006/relationships/slide" Target="slides/slide81.xml"/><Relationship Id="rId145" Type="http://schemas.openxmlformats.org/officeDocument/2006/relationships/slide" Target="slides/slide135.xml"/><Relationship Id="rId166" Type="http://schemas.openxmlformats.org/officeDocument/2006/relationships/slide" Target="slides/slide156.xml"/><Relationship Id="rId187" Type="http://schemas.openxmlformats.org/officeDocument/2006/relationships/slide" Target="slides/slide177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18.xml"/><Relationship Id="rId49" Type="http://schemas.openxmlformats.org/officeDocument/2006/relationships/slide" Target="slides/slide39.xml"/><Relationship Id="rId114" Type="http://schemas.openxmlformats.org/officeDocument/2006/relationships/slide" Target="slides/slide104.xml"/><Relationship Id="rId60" Type="http://schemas.openxmlformats.org/officeDocument/2006/relationships/slide" Target="slides/slide50.xml"/><Relationship Id="rId81" Type="http://schemas.openxmlformats.org/officeDocument/2006/relationships/slide" Target="slides/slide71.xml"/><Relationship Id="rId135" Type="http://schemas.openxmlformats.org/officeDocument/2006/relationships/slide" Target="slides/slide125.xml"/><Relationship Id="rId156" Type="http://schemas.openxmlformats.org/officeDocument/2006/relationships/slide" Target="slides/slide146.xml"/><Relationship Id="rId177" Type="http://schemas.openxmlformats.org/officeDocument/2006/relationships/slide" Target="slides/slide167.xml"/><Relationship Id="rId198" Type="http://schemas.openxmlformats.org/officeDocument/2006/relationships/viewProps" Target="viewProps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50" Type="http://schemas.openxmlformats.org/officeDocument/2006/relationships/slide" Target="slides/slide40.xml"/><Relationship Id="rId104" Type="http://schemas.openxmlformats.org/officeDocument/2006/relationships/slide" Target="slides/slide94.xml"/><Relationship Id="rId125" Type="http://schemas.openxmlformats.org/officeDocument/2006/relationships/slide" Target="slides/slide115.xml"/><Relationship Id="rId146" Type="http://schemas.openxmlformats.org/officeDocument/2006/relationships/slide" Target="slides/slide136.xml"/><Relationship Id="rId167" Type="http://schemas.openxmlformats.org/officeDocument/2006/relationships/slide" Target="slides/slide157.xml"/><Relationship Id="rId188" Type="http://schemas.openxmlformats.org/officeDocument/2006/relationships/slide" Target="slides/slide17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D558E-8742-4BFA-AD8A-F33C97E8B945}" type="datetimeFigureOut">
              <a:rPr lang="en-US" smtClean="0"/>
              <a:pPr/>
              <a:t>4/13/2021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0" y="1143000"/>
            <a:ext cx="4381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9357-523C-40C5-B7CE-88AC67A9F1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6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1pPr>
    <a:lvl2pPr marL="423270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2pPr>
    <a:lvl3pPr marL="846541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3pPr>
    <a:lvl4pPr marL="1269811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4pPr>
    <a:lvl5pPr marL="169308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5pPr>
    <a:lvl6pPr marL="211635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6pPr>
    <a:lvl7pPr marL="253962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7pPr>
    <a:lvl8pPr marL="2962893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8pPr>
    <a:lvl9pPr marL="3386164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B1ACFB-77F1-4BAA-94BF-87B88CDE883A}" type="slidenum">
              <a:rPr lang="en-US">
                <a:solidFill>
                  <a:prstClr val="black"/>
                </a:solidFill>
              </a:rPr>
              <a:pPr/>
              <a:t>72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8704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B1ACFB-77F1-4BAA-94BF-87B88CDE883A}" type="slidenum">
              <a:rPr lang="en-US">
                <a:solidFill>
                  <a:prstClr val="black"/>
                </a:solidFill>
              </a:rPr>
              <a:pPr/>
              <a:t>73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4830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B1ACFB-77F1-4BAA-94BF-87B88CDE883A}" type="slidenum">
              <a:rPr lang="en-US">
                <a:solidFill>
                  <a:prstClr val="black"/>
                </a:solidFill>
              </a:rPr>
              <a:pPr/>
              <a:t>74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3109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B1ACFB-77F1-4BAA-94BF-87B88CDE883A}" type="slidenum">
              <a:rPr lang="en-US">
                <a:solidFill>
                  <a:prstClr val="black"/>
                </a:solidFill>
              </a:rPr>
              <a:pPr/>
              <a:t>83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779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B1ACFB-77F1-4BAA-94BF-87B88CDE883A}" type="slidenum">
              <a:rPr lang="en-US">
                <a:solidFill>
                  <a:prstClr val="black"/>
                </a:solidFill>
              </a:rPr>
              <a:pPr/>
              <a:t>84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4582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97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1262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98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37345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99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34239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100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79448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101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29806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102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26391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113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61913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114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93736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115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77471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116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62882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117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48954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118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34459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119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461337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120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326089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121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58872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125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037904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132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84707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Linux+ Guide to Linux Certification, Second Edition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89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40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3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080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40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29" y="1535113"/>
            <a:ext cx="43042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29" y="2174875"/>
            <a:ext cx="4304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17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47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843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6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5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49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65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4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143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330" y="1122363"/>
            <a:ext cx="827706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216" y="3602038"/>
            <a:ext cx="730329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0" indent="0" algn="ctr">
              <a:buNone/>
              <a:defRPr sz="2000"/>
            </a:lvl2pPr>
            <a:lvl3pPr marL="914360" indent="0" algn="ctr">
              <a:buNone/>
              <a:defRPr sz="1800"/>
            </a:lvl3pPr>
            <a:lvl4pPr marL="1371540" indent="0" algn="ctr">
              <a:buNone/>
              <a:defRPr sz="1600"/>
            </a:lvl4pPr>
            <a:lvl5pPr marL="1828721" indent="0" algn="ctr">
              <a:buNone/>
              <a:defRPr sz="1600"/>
            </a:lvl5pPr>
            <a:lvl6pPr marL="2285901" indent="0" algn="ctr">
              <a:buNone/>
              <a:defRPr sz="1600"/>
            </a:lvl6pPr>
            <a:lvl7pPr marL="2743081" indent="0" algn="ctr">
              <a:buNone/>
              <a:defRPr sz="1600"/>
            </a:lvl7pPr>
            <a:lvl8pPr marL="3200261" indent="0" algn="ctr">
              <a:buNone/>
              <a:defRPr sz="1600"/>
            </a:lvl8pPr>
            <a:lvl9pPr marL="3657441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599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126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398" y="1709740"/>
            <a:ext cx="839878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398" y="4589466"/>
            <a:ext cx="839878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928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9469" y="1825625"/>
            <a:ext cx="413853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9723" y="1825625"/>
            <a:ext cx="413853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818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365128"/>
            <a:ext cx="8398788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38" y="1681164"/>
            <a:ext cx="41195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738" y="2505075"/>
            <a:ext cx="4119513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9725" y="1681164"/>
            <a:ext cx="413980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9725" y="2505075"/>
            <a:ext cx="413980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448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471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649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457200"/>
            <a:ext cx="314067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802" y="987427"/>
            <a:ext cx="492972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7" y="2057400"/>
            <a:ext cx="314067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0" indent="0">
              <a:buNone/>
              <a:defRPr sz="1200"/>
            </a:lvl3pPr>
            <a:lvl4pPr marL="1371540" indent="0">
              <a:buNone/>
              <a:defRPr sz="1000"/>
            </a:lvl4pPr>
            <a:lvl5pPr marL="1828721" indent="0">
              <a:buNone/>
              <a:defRPr sz="1000"/>
            </a:lvl5pPr>
            <a:lvl6pPr marL="2285901" indent="0">
              <a:buNone/>
              <a:defRPr sz="1000"/>
            </a:lvl6pPr>
            <a:lvl7pPr marL="2743081" indent="0">
              <a:buNone/>
              <a:defRPr sz="1000"/>
            </a:lvl7pPr>
            <a:lvl8pPr marL="3200261" indent="0">
              <a:buNone/>
              <a:defRPr sz="1000"/>
            </a:lvl8pPr>
            <a:lvl9pPr marL="3657441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579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457200"/>
            <a:ext cx="314067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9802" y="987427"/>
            <a:ext cx="492972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1" indent="0">
              <a:buNone/>
              <a:defRPr sz="2000"/>
            </a:lvl6pPr>
            <a:lvl7pPr marL="2743081" indent="0">
              <a:buNone/>
              <a:defRPr sz="2000"/>
            </a:lvl7pPr>
            <a:lvl8pPr marL="3200261" indent="0">
              <a:buNone/>
              <a:defRPr sz="2000"/>
            </a:lvl8pPr>
            <a:lvl9pPr marL="3657441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7" y="2057400"/>
            <a:ext cx="314067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0" indent="0">
              <a:buNone/>
              <a:defRPr sz="1200"/>
            </a:lvl3pPr>
            <a:lvl4pPr marL="1371540" indent="0">
              <a:buNone/>
              <a:defRPr sz="1000"/>
            </a:lvl4pPr>
            <a:lvl5pPr marL="1828721" indent="0">
              <a:buNone/>
              <a:defRPr sz="1000"/>
            </a:lvl5pPr>
            <a:lvl6pPr marL="2285901" indent="0">
              <a:buNone/>
              <a:defRPr sz="1000"/>
            </a:lvl6pPr>
            <a:lvl7pPr marL="2743081" indent="0">
              <a:buNone/>
              <a:defRPr sz="1000"/>
            </a:lvl7pPr>
            <a:lvl8pPr marL="3200261" indent="0">
              <a:buNone/>
              <a:defRPr sz="1000"/>
            </a:lvl8pPr>
            <a:lvl9pPr marL="3657441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792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0886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8560" y="365126"/>
            <a:ext cx="2099698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9470" y="365126"/>
            <a:ext cx="617736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>
                <a:defRPr/>
              </a:pPr>
              <a:t>4/13/2021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214B-8AB3-47AC-8DCC-1843CB75F9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5266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299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Linux+ Guide to Linux Certification, Second Edition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4886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3883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4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0" indent="0">
              <a:buNone/>
              <a:defRPr sz="1800"/>
            </a:lvl2pPr>
            <a:lvl3pPr marL="914360" indent="0">
              <a:buNone/>
              <a:defRPr sz="1600"/>
            </a:lvl3pPr>
            <a:lvl4pPr marL="1371540" indent="0">
              <a:buNone/>
              <a:defRPr sz="1400"/>
            </a:lvl4pPr>
            <a:lvl5pPr marL="1828721" indent="0">
              <a:buNone/>
              <a:defRPr sz="1400"/>
            </a:lvl5pPr>
            <a:lvl6pPr marL="2285901" indent="0">
              <a:buNone/>
              <a:defRPr sz="1400"/>
            </a:lvl6pPr>
            <a:lvl7pPr marL="2743081" indent="0">
              <a:buNone/>
              <a:defRPr sz="1400"/>
            </a:lvl7pPr>
            <a:lvl8pPr marL="3200261" indent="0">
              <a:buNone/>
              <a:defRPr sz="1400"/>
            </a:lvl8pPr>
            <a:lvl9pPr marL="3657441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7784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73524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1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1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30" y="1535113"/>
            <a:ext cx="430420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30" y="2174875"/>
            <a:ext cx="430420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63438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7358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718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57540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6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1" indent="0">
              <a:buNone/>
              <a:defRPr sz="2000"/>
            </a:lvl6pPr>
            <a:lvl7pPr marL="2743081" indent="0">
              <a:buNone/>
              <a:defRPr sz="2000"/>
            </a:lvl7pPr>
            <a:lvl8pPr marL="3200261" indent="0">
              <a:buNone/>
              <a:defRPr sz="2000"/>
            </a:lvl8pPr>
            <a:lvl9pPr marL="365744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04264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2602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5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94806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216" y="1122363"/>
            <a:ext cx="7303294" cy="2387600"/>
          </a:xfrm>
        </p:spPr>
        <p:txBody>
          <a:bodyPr anchor="b"/>
          <a:lstStyle>
            <a:lvl1pPr algn="ctr">
              <a:defRPr sz="4792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216" y="3602038"/>
            <a:ext cx="7303294" cy="1655762"/>
          </a:xfrm>
        </p:spPr>
        <p:txBody>
          <a:bodyPr/>
          <a:lstStyle>
            <a:lvl1pPr marL="0" indent="0" algn="ctr">
              <a:buNone/>
              <a:defRPr sz="1916"/>
            </a:lvl1pPr>
            <a:lvl2pPr marL="365088" indent="0" algn="ctr">
              <a:buNone/>
              <a:defRPr sz="1597"/>
            </a:lvl2pPr>
            <a:lvl3pPr marL="730176" indent="0" algn="ctr">
              <a:buNone/>
              <a:defRPr sz="1437"/>
            </a:lvl3pPr>
            <a:lvl4pPr marL="1095264" indent="0" algn="ctr">
              <a:buNone/>
              <a:defRPr sz="1278"/>
            </a:lvl4pPr>
            <a:lvl5pPr marL="1460352" indent="0" algn="ctr">
              <a:buNone/>
              <a:defRPr sz="1278"/>
            </a:lvl5pPr>
            <a:lvl6pPr marL="1825441" indent="0" algn="ctr">
              <a:buNone/>
              <a:defRPr sz="1278"/>
            </a:lvl6pPr>
            <a:lvl7pPr marL="2190528" indent="0" algn="ctr">
              <a:buNone/>
              <a:defRPr sz="1278"/>
            </a:lvl7pPr>
            <a:lvl8pPr marL="2555616" indent="0" algn="ctr">
              <a:buNone/>
              <a:defRPr sz="1278"/>
            </a:lvl8pPr>
            <a:lvl9pPr marL="2920705" indent="0" algn="ctr">
              <a:buNone/>
              <a:defRPr sz="1278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6287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8656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398" y="1709739"/>
            <a:ext cx="8398788" cy="2852737"/>
          </a:xfrm>
        </p:spPr>
        <p:txBody>
          <a:bodyPr anchor="b"/>
          <a:lstStyle>
            <a:lvl1pPr>
              <a:defRPr sz="4792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398" y="4589465"/>
            <a:ext cx="8398788" cy="1500187"/>
          </a:xfrm>
        </p:spPr>
        <p:txBody>
          <a:bodyPr/>
          <a:lstStyle>
            <a:lvl1pPr marL="0" indent="0">
              <a:buNone/>
              <a:defRPr sz="1916">
                <a:solidFill>
                  <a:schemeClr val="tx1">
                    <a:tint val="75000"/>
                  </a:schemeClr>
                </a:solidFill>
              </a:defRPr>
            </a:lvl1pPr>
            <a:lvl2pPr marL="365088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2pPr>
            <a:lvl3pPr marL="730176" indent="0">
              <a:buNone/>
              <a:defRPr sz="1437">
                <a:solidFill>
                  <a:schemeClr val="tx1">
                    <a:tint val="75000"/>
                  </a:schemeClr>
                </a:solidFill>
              </a:defRPr>
            </a:lvl3pPr>
            <a:lvl4pPr marL="1095264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4pPr>
            <a:lvl5pPr marL="1460352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5pPr>
            <a:lvl6pPr marL="1825441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6pPr>
            <a:lvl7pPr marL="2190528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7pPr>
            <a:lvl8pPr marL="2555616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8pPr>
            <a:lvl9pPr marL="2920705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0983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9469" y="1825625"/>
            <a:ext cx="413853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9723" y="1825625"/>
            <a:ext cx="413853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4449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365127"/>
            <a:ext cx="8398788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38" y="1681164"/>
            <a:ext cx="4119513" cy="823912"/>
          </a:xfrm>
        </p:spPr>
        <p:txBody>
          <a:bodyPr anchor="b"/>
          <a:lstStyle>
            <a:lvl1pPr marL="0" indent="0">
              <a:buNone/>
              <a:defRPr sz="1916" b="1"/>
            </a:lvl1pPr>
            <a:lvl2pPr marL="365088" indent="0">
              <a:buNone/>
              <a:defRPr sz="1597" b="1"/>
            </a:lvl2pPr>
            <a:lvl3pPr marL="730176" indent="0">
              <a:buNone/>
              <a:defRPr sz="1437" b="1"/>
            </a:lvl3pPr>
            <a:lvl4pPr marL="1095264" indent="0">
              <a:buNone/>
              <a:defRPr sz="1278" b="1"/>
            </a:lvl4pPr>
            <a:lvl5pPr marL="1460352" indent="0">
              <a:buNone/>
              <a:defRPr sz="1278" b="1"/>
            </a:lvl5pPr>
            <a:lvl6pPr marL="1825441" indent="0">
              <a:buNone/>
              <a:defRPr sz="1278" b="1"/>
            </a:lvl6pPr>
            <a:lvl7pPr marL="2190528" indent="0">
              <a:buNone/>
              <a:defRPr sz="1278" b="1"/>
            </a:lvl7pPr>
            <a:lvl8pPr marL="2555616" indent="0">
              <a:buNone/>
              <a:defRPr sz="1278" b="1"/>
            </a:lvl8pPr>
            <a:lvl9pPr marL="2920705" indent="0">
              <a:buNone/>
              <a:defRPr sz="127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738" y="2505075"/>
            <a:ext cx="4119513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9723" y="1681164"/>
            <a:ext cx="4139802" cy="823912"/>
          </a:xfrm>
        </p:spPr>
        <p:txBody>
          <a:bodyPr anchor="b"/>
          <a:lstStyle>
            <a:lvl1pPr marL="0" indent="0">
              <a:buNone/>
              <a:defRPr sz="1916" b="1"/>
            </a:lvl1pPr>
            <a:lvl2pPr marL="365088" indent="0">
              <a:buNone/>
              <a:defRPr sz="1597" b="1"/>
            </a:lvl2pPr>
            <a:lvl3pPr marL="730176" indent="0">
              <a:buNone/>
              <a:defRPr sz="1437" b="1"/>
            </a:lvl3pPr>
            <a:lvl4pPr marL="1095264" indent="0">
              <a:buNone/>
              <a:defRPr sz="1278" b="1"/>
            </a:lvl4pPr>
            <a:lvl5pPr marL="1460352" indent="0">
              <a:buNone/>
              <a:defRPr sz="1278" b="1"/>
            </a:lvl5pPr>
            <a:lvl6pPr marL="1825441" indent="0">
              <a:buNone/>
              <a:defRPr sz="1278" b="1"/>
            </a:lvl6pPr>
            <a:lvl7pPr marL="2190528" indent="0">
              <a:buNone/>
              <a:defRPr sz="1278" b="1"/>
            </a:lvl7pPr>
            <a:lvl8pPr marL="2555616" indent="0">
              <a:buNone/>
              <a:defRPr sz="1278" b="1"/>
            </a:lvl8pPr>
            <a:lvl9pPr marL="2920705" indent="0">
              <a:buNone/>
              <a:defRPr sz="127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9723" y="2505075"/>
            <a:ext cx="413980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9229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3292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2143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9" y="457200"/>
            <a:ext cx="3140669" cy="1600200"/>
          </a:xfrm>
        </p:spPr>
        <p:txBody>
          <a:bodyPr anchor="b"/>
          <a:lstStyle>
            <a:lvl1pPr>
              <a:defRPr sz="255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803" y="987426"/>
            <a:ext cx="4929723" cy="4873625"/>
          </a:xfrm>
        </p:spPr>
        <p:txBody>
          <a:bodyPr/>
          <a:lstStyle>
            <a:lvl1pPr>
              <a:defRPr sz="2555"/>
            </a:lvl1pPr>
            <a:lvl2pPr>
              <a:defRPr sz="2236"/>
            </a:lvl2pPr>
            <a:lvl3pPr>
              <a:defRPr sz="1916"/>
            </a:lvl3pPr>
            <a:lvl4pPr>
              <a:defRPr sz="1597"/>
            </a:lvl4pPr>
            <a:lvl5pPr>
              <a:defRPr sz="1597"/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9" y="2057400"/>
            <a:ext cx="3140669" cy="3811588"/>
          </a:xfrm>
        </p:spPr>
        <p:txBody>
          <a:bodyPr/>
          <a:lstStyle>
            <a:lvl1pPr marL="0" indent="0">
              <a:buNone/>
              <a:defRPr sz="1278"/>
            </a:lvl1pPr>
            <a:lvl2pPr marL="365088" indent="0">
              <a:buNone/>
              <a:defRPr sz="1117"/>
            </a:lvl2pPr>
            <a:lvl3pPr marL="730176" indent="0">
              <a:buNone/>
              <a:defRPr sz="958"/>
            </a:lvl3pPr>
            <a:lvl4pPr marL="1095264" indent="0">
              <a:buNone/>
              <a:defRPr sz="798"/>
            </a:lvl4pPr>
            <a:lvl5pPr marL="1460352" indent="0">
              <a:buNone/>
              <a:defRPr sz="798"/>
            </a:lvl5pPr>
            <a:lvl6pPr marL="1825441" indent="0">
              <a:buNone/>
              <a:defRPr sz="798"/>
            </a:lvl6pPr>
            <a:lvl7pPr marL="2190528" indent="0">
              <a:buNone/>
              <a:defRPr sz="798"/>
            </a:lvl7pPr>
            <a:lvl8pPr marL="2555616" indent="0">
              <a:buNone/>
              <a:defRPr sz="798"/>
            </a:lvl8pPr>
            <a:lvl9pPr marL="2920705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7013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9" y="457200"/>
            <a:ext cx="3140669" cy="1600200"/>
          </a:xfrm>
        </p:spPr>
        <p:txBody>
          <a:bodyPr anchor="b"/>
          <a:lstStyle>
            <a:lvl1pPr>
              <a:defRPr sz="255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9803" y="987426"/>
            <a:ext cx="4929723" cy="4873625"/>
          </a:xfrm>
        </p:spPr>
        <p:txBody>
          <a:bodyPr/>
          <a:lstStyle>
            <a:lvl1pPr marL="0" indent="0">
              <a:buNone/>
              <a:defRPr sz="2555"/>
            </a:lvl1pPr>
            <a:lvl2pPr marL="365088" indent="0">
              <a:buNone/>
              <a:defRPr sz="2236"/>
            </a:lvl2pPr>
            <a:lvl3pPr marL="730176" indent="0">
              <a:buNone/>
              <a:defRPr sz="1916"/>
            </a:lvl3pPr>
            <a:lvl4pPr marL="1095264" indent="0">
              <a:buNone/>
              <a:defRPr sz="1597"/>
            </a:lvl4pPr>
            <a:lvl5pPr marL="1460352" indent="0">
              <a:buNone/>
              <a:defRPr sz="1597"/>
            </a:lvl5pPr>
            <a:lvl6pPr marL="1825441" indent="0">
              <a:buNone/>
              <a:defRPr sz="1597"/>
            </a:lvl6pPr>
            <a:lvl7pPr marL="2190528" indent="0">
              <a:buNone/>
              <a:defRPr sz="1597"/>
            </a:lvl7pPr>
            <a:lvl8pPr marL="2555616" indent="0">
              <a:buNone/>
              <a:defRPr sz="1597"/>
            </a:lvl8pPr>
            <a:lvl9pPr marL="2920705" indent="0">
              <a:buNone/>
              <a:defRPr sz="159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9" y="2057400"/>
            <a:ext cx="3140669" cy="3811588"/>
          </a:xfrm>
        </p:spPr>
        <p:txBody>
          <a:bodyPr/>
          <a:lstStyle>
            <a:lvl1pPr marL="0" indent="0">
              <a:buNone/>
              <a:defRPr sz="1278"/>
            </a:lvl1pPr>
            <a:lvl2pPr marL="365088" indent="0">
              <a:buNone/>
              <a:defRPr sz="1117"/>
            </a:lvl2pPr>
            <a:lvl3pPr marL="730176" indent="0">
              <a:buNone/>
              <a:defRPr sz="958"/>
            </a:lvl3pPr>
            <a:lvl4pPr marL="1095264" indent="0">
              <a:buNone/>
              <a:defRPr sz="798"/>
            </a:lvl4pPr>
            <a:lvl5pPr marL="1460352" indent="0">
              <a:buNone/>
              <a:defRPr sz="798"/>
            </a:lvl5pPr>
            <a:lvl6pPr marL="1825441" indent="0">
              <a:buNone/>
              <a:defRPr sz="798"/>
            </a:lvl6pPr>
            <a:lvl7pPr marL="2190528" indent="0">
              <a:buNone/>
              <a:defRPr sz="798"/>
            </a:lvl7pPr>
            <a:lvl8pPr marL="2555616" indent="0">
              <a:buNone/>
              <a:defRPr sz="798"/>
            </a:lvl8pPr>
            <a:lvl9pPr marL="2920705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9995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000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8559" y="365126"/>
            <a:ext cx="2099697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9469" y="365126"/>
            <a:ext cx="617737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0127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330" y="1122363"/>
            <a:ext cx="827706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216" y="3602038"/>
            <a:ext cx="730329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0" indent="0" algn="ctr">
              <a:buNone/>
              <a:defRPr sz="2000"/>
            </a:lvl2pPr>
            <a:lvl3pPr marL="914360" indent="0" algn="ctr">
              <a:buNone/>
              <a:defRPr sz="1800"/>
            </a:lvl3pPr>
            <a:lvl4pPr marL="1371540" indent="0" algn="ctr">
              <a:buNone/>
              <a:defRPr sz="1600"/>
            </a:lvl4pPr>
            <a:lvl5pPr marL="1828721" indent="0" algn="ctr">
              <a:buNone/>
              <a:defRPr sz="1600"/>
            </a:lvl5pPr>
            <a:lvl6pPr marL="2285901" indent="0" algn="ctr">
              <a:buNone/>
              <a:defRPr sz="1600"/>
            </a:lvl6pPr>
            <a:lvl7pPr marL="2743081" indent="0" algn="ctr">
              <a:buNone/>
              <a:defRPr sz="1600"/>
            </a:lvl7pPr>
            <a:lvl8pPr marL="3200261" indent="0" algn="ctr">
              <a:buNone/>
              <a:defRPr sz="1600"/>
            </a:lvl8pPr>
            <a:lvl9pPr marL="3657441" indent="0" algn="ctr">
              <a:buNone/>
              <a:defRPr sz="1600"/>
            </a:lvl9pPr>
          </a:lstStyle>
          <a:p>
            <a:r>
              <a:rPr lang="en-US" altLang="zh-TW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6356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5387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398" y="1709739"/>
            <a:ext cx="839878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398" y="4589465"/>
            <a:ext cx="839878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2279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9469" y="1825625"/>
            <a:ext cx="4138533" cy="435133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9724" y="1825625"/>
            <a:ext cx="4138533" cy="435133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745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365127"/>
            <a:ext cx="8398788" cy="1325563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38" y="1681164"/>
            <a:ext cx="41195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738" y="2505075"/>
            <a:ext cx="4119513" cy="368458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9724" y="1681164"/>
            <a:ext cx="41398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9724" y="2505075"/>
            <a:ext cx="4139802" cy="368458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4023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2689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1114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457200"/>
            <a:ext cx="314067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801" y="987426"/>
            <a:ext cx="492972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7" y="2057400"/>
            <a:ext cx="314067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0" indent="0">
              <a:buNone/>
              <a:defRPr sz="1200"/>
            </a:lvl3pPr>
            <a:lvl4pPr marL="1371540" indent="0">
              <a:buNone/>
              <a:defRPr sz="1000"/>
            </a:lvl4pPr>
            <a:lvl5pPr marL="1828721" indent="0">
              <a:buNone/>
              <a:defRPr sz="1000"/>
            </a:lvl5pPr>
            <a:lvl6pPr marL="2285901" indent="0">
              <a:buNone/>
              <a:defRPr sz="1000"/>
            </a:lvl6pPr>
            <a:lvl7pPr marL="2743081" indent="0">
              <a:buNone/>
              <a:defRPr sz="1000"/>
            </a:lvl7pPr>
            <a:lvl8pPr marL="3200261" indent="0">
              <a:buNone/>
              <a:defRPr sz="1000"/>
            </a:lvl8pPr>
            <a:lvl9pPr marL="3657441" indent="0">
              <a:buNone/>
              <a:defRPr sz="1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6288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457200"/>
            <a:ext cx="314067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9801" y="987426"/>
            <a:ext cx="492972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1" indent="0">
              <a:buNone/>
              <a:defRPr sz="2000"/>
            </a:lvl6pPr>
            <a:lvl7pPr marL="2743081" indent="0">
              <a:buNone/>
              <a:defRPr sz="2000"/>
            </a:lvl7pPr>
            <a:lvl8pPr marL="3200261" indent="0">
              <a:buNone/>
              <a:defRPr sz="2000"/>
            </a:lvl8pPr>
            <a:lvl9pPr marL="3657441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7" y="2057400"/>
            <a:ext cx="314067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0" indent="0">
              <a:buNone/>
              <a:defRPr sz="1200"/>
            </a:lvl3pPr>
            <a:lvl4pPr marL="1371540" indent="0">
              <a:buNone/>
              <a:defRPr sz="1000"/>
            </a:lvl4pPr>
            <a:lvl5pPr marL="1828721" indent="0">
              <a:buNone/>
              <a:defRPr sz="1000"/>
            </a:lvl5pPr>
            <a:lvl6pPr marL="2285901" indent="0">
              <a:buNone/>
              <a:defRPr sz="1000"/>
            </a:lvl6pPr>
            <a:lvl7pPr marL="2743081" indent="0">
              <a:buNone/>
              <a:defRPr sz="1000"/>
            </a:lvl7pPr>
            <a:lvl8pPr marL="3200261" indent="0">
              <a:buNone/>
              <a:defRPr sz="1000"/>
            </a:lvl8pPr>
            <a:lvl9pPr marL="3657441" indent="0">
              <a:buNone/>
              <a:defRPr sz="1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91273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8468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8560" y="365126"/>
            <a:ext cx="2099697" cy="5811838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9469" y="365126"/>
            <a:ext cx="6177370" cy="5811838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4/13/2021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5928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299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Linux+ Guide to Linux Certification, Second Edition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4579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50430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4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0" indent="0">
              <a:buNone/>
              <a:defRPr sz="1800"/>
            </a:lvl2pPr>
            <a:lvl3pPr marL="914360" indent="0">
              <a:buNone/>
              <a:defRPr sz="1600"/>
            </a:lvl3pPr>
            <a:lvl4pPr marL="1371540" indent="0">
              <a:buNone/>
              <a:defRPr sz="1400"/>
            </a:lvl4pPr>
            <a:lvl5pPr marL="1828721" indent="0">
              <a:buNone/>
              <a:defRPr sz="1400"/>
            </a:lvl5pPr>
            <a:lvl6pPr marL="2285901" indent="0">
              <a:buNone/>
              <a:defRPr sz="1400"/>
            </a:lvl6pPr>
            <a:lvl7pPr marL="2743081" indent="0">
              <a:buNone/>
              <a:defRPr sz="1400"/>
            </a:lvl7pPr>
            <a:lvl8pPr marL="3200261" indent="0">
              <a:buNone/>
              <a:defRPr sz="1400"/>
            </a:lvl8pPr>
            <a:lvl9pPr marL="3657441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2483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1510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1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1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30" y="1535113"/>
            <a:ext cx="430420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30" y="2174875"/>
            <a:ext cx="430420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33383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1058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92900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96974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6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1" indent="0">
              <a:buNone/>
              <a:defRPr sz="2000"/>
            </a:lvl6pPr>
            <a:lvl7pPr marL="2743081" indent="0">
              <a:buNone/>
              <a:defRPr sz="2000"/>
            </a:lvl7pPr>
            <a:lvl8pPr marL="3200261" indent="0">
              <a:buNone/>
              <a:defRPr sz="2000"/>
            </a:lvl8pPr>
            <a:lvl9pPr marL="365744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6165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88567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5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18196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216" y="1122363"/>
            <a:ext cx="7303294" cy="2387600"/>
          </a:xfrm>
        </p:spPr>
        <p:txBody>
          <a:bodyPr anchor="b"/>
          <a:lstStyle>
            <a:lvl1pPr algn="ctr">
              <a:defRPr sz="4792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216" y="3602038"/>
            <a:ext cx="7303294" cy="1655762"/>
          </a:xfrm>
        </p:spPr>
        <p:txBody>
          <a:bodyPr/>
          <a:lstStyle>
            <a:lvl1pPr marL="0" indent="0" algn="ctr">
              <a:buNone/>
              <a:defRPr sz="1916"/>
            </a:lvl1pPr>
            <a:lvl2pPr marL="365088" indent="0" algn="ctr">
              <a:buNone/>
              <a:defRPr sz="1597"/>
            </a:lvl2pPr>
            <a:lvl3pPr marL="730176" indent="0" algn="ctr">
              <a:buNone/>
              <a:defRPr sz="1437"/>
            </a:lvl3pPr>
            <a:lvl4pPr marL="1095264" indent="0" algn="ctr">
              <a:buNone/>
              <a:defRPr sz="1278"/>
            </a:lvl4pPr>
            <a:lvl5pPr marL="1460352" indent="0" algn="ctr">
              <a:buNone/>
              <a:defRPr sz="1278"/>
            </a:lvl5pPr>
            <a:lvl6pPr marL="1825441" indent="0" algn="ctr">
              <a:buNone/>
              <a:defRPr sz="1278"/>
            </a:lvl6pPr>
            <a:lvl7pPr marL="2190528" indent="0" algn="ctr">
              <a:buNone/>
              <a:defRPr sz="1278"/>
            </a:lvl7pPr>
            <a:lvl8pPr marL="2555616" indent="0" algn="ctr">
              <a:buNone/>
              <a:defRPr sz="1278"/>
            </a:lvl8pPr>
            <a:lvl9pPr marL="2920705" indent="0" algn="ctr">
              <a:buNone/>
              <a:defRPr sz="1278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27963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32721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398" y="1709739"/>
            <a:ext cx="8398788" cy="2852737"/>
          </a:xfrm>
        </p:spPr>
        <p:txBody>
          <a:bodyPr anchor="b"/>
          <a:lstStyle>
            <a:lvl1pPr>
              <a:defRPr sz="4792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398" y="4589465"/>
            <a:ext cx="8398788" cy="1500187"/>
          </a:xfrm>
        </p:spPr>
        <p:txBody>
          <a:bodyPr/>
          <a:lstStyle>
            <a:lvl1pPr marL="0" indent="0">
              <a:buNone/>
              <a:defRPr sz="1916">
                <a:solidFill>
                  <a:schemeClr val="tx1">
                    <a:tint val="75000"/>
                  </a:schemeClr>
                </a:solidFill>
              </a:defRPr>
            </a:lvl1pPr>
            <a:lvl2pPr marL="365088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2pPr>
            <a:lvl3pPr marL="730176" indent="0">
              <a:buNone/>
              <a:defRPr sz="1437">
                <a:solidFill>
                  <a:schemeClr val="tx1">
                    <a:tint val="75000"/>
                  </a:schemeClr>
                </a:solidFill>
              </a:defRPr>
            </a:lvl3pPr>
            <a:lvl4pPr marL="1095264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4pPr>
            <a:lvl5pPr marL="1460352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5pPr>
            <a:lvl6pPr marL="1825441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6pPr>
            <a:lvl7pPr marL="2190528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7pPr>
            <a:lvl8pPr marL="2555616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8pPr>
            <a:lvl9pPr marL="2920705" indent="0">
              <a:buNone/>
              <a:defRPr sz="127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22449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9469" y="1825625"/>
            <a:ext cx="413853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9723" y="1825625"/>
            <a:ext cx="413853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95184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365127"/>
            <a:ext cx="8398788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38" y="1681164"/>
            <a:ext cx="4119513" cy="823912"/>
          </a:xfrm>
        </p:spPr>
        <p:txBody>
          <a:bodyPr anchor="b"/>
          <a:lstStyle>
            <a:lvl1pPr marL="0" indent="0">
              <a:buNone/>
              <a:defRPr sz="1916" b="1"/>
            </a:lvl1pPr>
            <a:lvl2pPr marL="365088" indent="0">
              <a:buNone/>
              <a:defRPr sz="1597" b="1"/>
            </a:lvl2pPr>
            <a:lvl3pPr marL="730176" indent="0">
              <a:buNone/>
              <a:defRPr sz="1437" b="1"/>
            </a:lvl3pPr>
            <a:lvl4pPr marL="1095264" indent="0">
              <a:buNone/>
              <a:defRPr sz="1278" b="1"/>
            </a:lvl4pPr>
            <a:lvl5pPr marL="1460352" indent="0">
              <a:buNone/>
              <a:defRPr sz="1278" b="1"/>
            </a:lvl5pPr>
            <a:lvl6pPr marL="1825441" indent="0">
              <a:buNone/>
              <a:defRPr sz="1278" b="1"/>
            </a:lvl6pPr>
            <a:lvl7pPr marL="2190528" indent="0">
              <a:buNone/>
              <a:defRPr sz="1278" b="1"/>
            </a:lvl7pPr>
            <a:lvl8pPr marL="2555616" indent="0">
              <a:buNone/>
              <a:defRPr sz="1278" b="1"/>
            </a:lvl8pPr>
            <a:lvl9pPr marL="2920705" indent="0">
              <a:buNone/>
              <a:defRPr sz="127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738" y="2505075"/>
            <a:ext cx="4119513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9723" y="1681164"/>
            <a:ext cx="4139802" cy="823912"/>
          </a:xfrm>
        </p:spPr>
        <p:txBody>
          <a:bodyPr anchor="b"/>
          <a:lstStyle>
            <a:lvl1pPr marL="0" indent="0">
              <a:buNone/>
              <a:defRPr sz="1916" b="1"/>
            </a:lvl1pPr>
            <a:lvl2pPr marL="365088" indent="0">
              <a:buNone/>
              <a:defRPr sz="1597" b="1"/>
            </a:lvl2pPr>
            <a:lvl3pPr marL="730176" indent="0">
              <a:buNone/>
              <a:defRPr sz="1437" b="1"/>
            </a:lvl3pPr>
            <a:lvl4pPr marL="1095264" indent="0">
              <a:buNone/>
              <a:defRPr sz="1278" b="1"/>
            </a:lvl4pPr>
            <a:lvl5pPr marL="1460352" indent="0">
              <a:buNone/>
              <a:defRPr sz="1278" b="1"/>
            </a:lvl5pPr>
            <a:lvl6pPr marL="1825441" indent="0">
              <a:buNone/>
              <a:defRPr sz="1278" b="1"/>
            </a:lvl6pPr>
            <a:lvl7pPr marL="2190528" indent="0">
              <a:buNone/>
              <a:defRPr sz="1278" b="1"/>
            </a:lvl7pPr>
            <a:lvl8pPr marL="2555616" indent="0">
              <a:buNone/>
              <a:defRPr sz="1278" b="1"/>
            </a:lvl8pPr>
            <a:lvl9pPr marL="2920705" indent="0">
              <a:buNone/>
              <a:defRPr sz="127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9723" y="2505075"/>
            <a:ext cx="413980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4018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67740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67683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9" y="457200"/>
            <a:ext cx="3140669" cy="1600200"/>
          </a:xfrm>
        </p:spPr>
        <p:txBody>
          <a:bodyPr anchor="b"/>
          <a:lstStyle>
            <a:lvl1pPr>
              <a:defRPr sz="255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803" y="987426"/>
            <a:ext cx="4929723" cy="4873625"/>
          </a:xfrm>
        </p:spPr>
        <p:txBody>
          <a:bodyPr/>
          <a:lstStyle>
            <a:lvl1pPr>
              <a:defRPr sz="2555"/>
            </a:lvl1pPr>
            <a:lvl2pPr>
              <a:defRPr sz="2236"/>
            </a:lvl2pPr>
            <a:lvl3pPr>
              <a:defRPr sz="1916"/>
            </a:lvl3pPr>
            <a:lvl4pPr>
              <a:defRPr sz="1597"/>
            </a:lvl4pPr>
            <a:lvl5pPr>
              <a:defRPr sz="1597"/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9" y="2057400"/>
            <a:ext cx="3140669" cy="3811588"/>
          </a:xfrm>
        </p:spPr>
        <p:txBody>
          <a:bodyPr/>
          <a:lstStyle>
            <a:lvl1pPr marL="0" indent="0">
              <a:buNone/>
              <a:defRPr sz="1278"/>
            </a:lvl1pPr>
            <a:lvl2pPr marL="365088" indent="0">
              <a:buNone/>
              <a:defRPr sz="1117"/>
            </a:lvl2pPr>
            <a:lvl3pPr marL="730176" indent="0">
              <a:buNone/>
              <a:defRPr sz="958"/>
            </a:lvl3pPr>
            <a:lvl4pPr marL="1095264" indent="0">
              <a:buNone/>
              <a:defRPr sz="798"/>
            </a:lvl4pPr>
            <a:lvl5pPr marL="1460352" indent="0">
              <a:buNone/>
              <a:defRPr sz="798"/>
            </a:lvl5pPr>
            <a:lvl6pPr marL="1825441" indent="0">
              <a:buNone/>
              <a:defRPr sz="798"/>
            </a:lvl6pPr>
            <a:lvl7pPr marL="2190528" indent="0">
              <a:buNone/>
              <a:defRPr sz="798"/>
            </a:lvl7pPr>
            <a:lvl8pPr marL="2555616" indent="0">
              <a:buNone/>
              <a:defRPr sz="798"/>
            </a:lvl8pPr>
            <a:lvl9pPr marL="2920705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51898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9" y="457200"/>
            <a:ext cx="3140669" cy="1600200"/>
          </a:xfrm>
        </p:spPr>
        <p:txBody>
          <a:bodyPr anchor="b"/>
          <a:lstStyle>
            <a:lvl1pPr>
              <a:defRPr sz="255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9803" y="987426"/>
            <a:ext cx="4929723" cy="4873625"/>
          </a:xfrm>
        </p:spPr>
        <p:txBody>
          <a:bodyPr/>
          <a:lstStyle>
            <a:lvl1pPr marL="0" indent="0">
              <a:buNone/>
              <a:defRPr sz="2555"/>
            </a:lvl1pPr>
            <a:lvl2pPr marL="365088" indent="0">
              <a:buNone/>
              <a:defRPr sz="2236"/>
            </a:lvl2pPr>
            <a:lvl3pPr marL="730176" indent="0">
              <a:buNone/>
              <a:defRPr sz="1916"/>
            </a:lvl3pPr>
            <a:lvl4pPr marL="1095264" indent="0">
              <a:buNone/>
              <a:defRPr sz="1597"/>
            </a:lvl4pPr>
            <a:lvl5pPr marL="1460352" indent="0">
              <a:buNone/>
              <a:defRPr sz="1597"/>
            </a:lvl5pPr>
            <a:lvl6pPr marL="1825441" indent="0">
              <a:buNone/>
              <a:defRPr sz="1597"/>
            </a:lvl6pPr>
            <a:lvl7pPr marL="2190528" indent="0">
              <a:buNone/>
              <a:defRPr sz="1597"/>
            </a:lvl7pPr>
            <a:lvl8pPr marL="2555616" indent="0">
              <a:buNone/>
              <a:defRPr sz="1597"/>
            </a:lvl8pPr>
            <a:lvl9pPr marL="2920705" indent="0">
              <a:buNone/>
              <a:defRPr sz="159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9" y="2057400"/>
            <a:ext cx="3140669" cy="3811588"/>
          </a:xfrm>
        </p:spPr>
        <p:txBody>
          <a:bodyPr/>
          <a:lstStyle>
            <a:lvl1pPr marL="0" indent="0">
              <a:buNone/>
              <a:defRPr sz="1278"/>
            </a:lvl1pPr>
            <a:lvl2pPr marL="365088" indent="0">
              <a:buNone/>
              <a:defRPr sz="1117"/>
            </a:lvl2pPr>
            <a:lvl3pPr marL="730176" indent="0">
              <a:buNone/>
              <a:defRPr sz="958"/>
            </a:lvl3pPr>
            <a:lvl4pPr marL="1095264" indent="0">
              <a:buNone/>
              <a:defRPr sz="798"/>
            </a:lvl4pPr>
            <a:lvl5pPr marL="1460352" indent="0">
              <a:buNone/>
              <a:defRPr sz="798"/>
            </a:lvl5pPr>
            <a:lvl6pPr marL="1825441" indent="0">
              <a:buNone/>
              <a:defRPr sz="798"/>
            </a:lvl6pPr>
            <a:lvl7pPr marL="2190528" indent="0">
              <a:buNone/>
              <a:defRPr sz="798"/>
            </a:lvl7pPr>
            <a:lvl8pPr marL="2555616" indent="0">
              <a:buNone/>
              <a:defRPr sz="798"/>
            </a:lvl8pPr>
            <a:lvl9pPr marL="2920705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46676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58913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8559" y="365126"/>
            <a:ext cx="2099697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9469" y="365126"/>
            <a:ext cx="617737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375BA7AC-D5B2-4EAB-A1FF-2BEE77A7CE74}" type="datetimeFigureOut">
              <a:rPr lang="en-US" sz="1666" smtClean="0">
                <a:solidFill>
                  <a:prstClr val="black"/>
                </a:solidFill>
              </a:rPr>
              <a:pPr defTabSz="846552"/>
              <a:t>4/13/2021</a:t>
            </a:fld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846552"/>
            <a:endParaRPr lang="en-US" sz="1666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846552"/>
            <a:fld id="{D192214B-8AB3-47AC-8DCC-1843CB75F973}" type="slidenum">
              <a:rPr lang="en-US" sz="1666" smtClean="0">
                <a:solidFill>
                  <a:prstClr val="black"/>
                </a:solidFill>
              </a:rPr>
              <a:pPr defTabSz="846552"/>
              <a:t>‹#›</a:t>
            </a:fld>
            <a:endParaRPr 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04302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217" y="1122363"/>
            <a:ext cx="7303294" cy="2387600"/>
          </a:xfrm>
        </p:spPr>
        <p:txBody>
          <a:bodyPr anchor="b"/>
          <a:lstStyle>
            <a:lvl1pPr algn="ctr"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217" y="3602038"/>
            <a:ext cx="7303294" cy="1655762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871" indent="0" algn="ctr">
              <a:buNone/>
              <a:defRPr sz="1596"/>
            </a:lvl2pPr>
            <a:lvl3pPr marL="729742" indent="0" algn="ctr">
              <a:buNone/>
              <a:defRPr sz="1436"/>
            </a:lvl3pPr>
            <a:lvl4pPr marL="1094613" indent="0" algn="ctr">
              <a:buNone/>
              <a:defRPr sz="1277"/>
            </a:lvl4pPr>
            <a:lvl5pPr marL="1459484" indent="0" algn="ctr">
              <a:buNone/>
              <a:defRPr sz="1277"/>
            </a:lvl5pPr>
            <a:lvl6pPr marL="1824356" indent="0" algn="ctr">
              <a:buNone/>
              <a:defRPr sz="1277"/>
            </a:lvl6pPr>
            <a:lvl7pPr marL="2189226" indent="0" algn="ctr">
              <a:buNone/>
              <a:defRPr sz="1277"/>
            </a:lvl7pPr>
            <a:lvl8pPr marL="2554097" indent="0" algn="ctr">
              <a:buNone/>
              <a:defRPr sz="1277"/>
            </a:lvl8pPr>
            <a:lvl9pPr marL="2918969" indent="0" algn="ctr">
              <a:buNone/>
              <a:defRPr sz="127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1079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99221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397" y="1709741"/>
            <a:ext cx="8398788" cy="2852737"/>
          </a:xfrm>
        </p:spPr>
        <p:txBody>
          <a:bodyPr anchor="b"/>
          <a:lstStyle>
            <a:lvl1pPr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397" y="4589466"/>
            <a:ext cx="8398788" cy="1500187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1pPr>
            <a:lvl2pPr marL="3648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2pPr>
            <a:lvl3pPr marL="729742" indent="0">
              <a:buNone/>
              <a:defRPr sz="1436">
                <a:solidFill>
                  <a:schemeClr val="tx1">
                    <a:tint val="75000"/>
                  </a:schemeClr>
                </a:solidFill>
              </a:defRPr>
            </a:lvl3pPr>
            <a:lvl4pPr marL="1094613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4pPr>
            <a:lvl5pPr marL="1459484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5pPr>
            <a:lvl6pPr marL="182435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6pPr>
            <a:lvl7pPr marL="218922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7pPr>
            <a:lvl8pPr marL="2554097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8pPr>
            <a:lvl9pPr marL="2918969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59830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9469" y="1825625"/>
            <a:ext cx="413853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9723" y="1825625"/>
            <a:ext cx="4138533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51973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365128"/>
            <a:ext cx="8398788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38" y="1681163"/>
            <a:ext cx="4119514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738" y="2505075"/>
            <a:ext cx="4119514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9723" y="1681163"/>
            <a:ext cx="4139802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9723" y="2505075"/>
            <a:ext cx="413980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48617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77156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36667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8" y="457200"/>
            <a:ext cx="314067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803" y="987428"/>
            <a:ext cx="4929723" cy="4873625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8" y="2057400"/>
            <a:ext cx="314067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75803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8" y="457200"/>
            <a:ext cx="314067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9803" y="987428"/>
            <a:ext cx="4929723" cy="4873625"/>
          </a:xfrm>
        </p:spPr>
        <p:txBody>
          <a:bodyPr/>
          <a:lstStyle>
            <a:lvl1pPr marL="0" indent="0">
              <a:buNone/>
              <a:defRPr sz="2553"/>
            </a:lvl1pPr>
            <a:lvl2pPr marL="364871" indent="0">
              <a:buNone/>
              <a:defRPr sz="2234"/>
            </a:lvl2pPr>
            <a:lvl3pPr marL="729742" indent="0">
              <a:buNone/>
              <a:defRPr sz="1915"/>
            </a:lvl3pPr>
            <a:lvl4pPr marL="1094613" indent="0">
              <a:buNone/>
              <a:defRPr sz="1596"/>
            </a:lvl4pPr>
            <a:lvl5pPr marL="1459484" indent="0">
              <a:buNone/>
              <a:defRPr sz="1596"/>
            </a:lvl5pPr>
            <a:lvl6pPr marL="1824356" indent="0">
              <a:buNone/>
              <a:defRPr sz="1596"/>
            </a:lvl6pPr>
            <a:lvl7pPr marL="2189226" indent="0">
              <a:buNone/>
              <a:defRPr sz="1596"/>
            </a:lvl7pPr>
            <a:lvl8pPr marL="2554097" indent="0">
              <a:buNone/>
              <a:defRPr sz="1596"/>
            </a:lvl8pPr>
            <a:lvl9pPr marL="2918969" indent="0">
              <a:buNone/>
              <a:defRPr sz="15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8" y="2057400"/>
            <a:ext cx="314067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88174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94063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8559" y="365125"/>
            <a:ext cx="2099697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9469" y="365125"/>
            <a:ext cx="617736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4/13/2021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08462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298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7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4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4625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904906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3"/>
            <a:ext cx="8277066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6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60" indent="0">
              <a:buNone/>
              <a:defRPr sz="1800"/>
            </a:lvl2pPr>
            <a:lvl3pPr marL="914320" indent="0">
              <a:buNone/>
              <a:defRPr sz="1600"/>
            </a:lvl3pPr>
            <a:lvl4pPr marL="1371480" indent="0">
              <a:buNone/>
              <a:defRPr sz="1400"/>
            </a:lvl4pPr>
            <a:lvl5pPr marL="1828642" indent="0">
              <a:buNone/>
              <a:defRPr sz="1400"/>
            </a:lvl5pPr>
            <a:lvl6pPr marL="2285802" indent="0">
              <a:buNone/>
              <a:defRPr sz="1400"/>
            </a:lvl6pPr>
            <a:lvl7pPr marL="2742962" indent="0">
              <a:buNone/>
              <a:defRPr sz="1400"/>
            </a:lvl7pPr>
            <a:lvl8pPr marL="3200122" indent="0">
              <a:buNone/>
              <a:defRPr sz="1400"/>
            </a:lvl8pPr>
            <a:lvl9pPr marL="3657282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24472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5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156367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7" y="1535113"/>
            <a:ext cx="430251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0" indent="0">
              <a:buNone/>
              <a:defRPr sz="2000" b="1"/>
            </a:lvl2pPr>
            <a:lvl3pPr marL="914320" indent="0">
              <a:buNone/>
              <a:defRPr sz="1800" b="1"/>
            </a:lvl3pPr>
            <a:lvl4pPr marL="1371480" indent="0">
              <a:buNone/>
              <a:defRPr sz="1600" b="1"/>
            </a:lvl4pPr>
            <a:lvl5pPr marL="1828642" indent="0">
              <a:buNone/>
              <a:defRPr sz="1600" b="1"/>
            </a:lvl5pPr>
            <a:lvl6pPr marL="2285802" indent="0">
              <a:buNone/>
              <a:defRPr sz="1600" b="1"/>
            </a:lvl6pPr>
            <a:lvl7pPr marL="2742962" indent="0">
              <a:buNone/>
              <a:defRPr sz="1600" b="1"/>
            </a:lvl7pPr>
            <a:lvl8pPr marL="3200122" indent="0">
              <a:buNone/>
              <a:defRPr sz="1600" b="1"/>
            </a:lvl8pPr>
            <a:lvl9pPr marL="365728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7" y="2174875"/>
            <a:ext cx="430251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33" y="1535113"/>
            <a:ext cx="430420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0" indent="0">
              <a:buNone/>
              <a:defRPr sz="2000" b="1"/>
            </a:lvl2pPr>
            <a:lvl3pPr marL="914320" indent="0">
              <a:buNone/>
              <a:defRPr sz="1800" b="1"/>
            </a:lvl3pPr>
            <a:lvl4pPr marL="1371480" indent="0">
              <a:buNone/>
              <a:defRPr sz="1600" b="1"/>
            </a:lvl4pPr>
            <a:lvl5pPr marL="1828642" indent="0">
              <a:buNone/>
              <a:defRPr sz="1600" b="1"/>
            </a:lvl5pPr>
            <a:lvl6pPr marL="2285802" indent="0">
              <a:buNone/>
              <a:defRPr sz="1600" b="1"/>
            </a:lvl6pPr>
            <a:lvl7pPr marL="2742962" indent="0">
              <a:buNone/>
              <a:defRPr sz="1600" b="1"/>
            </a:lvl7pPr>
            <a:lvl8pPr marL="3200122" indent="0">
              <a:buNone/>
              <a:defRPr sz="1600" b="1"/>
            </a:lvl8pPr>
            <a:lvl9pPr marL="365728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33" y="2174875"/>
            <a:ext cx="430420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59562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34290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61068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3" y="273053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3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0" indent="0">
              <a:buNone/>
              <a:defRPr sz="1200"/>
            </a:lvl2pPr>
            <a:lvl3pPr marL="914320" indent="0">
              <a:buNone/>
              <a:defRPr sz="1000"/>
            </a:lvl3pPr>
            <a:lvl4pPr marL="1371480" indent="0">
              <a:buNone/>
              <a:defRPr sz="900"/>
            </a:lvl4pPr>
            <a:lvl5pPr marL="1828642" indent="0">
              <a:buNone/>
              <a:defRPr sz="900"/>
            </a:lvl5pPr>
            <a:lvl6pPr marL="2285802" indent="0">
              <a:buNone/>
              <a:defRPr sz="900"/>
            </a:lvl6pPr>
            <a:lvl7pPr marL="2742962" indent="0">
              <a:buNone/>
              <a:defRPr sz="900"/>
            </a:lvl7pPr>
            <a:lvl8pPr marL="3200122" indent="0">
              <a:buNone/>
              <a:defRPr sz="900"/>
            </a:lvl8pPr>
            <a:lvl9pPr marL="365728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98636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8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60" indent="0">
              <a:buNone/>
              <a:defRPr sz="2800"/>
            </a:lvl2pPr>
            <a:lvl3pPr marL="914320" indent="0">
              <a:buNone/>
              <a:defRPr sz="2400"/>
            </a:lvl3pPr>
            <a:lvl4pPr marL="1371480" indent="0">
              <a:buNone/>
              <a:defRPr sz="2000"/>
            </a:lvl4pPr>
            <a:lvl5pPr marL="1828642" indent="0">
              <a:buNone/>
              <a:defRPr sz="2000"/>
            </a:lvl5pPr>
            <a:lvl6pPr marL="2285802" indent="0">
              <a:buNone/>
              <a:defRPr sz="2000"/>
            </a:lvl6pPr>
            <a:lvl7pPr marL="2742962" indent="0">
              <a:buNone/>
              <a:defRPr sz="2000"/>
            </a:lvl7pPr>
            <a:lvl8pPr marL="3200122" indent="0">
              <a:buNone/>
              <a:defRPr sz="2000"/>
            </a:lvl8pPr>
            <a:lvl9pPr marL="3657282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60" indent="0">
              <a:buNone/>
              <a:defRPr sz="1200"/>
            </a:lvl2pPr>
            <a:lvl3pPr marL="914320" indent="0">
              <a:buNone/>
              <a:defRPr sz="1000"/>
            </a:lvl3pPr>
            <a:lvl4pPr marL="1371480" indent="0">
              <a:buNone/>
              <a:defRPr sz="900"/>
            </a:lvl4pPr>
            <a:lvl5pPr marL="1828642" indent="0">
              <a:buNone/>
              <a:defRPr sz="900"/>
            </a:lvl5pPr>
            <a:lvl6pPr marL="2285802" indent="0">
              <a:buNone/>
              <a:defRPr sz="900"/>
            </a:lvl6pPr>
            <a:lvl7pPr marL="2742962" indent="0">
              <a:buNone/>
              <a:defRPr sz="900"/>
            </a:lvl7pPr>
            <a:lvl8pPr marL="3200122" indent="0">
              <a:buNone/>
              <a:defRPr sz="900"/>
            </a:lvl8pPr>
            <a:lvl9pPr marL="365728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247317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874805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9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7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71557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299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Linux+ Guide to Linux Certification, Second Edition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50762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908582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4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0" indent="0">
              <a:buNone/>
              <a:defRPr sz="1800"/>
            </a:lvl2pPr>
            <a:lvl3pPr marL="914360" indent="0">
              <a:buNone/>
              <a:defRPr sz="1600"/>
            </a:lvl3pPr>
            <a:lvl4pPr marL="1371540" indent="0">
              <a:buNone/>
              <a:defRPr sz="1400"/>
            </a:lvl4pPr>
            <a:lvl5pPr marL="1828721" indent="0">
              <a:buNone/>
              <a:defRPr sz="1400"/>
            </a:lvl5pPr>
            <a:lvl6pPr marL="2285901" indent="0">
              <a:buNone/>
              <a:defRPr sz="1400"/>
            </a:lvl6pPr>
            <a:lvl7pPr marL="2743081" indent="0">
              <a:buNone/>
              <a:defRPr sz="1400"/>
            </a:lvl7pPr>
            <a:lvl8pPr marL="3200261" indent="0">
              <a:buNone/>
              <a:defRPr sz="1400"/>
            </a:lvl8pPr>
            <a:lvl9pPr marL="3657441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9996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062988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1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1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30" y="1535113"/>
            <a:ext cx="430420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30" y="2174875"/>
            <a:ext cx="430420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89441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751041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290760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078230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6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1" indent="0">
              <a:buNone/>
              <a:defRPr sz="2000"/>
            </a:lvl6pPr>
            <a:lvl7pPr marL="2743081" indent="0">
              <a:buNone/>
              <a:defRPr sz="2000"/>
            </a:lvl7pPr>
            <a:lvl8pPr marL="3200261" indent="0">
              <a:buNone/>
              <a:defRPr sz="2000"/>
            </a:lvl8pPr>
            <a:lvl9pPr marL="365744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9513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537076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5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74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0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0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Guide to Programming with Python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0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496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469" y="365128"/>
            <a:ext cx="83987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69" y="1825625"/>
            <a:ext cx="83987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468" y="6356353"/>
            <a:ext cx="2190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6552"/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46552"/>
              <a:t>4/13/2021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6552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7269" y="6356353"/>
            <a:ext cx="2190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6552"/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46552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02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xStyles>
    <p:titleStyle>
      <a:lvl1pPr algn="l" defTabSz="914360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0" indent="-228590" algn="l" defTabSz="9143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2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1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1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Guide to Programming with Python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1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84655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91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18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36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54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721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885" indent="-342885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17" indent="-285738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2950" indent="-22859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131" indent="-22859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311" indent="-22859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490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67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885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032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3772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369" y="1161143"/>
            <a:ext cx="904217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488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xStyles>
    <p:titleStyle>
      <a:lvl1pPr algn="ctr" defTabSz="730176" rtl="0" eaLnBrk="1" latinLnBrk="0" hangingPunct="1">
        <a:lnSpc>
          <a:spcPct val="90000"/>
        </a:lnSpc>
        <a:spcBef>
          <a:spcPct val="0"/>
        </a:spcBef>
        <a:buNone/>
        <a:defRPr sz="3513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82545" indent="-182545" algn="l" defTabSz="730176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3194" kern="1200">
          <a:solidFill>
            <a:schemeClr val="tx1"/>
          </a:solidFill>
          <a:latin typeface="+mn-lt"/>
          <a:ea typeface="+mn-ea"/>
          <a:cs typeface="+mn-cs"/>
        </a:defRPr>
      </a:lvl1pPr>
      <a:lvl2pPr marL="547633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875" kern="1200">
          <a:solidFill>
            <a:schemeClr val="tx1"/>
          </a:solidFill>
          <a:latin typeface="+mn-lt"/>
          <a:ea typeface="+mn-ea"/>
          <a:cs typeface="+mn-cs"/>
        </a:defRPr>
      </a:lvl2pPr>
      <a:lvl3pPr marL="912720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555" kern="1200">
          <a:solidFill>
            <a:schemeClr val="tx1"/>
          </a:solidFill>
          <a:latin typeface="+mn-lt"/>
          <a:ea typeface="+mn-ea"/>
          <a:cs typeface="+mn-cs"/>
        </a:defRPr>
      </a:lvl3pPr>
      <a:lvl4pPr marL="1277809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4pPr>
      <a:lvl5pPr marL="1642897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5pPr>
      <a:lvl6pPr marL="2007984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7" kern="1200">
          <a:solidFill>
            <a:schemeClr val="tx1"/>
          </a:solidFill>
          <a:latin typeface="+mn-lt"/>
          <a:ea typeface="+mn-ea"/>
          <a:cs typeface="+mn-cs"/>
        </a:defRPr>
      </a:lvl6pPr>
      <a:lvl7pPr marL="2373073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7" kern="1200">
          <a:solidFill>
            <a:schemeClr val="tx1"/>
          </a:solidFill>
          <a:latin typeface="+mn-lt"/>
          <a:ea typeface="+mn-ea"/>
          <a:cs typeface="+mn-cs"/>
        </a:defRPr>
      </a:lvl7pPr>
      <a:lvl8pPr marL="2738161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7" kern="1200">
          <a:solidFill>
            <a:schemeClr val="tx1"/>
          </a:solidFill>
          <a:latin typeface="+mn-lt"/>
          <a:ea typeface="+mn-ea"/>
          <a:cs typeface="+mn-cs"/>
        </a:defRPr>
      </a:lvl8pPr>
      <a:lvl9pPr marL="3103249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1pPr>
      <a:lvl2pPr marL="365088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2pPr>
      <a:lvl3pPr marL="730176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3pPr>
      <a:lvl4pPr marL="1095264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4pPr>
      <a:lvl5pPr marL="1460352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5pPr>
      <a:lvl6pPr marL="1825441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6pPr>
      <a:lvl7pPr marL="2190528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7pPr>
      <a:lvl8pPr marL="2555616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8pPr>
      <a:lvl9pPr marL="2920705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469" y="365127"/>
            <a:ext cx="83987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69" y="1825625"/>
            <a:ext cx="83987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469" y="6356352"/>
            <a:ext cx="2190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6552"/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46552"/>
              <a:t>4/13/2021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5622" y="6356352"/>
            <a:ext cx="3286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6552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7269" y="6356352"/>
            <a:ext cx="2190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46552"/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846552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03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txStyles>
    <p:titleStyle>
      <a:lvl1pPr algn="l" defTabSz="914360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0" indent="-228590" algn="l" defTabSz="9143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2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1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1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Guide to Programming with Python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1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84655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78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18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36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54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721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885" indent="-342885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17" indent="-285738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2950" indent="-22859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131" indent="-22859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311" indent="-22859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490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67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885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032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3772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369" y="1161143"/>
            <a:ext cx="904217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904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txStyles>
    <p:titleStyle>
      <a:lvl1pPr algn="ctr" defTabSz="730176" rtl="0" eaLnBrk="1" latinLnBrk="0" hangingPunct="1">
        <a:lnSpc>
          <a:spcPct val="90000"/>
        </a:lnSpc>
        <a:spcBef>
          <a:spcPct val="0"/>
        </a:spcBef>
        <a:buNone/>
        <a:defRPr sz="3513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82545" indent="-182545" algn="l" defTabSz="730176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3194" kern="1200">
          <a:solidFill>
            <a:schemeClr val="tx1"/>
          </a:solidFill>
          <a:latin typeface="+mn-lt"/>
          <a:ea typeface="+mn-ea"/>
          <a:cs typeface="+mn-cs"/>
        </a:defRPr>
      </a:lvl1pPr>
      <a:lvl2pPr marL="547633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875" kern="1200">
          <a:solidFill>
            <a:schemeClr val="tx1"/>
          </a:solidFill>
          <a:latin typeface="+mn-lt"/>
          <a:ea typeface="+mn-ea"/>
          <a:cs typeface="+mn-cs"/>
        </a:defRPr>
      </a:lvl2pPr>
      <a:lvl3pPr marL="912720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555" kern="1200">
          <a:solidFill>
            <a:schemeClr val="tx1"/>
          </a:solidFill>
          <a:latin typeface="+mn-lt"/>
          <a:ea typeface="+mn-ea"/>
          <a:cs typeface="+mn-cs"/>
        </a:defRPr>
      </a:lvl3pPr>
      <a:lvl4pPr marL="1277809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4pPr>
      <a:lvl5pPr marL="1642897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5pPr>
      <a:lvl6pPr marL="2007984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7" kern="1200">
          <a:solidFill>
            <a:schemeClr val="tx1"/>
          </a:solidFill>
          <a:latin typeface="+mn-lt"/>
          <a:ea typeface="+mn-ea"/>
          <a:cs typeface="+mn-cs"/>
        </a:defRPr>
      </a:lvl6pPr>
      <a:lvl7pPr marL="2373073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7" kern="1200">
          <a:solidFill>
            <a:schemeClr val="tx1"/>
          </a:solidFill>
          <a:latin typeface="+mn-lt"/>
          <a:ea typeface="+mn-ea"/>
          <a:cs typeface="+mn-cs"/>
        </a:defRPr>
      </a:lvl7pPr>
      <a:lvl8pPr marL="2738161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7" kern="1200">
          <a:solidFill>
            <a:schemeClr val="tx1"/>
          </a:solidFill>
          <a:latin typeface="+mn-lt"/>
          <a:ea typeface="+mn-ea"/>
          <a:cs typeface="+mn-cs"/>
        </a:defRPr>
      </a:lvl8pPr>
      <a:lvl9pPr marL="3103249" indent="-182545" algn="l" defTabSz="730176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1pPr>
      <a:lvl2pPr marL="365088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2pPr>
      <a:lvl3pPr marL="730176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3pPr>
      <a:lvl4pPr marL="1095264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4pPr>
      <a:lvl5pPr marL="1460352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5pPr>
      <a:lvl6pPr marL="1825441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6pPr>
      <a:lvl7pPr marL="2190528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7pPr>
      <a:lvl8pPr marL="2555616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8pPr>
      <a:lvl9pPr marL="2920705" algn="l" defTabSz="730176" rtl="0" eaLnBrk="1" latinLnBrk="0" hangingPunct="1">
        <a:defRPr sz="14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3772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369" y="1161143"/>
            <a:ext cx="904217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07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txStyles>
    <p:titleStyle>
      <a:lvl1pPr algn="ctr" defTabSz="729742" rtl="0" eaLnBrk="1" latinLnBrk="0" hangingPunct="1">
        <a:lnSpc>
          <a:spcPct val="90000"/>
        </a:lnSpc>
        <a:spcBef>
          <a:spcPct val="0"/>
        </a:spcBef>
        <a:buNone/>
        <a:defRPr sz="3511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82436" indent="-182436" algn="l" defTabSz="729742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3192" kern="1200">
          <a:solidFill>
            <a:schemeClr val="tx1"/>
          </a:solidFill>
          <a:latin typeface="+mn-lt"/>
          <a:ea typeface="+mn-ea"/>
          <a:cs typeface="+mn-cs"/>
        </a:defRPr>
      </a:lvl1pPr>
      <a:lvl2pPr marL="54730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2pPr>
      <a:lvl3pPr marL="91217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553" kern="1200">
          <a:solidFill>
            <a:schemeClr val="tx1"/>
          </a:solidFill>
          <a:latin typeface="+mn-lt"/>
          <a:ea typeface="+mn-ea"/>
          <a:cs typeface="+mn-cs"/>
        </a:defRPr>
      </a:lvl3pPr>
      <a:lvl4pPr marL="1277049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4pPr>
      <a:lvl5pPr marL="164192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5pPr>
      <a:lvl6pPr marL="200679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1662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6533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1404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871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742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613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484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435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922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4097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969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5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5" y="1295403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3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3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312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16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32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48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642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870" indent="-34287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885" indent="-285726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2900" indent="-22858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061" indent="-2285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222" indent="-22858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381" indent="-22858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542" indent="-22858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8702" indent="-22858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5863" indent="-22858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3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0" algn="l" defTabSz="9143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0" algn="l" defTabSz="9143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0" algn="l" defTabSz="9143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2" algn="l" defTabSz="9143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02" algn="l" defTabSz="9143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62" algn="l" defTabSz="9143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22" algn="l" defTabSz="9143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82" algn="l" defTabSz="91432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1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1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Guide to Programming with Python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1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84655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287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18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36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54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721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885" indent="-342885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17" indent="-285738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2950" indent="-22859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131" indent="-22859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311" indent="-22859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490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67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885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032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6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717171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 _.remove("callable"); _.remove("type")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 _.remove("hash"); _.remove("id");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6998" y="6363481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9326562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58862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5657532" y="5383907"/>
            <a:ext cx="678264" cy="348374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anchor="b" anchorCtr="1">
            <a:noAutofit/>
          </a:bodyPr>
          <a:lstStyle/>
          <a:p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endParaRPr lang="en-US" sz="2600" dirty="0"/>
          </a:p>
        </p:txBody>
      </p:sp>
      <p:sp>
        <p:nvSpPr>
          <p:cNvPr id="9" name="Trapezoid 8"/>
          <p:cNvSpPr>
            <a:spLocks noChangeAspect="1"/>
          </p:cNvSpPr>
          <p:nvPr/>
        </p:nvSpPr>
        <p:spPr bwMode="auto">
          <a:xfrm rot="2700000" flipH="1">
            <a:off x="7447554" y="459516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 smtClean="0">
                <a:solidFill>
                  <a:srgbClr val="000000"/>
                </a:solidFill>
                <a:ea typeface="新細明體" charset="-120"/>
              </a:rPr>
              <a:t>Lecture 7</a:t>
            </a: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/>
            </a:r>
            <a:br>
              <a:rPr lang="en-US" sz="2592" dirty="0" smtClean="0">
                <a:solidFill>
                  <a:srgbClr val="000000"/>
                </a:solidFill>
                <a:ea typeface="新細明體" charset="-120"/>
              </a:rPr>
            </a:b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> Slide #165</a:t>
            </a:r>
            <a:endParaRPr lang="en-US" sz="3024" dirty="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04875" y="397773"/>
            <a:ext cx="8627876" cy="4222892"/>
          </a:xfrm>
          <a:prstGeom prst="wedgeRoundRectCallout">
            <a:avLst>
              <a:gd name="adj1" fmla="val 14853"/>
              <a:gd name="adj2" fmla="val 68445"/>
              <a:gd name="adj3" fmla="val 16667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720" numCol="1" rtlCol="0" anchor="t" anchorCtr="0" compatLnSpc="1">
            <a:prstTxWarp prst="textNoShape">
              <a:avLst/>
            </a:prstTxWarp>
          </a:bodyPr>
          <a:lstStyle/>
          <a:p>
            <a:pPr marL="57316"/>
            <a:r>
              <a:rPr lang="en-US" altLang="zh-TW" sz="2592" spc="-93" dirty="0">
                <a:latin typeface="Lucida Console" panose="020B0609040504020204" pitchFamily="49" charset="0"/>
                <a:cs typeface="Courier New" pitchFamily="49" charset="0"/>
              </a:rPr>
              <a:t>f</a:t>
            </a:r>
            <a:r>
              <a:rPr lang="en-US" altLang="zh-TW" sz="741" spc="-93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592" spc="-93" dirty="0">
                <a:latin typeface="Lucida Console" panose="020B0609040504020204" pitchFamily="49" charset="0"/>
                <a:cs typeface="Courier New" pitchFamily="49" charset="0"/>
              </a:rPr>
              <a:t>=</a:t>
            </a:r>
            <a:r>
              <a:rPr lang="en-US" altLang="zh-TW" sz="741" spc="-93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592" b="1" spc="-93" dirty="0">
                <a:solidFill>
                  <a:srgbClr val="00B0F0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altLang="zh-TW" sz="2592" spc="-463" dirty="0"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592" spc="-93" dirty="0" err="1">
                <a:latin typeface="Lucida Console" panose="020B0609040504020204" pitchFamily="49" charset="0"/>
                <a:cs typeface="Courier New" pitchFamily="49" charset="0"/>
              </a:rPr>
              <a:t>file_nam</a:t>
            </a:r>
            <a:r>
              <a:rPr lang="en-US" altLang="zh-TW" sz="2592" spc="-463" dirty="0" err="1">
                <a:latin typeface="Lucida Console" panose="020B0609040504020204" pitchFamily="49" charset="0"/>
                <a:cs typeface="Courier New" pitchFamily="49" charset="0"/>
              </a:rPr>
              <a:t>e</a:t>
            </a:r>
            <a:r>
              <a:rPr lang="en-US" altLang="zh-TW" sz="2592" spc="-463" dirty="0">
                <a:latin typeface="Lucida Console" panose="020B0609040504020204" pitchFamily="49" charset="0"/>
                <a:cs typeface="Courier New" pitchFamily="49" charset="0"/>
              </a:rPr>
              <a:t> [</a:t>
            </a:r>
            <a:r>
              <a:rPr lang="en-US" altLang="zh-TW" sz="2592" spc="-278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2592" spc="-93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access_mod</a:t>
            </a:r>
            <a:r>
              <a:rPr lang="en-US" altLang="zh-TW" sz="2592" spc="-185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e</a:t>
            </a:r>
            <a:r>
              <a:rPr lang="en-US" altLang="zh-TW" sz="2592" spc="-463" dirty="0">
                <a:latin typeface="Lucida Console" panose="020B0609040504020204" pitchFamily="49" charset="0"/>
                <a:cs typeface="Courier New" pitchFamily="49" charset="0"/>
              </a:rPr>
              <a:t>] [</a:t>
            </a:r>
            <a:r>
              <a:rPr lang="en-US" altLang="zh-TW" sz="2592" spc="-278" dirty="0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2592" spc="-93" dirty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buffering</a:t>
            </a:r>
            <a:r>
              <a:rPr lang="en-US" altLang="zh-TW" sz="2592" spc="-463" dirty="0">
                <a:latin typeface="Lucida Console" panose="020B0609040504020204" pitchFamily="49" charset="0"/>
                <a:cs typeface="Courier New" pitchFamily="49" charset="0"/>
              </a:rPr>
              <a:t>])</a:t>
            </a:r>
          </a:p>
          <a:p>
            <a:endParaRPr lang="en-US" altLang="zh-TW" sz="1111" b="1" dirty="0"/>
          </a:p>
          <a:p>
            <a:pPr fontAlgn="t"/>
            <a:r>
              <a:rPr lang="en-US" altLang="zh-TW" sz="2592" b="1" dirty="0" err="1">
                <a:solidFill>
                  <a:srgbClr val="00B050"/>
                </a:solidFill>
              </a:rPr>
              <a:t>access_mode</a:t>
            </a:r>
            <a:r>
              <a:rPr lang="en-US" altLang="zh-TW" sz="2592" b="1" dirty="0">
                <a:solidFill>
                  <a:srgbClr val="00B050"/>
                </a:solidFill>
              </a:rPr>
              <a:t> (default = r):</a:t>
            </a:r>
            <a:r>
              <a:rPr lang="en-US" altLang="zh-TW" sz="2592" dirty="0"/>
              <a:t/>
            </a:r>
            <a:br>
              <a:rPr lang="en-US" altLang="zh-TW" sz="2592" dirty="0"/>
            </a:br>
            <a:r>
              <a:rPr lang="en-US" altLang="zh-TW" sz="2222" dirty="0"/>
              <a:t>The mode of usage: read (r), write (w), append (a). Optionally, can include a “b” for (binary format), or a “+” for (read and write).</a:t>
            </a:r>
            <a:endParaRPr lang="zh-TW" altLang="zh-TW" sz="2222" dirty="0"/>
          </a:p>
          <a:p>
            <a:pPr fontAlgn="t"/>
            <a:r>
              <a:rPr lang="en-US" altLang="zh-TW" sz="2222" spc="-28" dirty="0"/>
              <a:t>So all legal modes are: r, </a:t>
            </a:r>
            <a:r>
              <a:rPr lang="en-US" altLang="zh-TW" sz="2222" spc="-28" dirty="0" err="1"/>
              <a:t>rb</a:t>
            </a:r>
            <a:r>
              <a:rPr lang="en-US" altLang="zh-TW" sz="2222" spc="-28" dirty="0"/>
              <a:t>, r+, </a:t>
            </a:r>
            <a:r>
              <a:rPr lang="en-US" altLang="zh-TW" sz="2222" spc="-28" dirty="0" err="1"/>
              <a:t>rb</a:t>
            </a:r>
            <a:r>
              <a:rPr lang="en-US" altLang="zh-TW" sz="2222" spc="-28" dirty="0"/>
              <a:t>+, w, </a:t>
            </a:r>
            <a:r>
              <a:rPr lang="en-US" altLang="zh-TW" sz="2222" spc="-28" dirty="0" err="1"/>
              <a:t>wb</a:t>
            </a:r>
            <a:r>
              <a:rPr lang="en-US" altLang="zh-TW" sz="2222" spc="-28" dirty="0"/>
              <a:t>, w+, </a:t>
            </a:r>
            <a:r>
              <a:rPr lang="en-US" altLang="zh-TW" sz="2222" spc="-28" dirty="0" err="1"/>
              <a:t>wb</a:t>
            </a:r>
            <a:r>
              <a:rPr lang="en-US" altLang="zh-TW" sz="2222" spc="-28" dirty="0"/>
              <a:t>+, a, ab, a+, ab+</a:t>
            </a:r>
            <a:endParaRPr lang="zh-TW" altLang="zh-TW" sz="2222" spc="-28" dirty="0"/>
          </a:p>
          <a:p>
            <a:endParaRPr lang="en-US" altLang="zh-TW" sz="1111" dirty="0"/>
          </a:p>
          <a:p>
            <a:r>
              <a:rPr lang="en-US" altLang="zh-TW" sz="2592" b="1" dirty="0">
                <a:solidFill>
                  <a:srgbClr val="FFC000"/>
                </a:solidFill>
              </a:rPr>
              <a:t>buffering (default = -1):</a:t>
            </a:r>
            <a:r>
              <a:rPr lang="en-US" altLang="zh-TW" sz="2592" dirty="0">
                <a:solidFill>
                  <a:srgbClr val="FFC000"/>
                </a:solidFill>
              </a:rPr>
              <a:t> </a:t>
            </a:r>
          </a:p>
          <a:p>
            <a:pPr marL="914320" lvl="1" indent="-457160"/>
            <a:r>
              <a:rPr lang="en-US" altLang="zh-TW" sz="2222" dirty="0"/>
              <a:t>0: 	 No buffering. </a:t>
            </a:r>
          </a:p>
          <a:p>
            <a:pPr marL="914320" lvl="1" indent="-457160"/>
            <a:r>
              <a:rPr lang="en-US" altLang="zh-TW" sz="2222" dirty="0"/>
              <a:t>1: 	 Line buffering.</a:t>
            </a:r>
          </a:p>
          <a:p>
            <a:pPr marL="914320" lvl="1" indent="-457160"/>
            <a:r>
              <a:rPr lang="en-US" altLang="zh-TW" sz="2222" dirty="0"/>
              <a:t>&gt;1:	 Use the indicated buffer size. </a:t>
            </a:r>
          </a:p>
          <a:p>
            <a:pPr marL="914320" lvl="1" indent="-457160"/>
            <a:r>
              <a:rPr lang="en-US" altLang="zh-TW" sz="2222" dirty="0"/>
              <a:t>&lt;0: The buffer size is the system default.</a:t>
            </a:r>
            <a:endParaRPr lang="en-US" altLang="zh-TW" sz="2592" spc="-463" dirty="0">
              <a:latin typeface="Lucida Console" panose="020B0609040504020204" pitchFamily="49" charset="0"/>
              <a:cs typeface="Courier New" pitchFamily="49" charset="0"/>
            </a:endParaRPr>
          </a:p>
          <a:p>
            <a:pPr>
              <a:buFontTx/>
              <a:buNone/>
            </a:pPr>
            <a:endParaRPr lang="en-US" altLang="zh-TW" sz="2592" spc="-463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596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</a:pPr>
            <a:r>
              <a:rPr lang="en-US" altLang="zh-TW" sz="2600" dirty="0" smtClean="0">
                <a:solidFill>
                  <a:srgbClr val="71717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</a:t>
            </a: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 _.remove("callable"); _.remove("type")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 _.remove("hash"); _.remove("id");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__[379:673])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</a:t>
            </a: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endParaRPr lang="en-US" altLang="zh-TW" sz="2400" kern="0" spc="-1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09308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</a:pPr>
            <a:r>
              <a:rPr lang="en-US" altLang="zh-TW" sz="2600" dirty="0" smtClean="0">
                <a:solidFill>
                  <a:srgbClr val="71717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of </a:t>
            </a: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 _.remove("callable"); _.remove("type")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 _.remove("hash"); _.remove("id");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__[379:673])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40116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_.remove("callable"); _.remove("type")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 _.remove("hash"); _.remove("id");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__[379:673])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81235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_.remove("hash"); _.remove("id");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__[379:673])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87275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open.__doc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Open 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</a:t>
            </a: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...</a:t>
            </a:r>
            <a:endParaRPr lang="en-US" altLang="zh-TW" sz="2400" kern="0" spc="-1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379475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'filter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__[379:673])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88580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 smtClean="0">
                <a:solidFill>
                  <a:srgbClr val="717171"/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 smtClean="0">
                <a:solidFill>
                  <a:srgbClr val="71717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__[379:673])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20045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__[379:673])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endParaRPr lang="en-US" altLang="zh-TW" sz="2400" kern="0" spc="-22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75647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__[379:673])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26273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71717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__[379:673])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endParaRPr lang="en-US" altLang="zh-TW" sz="2400" kern="0" spc="-25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3577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__[379:673])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05199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50"/>
    </mc:Choice>
    <mc:Fallback xmlns="">
      <p:transition advTm="15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Open 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998" y="6363481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58862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ular Callout 7"/>
          <p:cNvSpPr/>
          <p:nvPr/>
        </p:nvSpPr>
        <p:spPr bwMode="auto">
          <a:xfrm>
            <a:off x="11112" y="0"/>
            <a:ext cx="5200650" cy="1512870"/>
          </a:xfrm>
          <a:prstGeom prst="wedgeRoundRectCallout">
            <a:avLst>
              <a:gd name="adj1" fmla="val 57979"/>
              <a:gd name="adj2" fmla="val 42337"/>
              <a:gd name="adj3" fmla="val 16667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800" kern="0" dirty="0">
                <a:ea typeface="MS PGothic" pitchFamily="34" charset="-128"/>
              </a:rPr>
              <a:t>This returns an object for the file </a:t>
            </a:r>
            <a:r>
              <a:rPr lang="en-US" altLang="zh-TW" sz="2800" kern="0" dirty="0" smtClean="0">
                <a:ea typeface="MS PGothic" pitchFamily="34" charset="-128"/>
              </a:rPr>
              <a:t>you </a:t>
            </a:r>
            <a:r>
              <a:rPr lang="en-US" altLang="zh-TW" sz="2800" kern="0" dirty="0">
                <a:ea typeface="MS PGothic" pitchFamily="34" charset="-128"/>
              </a:rPr>
              <a:t>opened (</a:t>
            </a:r>
            <a:r>
              <a:rPr lang="en-US" altLang="zh-TW" sz="2800" kern="0" dirty="0" smtClean="0">
                <a:ea typeface="MS PGothic" pitchFamily="34" charset="-128"/>
              </a:rPr>
              <a:t>because in Python everything is </a:t>
            </a:r>
            <a:r>
              <a:rPr lang="en-US" altLang="zh-TW" sz="2800" kern="0" dirty="0">
                <a:ea typeface="MS PGothic" pitchFamily="34" charset="-128"/>
              </a:rPr>
              <a:t>an object</a:t>
            </a:r>
            <a:r>
              <a:rPr lang="en-US" altLang="zh-TW" sz="2800" kern="0" dirty="0" smtClean="0">
                <a:ea typeface="MS PGothic" pitchFamily="34" charset="-128"/>
              </a:rPr>
              <a:t>).</a:t>
            </a:r>
            <a:endParaRPr lang="en-US" altLang="zh-TW" sz="2800" kern="0" dirty="0"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139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4"/>
          <p:cNvSpPr>
            <a:spLocks noGrp="1"/>
          </p:cNvSpPr>
          <p:nvPr>
            <p:ph idx="1"/>
          </p:nvPr>
        </p:nvSpPr>
        <p:spPr>
          <a:xfrm>
            <a:off x="251359" y="837846"/>
            <a:ext cx="9344320" cy="602015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accent2"/>
                </a:solidFill>
                <a:latin typeface="Lucida Console" panose="020B0609040504020204" pitchFamily="49" charset="0"/>
              </a:rPr>
              <a:t>#First of all, what’s the name of the file class?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(file)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NameError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name 'file' is not defined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accent2"/>
                </a:solidFill>
                <a:latin typeface="Lucida Console" panose="020B0609040504020204" pitchFamily="49" charset="0"/>
              </a:rPr>
              <a:t>#Guess that’s not the name. Let’s find what</a:t>
            </a:r>
            <a:r>
              <a:rPr lang="en-US" altLang="zh-TW" sz="1852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accent2"/>
                </a:solidFill>
                <a:latin typeface="Lucida Console" panose="020B0609040504020204" pitchFamily="49" charset="0"/>
              </a:rPr>
              <a:t>it</a:t>
            </a:r>
            <a:r>
              <a:rPr lang="en-US" altLang="zh-TW" sz="1852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accent2"/>
                </a:solidFill>
                <a:latin typeface="Lucida Console" panose="020B0609040504020204" pitchFamily="49" charset="0"/>
              </a:rPr>
              <a:t>is: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fo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 = open("foo.txt", "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wb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+")</a:t>
            </a:r>
            <a:r>
              <a:rPr lang="en-US" altLang="zh-TW" sz="222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accent2"/>
                </a:solidFill>
                <a:latin typeface="Lucida Console" panose="020B0609040504020204" pitchFamily="49" charset="0"/>
              </a:rPr>
              <a:t>#We’ll make an object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type(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fo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22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       </a:t>
            </a:r>
            <a:r>
              <a:rPr lang="en-US" altLang="zh-TW" sz="2222" dirty="0">
                <a:solidFill>
                  <a:schemeClr val="accent2"/>
                </a:solidFill>
                <a:latin typeface="Lucida Console" panose="020B0609040504020204" pitchFamily="49" charset="0"/>
              </a:rPr>
              <a:t>#And see what its type is: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&lt;class '_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io.BufferedRandom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'&gt;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accent2"/>
                </a:solidFill>
                <a:latin typeface="Lucida Console" panose="020B0609040504020204" pitchFamily="49" charset="0"/>
              </a:rPr>
              <a:t>#So what methods are available for file objects?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fo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)[-24:]</a:t>
            </a:r>
            <a:r>
              <a:rPr lang="en-US" altLang="zh-TW" sz="222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accent2"/>
                </a:solidFill>
                <a:latin typeface="Lucida Console" panose="020B0609040504020204" pitchFamily="49" charset="0"/>
              </a:rPr>
              <a:t>#Well, at least for </a:t>
            </a:r>
            <a:r>
              <a:rPr lang="en-US" altLang="zh-TW" sz="2222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fo’s</a:t>
            </a:r>
            <a:r>
              <a:rPr lang="en-US" altLang="zh-TW" sz="2222" dirty="0">
                <a:solidFill>
                  <a:schemeClr val="accent2"/>
                </a:solidFill>
                <a:latin typeface="Lucida Console" panose="020B0609040504020204" pitchFamily="49" charset="0"/>
              </a:rPr>
              <a:t> file type:</a:t>
            </a:r>
            <a:endParaRPr lang="en-US" altLang="zh-TW" sz="2222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close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closed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detach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fileno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flush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isatty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mode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peek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raw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read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read1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readable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readinto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readinto1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readline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readlines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seek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seekable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tell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truncate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writable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write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writelines</a:t>
            </a:r>
            <a:r>
              <a:rPr lang="en-US" altLang="zh-TW" sz="222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1"/>
            <a:ext cx="9735832" cy="985519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What is in the File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Object</a:t>
            </a:r>
            <a:r>
              <a:rPr lang="en-GB" altLang="en-US" sz="4400" dirty="0">
                <a:solidFill>
                  <a:srgbClr val="2D2DB9"/>
                </a:solidFill>
                <a:latin typeface="Cooper Black" panose="0208090404030B020404" pitchFamily="18" charset="0"/>
                <a:cs typeface="Arial" panose="020B0604020202020204" pitchFamily="34" charset="0"/>
              </a:rPr>
              <a:t>?</a:t>
            </a:r>
            <a:endParaRPr lang="en-GB" altLang="en-US" sz="4000" dirty="0">
              <a:solidFill>
                <a:srgbClr val="2D2DB9"/>
              </a:solidFill>
              <a:latin typeface="Cooper Black" panose="0208090404030B020404" pitchFamily="18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 bwMode="auto">
          <a:xfrm>
            <a:off x="251359" y="837846"/>
            <a:ext cx="902753" cy="396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rgbClr val="FFAFAF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rgbClr val="FFAFAF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9381686" y="896112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418320" y="293522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82662" y="896112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82662" y="293522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542032" y="125272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82662" y="124358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372600" y="3273552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82662" y="3282696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235440" y="395020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82662" y="3945636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383712" y="430682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969264" y="632764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491472" y="260604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82662" y="2596896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35654" y="4555574"/>
            <a:ext cx="918508" cy="39217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noAutofit/>
          </a:bodyPr>
          <a:lstStyle/>
          <a:p>
            <a:r>
              <a:rPr lang="en-US" altLang="zh-TW" sz="2800" b="1" spc="-300" dirty="0">
                <a:solidFill>
                  <a:srgbClr val="2D2DB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close</a:t>
            </a:r>
            <a:endParaRPr lang="en-US" sz="2800" b="1" spc="-300" dirty="0">
              <a:solidFill>
                <a:srgbClr val="2D2DB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982662" y="429768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11864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0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8" dur="500"/>
                                        <p:tgtEl>
                                          <p:spTgt spid="102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9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1" dur="500"/>
                                        <p:tgtEl>
                                          <p:spTgt spid="102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4" dur="500"/>
                                        <p:tgtEl>
                                          <p:spTgt spid="102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296861" y="732942"/>
            <a:ext cx="9311087" cy="6125058"/>
          </a:xfrm>
        </p:spPr>
        <p:txBody>
          <a:bodyPr>
            <a:noAutofit/>
          </a:bodyPr>
          <a:lstStyle/>
          <a:p>
            <a:r>
              <a:rPr lang="en-US" sz="3200" spc="-40" dirty="0">
                <a:solidFill>
                  <a:srgbClr val="2D2DB9"/>
                </a:solidFill>
              </a:rPr>
              <a:t>close</a:t>
            </a:r>
            <a:r>
              <a:rPr lang="en-US" sz="3200" spc="-40" dirty="0" smtClean="0">
                <a:solidFill>
                  <a:srgbClr val="2D2DB9"/>
                </a:solidFill>
                <a:latin typeface="Agency FB" panose="020B0503020202020204" pitchFamily="34" charset="0"/>
              </a:rPr>
              <a:t>(</a:t>
            </a:r>
            <a:r>
              <a:rPr lang="en-US" sz="1200" spc="-40" dirty="0" smtClean="0">
                <a:solidFill>
                  <a:srgbClr val="2D2DB9"/>
                </a:solidFill>
                <a:latin typeface="Agency FB" panose="020B0503020202020204" pitchFamily="34" charset="0"/>
              </a:rPr>
              <a:t> </a:t>
            </a:r>
            <a:r>
              <a:rPr lang="en-US" sz="3200" spc="-40" dirty="0" smtClean="0">
                <a:solidFill>
                  <a:srgbClr val="2D2DB9"/>
                </a:solidFill>
                <a:latin typeface="Agency FB" panose="020B0503020202020204" pitchFamily="34" charset="0"/>
              </a:rPr>
              <a:t>)</a:t>
            </a:r>
            <a:r>
              <a:rPr lang="en-US" sz="3200" spc="-40" dirty="0" smtClean="0">
                <a:solidFill>
                  <a:schemeClr val="tx1"/>
                </a:solidFill>
              </a:rPr>
              <a:t> </a:t>
            </a:r>
            <a:r>
              <a:rPr lang="en-US" sz="3200" spc="-40" dirty="0">
                <a:solidFill>
                  <a:schemeClr val="tx1"/>
                </a:solidFill>
              </a:rPr>
              <a:t>flushes all unwritten i</a:t>
            </a:r>
            <a:r>
              <a:rPr lang="en-US" sz="3200" spc="-90" dirty="0">
                <a:solidFill>
                  <a:schemeClr val="tx1"/>
                </a:solidFill>
              </a:rPr>
              <a:t>nfo</a:t>
            </a:r>
            <a:r>
              <a:rPr lang="en-US" sz="3200" spc="-40" dirty="0">
                <a:solidFill>
                  <a:schemeClr val="tx1"/>
                </a:solidFill>
              </a:rPr>
              <a:t>r</a:t>
            </a:r>
            <a:r>
              <a:rPr lang="en-US" sz="3200" spc="-80" dirty="0">
                <a:solidFill>
                  <a:schemeClr val="tx1"/>
                </a:solidFill>
              </a:rPr>
              <a:t>m</a:t>
            </a:r>
            <a:r>
              <a:rPr lang="en-US" sz="3200" spc="-40" dirty="0">
                <a:solidFill>
                  <a:schemeClr val="tx1"/>
                </a:solidFill>
              </a:rPr>
              <a:t>at</a:t>
            </a:r>
            <a:r>
              <a:rPr lang="en-US" sz="3200" spc="-80" dirty="0">
                <a:solidFill>
                  <a:schemeClr val="tx1"/>
                </a:solidFill>
              </a:rPr>
              <a:t>io</a:t>
            </a:r>
            <a:r>
              <a:rPr lang="en-US" sz="3200" spc="-40" dirty="0">
                <a:solidFill>
                  <a:schemeClr val="tx1"/>
                </a:solidFill>
              </a:rPr>
              <a:t>n</a:t>
            </a:r>
            <a:r>
              <a:rPr lang="en-US" sz="2800" spc="-40" dirty="0">
                <a:solidFill>
                  <a:schemeClr val="tx1"/>
                </a:solidFill>
              </a:rPr>
              <a:t> </a:t>
            </a:r>
            <a:r>
              <a:rPr lang="en-US" sz="3200" spc="-70" dirty="0">
                <a:solidFill>
                  <a:schemeClr val="tx1"/>
                </a:solidFill>
              </a:rPr>
              <a:t>an</a:t>
            </a:r>
            <a:r>
              <a:rPr lang="en-US" sz="3200" spc="-40" dirty="0">
                <a:solidFill>
                  <a:schemeClr val="tx1"/>
                </a:solidFill>
              </a:rPr>
              <a:t>d</a:t>
            </a:r>
            <a:r>
              <a:rPr lang="en-US" sz="2800" spc="-40" dirty="0">
                <a:solidFill>
                  <a:schemeClr val="tx1"/>
                </a:solidFill>
              </a:rPr>
              <a:t> </a:t>
            </a:r>
            <a:r>
              <a:rPr lang="en-US" sz="3200" spc="-40" dirty="0">
                <a:solidFill>
                  <a:schemeClr val="tx1"/>
                </a:solidFill>
              </a:rPr>
              <a:t>c</a:t>
            </a:r>
            <a:r>
              <a:rPr lang="en-US" sz="3200" spc="-70" dirty="0">
                <a:solidFill>
                  <a:schemeClr val="tx1"/>
                </a:solidFill>
              </a:rPr>
              <a:t>lose</a:t>
            </a:r>
            <a:r>
              <a:rPr lang="en-US" sz="3200" spc="-40" dirty="0">
                <a:solidFill>
                  <a:schemeClr val="tx1"/>
                </a:solidFill>
              </a:rPr>
              <a:t>s </a:t>
            </a:r>
            <a:r>
              <a:rPr lang="en-US" sz="3200" dirty="0">
                <a:solidFill>
                  <a:schemeClr val="tx1"/>
                </a:solidFill>
              </a:rPr>
              <a:t>the file object, so no more writing can be done.</a:t>
            </a:r>
          </a:p>
          <a:p>
            <a:r>
              <a:rPr lang="en-US" sz="3200" dirty="0">
                <a:solidFill>
                  <a:schemeClr val="tx1"/>
                </a:solidFill>
              </a:rPr>
              <a:t>Python </a:t>
            </a:r>
            <a:r>
              <a:rPr lang="en-US" sz="3200" dirty="0">
                <a:solidFill>
                  <a:srgbClr val="FF0000"/>
                </a:solidFill>
              </a:rPr>
              <a:t>automatically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rgbClr val="FF0000"/>
                </a:solidFill>
              </a:rPr>
              <a:t>closes</a:t>
            </a:r>
            <a:r>
              <a:rPr lang="en-US" sz="3200" dirty="0">
                <a:solidFill>
                  <a:schemeClr val="tx1"/>
                </a:solidFill>
              </a:rPr>
              <a:t> a file when no variable references it anymore.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Either because it was a local variable or because it was reassigned to reference a different file. </a:t>
            </a:r>
          </a:p>
          <a:p>
            <a:r>
              <a:rPr lang="en-US" altLang="zh-TW" sz="3200" dirty="0">
                <a:solidFill>
                  <a:schemeClr val="tx1"/>
                </a:solidFill>
              </a:rPr>
              <a:t>B</a:t>
            </a:r>
            <a:r>
              <a:rPr lang="en-US" sz="3200" dirty="0">
                <a:solidFill>
                  <a:schemeClr val="tx1"/>
                </a:solidFill>
              </a:rPr>
              <a:t>ut it is considered better style to use a close(), at least in unclear situations, rather than relying on the automatic close.</a:t>
            </a:r>
          </a:p>
          <a:p>
            <a:pPr marL="0" indent="0">
              <a:buNone/>
            </a:pPr>
            <a:endParaRPr lang="en-US" sz="500" dirty="0">
              <a:solidFill>
                <a:schemeClr val="tx1"/>
              </a:solidFill>
            </a:endParaRPr>
          </a:p>
          <a:p>
            <a:pPr lvl="1">
              <a:buFontTx/>
              <a:buNone/>
            </a:pPr>
            <a:r>
              <a:rPr lang="en-US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 </a:t>
            </a:r>
            <a:r>
              <a:rPr lang="en-US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= open("foo.txt", "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wb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") </a:t>
            </a:r>
          </a:p>
          <a:p>
            <a:pPr lvl="1">
              <a:buFontTx/>
              <a:buNone/>
            </a:pPr>
            <a:r>
              <a:rPr lang="en-US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 print 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("Name of the file: ", fo.name)</a:t>
            </a:r>
          </a:p>
          <a:p>
            <a:pPr lvl="1">
              <a:buFontTx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fo.close</a:t>
            </a:r>
            <a:r>
              <a:rPr lang="en-US" dirty="0">
                <a:solidFill>
                  <a:schemeClr val="accent2"/>
                </a:solidFill>
                <a:latin typeface="Lucida Console" panose="020B0609040504020204" pitchFamily="49" charset="0"/>
                <a:cs typeface="Courier New" pitchFamily="49" charset="0"/>
              </a:rPr>
              <a:t>() 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0"/>
            <a:ext cx="9735832" cy="985519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Closing a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File</a:t>
            </a:r>
            <a:endParaRPr lang="en-GB" altLang="en-US" sz="4400" dirty="0">
              <a:solidFill>
                <a:srgbClr val="2D2DB9"/>
              </a:solidFill>
              <a:latin typeface="Cooper Black" panose="0208090404030B0204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22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49265" y="762003"/>
            <a:ext cx="8610600" cy="5906216"/>
          </a:xfrm>
        </p:spPr>
        <p:txBody>
          <a:bodyPr>
            <a:noAutofit/>
          </a:bodyPr>
          <a:lstStyle/>
          <a:p>
            <a:r>
              <a:rPr lang="en-US" altLang="zh-TW" sz="3200" dirty="0" smtClean="0">
                <a:solidFill>
                  <a:srgbClr val="2D2DB9"/>
                </a:solidFill>
              </a:rPr>
              <a:t>write</a:t>
            </a:r>
            <a:r>
              <a:rPr lang="en-US" altLang="zh-TW" sz="3200" dirty="0">
                <a:solidFill>
                  <a:srgbClr val="2D2DB9"/>
                </a:solidFill>
              </a:rPr>
              <a:t>()</a:t>
            </a:r>
            <a:r>
              <a:rPr lang="en-US" altLang="zh-TW" sz="3200" dirty="0">
                <a:solidFill>
                  <a:schemeClr val="tx1"/>
                </a:solidFill>
              </a:rPr>
              <a:t> </a:t>
            </a:r>
            <a:r>
              <a:rPr lang="en-US" altLang="zh-TW" sz="3200" dirty="0" smtClean="0">
                <a:solidFill>
                  <a:schemeClr val="tx1"/>
                </a:solidFill>
              </a:rPr>
              <a:t>puts </a:t>
            </a:r>
            <a:r>
              <a:rPr lang="en-US" altLang="zh-TW" sz="3200" dirty="0">
                <a:solidFill>
                  <a:schemeClr val="tx1"/>
                </a:solidFill>
              </a:rPr>
              <a:t>a string </a:t>
            </a:r>
            <a:r>
              <a:rPr lang="en-US" altLang="zh-TW" sz="3200" dirty="0" smtClean="0">
                <a:solidFill>
                  <a:schemeClr val="tx1"/>
                </a:solidFill>
              </a:rPr>
              <a:t>into </a:t>
            </a:r>
            <a:r>
              <a:rPr lang="en-US" altLang="zh-TW" sz="3200" dirty="0">
                <a:solidFill>
                  <a:schemeClr val="tx1"/>
                </a:solidFill>
              </a:rPr>
              <a:t>an open file. </a:t>
            </a:r>
            <a:r>
              <a:rPr lang="en-US" altLang="zh-TW" sz="3200" dirty="0" smtClean="0">
                <a:solidFill>
                  <a:schemeClr val="tx1"/>
                </a:solidFill>
              </a:rPr>
              <a:t/>
            </a:r>
            <a:br>
              <a:rPr lang="en-US" altLang="zh-TW" sz="3200" dirty="0" smtClean="0">
                <a:solidFill>
                  <a:schemeClr val="tx1"/>
                </a:solidFill>
              </a:rPr>
            </a:br>
            <a:r>
              <a:rPr lang="en-US" altLang="zh-TW" sz="2800" dirty="0" smtClean="0">
                <a:solidFill>
                  <a:schemeClr val="tx1"/>
                </a:solidFill>
              </a:rPr>
              <a:t>It </a:t>
            </a:r>
            <a:r>
              <a:rPr lang="en-US" altLang="zh-TW" sz="2800" dirty="0">
                <a:solidFill>
                  <a:schemeClr val="tx1"/>
                </a:solidFill>
              </a:rPr>
              <a:t>does not add a newline character ('\n') to the end of </a:t>
            </a:r>
            <a:r>
              <a:rPr lang="en-US" altLang="zh-TW" sz="2800" dirty="0" smtClean="0">
                <a:solidFill>
                  <a:schemeClr val="tx1"/>
                </a:solidFill>
              </a:rPr>
              <a:t>the </a:t>
            </a:r>
            <a:r>
              <a:rPr lang="en-US" altLang="zh-TW" sz="2800" dirty="0">
                <a:solidFill>
                  <a:schemeClr val="tx1"/>
                </a:solidFill>
              </a:rPr>
              <a:t>string.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r>
              <a:rPr lang="en-US" altLang="zh-TW" sz="3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320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fileObject.write</a:t>
            </a:r>
            <a:r>
              <a:rPr lang="en-US" altLang="zh-TW" sz="320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(string)</a:t>
            </a:r>
          </a:p>
          <a:p>
            <a:pPr>
              <a:buFontTx/>
              <a:buNone/>
            </a:pPr>
            <a:endParaRPr lang="en-US" altLang="zh-TW" sz="2069" dirty="0">
              <a:solidFill>
                <a:schemeClr val="tx1"/>
              </a:solidFill>
            </a:endParaRPr>
          </a:p>
          <a:p>
            <a:r>
              <a:rPr lang="en-US" sz="3200" dirty="0" smtClean="0">
                <a:solidFill>
                  <a:srgbClr val="2D2DB9"/>
                </a:solidFill>
              </a:rPr>
              <a:t>read</a:t>
            </a:r>
            <a:r>
              <a:rPr lang="en-US" sz="3200" dirty="0">
                <a:solidFill>
                  <a:srgbClr val="2D2DB9"/>
                </a:solidFill>
              </a:rPr>
              <a:t>()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smtClean="0">
                <a:solidFill>
                  <a:schemeClr val="tx1"/>
                </a:solidFill>
              </a:rPr>
              <a:t>gets </a:t>
            </a:r>
            <a:r>
              <a:rPr lang="en-US" sz="3200" dirty="0">
                <a:solidFill>
                  <a:schemeClr val="tx1"/>
                </a:solidFill>
              </a:rPr>
              <a:t>a string from an open file.</a:t>
            </a:r>
          </a:p>
          <a:p>
            <a:pPr>
              <a:buFontTx/>
              <a:buNone/>
            </a:pPr>
            <a:r>
              <a:rPr lang="en-US" altLang="zh-TW" sz="2069" dirty="0">
                <a:solidFill>
                  <a:schemeClr val="tx1"/>
                </a:solidFill>
              </a:rPr>
              <a:t>	</a:t>
            </a:r>
            <a:r>
              <a:rPr lang="en-US" altLang="zh-TW" sz="2800" dirty="0" smtClean="0">
                <a:solidFill>
                  <a:schemeClr val="tx1"/>
                </a:solidFill>
              </a:rPr>
              <a:t>An </a:t>
            </a:r>
            <a:r>
              <a:rPr lang="en-US" altLang="zh-TW" sz="2800" dirty="0">
                <a:solidFill>
                  <a:schemeClr val="tx1"/>
                </a:solidFill>
              </a:rPr>
              <a:t>optional parameter is the maximum number of bytes to read.</a:t>
            </a:r>
          </a:p>
          <a:p>
            <a:pPr lvl="1">
              <a:buFontTx/>
              <a:buNone/>
            </a:pP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fileObject.read</a:t>
            </a:r>
            <a:r>
              <a:rPr lang="en-US" sz="320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([count])</a:t>
            </a:r>
            <a:r>
              <a:rPr lang="en-US" altLang="zh-TW" sz="2069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069" dirty="0">
                <a:solidFill>
                  <a:schemeClr val="tx1"/>
                </a:solidFill>
              </a:rPr>
              <a:t>	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946" y="36809"/>
            <a:ext cx="9735832" cy="91440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Reading and Writing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Files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3766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4" y="759514"/>
            <a:ext cx="861060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buNone/>
            </a:pPr>
            <a:r>
              <a:rPr 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 cat file.py</a:t>
            </a:r>
          </a:p>
          <a:p>
            <a:pPr marL="0" lvl="1" indent="0">
              <a:buNone/>
            </a:pPr>
            <a:r>
              <a:rPr 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open(</a:t>
            </a:r>
            <a:r>
              <a:rPr lang="en-US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"foo.txt"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w"</a:t>
            </a:r>
            <a:r>
              <a:rPr lang="en-US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fo.write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"Python is great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."</a:t>
            </a:r>
            <a:r>
              <a:rPr lang="en-US" altLang="zh-TW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fo.write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"Yeah it's great!!\r\n"</a:t>
            </a:r>
            <a:r>
              <a:rPr lang="en-US" altLang="zh-TW" sz="10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open(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"foo.txt"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r"</a:t>
            </a:r>
            <a:r>
              <a:rPr lang="en-US" altLang="zh-TW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</a:t>
            </a:r>
            <a:r>
              <a:rPr lang="en-US" altLang="zh-TW" sz="2800" kern="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fo.read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(17); </a:t>
            </a: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print 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"Read String is 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:"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fo.close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</a:p>
          <a:p>
            <a:pPr marL="0" lvl="1" indent="0">
              <a:buNone/>
            </a:pPr>
            <a:r>
              <a:rPr lang="en-US" altLang="zh-TW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 python3 file.py </a:t>
            </a:r>
          </a:p>
          <a:p>
            <a:pPr marL="0" indent="0">
              <a:buNone/>
            </a:pP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Read String is : Python is </a:t>
            </a:r>
            <a:r>
              <a:rPr lang="en-US" altLang="zh-TW" sz="2800" i="1" kern="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great.Y</a:t>
            </a:r>
            <a:endParaRPr lang="en-US" altLang="zh-TW" sz="2800" i="1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endParaRPr 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800" kern="0" dirty="0">
                <a:latin typeface="Lucida Console" panose="020B0609040504020204" pitchFamily="49" charset="0"/>
              </a:rPr>
              <a:t>	</a:t>
            </a:r>
            <a:endParaRPr lang="en-US" sz="2800" kern="0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946" y="36809"/>
            <a:ext cx="9735832" cy="91440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Reading and Writing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Files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6317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4" y="759514"/>
            <a:ext cx="861060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buNone/>
            </a:pPr>
            <a:r>
              <a:rPr 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 cat file.py</a:t>
            </a:r>
          </a:p>
          <a:p>
            <a:pPr marL="0" lvl="1" indent="0">
              <a:buNone/>
            </a:pPr>
            <a:r>
              <a:rPr 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open(</a:t>
            </a:r>
            <a:r>
              <a:rPr lang="en-US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"foo.txt"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w"</a:t>
            </a:r>
            <a:r>
              <a:rPr lang="en-US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fo.write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"Python is great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."</a:t>
            </a:r>
            <a:r>
              <a:rPr lang="en-US" altLang="zh-TW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fo.write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"Yeah it's great!!\r</a:t>
            </a:r>
            <a:r>
              <a:rPr lang="en-US" altLang="zh-TW" sz="2800" i="1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\n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10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open(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"foo.txt"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r"</a:t>
            </a:r>
            <a:r>
              <a:rPr lang="en-US" altLang="zh-TW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</a:t>
            </a:r>
            <a:r>
              <a:rPr lang="en-US" altLang="zh-TW" sz="2800" kern="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fo.read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(17); </a:t>
            </a: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print 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"Read String is 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:"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fo.close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</a:p>
          <a:p>
            <a:pPr marL="0" lvl="1" indent="0">
              <a:buNone/>
            </a:pPr>
            <a:r>
              <a:rPr lang="en-US" altLang="zh-TW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 python3 file.py </a:t>
            </a:r>
          </a:p>
          <a:p>
            <a:pPr marL="0" indent="0">
              <a:buNone/>
            </a:pP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Read String is : Python is </a:t>
            </a:r>
            <a:r>
              <a:rPr lang="en-US" altLang="zh-TW" sz="2800" i="1" kern="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great.Y</a:t>
            </a:r>
            <a:endParaRPr lang="en-US" altLang="zh-TW" sz="2800" i="1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endParaRPr 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800" kern="0" dirty="0">
                <a:latin typeface="Lucida Console" panose="020B0609040504020204" pitchFamily="49" charset="0"/>
              </a:rPr>
              <a:t>	</a:t>
            </a:r>
            <a:endParaRPr lang="en-US" sz="2800" kern="0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946" y="36809"/>
            <a:ext cx="9735832" cy="91440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Reading and Writing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Files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326064" y="4038604"/>
            <a:ext cx="3962400" cy="1828800"/>
          </a:xfrm>
          <a:prstGeom prst="wedgeRoundRectCallout">
            <a:avLst>
              <a:gd name="adj1" fmla="val -7612"/>
              <a:gd name="adj2" fmla="val -12031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FFFFFF"/>
                </a:solidFill>
                <a:latin typeface="Times New Roman" charset="0"/>
              </a:rPr>
              <a:t>Python doesn’t put the newline, so you have to do it yourself</a:t>
            </a:r>
            <a:endParaRPr lang="zh-TW" altLang="en-US" sz="3200" dirty="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35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4" y="759514"/>
            <a:ext cx="861060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buNone/>
            </a:pPr>
            <a:r>
              <a:rPr 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 cat file.py</a:t>
            </a:r>
          </a:p>
          <a:p>
            <a:pPr marL="0" lvl="1" indent="0">
              <a:buNone/>
            </a:pPr>
            <a:r>
              <a:rPr 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open(</a:t>
            </a:r>
            <a:r>
              <a:rPr lang="en-US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"foo.txt"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w"</a:t>
            </a:r>
            <a:r>
              <a:rPr lang="en-US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fo.write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"Python is great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."</a:t>
            </a:r>
            <a:r>
              <a:rPr lang="en-US" altLang="zh-TW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fo.write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"Yeah it's great!!</a:t>
            </a:r>
            <a:r>
              <a:rPr lang="en-US" altLang="zh-TW" sz="2800" i="1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\r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\n"</a:t>
            </a:r>
            <a:r>
              <a:rPr lang="en-US" altLang="zh-TW" sz="10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open(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"foo.txt"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r"</a:t>
            </a:r>
            <a:r>
              <a:rPr lang="en-US" altLang="zh-TW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</a:t>
            </a:r>
            <a:r>
              <a:rPr lang="en-US" altLang="zh-TW" sz="2800" kern="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fo.read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(17); </a:t>
            </a: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print 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"Read String is 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:"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fo.close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</a:p>
          <a:p>
            <a:pPr marL="0" lvl="1" indent="0">
              <a:buNone/>
            </a:pPr>
            <a:r>
              <a:rPr lang="en-US" altLang="zh-TW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 python3 file.py </a:t>
            </a:r>
          </a:p>
          <a:p>
            <a:pPr marL="0" indent="0">
              <a:buNone/>
            </a:pP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Read String is : Python is </a:t>
            </a:r>
            <a:r>
              <a:rPr lang="en-US" altLang="zh-TW" sz="2800" i="1" kern="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great.Y</a:t>
            </a:r>
            <a:endParaRPr lang="en-US" altLang="zh-TW" sz="2800" i="1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endParaRPr 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800" kern="0" dirty="0">
                <a:latin typeface="Lucida Console" panose="020B0609040504020204" pitchFamily="49" charset="0"/>
              </a:rPr>
              <a:t>	</a:t>
            </a:r>
            <a:endParaRPr lang="en-US" sz="2800" kern="0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946" y="36809"/>
            <a:ext cx="9735832" cy="91440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Reading and Writing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Files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326064" y="4038604"/>
            <a:ext cx="3962400" cy="1828800"/>
          </a:xfrm>
          <a:prstGeom prst="wedgeRoundRectCallout">
            <a:avLst>
              <a:gd name="adj1" fmla="val -17468"/>
              <a:gd name="adj2" fmla="val -12291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FFFFFF"/>
                </a:solidFill>
                <a:latin typeface="Times New Roman" charset="0"/>
              </a:rPr>
              <a:t>In Windows, you need to put this before the newline.</a:t>
            </a:r>
            <a:endParaRPr lang="zh-TW" altLang="en-US" sz="3200" dirty="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27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4" y="759514"/>
            <a:ext cx="861060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buNone/>
            </a:pPr>
            <a:r>
              <a:rPr 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 cat file.py</a:t>
            </a:r>
          </a:p>
          <a:p>
            <a:pPr marL="0" lvl="1" indent="0">
              <a:buNone/>
            </a:pPr>
            <a:r>
              <a:rPr 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open(</a:t>
            </a:r>
            <a:r>
              <a:rPr lang="en-US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"foo.txt"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w"</a:t>
            </a:r>
            <a:r>
              <a:rPr lang="en-US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fo.write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"Python is great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."</a:t>
            </a:r>
            <a:r>
              <a:rPr lang="en-US" altLang="zh-TW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fo.write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"Yeah it's great!!\r\n"</a:t>
            </a:r>
            <a:r>
              <a:rPr lang="en-US" altLang="zh-TW" sz="10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altLang="zh-TW" sz="2800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 =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open(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"foo.txt"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r"</a:t>
            </a:r>
            <a:r>
              <a:rPr lang="en-US" altLang="zh-TW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</a:t>
            </a:r>
            <a:r>
              <a:rPr lang="en-US" altLang="zh-TW" sz="2800" kern="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fo.read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(17); </a:t>
            </a: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print 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"Read String is 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:"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fo.close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</a:p>
          <a:p>
            <a:pPr marL="0" lvl="1" indent="0">
              <a:buNone/>
            </a:pPr>
            <a:r>
              <a:rPr lang="en-US" altLang="zh-TW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 python3 file.py </a:t>
            </a:r>
          </a:p>
          <a:p>
            <a:pPr marL="0" indent="0">
              <a:buNone/>
            </a:pP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Read String is : Python is </a:t>
            </a:r>
            <a:r>
              <a:rPr lang="en-US" altLang="zh-TW" sz="2800" i="1" kern="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great.Y</a:t>
            </a:r>
            <a:endParaRPr lang="en-US" altLang="zh-TW" sz="2800" i="1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endParaRPr 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800" kern="0" dirty="0">
                <a:latin typeface="Lucida Console" panose="020B0609040504020204" pitchFamily="49" charset="0"/>
              </a:rPr>
              <a:t>	</a:t>
            </a:r>
            <a:endParaRPr lang="en-US" sz="2800" kern="0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946" y="36809"/>
            <a:ext cx="9735832" cy="91440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Reading and Writing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Files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326064" y="4038604"/>
            <a:ext cx="3962400" cy="1828800"/>
          </a:xfrm>
          <a:prstGeom prst="wedgeRoundRectCallout">
            <a:avLst>
              <a:gd name="adj1" fmla="val -156651"/>
              <a:gd name="adj2" fmla="val -9635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FFFFFF"/>
                </a:solidFill>
                <a:latin typeface="Times New Roman" charset="0"/>
              </a:rPr>
              <a:t>I did not need to close it because I reassigned it.</a:t>
            </a:r>
            <a:endParaRPr lang="zh-TW" altLang="en-US" sz="3200" dirty="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790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4" y="759514"/>
            <a:ext cx="861060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buNone/>
            </a:pPr>
            <a:r>
              <a:rPr lang="en-US" sz="2800" kern="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r>
              <a:rPr 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cat file.py</a:t>
            </a:r>
          </a:p>
          <a:p>
            <a:pPr marL="0" lvl="1" indent="0">
              <a:buNone/>
            </a:pPr>
            <a:r>
              <a:rPr 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open(</a:t>
            </a:r>
            <a:r>
              <a:rPr lang="en-US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"foo.txt"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w"</a:t>
            </a:r>
            <a:r>
              <a:rPr lang="en-US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fo.write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28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Python is great</a:t>
            </a:r>
            <a:r>
              <a:rPr lang="en-US" altLang="zh-TW" sz="2800" i="1" kern="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fo.write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28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Y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eah it's great!!\r\n"</a:t>
            </a:r>
            <a:r>
              <a:rPr lang="en-US" altLang="zh-TW" sz="10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open(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"foo.txt"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r"</a:t>
            </a:r>
            <a:r>
              <a:rPr lang="en-US" altLang="zh-TW" sz="10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 = </a:t>
            </a:r>
            <a:r>
              <a:rPr lang="en-US" altLang="zh-TW" sz="2800" kern="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fo.read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800" kern="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17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); </a:t>
            </a: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print (</a:t>
            </a: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"Read String is </a:t>
            </a:r>
            <a:r>
              <a:rPr lang="en-US" altLang="zh-TW" sz="2800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:"</a:t>
            </a:r>
            <a:r>
              <a:rPr lang="en-US" altLang="zh-TW" sz="2800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) </a:t>
            </a:r>
          </a:p>
          <a:p>
            <a:pPr marL="0" lvl="1" indent="0">
              <a:buNone/>
            </a:pPr>
            <a:r>
              <a:rPr lang="en-US" altLang="zh-TW" sz="2800" kern="0" dirty="0" err="1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fo.close</a:t>
            </a:r>
            <a:r>
              <a:rPr lang="en-US" altLang="zh-TW" sz="2800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</a:p>
          <a:p>
            <a:pPr marL="0" lvl="1" indent="0">
              <a:buNone/>
            </a:pPr>
            <a:r>
              <a:rPr lang="en-US" altLang="zh-TW" sz="2800" kern="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r>
              <a:rPr lang="en-US" altLang="zh-TW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python3 file.py </a:t>
            </a:r>
          </a:p>
          <a:p>
            <a:pPr marL="0" indent="0">
              <a:buNone/>
            </a:pPr>
            <a:r>
              <a:rPr lang="en-US" altLang="zh-TW" sz="2800" i="1" kern="0" dirty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Read String is : </a:t>
            </a:r>
            <a:r>
              <a:rPr lang="en-US" altLang="zh-TW" sz="2800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Python is </a:t>
            </a:r>
            <a:r>
              <a:rPr lang="en-US" altLang="zh-TW" sz="2800" i="1" kern="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great.Y</a:t>
            </a:r>
            <a:endParaRPr lang="en-US" altLang="zh-TW" sz="2800" i="1" kern="0" dirty="0">
              <a:solidFill>
                <a:srgbClr val="FF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800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endParaRPr 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946" y="36809"/>
            <a:ext cx="9735832" cy="91440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Reading and Writing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Files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25464" y="759514"/>
            <a:ext cx="800098" cy="495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buNone/>
            </a:pPr>
            <a:r>
              <a:rPr lang="en-US" sz="2800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endParaRPr 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endParaRPr lang="en-US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endParaRPr lang="en-US" altLang="zh-TW" sz="2800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>
              <a:buNone/>
            </a:pPr>
            <a:r>
              <a:rPr lang="en-US" altLang="zh-TW" sz="2800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endParaRPr lang="en-US" altLang="zh-TW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027445" y="841248"/>
            <a:ext cx="2026" cy="32918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483864" y="868680"/>
            <a:ext cx="2026" cy="32918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024128" y="4928616"/>
            <a:ext cx="2026" cy="32918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334256" y="4965192"/>
            <a:ext cx="2026" cy="32918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14984" y="5943600"/>
            <a:ext cx="2026" cy="32918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66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8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8166" y="710543"/>
            <a:ext cx="9349322" cy="6152925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latin typeface="Lucida Console" panose="020B0609040504020204" pitchFamily="49" charset="0"/>
              </a:rPr>
              <a:t>open("file1.txt","w")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#forgot to save the object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&lt;_</a:t>
            </a:r>
            <a:r>
              <a:rPr lang="en-US" altLang="zh-TW" sz="2222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io.TextIOWrapper</a:t>
            </a:r>
            <a:r>
              <a:rPr lang="en-US" altLang="zh-TW" sz="222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name='file1.txt' mode='w' encoding='UTF-8'&gt;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latin typeface="Lucida Console" panose="020B0609040504020204" pitchFamily="49" charset="0"/>
              </a:rPr>
              <a:t>fo</a:t>
            </a:r>
            <a:r>
              <a:rPr lang="en-US" altLang="zh-TW" sz="2222" dirty="0">
                <a:latin typeface="Lucida Console" panose="020B0609040504020204" pitchFamily="49" charset="0"/>
              </a:rPr>
              <a:t>=open("file1.txt","w")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#remembered to save it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fo.writable</a:t>
            </a:r>
            <a:r>
              <a:rPr lang="en-US" altLang="zh-TW" sz="2222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not 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fo.readable</a:t>
            </a:r>
            <a:r>
              <a:rPr lang="en-US" altLang="zh-TW" sz="2222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not 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fo.closed</a:t>
            </a:r>
            <a:r>
              <a:rPr lang="en-US" altLang="zh-TW" sz="2222" dirty="0">
                <a:latin typeface="Lucida Console" panose="020B0609040504020204" pitchFamily="49" charset="0"/>
              </a:rPr>
              <a:t>()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#Oh. This is attribute not method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222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222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222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222" dirty="0">
                <a:solidFill>
                  <a:srgbClr val="FFCCCC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bool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' object is not callable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not 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fo.closed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fo.write</a:t>
            </a:r>
            <a:r>
              <a:rPr lang="en-US" altLang="zh-TW" sz="2222" dirty="0">
                <a:latin typeface="Lucida Console" panose="020B0609040504020204" pitchFamily="49" charset="0"/>
              </a:rPr>
              <a:t>("hello")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 side effect: ‘5’ displays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5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222" dirty="0">
                <a:latin typeface="Lucida Console" panose="020B0609040504020204" pitchFamily="49" charset="0"/>
              </a:rPr>
              <a:t>=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fo.write</a:t>
            </a:r>
            <a:r>
              <a:rPr lang="en-US" altLang="zh-TW" sz="2222" dirty="0">
                <a:latin typeface="Lucida Console" panose="020B0609040504020204" pitchFamily="49" charset="0"/>
              </a:rPr>
              <a:t>("hello")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#store to 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 to suppress ‘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’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x=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fo.write</a:t>
            </a:r>
            <a:r>
              <a:rPr lang="en-US" altLang="zh-TW" sz="2222" dirty="0">
                <a:latin typeface="Lucida Console" panose="020B0609040504020204" pitchFamily="49" charset="0"/>
              </a:rPr>
              <a:t>("hi</a:t>
            </a:r>
            <a:r>
              <a:rPr lang="en-US" altLang="zh-TW" sz="2222" dirty="0">
                <a:solidFill>
                  <a:srgbClr val="FFC000"/>
                </a:solidFill>
                <a:latin typeface="Lucida Console" panose="020B0609040504020204" pitchFamily="49" charset="0"/>
              </a:rPr>
              <a:t>\n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")</a:t>
            </a:r>
            <a:endParaRPr lang="en-US" altLang="zh-TW" sz="2222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x=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fo.write</a:t>
            </a:r>
            <a:r>
              <a:rPr lang="en-US" altLang="zh-TW" sz="2222" dirty="0">
                <a:latin typeface="Lucida Console" panose="020B0609040504020204" pitchFamily="49" charset="0"/>
              </a:rPr>
              <a:t>("l2</a:t>
            </a:r>
            <a:r>
              <a:rPr lang="en-US" altLang="zh-TW" sz="2222" dirty="0">
                <a:solidFill>
                  <a:srgbClr val="FFC000"/>
                </a:solidFill>
                <a:latin typeface="Lucida Console" panose="020B0609040504020204" pitchFamily="49" charset="0"/>
              </a:rPr>
              <a:t>\n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")</a:t>
            </a:r>
            <a:endParaRPr lang="en-US" altLang="zh-TW" sz="2222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x=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fo.write</a:t>
            </a:r>
            <a:r>
              <a:rPr lang="en-US" altLang="zh-TW" sz="2222" dirty="0">
                <a:latin typeface="Lucida Console" panose="020B0609040504020204" pitchFamily="49" charset="0"/>
              </a:rPr>
              <a:t>("l3</a:t>
            </a:r>
            <a:r>
              <a:rPr lang="en-US" altLang="zh-TW" sz="2222" dirty="0">
                <a:solidFill>
                  <a:srgbClr val="FFC000"/>
                </a:solidFill>
                <a:latin typeface="Lucida Console" panose="020B0609040504020204" pitchFamily="49" charset="0"/>
              </a:rPr>
              <a:t>\n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")</a:t>
            </a:r>
            <a:endParaRPr lang="en-US" altLang="zh-TW" sz="2222" spc="-46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fo.close</a:t>
            </a:r>
            <a:r>
              <a:rPr lang="en-US" altLang="zh-TW" sz="2222" dirty="0">
                <a:latin typeface="Lucida Console" panose="020B0609040504020204" pitchFamily="49" charset="0"/>
              </a:rPr>
              <a:t>()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#&lt;=This would’ve auto-happened anyway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36809"/>
            <a:ext cx="9735832" cy="91440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E5F0F9"/>
                </a:solidFill>
                <a:cs typeface="Arial" panose="020B0604020202020204" pitchFamily="34" charset="0"/>
              </a:rPr>
              <a:t>Reading and</a:t>
            </a:r>
            <a:r>
              <a:rPr lang="en-GB" altLang="en-US" sz="440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Writing Files:</a:t>
            </a:r>
          </a:p>
        </p:txBody>
      </p:sp>
      <p:sp>
        <p:nvSpPr>
          <p:cNvPr id="7" name="內容版面配置區 2"/>
          <p:cNvSpPr txBox="1">
            <a:spLocks/>
          </p:cNvSpPr>
          <p:nvPr/>
        </p:nvSpPr>
        <p:spPr bwMode="auto">
          <a:xfrm>
            <a:off x="478163" y="710543"/>
            <a:ext cx="823348" cy="61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solidFill>
                <a:srgbClr val="D9D9D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/>
            </a:r>
            <a:br>
              <a:rPr lang="en-US" altLang="zh-TW" sz="2222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</a:br>
            <a:endParaRPr lang="en-US" altLang="zh-TW" sz="2222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altLang="zh-TW" sz="2222" kern="0" dirty="0">
              <a:solidFill>
                <a:srgbClr val="FFCCCC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altLang="zh-TW" sz="2222" kern="0" dirty="0">
              <a:solidFill>
                <a:srgbClr val="FFCCCC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altLang="zh-TW" sz="2222" kern="0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altLang="zh-TW" sz="2222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solidFill>
                <a:srgbClr val="D9D9D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spc="-46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>
              <a:solidFill>
                <a:srgbClr val="FF6969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9482328" y="74295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197096" y="248716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207008" y="73152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207008" y="247802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308592" y="160934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207008" y="160020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628632" y="3054096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207008" y="3054096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554412" y="422910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209236" y="4233672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981636" y="481888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520440" y="1911096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207008" y="1901952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207008" y="480974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9095936" y="5385816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352486" y="5980176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352486" y="628192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9454896" y="658368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352486" y="568756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207008" y="5376672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207008" y="596188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207008" y="626364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207008" y="655624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207008" y="566928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98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0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0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8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9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9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00"/>
                            </p:stCondLst>
                            <p:childTnLst>
                              <p:par>
                                <p:cTn id="2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5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"/>
                            </p:stCondLst>
                            <p:childTnLst>
                              <p:par>
                                <p:cTn id="2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500"/>
                            </p:stCondLst>
                            <p:childTnLst>
                              <p:par>
                                <p:cTn id="24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500"/>
                            </p:stCondLst>
                            <p:childTnLst>
                              <p:par>
                                <p:cTn id="2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500"/>
                            </p:stCondLst>
                            <p:childTnLst>
                              <p:par>
                                <p:cTn id="25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1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00"/>
                            </p:stCondLst>
                            <p:childTnLst>
                              <p:par>
                                <p:cTn id="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500"/>
                            </p:stCondLst>
                            <p:childTnLst>
                              <p:par>
                                <p:cTn id="26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6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00"/>
                            </p:stCondLst>
                            <p:childTnLst>
                              <p:par>
                                <p:cTn id="2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500"/>
                            </p:stCondLst>
                            <p:childTnLst>
                              <p:par>
                                <p:cTn id="27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8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7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500"/>
                            </p:stCondLst>
                            <p:childTnLst>
                              <p:par>
                                <p:cTn id="2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500"/>
                            </p:stCondLst>
                            <p:childTnLst>
                              <p:par>
                                <p:cTn id="29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9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0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"/>
                            </p:stCondLst>
                            <p:childTnLst>
                              <p:par>
                                <p:cTn id="3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"/>
                            </p:stCondLst>
                            <p:childTnLst>
                              <p:par>
                                <p:cTn id="30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0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3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500"/>
                            </p:stCondLst>
                            <p:childTnLst>
                              <p:par>
                                <p:cTn id="3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500"/>
                            </p:stCondLst>
                            <p:childTnLst>
                              <p:par>
                                <p:cTn id="31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500"/>
                            </p:stCondLst>
                            <p:childTnLst>
                              <p:par>
                                <p:cTn id="3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500"/>
                            </p:stCondLst>
                            <p:childTnLst>
                              <p:par>
                                <p:cTn id="33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8161" y="710545"/>
            <a:ext cx="9379559" cy="6147456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from </a:t>
            </a:r>
            <a:r>
              <a:rPr lang="en-US" altLang="zh-TW" sz="2222" dirty="0" err="1">
                <a:latin typeface="Lucida Console" panose="020B0609040504020204" pitchFamily="49" charset="0"/>
              </a:rPr>
              <a:t>os</a:t>
            </a:r>
            <a:r>
              <a:rPr lang="en-US" altLang="zh-TW" sz="2222" dirty="0">
                <a:latin typeface="Lucida Console" panose="020B0609040504020204" pitchFamily="49" charset="0"/>
              </a:rPr>
              <a:t> import system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Z=system</a:t>
            </a:r>
            <a:r>
              <a:rPr lang="en-US" altLang="zh-TW" sz="2222" dirty="0">
                <a:latin typeface="Lucida Console" panose="020B0609040504020204" pitchFamily="49" charset="0"/>
              </a:rPr>
              <a:t>("cat file1.txt")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spc="-19" dirty="0">
                <a:solidFill>
                  <a:srgbClr val="FF6969"/>
                </a:solidFill>
                <a:latin typeface="Lucida Console" panose="020B0609040504020204" pitchFamily="49" charset="0"/>
              </a:rPr>
              <a:t>File</a:t>
            </a:r>
            <a:r>
              <a:rPr lang="en-US" altLang="zh-TW" sz="1800" spc="-1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9" dirty="0">
                <a:solidFill>
                  <a:srgbClr val="FF6969"/>
                </a:solidFill>
                <a:latin typeface="Lucida Console" panose="020B0609040504020204" pitchFamily="49" charset="0"/>
              </a:rPr>
              <a:t>from</a:t>
            </a:r>
            <a:r>
              <a:rPr lang="en-US" altLang="zh-TW" sz="1800" spc="-1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9" dirty="0">
                <a:solidFill>
                  <a:srgbClr val="FF6969"/>
                </a:solidFill>
                <a:latin typeface="Lucida Console" panose="020B0609040504020204" pitchFamily="49" charset="0"/>
              </a:rPr>
              <a:t>previous</a:t>
            </a:r>
            <a:r>
              <a:rPr lang="en-US" altLang="zh-TW" sz="1800" spc="-1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sli</a:t>
            </a:r>
            <a:r>
              <a:rPr lang="en-US" altLang="zh-TW" sz="2222" spc="-19" dirty="0">
                <a:solidFill>
                  <a:srgbClr val="FF6969"/>
                </a:solidFill>
                <a:latin typeface="Lucida Console" panose="020B0609040504020204" pitchFamily="49" charset="0"/>
              </a:rPr>
              <a:t>de</a:t>
            </a:r>
            <a:endParaRPr lang="en-US" altLang="zh-TW" sz="2222" spc="-1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hellohellohi</a:t>
            </a:r>
            <a:endParaRPr lang="en-US" altLang="zh-TW" sz="2222" dirty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l2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l3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latin typeface="Lucida Console" panose="020B0609040504020204" pitchFamily="49" charset="0"/>
              </a:rPr>
              <a:t>fo</a:t>
            </a:r>
            <a:r>
              <a:rPr lang="en-US" altLang="zh-TW" sz="2222" dirty="0">
                <a:latin typeface="Lucida Console" panose="020B0609040504020204" pitchFamily="49" charset="0"/>
              </a:rPr>
              <a:t>=open("file1.txt","r")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x=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fo.read</a:t>
            </a:r>
            <a:r>
              <a:rPr lang="en-US" altLang="zh-TW" sz="2222" dirty="0">
                <a:latin typeface="Lucida Console" panose="020B0609040504020204" pitchFamily="49" charset="0"/>
              </a:rPr>
              <a:t>()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#Q: How much reads?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x          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#A: Everything read: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hellohellohi</a:t>
            </a:r>
            <a:r>
              <a:rPr lang="en-US" altLang="zh-TW" sz="2222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\nl2\nl3\n'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latin typeface="Lucida Console" panose="020B0609040504020204" pitchFamily="49" charset="0"/>
              </a:rPr>
              <a:t>fo</a:t>
            </a:r>
            <a:r>
              <a:rPr lang="en-US" altLang="zh-TW" sz="2222" dirty="0">
                <a:latin typeface="Lucida Console" panose="020B0609040504020204" pitchFamily="49" charset="0"/>
              </a:rPr>
              <a:t>=open("file1.txt","r")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 #Auto closes first.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x=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fo.readline</a:t>
            </a:r>
            <a:r>
              <a:rPr lang="en-US" altLang="zh-TW" sz="2222" dirty="0">
                <a:latin typeface="Lucida Console" panose="020B0609040504020204" pitchFamily="49" charset="0"/>
              </a:rPr>
              <a:t>()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#This time, just read one line.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x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hellohellohi</a:t>
            </a:r>
            <a:r>
              <a:rPr lang="en-US" altLang="zh-TW" sz="2222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\n'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x=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fo.readline</a:t>
            </a:r>
            <a:r>
              <a:rPr lang="en-US" altLang="zh-TW" sz="2222" dirty="0">
                <a:latin typeface="Lucida Console" panose="020B0609040504020204" pitchFamily="49" charset="0"/>
              </a:rPr>
              <a:t>(); x</a:t>
            </a:r>
            <a:r>
              <a:rPr lang="en-US" altLang="zh-TW" sz="1111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#Read second line.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'l2\n'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x=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fo.readline</a:t>
            </a:r>
            <a:r>
              <a:rPr lang="en-US" altLang="zh-TW" sz="2222" dirty="0">
                <a:latin typeface="Lucida Console" panose="020B0609040504020204" pitchFamily="49" charset="0"/>
              </a:rPr>
              <a:t>(); x</a:t>
            </a:r>
            <a:r>
              <a:rPr lang="en-US" altLang="zh-TW" sz="1111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#Read third line.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'l3\n'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x=</a:t>
            </a:r>
            <a:r>
              <a:rPr lang="en-US" altLang="zh-TW" sz="2222" dirty="0" err="1">
                <a:latin typeface="Lucida Console" panose="020B0609040504020204" pitchFamily="49" charset="0"/>
              </a:rPr>
              <a:t>fo.readline</a:t>
            </a:r>
            <a:r>
              <a:rPr lang="en-US" altLang="zh-TW" sz="2222" dirty="0">
                <a:latin typeface="Lucida Console" panose="020B0609040504020204" pitchFamily="49" charset="0"/>
              </a:rPr>
              <a:t>(); x</a:t>
            </a:r>
            <a:r>
              <a:rPr lang="en-US" altLang="zh-TW" sz="1111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spc="-19" dirty="0">
                <a:solidFill>
                  <a:srgbClr val="FF6969"/>
                </a:solidFill>
                <a:latin typeface="Lucida Console" panose="020B0609040504020204" pitchFamily="49" charset="0"/>
              </a:rPr>
              <a:t>What</a:t>
            </a:r>
            <a:r>
              <a:rPr lang="en-US" altLang="zh-TW" sz="2000" spc="-1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9" dirty="0">
                <a:solidFill>
                  <a:srgbClr val="FF6969"/>
                </a:solidFill>
                <a:latin typeface="Lucida Console" panose="020B0609040504020204" pitchFamily="49" charset="0"/>
              </a:rPr>
              <a:t>happens</a:t>
            </a:r>
            <a:r>
              <a:rPr lang="en-US" altLang="zh-TW" sz="1800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000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you</a:t>
            </a:r>
            <a:r>
              <a:rPr lang="en-US" altLang="zh-TW" sz="2000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go</a:t>
            </a:r>
            <a:r>
              <a:rPr lang="en-US" altLang="zh-TW" sz="2000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too</a:t>
            </a:r>
            <a:r>
              <a:rPr lang="en-US" altLang="zh-TW" sz="2000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fa</a:t>
            </a:r>
            <a:r>
              <a:rPr lang="en-US" altLang="zh-TW" sz="2222" spc="-93" dirty="0">
                <a:solidFill>
                  <a:srgbClr val="FF6969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spc="-28" dirty="0">
                <a:solidFill>
                  <a:srgbClr val="FF6969"/>
                </a:solidFill>
                <a:latin typeface="Lucida Console" panose="020B0609040504020204" pitchFamily="49" charset="0"/>
              </a:rPr>
              <a:t>?</a:t>
            </a:r>
            <a:endParaRPr lang="en-US" altLang="zh-TW" sz="2222" spc="-28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''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478161" y="710545"/>
            <a:ext cx="790251" cy="6147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spc="-19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  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  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spc="-28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 smtClean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36809"/>
            <a:ext cx="9735832" cy="91440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Reading</a:t>
            </a:r>
            <a:r>
              <a:rPr lang="en-GB" altLang="en-US" sz="440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>
                <a:solidFill>
                  <a:srgbClr val="E5F0F9"/>
                </a:solidFill>
                <a:cs typeface="Arial" panose="020B0604020202020204" pitchFamily="34" charset="0"/>
              </a:rPr>
              <a:t>and Writing</a:t>
            </a:r>
            <a:r>
              <a:rPr lang="en-GB" altLang="en-US" sz="440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Files: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598126" y="101419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744274" y="2773825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203766" y="1022215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07008" y="276148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364973" y="220370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207008" y="2185951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267386" y="391587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207008" y="393192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466613" y="4222615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209236" y="421538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481550" y="479619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592280" y="2477392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203766" y="247149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207008" y="480974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298345" y="5379331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9653249" y="5963055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207008" y="5385816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207008" y="596188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207008" y="655624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873321" y="71701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207009" y="73152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204777" y="334266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8740065" y="3623634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207008" y="3639312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54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5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6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8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9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0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4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3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500"/>
                            </p:stCondLst>
                            <p:childTnLst>
                              <p:par>
                                <p:cTn id="2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500"/>
                            </p:stCondLst>
                            <p:childTnLst>
                              <p:par>
                                <p:cTn id="26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2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500"/>
                            </p:stCondLst>
                            <p:childTnLst>
                              <p:par>
                                <p:cTn id="27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500"/>
                            </p:stCondLst>
                            <p:childTnLst>
                              <p:par>
                                <p:cTn id="29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1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500"/>
                            </p:stCondLst>
                            <p:childTnLst>
                              <p:par>
                                <p:cTn id="3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500"/>
                            </p:stCondLst>
                            <p:childTnLst>
                              <p:par>
                                <p:cTn id="30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0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4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500"/>
                            </p:stCondLst>
                            <p:childTnLst>
                              <p:par>
                                <p:cTn id="3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500"/>
                            </p:stCondLst>
                            <p:childTnLst>
                              <p:par>
                                <p:cTn id="31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0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00"/>
                            </p:stCondLst>
                            <p:childTnLst>
                              <p:par>
                                <p:cTn id="3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Open 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998" y="6363481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58862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/>
          <p:cNvSpPr/>
          <p:nvPr/>
        </p:nvSpPr>
        <p:spPr bwMode="auto">
          <a:xfrm>
            <a:off x="565336" y="2616058"/>
            <a:ext cx="8627876" cy="4222892"/>
          </a:xfrm>
          <a:prstGeom prst="wedgeRoundRectCallout">
            <a:avLst>
              <a:gd name="adj1" fmla="val 13087"/>
              <a:gd name="adj2" fmla="val -73881"/>
              <a:gd name="adj3" fmla="val 16667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720" numCol="1" rtlCol="0" anchor="t" anchorCtr="0" compatLnSpc="1">
            <a:prstTxWarp prst="textNoShape">
              <a:avLst/>
            </a:prstTxWarp>
          </a:bodyPr>
          <a:lstStyle/>
          <a:p>
            <a:pPr marL="57316"/>
            <a:r>
              <a:rPr lang="en-US" altLang="zh-TW" sz="2592" spc="-93" dirty="0">
                <a:latin typeface="Lucida Console" panose="020B0609040504020204" pitchFamily="49" charset="0"/>
                <a:cs typeface="Courier New" pitchFamily="49" charset="0"/>
              </a:rPr>
              <a:t>f</a:t>
            </a:r>
            <a:r>
              <a:rPr lang="en-US" altLang="zh-TW" sz="741" spc="-93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592" spc="-93" dirty="0">
                <a:latin typeface="Lucida Console" panose="020B0609040504020204" pitchFamily="49" charset="0"/>
                <a:cs typeface="Courier New" pitchFamily="49" charset="0"/>
              </a:rPr>
              <a:t>=</a:t>
            </a:r>
            <a:r>
              <a:rPr lang="en-US" altLang="zh-TW" sz="741" spc="-93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592" b="1" spc="-93" dirty="0">
                <a:solidFill>
                  <a:srgbClr val="00B0F0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altLang="zh-TW" sz="2592" spc="-463" dirty="0"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2592" spc="-93" dirty="0" err="1">
                <a:latin typeface="Lucida Console" panose="020B0609040504020204" pitchFamily="49" charset="0"/>
                <a:cs typeface="Courier New" pitchFamily="49" charset="0"/>
              </a:rPr>
              <a:t>file_nam</a:t>
            </a:r>
            <a:r>
              <a:rPr lang="en-US" altLang="zh-TW" sz="2592" spc="-463" dirty="0" err="1">
                <a:latin typeface="Lucida Console" panose="020B0609040504020204" pitchFamily="49" charset="0"/>
                <a:cs typeface="Courier New" pitchFamily="49" charset="0"/>
              </a:rPr>
              <a:t>e</a:t>
            </a:r>
            <a:r>
              <a:rPr lang="en-US" altLang="zh-TW" sz="2592" spc="-463" dirty="0">
                <a:latin typeface="Lucida Console" panose="020B0609040504020204" pitchFamily="49" charset="0"/>
                <a:cs typeface="Courier New" pitchFamily="49" charset="0"/>
              </a:rPr>
              <a:t> [</a:t>
            </a:r>
            <a:r>
              <a:rPr lang="en-US" altLang="zh-TW" sz="2592" spc="-278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2592" spc="-93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access_mod</a:t>
            </a:r>
            <a:r>
              <a:rPr lang="en-US" altLang="zh-TW" sz="2592" spc="-185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e</a:t>
            </a:r>
            <a:r>
              <a:rPr lang="en-US" altLang="zh-TW" sz="2592" spc="-463" dirty="0">
                <a:latin typeface="Lucida Console" panose="020B0609040504020204" pitchFamily="49" charset="0"/>
                <a:cs typeface="Courier New" pitchFamily="49" charset="0"/>
              </a:rPr>
              <a:t>] [</a:t>
            </a:r>
            <a:r>
              <a:rPr lang="en-US" altLang="zh-TW" sz="2592" spc="-278" dirty="0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2592" spc="-93" dirty="0">
                <a:solidFill>
                  <a:srgbClr val="FFC000"/>
                </a:solidFill>
                <a:latin typeface="Lucida Console" panose="020B0609040504020204" pitchFamily="49" charset="0"/>
                <a:cs typeface="Courier New" pitchFamily="49" charset="0"/>
              </a:rPr>
              <a:t>buffering</a:t>
            </a:r>
            <a:r>
              <a:rPr lang="en-US" altLang="zh-TW" sz="2592" spc="-463" dirty="0">
                <a:latin typeface="Lucida Console" panose="020B0609040504020204" pitchFamily="49" charset="0"/>
                <a:cs typeface="Courier New" pitchFamily="49" charset="0"/>
              </a:rPr>
              <a:t>])</a:t>
            </a:r>
          </a:p>
          <a:p>
            <a:endParaRPr lang="en-US" altLang="zh-TW" sz="1111" b="1" dirty="0"/>
          </a:p>
          <a:p>
            <a:pPr fontAlgn="t"/>
            <a:r>
              <a:rPr lang="en-US" altLang="zh-TW" sz="2592" b="1" dirty="0" err="1">
                <a:solidFill>
                  <a:srgbClr val="00B050"/>
                </a:solidFill>
              </a:rPr>
              <a:t>access_mode</a:t>
            </a:r>
            <a:r>
              <a:rPr lang="en-US" altLang="zh-TW" sz="2592" b="1" dirty="0">
                <a:solidFill>
                  <a:srgbClr val="00B050"/>
                </a:solidFill>
              </a:rPr>
              <a:t> (default = r):</a:t>
            </a:r>
            <a:r>
              <a:rPr lang="en-US" altLang="zh-TW" sz="2592" dirty="0"/>
              <a:t/>
            </a:r>
            <a:br>
              <a:rPr lang="en-US" altLang="zh-TW" sz="2592" dirty="0"/>
            </a:br>
            <a:r>
              <a:rPr lang="en-US" altLang="zh-TW" sz="2222" dirty="0"/>
              <a:t>The mode of usage: read (r), write (w), append (a). Optionally, can include a “b” for (binary format), or a “+” for (read and write).</a:t>
            </a:r>
            <a:endParaRPr lang="zh-TW" altLang="zh-TW" sz="2222" dirty="0"/>
          </a:p>
          <a:p>
            <a:pPr fontAlgn="t"/>
            <a:r>
              <a:rPr lang="en-US" altLang="zh-TW" sz="2222" spc="-28" dirty="0"/>
              <a:t>So all legal modes are: r, </a:t>
            </a:r>
            <a:r>
              <a:rPr lang="en-US" altLang="zh-TW" sz="2222" spc="-28" dirty="0" err="1"/>
              <a:t>rb</a:t>
            </a:r>
            <a:r>
              <a:rPr lang="en-US" altLang="zh-TW" sz="2222" spc="-28" dirty="0"/>
              <a:t>, r+, </a:t>
            </a:r>
            <a:r>
              <a:rPr lang="en-US" altLang="zh-TW" sz="2222" spc="-28" dirty="0" err="1"/>
              <a:t>rb</a:t>
            </a:r>
            <a:r>
              <a:rPr lang="en-US" altLang="zh-TW" sz="2222" spc="-28" dirty="0"/>
              <a:t>+, w, </a:t>
            </a:r>
            <a:r>
              <a:rPr lang="en-US" altLang="zh-TW" sz="2222" spc="-28" dirty="0" err="1"/>
              <a:t>wb</a:t>
            </a:r>
            <a:r>
              <a:rPr lang="en-US" altLang="zh-TW" sz="2222" spc="-28" dirty="0"/>
              <a:t>, w+, </a:t>
            </a:r>
            <a:r>
              <a:rPr lang="en-US" altLang="zh-TW" sz="2222" spc="-28" dirty="0" err="1"/>
              <a:t>wb</a:t>
            </a:r>
            <a:r>
              <a:rPr lang="en-US" altLang="zh-TW" sz="2222" spc="-28" dirty="0"/>
              <a:t>+, a, ab, a+, ab+</a:t>
            </a:r>
            <a:endParaRPr lang="zh-TW" altLang="zh-TW" sz="2222" spc="-28" dirty="0"/>
          </a:p>
          <a:p>
            <a:endParaRPr lang="en-US" altLang="zh-TW" sz="1111" dirty="0"/>
          </a:p>
          <a:p>
            <a:r>
              <a:rPr lang="en-US" altLang="zh-TW" sz="2592" b="1" dirty="0">
                <a:solidFill>
                  <a:srgbClr val="FFC000"/>
                </a:solidFill>
              </a:rPr>
              <a:t>buffering (default = -1):</a:t>
            </a:r>
            <a:r>
              <a:rPr lang="en-US" altLang="zh-TW" sz="2592" dirty="0">
                <a:solidFill>
                  <a:srgbClr val="FFC000"/>
                </a:solidFill>
              </a:rPr>
              <a:t> </a:t>
            </a:r>
          </a:p>
          <a:p>
            <a:pPr marL="914320" lvl="1" indent="-457160"/>
            <a:r>
              <a:rPr lang="en-US" altLang="zh-TW" sz="2222" dirty="0"/>
              <a:t>0: 	 No buffering. </a:t>
            </a:r>
          </a:p>
          <a:p>
            <a:pPr marL="914320" lvl="1" indent="-457160"/>
            <a:r>
              <a:rPr lang="en-US" altLang="zh-TW" sz="2222" dirty="0"/>
              <a:t>1: 	 Line buffering.</a:t>
            </a:r>
          </a:p>
          <a:p>
            <a:pPr marL="914320" lvl="1" indent="-457160"/>
            <a:r>
              <a:rPr lang="en-US" altLang="zh-TW" sz="2222" dirty="0"/>
              <a:t>&gt;1:	 Use the indicated buffer size. </a:t>
            </a:r>
          </a:p>
          <a:p>
            <a:pPr marL="914320" lvl="1" indent="-457160"/>
            <a:r>
              <a:rPr lang="en-US" altLang="zh-TW" sz="2222" dirty="0"/>
              <a:t>&lt;0: The buffer size is the system default.</a:t>
            </a:r>
            <a:endParaRPr lang="en-US" altLang="zh-TW" sz="2592" spc="-463" dirty="0">
              <a:latin typeface="Lucida Console" panose="020B0609040504020204" pitchFamily="49" charset="0"/>
              <a:cs typeface="Courier New" pitchFamily="49" charset="0"/>
            </a:endParaRPr>
          </a:p>
          <a:p>
            <a:pPr>
              <a:buFontTx/>
              <a:buNone/>
            </a:pPr>
            <a:endParaRPr lang="en-US" altLang="zh-TW" sz="2592" spc="-463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24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2113" y="762000"/>
            <a:ext cx="9526459" cy="49530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spc="-10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() </a:t>
            </a:r>
            <a:r>
              <a:rPr lang="en-US" altLang="zh-TW" sz="2222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111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With no arguments,</a:t>
            </a:r>
            <a:r>
              <a:rPr lang="en-US" altLang="zh-TW" sz="1852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gives names in current scope: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spc="-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spc="-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b="1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222" dirty="0">
                <a:latin typeface="Lucida Console" panose="020B0609040504020204" pitchFamily="49" charset="0"/>
              </a:rPr>
              <a:t>={*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()}</a:t>
            </a:r>
            <a:r>
              <a:rPr lang="en-US" altLang="zh-TW" sz="2222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#Store all this in a set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()     </a:t>
            </a:r>
            <a:r>
              <a:rPr lang="en-US" altLang="zh-TW" sz="2222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#Notice that 'x' is now in the scope: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spc="-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spc="-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b="1" dirty="0">
                <a:solidFill>
                  <a:srgbClr val="FF0000"/>
                </a:solidFill>
                <a:latin typeface="Lucida Console" panose="020B0609040504020204" pitchFamily="49" charset="0"/>
              </a:rPr>
              <a:t>x </a:t>
            </a:r>
            <a:r>
              <a:rPr lang="en-US" altLang="zh-TW" sz="2222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#But 'x' isn’t in the set, because it was being mad</a:t>
            </a:r>
            <a:r>
              <a:rPr lang="en-US" altLang="zh-TW" sz="2222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spc="-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spc="-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x= {*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()}; x </a:t>
            </a:r>
            <a:r>
              <a:rPr lang="en-US" altLang="zh-TW" sz="2222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#This time 'x' will be in the set: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spc="-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spc="-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185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del x; 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()   </a:t>
            </a:r>
            <a:r>
              <a:rPr lang="en-US" altLang="zh-TW" sz="2222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#Let’s remove 'x' from the scope: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spc="-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spc="-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spc="-102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96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dirty="0">
              <a:latin typeface="Lucida Console" panose="020B0609040504020204" pitchFamily="49" charset="0"/>
            </a:endParaRPr>
          </a:p>
        </p:txBody>
      </p:sp>
      <p:sp>
        <p:nvSpPr>
          <p:cNvPr id="11" name="內容版面配置區 2"/>
          <p:cNvSpPr txBox="1">
            <a:spLocks/>
          </p:cNvSpPr>
          <p:nvPr/>
        </p:nvSpPr>
        <p:spPr bwMode="auto">
          <a:xfrm>
            <a:off x="192113" y="2001196"/>
            <a:ext cx="721273" cy="34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kern="0" dirty="0"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47" y="-1925"/>
            <a:ext cx="9735832" cy="812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Let’s recall what </a:t>
            </a:r>
            <a:r>
              <a:rPr lang="en-US" altLang="en-US" sz="4400" b="1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4400" b="1" dirty="0">
                <a:solidFill>
                  <a:srgbClr val="2D2DB9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400" b="1" dirty="0">
                <a:solidFill>
                  <a:srgbClr val="2D2DB9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400" b="1" dirty="0">
                <a:solidFill>
                  <a:srgbClr val="2D2DB9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400" dirty="0">
                <a:solidFill>
                  <a:srgbClr val="2D2DB9"/>
                </a:solidFill>
              </a:rPr>
              <a:t> does…</a:t>
            </a:r>
          </a:p>
        </p:txBody>
      </p:sp>
      <p:sp>
        <p:nvSpPr>
          <p:cNvPr id="5" name="內容版面配置區 2"/>
          <p:cNvSpPr txBox="1">
            <a:spLocks/>
          </p:cNvSpPr>
          <p:nvPr/>
        </p:nvSpPr>
        <p:spPr bwMode="auto">
          <a:xfrm>
            <a:off x="192113" y="1682496"/>
            <a:ext cx="721273" cy="313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kern="0" dirty="0">
              <a:latin typeface="Lucida Console" panose="020B0609040504020204" pitchFamily="49" charset="0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2113" y="5250118"/>
            <a:ext cx="721273" cy="34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kern="0" dirty="0">
              <a:latin typeface="Lucida Console" panose="020B0609040504020204" pitchFamily="49" charset="0"/>
            </a:endParaRP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 bwMode="auto">
          <a:xfrm>
            <a:off x="192113" y="2975384"/>
            <a:ext cx="721273" cy="34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kern="0" dirty="0">
              <a:latin typeface="Lucida Console" panose="020B0609040504020204" pitchFamily="49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83703" y="6880117"/>
            <a:ext cx="9534869" cy="476719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4659" tIns="42330" rIns="84659" bIns="4233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en-US" sz="1852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913386" y="2054403"/>
            <a:ext cx="8805186" cy="51734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4659" tIns="42330" rIns="84659" bIns="4233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en-US" sz="1852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34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0628E-6 4.16631E-6 L -0.00045 -0.69825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-34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8018E-7 -0.0169 L 0.00098 -0.0507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" y="-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6" grpId="0"/>
      <p:bldP spid="8" grpId="0"/>
      <p:bldP spid="9" grpId="0" animBg="1"/>
      <p:bldP spid="10" grpId="0" animBg="1"/>
      <p:bldP spid="10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947" y="-1925"/>
            <a:ext cx="9735832" cy="812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Let’s recall what </a:t>
            </a:r>
            <a:r>
              <a:rPr lang="en-US" altLang="en-US" sz="4400" b="1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4400" b="1" dirty="0">
                <a:solidFill>
                  <a:srgbClr val="2D2DB9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400" b="1" dirty="0">
                <a:solidFill>
                  <a:srgbClr val="2D2DB9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400" b="1" dirty="0">
                <a:solidFill>
                  <a:srgbClr val="2D2DB9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400" dirty="0">
                <a:solidFill>
                  <a:srgbClr val="2D2DB9"/>
                </a:solidFill>
              </a:rPr>
              <a:t> does…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2113" y="762000"/>
            <a:ext cx="9526459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err="1" smtClean="0"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() 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111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With no arguments,</a:t>
            </a:r>
            <a:r>
              <a:rPr lang="en-US" altLang="zh-TW" sz="185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gives names in current scope: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__annotations__</a:t>
            </a:r>
            <a:r>
              <a:rPr lang="en-US" altLang="zh-TW" sz="222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__doc_</a:t>
            </a:r>
            <a:r>
              <a:rPr lang="en-US" altLang="zh-TW" sz="2222" kern="0" spc="-213" dirty="0" smtClean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__loader_</a:t>
            </a:r>
            <a:r>
              <a:rPr lang="en-US" altLang="zh-TW" sz="2222" kern="0" spc="-213" dirty="0" smtClean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__name__</a:t>
            </a:r>
            <a:r>
              <a:rPr lang="en-US" altLang="zh-TW" sz="222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__package__</a:t>
            </a:r>
            <a:r>
              <a:rPr lang="en-US" altLang="zh-TW" sz="222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__spec__</a:t>
            </a:r>
            <a:r>
              <a:rPr lang="en-US" altLang="zh-TW" sz="2222" kern="0" spc="-102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 smtClean="0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 err="1" smtClean="0">
                <a:solidFill>
                  <a:srgbClr val="FFAFAF"/>
                </a:solidFill>
                <a:latin typeface="Lucida Console" panose="020B0609040504020204" pitchFamily="49" charset="0"/>
              </a:rPr>
              <a:t>#We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 remember this one from regression testing: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latin typeface="Lucida Console" panose="020B0609040504020204" pitchFamily="49" charset="0"/>
              </a:rPr>
              <a:t>'__main__'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 smtClean="0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 #We</a:t>
            </a:r>
            <a:r>
              <a:rPr lang="en-US" altLang="zh-TW" sz="2222" kern="0" spc="-185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’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ve been using this. But what is it?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 smtClean="0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 smtClean="0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 smtClean="0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 smtClean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 smtClean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 smtClean="0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 smtClean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 smtClean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 smtClean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</a:t>
            </a:r>
            <a:r>
              <a:rPr lang="en-US" altLang="zh-TW" sz="2222" kern="0" spc="-185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error</a:t>
            </a:r>
            <a:r>
              <a:rPr lang="en-US" altLang="zh-TW" sz="2222" kern="0" spc="-185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85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codes</a:t>
            </a:r>
            <a:r>
              <a:rPr lang="en-US" altLang="zh-TW" sz="2222" kern="0" spc="-185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) at the </a:t>
            </a:r>
            <a:r>
              <a:rPr lang="en-US" altLang="zh-TW" sz="2222" kern="0" spc="-185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top</a:t>
            </a:r>
            <a:r>
              <a:rPr lang="en-US" altLang="zh-TW" sz="2222" kern="0" spc="-185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.</a:t>
            </a:r>
            <a:endParaRPr lang="en-US" altLang="zh-TW" sz="2222" kern="0" dirty="0" smtClean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 smtClean="0">
                <a:solidFill>
                  <a:srgbClr val="D9D9D9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kern="0" spc="-102" dirty="0" smtClean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zh-TW" sz="2222" kern="0" spc="-10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內容版面配置區 2"/>
          <p:cNvSpPr txBox="1">
            <a:spLocks/>
          </p:cNvSpPr>
          <p:nvPr/>
        </p:nvSpPr>
        <p:spPr bwMode="auto">
          <a:xfrm>
            <a:off x="192113" y="5940603"/>
            <a:ext cx="721273" cy="34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kern="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內容版面配置區 2"/>
          <p:cNvSpPr txBox="1">
            <a:spLocks/>
          </p:cNvSpPr>
          <p:nvPr/>
        </p:nvSpPr>
        <p:spPr bwMode="auto">
          <a:xfrm>
            <a:off x="192113" y="1682496"/>
            <a:ext cx="721273" cy="34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kern="0" dirty="0">
              <a:latin typeface="Lucida Console" panose="020B0609040504020204" pitchFamily="49" charset="0"/>
            </a:endParaRPr>
          </a:p>
        </p:txBody>
      </p:sp>
      <p:sp>
        <p:nvSpPr>
          <p:cNvPr id="9" name="內容版面配置區 2"/>
          <p:cNvSpPr txBox="1">
            <a:spLocks/>
          </p:cNvSpPr>
          <p:nvPr/>
        </p:nvSpPr>
        <p:spPr bwMode="auto">
          <a:xfrm>
            <a:off x="192113" y="2295144"/>
            <a:ext cx="721273" cy="34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kern="0" dirty="0">
              <a:latin typeface="Lucida Console" panose="020B0609040504020204" pitchFamily="49" charset="0"/>
            </a:endParaRPr>
          </a:p>
        </p:txBody>
      </p:sp>
      <p:sp>
        <p:nvSpPr>
          <p:cNvPr id="10" name="內容版面配置區 2"/>
          <p:cNvSpPr txBox="1">
            <a:spLocks/>
          </p:cNvSpPr>
          <p:nvPr/>
        </p:nvSpPr>
        <p:spPr bwMode="auto">
          <a:xfrm>
            <a:off x="192113" y="2898648"/>
            <a:ext cx="721273" cy="34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kern="0" dirty="0">
              <a:latin typeface="Lucida Console" panose="020B0609040504020204" pitchFamily="49" charset="0"/>
            </a:endParaRPr>
          </a:p>
        </p:txBody>
      </p:sp>
      <p:sp>
        <p:nvSpPr>
          <p:cNvPr id="11" name="內容版面配置區 2"/>
          <p:cNvSpPr txBox="1">
            <a:spLocks/>
          </p:cNvSpPr>
          <p:nvPr/>
        </p:nvSpPr>
        <p:spPr bwMode="auto">
          <a:xfrm>
            <a:off x="192113" y="5327955"/>
            <a:ext cx="721273" cy="34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kern="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12" name="內容版面配置區 2"/>
          <p:cNvSpPr txBox="1">
            <a:spLocks/>
          </p:cNvSpPr>
          <p:nvPr/>
        </p:nvSpPr>
        <p:spPr bwMode="auto">
          <a:xfrm>
            <a:off x="192113" y="5638851"/>
            <a:ext cx="721273" cy="34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kern="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182562" y="3200400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29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4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50"/>
                            </p:stCondLst>
                            <p:childTnLst>
                              <p:par>
                                <p:cTn id="6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0" grpId="0"/>
      <p:bldP spid="11" grpId="0"/>
      <p:bldP spid="12" grpId="0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()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111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With no arguments,</a:t>
            </a:r>
            <a:r>
              <a:rPr lang="en-US" altLang="zh-TW" sz="185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gives names in current scope: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__annotations__</a:t>
            </a:r>
            <a:r>
              <a:rPr lang="en-US" altLang="zh-TW" sz="2222" kern="0" spc="-102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__doc_</a:t>
            </a:r>
            <a:r>
              <a:rPr lang="en-US" altLang="zh-TW" sz="2222" kern="0" spc="-213" dirty="0" smtClean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kern="0" spc="-102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__loader_</a:t>
            </a:r>
            <a:r>
              <a:rPr lang="en-US" altLang="zh-TW" sz="2222" kern="0" spc="-213" dirty="0" smtClean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#We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remember this one from regression testing: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'__main__'</a:t>
            </a: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 smtClean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 smtClean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 smtClean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sorted(x)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182562" y="2971800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9335" y="6529308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220" dirty="0"/>
          </a:p>
        </p:txBody>
      </p:sp>
    </p:spTree>
    <p:extLst>
      <p:ext uri="{BB962C8B-B14F-4D97-AF65-F5344CB8AC3E}">
        <p14:creationId xmlns:p14="http://schemas.microsoft.com/office/powerpoint/2010/main" val="190311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smtClean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#We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remember this one from regression testing: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'__main__'</a:t>
            </a: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ArithmeticErro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AssertionErro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BlockingIOErro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BrokenPipeErro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BufferErro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endParaRPr lang="en-US" kern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182562" y="2368296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94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latin typeface="Lucida Console" panose="020B0609040504020204" pitchFamily="49" charset="0"/>
              </a:rPr>
              <a:t>'__</a:t>
            </a:r>
            <a:r>
              <a:rPr lang="en-US" altLang="zh-TW" sz="2222" kern="0" dirty="0">
                <a:latin typeface="Lucida Console" panose="020B0609040504020204" pitchFamily="49" charset="0"/>
              </a:rPr>
              <a:t>main__'</a:t>
            </a: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ArithmeticErro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AssertionErro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BlockingIOErro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BrokenPipeErro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BufferErro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Ch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roce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ssE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onAborted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ConnectionRefusedErro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ConnectionResetErro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EOFErro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endParaRPr lang="en-US" kern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82562" y="1764792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56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latin typeface="Lucida Console" panose="020B0609040504020204" pitchFamily="49" charset="0"/>
              </a:rPr>
              <a:t>&lt;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ArithmeticErro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AssertionErro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BlockingIOErro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BrokenPipeErro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BufferErro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Ch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roce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ssE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onAborted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ConnectionRefusedErro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ConnectionResetErro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EOFErro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EnvironmentErro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FileExistsErro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ngP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IO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Imp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Indentat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endParaRPr lang="en-US" kern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82562" y="1179576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06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ArithmeticErro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AssertionErro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BlockingIOErro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BrokenPipeErro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BufferErro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Ch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roce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ssE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onAborted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ConnectionRefusedErro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ConnectionResetErro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EOFErro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EnvironmentErro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FileExistsErro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ngP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IO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Imp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Indentat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IndexErro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InterruptedErro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IsADirectoryErro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KeyErro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LookupErro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MemoryErro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ModuleNotFoundErro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NameErro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endParaRPr lang="en-US" kern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82562" y="571500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39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ArithmeticErro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AssertionErro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BlockingIOErro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BrokenPipeErro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BufferErro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Ch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roce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ssE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onAborted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ConnectionRefusedErro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ConnectionResetErro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EOFErro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EnvironmentErro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FileExistsErro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ngP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IO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Imp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Indentat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IndexErro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InterruptedErro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IsADirectoryErro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KeyErro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LookupErro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MemoryErro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ModuleNotFoundErro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NameErro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25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tA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rect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ory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ot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Im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pl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ementedErr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8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zh-TW" sz="2222" kern="0" spc="-3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19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3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PermissionErro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ProcessLookupErro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RecursionErro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endParaRPr lang="en-US" kern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82562" y="571500"/>
            <a:ext cx="9486900" cy="9715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81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300" kern="0" spc="-93" dirty="0" smtClean="0">
                <a:latin typeface="Lucida Console" panose="020B0609040504020204" pitchFamily="49" charset="0"/>
              </a:rPr>
              <a:t/>
            </a:r>
            <a:br>
              <a:rPr lang="en-US" altLang="zh-TW" sz="300" kern="0" spc="-93" dirty="0" smtClean="0">
                <a:latin typeface="Lucida Console" panose="020B0609040504020204" pitchFamily="49" charset="0"/>
              </a:rPr>
            </a:br>
            <a:r>
              <a:rPr lang="en-US" altLang="zh-TW" sz="1111" kern="0" spc="-93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ArithmeticErro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AssertionErro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BlockingIOErro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BrokenPipeErro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BufferErro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Ch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roce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ssE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onAborted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ConnectionRefusedErro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ConnectionResetErro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EOFErro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EnvironmentErro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FileExistsErro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ngP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IO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Imp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Indentat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IndexErro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InterruptedErro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IsADirectoryErro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KeyErro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LookupErro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MemoryErro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ModuleNotFoundErro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NameErro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25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tA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rect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ory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ot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Im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pl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ementedErr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8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zh-TW" sz="2222" kern="0" spc="-3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19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3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PermissionErro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ProcessLookupErro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RecursionErro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ReferenceErro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RuntimeErro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SyntaxErro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SystemErro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TabErro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TimeoutErro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TypeErro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UnboundLocalErro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endParaRPr lang="en-US" kern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82562" y="571500"/>
            <a:ext cx="9486900" cy="4000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59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 smtClean="0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 smtClean="0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 smtClean="0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 smtClean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 smtClean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 smtClean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smtClean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 smtClean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smtClean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 smtClean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smtClean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 smtClean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 smtClean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 smtClean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 smtClean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 smtClean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 smtClean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 smtClean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 smtClean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 smtClean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 smtClean="0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 smtClean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 smtClean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smtClean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ArithmeticErro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AssertionErro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BlockingIOErro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BrokenPipeErro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BufferErro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Ch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roce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ssE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onAborted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ConnectionRefusedErro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ConnectionResetErro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EOFErro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EnvironmentErro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FileExistsErro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ngP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IO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Imp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Indentat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IndexErro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InterruptedErro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IsADirectoryErro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KeyErro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LookupErro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MemoryErro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ModuleNotFoundErro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NameErro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25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tA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rect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ory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ot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Im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pl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ementedErr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8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zh-TW" sz="2222" kern="0" spc="-3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19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3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PermissionErro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ProcessLookupErro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RecursionErro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ReferenceErro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RuntimeErro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SyntaxErro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SystemErro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TabErro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TimeoutErro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TypeErro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UnboundLocalErro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UnicodeDecodeErro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UnicodeEncodeErro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UnicodeErro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UnicodeTranslateErro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ValueErro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ZeroDivisionErro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1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']</a:t>
            </a:r>
            <a:endParaRPr lang="en-US" altLang="zh-TW" sz="2222" kern="0" spc="-102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endParaRPr lang="en-US" kern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</p:spTree>
    <p:extLst>
      <p:ext uri="{BB962C8B-B14F-4D97-AF65-F5344CB8AC3E}">
        <p14:creationId xmlns:p14="http://schemas.microsoft.com/office/powerpoint/2010/main" val="26377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1111" kern="0" spc="-93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]</a:t>
            </a:r>
            <a:endParaRPr lang="en-US" altLang="zh-TW" sz="2222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ArithmeticErro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AssertionErro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BlockingIOErro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BrokenPipeErro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BufferErro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Ch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roce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ssE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onAborted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ConnectionRefusedErro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ConnectionResetErro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EOFErro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EnvironmentErro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FileExistsErro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ngP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IO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Imp</a:t>
            </a:r>
            <a:r>
              <a:rPr lang="en-US" altLang="zh-TW" sz="2222" kern="0" spc="-26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rt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Indentat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IndexErro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InterruptedErro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IsADirectoryErro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KeyErro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LookupErro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MemoryErro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ModuleNotFoundErro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NameErro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25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tA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rect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ory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ot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Im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pl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ementedErr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8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v</a:t>
            </a:r>
            <a:r>
              <a:rPr lang="en-US" altLang="zh-TW" sz="2222" kern="0" spc="-3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19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3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2" kern="0" spc="-25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PermissionErro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ProcessLookupErro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RecursionErro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ReferenceErro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RuntimeErro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SyntaxErro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SystemErro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TabErro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TimeoutErro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TypeErro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UnboundLocalErro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UnicodeDecodeErro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UnicodeEncodeErro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UnicodeErro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UnicodeTranslateErro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ValueErro</a:t>
            </a:r>
            <a:r>
              <a:rPr lang="en-US" altLang="zh-TW" sz="2222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ZeroDivisionErro</a:t>
            </a:r>
            <a:r>
              <a:rPr lang="en-US" altLang="zh-TW" sz="2222" kern="0" spc="-4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1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spc="-102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endParaRPr lang="en-US" kern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11212" y="6457950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22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1" y="759514"/>
            <a:ext cx="9383713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3200" kern="0" spc="-2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200" kern="0" spc="-2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last line of </a:t>
            </a:r>
            <a:r>
              <a:rPr lang="en-US" altLang="zh-TW" sz="3200" kern="0" spc="-2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any </a:t>
            </a:r>
            <a:r>
              <a:rPr lang="en-US" altLang="zh-TW" sz="3200" kern="0" spc="-2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 message</a:t>
            </a:r>
            <a:r>
              <a:rPr lang="en-US" altLang="zh-TW" sz="3200" kern="0" spc="-2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3200" kern="0" spc="-2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says </a:t>
            </a:r>
            <a:r>
              <a:rPr lang="en-US" altLang="zh-TW" sz="3200" kern="0" spc="-20" dirty="0">
                <a:solidFill>
                  <a:srgbClr val="CC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zh-TW" sz="3200" kern="0" spc="-20" dirty="0" smtClean="0">
                <a:solidFill>
                  <a:srgbClr val="CC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happened</a:t>
            </a:r>
            <a:r>
              <a:rPr lang="en-US" altLang="zh-TW" sz="3200" kern="0" spc="-2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altLang="zh-TW" sz="3200" kern="0" spc="-2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endParaRPr lang="en-US" altLang="zh-TW" sz="12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kern="0" spc="-4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spc="-4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</a:t>
            </a:r>
            <a:r>
              <a:rPr lang="en-US" b="1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/0</a:t>
            </a:r>
            <a:r>
              <a:rPr lang="en-US" kern="0" spc="-4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  File "&lt;</a:t>
            </a:r>
            <a:r>
              <a:rPr lang="en-US" kern="0" spc="-40" dirty="0" err="1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stdin</a:t>
            </a:r>
            <a:r>
              <a:rPr lang="en-US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&gt;", line 1, in &lt;module&gt; 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spc="-4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 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division by zero</a:t>
            </a:r>
            <a:r>
              <a:rPr lang="en-US" kern="0" spc="-4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kern="0" spc="-4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x</a:t>
            </a:r>
            <a:r>
              <a:rPr lang="en-US" kern="0" spc="-4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*3 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  File </a:t>
            </a:r>
            <a:r>
              <a:rPr lang="en-US" altLang="zh-TW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"&lt;</a:t>
            </a:r>
            <a:r>
              <a:rPr lang="en-US" altLang="zh-TW" kern="0" spc="-40" dirty="0" err="1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stdin</a:t>
            </a:r>
            <a:r>
              <a:rPr lang="en-US" altLang="zh-TW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&gt;"</a:t>
            </a:r>
            <a:r>
              <a:rPr lang="en-US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, line 1, in &lt;module&gt; </a:t>
            </a:r>
            <a:r>
              <a:rPr lang="en-US" kern="0" spc="-40" dirty="0" smtClean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/>
            </a:r>
            <a:br>
              <a:rPr lang="en-US" kern="0" spc="-40" dirty="0" smtClean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</a:br>
            <a:r>
              <a:rPr lang="en-US" kern="0" spc="-4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kern="0" spc="-4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 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name 'x' is not defined</a:t>
            </a:r>
            <a:r>
              <a:rPr lang="en-US" kern="0" spc="-4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kern="0" spc="-4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</a:t>
            </a:r>
            <a:r>
              <a:rPr lang="en-US" b="1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2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Traceback</a:t>
            </a:r>
            <a:r>
              <a:rPr lang="en-US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 (most recent call last):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  File </a:t>
            </a:r>
            <a:r>
              <a:rPr lang="en-US" altLang="zh-TW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"&lt;</a:t>
            </a:r>
            <a:r>
              <a:rPr lang="en-US" altLang="zh-TW" kern="0" spc="-40" dirty="0" err="1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stdin</a:t>
            </a:r>
            <a:r>
              <a:rPr lang="en-US" altLang="zh-TW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&gt;"</a:t>
            </a:r>
            <a:r>
              <a:rPr lang="en-US" kern="0" spc="-40" dirty="0">
                <a:solidFill>
                  <a:srgbClr val="D7B5B5"/>
                </a:solidFill>
                <a:latin typeface="Lucida Console" panose="020B0609040504020204" pitchFamily="49" charset="0"/>
                <a:cs typeface="Courier New" pitchFamily="49" charset="0"/>
              </a:rPr>
              <a:t>, line 1, in &lt;module&gt; 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</a:t>
            </a:r>
            <a:r>
              <a:rPr lang="en-US" kern="0" spc="-14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or</a:t>
            </a:r>
            <a:r>
              <a:rPr lang="en-US" kern="0" spc="-4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sz="1600" kern="0" spc="-4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Ca</a:t>
            </a:r>
            <a:r>
              <a:rPr lang="en-US" kern="0" spc="-40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n'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</a:t>
            </a:r>
            <a:r>
              <a:rPr lang="en-US" sz="1600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kern="0" spc="-9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o</a:t>
            </a:r>
            <a:r>
              <a:rPr lang="en-US" kern="0" spc="-1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n</a:t>
            </a:r>
            <a:r>
              <a:rPr lang="en-US" kern="0" spc="-2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ve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rt</a:t>
            </a:r>
            <a:r>
              <a:rPr lang="en-US" sz="1600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spc="-40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kern="0" spc="-200" dirty="0" err="1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i</a:t>
            </a:r>
            <a:r>
              <a:rPr lang="en-US" kern="0" spc="-40" dirty="0" err="1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n</a:t>
            </a:r>
            <a:r>
              <a:rPr lang="en-US" kern="0" spc="-400" dirty="0" err="1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'</a:t>
            </a:r>
            <a:r>
              <a:rPr lang="en-US" sz="1600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o</a:t>
            </a:r>
            <a:r>
              <a:rPr lang="en-US" kern="0" spc="-20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ject</a:t>
            </a:r>
            <a:r>
              <a:rPr lang="en-US" sz="1600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to</a:t>
            </a:r>
            <a:r>
              <a:rPr lang="en-US" sz="1600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spc="-40" dirty="0" err="1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str</a:t>
            </a:r>
            <a:r>
              <a:rPr lang="en-US" sz="1600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spc="-20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i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m</a:t>
            </a:r>
            <a:r>
              <a:rPr lang="en-US" kern="0" spc="-25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pli</a:t>
            </a:r>
            <a:r>
              <a:rPr lang="en-US" kern="0" spc="-1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kern="0" spc="-2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itl</a:t>
            </a:r>
            <a:r>
              <a:rPr lang="en-US" kern="0" spc="-4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y</a:t>
            </a:r>
          </a:p>
          <a:p>
            <a:pPr marL="0" lvl="1" indent="0" defTabSz="846552">
              <a:lnSpc>
                <a:spcPct val="85000"/>
              </a:lnSpc>
              <a:spcBef>
                <a:spcPts val="0"/>
              </a:spcBef>
              <a:buNone/>
            </a:pPr>
            <a:r>
              <a:rPr lang="en-US" kern="0" spc="-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kern="0" spc="-4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Program Terminating Errors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96862" y="1314450"/>
            <a:ext cx="9315450" cy="5372100"/>
            <a:chOff x="296862" y="1314450"/>
            <a:chExt cx="9315450" cy="5372100"/>
          </a:xfrm>
        </p:grpSpPr>
        <p:sp>
          <p:nvSpPr>
            <p:cNvPr id="3" name="Rectangle 2"/>
            <p:cNvSpPr/>
            <p:nvPr/>
          </p:nvSpPr>
          <p:spPr bwMode="auto">
            <a:xfrm>
              <a:off x="296862" y="4171950"/>
              <a:ext cx="7829550" cy="120015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296862" y="1314450"/>
              <a:ext cx="7829550" cy="97155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296862" y="5772150"/>
              <a:ext cx="7829550" cy="91440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296862" y="2628900"/>
              <a:ext cx="7829550" cy="120015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2068512" y="3829050"/>
              <a:ext cx="7543800" cy="34290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3554412" y="2286000"/>
              <a:ext cx="6057900" cy="34290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2068512" y="5372100"/>
              <a:ext cx="7543800" cy="34290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1093970" y="570710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89740" y="2611582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96668" y="4162158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471349" y="4466757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031108" y="1371600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471349" y="2917363"/>
            <a:ext cx="2026" cy="2743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75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0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1111" kern="0" spc="-93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]</a:t>
            </a:r>
            <a:endParaRPr lang="en-US" altLang="zh-TW" sz="2222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ArithmeticErro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AssertionErro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BlockingIOErro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BrokenPipeErro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BufferErro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Ch</a:t>
            </a:r>
            <a:r>
              <a:rPr lang="en-US" altLang="zh-TW" sz="2222" kern="0" spc="-25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1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P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roce</a:t>
            </a:r>
            <a:r>
              <a:rPr lang="en-US" altLang="zh-TW" sz="2222" kern="0" spc="-14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ssE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onAborted</a:t>
            </a:r>
            <a:r>
              <a:rPr lang="en-US" altLang="zh-TW" sz="2222" kern="0" spc="-14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ConnectionRefusedErro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ConnectionResetErro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EOFErro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EnvironmentErro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FileExistsErro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FileNotFoundErro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oat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ngP</a:t>
            </a:r>
            <a:r>
              <a:rPr lang="en-US" altLang="zh-TW" sz="2222" kern="0" spc="-26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nt</a:t>
            </a:r>
            <a:r>
              <a:rPr lang="en-US" altLang="zh-TW" sz="2222" kern="0" spc="-14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IO</a:t>
            </a:r>
            <a:r>
              <a:rPr lang="en-US" altLang="zh-TW" sz="2222" kern="0" spc="-14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Imp</a:t>
            </a:r>
            <a:r>
              <a:rPr lang="en-US" altLang="zh-TW" sz="2222" kern="0" spc="-26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rt</a:t>
            </a:r>
            <a:r>
              <a:rPr lang="en-US" altLang="zh-TW" sz="2222" kern="0" spc="-14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Indentat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IndexErro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InterruptedErro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IsADirectoryErro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KeyErro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LookupErro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MemoryErro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ModuleNotFoundErro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kern="0" spc="-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NameErro</a:t>
            </a:r>
            <a:r>
              <a:rPr lang="en-US" altLang="zh-TW" sz="2222" b="1" kern="0" spc="-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25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tA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rect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ory</a:t>
            </a:r>
            <a:r>
              <a:rPr lang="en-US" altLang="zh-TW" sz="2222" kern="0" spc="-2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Err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ot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Im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pl</a:t>
            </a:r>
            <a:r>
              <a:rPr lang="en-US" altLang="zh-TW" sz="2222" kern="0" spc="-2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ementedErr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8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v</a:t>
            </a:r>
            <a:r>
              <a:rPr lang="en-US" altLang="zh-TW" sz="2222" kern="0" spc="-3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19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3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2" kern="0" spc="-25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PermissionErro</a:t>
            </a:r>
            <a:r>
              <a:rPr lang="en-US" altLang="zh-TW" sz="2222" kern="0" spc="-4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ProcessLookupErro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RecursionErro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ReferenceErro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RuntimeErro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SyntaxErro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SystemErro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TabErro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TimeoutErro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kern="0" spc="-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TypeErro</a:t>
            </a:r>
            <a:r>
              <a:rPr lang="en-US" altLang="zh-TW" sz="2222" b="1" kern="0" spc="-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UnboundLocalErro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UnicodeDecodeErro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UnicodeEncodeErro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UnicodeErro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UnicodeTranslateErro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BFBFBF"/>
                </a:solidFill>
                <a:latin typeface="Lucida Console" panose="020B0609040504020204" pitchFamily="49" charset="0"/>
              </a:rPr>
              <a:t>ValueErro</a:t>
            </a:r>
            <a:r>
              <a:rPr lang="en-US" altLang="zh-TW" sz="2222" kern="0" spc="-4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BFBFBF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BFBFB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kern="0" spc="-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ZeroDivisionErro</a:t>
            </a:r>
            <a:r>
              <a:rPr lang="en-US" altLang="zh-TW" sz="2222" b="1" kern="0" spc="-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1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spc="-102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endParaRPr lang="en-US" kern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Program Terminating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073" y="5376672"/>
            <a:ext cx="1680589" cy="46609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altLang="zh-TW" sz="2222" b="1" kern="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TypeErro</a:t>
            </a:r>
            <a:r>
              <a:rPr lang="en-US" altLang="zh-TW" sz="2222" b="1" kern="0" spc="-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</a:t>
            </a:r>
            <a:endParaRPr lang="en-US" sz="2220" dirty="0"/>
          </a:p>
        </p:txBody>
      </p:sp>
      <p:sp>
        <p:nvSpPr>
          <p:cNvPr id="9" name="Rectangle 8"/>
          <p:cNvSpPr/>
          <p:nvPr/>
        </p:nvSpPr>
        <p:spPr>
          <a:xfrm>
            <a:off x="445073" y="2259204"/>
            <a:ext cx="3166489" cy="34887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altLang="zh-TW" sz="2222" b="1" kern="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ZeroDivisionErro</a:t>
            </a:r>
            <a:r>
              <a:rPr lang="en-US" altLang="zh-TW" sz="2222" b="1" kern="0" spc="-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</a:t>
            </a:r>
            <a:endParaRPr lang="en-US" sz="2220" dirty="0"/>
          </a:p>
        </p:txBody>
      </p:sp>
      <p:sp>
        <p:nvSpPr>
          <p:cNvPr id="10" name="Rectangle 9"/>
          <p:cNvSpPr/>
          <p:nvPr/>
        </p:nvSpPr>
        <p:spPr>
          <a:xfrm>
            <a:off x="445073" y="3805574"/>
            <a:ext cx="1737739" cy="36637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altLang="zh-TW" sz="2222" b="1" kern="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NameErro</a:t>
            </a:r>
            <a:r>
              <a:rPr lang="en-US" altLang="zh-TW" sz="2222" b="1" kern="0" spc="-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</a:t>
            </a:r>
            <a:endParaRPr lang="en-US" sz="2220" dirty="0"/>
          </a:p>
        </p:txBody>
      </p:sp>
    </p:spTree>
    <p:extLst>
      <p:ext uri="{BB962C8B-B14F-4D97-AF65-F5344CB8AC3E}">
        <p14:creationId xmlns:p14="http://schemas.microsoft.com/office/powerpoint/2010/main" val="406813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16172E-6 -4.07407E-6 L 0.38751 0.026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367" y="131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9306E-6 -1.11111E-6 L 0.56505 0.5611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52" y="2805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0192E-6 -1.48148E-6 L 0.76052 0.0905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18" y="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5" grpId="1"/>
      <p:bldP spid="9" grpId="0"/>
      <p:bldP spid="9" grpId="1"/>
      <p:bldP spid="10" grpId="0"/>
      <p:bldP spid="10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try command is used to offset code that might fail:</a:t>
            </a: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):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 python3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err="1">
                <a:solidFill>
                  <a:srgbClr val="FF9797"/>
                </a:solidFill>
                <a:cs typeface="Courier New" pitchFamily="49" charset="0"/>
              </a:rPr>
              <a:t>Traceback</a:t>
            </a:r>
            <a:r>
              <a:rPr lang="en-US" altLang="zh-TW" kern="0" dirty="0">
                <a:solidFill>
                  <a:srgbClr val="FF9797"/>
                </a:solidFill>
                <a:cs typeface="Courier New" pitchFamily="49" charset="0"/>
              </a:rPr>
              <a:t> (most recent call last):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FF9797"/>
                </a:solidFill>
                <a:cs typeface="Courier New" pitchFamily="49" charset="0"/>
              </a:rPr>
              <a:t>  File "test.py", line 4, in &lt;module&gt;  f=open(n, "r")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err="1">
                <a:solidFill>
                  <a:srgbClr val="FF0000"/>
                </a:solidFill>
                <a:cs typeface="Courier New" pitchFamily="49" charset="0"/>
              </a:rPr>
              <a:t>FileNotFoundError</a:t>
            </a:r>
            <a:r>
              <a:rPr lang="en-US" altLang="zh-TW" kern="0" dirty="0">
                <a:solidFill>
                  <a:srgbClr val="FF0000"/>
                </a:solidFill>
                <a:cs typeface="Courier New" pitchFamily="49" charset="0"/>
              </a:rPr>
              <a:t>: [</a:t>
            </a:r>
            <a:r>
              <a:rPr lang="en-US" altLang="zh-TW" kern="0" dirty="0" err="1">
                <a:solidFill>
                  <a:srgbClr val="FF0000"/>
                </a:solidFill>
                <a:cs typeface="Courier New" pitchFamily="49" charset="0"/>
              </a:rPr>
              <a:t>Errno</a:t>
            </a:r>
            <a:r>
              <a:rPr lang="en-US" altLang="zh-TW" kern="0" dirty="0">
                <a:solidFill>
                  <a:srgbClr val="FF0000"/>
                </a:solidFill>
                <a:cs typeface="Courier New" pitchFamily="49" charset="0"/>
              </a:rPr>
              <a:t> 2] No such file or directory: '</a:t>
            </a:r>
            <a:r>
              <a:rPr lang="en-US" altLang="zh-TW" kern="0" dirty="0" err="1">
                <a:solidFill>
                  <a:srgbClr val="FF0000"/>
                </a:solidFill>
                <a:cs typeface="Courier New" pitchFamily="49" charset="0"/>
              </a:rPr>
              <a:t>someFile</a:t>
            </a:r>
            <a:r>
              <a:rPr lang="en-US" altLang="zh-TW" kern="0" dirty="0" smtClean="0">
                <a:solidFill>
                  <a:srgbClr val="FF0000"/>
                </a:solidFill>
                <a:cs typeface="Courier New" pitchFamily="49" charset="0"/>
              </a:rPr>
              <a:t>'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python3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endParaRPr lang="en-US" altLang="zh-TW" kern="0" dirty="0">
              <a:solidFill>
                <a:srgbClr val="FF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 smtClean="0">
                <a:solidFill>
                  <a:schemeClr val="tx1"/>
                </a:solidFill>
                <a:cs typeface="Courier New" pitchFamily="49" charset="0"/>
              </a:rPr>
              <a:t>OK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cs typeface="Courier New" pitchFamily="49" charset="0"/>
              </a:rPr>
              <a:t>%</a:t>
            </a:r>
            <a:endParaRPr lang="en-US" altLang="zh-TW" kern="0" dirty="0">
              <a:solidFill>
                <a:srgbClr val="006699"/>
              </a:solidFill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>
              <a:solidFill>
                <a:srgbClr val="FF0000"/>
              </a:solidFill>
              <a:cs typeface="Courier New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43584" y="3467557"/>
            <a:ext cx="167225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someFile</a:t>
            </a:r>
            <a:endParaRPr lang="en-US" sz="2398" dirty="0">
              <a:solidFill>
                <a:srgbClr val="0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457417" y="3569283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887217" y="3569283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609536" y="4873752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 smtClean="0">
                <a:latin typeface="Elephant" panose="02020904090505020303" pitchFamily="18" charset="0"/>
              </a:rPr>
              <a:t>Errors will crash the program: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12" hidden="1"/>
          <p:cNvSpPr/>
          <p:nvPr/>
        </p:nvSpPr>
        <p:spPr>
          <a:xfrm>
            <a:off x="525462" y="1253621"/>
            <a:ext cx="828675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Ordinarily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 failure during execution crashes the program: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53833" y="5100854"/>
            <a:ext cx="2601994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someOtherFile</a:t>
            </a:r>
            <a:endParaRPr lang="en-US" sz="2398" dirty="0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6371141" y="5202579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97466" y="5202579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53806" y="3125391"/>
            <a:ext cx="55656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398" dirty="0">
              <a:solidFill>
                <a:srgbClr val="00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3609536" y="3227832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52854" y="5843016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52854" y="3210201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53806" y="4768409"/>
            <a:ext cx="55656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398" dirty="0">
              <a:solidFill>
                <a:srgbClr val="000000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752854" y="4853219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72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401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401"/>
                            </p:stCondLst>
                            <p:childTnLst>
                              <p:par>
                                <p:cTn id="7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0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401"/>
                            </p:stCondLst>
                            <p:childTnLst>
                              <p:par>
                                <p:cTn id="1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401"/>
                            </p:stCondLst>
                            <p:childTnLst>
                              <p:par>
                                <p:cTn id="14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3" grpId="1"/>
      <p:bldP spid="14" grpId="0"/>
      <p:bldP spid="15" grpId="0"/>
      <p:bldP spid="18" grpId="0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try command is used to offset code that might fail:</a:t>
            </a: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test.py</a:t>
            </a: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 smtClean="0">
                <a:latin typeface="Elephant" panose="02020904090505020303" pitchFamily="18" charset="0"/>
              </a:rPr>
              <a:t>Errors will crash the program: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12" hidden="1"/>
          <p:cNvSpPr/>
          <p:nvPr/>
        </p:nvSpPr>
        <p:spPr>
          <a:xfrm>
            <a:off x="525462" y="1253621"/>
            <a:ext cx="828675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Ordinarily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 failure during execution crashes the program: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97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try command is used to offset code that might fail:</a:t>
            </a: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test.py</a:t>
            </a: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 smtClean="0">
                <a:latin typeface="Elephant" panose="02020904090505020303" pitchFamily="18" charset="0"/>
              </a:rPr>
              <a:t>Errors will crash the program: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12" hidden="1"/>
          <p:cNvSpPr/>
          <p:nvPr/>
        </p:nvSpPr>
        <p:spPr>
          <a:xfrm>
            <a:off x="525462" y="1253621"/>
            <a:ext cx="828675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Ordinarily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 failure during execution crashes the program: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53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try command is used to offset code that might fail:</a:t>
            </a: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test.py</a:t>
            </a: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 smtClean="0">
                <a:latin typeface="Elephant" panose="02020904090505020303" pitchFamily="18" charset="0"/>
              </a:rPr>
              <a:t>Errors will crash the program: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12" hidden="1"/>
          <p:cNvSpPr/>
          <p:nvPr/>
        </p:nvSpPr>
        <p:spPr>
          <a:xfrm>
            <a:off x="525462" y="1253621"/>
            <a:ext cx="828675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Ordinarily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 failure during execution crashes the program: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04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try command is used to offset code that might fail:</a:t>
            </a: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kern="0" dirty="0" smtClean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test.py</a:t>
            </a: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 smtClean="0">
                <a:latin typeface="Elephant" panose="02020904090505020303" pitchFamily="18" charset="0"/>
              </a:rPr>
              <a:t>Errors will crash the program: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12" hidden="1"/>
          <p:cNvSpPr/>
          <p:nvPr/>
        </p:nvSpPr>
        <p:spPr>
          <a:xfrm>
            <a:off x="525462" y="1253621"/>
            <a:ext cx="828675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Ordinarily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 failure during execution crashes the program: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83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try command is used to offset code that might fail:</a:t>
            </a: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kern="0" dirty="0" smtClean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f   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test.py</a:t>
            </a: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 smtClean="0">
                <a:latin typeface="Elephant" panose="02020904090505020303" pitchFamily="18" charset="0"/>
              </a:rPr>
              <a:t>Errors will crash the program: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12" hidden="1"/>
          <p:cNvSpPr/>
          <p:nvPr/>
        </p:nvSpPr>
        <p:spPr>
          <a:xfrm>
            <a:off x="525462" y="1253621"/>
            <a:ext cx="828675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Ordinarily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 failure during execution crashes the program: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88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try command is used to offset code that might fail:</a:t>
            </a: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kern="0" dirty="0" smtClean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f   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test.py</a:t>
            </a: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 smtClean="0">
                <a:latin typeface="Elephant" panose="02020904090505020303" pitchFamily="18" charset="0"/>
              </a:rPr>
              <a:t>Errors will crash the program: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12" hidden="1"/>
          <p:cNvSpPr/>
          <p:nvPr/>
        </p:nvSpPr>
        <p:spPr>
          <a:xfrm>
            <a:off x="525462" y="1253621"/>
            <a:ext cx="828675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Ordinarily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 failure during execution crashes the program: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44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try command is used to offset code that might fail:</a:t>
            </a: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kern="0" dirty="0" smtClean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f   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test.py</a:t>
            </a: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 smtClean="0">
                <a:latin typeface="Elephant" panose="02020904090505020303" pitchFamily="18" charset="0"/>
              </a:rPr>
              <a:t>Errors will crash the program: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12" hidden="1"/>
          <p:cNvSpPr/>
          <p:nvPr/>
        </p:nvSpPr>
        <p:spPr>
          <a:xfrm>
            <a:off x="525462" y="1253621"/>
            <a:ext cx="828675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Ordinarily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 failure during execution crashes the program: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11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 smtClean="0">
                <a:latin typeface="Elephant" panose="02020904090505020303" pitchFamily="18" charset="0"/>
              </a:rPr>
              <a:t>Errors will crash the program: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zh-TW" sz="2800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file. Try again.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b="1" i="1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OK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</a:t>
            </a: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 </a:t>
            </a:r>
            <a:r>
              <a:rPr lang="en-US" altLang="zh-TW" kern="0" dirty="0" err="1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someFile</a:t>
            </a: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file. Try again</a:t>
            </a: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a file name:</a:t>
            </a:r>
            <a:r>
              <a:rPr lang="en-US" altLang="zh-TW" i="1" kern="0" dirty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someOtherFile</a:t>
            </a:r>
            <a:endParaRPr lang="en-US" altLang="zh-TW" kern="0" dirty="0">
              <a:solidFill>
                <a:schemeClr val="bg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b="1" i="1" kern="0" dirty="0" smtClean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OK</a:t>
            </a:r>
            <a:endParaRPr lang="en-US" altLang="zh-TW" b="1" kern="0" dirty="0">
              <a:solidFill>
                <a:srgbClr val="00B05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>
              <a:solidFill>
                <a:srgbClr val="006699"/>
              </a:solidFill>
              <a:cs typeface="Courier New" pitchFamily="49" charset="0"/>
            </a:endParaRPr>
          </a:p>
        </p:txBody>
      </p:sp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 smtClean="0">
                <a:latin typeface="Elephant" panose="02020904090505020303" pitchFamily="18" charset="0"/>
              </a:rPr>
              <a:t>Making errors </a:t>
            </a:r>
            <a:r>
              <a:rPr lang="en-US" sz="4400" i="1" kern="0" dirty="0" smtClean="0">
                <a:latin typeface="Elephant" panose="02020904090505020303" pitchFamily="18" charset="0"/>
              </a:rPr>
              <a:t>not</a:t>
            </a:r>
            <a:r>
              <a:rPr lang="en-US" sz="3200" kern="0" dirty="0" smtClean="0">
                <a:latin typeface="Elephant" panose="02020904090505020303" pitchFamily="18" charset="0"/>
              </a:rPr>
              <a:t>  </a:t>
            </a:r>
            <a:r>
              <a:rPr lang="en-US" sz="4400" kern="0" dirty="0" smtClean="0">
                <a:latin typeface="Elephant" panose="02020904090505020303" pitchFamily="18" charset="0"/>
              </a:rPr>
              <a:t>crash:</a:t>
            </a:r>
            <a:r>
              <a:rPr lang="en-US" sz="4400" kern="0" dirty="0" smtClean="0">
                <a:solidFill>
                  <a:srgbClr val="FFFFFF"/>
                </a:solidFill>
                <a:latin typeface="Elephant" panose="02020904090505020303" pitchFamily="18" charset="0"/>
              </a:rPr>
              <a:t> </a:t>
            </a:r>
            <a:endParaRPr lang="en-US" sz="4400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54186" y="5111496"/>
            <a:ext cx="167225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someFile</a:t>
            </a:r>
            <a:endParaRPr lang="en-US" sz="2398" dirty="0">
              <a:solidFill>
                <a:srgbClr val="0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468019" y="5212080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897819" y="5212080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57809" y="5760720"/>
            <a:ext cx="2601994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someOtherFile</a:t>
            </a:r>
            <a:endParaRPr lang="en-US" sz="2398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6375117" y="5870448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901442" y="5870448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620138" y="4892439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53806" y="6437376"/>
            <a:ext cx="55656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398" dirty="0">
              <a:solidFill>
                <a:srgbClr val="00000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752854" y="6519672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/>
          <p:cNvSpPr txBox="1">
            <a:spLocks/>
          </p:cNvSpPr>
          <p:nvPr/>
        </p:nvSpPr>
        <p:spPr bwMode="auto">
          <a:xfrm>
            <a:off x="296862" y="759514"/>
            <a:ext cx="9144000" cy="135503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spc="-1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200" kern="0" spc="-10" dirty="0">
                <a:solidFill>
                  <a:srgbClr val="CC3399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try</a:t>
            </a:r>
            <a:r>
              <a:rPr lang="en-US" altLang="zh-TW" sz="3600" kern="0" spc="-10" dirty="0">
                <a:solidFill>
                  <a:srgbClr val="CC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3600" kern="0" spc="-1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 can offset code that may fail:</a:t>
            </a:r>
            <a:endParaRPr lang="en-US" altLang="zh-TW" sz="3200" kern="0" spc="-1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defTabSz="846552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TW" sz="3200" kern="0" spc="-6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altLang="zh-TW" sz="3200" kern="0" spc="-6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works, </a:t>
            </a:r>
            <a:r>
              <a:rPr lang="en-US" altLang="zh-TW" sz="3200" b="1" kern="0" spc="-60" dirty="0" smtClean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OK</a:t>
            </a:r>
            <a:r>
              <a:rPr lang="en-US" altLang="zh-TW" sz="3200" kern="0" spc="-6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1" defTabSz="846552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TW" sz="3200" kern="0" spc="-6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altLang="zh-TW" sz="3200" kern="0" spc="-6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not, </a:t>
            </a:r>
            <a:r>
              <a:rPr lang="en-US" altLang="zh-TW" sz="3200" kern="0" spc="-6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trigger an </a:t>
            </a:r>
            <a:r>
              <a:rPr lang="en-US" altLang="zh-TW" sz="3200" kern="0" spc="-60" dirty="0" smtClean="0">
                <a:solidFill>
                  <a:srgbClr val="CC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exception </a:t>
            </a:r>
            <a:r>
              <a:rPr lang="en-US" altLang="zh-TW" sz="3200" kern="0" spc="-6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instead of an </a:t>
            </a:r>
            <a:r>
              <a:rPr lang="en-US" altLang="zh-TW" sz="3200" kern="0" spc="-6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en-US" altLang="zh-TW" sz="3200" kern="0" spc="-6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94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1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401"/>
                            </p:stCondLst>
                            <p:childTnLst>
                              <p:par>
                                <p:cTn id="4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401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401"/>
                            </p:stCondLst>
                            <p:childTnLst>
                              <p:par>
                                <p:cTn id="7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/>
      <p:bldP spid="10" grpId="0"/>
      <p:bldP spid="22" grpId="0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zh-TW" sz="2800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 except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FileNotFoundError</a:t>
            </a: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file. Try again.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file. Try again.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itchFamily="49" charset="0"/>
              </a:rPr>
              <a:t>OK</a:t>
            </a:r>
            <a:endParaRPr lang="en-US" altLang="zh-TW" kern="0" dirty="0">
              <a:solidFill>
                <a:srgbClr val="00B050"/>
              </a:solidFill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54186" y="5111496"/>
            <a:ext cx="167225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someFile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57809" y="5760720"/>
            <a:ext cx="2601994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someOtherFile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3806" y="6437376"/>
            <a:ext cx="55656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 bwMode="auto">
          <a:xfrm>
            <a:off x="296862" y="759514"/>
            <a:ext cx="9144000" cy="135503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600"/>
              </a:spcBef>
              <a:buNone/>
            </a:pPr>
            <a:endParaRPr lang="en-US" altLang="zh-TW" sz="1400" kern="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846552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also be specific about which error you wish to handle:</a:t>
            </a: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</a:t>
            </a:r>
            <a:r>
              <a:rPr lang="en-US" sz="4400" kern="0" dirty="0" smtClean="0">
                <a:latin typeface="Elephant" panose="02020904090505020303" pitchFamily="18" charset="0"/>
              </a:rPr>
              <a:t>Exceptions: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52854" y="6519672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25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zh-TW" sz="2800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 except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SyntaxError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 # wrong name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file. Try again.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err="1">
                <a:solidFill>
                  <a:srgbClr val="FF6969"/>
                </a:solidFill>
                <a:cs typeface="Courier New" pitchFamily="49" charset="0"/>
              </a:rPr>
              <a:t>Traceback</a:t>
            </a:r>
            <a:r>
              <a:rPr lang="en-US" altLang="zh-TW" kern="0" dirty="0">
                <a:solidFill>
                  <a:srgbClr val="FF6969"/>
                </a:solidFill>
                <a:cs typeface="Courier New" pitchFamily="49" charset="0"/>
              </a:rPr>
              <a:t> (most recent call last):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FF6969"/>
                </a:solidFill>
                <a:cs typeface="Courier New" pitchFamily="49" charset="0"/>
              </a:rPr>
              <a:t>  File "test.py", line 4, in &lt;module&gt;  f=open(n, "r")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err="1">
                <a:solidFill>
                  <a:srgbClr val="FF0000"/>
                </a:solidFill>
                <a:cs typeface="Courier New" pitchFamily="49" charset="0"/>
              </a:rPr>
              <a:t>FileNotFoundError</a:t>
            </a:r>
            <a:r>
              <a:rPr lang="en-US" altLang="zh-TW" kern="0" dirty="0">
                <a:solidFill>
                  <a:srgbClr val="FF6969"/>
                </a:solidFill>
                <a:cs typeface="Courier New" pitchFamily="49" charset="0"/>
              </a:rPr>
              <a:t>: [</a:t>
            </a:r>
            <a:r>
              <a:rPr lang="en-US" altLang="zh-TW" kern="0" dirty="0" err="1">
                <a:solidFill>
                  <a:srgbClr val="FF6969"/>
                </a:solidFill>
                <a:cs typeface="Courier New" pitchFamily="49" charset="0"/>
              </a:rPr>
              <a:t>Errno</a:t>
            </a:r>
            <a:r>
              <a:rPr lang="en-US" altLang="zh-TW" kern="0" dirty="0">
                <a:solidFill>
                  <a:srgbClr val="FF6969"/>
                </a:solidFill>
                <a:cs typeface="Courier New" pitchFamily="49" charset="0"/>
              </a:rPr>
              <a:t> 2] No such file or directory: '</a:t>
            </a:r>
            <a:r>
              <a:rPr lang="en-US" altLang="zh-TW" kern="0" dirty="0" err="1">
                <a:solidFill>
                  <a:srgbClr val="FF6969"/>
                </a:solidFill>
                <a:cs typeface="Courier New" pitchFamily="49" charset="0"/>
              </a:rPr>
              <a:t>someFile</a:t>
            </a:r>
            <a:r>
              <a:rPr lang="en-US" altLang="zh-TW" kern="0" dirty="0">
                <a:solidFill>
                  <a:srgbClr val="FF6969"/>
                </a:solidFill>
                <a:cs typeface="Courier New" pitchFamily="49" charset="0"/>
              </a:rPr>
              <a:t>'</a:t>
            </a:r>
            <a:endParaRPr lang="en-US" altLang="zh-TW" kern="0" dirty="0">
              <a:solidFill>
                <a:srgbClr val="00B050"/>
              </a:solidFill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54186" y="5111496"/>
            <a:ext cx="167225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someFile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3806" y="6437376"/>
            <a:ext cx="55656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 bwMode="auto">
          <a:xfrm>
            <a:off x="296862" y="759514"/>
            <a:ext cx="9144000" cy="135503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600"/>
              </a:spcBef>
              <a:buNone/>
            </a:pPr>
            <a:endParaRPr lang="en-US" altLang="zh-TW" sz="1400" kern="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846552" eaLnBrk="1" fontAlgn="auto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But if you </a:t>
            </a: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specify 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error, you need to specify the right one:</a:t>
            </a: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</a:t>
            </a:r>
            <a:r>
              <a:rPr lang="en-US" sz="4400" kern="0" dirty="0" smtClean="0">
                <a:latin typeface="Elephant" panose="02020904090505020303" pitchFamily="18" charset="0"/>
              </a:rPr>
              <a:t>Exceptions: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8962" y="1657350"/>
            <a:ext cx="21226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0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(Recall slide </a:t>
            </a:r>
            <a:r>
              <a:rPr lang="en-US" altLang="zh-TW" sz="20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#35…)</a:t>
            </a:r>
            <a:endParaRPr lang="en-US" altLang="zh-TW" sz="2800" kern="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752854" y="6519672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23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 smtClean="0">
                <a:solidFill>
                  <a:srgbClr val="FFFFFF"/>
                </a:solidFill>
                <a:latin typeface="Lucida Console" panose="020B0609040504020204" pitchFamily="49" charset="0"/>
              </a:rPr>
              <a:t>]</a:t>
            </a:r>
            <a:endParaRPr lang="en-US" altLang="zh-TW" sz="2222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 smtClean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not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sorted(x</a:t>
            </a:r>
            <a:r>
              <a:rPr lang="en-US" altLang="zh-TW" sz="2222" kern="0" spc="-10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ArithmeticErro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AssertionErro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AttributeErro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BlockingIOErro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BrokenPipeErro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BufferErro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Ch</a:t>
            </a:r>
            <a:r>
              <a:rPr lang="en-US" altLang="zh-TW" sz="2222" kern="0" spc="-25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1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P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roce</a:t>
            </a:r>
            <a:r>
              <a:rPr lang="en-US" altLang="zh-TW" sz="2222" kern="0" spc="-14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ssE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onAborted</a:t>
            </a:r>
            <a:r>
              <a:rPr lang="en-US" altLang="zh-TW" sz="2222" kern="0" spc="-14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Connect</a:t>
            </a:r>
            <a:r>
              <a:rPr lang="en-US" altLang="zh-TW" sz="2222" kern="0" spc="-25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16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ConnectionRefusedErro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ConnectionResetErro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EOFErro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EnvironmentErro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FileExistsErro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FileNotFoundErro</a:t>
            </a:r>
            <a:r>
              <a:rPr lang="en-US" altLang="zh-TW" sz="2222" b="1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oat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ngP</a:t>
            </a:r>
            <a:r>
              <a:rPr lang="en-US" altLang="zh-TW" sz="2222" kern="0" spc="-26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nt</a:t>
            </a:r>
            <a:r>
              <a:rPr lang="en-US" altLang="zh-TW" sz="2222" kern="0" spc="-14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IO</a:t>
            </a:r>
            <a:r>
              <a:rPr lang="en-US" altLang="zh-TW" sz="2222" kern="0" spc="-14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Imp</a:t>
            </a:r>
            <a:r>
              <a:rPr lang="en-US" altLang="zh-TW" sz="2222" kern="0" spc="-26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rt</a:t>
            </a:r>
            <a:r>
              <a:rPr lang="en-US" altLang="zh-TW" sz="2222" kern="0" spc="-14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Indentat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on</a:t>
            </a:r>
            <a:r>
              <a:rPr lang="en-US" altLang="zh-TW" sz="2222" kern="0" spc="-14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rr</a:t>
            </a:r>
            <a:r>
              <a:rPr lang="en-US" altLang="zh-TW" sz="2222" kern="0" spc="-21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IndexErro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InterruptedErro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IsADirectoryErro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KeyErro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LookupErro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MemoryErro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ModuleNotFoundErro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NameErro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25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tA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2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rect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ory</a:t>
            </a:r>
            <a:r>
              <a:rPr lang="en-US" altLang="zh-TW" sz="2222" kern="0" spc="-2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Err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ot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Im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pl</a:t>
            </a:r>
            <a:r>
              <a:rPr lang="en-US" altLang="zh-TW" sz="2222" kern="0" spc="-2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ementedErr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2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OS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5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8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v</a:t>
            </a:r>
            <a:r>
              <a:rPr lang="en-US" altLang="zh-TW" sz="2222" kern="0" spc="-3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19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sz="2222" kern="0" spc="-3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kern="0" spc="-1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kern="0" spc="-2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w</a:t>
            </a:r>
            <a:r>
              <a:rPr lang="en-US" altLang="zh-TW" sz="2222" kern="0" spc="-25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Erro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PermissionErro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ProcessLookupErro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RecursionErro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ReferenceErro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RuntimeErro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kern="0" spc="-100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SyntaxErro</a:t>
            </a:r>
            <a:r>
              <a:rPr lang="en-US" altLang="zh-TW" sz="2222" b="1" kern="0" spc="-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SystemErro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TabErro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TimeoutErro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TypeErro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UnboundLocalErro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UnicodeDecodeErro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UnicodeEncodeErro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UnicodeErro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UnicodeTranslateErro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ValueErro</a:t>
            </a:r>
            <a:r>
              <a:rPr lang="en-US" altLang="zh-TW" sz="2222" kern="0" spc="-400" dirty="0" err="1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7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400" kern="0" spc="-4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4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ZeroDivisionErro</a:t>
            </a:r>
            <a:r>
              <a:rPr lang="en-US" altLang="zh-TW" sz="2222" kern="0" spc="-400" dirty="0" err="1" smtClean="0">
                <a:solidFill>
                  <a:srgbClr val="FFABAB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kern="0" spc="-1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kern="0" spc="-102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endParaRPr lang="en-US" kern="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7935343" y="292612"/>
            <a:ext cx="2373368" cy="643997"/>
          </a:xfrm>
          <a:prstGeom prst="trapezoid">
            <a:avLst>
              <a:gd name="adj" fmla="val 99792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defTabSz="846552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ea typeface="新細明體" charset="-120"/>
              </a:rPr>
              <a:t>Recall</a:t>
            </a:r>
            <a:br>
              <a:rPr lang="en-US" sz="2400" dirty="0">
                <a:solidFill>
                  <a:srgbClr val="000000"/>
                </a:solidFill>
                <a:ea typeface="新細明體" charset="-120"/>
              </a:rPr>
            </a:br>
            <a:r>
              <a:rPr lang="en-US" sz="2400" dirty="0">
                <a:solidFill>
                  <a:srgbClr val="000000"/>
                </a:solidFill>
                <a:ea typeface="新細明體" charset="-120"/>
              </a:rPr>
              <a:t>Slide </a:t>
            </a:r>
            <a:r>
              <a:rPr lang="en-US" sz="2400" dirty="0" smtClean="0">
                <a:solidFill>
                  <a:srgbClr val="000000"/>
                </a:solidFill>
                <a:ea typeface="新細明體" charset="-120"/>
              </a:rPr>
              <a:t>35</a:t>
            </a:r>
            <a:endParaRPr lang="en-US" sz="2800" dirty="0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395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296862" y="85725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zh-TW" sz="36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following code </a:t>
            </a:r>
            <a:r>
              <a:rPr lang="en-US" altLang="zh-TW" sz="3600" i="1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altLang="zh-TW" sz="3600" kern="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crash:</a:t>
            </a:r>
            <a:endParaRPr lang="en-US" altLang="zh-TW" sz="3200" kern="0" spc="-60" dirty="0">
              <a:solidFill>
                <a:srgbClr val="CC3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zh-TW" sz="2800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 except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SyntaxError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 # wrong name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file. Try again.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python3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err="1">
                <a:solidFill>
                  <a:srgbClr val="FF6969"/>
                </a:solidFill>
                <a:cs typeface="Courier New" pitchFamily="49" charset="0"/>
              </a:rPr>
              <a:t>Traceback</a:t>
            </a:r>
            <a:r>
              <a:rPr lang="en-US" altLang="zh-TW" kern="0" dirty="0">
                <a:solidFill>
                  <a:srgbClr val="FF6969"/>
                </a:solidFill>
                <a:cs typeface="Courier New" pitchFamily="49" charset="0"/>
              </a:rPr>
              <a:t> (most recent call last):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FF6969"/>
                </a:solidFill>
                <a:cs typeface="Courier New" pitchFamily="49" charset="0"/>
              </a:rPr>
              <a:t>  File "test.py", line 4, in &lt;module&gt;  f=open(n, "r")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err="1">
                <a:solidFill>
                  <a:srgbClr val="FF0000"/>
                </a:solidFill>
                <a:cs typeface="Courier New" pitchFamily="49" charset="0"/>
              </a:rPr>
              <a:t>FileNotFoundError</a:t>
            </a:r>
            <a:r>
              <a:rPr lang="en-US" altLang="zh-TW" kern="0" dirty="0">
                <a:solidFill>
                  <a:srgbClr val="FF6969"/>
                </a:solidFill>
                <a:cs typeface="Courier New" pitchFamily="49" charset="0"/>
              </a:rPr>
              <a:t>: [</a:t>
            </a:r>
            <a:r>
              <a:rPr lang="en-US" altLang="zh-TW" kern="0" dirty="0" err="1">
                <a:solidFill>
                  <a:srgbClr val="FF6969"/>
                </a:solidFill>
                <a:cs typeface="Courier New" pitchFamily="49" charset="0"/>
              </a:rPr>
              <a:t>Errno</a:t>
            </a:r>
            <a:r>
              <a:rPr lang="en-US" altLang="zh-TW" kern="0" dirty="0">
                <a:solidFill>
                  <a:srgbClr val="FF6969"/>
                </a:solidFill>
                <a:cs typeface="Courier New" pitchFamily="49" charset="0"/>
              </a:rPr>
              <a:t> 2] No such file or directory: '</a:t>
            </a:r>
            <a:r>
              <a:rPr lang="en-US" altLang="zh-TW" kern="0" dirty="0" err="1">
                <a:solidFill>
                  <a:srgbClr val="FF6969"/>
                </a:solidFill>
                <a:cs typeface="Courier New" pitchFamily="49" charset="0"/>
              </a:rPr>
              <a:t>someFile</a:t>
            </a:r>
            <a:r>
              <a:rPr lang="en-US" altLang="zh-TW" kern="0" dirty="0">
                <a:solidFill>
                  <a:srgbClr val="FF6969"/>
                </a:solidFill>
                <a:cs typeface="Courier New" pitchFamily="49" charset="0"/>
              </a:rPr>
              <a:t>'</a:t>
            </a:r>
            <a:endParaRPr lang="en-US" altLang="zh-TW" kern="0" dirty="0">
              <a:solidFill>
                <a:srgbClr val="00B050"/>
              </a:solidFill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54186" y="5111496"/>
            <a:ext cx="167225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someFile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3806" y="6437376"/>
            <a:ext cx="55656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 bwMode="auto">
          <a:xfrm>
            <a:off x="296862" y="759514"/>
            <a:ext cx="9144000" cy="135503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600"/>
              </a:spcBef>
              <a:buNone/>
            </a:pPr>
            <a:endParaRPr lang="en-US" altLang="zh-TW" sz="1400" kern="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846552" eaLnBrk="1" fontAlgn="auto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But if you </a:t>
            </a: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specify 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error, you need to specify the right one:</a:t>
            </a: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</a:t>
            </a:r>
            <a:r>
              <a:rPr lang="en-US" sz="4400" kern="0" dirty="0" smtClean="0">
                <a:latin typeface="Elephant" panose="02020904090505020303" pitchFamily="18" charset="0"/>
              </a:rPr>
              <a:t>Exceptions: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752854" y="6519672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31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zh-TW" sz="2800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 except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file. Try again.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python3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test.py</a:t>
            </a: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</a:t>
            </a:r>
            <a:r>
              <a:rPr lang="en-US" sz="4400" kern="0" dirty="0" smtClean="0">
                <a:latin typeface="Elephant" panose="02020904090505020303" pitchFamily="18" charset="0"/>
              </a:rPr>
              <a:t>Exceptions: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39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zh-TW" sz="2800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while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n 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  except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  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file. Try again.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python3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test.py</a:t>
            </a: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</a:t>
            </a:r>
            <a:r>
              <a:rPr lang="en-US" sz="4400" kern="0" dirty="0" smtClean="0">
                <a:latin typeface="Elephant" panose="02020904090505020303" pitchFamily="18" charset="0"/>
              </a:rPr>
              <a:t>Exceptions: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33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zh-TW" sz="2800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#while </a:t>
            </a:r>
            <a:r>
              <a:rPr lang="en-US" altLang="zh-TW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n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file. Try again.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itchFamily="49" charset="0"/>
              </a:rPr>
              <a:t> 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python3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</a:t>
            </a: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 Try again.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186" y="5111393"/>
            <a:ext cx="167225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someFile</a:t>
            </a:r>
            <a:endParaRPr lang="en-US" sz="2398" dirty="0">
              <a:solidFill>
                <a:srgbClr val="000000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5500019" y="5213118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929819" y="5213118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95456" y="6188629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647422" y="4882793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96408" y="4765082"/>
            <a:ext cx="55656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8949" y="6110905"/>
            <a:ext cx="55656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26" name="Content Placeholder 2"/>
          <p:cNvSpPr txBox="1">
            <a:spLocks/>
          </p:cNvSpPr>
          <p:nvPr/>
        </p:nvSpPr>
        <p:spPr bwMode="auto">
          <a:xfrm>
            <a:off x="296862" y="759514"/>
            <a:ext cx="9144000" cy="101213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also “else”, which is for code that only runs when there is no error:</a:t>
            </a: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3497262" y="5543550"/>
            <a:ext cx="5886450" cy="1314450"/>
          </a:xfrm>
          <a:prstGeom prst="wedgeRoundRectCallout">
            <a:avLst>
              <a:gd name="adj1" fmla="val -93515"/>
              <a:gd name="adj2" fmla="val -14924"/>
              <a:gd name="adj3" fmla="val 16667"/>
            </a:avLst>
          </a:prstGeom>
          <a:solidFill>
            <a:srgbClr val="CC33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But it's not "OK". How can we stop this message?</a:t>
            </a: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</a:t>
            </a:r>
            <a:r>
              <a:rPr lang="en-US" sz="4400" kern="0" dirty="0" smtClean="0">
                <a:latin typeface="Elephant" panose="02020904090505020303" pitchFamily="18" charset="0"/>
              </a:rPr>
              <a:t>Exceptions:</a:t>
            </a:r>
            <a:r>
              <a:rPr lang="en-US" sz="4400" kern="0" dirty="0">
                <a:solidFill>
                  <a:srgbClr val="CC3399"/>
                </a:solidFill>
                <a:latin typeface="Elephant" panose="02020904090505020303" pitchFamily="18" charset="0"/>
              </a:rPr>
              <a:t> </a:t>
            </a:r>
            <a:r>
              <a:rPr lang="en-US" sz="4400" b="1" kern="0" dirty="0" smtClean="0">
                <a:solidFill>
                  <a:srgbClr val="CC3399"/>
                </a:solidFill>
                <a:latin typeface="Lucida Console" panose="020B0609040504020204" pitchFamily="49" charset="0"/>
              </a:rPr>
              <a:t>else</a:t>
            </a:r>
            <a:endParaRPr lang="en-US" kern="0" dirty="0">
              <a:solidFill>
                <a:srgbClr val="CC3399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6754812" y="57150"/>
            <a:ext cx="1543050" cy="5715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48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01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01"/>
                            </p:stCondLst>
                            <p:childTnLst>
                              <p:par>
                                <p:cTn id="34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2" grpId="0" animBg="1"/>
      <p:bldP spid="2" grpId="1" animBg="1"/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54012" y="759514"/>
            <a:ext cx="908685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zh-TW" sz="2800" kern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60" lvl="1" indent="-346060" defTabSz="846552">
              <a:lnSpc>
                <a:spcPct val="80000"/>
              </a:lnSpc>
              <a:spcBef>
                <a:spcPts val="600"/>
              </a:spcBef>
            </a:pP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First, you </a:t>
            </a:r>
            <a:r>
              <a:rPr lang="en-US" altLang="zh-TW" sz="2800" i="1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altLang="zh-TW" sz="2800" kern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execute the block. 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endParaRPr lang="en-US" altLang="zh-TW" kern="0" dirty="0" smtClean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cat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#while </a:t>
            </a:r>
            <a:r>
              <a:rPr lang="en-US" altLang="zh-TW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( True </a:t>
            </a:r>
            <a:r>
              <a:rPr lang="en-US" altLang="zh-TW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):</a:t>
            </a:r>
            <a:endParaRPr lang="en-US" altLang="zh-TW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n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=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input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f =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open</a:t>
            </a:r>
            <a:r>
              <a:rPr lang="en-US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(n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 "r");</a:t>
            </a:r>
            <a:r>
              <a:rPr lang="en-US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s=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f.read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(); </a:t>
            </a:r>
            <a:r>
              <a:rPr lang="en-US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break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kern="0" dirty="0" smtClean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file. Try again.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endParaRPr lang="en-US" altLang="zh-TW" kern="0" dirty="0">
              <a:solidFill>
                <a:srgbClr val="0066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   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OK.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itchFamily="49" charset="0"/>
              </a:rPr>
              <a:t>  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python3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name: 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Can't find file</a:t>
            </a: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 Try again.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r>
              <a:rPr lang="en-US" altLang="zh-TW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 python3 test.py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file name</a:t>
            </a: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lvl="1" indent="0" defTabSz="846552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TW" i="1" kern="0" dirty="0" smtClean="0">
                <a:solidFill>
                  <a:schemeClr val="tx1"/>
                </a:solidFill>
                <a:latin typeface="Lucida Console" panose="020B0609040504020204" pitchFamily="49" charset="0"/>
                <a:cs typeface="Courier New" pitchFamily="49" charset="0"/>
              </a:rPr>
              <a:t>OK</a:t>
            </a:r>
            <a:endParaRPr lang="en-US" altLang="zh-TW" i="1" kern="0" dirty="0">
              <a:solidFill>
                <a:schemeClr val="tx1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</a:t>
            </a:r>
            <a:r>
              <a:rPr lang="en-US" sz="4400" kern="0" dirty="0" smtClean="0">
                <a:latin typeface="Elephant" panose="02020904090505020303" pitchFamily="18" charset="0"/>
              </a:rPr>
              <a:t>Exceptions:</a:t>
            </a:r>
            <a:r>
              <a:rPr lang="en-US" sz="4400" kern="0" dirty="0">
                <a:solidFill>
                  <a:srgbClr val="CC3399"/>
                </a:solidFill>
                <a:latin typeface="Elephant" panose="02020904090505020303" pitchFamily="18" charset="0"/>
              </a:rPr>
              <a:t> </a:t>
            </a:r>
            <a:r>
              <a:rPr lang="en-US" sz="4400" b="1" kern="0" dirty="0" smtClean="0">
                <a:solidFill>
                  <a:srgbClr val="CC3399"/>
                </a:solidFill>
                <a:latin typeface="Lucida Console" panose="020B0609040504020204" pitchFamily="49" charset="0"/>
              </a:rPr>
              <a:t>else</a:t>
            </a:r>
            <a:endParaRPr lang="en-US" kern="0" dirty="0">
              <a:solidFill>
                <a:srgbClr val="CC3399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296862" y="759514"/>
            <a:ext cx="9144000" cy="101213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altLang="zh-TW" sz="4000" kern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</a:t>
            </a:r>
            <a:r>
              <a:rPr lang="en-US" altLang="zh-TW" sz="40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also “else”, which is for code that only runs when there is no error: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408" y="5767376"/>
            <a:ext cx="556563" cy="434012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846552"/>
            <a:r>
              <a:rPr lang="en-US" altLang="zh-TW" sz="2398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86186" y="5111393"/>
            <a:ext cx="167225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someFile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6408" y="4765082"/>
            <a:ext cx="556563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>
                <a:solidFill>
                  <a:srgbClr val="006699"/>
                </a:solidFill>
                <a:latin typeface="Lucida Console" panose="020B0609040504020204" pitchFamily="49" charset="0"/>
                <a:cs typeface="Courier New" pitchFamily="49" charset="0"/>
              </a:rPr>
              <a:t>% 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87413" y="6078798"/>
            <a:ext cx="2601994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someOtherFile</a:t>
            </a:r>
            <a:endParaRPr lang="en-US" sz="2398" dirty="0">
              <a:solidFill>
                <a:srgbClr val="00000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6404721" y="6180523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931046" y="6180523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95456" y="5854343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647422" y="5861072"/>
            <a:ext cx="2026" cy="2539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90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01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401"/>
                            </p:stCondLst>
                            <p:childTnLst>
                              <p:par>
                                <p:cTn id="4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25462" y="759514"/>
            <a:ext cx="868680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 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You can't divide by zero.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You didn't define a variable.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Your types don't match.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except: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 other kind of error happened.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FontTx/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Even with errors, this always prints.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rgbClr val="FFFFFF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rgbClr val="FFFFFF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rgbClr val="FFFFFF"/>
                </a:solidFill>
              </a:rPr>
              <a:t> </a:t>
            </a:r>
            <a:r>
              <a:rPr lang="en-US" sz="4400" b="1" kern="0" dirty="0" smtClean="0">
                <a:solidFill>
                  <a:srgbClr val="FFFFFF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59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525462" y="335722"/>
            <a:ext cx="7315200" cy="65487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</a:t>
            </a:r>
            <a:r>
              <a:rPr lang="en-US" altLang="zh-TW" sz="7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also put multiple </a:t>
            </a:r>
            <a:r>
              <a:rPr lang="en-US" altLang="zh-TW" sz="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exceptions on one line:</a:t>
            </a:r>
            <a:endParaRPr lang="zh-TW" altLang="en-US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25462" y="759514"/>
            <a:ext cx="8915400" cy="609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three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 other kind of error happened.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Even with errors, this always prints.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93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also put multiple exceptions on one line: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three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 other kind of error happened.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Even with errors, this always prints.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25462" y="329184"/>
            <a:ext cx="8915400" cy="3099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also put multiple exceptions on one line: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three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25462" y="4776216"/>
            <a:ext cx="8915400" cy="2005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 other kind of error happened.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Even with errors, this always prints.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43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2.59259E-6 L 0.00017 0.05209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2.59259E-6 L -0.00017 -0.16342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5" grpId="1"/>
      <p:bldP spid="4" grpId="0"/>
      <p:bldP spid="4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also put multiple exceptions on one line:</a:t>
            </a:r>
            <a:endParaRPr lang="en-US" altLang="zh-TW" sz="2800" kern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two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except:</a:t>
            </a:r>
            <a:endParaRPr lang="en-US" altLang="zh-TW" kern="0" dirty="0">
              <a:solidFill>
                <a:srgbClr val="CC33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 other kind of error happened.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Even with errors, this always prints.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2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Notice that, in this case, we can’t say “always prints”: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two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kern="0" dirty="0">
              <a:solidFill>
                <a:srgbClr val="CC33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Even with errors, this always prints.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 flipH="1">
            <a:off x="6164263" y="5257800"/>
            <a:ext cx="2362200" cy="3048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H="1" flipV="1">
            <a:off x="6164263" y="5257800"/>
            <a:ext cx="2362200" cy="3048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47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Notice that, in this case, we can’t say “always prints”: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two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kern="0" dirty="0">
              <a:solidFill>
                <a:srgbClr val="CC33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Prints, </a:t>
            </a:r>
            <a:r>
              <a:rPr lang="en-US" altLang="zh-TW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unless there's a </a:t>
            </a:r>
            <a:r>
              <a:rPr lang="en-US" altLang="zh-TW" i="1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33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Notice that, in this case, we can’t say “always prints”: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two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endParaRPr lang="en-US" kern="0" dirty="0" smtClean="0">
              <a:solidFill>
                <a:srgbClr val="CC33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</a:t>
            </a: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Prints, </a:t>
            </a:r>
            <a:r>
              <a:rPr lang="en-US" altLang="zh-TW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unless there's a </a:t>
            </a:r>
            <a:r>
              <a:rPr lang="en-US" altLang="zh-TW" i="1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86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Notice that, in this case, we can’t say “always prints”: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two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Prints, </a:t>
            </a:r>
            <a:r>
              <a:rPr lang="en-US" altLang="zh-TW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unless there's a </a:t>
            </a:r>
            <a:r>
              <a:rPr lang="en-US" altLang="zh-TW" i="1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66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But, with “finally”, we can say “always prints”: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two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finally:</a:t>
            </a:r>
            <a:r>
              <a:rPr lang="en-US" altLang="zh-TW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Even with errors, </a:t>
            </a:r>
            <a:r>
              <a:rPr lang="en-US" altLang="zh-TW" i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always prints.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endParaRPr lang="en-US" altLang="zh-TW" i="1" kern="0" dirty="0" smtClean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Prints, unless there's a </a:t>
            </a:r>
            <a:r>
              <a:rPr lang="en-US" altLang="zh-TW" i="1" kern="0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Exceptions: </a:t>
            </a:r>
            <a:r>
              <a:rPr lang="en-US" sz="4400" b="1" kern="0" dirty="0" smtClean="0">
                <a:solidFill>
                  <a:srgbClr val="CC3399"/>
                </a:solidFill>
                <a:latin typeface="Lucida Console" panose="020B0609040504020204" pitchFamily="49" charset="0"/>
              </a:rPr>
              <a:t>finally</a:t>
            </a:r>
            <a:endParaRPr lang="en-US" kern="0" dirty="0">
              <a:solidFill>
                <a:srgbClr val="CC3399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65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Notice that, in the code below, error messages are specific: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altLang="zh-TW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altLang="zh-TW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Divide by zero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altLang="zh-TW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Use of undefined variable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altLang="zh-TW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Improper use of a type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01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But, in the code below, the error message is generic: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ZeroDivisionError,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NameError,TypeError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three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519091" lvl="1" indent="-519091" defTabSz="846552">
              <a:spcBef>
                <a:spcPts val="0"/>
              </a:spcBef>
              <a:buNone/>
            </a:pPr>
            <a:r>
              <a:rPr lang="en-US" altLang="zh-TW" sz="32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 How can we know which of the three errors triggered the exception?</a:t>
            </a:r>
          </a:p>
          <a:p>
            <a:pPr marL="519091" lvl="1" indent="-519091" defTabSz="846552">
              <a:spcBef>
                <a:spcPts val="0"/>
              </a:spcBef>
              <a:buNone/>
            </a:pPr>
            <a:r>
              <a:rPr lang="en-US" altLang="zh-TW" sz="32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A: We can use the “as” keyword…</a:t>
            </a:r>
          </a:p>
          <a:p>
            <a:pPr marL="0" lvl="1" indent="0" defTabSz="846552">
              <a:spcBef>
                <a:spcPts val="0"/>
              </a:spcBef>
              <a:buNone/>
            </a:pP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</a:t>
            </a:r>
            <a:r>
              <a:rPr lang="en-US" sz="4400" kern="0" dirty="0" smtClean="0">
                <a:latin typeface="Elephant" panose="02020904090505020303" pitchFamily="18" charset="0"/>
              </a:rPr>
              <a:t>Exceptions</a:t>
            </a:r>
            <a:endParaRPr 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82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5462" y="5135757"/>
            <a:ext cx="370614" cy="4613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398" kern="0" dirty="0">
                <a:solidFill>
                  <a:srgbClr val="A2A2A2"/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  <a:endParaRPr lang="en-US" sz="2398" dirty="0">
              <a:solidFill>
                <a:srgbClr val="000000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% cat test.py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ZeroDivisionError,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NameError,TypeError</a:t>
            </a:r>
            <a:r>
              <a:rPr lang="en-US" altLang="zh-TW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)\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      </a:t>
            </a: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as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itchFamily="49" charset="0"/>
              </a:rPr>
              <a:t>message: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Error: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",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itchFamily="49" charset="0"/>
              </a:rPr>
              <a:t> message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A2A2A2"/>
                </a:solidFill>
                <a:latin typeface="Lucida Console" panose="020B0609040504020204" pitchFamily="49" charset="0"/>
                <a:cs typeface="Courier New" pitchFamily="49" charset="0"/>
              </a:rPr>
              <a:t>% python3 test.py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number: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0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Error: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itchFamily="49" charset="0"/>
              </a:rPr>
              <a:t>division by zero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A2A2A2"/>
                </a:solidFill>
                <a:latin typeface="Lucida Console" panose="020B0609040504020204" pitchFamily="49" charset="0"/>
                <a:cs typeface="Courier New" pitchFamily="49" charset="0"/>
              </a:rPr>
              <a:t>  python3 test.py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Enter a number: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1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Error: 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itchFamily="49" charset="0"/>
              </a:rPr>
              <a:t>name </a:t>
            </a:r>
            <a:r>
              <a:rPr lang="en-US" altLang="zh-TW" kern="0" dirty="0" smtClean="0">
                <a:solidFill>
                  <a:srgbClr val="00B0F0"/>
                </a:solidFill>
                <a:latin typeface="Lucida Console" panose="020B0609040504020204" pitchFamily="49" charset="0"/>
                <a:cs typeface="Courier New" pitchFamily="49" charset="0"/>
              </a:rPr>
              <a:t>'junk' 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itchFamily="49" charset="0"/>
              </a:rPr>
              <a:t>is not defined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A2A2A2"/>
                </a:solidFill>
                <a:latin typeface="Lucida Console" panose="020B060904050402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 smtClean="0">
                <a:latin typeface="Elephant" panose="02020904090505020303" pitchFamily="18" charset="0"/>
              </a:rPr>
              <a:t>:</a:t>
            </a:r>
            <a:r>
              <a:rPr lang="en-US" b="1" kern="0" dirty="0" smtClean="0"/>
              <a:t> </a:t>
            </a:r>
            <a:r>
              <a:rPr lang="en-US" sz="4400" b="1" kern="0" dirty="0" smtClean="0">
                <a:solidFill>
                  <a:srgbClr val="CC3399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rgbClr val="CC3399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53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296863" y="762001"/>
            <a:ext cx="9144000" cy="62484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200" dirty="0"/>
              <a:t>“</a:t>
            </a:r>
            <a:r>
              <a:rPr lang="en-US" altLang="zh-TW" sz="3200" dirty="0">
                <a:latin typeface="Lucida Console" panose="020B0609040504020204" pitchFamily="49" charset="0"/>
              </a:rPr>
              <a:t>with</a:t>
            </a:r>
            <a:r>
              <a:rPr lang="en-US" altLang="zh-TW" sz="3200" dirty="0"/>
              <a:t>” causes two related operations to execute as a pair, with a block of code in between. </a:t>
            </a:r>
          </a:p>
          <a:p>
            <a:pPr marL="0" indent="0">
              <a:buNone/>
            </a:pPr>
            <a:r>
              <a:rPr lang="en-US" altLang="zh-TW" sz="3200" dirty="0">
                <a:solidFill>
                  <a:schemeClr val="bg1"/>
                </a:solidFill>
              </a:rPr>
              <a:t>, opening a file, manipulating it, closing it:</a:t>
            </a:r>
          </a:p>
          <a:p>
            <a:pPr marL="0" indent="0">
              <a:buNone/>
            </a:pPr>
            <a:r>
              <a:rPr lang="en-US" altLang="zh-TW" sz="2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z="2800" b="1" dirty="0">
                <a:solidFill>
                  <a:schemeClr val="bg1"/>
                </a:solidFill>
                <a:latin typeface="Lucida Console" panose="020B0609040504020204" pitchFamily="49" charset="0"/>
              </a:rPr>
              <a:t>with</a:t>
            </a: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chemeClr val="bg1"/>
                </a:solidFill>
                <a:latin typeface="Lucida Console" panose="020B0609040504020204" pitchFamily="49" charset="0"/>
              </a:rPr>
              <a:t>open</a:t>
            </a: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('output.txt', 'w') </a:t>
            </a:r>
            <a:r>
              <a:rPr lang="en-US" altLang="zh-TW" sz="2800" b="1" dirty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 f: </a:t>
            </a: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		f('Hi there!') </a:t>
            </a:r>
          </a:p>
          <a:p>
            <a:pPr marL="0" indent="0">
              <a:buNone/>
            </a:pPr>
            <a:endParaRPr lang="en-US" altLang="zh-TW" sz="16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3200" dirty="0">
                <a:solidFill>
                  <a:schemeClr val="bg1"/>
                </a:solidFill>
              </a:rPr>
              <a:t>The advantage of this is that it is guaranteed to close the file no matter </a:t>
            </a:r>
            <a:r>
              <a:rPr lang="en-US" altLang="zh-TW" sz="3200" i="1" dirty="0">
                <a:solidFill>
                  <a:schemeClr val="bg1"/>
                </a:solidFill>
              </a:rPr>
              <a:t>how</a:t>
            </a:r>
            <a:r>
              <a:rPr lang="en-US" altLang="zh-TW" sz="3200" dirty="0">
                <a:solidFill>
                  <a:schemeClr val="bg1"/>
                </a:solidFill>
              </a:rPr>
              <a:t> the block exits. </a:t>
            </a:r>
          </a:p>
          <a:p>
            <a:pPr lvl="1"/>
            <a:r>
              <a:rPr lang="en-US" altLang="zh-TW" sz="3200" dirty="0">
                <a:solidFill>
                  <a:schemeClr val="bg1"/>
                </a:solidFill>
              </a:rPr>
              <a:t>If an exception occurs,</a:t>
            </a:r>
            <a:r>
              <a:rPr lang="en-US" altLang="zh-TW" sz="2800" dirty="0">
                <a:solidFill>
                  <a:schemeClr val="bg1"/>
                </a:solidFill>
              </a:rPr>
              <a:t> </a:t>
            </a:r>
            <a:r>
              <a:rPr lang="en-US" altLang="zh-TW" sz="3200" dirty="0">
                <a:solidFill>
                  <a:schemeClr val="bg1"/>
                </a:solidFill>
              </a:rPr>
              <a:t>or</a:t>
            </a:r>
            <a:r>
              <a:rPr lang="en-US" altLang="zh-TW" sz="2800" dirty="0">
                <a:solidFill>
                  <a:schemeClr val="bg1"/>
                </a:solidFill>
              </a:rPr>
              <a:t> </a:t>
            </a:r>
            <a:r>
              <a:rPr lang="en-US" altLang="zh-TW" sz="3200" dirty="0">
                <a:solidFill>
                  <a:schemeClr val="bg1"/>
                </a:solidFill>
              </a:rPr>
              <a:t>if</a:t>
            </a:r>
            <a:r>
              <a:rPr lang="en-US" altLang="zh-TW" sz="2800" dirty="0">
                <a:solidFill>
                  <a:schemeClr val="bg1"/>
                </a:solidFill>
              </a:rPr>
              <a:t> </a:t>
            </a:r>
            <a:r>
              <a:rPr lang="en-US" altLang="zh-TW" sz="3200" dirty="0">
                <a:solidFill>
                  <a:schemeClr val="bg1"/>
                </a:solidFill>
              </a:rPr>
              <a:t>the</a:t>
            </a:r>
            <a:r>
              <a:rPr lang="en-US" altLang="zh-TW" sz="2800" dirty="0">
                <a:solidFill>
                  <a:schemeClr val="bg1"/>
                </a:solidFill>
              </a:rPr>
              <a:t> </a:t>
            </a:r>
            <a:r>
              <a:rPr lang="en-US" altLang="zh-TW" sz="3200" dirty="0">
                <a:solidFill>
                  <a:schemeClr val="bg1"/>
                </a:solidFill>
              </a:rPr>
              <a:t>code</a:t>
            </a:r>
            <a:r>
              <a:rPr lang="en-US" altLang="zh-TW" sz="2800" dirty="0">
                <a:solidFill>
                  <a:schemeClr val="bg1"/>
                </a:solidFill>
              </a:rPr>
              <a:t> </a:t>
            </a:r>
            <a:r>
              <a:rPr lang="en-US" altLang="zh-TW" sz="3200" dirty="0">
                <a:solidFill>
                  <a:schemeClr val="bg1"/>
                </a:solidFill>
              </a:rPr>
              <a:t>executes a return, a continue or a break, it will, in every case, close the file before proceeding. </a:t>
            </a:r>
          </a:p>
          <a:p>
            <a:pPr lvl="1"/>
            <a:endParaRPr lang="en-US" altLang="zh-TW" sz="3000" dirty="0">
              <a:solidFill>
                <a:schemeClr val="bg1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6863" y="-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/>
            <a:r>
              <a:rPr lang="en-US" altLang="zh-TW" sz="4400" b="1" kern="0" dirty="0" smtClean="0">
                <a:solidFill>
                  <a:srgbClr val="CC3399"/>
                </a:solidFill>
                <a:latin typeface="Lucida Console" panose="020B0609040504020204" pitchFamily="49" charset="0"/>
              </a:rPr>
              <a:t>with</a:t>
            </a:r>
            <a:r>
              <a:rPr lang="en-US" altLang="zh-TW" sz="4400" b="1" kern="0" dirty="0" smtClean="0">
                <a:solidFill>
                  <a:srgbClr val="3333CC"/>
                </a:solidFill>
                <a:latin typeface="Lucida Console" panose="020B0609040504020204" pitchFamily="49" charset="0"/>
              </a:rPr>
              <a:t>/</a:t>
            </a:r>
            <a:r>
              <a:rPr lang="en-US" altLang="zh-TW" sz="4400" b="1" kern="0" dirty="0" smtClean="0">
                <a:solidFill>
                  <a:srgbClr val="CC3399"/>
                </a:solidFill>
                <a:latin typeface="Lucida Console" panose="020B0609040504020204" pitchFamily="49" charset="0"/>
              </a:rPr>
              <a:t>as</a:t>
            </a:r>
            <a:endParaRPr lang="en-US" altLang="zh-TW" sz="4400" kern="0" dirty="0">
              <a:solidFill>
                <a:srgbClr val="CC3399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36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296863" y="762001"/>
            <a:ext cx="9144000" cy="62484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“</a:t>
            </a:r>
            <a:r>
              <a:rPr lang="en-US" altLang="zh-TW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with</a:t>
            </a:r>
            <a:r>
              <a:rPr lang="en-US" altLang="zh-TW" sz="3200" dirty="0">
                <a:solidFill>
                  <a:srgbClr val="FF0000"/>
                </a:solidFill>
              </a:rPr>
              <a:t>” causes two related operations to execute as a pair, with a block of code in between. </a:t>
            </a:r>
          </a:p>
          <a:p>
            <a:pPr marL="0" indent="0">
              <a:buNone/>
            </a:pPr>
            <a:r>
              <a:rPr lang="en-US" altLang="zh-TW" sz="3200" dirty="0" err="1">
                <a:solidFill>
                  <a:srgbClr val="FF0000"/>
                </a:solidFill>
              </a:rPr>
              <a:t>Eg</a:t>
            </a:r>
            <a:r>
              <a:rPr lang="en-US" altLang="zh-TW" sz="3200" dirty="0">
                <a:solidFill>
                  <a:srgbClr val="FF0000"/>
                </a:solidFill>
              </a:rPr>
              <a:t>, opening a file, manipulating it, closing it:</a:t>
            </a:r>
          </a:p>
          <a:p>
            <a:pPr marL="0" indent="0">
              <a:buNone/>
            </a:pPr>
            <a:r>
              <a:rPr lang="en-US" altLang="zh-TW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with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open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('output.txt', 'w')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as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 f: </a:t>
            </a:r>
          </a:p>
          <a:p>
            <a:pPr marL="0" indent="0"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TW" sz="28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f.write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('Hi there!') </a:t>
            </a:r>
          </a:p>
          <a:p>
            <a:pPr marL="0" indent="0">
              <a:buNone/>
            </a:pPr>
            <a:endParaRPr lang="en-US" altLang="zh-TW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altLang="zh-TW" sz="3200" dirty="0">
                <a:solidFill>
                  <a:srgbClr val="FF0000"/>
                </a:solidFill>
              </a:rPr>
              <a:t>The advantage of this is that it is guaranteed to close the file no matter </a:t>
            </a:r>
            <a:r>
              <a:rPr lang="en-US" altLang="zh-TW" sz="3200" i="1" dirty="0">
                <a:solidFill>
                  <a:srgbClr val="FF0000"/>
                </a:solidFill>
              </a:rPr>
              <a:t>how</a:t>
            </a:r>
            <a:r>
              <a:rPr lang="en-US" altLang="zh-TW" sz="3200" dirty="0">
                <a:solidFill>
                  <a:srgbClr val="FF0000"/>
                </a:solidFill>
              </a:rPr>
              <a:t> the block exits. </a:t>
            </a:r>
          </a:p>
          <a:p>
            <a:pPr lvl="1"/>
            <a:r>
              <a:rPr lang="en-US" altLang="zh-TW" sz="3200" dirty="0">
                <a:solidFill>
                  <a:srgbClr val="FF0000"/>
                </a:solidFill>
              </a:rPr>
              <a:t>If an exception occurs,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or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if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the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code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executes a return, a continue or a break, it will, in every case, close the file before proceeding. </a:t>
            </a:r>
          </a:p>
          <a:p>
            <a:pPr lvl="1"/>
            <a:endParaRPr lang="en-US" altLang="zh-TW" sz="3000" dirty="0">
              <a:solidFill>
                <a:srgbClr val="FF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811212" y="-76200"/>
            <a:ext cx="86296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/>
            <a:r>
              <a:rPr lang="en-US" altLang="zh-TW" sz="4400" kern="0" dirty="0">
                <a:latin typeface="Elephant" panose="02020904090505020303" pitchFamily="18" charset="0"/>
              </a:rPr>
              <a:t>Using</a:t>
            </a:r>
            <a:r>
              <a:rPr lang="en-US" altLang="zh-TW" b="1" kern="0" dirty="0"/>
              <a:t> </a:t>
            </a:r>
            <a:r>
              <a:rPr lang="en-US" altLang="zh-TW" sz="4400" b="1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with</a:t>
            </a:r>
            <a:r>
              <a:rPr lang="en-US" altLang="zh-TW" sz="4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/</a:t>
            </a:r>
            <a:r>
              <a:rPr lang="en-US" altLang="zh-TW" sz="4400" b="1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as</a:t>
            </a:r>
            <a:r>
              <a:rPr lang="en-US" altLang="zh-TW" b="1" kern="0" dirty="0"/>
              <a:t> </a:t>
            </a:r>
            <a:r>
              <a:rPr lang="en-US" altLang="zh-TW" sz="4400" kern="0" dirty="0">
                <a:latin typeface="Elephant" panose="02020904090505020303" pitchFamily="18" charset="0"/>
              </a:rPr>
              <a:t>to Open Files</a:t>
            </a:r>
          </a:p>
        </p:txBody>
      </p:sp>
    </p:spTree>
    <p:extLst>
      <p:ext uri="{BB962C8B-B14F-4D97-AF65-F5344CB8AC3E}">
        <p14:creationId xmlns:p14="http://schemas.microsoft.com/office/powerpoint/2010/main" val="373232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296863" y="762001"/>
            <a:ext cx="9144000" cy="62484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testf</a:t>
            </a:r>
            <a:r>
              <a:rPr lang="en-US" altLang="zh-TW" sz="2800" dirty="0">
                <a:latin typeface="Lucida Console" panose="020B0609040504020204" pitchFamily="49" charset="0"/>
              </a:rPr>
              <a:t>():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global f1,x,y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f1 = open("f1.txt", "r")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x  =  f1.read(10)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f2 = open("f2.txt", "r")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y  =  f2.read(10)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f2.close()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f1.close()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8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Lucida Console" panose="020B0609040504020204" pitchFamily="49" charset="0"/>
              </a:rPr>
              <a:t>testf</a:t>
            </a:r>
            <a:r>
              <a:rPr lang="en-US" altLang="zh-TW" sz="2800" dirty="0">
                <a:latin typeface="Lucida Console" panose="020B0609040504020204" pitchFamily="49" charset="0"/>
              </a:rPr>
              <a:t>()    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#If f2.txt doesn’t exist, then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           #this call would </a:t>
            </a:r>
            <a:r>
              <a:rPr lang="en-US" altLang="zh-TW" sz="2800" u="sng" dirty="0">
                <a:solidFill>
                  <a:srgbClr val="2D2DB9"/>
                </a:solidFill>
                <a:latin typeface="Lucida Console" panose="020B0609040504020204" pitchFamily="49" charset="0"/>
              </a:rPr>
              <a:t>crash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 the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           #program.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import otherStuff.py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Lucida Console" panose="020B0609040504020204" pitchFamily="49" charset="0"/>
              </a:rPr>
              <a:t>otherStuff.goDoOtherStuff</a:t>
            </a:r>
            <a:r>
              <a:rPr lang="en-US" altLang="zh-TW" sz="2800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800" dirty="0"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811212" y="-76200"/>
            <a:ext cx="86296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/>
            <a:r>
              <a:rPr lang="en-US" altLang="zh-TW" sz="4400" kern="0" dirty="0">
                <a:latin typeface="Elephant" panose="02020904090505020303" pitchFamily="18" charset="0"/>
              </a:rPr>
              <a:t>Using</a:t>
            </a:r>
            <a:r>
              <a:rPr lang="en-US" altLang="zh-TW" b="1" kern="0" dirty="0"/>
              <a:t> </a:t>
            </a:r>
            <a:r>
              <a:rPr lang="en-US" altLang="zh-TW" sz="4400" b="1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with</a:t>
            </a:r>
            <a:r>
              <a:rPr lang="en-US" altLang="zh-TW" sz="4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/</a:t>
            </a:r>
            <a:r>
              <a:rPr lang="en-US" altLang="zh-TW" sz="4400" b="1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as</a:t>
            </a:r>
            <a:r>
              <a:rPr lang="en-US" altLang="zh-TW" b="1" kern="0" dirty="0"/>
              <a:t> </a:t>
            </a:r>
            <a:r>
              <a:rPr lang="en-US" altLang="zh-TW" sz="4400" kern="0" dirty="0">
                <a:latin typeface="Elephant" panose="02020904090505020303" pitchFamily="18" charset="0"/>
              </a:rPr>
              <a:t>to Open Files</a:t>
            </a:r>
          </a:p>
        </p:txBody>
      </p:sp>
    </p:spTree>
    <p:extLst>
      <p:ext uri="{BB962C8B-B14F-4D97-AF65-F5344CB8AC3E}">
        <p14:creationId xmlns:p14="http://schemas.microsoft.com/office/powerpoint/2010/main" val="422066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811212" y="-76200"/>
            <a:ext cx="86296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/>
            <a:r>
              <a:rPr lang="en-US" altLang="zh-TW" sz="4400" kern="0" dirty="0">
                <a:latin typeface="Elephant" panose="02020904090505020303" pitchFamily="18" charset="0"/>
              </a:rPr>
              <a:t>Using</a:t>
            </a:r>
            <a:r>
              <a:rPr lang="en-US" altLang="zh-TW" b="1" kern="0" dirty="0"/>
              <a:t> </a:t>
            </a:r>
            <a:r>
              <a:rPr lang="en-US" altLang="zh-TW" sz="4400" b="1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with</a:t>
            </a:r>
            <a:r>
              <a:rPr lang="en-US" altLang="zh-TW" sz="4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/</a:t>
            </a:r>
            <a:r>
              <a:rPr lang="en-US" altLang="zh-TW" sz="4400" b="1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as</a:t>
            </a:r>
            <a:r>
              <a:rPr lang="en-US" altLang="zh-TW" b="1" kern="0" dirty="0"/>
              <a:t> </a:t>
            </a:r>
            <a:r>
              <a:rPr lang="en-US" altLang="zh-TW" sz="4400" kern="0" dirty="0">
                <a:latin typeface="Elephant" panose="02020904090505020303" pitchFamily="18" charset="0"/>
              </a:rPr>
              <a:t>to Open Files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296863" y="762001"/>
            <a:ext cx="9144000" cy="62484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testf</a:t>
            </a:r>
            <a:r>
              <a:rPr lang="en-US" altLang="zh-TW" sz="2800" dirty="0">
                <a:latin typeface="Lucida Console" panose="020B0609040504020204" pitchFamily="49" charset="0"/>
              </a:rPr>
              <a:t>():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global f1,x,y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f1 = open("f1.txt", "r")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x  =  f1.read(10)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f2 = open("f2.txt", "r")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y  =  f2.read(10)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f2.close()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f1.close()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try: 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  </a:t>
            </a:r>
            <a:r>
              <a:rPr lang="en-US" altLang="zh-TW" sz="2800" dirty="0" err="1">
                <a:latin typeface="Lucida Console" panose="020B0609040504020204" pitchFamily="49" charset="0"/>
              </a:rPr>
              <a:t>testf</a:t>
            </a:r>
            <a:r>
              <a:rPr lang="en-US" altLang="zh-TW" sz="2800" dirty="0">
                <a:latin typeface="Lucida Console" panose="020B0609040504020204" pitchFamily="49" charset="0"/>
              </a:rPr>
              <a:t>()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#If f2.txt doesn’t exist, then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except:    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#this call would </a:t>
            </a:r>
            <a:r>
              <a:rPr lang="en-US" altLang="zh-TW" sz="2800" u="sng" dirty="0">
                <a:solidFill>
                  <a:srgbClr val="2D2DB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 crash the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800" dirty="0">
                <a:latin typeface="Lucida Console" panose="020B0609040504020204" pitchFamily="49" charset="0"/>
              </a:rPr>
              <a:t>pass   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#program. </a:t>
            </a:r>
            <a:r>
              <a:rPr lang="en-US" altLang="zh-TW" sz="2800" u="sng" dirty="0">
                <a:solidFill>
                  <a:srgbClr val="2D2DB9"/>
                </a:solidFill>
                <a:latin typeface="Lucida Console" panose="020B0609040504020204" pitchFamily="49" charset="0"/>
              </a:rPr>
              <a:t>But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f1 remains OPEN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import otherStuff.py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Lucida Console" panose="020B0609040504020204" pitchFamily="49" charset="0"/>
              </a:rPr>
              <a:t>otherStuff.goDoOtherStuff</a:t>
            </a:r>
            <a:r>
              <a:rPr lang="en-US" altLang="zh-TW" sz="2800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800" dirty="0">
              <a:latin typeface="Lucida Console" panose="020B0609040504020204" pitchFamily="49" charset="0"/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5240338" y="533401"/>
            <a:ext cx="4200525" cy="2209800"/>
          </a:xfrm>
          <a:prstGeom prst="wedgeRoundRectCallout">
            <a:avLst>
              <a:gd name="adj1" fmla="val -679"/>
              <a:gd name="adj2" fmla="val 15384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This may be a problem because the number of files that can be open at once is limited.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296863" y="762001"/>
            <a:ext cx="9144000" cy="62484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testf</a:t>
            </a:r>
            <a:r>
              <a:rPr lang="en-US" altLang="zh-TW" sz="2800" dirty="0">
                <a:latin typeface="Lucida Console" panose="020B0609040504020204" pitchFamily="49" charset="0"/>
              </a:rPr>
              <a:t>():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global f1,x,y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</a:t>
            </a:r>
            <a:r>
              <a:rPr lang="en-US" altLang="zh-TW" sz="2800" dirty="0">
                <a:solidFill>
                  <a:srgbClr val="CC3399"/>
                </a:solidFill>
                <a:latin typeface="Lucida Console" panose="020B0609040504020204" pitchFamily="49" charset="0"/>
              </a:rPr>
              <a:t>with </a:t>
            </a:r>
            <a:r>
              <a:rPr lang="en-US" altLang="zh-TW" sz="2800" dirty="0">
                <a:latin typeface="Lucida Console" panose="020B0609040504020204" pitchFamily="49" charset="0"/>
              </a:rPr>
              <a:t>open("f1.txt", "r") </a:t>
            </a:r>
            <a:r>
              <a:rPr lang="en-US" altLang="zh-TW" sz="2800" dirty="0">
                <a:solidFill>
                  <a:srgbClr val="CC3399"/>
                </a:solidFill>
                <a:latin typeface="Lucida Console" panose="020B0609040504020204" pitchFamily="49" charset="0"/>
              </a:rPr>
              <a:t>as </a:t>
            </a:r>
            <a:r>
              <a:rPr lang="en-US" altLang="zh-TW" sz="2800" dirty="0">
                <a:latin typeface="Lucida Console" panose="020B0609040504020204" pitchFamily="49" charset="0"/>
              </a:rPr>
              <a:t>f1: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    x=f1.read(10)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</a:t>
            </a:r>
            <a:r>
              <a:rPr lang="en-US" altLang="zh-TW" sz="2800" dirty="0">
                <a:solidFill>
                  <a:srgbClr val="CC3399"/>
                </a:solidFill>
                <a:latin typeface="Lucida Console" panose="020B0609040504020204" pitchFamily="49" charset="0"/>
              </a:rPr>
              <a:t>with </a:t>
            </a:r>
            <a:r>
              <a:rPr lang="en-US" altLang="zh-TW" sz="2800" dirty="0">
                <a:latin typeface="Lucida Console" panose="020B0609040504020204" pitchFamily="49" charset="0"/>
              </a:rPr>
              <a:t>open("f2.txt", "r") </a:t>
            </a:r>
            <a:r>
              <a:rPr lang="en-US" altLang="zh-TW" sz="2800" dirty="0">
                <a:solidFill>
                  <a:srgbClr val="CC3399"/>
                </a:solidFill>
                <a:latin typeface="Lucida Console" panose="020B0609040504020204" pitchFamily="49" charset="0"/>
              </a:rPr>
              <a:t>as </a:t>
            </a:r>
            <a:r>
              <a:rPr lang="en-US" altLang="zh-TW" sz="2800" dirty="0">
                <a:latin typeface="Lucida Console" panose="020B0609040504020204" pitchFamily="49" charset="0"/>
              </a:rPr>
              <a:t>f2: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    x=f2.read(10)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	</a:t>
            </a: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f2.close()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	f1.close()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try:      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    </a:t>
            </a:r>
            <a:r>
              <a:rPr lang="en-US" altLang="zh-TW" sz="2800" dirty="0" err="1">
                <a:latin typeface="Lucida Console" panose="020B0609040504020204" pitchFamily="49" charset="0"/>
              </a:rPr>
              <a:t>testf</a:t>
            </a:r>
            <a:r>
              <a:rPr lang="en-US" altLang="zh-TW" sz="2800" dirty="0">
                <a:latin typeface="Lucida Console" panose="020B0609040504020204" pitchFamily="49" charset="0"/>
              </a:rPr>
              <a:t>()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#If f2.txt doesn’t exist, then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except:    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#this call would </a:t>
            </a:r>
            <a:r>
              <a:rPr lang="en-US" altLang="zh-TW" sz="2800" u="sng" dirty="0">
                <a:solidFill>
                  <a:srgbClr val="2D2DB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 crash the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800" dirty="0">
                <a:latin typeface="Lucida Console" panose="020B0609040504020204" pitchFamily="49" charset="0"/>
              </a:rPr>
              <a:t>pass   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#program. </a:t>
            </a:r>
            <a:r>
              <a:rPr lang="en-US" altLang="zh-TW" sz="2800" u="sng" dirty="0">
                <a:solidFill>
                  <a:srgbClr val="2D2DB9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, f1 </a:t>
            </a:r>
            <a:r>
              <a:rPr lang="en-US" altLang="zh-TW" sz="2800" u="sng" dirty="0">
                <a:solidFill>
                  <a:srgbClr val="FF0000"/>
                </a:solidFill>
                <a:latin typeface="Lucida Console" panose="020B0609040504020204" pitchFamily="49" charset="0"/>
              </a:rPr>
              <a:t>will </a:t>
            </a:r>
            <a:r>
              <a:rPr lang="en-US" altLang="zh-TW" sz="2800" b="1" u="sng" dirty="0">
                <a:solidFill>
                  <a:srgbClr val="FF0000"/>
                </a:solidFill>
                <a:latin typeface="Lucida Console" panose="020B0609040504020204" pitchFamily="49" charset="0"/>
              </a:rPr>
              <a:t>CLOSE!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import otherStuff.py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Lucida Console" panose="020B0609040504020204" pitchFamily="49" charset="0"/>
              </a:rPr>
              <a:t>otherStuff.goDoOtherStuff</a:t>
            </a:r>
            <a:r>
              <a:rPr lang="en-US" altLang="zh-TW" sz="2800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800" dirty="0"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811212" y="-76200"/>
            <a:ext cx="86296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/>
            <a:r>
              <a:rPr lang="en-US" altLang="zh-TW" sz="4400" kern="0" dirty="0">
                <a:latin typeface="Elephant" panose="02020904090505020303" pitchFamily="18" charset="0"/>
              </a:rPr>
              <a:t>Using</a:t>
            </a:r>
            <a:r>
              <a:rPr lang="en-US" altLang="zh-TW" b="1" kern="0" dirty="0"/>
              <a:t> </a:t>
            </a:r>
            <a:r>
              <a:rPr lang="en-US" altLang="zh-TW" sz="4400" b="1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with</a:t>
            </a:r>
            <a:r>
              <a:rPr lang="en-US" altLang="zh-TW" sz="4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/</a:t>
            </a:r>
            <a:r>
              <a:rPr lang="en-US" altLang="zh-TW" sz="4400" b="1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as</a:t>
            </a:r>
            <a:r>
              <a:rPr lang="en-US" altLang="zh-TW" b="1" kern="0" dirty="0"/>
              <a:t> </a:t>
            </a:r>
            <a:r>
              <a:rPr lang="en-US" altLang="zh-TW" sz="4400" kern="0" dirty="0">
                <a:latin typeface="Elephant" panose="02020904090505020303" pitchFamily="18" charset="0"/>
              </a:rPr>
              <a:t>to Open Files</a:t>
            </a:r>
          </a:p>
        </p:txBody>
      </p:sp>
    </p:spTree>
    <p:extLst>
      <p:ext uri="{BB962C8B-B14F-4D97-AF65-F5344CB8AC3E}">
        <p14:creationId xmlns:p14="http://schemas.microsoft.com/office/powerpoint/2010/main" val="97801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012" y="857250"/>
            <a:ext cx="9010650" cy="6000750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3200" dirty="0" smtClean="0"/>
              <a:t>Some disruptions </a:t>
            </a:r>
            <a:r>
              <a:rPr lang="en-US" altLang="zh-TW" sz="3200" dirty="0"/>
              <a:t>are side effects of </a:t>
            </a:r>
            <a:r>
              <a:rPr lang="en-US" altLang="zh-TW" sz="3200" dirty="0" smtClean="0"/>
              <a:t>actions.</a:t>
            </a:r>
          </a:p>
          <a:p>
            <a:pPr lvl="1">
              <a:spcAft>
                <a:spcPts val="1800"/>
              </a:spcAft>
            </a:pPr>
            <a:r>
              <a:rPr lang="en-US" altLang="zh-TW" sz="3000" dirty="0" err="1" smtClean="0"/>
              <a:t>eg</a:t>
            </a:r>
            <a:r>
              <a:rPr lang="en-US" altLang="zh-TW" sz="3000" dirty="0"/>
              <a:t>. </a:t>
            </a:r>
            <a:r>
              <a:rPr lang="en-US" altLang="zh-TW" sz="30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altLang="zh-TW" sz="3000" dirty="0"/>
              <a:t> or </a:t>
            </a:r>
            <a:r>
              <a:rPr lang="en-US" altLang="zh-TW" sz="30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sz="3000" dirty="0" smtClean="0"/>
              <a:t> </a:t>
            </a:r>
            <a:endParaRPr lang="en-US" altLang="zh-TW" sz="3000" dirty="0"/>
          </a:p>
          <a:p>
            <a:r>
              <a:rPr lang="en-US" altLang="zh-TW" sz="3200" dirty="0"/>
              <a:t>Others are triggered explicitly by the program</a:t>
            </a:r>
            <a:r>
              <a:rPr lang="en-US" altLang="zh-TW" sz="3200" dirty="0" smtClean="0"/>
              <a:t>.</a:t>
            </a:r>
          </a:p>
          <a:p>
            <a:pPr lvl="1"/>
            <a:r>
              <a:rPr lang="en-US" altLang="zh-TW" sz="3200" dirty="0">
                <a:solidFill>
                  <a:srgbClr val="2D2DB9"/>
                </a:solidFill>
              </a:rPr>
              <a:t>Exceptions</a:t>
            </a:r>
          </a:p>
          <a:p>
            <a:pPr lvl="2"/>
            <a:r>
              <a:rPr lang="en-US" altLang="zh-TW" sz="2800" dirty="0">
                <a:solidFill>
                  <a:srgbClr val="FF0000"/>
                </a:solidFill>
              </a:rPr>
              <a:t>These are </a:t>
            </a:r>
            <a:r>
              <a:rPr lang="en-US" altLang="zh-TW" sz="2800" b="1" i="1" dirty="0">
                <a:solidFill>
                  <a:srgbClr val="FF0000"/>
                </a:solidFill>
              </a:rPr>
              <a:t>raised</a:t>
            </a:r>
            <a:r>
              <a:rPr lang="en-US" altLang="zh-TW" sz="2800" dirty="0">
                <a:solidFill>
                  <a:srgbClr val="FF0000"/>
                </a:solidFill>
              </a:rPr>
              <a:t> explicitly by the program.</a:t>
            </a:r>
          </a:p>
          <a:p>
            <a:pPr lvl="1"/>
            <a:r>
              <a:rPr lang="en-US" altLang="zh-TW" sz="3200" dirty="0">
                <a:solidFill>
                  <a:srgbClr val="2D2DB9"/>
                </a:solidFill>
              </a:rPr>
              <a:t>Assertions</a:t>
            </a:r>
          </a:p>
          <a:p>
            <a:pPr lvl="2"/>
            <a:r>
              <a:rPr lang="en-US" altLang="zh-TW" sz="2800" dirty="0"/>
              <a:t>An assertion is a claim that a certain condition must be true. If not, then an exception is raised. </a:t>
            </a:r>
            <a:endParaRPr lang="en-US" altLang="zh-TW" sz="2800" dirty="0" smtClean="0"/>
          </a:p>
          <a:p>
            <a:pPr lvl="2"/>
            <a:r>
              <a:rPr lang="en-US" altLang="zh-TW" sz="2800" dirty="0" smtClean="0"/>
              <a:t>Programmer add </a:t>
            </a:r>
            <a:r>
              <a:rPr lang="en-US" altLang="zh-TW" sz="2800" dirty="0"/>
              <a:t>assertions to catch unexpected bugs.  </a:t>
            </a:r>
            <a:endParaRPr lang="en-US" altLang="zh-TW" sz="36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E</a:t>
            </a:r>
            <a:r>
              <a:rPr lang="en-US" sz="4400" kern="0" dirty="0" smtClean="0">
                <a:latin typeface="Elephant" panose="02020904090505020303" pitchFamily="18" charset="0"/>
              </a:rPr>
              <a:t>xecution Disrupting Events</a:t>
            </a:r>
            <a:endParaRPr lang="en-US" sz="4400" kern="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96863" y="4000500"/>
            <a:ext cx="9067800" cy="25527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96863" y="2743200"/>
            <a:ext cx="9067800" cy="12001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7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012" y="857250"/>
            <a:ext cx="9010650" cy="6000750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3200" dirty="0" smtClean="0"/>
              <a:t>Some disruptions </a:t>
            </a:r>
            <a:r>
              <a:rPr lang="en-US" altLang="zh-TW" sz="3200" dirty="0"/>
              <a:t>are side effects of </a:t>
            </a:r>
            <a:r>
              <a:rPr lang="en-US" altLang="zh-TW" sz="3200" dirty="0" smtClean="0"/>
              <a:t>actions.</a:t>
            </a:r>
          </a:p>
          <a:p>
            <a:pPr lvl="1">
              <a:spcAft>
                <a:spcPts val="1800"/>
              </a:spcAft>
            </a:pPr>
            <a:r>
              <a:rPr lang="en-US" altLang="zh-TW" sz="3000" dirty="0" err="1" smtClean="0"/>
              <a:t>eg</a:t>
            </a:r>
            <a:r>
              <a:rPr lang="en-US" altLang="zh-TW" sz="3000" dirty="0"/>
              <a:t>. </a:t>
            </a:r>
            <a:r>
              <a:rPr lang="en-US" altLang="zh-TW" sz="30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altLang="zh-TW" sz="3000" dirty="0"/>
              <a:t> or </a:t>
            </a:r>
            <a:r>
              <a:rPr lang="en-US" altLang="zh-TW" sz="30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sz="3000" dirty="0" smtClean="0"/>
              <a:t> </a:t>
            </a:r>
            <a:endParaRPr lang="en-US" altLang="zh-TW" sz="3000" dirty="0"/>
          </a:p>
          <a:p>
            <a:r>
              <a:rPr lang="en-US" altLang="zh-TW" sz="3200" dirty="0"/>
              <a:t>Others are triggered explicitly by the program</a:t>
            </a:r>
            <a:r>
              <a:rPr lang="en-US" altLang="zh-TW" sz="3200" dirty="0" smtClean="0"/>
              <a:t>.</a:t>
            </a:r>
          </a:p>
          <a:p>
            <a:pPr lvl="1"/>
            <a:r>
              <a:rPr lang="en-US" altLang="zh-TW" sz="3200" dirty="0">
                <a:solidFill>
                  <a:srgbClr val="2D2DB9"/>
                </a:solidFill>
              </a:rPr>
              <a:t>Exceptions</a:t>
            </a:r>
          </a:p>
          <a:p>
            <a:pPr lvl="2"/>
            <a:r>
              <a:rPr lang="en-US" altLang="zh-TW" sz="2800" dirty="0">
                <a:solidFill>
                  <a:srgbClr val="FF0000"/>
                </a:solidFill>
              </a:rPr>
              <a:t>These are </a:t>
            </a:r>
            <a:r>
              <a:rPr lang="en-US" altLang="zh-TW" sz="2800" b="1" i="1" dirty="0">
                <a:solidFill>
                  <a:srgbClr val="FF0000"/>
                </a:solidFill>
              </a:rPr>
              <a:t>raised</a:t>
            </a:r>
            <a:r>
              <a:rPr lang="en-US" altLang="zh-TW" sz="2800" dirty="0">
                <a:solidFill>
                  <a:srgbClr val="FF0000"/>
                </a:solidFill>
              </a:rPr>
              <a:t> explicitly by the program.</a:t>
            </a:r>
          </a:p>
          <a:p>
            <a:pPr lvl="1"/>
            <a:r>
              <a:rPr lang="en-US" altLang="zh-TW" sz="3200" dirty="0">
                <a:solidFill>
                  <a:srgbClr val="2D2DB9"/>
                </a:solidFill>
              </a:rPr>
              <a:t>Assertions</a:t>
            </a:r>
          </a:p>
          <a:p>
            <a:pPr lvl="2"/>
            <a:r>
              <a:rPr lang="en-US" altLang="zh-TW" sz="2800" dirty="0"/>
              <a:t>An assertion is a claim that a certain condition must be true. If not, then an exception is raised. </a:t>
            </a:r>
            <a:endParaRPr lang="en-US" altLang="zh-TW" sz="2800" dirty="0" smtClean="0"/>
          </a:p>
          <a:p>
            <a:pPr lvl="2"/>
            <a:r>
              <a:rPr lang="en-US" altLang="zh-TW" sz="2800" dirty="0" smtClean="0"/>
              <a:t>Programmer add </a:t>
            </a:r>
            <a:r>
              <a:rPr lang="en-US" altLang="zh-TW" sz="2800" dirty="0"/>
              <a:t>assertions to catch unexpected bugs.  </a:t>
            </a:r>
            <a:endParaRPr lang="en-US" altLang="zh-TW" sz="36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E</a:t>
            </a:r>
            <a:r>
              <a:rPr lang="en-US" sz="4400" kern="0" dirty="0" smtClean="0">
                <a:latin typeface="Elephant" panose="02020904090505020303" pitchFamily="18" charset="0"/>
              </a:rPr>
              <a:t>xecution Disrupting Events</a:t>
            </a:r>
            <a:endParaRPr lang="en-US" sz="4400" kern="0" dirty="0">
              <a:latin typeface="Elephant" panose="02020904090505020303" pitchFamily="18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96863" y="857250"/>
            <a:ext cx="9067800" cy="13144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96863" y="4000500"/>
            <a:ext cx="9067800" cy="25527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7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5462" y="685800"/>
            <a:ext cx="8839200" cy="6172200"/>
          </a:xfrm>
        </p:spPr>
        <p:txBody>
          <a:bodyPr>
            <a:noAutofit/>
          </a:bodyPr>
          <a:lstStyle/>
          <a:p>
            <a:r>
              <a:rPr lang="en-US" altLang="zh-TW" sz="2800" dirty="0"/>
              <a:t>The raise command can be used in multiple ways:</a:t>
            </a:r>
          </a:p>
          <a:p>
            <a:pPr marL="914360" lvl="1" indent="-457180">
              <a:buFont typeface="+mj-lt"/>
              <a:buAutoNum type="arabicPeriod"/>
            </a:pPr>
            <a:r>
              <a:rPr lang="en-US" altLang="zh-TW" b="1" dirty="0" smtClean="0"/>
              <a:t>With no arguments</a:t>
            </a:r>
            <a:r>
              <a:rPr lang="en-US" altLang="zh-TW" dirty="0" smtClean="0"/>
              <a:t>:</a:t>
            </a:r>
            <a:br>
              <a:rPr lang="en-US" altLang="zh-TW" dirty="0" smtClean="0"/>
            </a:br>
            <a:r>
              <a:rPr lang="en-US" altLang="zh-TW" dirty="0" smtClean="0"/>
              <a:t>  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</a:p>
          <a:p>
            <a:pPr marL="914360" lvl="1" indent="-457180">
              <a:buFont typeface="+mj-lt"/>
              <a:buAutoNum type="arabicPeriod"/>
            </a:pPr>
            <a:r>
              <a:rPr lang="en-US" altLang="zh-TW" b="1" dirty="0" smtClean="0"/>
              <a:t>With a </a:t>
            </a:r>
            <a:r>
              <a:rPr lang="en-US" altLang="zh-TW" b="1" dirty="0" smtClean="0">
                <a:solidFill>
                  <a:srgbClr val="CC3399"/>
                </a:solidFill>
              </a:rPr>
              <a:t>built-in exception name</a:t>
            </a:r>
            <a:r>
              <a:rPr lang="en-US" altLang="zh-TW" dirty="0" smtClean="0"/>
              <a:t>: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   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raise </a:t>
            </a:r>
            <a:r>
              <a:rPr lang="en-US" altLang="zh-TW" b="1" dirty="0" err="1" smtClean="0">
                <a:solidFill>
                  <a:srgbClr val="CC3399"/>
                </a:solidFill>
                <a:latin typeface="Lucida Console" panose="020B0609040504020204" pitchFamily="49" charset="0"/>
              </a:rPr>
              <a:t>SyntaxError</a:t>
            </a:r>
            <a:endParaRPr lang="en-US" altLang="zh-TW" b="1" dirty="0" smtClean="0">
              <a:solidFill>
                <a:srgbClr val="CC3399"/>
              </a:solidFill>
            </a:endParaRPr>
          </a:p>
          <a:p>
            <a:pPr marL="914360" lvl="1" indent="-457180">
              <a:buFont typeface="+mj-lt"/>
              <a:buAutoNum type="arabicPeriod"/>
            </a:pPr>
            <a:r>
              <a:rPr lang="en-US" altLang="zh-TW" b="1" dirty="0" smtClean="0"/>
              <a:t>With a </a:t>
            </a:r>
            <a:r>
              <a:rPr lang="en-US" altLang="zh-TW" b="1" dirty="0" smtClean="0">
                <a:solidFill>
                  <a:srgbClr val="CC3399"/>
                </a:solidFill>
              </a:rPr>
              <a:t>built-in exception name</a:t>
            </a:r>
            <a:r>
              <a:rPr lang="en-US" altLang="zh-TW" b="1" dirty="0" smtClean="0"/>
              <a:t> &amp; </a:t>
            </a:r>
            <a:r>
              <a:rPr lang="en-US" altLang="zh-TW" b="1" dirty="0" smtClean="0">
                <a:solidFill>
                  <a:srgbClr val="00B050"/>
                </a:solidFill>
              </a:rPr>
              <a:t>error information</a:t>
            </a:r>
            <a:r>
              <a:rPr lang="en-US" altLang="zh-TW" b="1" dirty="0" smtClean="0"/>
              <a:t>: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   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err="1" smtClean="0">
                <a:solidFill>
                  <a:srgbClr val="CC3399"/>
                </a:solidFill>
                <a:latin typeface="Lucida Console" panose="020B0609040504020204" pitchFamily="49" charset="0"/>
              </a:rPr>
              <a:t>SyntaxError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"message"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endParaRPr lang="en-US" altLang="zh-TW" dirty="0" smtClean="0"/>
          </a:p>
          <a:p>
            <a:pPr marL="914360" lvl="1" indent="-457180">
              <a:buFont typeface="+mj-lt"/>
              <a:buAutoNum type="arabicPeriod"/>
            </a:pPr>
            <a:r>
              <a:rPr lang="en-US" altLang="zh-TW" b="1" dirty="0" smtClean="0"/>
              <a:t>With a user defined </a:t>
            </a:r>
            <a:r>
              <a:rPr lang="en-US" altLang="zh-TW" b="1" dirty="0" smtClean="0">
                <a:solidFill>
                  <a:srgbClr val="CC3399"/>
                </a:solidFill>
              </a:rPr>
              <a:t>Exception</a:t>
            </a:r>
            <a:r>
              <a:rPr lang="en-US" altLang="zh-TW" b="1" dirty="0" smtClean="0"/>
              <a:t>: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   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raise </a:t>
            </a:r>
            <a:r>
              <a:rPr lang="en-US" altLang="zh-TW" b="1" dirty="0" smtClean="0">
                <a:solidFill>
                  <a:srgbClr val="CC3399"/>
                </a:solidFill>
                <a:latin typeface="Lucida Console" panose="020B0609040504020204" pitchFamily="49" charset="0"/>
              </a:rPr>
              <a:t>Exception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("My exception")</a:t>
            </a:r>
            <a:b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   </a:t>
            </a:r>
            <a:r>
              <a:rPr lang="en-US" altLang="zh-TW" dirty="0" smtClean="0">
                <a:solidFill>
                  <a:schemeClr val="tx1"/>
                </a:solidFill>
              </a:rPr>
              <a:t>or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raise </a:t>
            </a:r>
            <a:r>
              <a:rPr lang="en-US" altLang="zh-TW" b="1" dirty="0" smtClean="0">
                <a:solidFill>
                  <a:srgbClr val="CC3399"/>
                </a:solidFill>
                <a:latin typeface="Lucida Console" panose="020B0609040504020204" pitchFamily="49" charset="0"/>
              </a:rPr>
              <a:t>Exception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(14)</a:t>
            </a:r>
            <a:b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  </a:t>
            </a:r>
            <a:r>
              <a:rPr lang="en-US" altLang="zh-TW" dirty="0" smtClean="0">
                <a:solidFill>
                  <a:schemeClr val="tx1"/>
                </a:solidFill>
              </a:rPr>
              <a:t>or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 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raise </a:t>
            </a:r>
            <a:r>
              <a:rPr lang="en-US" altLang="zh-TW" b="1" dirty="0">
                <a:solidFill>
                  <a:srgbClr val="CC3399"/>
                </a:solidFill>
                <a:latin typeface="Lucida Console" panose="020B0609040504020204" pitchFamily="49" charset="0"/>
              </a:rPr>
              <a:t>Exception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("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My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exception","</a:t>
            </a: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msg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")</a:t>
            </a:r>
          </a:p>
          <a:p>
            <a:pPr marL="914360" lvl="1" indent="-457180">
              <a:buFont typeface="+mj-lt"/>
              <a:buAutoNum type="arabicPeriod"/>
            </a:pPr>
            <a:r>
              <a:rPr lang="en-US" altLang="zh-TW" b="1" dirty="0"/>
              <a:t>With a user </a:t>
            </a:r>
            <a:r>
              <a:rPr lang="en-US" altLang="zh-TW" b="1" dirty="0" smtClean="0"/>
              <a:t>defined</a:t>
            </a:r>
            <a:r>
              <a:rPr lang="en-US" altLang="zh-TW" b="1" dirty="0"/>
              <a:t> </a:t>
            </a:r>
            <a:r>
              <a:rPr lang="en-US" altLang="zh-TW" b="1" dirty="0" smtClean="0"/>
              <a:t>exception class</a:t>
            </a:r>
            <a:r>
              <a:rPr lang="en-US" altLang="zh-TW" dirty="0" smtClean="0"/>
              <a:t> derived from a </a:t>
            </a:r>
            <a:r>
              <a:rPr lang="en-US" altLang="zh-TW" dirty="0"/>
              <a:t>built-in </a:t>
            </a:r>
            <a:r>
              <a:rPr lang="en-US" altLang="zh-TW" dirty="0" smtClean="0"/>
              <a:t>exception class (as explained later this semester)</a:t>
            </a:r>
            <a:endParaRPr lang="en-US" altLang="zh-TW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180" lvl="1" indent="0">
              <a:buNone/>
            </a:pPr>
            <a:endParaRPr lang="en-US" altLang="zh-TW" dirty="0" smtClean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1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an Exception</a:t>
            </a:r>
          </a:p>
        </p:txBody>
      </p:sp>
    </p:spTree>
    <p:extLst>
      <p:ext uri="{BB962C8B-B14F-4D97-AF65-F5344CB8AC3E}">
        <p14:creationId xmlns:p14="http://schemas.microsoft.com/office/powerpoint/2010/main" val="120901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304801"/>
            <a:ext cx="8686800" cy="5562600"/>
          </a:xfrm>
        </p:spPr>
        <p:txBody>
          <a:bodyPr/>
          <a:lstStyle/>
          <a:p>
            <a:pPr marL="0" indent="0">
              <a:spcAft>
                <a:spcPts val="1800"/>
              </a:spcAft>
              <a:buNone/>
              <a:defRPr/>
            </a:pPr>
            <a:r>
              <a:rPr lang="en-US" sz="3200" dirty="0">
                <a:solidFill>
                  <a:schemeClr val="bg1"/>
                </a:solidFill>
              </a:rPr>
              <a:t>While we’re on the topic of exceptions, notice.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rgbClr val="FF0000"/>
                </a:solidFill>
              </a:rPr>
              <a:t>Notice the two uses of raise, below: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division():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	x=float(input("Enter a # &lt; 5: "))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	if (x&gt;=5):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			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raise </a:t>
            </a:r>
            <a:r>
              <a:rPr lang="en-US" sz="24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("# too big")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2"/>
                </a:solidFill>
                <a:latin typeface="Lucida Console" panose="020B0609040504020204" pitchFamily="49" charset="0"/>
              </a:rPr>
              <a:t>    	print("8 /",x," =",8/x)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2"/>
                </a:solidFill>
                <a:latin typeface="Lucida Console" panose="020B0609040504020204" pitchFamily="49" charset="0"/>
              </a:rPr>
              <a:t>try: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2"/>
                </a:solidFill>
                <a:latin typeface="Lucida Console" panose="020B0609040504020204" pitchFamily="49" charset="0"/>
              </a:rPr>
              <a:t>    division()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2"/>
                </a:solidFill>
                <a:latin typeface="Lucida Console" panose="020B0609040504020204" pitchFamily="49" charset="0"/>
              </a:rPr>
              <a:t>except </a:t>
            </a:r>
            <a:r>
              <a:rPr lang="en-US" sz="2400" b="1" dirty="0" err="1">
                <a:solidFill>
                  <a:schemeClr val="tx2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400" b="1" dirty="0">
                <a:solidFill>
                  <a:schemeClr val="tx2"/>
                </a:solidFill>
                <a:latin typeface="Lucida Console" panose="020B0609040504020204" pitchFamily="49" charset="0"/>
              </a:rPr>
              <a:t> as error: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2"/>
                </a:solidFill>
                <a:latin typeface="Lucida Console" panose="020B0609040504020204" pitchFamily="49" charset="0"/>
              </a:rPr>
              <a:t>    print(error)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2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except: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print ("Other error.")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print("Done")</a:t>
            </a: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4335462" y="4267201"/>
            <a:ext cx="4876800" cy="1676400"/>
          </a:xfrm>
          <a:prstGeom prst="wedgeRoundRectCallout">
            <a:avLst>
              <a:gd name="adj1" fmla="val -82497"/>
              <a:gd name="adj2" fmla="val -14552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We had to re-raise it here, so the program would crash out. We put nothing after “raise”, so the call stack will be preserved.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1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an Exception</a:t>
            </a:r>
          </a:p>
        </p:txBody>
      </p:sp>
    </p:spTree>
    <p:extLst>
      <p:ext uri="{BB962C8B-B14F-4D97-AF65-F5344CB8AC3E}">
        <p14:creationId xmlns:p14="http://schemas.microsoft.com/office/powerpoint/2010/main" val="400758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38200"/>
            <a:ext cx="8686800" cy="6019800"/>
          </a:xfrm>
        </p:spPr>
        <p:txBody>
          <a:bodyPr/>
          <a:lstStyle/>
          <a:p>
            <a:pPr marL="0" indent="0">
              <a:lnSpc>
                <a:spcPct val="80000"/>
              </a:lnSpc>
              <a:spcAft>
                <a:spcPts val="600"/>
              </a:spcAft>
              <a:buNone/>
              <a:defRPr/>
            </a:pPr>
            <a:r>
              <a:rPr lang="en-US" sz="2800" dirty="0">
                <a:solidFill>
                  <a:schemeClr val="tx1"/>
                </a:solidFill>
              </a:rPr>
              <a:t>A raise exits all blocks (if blocks/ loop bodies/ function bodies, 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) until the nearest enclosing “try” (if any):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division():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x=float(input("Enter a # &lt; 5: "))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if (x&gt;=5):raise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("# too big")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print("8 /",x," =",8/x)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f3():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f2():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except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as error: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print("f2()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caught:",error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raise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f1():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f2()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f1()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except: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print("main caught an error")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raise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335462" y="2743200"/>
            <a:ext cx="5105400" cy="838200"/>
          </a:xfrm>
          <a:prstGeom prst="wedgeRoundRectCallout">
            <a:avLst>
              <a:gd name="adj1" fmla="val -77212"/>
              <a:gd name="adj2" fmla="val -10218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Q:But what if the number is OK?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A:Then we just move on...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335462" y="2743200"/>
            <a:ext cx="5105400" cy="838200"/>
          </a:xfrm>
          <a:prstGeom prst="wedgeRoundRectCallout">
            <a:avLst>
              <a:gd name="adj1" fmla="val -77212"/>
              <a:gd name="adj2" fmla="val -10218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Q:What if the number is too big?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A:Then we get a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syntax error</a:t>
            </a: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.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4335462" y="4876800"/>
            <a:ext cx="5105400" cy="838200"/>
          </a:xfrm>
          <a:prstGeom prst="wedgeRoundRectCallout">
            <a:avLst>
              <a:gd name="adj1" fmla="val -82497"/>
              <a:gd name="adj2" fmla="val -14552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This is the first line of __main__ code.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4335462" y="914400"/>
            <a:ext cx="5105400" cy="838200"/>
          </a:xfrm>
          <a:prstGeom prst="wedgeRoundRectCallout">
            <a:avLst>
              <a:gd name="adj1" fmla="val -62531"/>
              <a:gd name="adj2" fmla="val 39099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So, we begin running this function…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335462" y="3962400"/>
            <a:ext cx="5105400" cy="838200"/>
          </a:xfrm>
          <a:prstGeom prst="wedgeRoundRectCallout">
            <a:avLst>
              <a:gd name="adj1" fmla="val -87488"/>
              <a:gd name="adj2" fmla="val 82020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And, since this call wasn’t inside a tr</a:t>
            </a:r>
            <a:r>
              <a:rPr lang="en-US" sz="2800" spc="-278" dirty="0">
                <a:solidFill>
                  <a:srgbClr val="3333CC"/>
                </a:solidFill>
                <a:latin typeface="Times New Roman" charset="0"/>
              </a:rPr>
              <a:t>y</a:t>
            </a: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,</a:t>
            </a:r>
            <a:r>
              <a:rPr lang="en-US" sz="2592" dirty="0">
                <a:solidFill>
                  <a:srgbClr val="3333CC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that means</a:t>
            </a:r>
            <a:r>
              <a:rPr lang="en-US" sz="2222" dirty="0">
                <a:solidFill>
                  <a:srgbClr val="3333CC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we directly</a:t>
            </a:r>
            <a:r>
              <a:rPr lang="en-US" sz="2592" dirty="0">
                <a:solidFill>
                  <a:srgbClr val="3333CC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cras</a:t>
            </a:r>
            <a:r>
              <a:rPr lang="en-US" sz="2800" spc="-139" dirty="0">
                <a:solidFill>
                  <a:srgbClr val="3333CC"/>
                </a:solidFill>
                <a:latin typeface="Times New Roman" charset="0"/>
              </a:rPr>
              <a:t>h</a:t>
            </a:r>
            <a:r>
              <a:rPr lang="en-US" sz="2800" spc="-278" dirty="0">
                <a:solidFill>
                  <a:srgbClr val="3333CC"/>
                </a:solidFill>
                <a:latin typeface="Times New Roman" charset="0"/>
              </a:rPr>
              <a:t>.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 flipH="1" flipV="1">
            <a:off x="5021262" y="2362200"/>
            <a:ext cx="2667000" cy="9144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1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an Exception</a:t>
            </a:r>
          </a:p>
        </p:txBody>
      </p:sp>
      <p:sp>
        <p:nvSpPr>
          <p:cNvPr id="11" name="Rounded Rectangular Callout 5"/>
          <p:cNvSpPr/>
          <p:nvPr/>
        </p:nvSpPr>
        <p:spPr bwMode="auto">
          <a:xfrm>
            <a:off x="4335462" y="4800600"/>
            <a:ext cx="5105400" cy="1257300"/>
          </a:xfrm>
          <a:prstGeom prst="wedgeRoundRectCallout">
            <a:avLst>
              <a:gd name="adj1" fmla="val 17608"/>
              <a:gd name="adj2" fmla="val -156729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3333CC"/>
                </a:solidFill>
                <a:latin typeface="Times New Roman" charset="0"/>
              </a:rPr>
              <a:t>Q:Shouldn’t it be a </a:t>
            </a:r>
            <a:r>
              <a:rPr lang="en-US" sz="2800" dirty="0" smtClean="0">
                <a:solidFill>
                  <a:srgbClr val="FF0000"/>
                </a:solidFill>
                <a:latin typeface="Times New Roman" charset="0"/>
              </a:rPr>
              <a:t>value error</a:t>
            </a:r>
            <a:r>
              <a:rPr lang="en-US" sz="2800" dirty="0" smtClean="0">
                <a:solidFill>
                  <a:srgbClr val="3333CC"/>
                </a:solidFill>
                <a:latin typeface="Times New Roman" charset="0"/>
              </a:rPr>
              <a:t>?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3333CC"/>
                </a:solidFill>
                <a:latin typeface="Times New Roman" charset="0"/>
              </a:rPr>
              <a:t>A:Yes, logically. But you asked for a syntax error, so you get that.</a:t>
            </a:r>
            <a:endParaRPr lang="en-US" sz="2800" dirty="0">
              <a:solidFill>
                <a:srgbClr val="3333CC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62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6" grpId="1" animBg="1"/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  <p:bldP spid="11" grpId="0" animBg="1"/>
      <p:bldP spid="11" grpId="1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38200"/>
            <a:ext cx="8686800" cy="6019800"/>
          </a:xfrm>
        </p:spPr>
        <p:txBody>
          <a:bodyPr/>
          <a:lstStyle/>
          <a:p>
            <a:pPr marL="0" indent="0">
              <a:lnSpc>
                <a:spcPct val="80000"/>
              </a:lnSpc>
              <a:spcAft>
                <a:spcPts val="600"/>
              </a:spcAft>
              <a:buNone/>
              <a:defRPr/>
            </a:pPr>
            <a:r>
              <a:rPr lang="en-US" sz="2800" dirty="0">
                <a:solidFill>
                  <a:schemeClr val="tx1"/>
                </a:solidFill>
              </a:rPr>
              <a:t>A raise exits all blocks (if blocks/ loop bodies/ function bodies, 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) until the nearest enclosing “try” (if any):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division():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x=float(input("Enter a # &lt; 5: "))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if (x&gt;=5):raise </a:t>
            </a:r>
            <a:r>
              <a:rPr lang="en-US" sz="20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("# too big")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print("8 /",x," =",8/x)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f3():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f2():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except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as error: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print("f2()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caught:",error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raise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f1():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f2()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f1()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except: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print("main caught an error")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raise</a:t>
            </a: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4335462" y="1219200"/>
            <a:ext cx="5105400" cy="838200"/>
          </a:xfrm>
          <a:prstGeom prst="wedgeRoundRectCallout">
            <a:avLst>
              <a:gd name="adj1" fmla="val -39629"/>
              <a:gd name="adj2" fmla="val 80231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Q:But what if the number isn’t 0?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A:Then we move on, returning…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4335462" y="1219200"/>
            <a:ext cx="5105400" cy="838200"/>
          </a:xfrm>
          <a:prstGeom prst="wedgeRoundRectCallout">
            <a:avLst>
              <a:gd name="adj1" fmla="val -39629"/>
              <a:gd name="adj2" fmla="val 80231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Q:But what if the number is 0?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A:ZeroDivisionError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335462" y="2743200"/>
            <a:ext cx="5105400" cy="838200"/>
          </a:xfrm>
          <a:prstGeom prst="wedgeRoundRectCallout">
            <a:avLst>
              <a:gd name="adj1" fmla="val -77212"/>
              <a:gd name="adj2" fmla="val -10218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Q:But what if the number is OK?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A:Then we just move on...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335462" y="3048000"/>
            <a:ext cx="5105400" cy="838200"/>
          </a:xfrm>
          <a:prstGeom prst="wedgeRoundRectCallout">
            <a:avLst>
              <a:gd name="adj1" fmla="val -77212"/>
              <a:gd name="adj2" fmla="val -10218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And so we end up here…</a:t>
            </a:r>
            <a:endParaRPr lang="en-US" sz="2800" dirty="0">
              <a:solidFill>
                <a:srgbClr val="3333CC"/>
              </a:solidFill>
              <a:latin typeface="Times New Roman" charset="0"/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4335462" y="3962400"/>
            <a:ext cx="5105400" cy="1600200"/>
          </a:xfrm>
          <a:prstGeom prst="wedgeRoundRectCallout">
            <a:avLst>
              <a:gd name="adj1" fmla="val -85433"/>
              <a:gd name="adj2" fmla="val 24877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Once again we’re back here </a:t>
            </a:r>
            <a:br>
              <a:rPr lang="en-US" sz="2800" dirty="0">
                <a:solidFill>
                  <a:srgbClr val="3333CC"/>
                </a:solidFill>
                <a:latin typeface="Times New Roman" charset="0"/>
              </a:rPr>
            </a:b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(but now for a different reason). </a:t>
            </a:r>
            <a:br>
              <a:rPr lang="en-US" sz="2800" dirty="0">
                <a:solidFill>
                  <a:srgbClr val="3333CC"/>
                </a:solidFill>
                <a:latin typeface="Times New Roman" charset="0"/>
              </a:rPr>
            </a:b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So again, since this call wasn’t inside a try, we directly crash.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1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an Exception</a:t>
            </a:r>
          </a:p>
        </p:txBody>
      </p:sp>
    </p:spTree>
    <p:extLst>
      <p:ext uri="{BB962C8B-B14F-4D97-AF65-F5344CB8AC3E}">
        <p14:creationId xmlns:p14="http://schemas.microsoft.com/office/powerpoint/2010/main" val="312093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8" grpId="1" animBg="1"/>
      <p:bldP spid="9" grpId="0" animBg="1"/>
      <p:bldP spid="10" grpId="0" animBg="1"/>
      <p:bldP spid="10" grpId="1" animBg="1"/>
      <p:bldP spid="11" grpId="0" animBg="1"/>
      <p:bldP spid="11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38200"/>
            <a:ext cx="8686800" cy="6019800"/>
          </a:xfrm>
        </p:spPr>
        <p:txBody>
          <a:bodyPr/>
          <a:lstStyle/>
          <a:p>
            <a:pPr marL="0" indent="0">
              <a:lnSpc>
                <a:spcPct val="80000"/>
              </a:lnSpc>
              <a:spcAft>
                <a:spcPts val="600"/>
              </a:spcAft>
              <a:buNone/>
              <a:defRPr/>
            </a:pPr>
            <a:r>
              <a:rPr lang="en-US" sz="2800" dirty="0">
                <a:solidFill>
                  <a:schemeClr val="tx1"/>
                </a:solidFill>
              </a:rPr>
              <a:t>A raise exits all blocks (if blocks/ loop bodies/ function bodies, 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) until the nearest enclosing “try” (if any):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division():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x=float(input("Enter a # &lt; 5: "))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if (x&gt;=5):raise </a:t>
            </a:r>
            <a:r>
              <a:rPr lang="en-US" sz="20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("# too big")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print("8 /",x," =",8/x)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f3():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f2():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except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as error: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print("f2()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caught:",error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raise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f1():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f2()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f1()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except: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print("main caught an error")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raise</a:t>
            </a: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4335462" y="1219200"/>
            <a:ext cx="5105400" cy="838200"/>
          </a:xfrm>
          <a:prstGeom prst="wedgeRoundRectCallout">
            <a:avLst>
              <a:gd name="adj1" fmla="val -39629"/>
              <a:gd name="adj2" fmla="val 80231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Q:But what if the number isn’t 0?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A:Then we move on, returning…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335462" y="5791200"/>
            <a:ext cx="5105400" cy="838200"/>
          </a:xfrm>
          <a:prstGeom prst="wedgeRoundRectCallout">
            <a:avLst>
              <a:gd name="adj1" fmla="val -102463"/>
              <a:gd name="adj2" fmla="val -95030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And so we end up here…</a:t>
            </a:r>
            <a:endParaRPr lang="en-US" sz="2800" dirty="0">
              <a:solidFill>
                <a:srgbClr val="3333CC"/>
              </a:solidFill>
              <a:latin typeface="Times New Roman" charset="0"/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4335462" y="5943600"/>
            <a:ext cx="5105400" cy="838200"/>
          </a:xfrm>
          <a:prstGeom prst="wedgeRoundRectCallout">
            <a:avLst>
              <a:gd name="adj1" fmla="val -92480"/>
              <a:gd name="adj2" fmla="val -86088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Now a call-chain begins…</a:t>
            </a:r>
            <a:endParaRPr lang="en-US" sz="2800" dirty="0">
              <a:solidFill>
                <a:srgbClr val="3333CC"/>
              </a:solidFill>
              <a:latin typeface="Times New Roman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1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an Exception</a:t>
            </a:r>
          </a:p>
        </p:txBody>
      </p:sp>
    </p:spTree>
    <p:extLst>
      <p:ext uri="{BB962C8B-B14F-4D97-AF65-F5344CB8AC3E}">
        <p14:creationId xmlns:p14="http://schemas.microsoft.com/office/powerpoint/2010/main" val="193404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3" presetClass="emph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3" presetClass="emph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3" presetClass="emph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66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00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33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33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33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 animBg="1"/>
      <p:bldP spid="10" grpId="1" animBg="1"/>
      <p:bldP spid="13" grpId="0" animBg="1"/>
      <p:bldP spid="13" grpId="1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38200"/>
            <a:ext cx="8686800" cy="6019800"/>
          </a:xfrm>
        </p:spPr>
        <p:txBody>
          <a:bodyPr/>
          <a:lstStyle/>
          <a:p>
            <a:pPr marL="0" indent="0">
              <a:lnSpc>
                <a:spcPct val="80000"/>
              </a:lnSpc>
              <a:spcAft>
                <a:spcPts val="600"/>
              </a:spcAft>
              <a:buNone/>
              <a:defRPr/>
            </a:pPr>
            <a:r>
              <a:rPr lang="en-US" sz="2800" dirty="0">
                <a:solidFill>
                  <a:schemeClr val="tx1"/>
                </a:solidFill>
              </a:rPr>
              <a:t>A raise exits all blocks (if blocks/ loop bodies/ function bodies, 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) until the nearest enclosing “try” (if any):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division():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   x=float(input("Enter a # &lt; 5: "))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   if (x&gt;=5):raise </a:t>
            </a:r>
            <a:r>
              <a:rPr lang="en-US" sz="2000" b="1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("# too big")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print("8 /",x," =",8/x)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 f3():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  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f2():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006600"/>
                </a:solidFill>
                <a:latin typeface="Lucida Console" panose="020B0609040504020204" pitchFamily="49" charset="0"/>
              </a:rPr>
              <a:t>     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except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as error: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print("f2()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caught:",error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raise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f1():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f2()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  f1()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except: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print("main caught an error")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raise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54062" y="1600200"/>
            <a:ext cx="8153400" cy="5181600"/>
            <a:chOff x="152400" y="1600200"/>
            <a:chExt cx="8153400" cy="5181600"/>
          </a:xfrm>
        </p:grpSpPr>
        <p:sp>
          <p:nvSpPr>
            <p:cNvPr id="2" name="Rectangle 1"/>
            <p:cNvSpPr/>
            <p:nvPr/>
          </p:nvSpPr>
          <p:spPr bwMode="auto">
            <a:xfrm>
              <a:off x="152400" y="1600200"/>
              <a:ext cx="8153400" cy="22098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84655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152400" y="4542020"/>
              <a:ext cx="8153400" cy="223978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84655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9" name="Rounded Rectangular Callout 8"/>
          <p:cNvSpPr/>
          <p:nvPr/>
        </p:nvSpPr>
        <p:spPr bwMode="auto">
          <a:xfrm>
            <a:off x="4335462" y="4648200"/>
            <a:ext cx="5105400" cy="838200"/>
          </a:xfrm>
          <a:prstGeom prst="wedgeRoundRectCallout">
            <a:avLst>
              <a:gd name="adj1" fmla="val -92773"/>
              <a:gd name="adj2" fmla="val -182660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OK. This was inside of a try, so this is where we end up.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4335462" y="2743200"/>
            <a:ext cx="5105400" cy="838200"/>
          </a:xfrm>
          <a:prstGeom prst="wedgeRoundRectCallout">
            <a:avLst>
              <a:gd name="adj1" fmla="val -77212"/>
              <a:gd name="adj2" fmla="val -10218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Q:What if the number is too big?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A:Then we get a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syntax error</a:t>
            </a: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.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flipH="1" flipV="1">
            <a:off x="5021262" y="2362200"/>
            <a:ext cx="2667000" cy="9144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Rounded Rectangular Callout 17"/>
          <p:cNvSpPr/>
          <p:nvPr/>
        </p:nvSpPr>
        <p:spPr bwMode="auto">
          <a:xfrm>
            <a:off x="4335462" y="3962400"/>
            <a:ext cx="5105400" cy="838200"/>
          </a:xfrm>
          <a:prstGeom prst="wedgeRoundRectCallout">
            <a:avLst>
              <a:gd name="adj1" fmla="val -100994"/>
              <a:gd name="adj2" fmla="val -17908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Going up the call stack, this wasn’t inside a try, so we keep going up.</a:t>
            </a:r>
          </a:p>
        </p:txBody>
      </p:sp>
      <p:sp>
        <p:nvSpPr>
          <p:cNvPr id="19" name="Rounded Rectangular Callout 18"/>
          <p:cNvSpPr/>
          <p:nvPr/>
        </p:nvSpPr>
        <p:spPr bwMode="auto">
          <a:xfrm>
            <a:off x="4335462" y="5943600"/>
            <a:ext cx="5105400" cy="838200"/>
          </a:xfrm>
          <a:prstGeom prst="wedgeRoundRectCallout">
            <a:avLst>
              <a:gd name="adj1" fmla="val -101875"/>
              <a:gd name="adj2" fmla="val -100395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(Yes, yes, there’s another try. But we take closest on the call stack).</a:t>
            </a:r>
          </a:p>
        </p:txBody>
      </p:sp>
      <p:sp>
        <p:nvSpPr>
          <p:cNvPr id="22" name="Rounded Rectangular Callout 21"/>
          <p:cNvSpPr/>
          <p:nvPr/>
        </p:nvSpPr>
        <p:spPr bwMode="auto">
          <a:xfrm>
            <a:off x="4335462" y="5562600"/>
            <a:ext cx="5105400" cy="838200"/>
          </a:xfrm>
          <a:prstGeom prst="wedgeRoundRectCallout">
            <a:avLst>
              <a:gd name="adj1" fmla="val -75743"/>
              <a:gd name="adj2" fmla="val -195179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So we do this.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1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an Exception</a:t>
            </a:r>
          </a:p>
        </p:txBody>
      </p:sp>
    </p:spTree>
    <p:extLst>
      <p:ext uri="{BB962C8B-B14F-4D97-AF65-F5344CB8AC3E}">
        <p14:creationId xmlns:p14="http://schemas.microsoft.com/office/powerpoint/2010/main" val="110084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8" grpId="0" animBg="1"/>
      <p:bldP spid="8" grpId="1" animBg="1"/>
      <p:bldP spid="18" grpId="0" animBg="1"/>
      <p:bldP spid="18" grpId="1" animBg="1"/>
      <p:bldP spid="19" grpId="0" animBg="1"/>
      <p:bldP spid="19" grpId="1" animBg="1"/>
      <p:bldP spid="2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38200"/>
            <a:ext cx="8686800" cy="5562600"/>
          </a:xfrm>
        </p:spPr>
        <p:txBody>
          <a:bodyPr/>
          <a:lstStyle/>
          <a:p>
            <a:pPr marL="0" indent="0">
              <a:lnSpc>
                <a:spcPct val="80000"/>
              </a:lnSpc>
              <a:spcAft>
                <a:spcPts val="600"/>
              </a:spcAft>
              <a:buNone/>
              <a:defRPr/>
            </a:pPr>
            <a:r>
              <a:rPr lang="en-US" sz="2800" dirty="0">
                <a:solidFill>
                  <a:schemeClr val="tx1"/>
                </a:solidFill>
              </a:rPr>
              <a:t>A raise exits all blocks (if blocks/ loop bodies/ function bodies, 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) until the nearest enclosing “try” (if any):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division():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   x=float(input("Enter a # &lt; 5: "))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   if (x&gt;=5):raise </a:t>
            </a:r>
            <a:r>
              <a:rPr lang="en-US" sz="2000" b="1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("# too big")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print("8 /",x," =",8/x)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f3():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  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f2():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 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  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except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as error: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print("f2()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caught:",error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raise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f1():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  f2()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  f1()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except: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print("main caught an error")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raise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754062" y="1600199"/>
            <a:ext cx="8153400" cy="4410857"/>
          </a:xfrm>
          <a:prstGeom prst="rect">
            <a:avLst/>
          </a:prstGeom>
          <a:solidFill>
            <a:srgbClr val="FFFFFF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335462" y="2743200"/>
            <a:ext cx="5105400" cy="838200"/>
          </a:xfrm>
          <a:prstGeom prst="wedgeRoundRectCallout">
            <a:avLst>
              <a:gd name="adj1" fmla="val -77212"/>
              <a:gd name="adj2" fmla="val -10218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Q:But what if the number is OK?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A:Then we just move on...</a:t>
            </a: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4335462" y="1219200"/>
            <a:ext cx="5105400" cy="838200"/>
          </a:xfrm>
          <a:prstGeom prst="wedgeRoundRectCallout">
            <a:avLst>
              <a:gd name="adj1" fmla="val -39629"/>
              <a:gd name="adj2" fmla="val 80231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Q:But what if the number is 0?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A:ZeroDivisionError</a:t>
            </a: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4335462" y="3048000"/>
            <a:ext cx="5105400" cy="838200"/>
          </a:xfrm>
          <a:prstGeom prst="wedgeRoundRectCallout">
            <a:avLst>
              <a:gd name="adj1" fmla="val -77212"/>
              <a:gd name="adj2" fmla="val -10218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And so we end up here…</a:t>
            </a:r>
            <a:endParaRPr lang="en-US" sz="2800" dirty="0">
              <a:solidFill>
                <a:srgbClr val="3333CC"/>
              </a:solidFill>
              <a:latin typeface="Times New Roman" charset="0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4335462" y="3962400"/>
            <a:ext cx="5105400" cy="838200"/>
          </a:xfrm>
          <a:prstGeom prst="wedgeRoundRectCallout">
            <a:avLst>
              <a:gd name="adj1" fmla="val -100994"/>
              <a:gd name="adj2" fmla="val -17908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Going up the call stack, this wasn’t inside a try, so we keep going up.</a:t>
            </a: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4335462" y="4953000"/>
            <a:ext cx="5105400" cy="1143000"/>
          </a:xfrm>
          <a:prstGeom prst="wedgeRoundRectCallout">
            <a:avLst>
              <a:gd name="adj1" fmla="val -92185"/>
              <a:gd name="adj2" fmla="val -178606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Going up the call stack, </a:t>
            </a:r>
            <a:r>
              <a:rPr lang="en-US" sz="2800" b="1" spc="-30" dirty="0">
                <a:solidFill>
                  <a:srgbClr val="3333CC"/>
                </a:solidFill>
                <a:latin typeface="Times New Roman" charset="0"/>
              </a:rPr>
              <a:t>this try doesn’t trap this exception,</a:t>
            </a: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 so we keep going up.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6240463" y="2057400"/>
            <a:ext cx="1066800" cy="34671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 flipV="1">
            <a:off x="3040062" y="4038600"/>
            <a:ext cx="2590800" cy="14859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Rounded Rectangular Callout 22"/>
          <p:cNvSpPr/>
          <p:nvPr/>
        </p:nvSpPr>
        <p:spPr bwMode="auto">
          <a:xfrm>
            <a:off x="4335462" y="6096000"/>
            <a:ext cx="5105400" cy="838200"/>
          </a:xfrm>
          <a:prstGeom prst="wedgeRoundRectCallout">
            <a:avLst>
              <a:gd name="adj1" fmla="val -93360"/>
              <a:gd name="adj2" fmla="val -4674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So we end up here...</a:t>
            </a:r>
          </a:p>
        </p:txBody>
      </p:sp>
      <p:sp>
        <p:nvSpPr>
          <p:cNvPr id="24" name="Rounded Rectangular Callout 23"/>
          <p:cNvSpPr/>
          <p:nvPr/>
        </p:nvSpPr>
        <p:spPr bwMode="auto">
          <a:xfrm>
            <a:off x="4335462" y="4953000"/>
            <a:ext cx="5105400" cy="838200"/>
          </a:xfrm>
          <a:prstGeom prst="wedgeRoundRectCallout">
            <a:avLst>
              <a:gd name="adj1" fmla="val -90424"/>
              <a:gd name="adj2" fmla="val 58771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(Notice that this gets skipped…)</a:t>
            </a:r>
          </a:p>
        </p:txBody>
      </p:sp>
      <p:sp>
        <p:nvSpPr>
          <p:cNvPr id="28" name="Rounded Rectangular Callout 27"/>
          <p:cNvSpPr/>
          <p:nvPr/>
        </p:nvSpPr>
        <p:spPr bwMode="auto">
          <a:xfrm>
            <a:off x="4335462" y="5334000"/>
            <a:ext cx="5105400" cy="838200"/>
          </a:xfrm>
          <a:prstGeom prst="wedgeRoundRectCallout">
            <a:avLst>
              <a:gd name="adj1" fmla="val -59594"/>
              <a:gd name="adj2" fmla="val 53406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And we do this…</a:t>
            </a: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1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an Exception</a:t>
            </a:r>
          </a:p>
        </p:txBody>
      </p:sp>
    </p:spTree>
    <p:extLst>
      <p:ext uri="{BB962C8B-B14F-4D97-AF65-F5344CB8AC3E}">
        <p14:creationId xmlns:p14="http://schemas.microsoft.com/office/powerpoint/2010/main" val="389589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33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0" grpId="1" build="allAtOnce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23" grpId="0" animBg="1"/>
      <p:bldP spid="23" grpId="1" animBg="1"/>
      <p:bldP spid="24" grpId="0" animBg="1"/>
      <p:bldP spid="24" grpId="1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38200"/>
            <a:ext cx="8686800" cy="6019800"/>
          </a:xfrm>
        </p:spPr>
        <p:txBody>
          <a:bodyPr/>
          <a:lstStyle/>
          <a:p>
            <a:pPr marL="0" indent="0">
              <a:lnSpc>
                <a:spcPct val="80000"/>
              </a:lnSpc>
              <a:spcAft>
                <a:spcPts val="600"/>
              </a:spcAft>
              <a:buNone/>
              <a:defRPr/>
            </a:pPr>
            <a:r>
              <a:rPr lang="en-US" sz="2800" dirty="0">
                <a:solidFill>
                  <a:schemeClr val="tx1"/>
                </a:solidFill>
              </a:rPr>
              <a:t>A raise exits all blocks (if blocks/ loop bodies/ function bodies, </a:t>
            </a:r>
            <a:r>
              <a:rPr lang="en-US" sz="2800" dirty="0" err="1">
                <a:solidFill>
                  <a:schemeClr val="tx1"/>
                </a:solidFill>
              </a:rPr>
              <a:t>etc</a:t>
            </a:r>
            <a:r>
              <a:rPr lang="en-US" sz="2800" dirty="0">
                <a:solidFill>
                  <a:schemeClr val="tx1"/>
                </a:solidFill>
              </a:rPr>
              <a:t>) until the nearest enclosing “try” (if any):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division():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   x=float(input("Enter a # &lt; 5: "))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   if (x&gt;=5):raise </a:t>
            </a:r>
            <a:r>
              <a:rPr lang="en-US" sz="2000" b="1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("# too big")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print("8 /",x," =",8/x)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f3():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   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f2():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except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as error: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print("f2() </a:t>
            </a: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caught:",error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raise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f1():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f2()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division()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try: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sz="2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f1()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f3()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except: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print("main caught an error")</a:t>
            </a:r>
          </a:p>
          <a:p>
            <a:pPr marL="0" indent="344473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raise</a:t>
            </a:r>
          </a:p>
        </p:txBody>
      </p:sp>
      <p:sp>
        <p:nvSpPr>
          <p:cNvPr id="18" name="Rounded Rectangular Callout 17"/>
          <p:cNvSpPr/>
          <p:nvPr/>
        </p:nvSpPr>
        <p:spPr bwMode="auto">
          <a:xfrm>
            <a:off x="4335462" y="4572000"/>
            <a:ext cx="5105400" cy="838200"/>
          </a:xfrm>
          <a:prstGeom prst="wedgeRoundRectCallout">
            <a:avLst>
              <a:gd name="adj1" fmla="val -91892"/>
              <a:gd name="adj2" fmla="val 89174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If the earlier-entered numbers are all valid, we end up here.</a:t>
            </a:r>
            <a:endParaRPr lang="en-US" sz="2800" dirty="0">
              <a:solidFill>
                <a:srgbClr val="3333CC"/>
              </a:solidFill>
              <a:latin typeface="Times New Roman" charset="0"/>
            </a:endParaRPr>
          </a:p>
        </p:txBody>
      </p:sp>
      <p:sp>
        <p:nvSpPr>
          <p:cNvPr id="19" name="Rounded Rectangular Callout 18"/>
          <p:cNvSpPr/>
          <p:nvPr/>
        </p:nvSpPr>
        <p:spPr bwMode="auto">
          <a:xfrm>
            <a:off x="4335462" y="5410200"/>
            <a:ext cx="5105400" cy="1295400"/>
          </a:xfrm>
          <a:prstGeom prst="wedgeRoundRectCallout">
            <a:avLst>
              <a:gd name="adj1" fmla="val -94535"/>
              <a:gd name="adj2" fmla="val 7750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30" dirty="0">
                <a:solidFill>
                  <a:srgbClr val="3333CC"/>
                </a:solidFill>
                <a:latin typeface="Times New Roman" charset="0"/>
              </a:rPr>
              <a:t>In this case, all errors will trap here, because f2 (and its trap) is not on the call stack.</a:t>
            </a:r>
            <a:endParaRPr lang="en-US" sz="2800" dirty="0">
              <a:solidFill>
                <a:srgbClr val="3333CC"/>
              </a:solidFill>
              <a:latin typeface="Times New Roman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1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an Exception</a:t>
            </a:r>
          </a:p>
        </p:txBody>
      </p:sp>
    </p:spTree>
    <p:extLst>
      <p:ext uri="{BB962C8B-B14F-4D97-AF65-F5344CB8AC3E}">
        <p14:creationId xmlns:p14="http://schemas.microsoft.com/office/powerpoint/2010/main" val="372079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769583"/>
            <a:ext cx="8686800" cy="5562600"/>
          </a:xfrm>
        </p:spPr>
        <p:txBody>
          <a:bodyPr/>
          <a:lstStyle/>
          <a:p>
            <a:pPr marL="0" indent="0">
              <a:spcAft>
                <a:spcPts val="1800"/>
              </a:spcAft>
              <a:buNone/>
              <a:defRPr/>
            </a:pPr>
            <a:r>
              <a:rPr lang="en-US" sz="3200" dirty="0">
                <a:solidFill>
                  <a:srgbClr val="FF0000"/>
                </a:solidFill>
              </a:rPr>
              <a:t>Notice how the “as” operation can capture the message that you create: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division():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	x=float(input("Enter a # &lt; 5: "))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	if (x&gt;=5):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			raise </a:t>
            </a:r>
            <a:r>
              <a:rPr lang="en-US" sz="24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("</a:t>
            </a:r>
            <a:r>
              <a:rPr lang="en-US" sz="2400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# too big</a:t>
            </a: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	print("8 /",x," =",8/x)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try: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division()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except </a:t>
            </a:r>
            <a:r>
              <a:rPr lang="en-US" sz="24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as</a:t>
            </a: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error</a:t>
            </a: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print(</a:t>
            </a:r>
            <a:r>
              <a:rPr lang="en-US" sz="24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error</a:t>
            </a: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raise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except: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    print ("Other error.")</a:t>
            </a:r>
          </a:p>
          <a:p>
            <a:pPr marL="0" indent="344473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Lucida Console" panose="020B0609040504020204" pitchFamily="49" charset="0"/>
              </a:rPr>
              <a:t>print("Done")</a:t>
            </a: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5783263" y="4884383"/>
            <a:ext cx="3657600" cy="1676400"/>
          </a:xfrm>
          <a:prstGeom prst="wedgeRoundRectCallout">
            <a:avLst>
              <a:gd name="adj1" fmla="val -78808"/>
              <a:gd name="adj2" fmla="val -5747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This “as” causes the error string ('# too big') to be referable by the variable named ‘error’.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1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an Exception</a:t>
            </a:r>
          </a:p>
        </p:txBody>
      </p:sp>
    </p:spTree>
    <p:extLst>
      <p:ext uri="{BB962C8B-B14F-4D97-AF65-F5344CB8AC3E}">
        <p14:creationId xmlns:p14="http://schemas.microsoft.com/office/powerpoint/2010/main" val="369213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012" y="857250"/>
            <a:ext cx="9010650" cy="6000750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3200" dirty="0" smtClean="0"/>
              <a:t>Some disruptions </a:t>
            </a:r>
            <a:r>
              <a:rPr lang="en-US" altLang="zh-TW" sz="3200" dirty="0"/>
              <a:t>are side effects of </a:t>
            </a:r>
            <a:r>
              <a:rPr lang="en-US" altLang="zh-TW" sz="3200" dirty="0" smtClean="0"/>
              <a:t>actions.</a:t>
            </a:r>
          </a:p>
          <a:p>
            <a:pPr lvl="1">
              <a:spcAft>
                <a:spcPts val="1800"/>
              </a:spcAft>
            </a:pPr>
            <a:r>
              <a:rPr lang="en-US" altLang="zh-TW" sz="3000" dirty="0" err="1" smtClean="0"/>
              <a:t>eg</a:t>
            </a:r>
            <a:r>
              <a:rPr lang="en-US" altLang="zh-TW" sz="3000" dirty="0"/>
              <a:t>. </a:t>
            </a:r>
            <a:r>
              <a:rPr lang="en-US" altLang="zh-TW" sz="30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altLang="zh-TW" sz="3000" dirty="0"/>
              <a:t> or </a:t>
            </a:r>
            <a:r>
              <a:rPr lang="en-US" altLang="zh-TW" sz="30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sz="3000" dirty="0" smtClean="0"/>
              <a:t> </a:t>
            </a:r>
            <a:endParaRPr lang="en-US" altLang="zh-TW" sz="3000" dirty="0"/>
          </a:p>
          <a:p>
            <a:r>
              <a:rPr lang="en-US" altLang="zh-TW" sz="3200" dirty="0"/>
              <a:t>Others are triggered explicitly by the program</a:t>
            </a:r>
            <a:r>
              <a:rPr lang="en-US" altLang="zh-TW" sz="3200" dirty="0" smtClean="0"/>
              <a:t>.</a:t>
            </a:r>
          </a:p>
          <a:p>
            <a:pPr lvl="1"/>
            <a:r>
              <a:rPr lang="en-US" altLang="zh-TW" sz="3200" dirty="0">
                <a:solidFill>
                  <a:srgbClr val="2D2DB9"/>
                </a:solidFill>
              </a:rPr>
              <a:t>Exceptions</a:t>
            </a:r>
          </a:p>
          <a:p>
            <a:pPr lvl="2"/>
            <a:r>
              <a:rPr lang="en-US" altLang="zh-TW" sz="2800" dirty="0">
                <a:solidFill>
                  <a:srgbClr val="FF0000"/>
                </a:solidFill>
              </a:rPr>
              <a:t>These are </a:t>
            </a:r>
            <a:r>
              <a:rPr lang="en-US" altLang="zh-TW" sz="2800" b="1" i="1" dirty="0">
                <a:solidFill>
                  <a:srgbClr val="FF0000"/>
                </a:solidFill>
              </a:rPr>
              <a:t>raised</a:t>
            </a:r>
            <a:r>
              <a:rPr lang="en-US" altLang="zh-TW" sz="2800" dirty="0">
                <a:solidFill>
                  <a:srgbClr val="FF0000"/>
                </a:solidFill>
              </a:rPr>
              <a:t> explicitly by the program.</a:t>
            </a:r>
          </a:p>
          <a:p>
            <a:pPr lvl="1"/>
            <a:r>
              <a:rPr lang="en-US" altLang="zh-TW" sz="3200" dirty="0">
                <a:solidFill>
                  <a:srgbClr val="2D2DB9"/>
                </a:solidFill>
              </a:rPr>
              <a:t>Assertions</a:t>
            </a:r>
          </a:p>
          <a:p>
            <a:pPr lvl="2"/>
            <a:r>
              <a:rPr lang="en-US" altLang="zh-TW" sz="2800" dirty="0"/>
              <a:t>An assertion is a claim that a certain condition must be true. If not, then an exception is raised. </a:t>
            </a:r>
            <a:endParaRPr lang="en-US" altLang="zh-TW" sz="2800" dirty="0" smtClean="0"/>
          </a:p>
          <a:p>
            <a:pPr lvl="2"/>
            <a:r>
              <a:rPr lang="en-US" altLang="zh-TW" sz="2800" dirty="0" smtClean="0"/>
              <a:t>Programmer add </a:t>
            </a:r>
            <a:r>
              <a:rPr lang="en-US" altLang="zh-TW" sz="2800" dirty="0"/>
              <a:t>assertions to catch unexpected bugs.  </a:t>
            </a:r>
            <a:endParaRPr lang="en-US" altLang="zh-TW" sz="36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E</a:t>
            </a:r>
            <a:r>
              <a:rPr lang="en-US" sz="4400" kern="0" dirty="0" smtClean="0">
                <a:latin typeface="Elephant" panose="02020904090505020303" pitchFamily="18" charset="0"/>
              </a:rPr>
              <a:t>xecution Disrupting Events</a:t>
            </a:r>
            <a:endParaRPr lang="en-US" sz="4400" kern="0" dirty="0">
              <a:latin typeface="Elephant" panose="02020904090505020303" pitchFamily="18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96863" y="857250"/>
            <a:ext cx="9067800" cy="13144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96863" y="4000500"/>
            <a:ext cx="9067800" cy="25527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2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012" y="857250"/>
            <a:ext cx="9010650" cy="6000750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altLang="zh-TW" sz="3200" dirty="0" smtClean="0"/>
              <a:t>Some disruptions </a:t>
            </a:r>
            <a:r>
              <a:rPr lang="en-US" altLang="zh-TW" sz="3200" dirty="0"/>
              <a:t>are side effects of </a:t>
            </a:r>
            <a:r>
              <a:rPr lang="en-US" altLang="zh-TW" sz="3200" dirty="0" smtClean="0"/>
              <a:t>actions.</a:t>
            </a:r>
          </a:p>
          <a:p>
            <a:pPr lvl="1">
              <a:spcAft>
                <a:spcPts val="1800"/>
              </a:spcAft>
            </a:pPr>
            <a:r>
              <a:rPr lang="en-US" altLang="zh-TW" sz="3000" dirty="0" err="1" smtClean="0"/>
              <a:t>eg</a:t>
            </a:r>
            <a:r>
              <a:rPr lang="en-US" altLang="zh-TW" sz="3000" dirty="0"/>
              <a:t>. </a:t>
            </a:r>
            <a:r>
              <a:rPr lang="en-US" altLang="zh-TW" sz="300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altLang="zh-TW" sz="3000" dirty="0"/>
              <a:t> or </a:t>
            </a:r>
            <a:r>
              <a:rPr lang="en-US" altLang="zh-TW" sz="30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TypeError</a:t>
            </a:r>
            <a:r>
              <a:rPr lang="en-US" altLang="zh-TW" sz="3000" dirty="0" smtClean="0"/>
              <a:t> </a:t>
            </a:r>
            <a:endParaRPr lang="en-US" altLang="zh-TW" sz="3000" dirty="0"/>
          </a:p>
          <a:p>
            <a:r>
              <a:rPr lang="en-US" altLang="zh-TW" sz="3200" dirty="0"/>
              <a:t>Others are triggered explicitly by the program</a:t>
            </a:r>
            <a:r>
              <a:rPr lang="en-US" altLang="zh-TW" sz="3200" dirty="0" smtClean="0"/>
              <a:t>.</a:t>
            </a:r>
          </a:p>
          <a:p>
            <a:pPr lvl="1"/>
            <a:r>
              <a:rPr lang="en-US" altLang="zh-TW" sz="3200" dirty="0">
                <a:solidFill>
                  <a:srgbClr val="2D2DB9"/>
                </a:solidFill>
              </a:rPr>
              <a:t>Exceptions</a:t>
            </a:r>
          </a:p>
          <a:p>
            <a:pPr lvl="2"/>
            <a:r>
              <a:rPr lang="en-US" altLang="zh-TW" sz="2800" dirty="0">
                <a:solidFill>
                  <a:srgbClr val="FF0000"/>
                </a:solidFill>
              </a:rPr>
              <a:t>These are </a:t>
            </a:r>
            <a:r>
              <a:rPr lang="en-US" altLang="zh-TW" sz="2800" b="1" i="1" dirty="0">
                <a:solidFill>
                  <a:srgbClr val="FF0000"/>
                </a:solidFill>
              </a:rPr>
              <a:t>raised</a:t>
            </a:r>
            <a:r>
              <a:rPr lang="en-US" altLang="zh-TW" sz="2800" dirty="0">
                <a:solidFill>
                  <a:srgbClr val="FF0000"/>
                </a:solidFill>
              </a:rPr>
              <a:t> explicitly by the program.</a:t>
            </a:r>
          </a:p>
          <a:p>
            <a:pPr lvl="1"/>
            <a:r>
              <a:rPr lang="en-US" altLang="zh-TW" sz="3200" dirty="0">
                <a:solidFill>
                  <a:srgbClr val="2D2DB9"/>
                </a:solidFill>
              </a:rPr>
              <a:t>Assertions</a:t>
            </a:r>
          </a:p>
          <a:p>
            <a:pPr lvl="2"/>
            <a:r>
              <a:rPr lang="en-US" altLang="zh-TW" sz="2800" dirty="0"/>
              <a:t>An assertion is a claim that a certain condition must be true. If not, then an exception is raised. </a:t>
            </a:r>
            <a:endParaRPr lang="en-US" altLang="zh-TW" sz="2800" dirty="0" smtClean="0"/>
          </a:p>
          <a:p>
            <a:pPr lvl="2"/>
            <a:r>
              <a:rPr lang="en-US" altLang="zh-TW" sz="2800" dirty="0" smtClean="0"/>
              <a:t>Programmer add </a:t>
            </a:r>
            <a:r>
              <a:rPr lang="en-US" altLang="zh-TW" sz="2800" dirty="0"/>
              <a:t>assertions to catch unexpected bugs.  </a:t>
            </a:r>
            <a:endParaRPr lang="en-US" altLang="zh-TW" sz="36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E</a:t>
            </a:r>
            <a:r>
              <a:rPr lang="en-US" sz="4400" kern="0" dirty="0" smtClean="0">
                <a:latin typeface="Elephant" panose="02020904090505020303" pitchFamily="18" charset="0"/>
              </a:rPr>
              <a:t>xecution Disrupting Events</a:t>
            </a:r>
            <a:endParaRPr lang="en-US" sz="4400" kern="0" dirty="0">
              <a:latin typeface="Elephant" panose="02020904090505020303" pitchFamily="18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96863" y="857250"/>
            <a:ext cx="9067800" cy="13144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96863" y="2743200"/>
            <a:ext cx="9067800" cy="12001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64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03002"/>
            <a:ext cx="8686800" cy="5943600"/>
          </a:xfrm>
        </p:spPr>
        <p:txBody>
          <a:bodyPr/>
          <a:lstStyle/>
          <a:p>
            <a:pPr marL="0" indent="0">
              <a:spcBef>
                <a:spcPct val="0"/>
              </a:spcBef>
              <a:buClrTx/>
              <a:buNone/>
            </a:pP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Assert 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is</a:t>
            </a: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 a convenient way to debug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. </a:t>
            </a:r>
            <a:br>
              <a:rPr lang="en-US" altLang="zh-TW" sz="3200" dirty="0">
                <a:latin typeface="Arial" panose="020B0604020202020204" pitchFamily="34" charset="0"/>
                <a:ea typeface="Lucida Grande"/>
              </a:rPr>
            </a:b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The simplest form takes </a:t>
            </a:r>
            <a:r>
              <a:rPr lang="en-US" altLang="zh-TW" sz="3200" dirty="0">
                <a:solidFill>
                  <a:srgbClr val="00B050"/>
                </a:solidFill>
                <a:latin typeface="Arial" panose="020B0604020202020204" pitchFamily="34" charset="0"/>
                <a:ea typeface="Lucida Grande"/>
              </a:rPr>
              <a:t>one expression</a:t>
            </a: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:</a:t>
            </a:r>
            <a:endParaRPr lang="en-US" altLang="zh-TW" sz="3200" dirty="0">
              <a:latin typeface="Arial" panose="020B0604020202020204" pitchFamily="34" charset="0"/>
              <a:ea typeface="Lucida Grande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x=5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x==5</a:t>
            </a:r>
            <a:r>
              <a:rPr lang="en-US" altLang="zh-TW" sz="2800" dirty="0">
                <a:latin typeface="Lucida Console" panose="020B0609040504020204" pitchFamily="49" charset="0"/>
              </a:rPr>
              <a:t>    # do nothing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zh-TW" sz="4399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sz="4000" kern="0" dirty="0">
                <a:latin typeface="Elephant" panose="02020904090505020303" pitchFamily="18" charset="0"/>
              </a:rPr>
              <a:t> </a:t>
            </a:r>
            <a:r>
              <a:rPr lang="en-US" sz="4400" kern="0" dirty="0">
                <a:latin typeface="Elephant" panose="02020904090505020303" pitchFamily="18" charset="0"/>
              </a:rPr>
              <a:t>a Fact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3878262" y="2784202"/>
            <a:ext cx="5562600" cy="2133600"/>
          </a:xfrm>
          <a:prstGeom prst="wedgeRoundRectCallout">
            <a:avLst>
              <a:gd name="adj1" fmla="val -78808"/>
              <a:gd name="adj2" fmla="val -5747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Since you are asserting that x</a:t>
            </a:r>
            <a:r>
              <a:rPr lang="en-US" sz="2000" dirty="0">
                <a:solidFill>
                  <a:srgbClr val="3333CC"/>
                </a:solidFill>
                <a:cs typeface="Times New Roman" panose="02020603050405020304" pitchFamily="18" charset="0"/>
              </a:rPr>
              <a:t>==</a:t>
            </a: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5, you must mean that you expect this condition to be satisfied. And, indeed, it was satisfied, because x does equal 5. So no action is taken.</a:t>
            </a:r>
          </a:p>
        </p:txBody>
      </p:sp>
    </p:spTree>
    <p:extLst>
      <p:ext uri="{BB962C8B-B14F-4D97-AF65-F5344CB8AC3E}">
        <p14:creationId xmlns:p14="http://schemas.microsoft.com/office/powerpoint/2010/main" val="265037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03002"/>
            <a:ext cx="8686800" cy="5943600"/>
          </a:xfrm>
        </p:spPr>
        <p:txBody>
          <a:bodyPr/>
          <a:lstStyle/>
          <a:p>
            <a:pPr marL="0" indent="0">
              <a:spcBef>
                <a:spcPct val="0"/>
              </a:spcBef>
              <a:buClrTx/>
              <a:buNone/>
            </a:pP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Assert 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is</a:t>
            </a: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 a convenient way to debug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. </a:t>
            </a:r>
            <a:br>
              <a:rPr lang="en-US" altLang="zh-TW" sz="3200" dirty="0">
                <a:latin typeface="Arial" panose="020B0604020202020204" pitchFamily="34" charset="0"/>
                <a:ea typeface="Lucida Grande"/>
              </a:rPr>
            </a:b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The simplest form takes </a:t>
            </a:r>
            <a:r>
              <a:rPr lang="en-US" altLang="zh-TW" sz="3200" dirty="0">
                <a:solidFill>
                  <a:srgbClr val="00B050"/>
                </a:solidFill>
                <a:latin typeface="Arial" panose="020B0604020202020204" pitchFamily="34" charset="0"/>
                <a:ea typeface="Lucida Grande"/>
              </a:rPr>
              <a:t>one expression</a:t>
            </a: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:</a:t>
            </a:r>
            <a:endParaRPr lang="en-US" altLang="zh-TW" sz="3200" dirty="0">
              <a:latin typeface="Arial" panose="020B0604020202020204" pitchFamily="34" charset="0"/>
              <a:ea typeface="Lucida Grande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x=5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x==5</a:t>
            </a:r>
            <a:r>
              <a:rPr lang="en-US" altLang="zh-TW" sz="2800" dirty="0">
                <a:latin typeface="Lucida Console" panose="020B0609040504020204" pitchFamily="49" charset="0"/>
              </a:rPr>
              <a:t>    # do nothing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x==6</a:t>
            </a:r>
            <a:r>
              <a:rPr lang="en-US" altLang="zh-TW" sz="2800" dirty="0">
                <a:latin typeface="Lucida Console" panose="020B0609040504020204" pitchFamily="49" charset="0"/>
              </a:rPr>
              <a:t>    # raise an exception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</a:rPr>
              <a:t>Traceback</a:t>
            </a:r>
            <a:r>
              <a:rPr lang="en-US" altLang="zh-TW" sz="2800" dirty="0">
                <a:solidFill>
                  <a:srgbClr val="FFA7A7"/>
                </a:solidFill>
              </a:rPr>
              <a:t> (most recent call last):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A7A7"/>
                </a:solidFill>
              </a:rPr>
              <a:t>  File "&lt;</a:t>
            </a:r>
            <a:r>
              <a:rPr lang="en-US" altLang="zh-TW" sz="2800" dirty="0" err="1">
                <a:solidFill>
                  <a:srgbClr val="FFA7A7"/>
                </a:solidFill>
              </a:rPr>
              <a:t>stdin</a:t>
            </a:r>
            <a:r>
              <a:rPr lang="en-US" altLang="zh-TW" sz="2800" dirty="0">
                <a:solidFill>
                  <a:srgbClr val="FFA7A7"/>
                </a:solidFill>
              </a:rPr>
              <a:t>&gt;", line 1, in &lt;module&gt;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</a:rPr>
              <a:t>AssertionError</a:t>
            </a:r>
            <a:endParaRPr lang="en-US" altLang="zh-TW" sz="2800" dirty="0">
              <a:solidFill>
                <a:srgbClr val="FFA7A7"/>
              </a:solidFill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zh-TW" sz="4399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878262" y="2784202"/>
            <a:ext cx="5562600" cy="2133600"/>
          </a:xfrm>
          <a:prstGeom prst="wedgeRoundRectCallout">
            <a:avLst>
              <a:gd name="adj1" fmla="val -78808"/>
              <a:gd name="adj2" fmla="val -57473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Since you are asserting that x</a:t>
            </a:r>
            <a:r>
              <a:rPr lang="en-US" sz="2000" dirty="0">
                <a:solidFill>
                  <a:srgbClr val="3333CC"/>
                </a:solidFill>
                <a:cs typeface="Times New Roman" panose="02020603050405020304" pitchFamily="18" charset="0"/>
              </a:rPr>
              <a:t>==</a:t>
            </a: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5, you must mean that you expect this condition to be satisfied. And, indeed, it was satisfied, because x does equal 5. So no action is taken.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4183062" y="3393803"/>
            <a:ext cx="5257800" cy="2514600"/>
          </a:xfrm>
          <a:prstGeom prst="wedgeRoundRectCallout">
            <a:avLst>
              <a:gd name="adj1" fmla="val -64198"/>
              <a:gd name="adj2" fmla="val -63861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This time, the asserted fact is false.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 So an exception is raised</a:t>
            </a: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.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(If you had wanted to, you could have used a try block and caught the exception, using the methods from earlier in this lecture.)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>
            <a:off x="3040062" y="4079603"/>
            <a:ext cx="2209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sz="4000" kern="0" dirty="0">
                <a:latin typeface="Elephant" panose="02020904090505020303" pitchFamily="18" charset="0"/>
              </a:rPr>
              <a:t> </a:t>
            </a:r>
            <a:r>
              <a:rPr lang="en-US" sz="4400" kern="0" dirty="0">
                <a:latin typeface="Elephant" panose="02020904090505020303" pitchFamily="18" charset="0"/>
              </a:rPr>
              <a:t>a Fact</a:t>
            </a:r>
          </a:p>
        </p:txBody>
      </p:sp>
    </p:spTree>
    <p:extLst>
      <p:ext uri="{BB962C8B-B14F-4D97-AF65-F5344CB8AC3E}">
        <p14:creationId xmlns:p14="http://schemas.microsoft.com/office/powerpoint/2010/main" val="319584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03002"/>
            <a:ext cx="8686800" cy="5943600"/>
          </a:xfrm>
        </p:spPr>
        <p:txBody>
          <a:bodyPr/>
          <a:lstStyle/>
          <a:p>
            <a:pPr marL="0" indent="0">
              <a:spcBef>
                <a:spcPct val="0"/>
              </a:spcBef>
              <a:buClrTx/>
              <a:buNone/>
            </a:pP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Assert 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is</a:t>
            </a: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 a convenient way to debug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. </a:t>
            </a:r>
            <a:br>
              <a:rPr lang="en-US" altLang="zh-TW" sz="3200" dirty="0">
                <a:latin typeface="Arial" panose="020B0604020202020204" pitchFamily="34" charset="0"/>
                <a:ea typeface="Lucida Grande"/>
              </a:rPr>
            </a:b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The simplest form takes </a:t>
            </a:r>
            <a:r>
              <a:rPr lang="en-US" altLang="zh-TW" sz="3200" dirty="0">
                <a:solidFill>
                  <a:srgbClr val="00B050"/>
                </a:solidFill>
                <a:latin typeface="Arial" panose="020B0604020202020204" pitchFamily="34" charset="0"/>
                <a:ea typeface="Lucida Grande"/>
              </a:rPr>
              <a:t>one expression</a:t>
            </a: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:</a:t>
            </a:r>
            <a:endParaRPr lang="en-US" altLang="zh-TW" sz="3200" dirty="0">
              <a:latin typeface="Arial" panose="020B0604020202020204" pitchFamily="34" charset="0"/>
              <a:ea typeface="Lucida Grande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x=5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x==5</a:t>
            </a:r>
            <a:r>
              <a:rPr lang="en-US" altLang="zh-TW" sz="2800" dirty="0">
                <a:latin typeface="Lucida Console" panose="020B0609040504020204" pitchFamily="49" charset="0"/>
              </a:rPr>
              <a:t>    # do nothing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x==6</a:t>
            </a:r>
            <a:r>
              <a:rPr lang="en-US" altLang="zh-TW" sz="2800" dirty="0">
                <a:latin typeface="Lucida Console" panose="020B0609040504020204" pitchFamily="49" charset="0"/>
              </a:rPr>
              <a:t>    # raise an exception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</a:rPr>
              <a:t>Traceback</a:t>
            </a:r>
            <a:r>
              <a:rPr lang="en-US" altLang="zh-TW" sz="2800" dirty="0">
                <a:solidFill>
                  <a:srgbClr val="FFA7A7"/>
                </a:solidFill>
              </a:rPr>
              <a:t> (most recent call last):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A7A7"/>
                </a:solidFill>
              </a:rPr>
              <a:t>  File "&lt;</a:t>
            </a:r>
            <a:r>
              <a:rPr lang="en-US" altLang="zh-TW" sz="2800" dirty="0" err="1">
                <a:solidFill>
                  <a:srgbClr val="FFA7A7"/>
                </a:solidFill>
              </a:rPr>
              <a:t>stdin</a:t>
            </a:r>
            <a:r>
              <a:rPr lang="en-US" altLang="zh-TW" sz="2800" dirty="0">
                <a:solidFill>
                  <a:srgbClr val="FFA7A7"/>
                </a:solidFill>
              </a:rPr>
              <a:t>&gt;", line 1, in &lt;module&gt;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</a:rPr>
              <a:t>AssertionError</a:t>
            </a:r>
            <a:endParaRPr lang="en-US" altLang="zh-TW" sz="2800" dirty="0">
              <a:solidFill>
                <a:srgbClr val="FFA7A7"/>
              </a:solidFill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800" dirty="0">
                <a:latin typeface="Lucida Console" panose="020B0609040504020204" pitchFamily="49" charset="0"/>
              </a:rPr>
              <a:t>       # raise an exception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</a:rPr>
              <a:t>Traceback</a:t>
            </a:r>
            <a:r>
              <a:rPr lang="en-US" altLang="zh-TW" sz="2800" dirty="0">
                <a:solidFill>
                  <a:srgbClr val="FFA7A7"/>
                </a:solidFill>
              </a:rPr>
              <a:t> (most recent call last):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A7A7"/>
                </a:solidFill>
              </a:rPr>
              <a:t>  File "&lt;</a:t>
            </a:r>
            <a:r>
              <a:rPr lang="en-US" altLang="zh-TW" sz="2800" dirty="0" err="1">
                <a:solidFill>
                  <a:srgbClr val="FFA7A7"/>
                </a:solidFill>
              </a:rPr>
              <a:t>stdin</a:t>
            </a:r>
            <a:r>
              <a:rPr lang="en-US" altLang="zh-TW" sz="2800" dirty="0">
                <a:solidFill>
                  <a:srgbClr val="FFA7A7"/>
                </a:solidFill>
              </a:rPr>
              <a:t>&gt;", line 1, in &lt;module&gt;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</a:rPr>
              <a:t>AssertionError</a:t>
            </a:r>
            <a:endParaRPr lang="en-US" altLang="zh-TW" sz="2800" dirty="0">
              <a:solidFill>
                <a:srgbClr val="FFA7A7"/>
              </a:solidFill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zh-TW" sz="4399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183062" y="3393803"/>
            <a:ext cx="5257800" cy="2514600"/>
          </a:xfrm>
          <a:prstGeom prst="wedgeRoundRectCallout">
            <a:avLst>
              <a:gd name="adj1" fmla="val -64198"/>
              <a:gd name="adj2" fmla="val -63861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This time, the asserted fact is false.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 So an exception is raised</a:t>
            </a: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.</a:t>
            </a:r>
          </a:p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(If you had wanted to, you could have used a try block and caught the exception, using the methods from earlier in this lecture.)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>
            <a:off x="3040062" y="4079603"/>
            <a:ext cx="2209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Rounded Rectangular Callout 4"/>
          <p:cNvSpPr/>
          <p:nvPr/>
        </p:nvSpPr>
        <p:spPr bwMode="auto">
          <a:xfrm>
            <a:off x="4868862" y="3927203"/>
            <a:ext cx="4572000" cy="1981200"/>
          </a:xfrm>
          <a:prstGeom prst="wedgeRoundRectCallout">
            <a:avLst>
              <a:gd name="adj1" fmla="val -85565"/>
              <a:gd name="adj2" fmla="val -24417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Here, we are reminded that conditional expressions work the same in Python as in C. So a value of 0 means False. Thus, the exception is raised.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sz="4000" kern="0" dirty="0">
                <a:latin typeface="Elephant" panose="02020904090505020303" pitchFamily="18" charset="0"/>
              </a:rPr>
              <a:t> </a:t>
            </a:r>
            <a:r>
              <a:rPr lang="en-US" sz="4400" kern="0" dirty="0">
                <a:latin typeface="Elephant" panose="02020904090505020303" pitchFamily="18" charset="0"/>
              </a:rPr>
              <a:t>a Fact</a:t>
            </a:r>
          </a:p>
        </p:txBody>
      </p:sp>
    </p:spTree>
    <p:extLst>
      <p:ext uri="{BB962C8B-B14F-4D97-AF65-F5344CB8AC3E}">
        <p14:creationId xmlns:p14="http://schemas.microsoft.com/office/powerpoint/2010/main" val="264986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03002"/>
            <a:ext cx="8686800" cy="5943600"/>
          </a:xfrm>
        </p:spPr>
        <p:txBody>
          <a:bodyPr/>
          <a:lstStyle/>
          <a:p>
            <a:pPr marL="0" indent="0">
              <a:spcBef>
                <a:spcPct val="0"/>
              </a:spcBef>
              <a:buClrTx/>
              <a:buNone/>
            </a:pP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Assert 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is</a:t>
            </a: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 a convenient way to debug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. </a:t>
            </a:r>
            <a:br>
              <a:rPr lang="en-US" altLang="zh-TW" sz="3200" dirty="0">
                <a:latin typeface="Arial" panose="020B0604020202020204" pitchFamily="34" charset="0"/>
                <a:ea typeface="Lucida Grande"/>
              </a:rPr>
            </a:b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The simplest form takes </a:t>
            </a:r>
            <a:r>
              <a:rPr lang="en-US" altLang="zh-TW" sz="3200" dirty="0">
                <a:solidFill>
                  <a:srgbClr val="00B050"/>
                </a:solidFill>
                <a:latin typeface="Arial" panose="020B0604020202020204" pitchFamily="34" charset="0"/>
                <a:ea typeface="Lucida Grande"/>
              </a:rPr>
              <a:t>one expression</a:t>
            </a: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:</a:t>
            </a:r>
            <a:endParaRPr lang="en-US" altLang="zh-TW" sz="3200" dirty="0">
              <a:latin typeface="Arial" panose="020B0604020202020204" pitchFamily="34" charset="0"/>
              <a:ea typeface="Lucida Grande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x=5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x==5</a:t>
            </a:r>
            <a:r>
              <a:rPr lang="en-US" altLang="zh-TW" sz="2800" dirty="0">
                <a:latin typeface="Lucida Console" panose="020B0609040504020204" pitchFamily="49" charset="0"/>
              </a:rPr>
              <a:t>    # do nothing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x==6</a:t>
            </a:r>
            <a:r>
              <a:rPr lang="en-US" altLang="zh-TW" sz="2800" dirty="0">
                <a:latin typeface="Lucida Console" panose="020B0609040504020204" pitchFamily="49" charset="0"/>
              </a:rPr>
              <a:t>    # raise an exception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</a:rPr>
              <a:t>Traceback</a:t>
            </a:r>
            <a:r>
              <a:rPr lang="en-US" altLang="zh-TW" sz="2800" dirty="0">
                <a:solidFill>
                  <a:srgbClr val="FFA7A7"/>
                </a:solidFill>
              </a:rPr>
              <a:t> (most recent call last):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A7A7"/>
                </a:solidFill>
              </a:rPr>
              <a:t>  File "&lt;</a:t>
            </a:r>
            <a:r>
              <a:rPr lang="en-US" altLang="zh-TW" sz="2800" dirty="0" err="1">
                <a:solidFill>
                  <a:srgbClr val="FFA7A7"/>
                </a:solidFill>
              </a:rPr>
              <a:t>stdin</a:t>
            </a:r>
            <a:r>
              <a:rPr lang="en-US" altLang="zh-TW" sz="2800" dirty="0">
                <a:solidFill>
                  <a:srgbClr val="FFA7A7"/>
                </a:solidFill>
              </a:rPr>
              <a:t>&gt;", line 1, in &lt;module&gt;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</a:rPr>
              <a:t>AssertionError</a:t>
            </a:r>
            <a:endParaRPr lang="en-US" altLang="zh-TW" sz="2800" dirty="0">
              <a:solidFill>
                <a:srgbClr val="FFA7A7"/>
              </a:solidFill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800" dirty="0">
                <a:latin typeface="Lucida Console" panose="020B0609040504020204" pitchFamily="49" charset="0"/>
              </a:rPr>
              <a:t>       # raise an exception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</a:rPr>
              <a:t>Traceback</a:t>
            </a:r>
            <a:r>
              <a:rPr lang="en-US" altLang="zh-TW" sz="2800" dirty="0">
                <a:solidFill>
                  <a:srgbClr val="FFA7A7"/>
                </a:solidFill>
              </a:rPr>
              <a:t> (most recent call last):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A7A7"/>
                </a:solidFill>
              </a:rPr>
              <a:t>  File "&lt;</a:t>
            </a:r>
            <a:r>
              <a:rPr lang="en-US" altLang="zh-TW" sz="2800" dirty="0" err="1">
                <a:solidFill>
                  <a:srgbClr val="FFA7A7"/>
                </a:solidFill>
              </a:rPr>
              <a:t>stdin</a:t>
            </a:r>
            <a:r>
              <a:rPr lang="en-US" altLang="zh-TW" sz="2800" dirty="0">
                <a:solidFill>
                  <a:srgbClr val="FFA7A7"/>
                </a:solidFill>
              </a:rPr>
              <a:t>&gt;", line 1, in &lt;module&gt;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</a:rPr>
              <a:t>AssertionError</a:t>
            </a:r>
            <a:endParaRPr lang="en-US" altLang="zh-TW" sz="2800" dirty="0">
              <a:solidFill>
                <a:srgbClr val="FFA7A7"/>
              </a:solidFill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800" dirty="0">
                <a:latin typeface="Lucida Console" panose="020B0609040504020204" pitchFamily="49" charset="0"/>
              </a:rPr>
              <a:t>       # do nothing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zh-TW" sz="4399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868862" y="3927203"/>
            <a:ext cx="4572000" cy="1981200"/>
          </a:xfrm>
          <a:prstGeom prst="wedgeRoundRectCallout">
            <a:avLst>
              <a:gd name="adj1" fmla="val -85565"/>
              <a:gd name="adj2" fmla="val -24417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Here, we are reminded that conditional expressions work the same in Python as in C. So a value of 0 means False. Thus, the exception is raised.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326062" y="5451203"/>
            <a:ext cx="4114800" cy="1295400"/>
          </a:xfrm>
          <a:prstGeom prst="wedgeRoundRectCallout">
            <a:avLst>
              <a:gd name="adj1" fmla="val -102231"/>
              <a:gd name="adj2" fmla="val -4055"/>
              <a:gd name="adj3" fmla="val 16667"/>
            </a:avLst>
          </a:prstGeom>
          <a:solidFill>
            <a:srgbClr val="FFFF99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3333CC"/>
                </a:solidFill>
                <a:latin typeface="Times New Roman" charset="0"/>
              </a:rPr>
              <a:t>And so, similarly, a 5 is nonzero, so it means True. So no action is taken.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sz="4000" kern="0" dirty="0">
                <a:latin typeface="Elephant" panose="02020904090505020303" pitchFamily="18" charset="0"/>
              </a:rPr>
              <a:t> </a:t>
            </a:r>
            <a:r>
              <a:rPr lang="en-US" sz="4400" kern="0" dirty="0">
                <a:latin typeface="Elephant" panose="02020904090505020303" pitchFamily="18" charset="0"/>
              </a:rPr>
              <a:t>a Fact</a:t>
            </a:r>
          </a:p>
        </p:txBody>
      </p:sp>
    </p:spTree>
    <p:extLst>
      <p:ext uri="{BB962C8B-B14F-4D97-AF65-F5344CB8AC3E}">
        <p14:creationId xmlns:p14="http://schemas.microsoft.com/office/powerpoint/2010/main" val="335853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03002"/>
            <a:ext cx="8686800" cy="5562600"/>
          </a:xfrm>
        </p:spPr>
        <p:txBody>
          <a:bodyPr/>
          <a:lstStyle/>
          <a:p>
            <a:pPr marL="0" indent="0">
              <a:spcBef>
                <a:spcPct val="0"/>
              </a:spcBef>
              <a:buClrTx/>
              <a:buNone/>
            </a:pP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Assert 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can also take two expressions. The </a:t>
            </a:r>
            <a:br>
              <a:rPr lang="en-US" altLang="zh-TW" sz="3200" dirty="0">
                <a:latin typeface="Arial" panose="020B0604020202020204" pitchFamily="34" charset="0"/>
                <a:ea typeface="Lucida Grande"/>
              </a:rPr>
            </a:b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first is </a:t>
            </a:r>
            <a:r>
              <a:rPr lang="en-US" altLang="zh-TW" sz="3200" dirty="0">
                <a:solidFill>
                  <a:srgbClr val="00B0F0"/>
                </a:solidFill>
                <a:latin typeface="Arial" panose="020B0604020202020204" pitchFamily="34" charset="0"/>
                <a:ea typeface="Lucida Grande"/>
              </a:rPr>
              <a:t>the condition to test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, and the second is </a:t>
            </a:r>
            <a:r>
              <a:rPr lang="en-US" altLang="zh-TW" sz="3200" dirty="0">
                <a:solidFill>
                  <a:srgbClr val="CC3399"/>
                </a:solidFill>
                <a:latin typeface="Arial" panose="020B0604020202020204" pitchFamily="34" charset="0"/>
                <a:ea typeface="Lucida Grande"/>
              </a:rPr>
              <a:t>the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 </a:t>
            </a:r>
            <a:r>
              <a:rPr lang="en-US" altLang="zh-TW" sz="3200" dirty="0">
                <a:solidFill>
                  <a:srgbClr val="CC3399"/>
                </a:solidFill>
                <a:latin typeface="Arial" panose="020B0604020202020204" pitchFamily="34" charset="0"/>
                <a:ea typeface="Lucida Grande"/>
              </a:rPr>
              <a:t>printed value</a:t>
            </a:r>
            <a:r>
              <a:rPr lang="en-US" altLang="zh-TW" sz="3200" dirty="0">
                <a:latin typeface="Arial" panose="020B0604020202020204" pitchFamily="34" charset="0"/>
                <a:ea typeface="Lucida Grande"/>
              </a:rPr>
              <a:t> whenever the assertion fails</a:t>
            </a:r>
            <a:r>
              <a:rPr lang="zh-TW" altLang="zh-TW" sz="3200" dirty="0">
                <a:latin typeface="Arial" panose="020B0604020202020204" pitchFamily="34" charset="0"/>
                <a:ea typeface="Lucida Grande"/>
              </a:rPr>
              <a:t>:</a:t>
            </a:r>
            <a:endParaRPr lang="en-US" altLang="zh-TW" sz="3200" dirty="0">
              <a:latin typeface="Arial" panose="020B0604020202020204" pitchFamily="34" charset="0"/>
              <a:ea typeface="Lucida Grande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11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x=5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assert </a:t>
            </a:r>
            <a:r>
              <a:rPr lang="en-US" altLang="zh-TW" sz="2800" dirty="0">
                <a:solidFill>
                  <a:srgbClr val="00B0F0"/>
                </a:solidFill>
                <a:latin typeface="Lucida Console" panose="020B0609040504020204" pitchFamily="49" charset="0"/>
              </a:rPr>
              <a:t>x==5</a:t>
            </a:r>
            <a:r>
              <a:rPr lang="en-US" altLang="zh-TW" sz="2800" dirty="0">
                <a:latin typeface="Lucida Console" panose="020B0609040504020204" pitchFamily="49" charset="0"/>
              </a:rPr>
              <a:t>,</a:t>
            </a:r>
            <a:r>
              <a:rPr lang="en-US" altLang="zh-TW" sz="2800" dirty="0">
                <a:solidFill>
                  <a:srgbClr val="CC3399"/>
                </a:solidFill>
                <a:latin typeface="Lucida Console" panose="020B0609040504020204" pitchFamily="49" charset="0"/>
              </a:rPr>
              <a:t>"x isn't 5"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assert </a:t>
            </a:r>
            <a:r>
              <a:rPr lang="en-US" altLang="zh-TW" sz="2800" dirty="0">
                <a:solidFill>
                  <a:srgbClr val="00B0F0"/>
                </a:solidFill>
                <a:latin typeface="Lucida Console" panose="020B0609040504020204" pitchFamily="49" charset="0"/>
              </a:rPr>
              <a:t>x==6</a:t>
            </a:r>
            <a:r>
              <a:rPr lang="en-US" altLang="zh-TW" sz="2800" dirty="0">
                <a:latin typeface="Lucida Console" panose="020B0609040504020204" pitchFamily="49" charset="0"/>
              </a:rPr>
              <a:t>,</a:t>
            </a:r>
            <a:r>
              <a:rPr lang="en-US" altLang="zh-TW" sz="2800" dirty="0">
                <a:solidFill>
                  <a:srgbClr val="CC3399"/>
                </a:solidFill>
                <a:latin typeface="Lucida Console" panose="020B0609040504020204" pitchFamily="49" charset="0"/>
              </a:rPr>
              <a:t>"x isn't 6"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800" dirty="0">
                <a:solidFill>
                  <a:srgbClr val="FFA7A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A7A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800" dirty="0" err="1">
                <a:solidFill>
                  <a:srgbClr val="FFA7A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800" dirty="0">
                <a:solidFill>
                  <a:srgbClr val="FFA7A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AssertionError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8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x isn't 6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assert </a:t>
            </a:r>
            <a:r>
              <a:rPr lang="en-US" altLang="zh-TW" sz="2800" dirty="0">
                <a:solidFill>
                  <a:srgbClr val="00B0F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800" dirty="0">
                <a:latin typeface="Lucida Console" panose="020B0609040504020204" pitchFamily="49" charset="0"/>
              </a:rPr>
              <a:t>,</a:t>
            </a:r>
            <a:r>
              <a:rPr lang="en-US" altLang="zh-TW" sz="2800" dirty="0">
                <a:solidFill>
                  <a:srgbClr val="CC3399"/>
                </a:solidFill>
                <a:latin typeface="Lucida Console" panose="020B0609040504020204" pitchFamily="49" charset="0"/>
              </a:rPr>
              <a:t>512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A7A7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800" dirty="0">
                <a:solidFill>
                  <a:srgbClr val="FFA7A7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A7A7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800" dirty="0" err="1">
                <a:solidFill>
                  <a:srgbClr val="FFA7A7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800" dirty="0">
                <a:solidFill>
                  <a:srgbClr val="FFA7A7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AssertionError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8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512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2125662" y="2327003"/>
            <a:ext cx="2133600" cy="35052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>
            <a:off x="2430462" y="2327002"/>
            <a:ext cx="2057400" cy="21336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How to </a:t>
            </a:r>
            <a:r>
              <a:rPr lang="en-US" sz="4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sz="4000" kern="0" dirty="0">
                <a:latin typeface="Elephant" panose="02020904090505020303" pitchFamily="18" charset="0"/>
              </a:rPr>
              <a:t> </a:t>
            </a:r>
            <a:r>
              <a:rPr lang="en-US" sz="4400" kern="0" dirty="0">
                <a:latin typeface="Elephant" panose="02020904090505020303" pitchFamily="18" charset="0"/>
              </a:rPr>
              <a:t>a Fact</a:t>
            </a:r>
          </a:p>
        </p:txBody>
      </p:sp>
    </p:spTree>
    <p:extLst>
      <p:ext uri="{BB962C8B-B14F-4D97-AF65-F5344CB8AC3E}">
        <p14:creationId xmlns:p14="http://schemas.microsoft.com/office/powerpoint/2010/main" val="349847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803002"/>
            <a:ext cx="8915400" cy="5562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2D2DB9"/>
                </a:solidFill>
                <a:latin typeface="Lucida Console" panose="020B0609040504020204" pitchFamily="49" charset="0"/>
              </a:rPr>
              <a:t>test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var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...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()[</a:t>
            </a:r>
            <a:r>
              <a:rPr lang="en-US" altLang="zh-TW" sz="28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var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...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sz="28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,\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... 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   "</a:t>
            </a:r>
            <a:r>
              <a:rPr lang="en-US" altLang="zh-TW" sz="2800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%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s=%d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not 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%d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"%(</a:t>
            </a:r>
            <a:r>
              <a:rPr lang="en-US" altLang="zh-TW" sz="28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var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8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 test("</a:t>
            </a:r>
            <a:r>
              <a:rPr lang="en-US" altLang="zh-TW" sz="2800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",</a:t>
            </a:r>
            <a:r>
              <a:rPr lang="en-US" altLang="zh-TW" sz="28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 test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("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",</a:t>
            </a:r>
            <a:r>
              <a:rPr lang="en-US" altLang="zh-TW" sz="2800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b="1" dirty="0">
                <a:solidFill>
                  <a:srgbClr val="2D2DB9"/>
                </a:solidFill>
                <a:latin typeface="Lucida Console" panose="020B0609040504020204" pitchFamily="49" charset="0"/>
              </a:rPr>
              <a:t>test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("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",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36D6D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800" dirty="0">
                <a:solidFill>
                  <a:srgbClr val="F36D6D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36D6D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800" dirty="0" err="1">
                <a:solidFill>
                  <a:srgbClr val="F36D6D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800" dirty="0">
                <a:solidFill>
                  <a:srgbClr val="F36D6D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36D6D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800" dirty="0" err="1">
                <a:solidFill>
                  <a:srgbClr val="F36D6D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800" dirty="0">
                <a:solidFill>
                  <a:srgbClr val="F36D6D"/>
                </a:solidFill>
                <a:latin typeface="Lucida Console" panose="020B0609040504020204" pitchFamily="49" charset="0"/>
              </a:rPr>
              <a:t>&gt;", line 4, in test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AssertionError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x=2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, not 3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b="1" dirty="0">
                <a:solidFill>
                  <a:srgbClr val="2D2DB9"/>
                </a:solidFill>
                <a:latin typeface="Lucida Console" panose="020B0609040504020204" pitchFamily="49" charset="0"/>
              </a:rPr>
              <a:t>test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("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",</a:t>
            </a:r>
            <a:r>
              <a:rPr lang="en-US" altLang="zh-TW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F15151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800" dirty="0">
                <a:solidFill>
                  <a:srgbClr val="F15151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15151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800" dirty="0" err="1">
                <a:solidFill>
                  <a:srgbClr val="F15151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800" dirty="0">
                <a:solidFill>
                  <a:srgbClr val="F15151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15151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800" dirty="0" err="1">
                <a:solidFill>
                  <a:srgbClr val="F15151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800" dirty="0">
                <a:solidFill>
                  <a:srgbClr val="F15151"/>
                </a:solidFill>
                <a:latin typeface="Lucida Console" panose="020B0609040504020204" pitchFamily="49" charset="0"/>
              </a:rPr>
              <a:t>&gt;", line 4, in test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AssertionError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800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y=3</a:t>
            </a:r>
            <a:r>
              <a:rPr lang="en-US" altLang="zh-TW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8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not </a:t>
            </a:r>
            <a:r>
              <a:rPr lang="en-US" altLang="zh-TW" sz="28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endParaRPr lang="en-US" altLang="zh-TW" sz="28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25462" y="803002"/>
            <a:ext cx="914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91440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spc="-100" dirty="0" smtClean="0">
                <a:latin typeface="Elephant" panose="02020904090505020303" pitchFamily="18" charset="0"/>
              </a:rPr>
              <a:t>Pu</a:t>
            </a:r>
            <a:r>
              <a:rPr lang="en-US" sz="4400" kern="0" spc="-40" dirty="0" smtClean="0">
                <a:latin typeface="Elephant" panose="02020904090505020303" pitchFamily="18" charset="0"/>
              </a:rPr>
              <a:t>tti</a:t>
            </a:r>
            <a:r>
              <a:rPr lang="en-US" sz="4400" kern="0" spc="-100" dirty="0" smtClean="0">
                <a:latin typeface="Elephant" panose="02020904090505020303" pitchFamily="18" charset="0"/>
              </a:rPr>
              <a:t>ng</a:t>
            </a:r>
            <a:r>
              <a:rPr lang="en-US" sz="4000" kern="0" spc="-100" dirty="0" smtClean="0">
                <a:latin typeface="Elephant" panose="02020904090505020303" pitchFamily="18" charset="0"/>
              </a:rPr>
              <a:t> </a:t>
            </a:r>
            <a:r>
              <a:rPr lang="en-US" sz="4400" kern="0" spc="-160" dirty="0" smtClean="0">
                <a:latin typeface="Elephant" panose="02020904090505020303" pitchFamily="18" charset="0"/>
              </a:rPr>
              <a:t>m</a:t>
            </a:r>
            <a:r>
              <a:rPr lang="en-US" sz="4400" kern="0" spc="-100" dirty="0" smtClean="0">
                <a:latin typeface="Elephant" panose="02020904090505020303" pitchFamily="18" charset="0"/>
              </a:rPr>
              <a:t>o</a:t>
            </a:r>
            <a:r>
              <a:rPr lang="en-US" sz="4400" kern="0" spc="-50" dirty="0" smtClean="0">
                <a:latin typeface="Elephant" panose="02020904090505020303" pitchFamily="18" charset="0"/>
              </a:rPr>
              <a:t>r</a:t>
            </a:r>
            <a:r>
              <a:rPr lang="en-US" sz="4400" kern="0" spc="-100" dirty="0" smtClean="0">
                <a:latin typeface="Elephant" panose="02020904090505020303" pitchFamily="18" charset="0"/>
              </a:rPr>
              <a:t>e</a:t>
            </a:r>
            <a:r>
              <a:rPr lang="en-US" sz="4000" kern="0" spc="-100" dirty="0" smtClean="0">
                <a:latin typeface="Elephant" panose="02020904090505020303" pitchFamily="18" charset="0"/>
              </a:rPr>
              <a:t> </a:t>
            </a:r>
            <a:r>
              <a:rPr lang="en-US" sz="4400" kern="0" spc="-100" dirty="0" smtClean="0">
                <a:latin typeface="Elephant" panose="02020904090505020303" pitchFamily="18" charset="0"/>
              </a:rPr>
              <a:t>i</a:t>
            </a:r>
            <a:r>
              <a:rPr lang="en-US" sz="4400" kern="0" spc="-150" dirty="0" smtClean="0">
                <a:latin typeface="Elephant" panose="02020904090505020303" pitchFamily="18" charset="0"/>
              </a:rPr>
              <a:t>n</a:t>
            </a:r>
            <a:r>
              <a:rPr lang="en-US" sz="4400" kern="0" spc="-100" dirty="0" smtClean="0">
                <a:latin typeface="Elephant" panose="02020904090505020303" pitchFamily="18" charset="0"/>
              </a:rPr>
              <a:t>fo</a:t>
            </a:r>
            <a:r>
              <a:rPr lang="en-US" sz="4000" kern="0" spc="-100" dirty="0" smtClean="0">
                <a:latin typeface="Elephant" panose="02020904090505020303" pitchFamily="18" charset="0"/>
              </a:rPr>
              <a:t> </a:t>
            </a:r>
            <a:r>
              <a:rPr lang="en-US" sz="4400" kern="0" spc="-100" dirty="0" smtClean="0">
                <a:latin typeface="Elephant" panose="02020904090505020303" pitchFamily="18" charset="0"/>
              </a:rPr>
              <a:t>into</a:t>
            </a:r>
            <a:r>
              <a:rPr lang="en-US" sz="4000" kern="0" spc="-100" dirty="0" smtClean="0">
                <a:latin typeface="Elephant" panose="02020904090505020303" pitchFamily="18" charset="0"/>
              </a:rPr>
              <a:t> </a:t>
            </a:r>
            <a:r>
              <a:rPr lang="en-US" sz="4400" kern="0" spc="-40" dirty="0" smtClean="0">
                <a:latin typeface="Elephant" panose="02020904090505020303" pitchFamily="18" charset="0"/>
              </a:rPr>
              <a:t>t</a:t>
            </a:r>
            <a:r>
              <a:rPr lang="en-US" sz="4400" kern="0" spc="-100" dirty="0" smtClean="0">
                <a:latin typeface="Elephant" panose="02020904090505020303" pitchFamily="18" charset="0"/>
              </a:rPr>
              <a:t>he</a:t>
            </a:r>
            <a:r>
              <a:rPr lang="en-US" sz="4000" kern="0" spc="-100" dirty="0">
                <a:latin typeface="Elephant" panose="02020904090505020303" pitchFamily="18" charset="0"/>
              </a:rPr>
              <a:t> </a:t>
            </a:r>
            <a:r>
              <a:rPr lang="en-US" sz="4400" kern="0" spc="-160" dirty="0" smtClean="0">
                <a:latin typeface="Elephant" panose="02020904090505020303" pitchFamily="18" charset="0"/>
              </a:rPr>
              <a:t>m</a:t>
            </a:r>
            <a:r>
              <a:rPr lang="en-US" sz="4400" kern="0" spc="-100" dirty="0" smtClean="0">
                <a:latin typeface="Elephant" panose="02020904090505020303" pitchFamily="18" charset="0"/>
              </a:rPr>
              <a:t>essage</a:t>
            </a:r>
            <a:endParaRPr lang="en-US" sz="4400" kern="0" spc="-10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34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914400"/>
            <a:ext cx="8763000" cy="5562600"/>
          </a:xfrm>
        </p:spPr>
        <p:txBody>
          <a:bodyPr/>
          <a:lstStyle/>
          <a:p>
            <a:pPr>
              <a:spcBef>
                <a:spcPct val="0"/>
              </a:spcBef>
              <a:buClrTx/>
            </a:pPr>
            <a:r>
              <a:rPr lang="en-US" altLang="zh-TW" sz="36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is a built-in variable called __debug__</a:t>
            </a:r>
          </a:p>
          <a:p>
            <a:pPr lvl="1">
              <a:spcBef>
                <a:spcPct val="0"/>
              </a:spcBef>
            </a:pPr>
            <a:r>
              <a:rPr lang="en-US" altLang="zh-TW" sz="3518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default, it is </a:t>
            </a:r>
            <a:r>
              <a:rPr lang="en-US" altLang="zh-TW" sz="3518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altLang="zh-TW" sz="3518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>
              <a:spcBef>
                <a:spcPct val="0"/>
              </a:spcBef>
            </a:pPr>
            <a:r>
              <a:rPr lang="en-US" altLang="zh-TW" sz="3518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you can turn it off, if you don’t want to evaluate assert statements.</a:t>
            </a:r>
          </a:p>
          <a:p>
            <a:pPr lvl="2">
              <a:spcBef>
                <a:spcPct val="0"/>
              </a:spcBef>
            </a:pPr>
            <a:r>
              <a:rPr lang="en-US" altLang="zh-TW" sz="3333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this by running Python with the -O flag</a:t>
            </a:r>
          </a:p>
          <a:p>
            <a:pPr lvl="2">
              <a:spcBef>
                <a:spcPct val="0"/>
              </a:spcBef>
            </a:pPr>
            <a:r>
              <a:rPr lang="en-US" altLang="zh-TW" sz="3333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Once Python is running, you can’t change it; __debug__ is a constant.</a:t>
            </a:r>
          </a:p>
          <a:p>
            <a:pPr marL="457180" lvl="1" indent="0">
              <a:spcBef>
                <a:spcPct val="0"/>
              </a:spcBef>
              <a:buNone/>
            </a:pPr>
            <a:endParaRPr lang="en-US" altLang="zh-TW" sz="1852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</a:pPr>
            <a:r>
              <a:rPr lang="en-US" altLang="zh-TW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Adding in this new detail, we can say that the behavior of the assert statement is identical to the following…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Comparing</a:t>
            </a:r>
            <a:r>
              <a:rPr lang="en-US" sz="4400" b="1" kern="0" dirty="0"/>
              <a:t> </a:t>
            </a:r>
            <a:r>
              <a:rPr lang="en-US" sz="4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to</a:t>
            </a:r>
            <a:r>
              <a:rPr lang="en-US" sz="4400" b="1" kern="0" dirty="0"/>
              <a:t> </a:t>
            </a:r>
            <a:r>
              <a:rPr lang="en-US" altLang="zh-TW" sz="4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84681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1143000"/>
            <a:ext cx="8686800" cy="5562600"/>
          </a:xfrm>
        </p:spPr>
        <p:txBody>
          <a:bodyPr/>
          <a:lstStyle/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zh-TW" sz="32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“</a:t>
            </a:r>
            <a:r>
              <a:rPr lang="zh-TW" altLang="zh-TW" sz="32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assert expression</a:t>
            </a:r>
            <a:r>
              <a:rPr lang="en-US" altLang="zh-TW" sz="32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”</a:t>
            </a:r>
            <a:r>
              <a:rPr lang="en-US" altLang="zh-TW" sz="3200" dirty="0">
                <a:ea typeface="Lucida Grande"/>
                <a:cs typeface="Courier New" panose="02070309020205020404" pitchFamily="49" charset="0"/>
              </a:rPr>
              <a:t> is the same as:</a:t>
            </a:r>
            <a:endParaRPr lang="zh-TW" altLang="zh-TW" sz="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ct val="30000"/>
              </a:spcBef>
              <a:buClrTx/>
              <a:buNone/>
            </a:pPr>
            <a:r>
              <a:rPr lang="zh-TW" altLang="zh-TW" sz="3200" b="1" dirty="0">
                <a:solidFill>
                  <a:srgbClr val="00702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if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zh-TW" altLang="zh-TW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__debug__</a:t>
            </a:r>
            <a:r>
              <a:rPr lang="en-US" altLang="zh-TW" sz="3200" dirty="0">
                <a:solidFill>
                  <a:srgbClr val="33333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200" b="1" dirty="0">
                <a:solidFill>
                  <a:srgbClr val="00702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and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(</a:t>
            </a:r>
            <a:r>
              <a:rPr lang="zh-TW" altLang="zh-TW" sz="3200" b="1" dirty="0">
                <a:solidFill>
                  <a:srgbClr val="00702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not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zh-TW" altLang="zh-TW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expression</a:t>
            </a:r>
            <a:r>
              <a:rPr lang="en-US" altLang="zh-TW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 </a:t>
            </a:r>
            <a:r>
              <a:rPr lang="en-US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ct val="30000"/>
              </a:spcBef>
              <a:buClrTx/>
              <a:buNone/>
            </a:pPr>
            <a:r>
              <a:rPr lang="en-US" altLang="zh-TW" sz="3200" b="1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	</a:t>
            </a:r>
            <a:r>
              <a:rPr lang="zh-TW" altLang="zh-TW" sz="3200" b="1" dirty="0">
                <a:solidFill>
                  <a:srgbClr val="00702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raise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zh-TW" altLang="zh-TW" sz="3200" dirty="0">
                <a:solidFill>
                  <a:srgbClr val="00702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AssertionError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endParaRPr lang="zh-TW" altLang="zh-TW" sz="3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endParaRPr lang="en-US" altLang="zh-TW" sz="3200" dirty="0">
              <a:solidFill>
                <a:srgbClr val="FF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endParaRPr lang="en-US" altLang="zh-TW" sz="3200" dirty="0">
              <a:solidFill>
                <a:srgbClr val="FF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zh-TW" sz="32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“</a:t>
            </a:r>
            <a:r>
              <a:rPr lang="zh-TW" altLang="zh-TW" sz="32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assert ex</a:t>
            </a:r>
            <a:r>
              <a:rPr lang="en-US" altLang="zh-TW" sz="32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pr1, expr2”</a:t>
            </a:r>
            <a:r>
              <a:rPr lang="en-US" altLang="zh-TW" sz="3200" dirty="0">
                <a:ea typeface="Lucida Grande"/>
                <a:cs typeface="Courier New" panose="02070309020205020404" pitchFamily="49" charset="0"/>
              </a:rPr>
              <a:t> is the same as:</a:t>
            </a:r>
            <a:endParaRPr lang="zh-TW" altLang="zh-TW" sz="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ct val="30000"/>
              </a:spcBef>
              <a:buClrTx/>
              <a:buNone/>
            </a:pPr>
            <a:r>
              <a:rPr lang="zh-TW" altLang="zh-TW" sz="3200" b="1" dirty="0">
                <a:solidFill>
                  <a:srgbClr val="00702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if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zh-TW" altLang="zh-TW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__debug__</a:t>
            </a:r>
            <a:r>
              <a:rPr lang="en-US" altLang="zh-TW" sz="3200" dirty="0">
                <a:solidFill>
                  <a:srgbClr val="333333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200" b="1" dirty="0">
                <a:solidFill>
                  <a:srgbClr val="00702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and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(</a:t>
            </a:r>
            <a:r>
              <a:rPr lang="zh-TW" altLang="zh-TW" sz="3200" b="1" dirty="0">
                <a:solidFill>
                  <a:srgbClr val="00702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not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zh-TW" altLang="zh-TW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exp</a:t>
            </a:r>
            <a:r>
              <a:rPr lang="en-US" altLang="zh-TW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r1)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 </a:t>
            </a:r>
            <a:r>
              <a:rPr lang="en-US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ct val="30000"/>
              </a:spcBef>
              <a:buClrTx/>
              <a:buNone/>
            </a:pPr>
            <a:r>
              <a:rPr lang="en-US" altLang="zh-TW" sz="3200" b="1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	</a:t>
            </a:r>
            <a:r>
              <a:rPr lang="zh-TW" altLang="zh-TW" sz="3200" b="1" dirty="0">
                <a:solidFill>
                  <a:srgbClr val="00702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raise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zh-TW" altLang="zh-TW" sz="3200" dirty="0">
                <a:solidFill>
                  <a:srgbClr val="00702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AssertionError</a:t>
            </a:r>
            <a:r>
              <a:rPr lang="zh-TW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zh-TW" sz="3200" dirty="0">
                <a:solidFill>
                  <a:srgbClr val="333333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(expr2)</a:t>
            </a:r>
            <a:endParaRPr lang="zh-TW" altLang="zh-TW" sz="32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Comparing</a:t>
            </a:r>
            <a:r>
              <a:rPr lang="en-US" sz="4400" b="1" kern="0" dirty="0"/>
              <a:t> </a:t>
            </a:r>
            <a:r>
              <a:rPr lang="en-US" sz="4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assert</a:t>
            </a:r>
            <a:r>
              <a:rPr lang="en-US" sz="4400" b="1" kern="0" dirty="0"/>
              <a:t> </a:t>
            </a:r>
            <a:r>
              <a:rPr lang="en-US" sz="4400" kern="0" dirty="0">
                <a:latin typeface="Elephant" panose="02020904090505020303" pitchFamily="18" charset="0"/>
              </a:rPr>
              <a:t>to</a:t>
            </a:r>
            <a:r>
              <a:rPr lang="en-US" sz="4400" b="1" kern="0" dirty="0"/>
              <a:t> </a:t>
            </a:r>
            <a:r>
              <a:rPr lang="en-US" altLang="zh-TW" sz="40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raise</a:t>
            </a: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37279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888147"/>
            <a:ext cx="9040416" cy="6461272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33" dirty="0"/>
              <a:t>Python has </a:t>
            </a:r>
            <a:r>
              <a:rPr lang="en-US" altLang="en-US" sz="3333" dirty="0" smtClean="0"/>
              <a:t>six </a:t>
            </a:r>
            <a:r>
              <a:rPr lang="en-US" altLang="en-US" sz="3333" dirty="0"/>
              <a:t>standard data types: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 smtClean="0">
                <a:latin typeface="Elephant" panose="02020904090505020303" pitchFamily="18" charset="0"/>
              </a:rPr>
              <a:t>Set</a:t>
            </a:r>
            <a:endParaRPr lang="en-US" altLang="en-US" sz="2963" dirty="0">
              <a:latin typeface="Elephant" panose="02020904090505020303" pitchFamily="18" charset="0"/>
            </a:endParaRPr>
          </a:p>
          <a:p>
            <a:pPr marL="598339" indent="-509602">
              <a:buClr>
                <a:schemeClr val="tx1"/>
              </a:buClr>
              <a:buFont typeface="+mj-lt"/>
              <a:buAutoNum type="arabicPeriod"/>
            </a:pPr>
            <a:r>
              <a:rPr lang="en-US" altLang="en-US" sz="2963" dirty="0" smtClean="0">
                <a:latin typeface="Elephant" panose="02020904090505020303" pitchFamily="18" charset="0"/>
              </a:rPr>
              <a:t>Dictionary</a:t>
            </a:r>
            <a:endParaRPr lang="en-US" altLang="en-US" sz="2963" dirty="0"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	</a:t>
            </a:r>
            <a:r>
              <a:rPr lang="en-US" alt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… </a:t>
            </a:r>
            <a:endParaRPr lang="en-US" altLang="en-US" sz="2963" dirty="0" smtClean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endParaRPr lang="en-US" altLang="en-US" sz="1100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	</a:t>
            </a:r>
            <a:r>
              <a:rPr lang="en-US" sz="2963" dirty="0">
                <a:solidFill>
                  <a:schemeClr val="bg1"/>
                </a:solidFill>
              </a:rPr>
              <a:t>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 err="1">
                <a:solidFill>
                  <a:schemeClr val="bg1">
                    <a:lumMod val="50000"/>
                  </a:schemeClr>
                </a:solidFill>
              </a:rPr>
              <a:t>frozensets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bytes, </a:t>
            </a:r>
            <a:r>
              <a:rPr lang="en-US" sz="2963" dirty="0" err="1">
                <a:solidFill>
                  <a:schemeClr val="bg1">
                    <a:lumMod val="50000"/>
                  </a:schemeClr>
                </a:solidFill>
              </a:rPr>
              <a:t>bytearrays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etc.</a:t>
            </a:r>
            <a:br>
              <a:rPr lang="en-US" sz="2963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	will be covered later…</a:t>
            </a: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  <p:sp>
        <p:nvSpPr>
          <p:cNvPr id="8" name="Trapezoid 7"/>
          <p:cNvSpPr>
            <a:spLocks noChangeAspect="1"/>
          </p:cNvSpPr>
          <p:nvPr/>
        </p:nvSpPr>
        <p:spPr bwMode="auto">
          <a:xfrm rot="2700000" flipH="1">
            <a:off x="7930329" y="287601"/>
            <a:ext cx="2373368" cy="64399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70000"/>
              </a:lnSpc>
            </a:pPr>
            <a:r>
              <a:rPr lang="en-US" sz="24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1</a:t>
            </a:r>
            <a:br>
              <a:rPr lang="en-US" sz="240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153</a:t>
            </a:r>
            <a:endParaRPr lang="en-US" sz="280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20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888147"/>
            <a:ext cx="9040416" cy="6461272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33" dirty="0"/>
              <a:t>Python has </a:t>
            </a:r>
            <a:r>
              <a:rPr lang="en-US" altLang="en-US" sz="3333" dirty="0" smtClean="0"/>
              <a:t>six </a:t>
            </a:r>
            <a:r>
              <a:rPr lang="en-US" altLang="en-US" sz="3333" dirty="0"/>
              <a:t>standard data types: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Dictionary</a:t>
            </a:r>
          </a:p>
          <a:p>
            <a:pPr marL="598339" indent="-509602">
              <a:buClr>
                <a:schemeClr val="tx1"/>
              </a:buClr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Sets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	</a:t>
            </a:r>
            <a:r>
              <a:rPr lang="en-US" alt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… </a:t>
            </a:r>
            <a:endParaRPr lang="en-US" altLang="en-US" sz="2963" dirty="0" smtClean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endParaRPr lang="en-US" altLang="en-US" sz="1100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	</a:t>
            </a:r>
            <a:r>
              <a:rPr lang="en-US" sz="2963" dirty="0">
                <a:solidFill>
                  <a:schemeClr val="bg1"/>
                </a:solidFill>
              </a:rPr>
              <a:t>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 err="1">
                <a:solidFill>
                  <a:schemeClr val="bg1">
                    <a:lumMod val="50000"/>
                  </a:schemeClr>
                </a:solidFill>
              </a:rPr>
              <a:t>frozensets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bytes, </a:t>
            </a:r>
            <a:r>
              <a:rPr lang="en-US" sz="2963" dirty="0" err="1">
                <a:solidFill>
                  <a:schemeClr val="bg1">
                    <a:lumMod val="50000"/>
                  </a:schemeClr>
                </a:solidFill>
              </a:rPr>
              <a:t>bytearrays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etc.</a:t>
            </a:r>
            <a:br>
              <a:rPr lang="en-US" sz="2963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	will be covered later…</a:t>
            </a: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</p:spTree>
    <p:extLst>
      <p:ext uri="{BB962C8B-B14F-4D97-AF65-F5344CB8AC3E}">
        <p14:creationId xmlns:p14="http://schemas.microsoft.com/office/powerpoint/2010/main" val="380830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888147"/>
            <a:ext cx="9040416" cy="6461272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33" dirty="0"/>
              <a:t>Python has </a:t>
            </a:r>
            <a:r>
              <a:rPr lang="en-US" altLang="en-US" sz="3333" dirty="0" smtClean="0"/>
              <a:t>six </a:t>
            </a:r>
            <a:r>
              <a:rPr lang="en-US" altLang="en-US" sz="3333" dirty="0"/>
              <a:t>standard data types: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</a:p>
          <a:p>
            <a:pPr marL="598339" indent="-509602">
              <a:buClr>
                <a:schemeClr val="tx1"/>
              </a:buClr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Sets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	</a:t>
            </a:r>
            <a:r>
              <a:rPr lang="en-US" alt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… </a:t>
            </a:r>
            <a:endParaRPr lang="en-US" altLang="en-US" sz="2963" dirty="0" smtClean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endParaRPr lang="en-US" altLang="en-US" sz="1100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	</a:t>
            </a:r>
            <a:r>
              <a:rPr lang="en-US" sz="2963" dirty="0">
                <a:solidFill>
                  <a:schemeClr val="bg1"/>
                </a:solidFill>
              </a:rPr>
              <a:t>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 err="1">
                <a:solidFill>
                  <a:srgbClr val="FF0000"/>
                </a:solidFill>
              </a:rPr>
              <a:t>frozensets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bytes, </a:t>
            </a:r>
            <a:r>
              <a:rPr lang="en-US" sz="2963" dirty="0" err="1">
                <a:solidFill>
                  <a:schemeClr val="bg1">
                    <a:lumMod val="50000"/>
                  </a:schemeClr>
                </a:solidFill>
              </a:rPr>
              <a:t>bytearrays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etc.</a:t>
            </a:r>
            <a:br>
              <a:rPr lang="en-US" sz="2963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	will be covered later…</a:t>
            </a: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</p:spTree>
    <p:extLst>
      <p:ext uri="{BB962C8B-B14F-4D97-AF65-F5344CB8AC3E}">
        <p14:creationId xmlns:p14="http://schemas.microsoft.com/office/powerpoint/2010/main" val="390578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888147"/>
            <a:ext cx="9040416" cy="6461272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33" dirty="0"/>
              <a:t>Python has six/seven standard data types: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</a:p>
          <a:p>
            <a:pPr marL="598339" indent="-509602">
              <a:buClr>
                <a:schemeClr val="tx1"/>
              </a:buClr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Sets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6.5 </a:t>
            </a:r>
            <a:r>
              <a:rPr lang="en-US" altLang="en-US" sz="2963" dirty="0" err="1">
                <a:solidFill>
                  <a:srgbClr val="FF0000"/>
                </a:solidFill>
                <a:latin typeface="Elephant" panose="02020904090505020303" pitchFamily="18" charset="0"/>
              </a:rPr>
              <a:t>Frozensets</a:t>
            </a:r>
            <a:endParaRPr lang="en-US" altLang="en-US" sz="2963" dirty="0">
              <a:solidFill>
                <a:srgbClr val="FF0000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	</a:t>
            </a:r>
            <a:r>
              <a:rPr lang="en-US" alt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… </a:t>
            </a:r>
          </a:p>
          <a:p>
            <a:pPr marL="88737" indent="0">
              <a:buNone/>
            </a:pPr>
            <a:endParaRPr lang="en-US" altLang="en-US" sz="1100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	</a:t>
            </a:r>
            <a:r>
              <a:rPr lang="en-US" sz="2963" dirty="0">
                <a:solidFill>
                  <a:schemeClr val="bg1"/>
                </a:solidFill>
              </a:rPr>
              <a:t>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 err="1">
                <a:solidFill>
                  <a:schemeClr val="bg1"/>
                </a:solidFill>
              </a:rPr>
              <a:t>frozensets</a:t>
            </a:r>
            <a:r>
              <a:rPr lang="en-US" sz="2963" dirty="0">
                <a:solidFill>
                  <a:schemeClr val="bg1"/>
                </a:solidFill>
              </a:rPr>
              <a:t>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bytes, </a:t>
            </a:r>
            <a:r>
              <a:rPr lang="en-US" sz="2963" dirty="0" err="1">
                <a:solidFill>
                  <a:schemeClr val="bg1">
                    <a:lumMod val="50000"/>
                  </a:schemeClr>
                </a:solidFill>
              </a:rPr>
              <a:t>bytearrays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etc.</a:t>
            </a:r>
            <a:br>
              <a:rPr lang="en-US" sz="2963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	will be covered later…</a:t>
            </a: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3802062" y="2711454"/>
            <a:ext cx="5638800" cy="1676400"/>
          </a:xfrm>
          <a:prstGeom prst="wedgeRoundRectCallout">
            <a:avLst>
              <a:gd name="adj1" fmla="val -80185"/>
              <a:gd name="adj2" fmla="val 68666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The fact that it can’t be changed is the reason why it is called a </a:t>
            </a:r>
            <a:r>
              <a:rPr lang="en-US" altLang="zh-TW" sz="3200" i="1" dirty="0">
                <a:solidFill>
                  <a:srgbClr val="000000"/>
                </a:solidFill>
                <a:latin typeface="Times New Roman" charset="0"/>
              </a:rPr>
              <a:t>frozen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 set (i.e., frozen in time).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308146" y="5538437"/>
            <a:ext cx="1215476" cy="1185745"/>
          </a:xfrm>
          <a:prstGeom prst="wedgeRoundRectCallout">
            <a:avLst>
              <a:gd name="adj1" fmla="val -4765"/>
              <a:gd name="adj2" fmla="val -92023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846552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Why 6.5?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2364059" y="5149853"/>
            <a:ext cx="7066306" cy="1676400"/>
          </a:xfrm>
          <a:prstGeom prst="wedgeRoundRectCallout">
            <a:avLst>
              <a:gd name="adj1" fmla="val -64667"/>
              <a:gd name="adj2" fmla="val -3736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A</a:t>
            </a:r>
            <a:r>
              <a:rPr lang="en-US" altLang="zh-TW" sz="2000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charset="0"/>
              </a:rPr>
              <a:t>frozenset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TW" sz="3200" i="1" dirty="0">
                <a:solidFill>
                  <a:srgbClr val="000000"/>
                </a:solidFill>
                <a:latin typeface="Times New Roman" charset="0"/>
              </a:rPr>
              <a:t>is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a </a:t>
            </a:r>
            <a:r>
              <a:rPr lang="en-US" altLang="zh-TW" sz="3200" b="1" dirty="0">
                <a:solidFill>
                  <a:srgbClr val="003300"/>
                </a:solidFill>
                <a:latin typeface="Times New Roman" charset="0"/>
              </a:rPr>
              <a:t>set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TW" sz="3200" spc="-130" dirty="0">
                <a:solidFill>
                  <a:srgbClr val="000000"/>
                </a:solidFill>
                <a:latin typeface="Times New Roman" charset="0"/>
              </a:rPr>
              <a:t>(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for exam</a:t>
            </a:r>
            <a:r>
              <a:rPr lang="en-US" altLang="zh-TW" sz="3200" spc="-30" dirty="0">
                <a:solidFill>
                  <a:srgbClr val="000000"/>
                </a:solidFill>
                <a:latin typeface="Times New Roman" charset="0"/>
              </a:rPr>
              <a:t>ple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, the two types can be compare</a:t>
            </a:r>
            <a:r>
              <a:rPr lang="en-US" altLang="zh-TW" sz="3200" spc="-50" dirty="0">
                <a:solidFill>
                  <a:srgbClr val="000000"/>
                </a:solidFill>
                <a:latin typeface="Times New Roman" charset="0"/>
              </a:rPr>
              <a:t>d)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. </a:t>
            </a:r>
            <a:r>
              <a:rPr lang="en-US" altLang="zh-TW" sz="3200" dirty="0" smtClean="0">
                <a:solidFill>
                  <a:srgbClr val="000000"/>
                </a:solidFill>
                <a:latin typeface="Times New Roman" charset="0"/>
              </a:rPr>
              <a:t>But 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also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it</a:t>
            </a:r>
            <a:r>
              <a:rPr lang="en-US" altLang="zh-TW" sz="3200" i="1" dirty="0">
                <a:solidFill>
                  <a:srgbClr val="000000"/>
                </a:solidFill>
                <a:latin typeface="Times New Roman" charset="0"/>
              </a:rPr>
              <a:t> i</a:t>
            </a:r>
            <a:r>
              <a:rPr lang="en-US" altLang="zh-TW" sz="3200" i="1" spc="-100" dirty="0">
                <a:solidFill>
                  <a:srgbClr val="000000"/>
                </a:solidFill>
                <a:latin typeface="Times New Roman" charset="0"/>
              </a:rPr>
              <a:t>s</a:t>
            </a:r>
            <a:r>
              <a:rPr lang="en-US" altLang="zh-TW" sz="3200" i="1" spc="-500" dirty="0">
                <a:solidFill>
                  <a:srgbClr val="000000"/>
                </a:solidFill>
                <a:latin typeface="Times New Roman" charset="0"/>
              </a:rPr>
              <a:t>n</a:t>
            </a:r>
            <a:r>
              <a:rPr lang="en-US" altLang="zh-TW" sz="3200" i="1" spc="160" dirty="0">
                <a:solidFill>
                  <a:srgbClr val="000000"/>
                </a:solidFill>
                <a:latin typeface="Times New Roman" charset="0"/>
              </a:rPr>
              <a:t>’</a:t>
            </a:r>
            <a:r>
              <a:rPr lang="en-US" altLang="zh-TW" sz="3200" i="1" dirty="0">
                <a:solidFill>
                  <a:srgbClr val="000000"/>
                </a:solidFill>
                <a:latin typeface="Times New Roman" charset="0"/>
              </a:rPr>
              <a:t>t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 a </a:t>
            </a:r>
            <a:r>
              <a:rPr lang="en-US" altLang="zh-TW" sz="3200" b="1" dirty="0">
                <a:solidFill>
                  <a:srgbClr val="003300"/>
                </a:solidFill>
                <a:latin typeface="Times New Roman" charset="0"/>
              </a:rPr>
              <a:t>normal set</a:t>
            </a:r>
            <a:r>
              <a:rPr lang="en-US" altLang="zh-TW" sz="3200" dirty="0">
                <a:solidFill>
                  <a:srgbClr val="003300"/>
                </a:solidFill>
                <a:latin typeface="Times New Roman" charset="0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(because it </a:t>
            </a:r>
            <a:r>
              <a:rPr lang="en-US" altLang="zh-TW" sz="3200" dirty="0" smtClean="0">
                <a:solidFill>
                  <a:srgbClr val="000000"/>
                </a:solidFill>
                <a:latin typeface="Times New Roman" charset="0"/>
              </a:rPr>
              <a:t>ca</a:t>
            </a:r>
            <a:r>
              <a:rPr lang="en-US" altLang="zh-TW" sz="3200" spc="-200" dirty="0" smtClean="0">
                <a:solidFill>
                  <a:srgbClr val="000000"/>
                </a:solidFill>
                <a:latin typeface="Times New Roman" charset="0"/>
              </a:rPr>
              <a:t>n</a:t>
            </a:r>
            <a:r>
              <a:rPr lang="en-US" altLang="zh-TW" sz="3200" dirty="0" smtClean="0">
                <a:solidFill>
                  <a:srgbClr val="000000"/>
                </a:solidFill>
                <a:latin typeface="Times New Roman" charset="0"/>
              </a:rPr>
              <a:t>’t 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be change</a:t>
            </a:r>
            <a:r>
              <a:rPr lang="en-US" altLang="zh-TW" sz="3200" spc="-60" dirty="0">
                <a:solidFill>
                  <a:srgbClr val="000000"/>
                </a:solidFill>
                <a:latin typeface="Times New Roman" charset="0"/>
              </a:rPr>
              <a:t>d).</a:t>
            </a:r>
            <a:endParaRPr lang="zh-TW" altLang="en-US" sz="3200" spc="-60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04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3" y="762000"/>
            <a:ext cx="9144000" cy="59436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As we have said, a set is an unordered list.</a:t>
            </a:r>
          </a:p>
          <a:p>
            <a:pPr lvl="1">
              <a:spcBef>
                <a:spcPts val="0"/>
              </a:spcBef>
            </a:pPr>
            <a:r>
              <a:rPr lang="en-US" sz="3000" dirty="0">
                <a:solidFill>
                  <a:srgbClr val="FF0000"/>
                </a:solidFill>
              </a:rPr>
              <a:t>And lists are mutable</a:t>
            </a:r>
          </a:p>
          <a:p>
            <a:pPr lvl="2">
              <a:spcBef>
                <a:spcPts val="0"/>
              </a:spcBef>
            </a:pPr>
            <a:r>
              <a:rPr lang="en-US" sz="2800" dirty="0">
                <a:solidFill>
                  <a:srgbClr val="FF0000"/>
                </a:solidFill>
              </a:rPr>
              <a:t>So sets are mutable</a:t>
            </a:r>
          </a:p>
          <a:p>
            <a:r>
              <a:rPr lang="en-US" sz="3200" dirty="0">
                <a:solidFill>
                  <a:srgbClr val="FF0000"/>
                </a:solidFill>
              </a:rPr>
              <a:t>If you want an immutable set, however, then you can create that also.</a:t>
            </a:r>
          </a:p>
          <a:p>
            <a:pPr lvl="1">
              <a:spcBef>
                <a:spcPts val="0"/>
              </a:spcBef>
            </a:pPr>
            <a:r>
              <a:rPr lang="en-US" sz="3000" dirty="0">
                <a:solidFill>
                  <a:srgbClr val="FF0000"/>
                </a:solidFill>
              </a:rPr>
              <a:t>Python calls this a </a:t>
            </a:r>
            <a:r>
              <a:rPr lang="en-US" sz="2800" b="1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frozenset</a:t>
            </a:r>
            <a:endParaRPr lang="en-US" sz="3200" b="1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r>
              <a:rPr lang="en-US" sz="3200" dirty="0">
                <a:solidFill>
                  <a:srgbClr val="FF0000"/>
                </a:solidFill>
              </a:rPr>
              <a:t>A </a:t>
            </a:r>
            <a:r>
              <a:rPr lang="en-US" sz="3200" dirty="0" err="1">
                <a:solidFill>
                  <a:srgbClr val="00B050"/>
                </a:solidFill>
              </a:rPr>
              <a:t>frozenset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>
                <a:solidFill>
                  <a:srgbClr val="FF0000"/>
                </a:solidFill>
              </a:rPr>
              <a:t>is able to be compared to a </a:t>
            </a:r>
            <a:r>
              <a:rPr lang="en-US" sz="3200" dirty="0" smtClean="0">
                <a:solidFill>
                  <a:srgbClr val="00B050"/>
                </a:solidFill>
              </a:rPr>
              <a:t>set</a:t>
            </a:r>
            <a:r>
              <a:rPr lang="en-US" sz="3200" dirty="0" smtClean="0">
                <a:solidFill>
                  <a:srgbClr val="FF0000"/>
                </a:solidFill>
              </a:rPr>
              <a:t>:</a:t>
            </a: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sz="28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z="2800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	&gt;&gt;&gt;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	False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Sets </a:t>
            </a:r>
            <a:r>
              <a:rPr lang="en-US" altLang="en-US" sz="4400" dirty="0" smtClean="0">
                <a:solidFill>
                  <a:srgbClr val="2D2DB9"/>
                </a:solidFill>
              </a:rPr>
              <a:t>and </a:t>
            </a:r>
            <a:r>
              <a:rPr lang="en-US" altLang="en-US" sz="4400" dirty="0" err="1">
                <a:solidFill>
                  <a:srgbClr val="2D2DB9"/>
                </a:solidFill>
              </a:rPr>
              <a:t>Frozensets</a:t>
            </a:r>
            <a:endParaRPr lang="en-US" altLang="en-US" sz="4400" dirty="0">
              <a:solidFill>
                <a:srgbClr val="2D2DB9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09184" y="6449080"/>
            <a:ext cx="8338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1209184" y="4967448"/>
            <a:ext cx="8338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765830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3" y="762000"/>
            <a:ext cx="9323509" cy="6096000"/>
          </a:xfrm>
        </p:spPr>
        <p:txBody>
          <a:bodyPr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3600" dirty="0">
                <a:solidFill>
                  <a:srgbClr val="FF0000"/>
                </a:solidFill>
              </a:rPr>
              <a:t>Sometimes an immutable type is required.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3600" dirty="0" smtClean="0">
                <a:solidFill>
                  <a:schemeClr val="bg1"/>
                </a:solidFill>
              </a:rPr>
              <a:t>E</a:t>
            </a:r>
            <a:endParaRPr lang="en-US" sz="3200" dirty="0">
              <a:solidFill>
                <a:schemeClr val="bg1"/>
              </a:solidFill>
            </a:endParaRP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2D2DB9"/>
                </a:solidFill>
              </a:rPr>
              <a:t>Dictionary keys must be immutable:</a:t>
            </a:r>
          </a:p>
          <a:p>
            <a:pPr marL="370366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{1:{2}}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#dictionary </a:t>
            </a:r>
            <a:r>
              <a:rPr lang="en-US" sz="2800" i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values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are fine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b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{1: {2}}</a:t>
            </a:r>
            <a:b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{"h":"</a:t>
            </a:r>
            <a:r>
              <a:rPr 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",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{2}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:1,():[]}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#but not </a:t>
            </a:r>
            <a:r>
              <a:rPr lang="en-US" sz="2800" i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keys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/>
            </a:r>
            <a:b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 (most recent call last):</a:t>
            </a:r>
            <a:b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</a:b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stdin</a:t>
            </a: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&gt;", line 1, in &lt;module&gt;</a:t>
            </a:r>
            <a:b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</a:br>
            <a:r>
              <a:rPr lang="en-US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TypeError</a:t>
            </a: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: </a:t>
            </a:r>
            <a:r>
              <a:rPr lang="en-US" sz="3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sz="3000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Set elements must be immutable:</a:t>
            </a:r>
            <a:endParaRPr lang="en-US" sz="3000" dirty="0">
              <a:solidFill>
                <a:srgbClr val="2D2DB9"/>
              </a:solidFill>
            </a:endParaRPr>
          </a:p>
          <a:p>
            <a:pPr marL="370366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 {1,2,"hi",</a:t>
            </a:r>
            <a:r>
              <a:rPr lang="en-US" altLang="zh-TW" sz="3000" dirty="0">
                <a:solidFill>
                  <a:srgbClr val="FF0000"/>
                </a:solidFill>
                <a:latin typeface="Lucida Console" panose="020B0609040504020204" pitchFamily="49" charset="0"/>
              </a:rPr>
              <a:t>{2}</a:t>
            </a: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,7}</a:t>
            </a:r>
            <a:b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zh-TW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 (most recent call last):</a:t>
            </a:r>
            <a:b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</a:br>
            <a: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&gt;", line 1, in &lt;module&gt;</a:t>
            </a: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/>
            </a:r>
            <a:b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</a:br>
            <a:r>
              <a:rPr lang="en-US" altLang="zh-TW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3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3000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  <a:endParaRPr lang="en-US" altLang="zh-TW" sz="3000" dirty="0">
              <a:solidFill>
                <a:srgbClr val="FF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Sets vs </a:t>
            </a:r>
            <a:r>
              <a:rPr lang="en-US" altLang="en-US" sz="4400" dirty="0" err="1">
                <a:solidFill>
                  <a:srgbClr val="2D2DB9"/>
                </a:solidFill>
              </a:rPr>
              <a:t>Frozensets</a:t>
            </a:r>
            <a:endParaRPr lang="en-US" altLang="en-US" sz="4400" dirty="0">
              <a:solidFill>
                <a:srgbClr val="2D2DB9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4267" y="1280569"/>
            <a:ext cx="8622873" cy="6186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dirty="0" err="1">
                <a:solidFill>
                  <a:srgbClr val="FF0000"/>
                </a:solidFill>
              </a:rPr>
              <a:t>Eg</a:t>
            </a:r>
            <a:r>
              <a:rPr lang="en-US" sz="3600" dirty="0">
                <a:solidFill>
                  <a:srgbClr val="FF0000"/>
                </a:solidFill>
              </a:rPr>
              <a:t>, only immutable types can be hashed.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1846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4267" y="1280569"/>
            <a:ext cx="8622873" cy="6186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dirty="0" err="1">
                <a:solidFill>
                  <a:srgbClr val="FF0000"/>
                </a:solidFill>
              </a:rPr>
              <a:t>Eg</a:t>
            </a:r>
            <a:r>
              <a:rPr lang="en-US" sz="3600" dirty="0">
                <a:solidFill>
                  <a:srgbClr val="FF0000"/>
                </a:solidFill>
              </a:rPr>
              <a:t>, only immutable types can be hashed.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3" y="762000"/>
            <a:ext cx="9323509" cy="6096000"/>
          </a:xfrm>
        </p:spPr>
        <p:txBody>
          <a:bodyPr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3600" dirty="0">
                <a:solidFill>
                  <a:schemeClr val="tx1"/>
                </a:solidFill>
              </a:rPr>
              <a:t>Sometimes an immutable type is required.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dirty="0">
                <a:solidFill>
                  <a:srgbClr val="FF0000"/>
                </a:solidFill>
              </a:rPr>
              <a:t>In such cases, cast the set into a </a:t>
            </a:r>
            <a:r>
              <a:rPr lang="en-US" altLang="zh-TW" sz="3600" dirty="0" err="1">
                <a:solidFill>
                  <a:srgbClr val="00B050"/>
                </a:solidFill>
              </a:rPr>
              <a:t>frozenset</a:t>
            </a:r>
            <a:r>
              <a:rPr lang="en-US" altLang="zh-TW" sz="3600" dirty="0">
                <a:solidFill>
                  <a:schemeClr val="tx1"/>
                </a:solidFill>
              </a:rPr>
              <a:t>:</a:t>
            </a:r>
            <a:endParaRPr lang="en-US" sz="3200" dirty="0">
              <a:solidFill>
                <a:srgbClr val="FF0000"/>
              </a:solidFill>
            </a:endParaRP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2D2DB9"/>
                </a:solidFill>
              </a:rPr>
              <a:t>Dictionary keys must be immutable:</a:t>
            </a:r>
          </a:p>
          <a:p>
            <a:pPr marL="370366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{1:{2</a:t>
            </a:r>
            <a:r>
              <a:rPr 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}}</a:t>
            </a:r>
            <a:r>
              <a:rPr lang="en-US" altLang="zh-TW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dictionary </a:t>
            </a:r>
            <a:r>
              <a:rPr lang="en-US" altLang="zh-TW" sz="2800" i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values 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are fine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b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{1: {2}}</a:t>
            </a:r>
            <a:b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{"h":"</a:t>
            </a:r>
            <a:r>
              <a:rPr 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",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        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{2}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:1,():[]}</a:t>
            </a:r>
            <a:b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 (most recent call last):</a:t>
            </a:r>
            <a:b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</a:b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stdin</a:t>
            </a: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&gt;", line 1, in &lt;module&gt;</a:t>
            </a:r>
            <a:b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</a:br>
            <a:r>
              <a:rPr lang="en-US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TypeError</a:t>
            </a: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: </a:t>
            </a:r>
            <a:r>
              <a:rPr lang="en-US" sz="3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sz="3000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Set elements must be immutable:</a:t>
            </a:r>
            <a:endParaRPr lang="en-US" sz="3000" dirty="0">
              <a:solidFill>
                <a:srgbClr val="2D2DB9"/>
              </a:solidFill>
            </a:endParaRPr>
          </a:p>
          <a:p>
            <a:pPr marL="370366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 {1,2,"hi",</a:t>
            </a:r>
            <a:r>
              <a:rPr lang="en-US" altLang="zh-TW" sz="30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        </a:t>
            </a:r>
            <a:r>
              <a:rPr lang="en-US" altLang="zh-TW" sz="3000" dirty="0">
                <a:solidFill>
                  <a:srgbClr val="FF0000"/>
                </a:solidFill>
                <a:latin typeface="Lucida Console" panose="020B0609040504020204" pitchFamily="49" charset="0"/>
              </a:rPr>
              <a:t>{2}</a:t>
            </a:r>
            <a:r>
              <a:rPr lang="en-US" altLang="zh-TW" sz="30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,7}</a:t>
            </a:r>
            <a:b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zh-TW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 (most recent call last):</a:t>
            </a:r>
            <a:b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</a:br>
            <a: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&gt;", line 1, in &lt;module&gt;</a:t>
            </a: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/>
            </a:r>
            <a:b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</a:br>
            <a:r>
              <a:rPr lang="en-US" altLang="zh-TW" sz="3000" dirty="0" err="1">
                <a:solidFill>
                  <a:srgbClr val="FFCCFF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3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3000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  <a:endParaRPr lang="en-US" altLang="zh-TW" sz="3000" dirty="0">
              <a:solidFill>
                <a:srgbClr val="FF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Sets vs </a:t>
            </a:r>
            <a:r>
              <a:rPr lang="en-US" altLang="en-US" sz="4400" dirty="0" err="1">
                <a:solidFill>
                  <a:srgbClr val="2D2DB9"/>
                </a:solidFill>
              </a:rPr>
              <a:t>Frozensets</a:t>
            </a:r>
            <a:endParaRPr lang="en-US" altLang="en-US" sz="4400" dirty="0">
              <a:solidFill>
                <a:srgbClr val="2D2D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0357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3" y="762000"/>
            <a:ext cx="9323509" cy="6096000"/>
          </a:xfrm>
        </p:spPr>
        <p:txBody>
          <a:bodyPr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3600" dirty="0">
                <a:solidFill>
                  <a:schemeClr val="tx1"/>
                </a:solidFill>
              </a:rPr>
              <a:t>Sometimes an immutable type is required.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dirty="0">
                <a:solidFill>
                  <a:srgbClr val="FF0000"/>
                </a:solidFill>
              </a:rPr>
              <a:t>In such cases, cast the set into a </a:t>
            </a:r>
            <a:r>
              <a:rPr lang="en-US" altLang="zh-TW" sz="3600" dirty="0" err="1">
                <a:solidFill>
                  <a:srgbClr val="00B050"/>
                </a:solidFill>
              </a:rPr>
              <a:t>frozenset</a:t>
            </a:r>
            <a:r>
              <a:rPr lang="en-US" altLang="zh-TW" sz="3600" dirty="0">
                <a:solidFill>
                  <a:schemeClr val="tx1"/>
                </a:solidFill>
              </a:rPr>
              <a:t>:</a:t>
            </a:r>
            <a:endParaRPr lang="en-US" sz="3200" dirty="0">
              <a:solidFill>
                <a:srgbClr val="FF0000"/>
              </a:solidFill>
            </a:endParaRP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2D2DB9"/>
                </a:solidFill>
              </a:rPr>
              <a:t>Dictionary keys must be immutable:</a:t>
            </a:r>
          </a:p>
          <a:p>
            <a:pPr marL="370366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{1:{2}</a:t>
            </a:r>
            <a:r>
              <a:rPr lang="en-US" sz="28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} 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dictionary </a:t>
            </a:r>
            <a:r>
              <a:rPr lang="en-US" sz="2800" i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values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are fine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b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{1: {2}}</a:t>
            </a:r>
            <a:b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{"h":"</a:t>
            </a:r>
            <a:r>
              <a:rPr 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",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frozenset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{2}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)</a:t>
            </a:r>
            <a:r>
              <a:rPr 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:1,():[]}</a:t>
            </a:r>
            <a:endParaRPr lang="en-US" altLang="zh-TW" sz="30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370366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{'h': '</a:t>
            </a:r>
            <a:r>
              <a:rPr lang="en-US" altLang="zh-TW" sz="3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30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({2}): 1, (): []}</a:t>
            </a: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/>
            </a:r>
            <a:b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</a:br>
            <a:r>
              <a:rPr lang="en-US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/>
            </a:r>
            <a:b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</a:br>
            <a:r>
              <a:rPr lang="en-US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 </a:t>
            </a:r>
            <a:endParaRPr lang="en-US" sz="30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Set elements must be immutable:</a:t>
            </a:r>
            <a:endParaRPr lang="en-US" sz="3000" dirty="0">
              <a:solidFill>
                <a:srgbClr val="2D2DB9"/>
              </a:solidFill>
            </a:endParaRPr>
          </a:p>
          <a:p>
            <a:pPr marL="370366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 {1,2,"hi",</a:t>
            </a:r>
            <a:r>
              <a:rPr lang="en-US" altLang="zh-TW" sz="30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frozenset(</a:t>
            </a:r>
            <a:r>
              <a:rPr lang="en-US" altLang="zh-TW" sz="3000" dirty="0">
                <a:solidFill>
                  <a:srgbClr val="FF0000"/>
                </a:solidFill>
                <a:latin typeface="Lucida Console" panose="020B0609040504020204" pitchFamily="49" charset="0"/>
              </a:rPr>
              <a:t>{2}</a:t>
            </a:r>
            <a:r>
              <a:rPr lang="en-US" altLang="zh-TW" sz="30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,7}</a:t>
            </a:r>
          </a:p>
          <a:p>
            <a:pPr marL="370366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{1, 2, 7, 'hi', </a:t>
            </a:r>
            <a:r>
              <a:rPr lang="en-US" altLang="zh-TW" sz="3000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3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{2}</a:t>
            </a:r>
            <a:r>
              <a:rPr lang="en-US" altLang="zh-TW" sz="3000" b="1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30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/>
            </a:r>
            <a:b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</a:b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b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</a:br>
            <a:r>
              <a:rPr lang="en-US" altLang="zh-TW" sz="3000" dirty="0">
                <a:solidFill>
                  <a:srgbClr val="FFCCFF"/>
                </a:solidFill>
                <a:latin typeface="Lucida Console" panose="020B0609040504020204" pitchFamily="49" charset="0"/>
              </a:rPr>
              <a:t> </a:t>
            </a:r>
            <a:endParaRPr lang="en-US" altLang="zh-TW" sz="3000" dirty="0">
              <a:solidFill>
                <a:srgbClr val="FF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Sets vs </a:t>
            </a:r>
            <a:r>
              <a:rPr lang="en-US" altLang="en-US" sz="4400" dirty="0" err="1">
                <a:solidFill>
                  <a:srgbClr val="2D2DB9"/>
                </a:solidFill>
              </a:rPr>
              <a:t>Frozensets</a:t>
            </a:r>
            <a:endParaRPr lang="en-US" altLang="en-US" sz="4400" dirty="0">
              <a:solidFill>
                <a:srgbClr val="2D2D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1577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1"/>
          <p:cNvSpPr>
            <a:spLocks noGrp="1" noChangeArrowheads="1"/>
          </p:cNvSpPr>
          <p:nvPr>
            <p:ph type="title"/>
          </p:nvPr>
        </p:nvSpPr>
        <p:spPr>
          <a:xfrm>
            <a:off x="947" y="0"/>
            <a:ext cx="9735831" cy="1895329"/>
          </a:xfrm>
        </p:spPr>
        <p:txBody>
          <a:bodyPr/>
          <a:lstStyle/>
          <a:p>
            <a:pPr eaLnBrk="1">
              <a:lnSpc>
                <a:spcPct val="90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US" altLang="en-US" sz="4074" dirty="0">
                <a:latin typeface="Elephant" panose="02020904090505020303" pitchFamily="18" charset="0"/>
              </a:rPr>
              <a:t>Mutable types have their uses too. </a:t>
            </a:r>
            <a:r>
              <a:rPr lang="en-US" altLang="en-US" sz="4074" dirty="0" smtClean="0">
                <a:solidFill>
                  <a:srgbClr val="0070C0"/>
                </a:solidFill>
                <a:latin typeface="Elephant" panose="02020904090505020303" pitchFamily="18" charset="0"/>
              </a:rPr>
              <a:t>These methods are </a:t>
            </a:r>
            <a:r>
              <a:rPr lang="en-US" altLang="en-US" sz="4074" dirty="0">
                <a:solidFill>
                  <a:srgbClr val="FF0000"/>
                </a:solidFill>
                <a:latin typeface="Elephant" panose="02020904090505020303" pitchFamily="18" charset="0"/>
              </a:rPr>
              <a:t>only for sets</a:t>
            </a:r>
            <a:r>
              <a:rPr lang="en-US" altLang="en-US" sz="4074" dirty="0">
                <a:solidFill>
                  <a:srgbClr val="0070C0"/>
                </a:solidFill>
                <a:latin typeface="Elephant" panose="02020904090505020303" pitchFamily="18" charset="0"/>
              </a:rPr>
              <a:t>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423608"/>
              </p:ext>
            </p:extLst>
          </p:nvPr>
        </p:nvGraphicFramePr>
        <p:xfrm>
          <a:off x="289932" y="1895330"/>
          <a:ext cx="9150931" cy="4742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5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4864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816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dirty="0" smtClean="0">
                          <a:solidFill>
                            <a:schemeClr val="tx1"/>
                          </a:solidFill>
                          <a:effectLst/>
                        </a:rPr>
                        <a:t>Method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Symbol</a:t>
                      </a:r>
                      <a:endParaRPr lang="zh-TW" altLang="en-US" sz="1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>
                          <a:solidFill>
                            <a:schemeClr val="tx1"/>
                          </a:solidFill>
                          <a:effectLst/>
                        </a:rPr>
                        <a:t>Result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2257">
                <a:tc>
                  <a:txBody>
                    <a:bodyPr/>
                    <a:lstStyle/>
                    <a:p>
                      <a:pPr algn="l"/>
                      <a:r>
                        <a:rPr lang="en-US" sz="2300" dirty="0" err="1" smtClean="0">
                          <a:effectLst/>
                        </a:rPr>
                        <a:t>s.update</a:t>
                      </a:r>
                      <a:r>
                        <a:rPr lang="en-US" sz="2300" dirty="0" smtClean="0">
                          <a:effectLst/>
                        </a:rPr>
                        <a:t>(t)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i="1" dirty="0">
                          <a:effectLst/>
                        </a:rPr>
                        <a:t>s</a:t>
                      </a:r>
                      <a:r>
                        <a:rPr lang="en-US" sz="1900" dirty="0">
                          <a:effectLst/>
                        </a:rPr>
                        <a:t> |= </a:t>
                      </a:r>
                      <a:r>
                        <a:rPr lang="en-US" sz="1900" i="1" dirty="0">
                          <a:effectLst/>
                        </a:rPr>
                        <a:t>t</a:t>
                      </a:r>
                      <a:endParaRPr lang="en-US" sz="1900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i="1" dirty="0" smtClean="0">
                          <a:effectLst/>
                        </a:rPr>
                        <a:t>s</a:t>
                      </a:r>
                      <a:r>
                        <a:rPr lang="en-US" sz="2400" baseline="0" dirty="0" smtClean="0">
                          <a:effectLst/>
                        </a:rPr>
                        <a:t> = </a:t>
                      </a:r>
                      <a:r>
                        <a:rPr lang="en-US" sz="2400" i="1" baseline="0" dirty="0" smtClean="0">
                          <a:effectLst/>
                        </a:rPr>
                        <a:t>s</a:t>
                      </a:r>
                      <a:r>
                        <a:rPr lang="en-US" sz="2400" baseline="0" dirty="0" smtClean="0">
                          <a:effectLst/>
                        </a:rPr>
                        <a:t> | </a:t>
                      </a:r>
                      <a:r>
                        <a:rPr lang="en-US" sz="2400" i="1" baseline="0" dirty="0" smtClean="0">
                          <a:effectLst/>
                        </a:rPr>
                        <a:t>t</a:t>
                      </a:r>
                      <a:endParaRPr lang="en-US" sz="2400" i="1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2257">
                <a:tc>
                  <a:txBody>
                    <a:bodyPr/>
                    <a:lstStyle/>
                    <a:p>
                      <a:pPr algn="l"/>
                      <a:r>
                        <a:rPr lang="en-US" sz="2100" dirty="0" err="1">
                          <a:effectLst/>
                        </a:rPr>
                        <a:t>s.intersection_update</a:t>
                      </a:r>
                      <a:r>
                        <a:rPr lang="en-US" sz="2100" dirty="0">
                          <a:effectLst/>
                        </a:rPr>
                        <a:t>(t)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i="1" dirty="0">
                          <a:effectLst/>
                        </a:rPr>
                        <a:t>s</a:t>
                      </a:r>
                      <a:r>
                        <a:rPr lang="en-US" sz="1900" dirty="0">
                          <a:effectLst/>
                        </a:rPr>
                        <a:t> &amp;= </a:t>
                      </a:r>
                      <a:r>
                        <a:rPr lang="en-US" sz="1900" i="1" dirty="0">
                          <a:effectLst/>
                        </a:rPr>
                        <a:t>t</a:t>
                      </a:r>
                      <a:endParaRPr lang="en-US" sz="1900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 smtClean="0">
                          <a:effectLst/>
                        </a:rPr>
                        <a:t>s</a:t>
                      </a:r>
                      <a:r>
                        <a:rPr lang="en-US" altLang="zh-TW" sz="2400" baseline="0" dirty="0" smtClean="0">
                          <a:effectLst/>
                        </a:rPr>
                        <a:t> = </a:t>
                      </a:r>
                      <a:r>
                        <a:rPr lang="en-US" altLang="zh-TW" sz="2400" i="1" baseline="0" dirty="0" smtClean="0">
                          <a:effectLst/>
                        </a:rPr>
                        <a:t>s</a:t>
                      </a:r>
                      <a:r>
                        <a:rPr lang="en-US" altLang="zh-TW" sz="2400" baseline="0" dirty="0" smtClean="0">
                          <a:effectLst/>
                        </a:rPr>
                        <a:t> &amp; </a:t>
                      </a:r>
                      <a:r>
                        <a:rPr lang="en-US" altLang="zh-TW" sz="2400" i="1" baseline="0" dirty="0" smtClean="0">
                          <a:effectLst/>
                        </a:rPr>
                        <a:t>t</a:t>
                      </a:r>
                      <a:endParaRPr lang="en-US" altLang="zh-TW" sz="2400" i="1" dirty="0" smtClean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2257">
                <a:tc>
                  <a:txBody>
                    <a:bodyPr/>
                    <a:lstStyle/>
                    <a:p>
                      <a:pPr algn="l"/>
                      <a:r>
                        <a:rPr lang="en-US" sz="2300" dirty="0" err="1">
                          <a:effectLst/>
                        </a:rPr>
                        <a:t>s.differenc</a:t>
                      </a:r>
                      <a:r>
                        <a:rPr lang="en-US" sz="2300" spc="-200" baseline="0" dirty="0" err="1">
                          <a:effectLst/>
                        </a:rPr>
                        <a:t>e_</a:t>
                      </a:r>
                      <a:r>
                        <a:rPr lang="en-US" sz="2300" dirty="0" err="1">
                          <a:effectLst/>
                        </a:rPr>
                        <a:t>update</a:t>
                      </a:r>
                      <a:r>
                        <a:rPr lang="en-US" sz="2300" dirty="0">
                          <a:effectLst/>
                        </a:rPr>
                        <a:t>(t)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i="1" dirty="0" smtClean="0">
                          <a:effectLst/>
                        </a:rPr>
                        <a:t>s</a:t>
                      </a:r>
                      <a:r>
                        <a:rPr lang="en-US" sz="1900" dirty="0">
                          <a:effectLst/>
                        </a:rPr>
                        <a:t> -= </a:t>
                      </a:r>
                      <a:r>
                        <a:rPr lang="en-US" sz="1900" i="1" dirty="0">
                          <a:effectLst/>
                        </a:rPr>
                        <a:t>t</a:t>
                      </a:r>
                      <a:endParaRPr lang="en-US" sz="1900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i="1" dirty="0" smtClean="0">
                          <a:effectLst/>
                        </a:rPr>
                        <a:t>s</a:t>
                      </a:r>
                      <a:r>
                        <a:rPr lang="en-US" altLang="zh-TW" sz="2400" baseline="0" dirty="0" smtClean="0">
                          <a:effectLst/>
                        </a:rPr>
                        <a:t> = </a:t>
                      </a:r>
                      <a:r>
                        <a:rPr lang="en-US" altLang="zh-TW" sz="2400" i="1" baseline="0" dirty="0" smtClean="0">
                          <a:effectLst/>
                        </a:rPr>
                        <a:t>s</a:t>
                      </a:r>
                      <a:r>
                        <a:rPr lang="en-US" altLang="zh-TW" sz="2400" baseline="0" dirty="0" smtClean="0">
                          <a:effectLst/>
                        </a:rPr>
                        <a:t> - </a:t>
                      </a:r>
                      <a:r>
                        <a:rPr lang="en-US" altLang="zh-TW" sz="2400" i="1" baseline="0" dirty="0" smtClean="0">
                          <a:effectLst/>
                        </a:rPr>
                        <a:t>t</a:t>
                      </a:r>
                      <a:endParaRPr lang="en-US" altLang="zh-TW" sz="2400" i="1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2257">
                <a:tc>
                  <a:txBody>
                    <a:bodyPr/>
                    <a:lstStyle/>
                    <a:p>
                      <a:pPr algn="l"/>
                      <a:r>
                        <a:rPr lang="en-US" sz="1900" spc="-120" baseline="0" dirty="0" err="1" smtClean="0">
                          <a:effectLst/>
                          <a:latin typeface="Arial Narrow" panose="020B0606020202030204" pitchFamily="34" charset="0"/>
                        </a:rPr>
                        <a:t>s.</a:t>
                      </a:r>
                      <a:r>
                        <a:rPr lang="en-US" sz="1900" spc="-50" baseline="0" dirty="0" err="1" smtClean="0">
                          <a:effectLst/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en-US" sz="1900" spc="-30" baseline="0" dirty="0" err="1" smtClean="0">
                          <a:effectLst/>
                          <a:latin typeface="Arial Narrow" panose="020B0606020202030204" pitchFamily="34" charset="0"/>
                        </a:rPr>
                        <a:t>ym</a:t>
                      </a:r>
                      <a:r>
                        <a:rPr lang="en-US" sz="1900" spc="-50" baseline="0" dirty="0" err="1" smtClean="0">
                          <a:effectLst/>
                          <a:latin typeface="Arial Narrow" panose="020B0606020202030204" pitchFamily="34" charset="0"/>
                        </a:rPr>
                        <a:t>me</a:t>
                      </a:r>
                      <a:r>
                        <a:rPr lang="en-US" sz="1900" dirty="0" err="1" smtClean="0">
                          <a:effectLst/>
                          <a:latin typeface="Arial Narrow" panose="020B0606020202030204" pitchFamily="34" charset="0"/>
                        </a:rPr>
                        <a:t>tri</a:t>
                      </a:r>
                      <a:r>
                        <a:rPr lang="en-US" sz="1900" spc="-100" baseline="0" dirty="0" err="1" smtClean="0"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r>
                        <a:rPr lang="en-US" sz="1500" spc="-100" baseline="0" dirty="0" err="1" smtClean="0">
                          <a:effectLst/>
                          <a:latin typeface="Arial Narrow" panose="020B0606020202030204" pitchFamily="34" charset="0"/>
                        </a:rPr>
                        <a:t>_</a:t>
                      </a:r>
                      <a:r>
                        <a:rPr lang="en-US" sz="1900" dirty="0" err="1" smtClean="0">
                          <a:effectLst/>
                          <a:latin typeface="Arial Narrow" panose="020B0606020202030204" pitchFamily="34" charset="0"/>
                        </a:rPr>
                        <a:t>dif</a:t>
                      </a:r>
                      <a:r>
                        <a:rPr lang="en-US" sz="1900" spc="-20" baseline="0" dirty="0" err="1" smtClean="0">
                          <a:effectLst/>
                          <a:latin typeface="Arial Narrow" panose="020B0606020202030204" pitchFamily="34" charset="0"/>
                        </a:rPr>
                        <a:t>fe</a:t>
                      </a:r>
                      <a:r>
                        <a:rPr lang="en-US" sz="1900" dirty="0" err="1" smtClean="0">
                          <a:effectLst/>
                          <a:latin typeface="Arial Narrow" panose="020B0606020202030204" pitchFamily="34" charset="0"/>
                        </a:rPr>
                        <a:t>r</a:t>
                      </a:r>
                      <a:r>
                        <a:rPr lang="en-US" sz="1900" spc="-50" baseline="0" dirty="0" err="1" smtClean="0">
                          <a:effectLst/>
                          <a:latin typeface="Arial Narrow" panose="020B0606020202030204" pitchFamily="34" charset="0"/>
                        </a:rPr>
                        <a:t>en</a:t>
                      </a:r>
                      <a:r>
                        <a:rPr lang="en-US" sz="1900" dirty="0" err="1" smtClean="0"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r>
                        <a:rPr lang="en-US" altLang="zh-TW" sz="1900" spc="-100" baseline="0" dirty="0" err="1" smtClean="0">
                          <a:effectLst/>
                          <a:latin typeface="Arial Narrow" panose="020B0606020202030204" pitchFamily="34" charset="0"/>
                        </a:rPr>
                        <a:t>e</a:t>
                      </a:r>
                      <a:r>
                        <a:rPr lang="en-US" altLang="zh-TW" sz="1500" spc="-150" baseline="0" dirty="0" err="1" smtClean="0">
                          <a:effectLst/>
                          <a:latin typeface="Arial Narrow" panose="020B0606020202030204" pitchFamily="34" charset="0"/>
                        </a:rPr>
                        <a:t>_</a:t>
                      </a:r>
                      <a:r>
                        <a:rPr lang="en-US" sz="1900" dirty="0" err="1" smtClean="0">
                          <a:effectLst/>
                          <a:latin typeface="Arial Narrow" panose="020B0606020202030204" pitchFamily="34" charset="0"/>
                        </a:rPr>
                        <a:t>up</a:t>
                      </a:r>
                      <a:r>
                        <a:rPr lang="en-US" sz="1900" spc="-30" baseline="0" dirty="0" err="1" smtClean="0">
                          <a:effectLst/>
                          <a:latin typeface="Arial Narrow" panose="020B0606020202030204" pitchFamily="34" charset="0"/>
                        </a:rPr>
                        <a:t>da</a:t>
                      </a:r>
                      <a:r>
                        <a:rPr lang="en-US" sz="1900" dirty="0" err="1" smtClean="0">
                          <a:effectLst/>
                          <a:latin typeface="Arial Narrow" panose="020B0606020202030204" pitchFamily="34" charset="0"/>
                        </a:rPr>
                        <a:t>te</a:t>
                      </a:r>
                      <a:r>
                        <a:rPr lang="en-US" sz="1900" spc="-50" baseline="0" dirty="0" smtClean="0">
                          <a:effectLst/>
                          <a:latin typeface="Arial Narrow" panose="020B0606020202030204" pitchFamily="34" charset="0"/>
                        </a:rPr>
                        <a:t>(t</a:t>
                      </a:r>
                      <a:r>
                        <a:rPr lang="en-US" sz="1900" spc="-50" baseline="0" dirty="0">
                          <a:effectLst/>
                          <a:latin typeface="Arial Narrow" panose="020B0606020202030204" pitchFamily="34" charset="0"/>
                        </a:rPr>
                        <a:t>)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i="1" dirty="0">
                          <a:effectLst/>
                        </a:rPr>
                        <a:t>s</a:t>
                      </a:r>
                      <a:r>
                        <a:rPr lang="en-US" sz="1900" dirty="0">
                          <a:effectLst/>
                        </a:rPr>
                        <a:t> ^= </a:t>
                      </a:r>
                      <a:r>
                        <a:rPr lang="en-US" sz="1900" i="1" dirty="0">
                          <a:effectLst/>
                        </a:rPr>
                        <a:t>t</a:t>
                      </a:r>
                      <a:endParaRPr lang="en-US" sz="1900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i="1" dirty="0" smtClean="0">
                          <a:effectLst/>
                        </a:rPr>
                        <a:t>s</a:t>
                      </a:r>
                      <a:r>
                        <a:rPr lang="en-US" altLang="zh-TW" sz="2400" baseline="0" dirty="0" smtClean="0">
                          <a:effectLst/>
                        </a:rPr>
                        <a:t> = </a:t>
                      </a:r>
                      <a:r>
                        <a:rPr lang="en-US" altLang="zh-TW" sz="2400" i="1" baseline="0" dirty="0" smtClean="0">
                          <a:effectLst/>
                        </a:rPr>
                        <a:t>s</a:t>
                      </a:r>
                      <a:r>
                        <a:rPr lang="en-US" altLang="zh-TW" sz="2400" baseline="0" dirty="0" smtClean="0">
                          <a:effectLst/>
                        </a:rPr>
                        <a:t> ^ </a:t>
                      </a:r>
                      <a:r>
                        <a:rPr lang="en-US" altLang="zh-TW" sz="2400" i="1" baseline="0" dirty="0" smtClean="0">
                          <a:effectLst/>
                        </a:rPr>
                        <a:t>t</a:t>
                      </a:r>
                      <a:endParaRPr lang="en-US" altLang="zh-TW" sz="2400" i="1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9225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effectLst/>
                        </a:rPr>
                        <a:t>s.clear</a:t>
                      </a:r>
                      <a:r>
                        <a:rPr lang="en-US" sz="2400" dirty="0">
                          <a:effectLst/>
                        </a:rPr>
                        <a:t>()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900" dirty="0">
                          <a:effectLst/>
                        </a:rPr>
                        <a:t> </a:t>
                      </a:r>
                      <a:endParaRPr lang="en-US" altLang="zh-TW" sz="1900" dirty="0" smtClean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</a:rPr>
                        <a:t>R</a:t>
                      </a:r>
                      <a:r>
                        <a:rPr lang="en-US" sz="2400" dirty="0" smtClean="0">
                          <a:effectLst/>
                        </a:rPr>
                        <a:t>emove </a:t>
                      </a:r>
                      <a:r>
                        <a:rPr lang="en-US" sz="2400" dirty="0">
                          <a:effectLst/>
                        </a:rPr>
                        <a:t>all elements from set </a:t>
                      </a:r>
                      <a:r>
                        <a:rPr lang="en-US" sz="2400" i="1" dirty="0">
                          <a:effectLst/>
                        </a:rPr>
                        <a:t>s</a:t>
                      </a:r>
                      <a:endParaRPr lang="en-US" sz="2400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</a:tr>
              <a:tr h="39225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effectLst/>
                        </a:rPr>
                        <a:t>s.add</a:t>
                      </a:r>
                      <a:r>
                        <a:rPr lang="en-US" sz="2400" dirty="0">
                          <a:effectLst/>
                        </a:rPr>
                        <a:t>(x)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zh-TW" sz="1900" dirty="0" smtClean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>
                          <a:effectLst/>
                        </a:rPr>
                        <a:t>Add </a:t>
                      </a:r>
                      <a:r>
                        <a:rPr lang="en-US" sz="2400" dirty="0">
                          <a:effectLst/>
                        </a:rPr>
                        <a:t>element </a:t>
                      </a:r>
                      <a:r>
                        <a:rPr lang="en-US" sz="2400" i="1" dirty="0">
                          <a:effectLst/>
                        </a:rPr>
                        <a:t>x</a:t>
                      </a:r>
                      <a:r>
                        <a:rPr lang="en-US" sz="2400" dirty="0">
                          <a:effectLst/>
                        </a:rPr>
                        <a:t> to set </a:t>
                      </a:r>
                      <a:r>
                        <a:rPr lang="en-US" sz="2400" i="1" dirty="0">
                          <a:effectLst/>
                        </a:rPr>
                        <a:t>s</a:t>
                      </a:r>
                      <a:endParaRPr lang="en-US" sz="2400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759115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effectLst/>
                        </a:rPr>
                        <a:t>s.pop</a:t>
                      </a:r>
                      <a:r>
                        <a:rPr lang="en-US" sz="2400" dirty="0">
                          <a:effectLst/>
                        </a:rPr>
                        <a:t>()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900" dirty="0">
                          <a:effectLst/>
                        </a:rPr>
                        <a:t> 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spc="-100" baseline="0" dirty="0">
                          <a:effectLst/>
                        </a:rPr>
                        <a:t>R</a:t>
                      </a:r>
                      <a:r>
                        <a:rPr lang="en-US" sz="2400" spc="-100" baseline="0" dirty="0" smtClean="0">
                          <a:effectLst/>
                        </a:rPr>
                        <a:t>emov</a:t>
                      </a:r>
                      <a:r>
                        <a:rPr lang="en-US" sz="2400" dirty="0" smtClean="0">
                          <a:effectLst/>
                        </a:rPr>
                        <a:t>e </a:t>
                      </a:r>
                      <a:r>
                        <a:rPr lang="en-US" sz="2400" spc="-30" baseline="0" dirty="0">
                          <a:effectLst/>
                        </a:rPr>
                        <a:t>an</a:t>
                      </a:r>
                      <a:r>
                        <a:rPr lang="en-US" sz="2400" dirty="0">
                          <a:effectLst/>
                        </a:rPr>
                        <a:t>d return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an arbitrary </a:t>
                      </a:r>
                      <a:r>
                        <a:rPr lang="en-US" sz="2400" spc="-50" baseline="0" dirty="0">
                          <a:solidFill>
                            <a:schemeClr val="tx1"/>
                          </a:solidFill>
                          <a:effectLst/>
                        </a:rPr>
                        <a:t>eleme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nt from 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; raises </a:t>
                      </a:r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KeyError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2400" dirty="0">
                          <a:effectLst/>
                        </a:rPr>
                        <a:t>if empty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9225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 smtClean="0">
                          <a:effectLst/>
                        </a:rPr>
                        <a:t>s.</a:t>
                      </a:r>
                      <a:r>
                        <a:rPr lang="en-US" altLang="zh-TW" sz="2400" dirty="0" err="1" smtClean="0">
                          <a:effectLst/>
                        </a:rPr>
                        <a:t>discard</a:t>
                      </a:r>
                      <a:r>
                        <a:rPr lang="en-US" sz="2400" dirty="0" smtClean="0">
                          <a:effectLst/>
                        </a:rPr>
                        <a:t>(x</a:t>
                      </a:r>
                      <a:r>
                        <a:rPr lang="en-US" sz="2400" dirty="0">
                          <a:effectLst/>
                        </a:rPr>
                        <a:t>)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900" dirty="0">
                          <a:effectLst/>
                        </a:rPr>
                        <a:t> </a:t>
                      </a:r>
                      <a:endParaRPr lang="en-US" altLang="zh-TW" sz="1900" dirty="0" smtClean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</a:rPr>
                        <a:t>R</a:t>
                      </a:r>
                      <a:r>
                        <a:rPr lang="en-US" sz="2400" dirty="0" smtClean="0">
                          <a:effectLst/>
                        </a:rPr>
                        <a:t>emove</a:t>
                      </a:r>
                      <a:r>
                        <a:rPr lang="en-US" sz="2400" dirty="0">
                          <a:effectLst/>
                        </a:rPr>
                        <a:t> </a:t>
                      </a:r>
                      <a:r>
                        <a:rPr lang="en-US" sz="2400" i="1" dirty="0">
                          <a:effectLst/>
                        </a:rPr>
                        <a:t>x</a:t>
                      </a:r>
                      <a:r>
                        <a:rPr lang="en-US" sz="2400" dirty="0">
                          <a:effectLst/>
                        </a:rPr>
                        <a:t> from set </a:t>
                      </a:r>
                      <a:r>
                        <a:rPr lang="en-US" sz="2400" i="1" dirty="0" smtClean="0">
                          <a:effectLst/>
                        </a:rPr>
                        <a:t>s </a:t>
                      </a:r>
                      <a:r>
                        <a:rPr lang="en-US" sz="2400" i="0" dirty="0" smtClean="0">
                          <a:effectLst/>
                        </a:rPr>
                        <a:t>if present</a:t>
                      </a:r>
                      <a:endParaRPr lang="en-US" sz="2400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759115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 smtClean="0">
                          <a:effectLst/>
                        </a:rPr>
                        <a:t>s.</a:t>
                      </a:r>
                      <a:r>
                        <a:rPr lang="en-US" altLang="zh-TW" sz="2400" dirty="0" err="1" smtClean="0">
                          <a:effectLst/>
                        </a:rPr>
                        <a:t>remove</a:t>
                      </a:r>
                      <a:r>
                        <a:rPr lang="en-US" sz="2400" dirty="0" smtClean="0">
                          <a:effectLst/>
                        </a:rPr>
                        <a:t>(x</a:t>
                      </a:r>
                      <a:r>
                        <a:rPr lang="en-US" sz="2400" dirty="0">
                          <a:effectLst/>
                        </a:rPr>
                        <a:t>)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900" dirty="0">
                          <a:effectLst/>
                        </a:rPr>
                        <a:t> </a:t>
                      </a: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  <a:effectLst/>
                        </a:rPr>
                        <a:t>emoves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from set 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 if 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  <a:effectLst/>
                        </a:rPr>
                        <a:t>present</a:t>
                      </a:r>
                      <a:r>
                        <a:rPr lang="en-US" altLang="zh-TW" sz="2400" i="0" baseline="0" dirty="0" smtClean="0">
                          <a:solidFill>
                            <a:schemeClr val="tx1"/>
                          </a:solidFill>
                          <a:effectLst/>
                        </a:rPr>
                        <a:t> – but raise</a:t>
                      </a: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2400" u="none" strike="noStrike" dirty="0" err="1" smtClean="0">
                          <a:solidFill>
                            <a:schemeClr val="tx1"/>
                          </a:solidFill>
                          <a:effectLst/>
                        </a:rPr>
                        <a:t>KeyError</a:t>
                      </a: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altLang="zh-TW" sz="2400" dirty="0" smtClean="0">
                          <a:effectLst/>
                        </a:rPr>
                        <a:t>if not present</a:t>
                      </a:r>
                      <a:endParaRPr lang="en-US" sz="2400" dirty="0">
                        <a:effectLst/>
                      </a:endParaRPr>
                    </a:p>
                  </a:txBody>
                  <a:tcPr marL="31750" marR="31750" marT="12700" marB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689092"/>
              </p:ext>
            </p:extLst>
          </p:nvPr>
        </p:nvGraphicFramePr>
        <p:xfrm>
          <a:off x="140745" y="1936118"/>
          <a:ext cx="9144001" cy="365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6528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             Method         </a:t>
                      </a:r>
                      <a:r>
                        <a:rPr lang="en-US" sz="11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   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Result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27432" marB="2743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 bwMode="auto">
          <a:xfrm>
            <a:off x="9426498" y="1851102"/>
            <a:ext cx="156117" cy="490653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44966" y="1854819"/>
            <a:ext cx="156117" cy="490653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 flipV="1">
            <a:off x="66910" y="1868574"/>
            <a:ext cx="9564030" cy="7917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 flipV="1">
            <a:off x="85497" y="6630148"/>
            <a:ext cx="9564030" cy="4571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8315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946" y="0"/>
            <a:ext cx="9735832" cy="7620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  <a:cs typeface="Arial" panose="020B0604020202020204" pitchFamily="34" charset="0"/>
              </a:rPr>
              <a:t>For Sets </a:t>
            </a:r>
            <a:r>
              <a:rPr lang="en-US" altLang="en-US" sz="4400" i="1" dirty="0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and</a:t>
            </a:r>
            <a:r>
              <a:rPr lang="en-US" altLang="en-US" sz="4400" dirty="0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400" dirty="0" err="1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Frozensets</a:t>
            </a:r>
            <a:r>
              <a:rPr lang="en-US" altLang="en-US" sz="4400" dirty="0">
                <a:latin typeface="Elephant" panose="02020904090505020303" pitchFamily="18" charset="0"/>
                <a:cs typeface="Arial" panose="020B0604020202020204" pitchFamily="34" charset="0"/>
              </a:rPr>
              <a:t>: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96862" y="642576"/>
          <a:ext cx="9144001" cy="6247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8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220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22406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65282">
                <a:tc gridSpan="3">
                  <a:txBody>
                    <a:bodyPr/>
                    <a:lstStyle/>
                    <a:p>
                      <a:pPr algn="l" fontAlgn="base"/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      Method   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Result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27432" marB="2743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r" fontAlgn="base"/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err="1" smtClean="0">
                          <a:solidFill>
                            <a:schemeClr val="tx1"/>
                          </a:solidFill>
                          <a:effectLst/>
                        </a:rPr>
                        <a:t>len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altLang="zh-TW" sz="2000" b="0" i="0" dirty="0" smtClean="0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Returns the number of elements in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set </a:t>
                      </a:r>
                      <a:r>
                        <a:rPr lang="en-US" sz="2000" b="0" i="1" dirty="0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cs typeface="times" panose="02020603050405020304" pitchFamily="18" charset="0"/>
                        </a:rPr>
                        <a:t>s</a:t>
                      </a:r>
                      <a:endParaRPr lang="en-US" sz="2000" i="1" dirty="0"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cs typeface="times" panose="02020603050405020304" pitchFamily="18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endParaRPr lang="en-US" sz="2000" i="1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R="137160"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US" altLang="zh-TW" sz="2000" b="0" i="1" smtClean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altLang="zh-TW" sz="2000" smtClean="0">
                          <a:effectLst/>
                        </a:rPr>
                        <a:t> </a:t>
                      </a:r>
                      <a:r>
                        <a:rPr lang="en-US" altLang="zh-TW" sz="500" smtClean="0">
                          <a:effectLst/>
                        </a:rPr>
                        <a:t> </a:t>
                      </a:r>
                      <a:r>
                        <a:rPr lang="en-US" altLang="zh-TW" sz="2000" smtClean="0">
                          <a:effectLst/>
                        </a:rPr>
                        <a:t>in</a:t>
                      </a:r>
                      <a:r>
                        <a:rPr lang="en-US" altLang="zh-TW" sz="1000" smtClean="0">
                          <a:effectLst/>
                        </a:rPr>
                        <a:t> </a:t>
                      </a:r>
                      <a:r>
                        <a:rPr lang="en-US" altLang="zh-TW" sz="2000" b="0" i="1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endParaRPr lang="en-US" sz="2000" i="1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R="13716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r>
                        <a:rPr lang="en-US" sz="2000" b="0" i="1" dirty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sz="2000" dirty="0">
                          <a:effectLst/>
                        </a:rPr>
                        <a:t> for membership in </a:t>
                      </a:r>
                      <a:r>
                        <a:rPr lang="en-US" sz="20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endParaRPr lang="en-US" sz="20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0145">
                <a:tc gridSpan="2">
                  <a:txBody>
                    <a:bodyPr/>
                    <a:lstStyle/>
                    <a:p>
                      <a:pPr algn="r" fontAlgn="base"/>
                      <a:r>
                        <a:rPr lang="en-US" sz="2000" b="0" i="1" dirty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sz="2000" dirty="0">
                          <a:effectLst/>
                        </a:rPr>
                        <a:t> not in</a:t>
                      </a: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s </a:t>
                      </a:r>
                      <a:endParaRPr lang="en-US" sz="2000" i="1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R="45720"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T="54864" marB="5486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 smtClean="0">
                          <a:effectLst/>
                        </a:rPr>
                        <a:t>if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sz="10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2000" b="0" i="0" dirty="0" smtClean="0">
                          <a:effectLst/>
                          <a:latin typeface="Lucida Console" panose="020B0609040504020204" pitchFamily="49" charset="0"/>
                        </a:rPr>
                        <a:t>in</a:t>
                      </a:r>
                      <a:r>
                        <a:rPr lang="en-US" sz="8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sz="20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 smtClean="0">
                          <a:effectLst/>
                        </a:rPr>
                        <a:t> is not true</a:t>
                      </a:r>
                      <a:endParaRPr lang="en-US" sz="20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ctr" fontAlgn="base"/>
                      <a:endParaRPr lang="en-US" sz="2000" dirty="0">
                        <a:effectLst/>
                      </a:endParaRPr>
                    </a:p>
                  </a:txBody>
                  <a:tcPr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10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dirty="0" smtClean="0">
                          <a:effectLst/>
                          <a:latin typeface="Lucida Console" panose="020B0609040504020204" pitchFamily="49" charset="0"/>
                        </a:rPr>
                        <a:t>==</a:t>
                      </a:r>
                      <a:r>
                        <a:rPr lang="en-US" altLang="zh-TW" sz="10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altLang="zh-TW" sz="1800" dirty="0" smtClean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effectLst/>
                        </a:rPr>
                        <a:t>Test if</a:t>
                      </a:r>
                      <a:r>
                        <a:rPr lang="en-US" altLang="zh-TW" sz="1600" dirty="0" smtClean="0">
                          <a:effectLst/>
                        </a:rPr>
                        <a:t> 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and 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dirty="0" smtClean="0">
                          <a:effectLst/>
                        </a:rPr>
                        <a:t> have</a:t>
                      </a:r>
                      <a:r>
                        <a:rPr lang="en-US" altLang="zh-TW" sz="2000" baseline="0" dirty="0" smtClean="0">
                          <a:effectLst/>
                        </a:rPr>
                        <a:t> exactly the same</a:t>
                      </a:r>
                      <a:r>
                        <a:rPr lang="en-US" altLang="zh-TW" sz="2000" dirty="0" smtClean="0">
                          <a:effectLst/>
                        </a:rPr>
                        <a:t> elements</a:t>
                      </a: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ctr" fontAlgn="base"/>
                      <a:endParaRPr lang="en-US" sz="2000" dirty="0">
                        <a:effectLst/>
                      </a:endParaRPr>
                    </a:p>
                  </a:txBody>
                  <a:tcPr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10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dirty="0" smtClean="0">
                          <a:effectLst/>
                          <a:latin typeface="Lucida Console" panose="020B0609040504020204" pitchFamily="49" charset="0"/>
                        </a:rPr>
                        <a:t>!=</a:t>
                      </a:r>
                      <a:r>
                        <a:rPr lang="en-US" altLang="zh-TW" sz="900" dirty="0" smtClean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altLang="zh-TW" sz="18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altLang="zh-TW" sz="1800" dirty="0" smtClean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effectLst/>
                        </a:rPr>
                        <a:t>Test if</a:t>
                      </a:r>
                      <a:r>
                        <a:rPr lang="en-US" altLang="zh-TW" sz="1600" dirty="0" smtClean="0">
                          <a:effectLst/>
                        </a:rPr>
                        <a:t> 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x</a:t>
                      </a:r>
                      <a:r>
                        <a:rPr lang="en-US" altLang="zh-TW" sz="12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==</a:t>
                      </a:r>
                      <a:r>
                        <a:rPr lang="en-US" altLang="zh-TW" sz="600" b="0" i="1" dirty="0" smtClean="0"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lang="en-US" altLang="zh-TW" sz="20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 is not true</a:t>
                      </a: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.issubset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&lt;=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 if </a:t>
                      </a:r>
                      <a:r>
                        <a:rPr lang="en-US" sz="2000" dirty="0">
                          <a:effectLst/>
                        </a:rPr>
                        <a:t>every element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is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ctr" fontAlgn="base"/>
                      <a:endParaRPr lang="en-US" sz="2000" dirty="0">
                        <a:effectLst/>
                      </a:endParaRPr>
                    </a:p>
                  </a:txBody>
                  <a:tcPr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 smtClean="0">
                          <a:effectLst/>
                          <a:latin typeface="Lucida Console" panose="020B0609040504020204" pitchFamily="49" charset="0"/>
                        </a:rPr>
                        <a:t>&lt;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 if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&lt;=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b="0" i="1" dirty="0" smtClean="0">
                          <a:effectLst/>
                          <a:latin typeface="times" panose="02020603050405020304" pitchFamily="18" charset="0"/>
                        </a:rPr>
                        <a:t>  </a:t>
                      </a:r>
                      <a:r>
                        <a:rPr lang="en-US" altLang="zh-TW" sz="2000" dirty="0" smtClean="0">
                          <a:effectLst/>
                        </a:rPr>
                        <a:t>and 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!=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b="0" i="1" dirty="0" smtClean="0">
                          <a:effectLst/>
                          <a:latin typeface="times" panose="02020603050405020304" pitchFamily="18" charset="0"/>
                        </a:rPr>
                        <a:t> </a:t>
                      </a:r>
                      <a:endParaRPr lang="en-US" sz="2000" dirty="0">
                        <a:effectLst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.issuperset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&gt;=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Test if </a:t>
                      </a:r>
                      <a:r>
                        <a:rPr lang="en-US" sz="2000" dirty="0">
                          <a:effectLst/>
                        </a:rPr>
                        <a:t>every element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 is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.issuperset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 smtClean="0">
                          <a:effectLst/>
                          <a:latin typeface="Lucida Console" panose="020B0609040504020204" pitchFamily="49" charset="0"/>
                        </a:rPr>
                        <a:t>&gt;</a:t>
                      </a:r>
                      <a:r>
                        <a:rPr lang="en-US" sz="9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 smtClean="0">
                          <a:effectLst/>
                        </a:rPr>
                        <a:t>Test if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&gt;=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altLang="zh-TW" sz="2000" b="0" i="1" dirty="0" smtClean="0">
                          <a:effectLst/>
                          <a:latin typeface="times" panose="02020603050405020304" pitchFamily="18" charset="0"/>
                        </a:rPr>
                        <a:t>  </a:t>
                      </a:r>
                      <a:r>
                        <a:rPr lang="en-US" altLang="zh-TW" sz="2000" dirty="0" smtClean="0">
                          <a:effectLst/>
                        </a:rPr>
                        <a:t>and 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altLang="zh-TW" sz="2000" dirty="0" smtClean="0">
                          <a:effectLst/>
                        </a:rPr>
                        <a:t> != </a:t>
                      </a:r>
                      <a:r>
                        <a:rPr lang="en-US" altLang="zh-TW" sz="2000" b="0" i="0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dirty="0">
                        <a:effectLst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.union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|</a:t>
                      </a:r>
                      <a:r>
                        <a:rPr lang="en-US" sz="6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Returns a new </a:t>
                      </a:r>
                      <a:r>
                        <a:rPr lang="en-US" sz="2000" dirty="0">
                          <a:effectLst/>
                        </a:rPr>
                        <a:t>set with elements from </a:t>
                      </a:r>
                      <a:r>
                        <a:rPr lang="en-US" sz="2000" dirty="0" smtClean="0">
                          <a:effectLst/>
                        </a:rPr>
                        <a:t>either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dirty="0" smtClean="0">
                          <a:effectLst/>
                        </a:rPr>
                        <a:t>or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.intersection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R="0"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&amp;</a:t>
                      </a:r>
                      <a:r>
                        <a:rPr lang="en-US" sz="7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 smtClean="0">
                          <a:effectLst/>
                        </a:rPr>
                        <a:t>Returns a </a:t>
                      </a:r>
                      <a:r>
                        <a:rPr lang="en-US" sz="2000" dirty="0" smtClean="0">
                          <a:effectLst/>
                        </a:rPr>
                        <a:t>new </a:t>
                      </a:r>
                      <a:r>
                        <a:rPr lang="en-US" sz="2000" dirty="0">
                          <a:effectLst/>
                        </a:rPr>
                        <a:t>set with e</a:t>
                      </a:r>
                      <a:r>
                        <a:rPr lang="en-US" sz="2000" spc="-20" baseline="0" dirty="0">
                          <a:effectLst/>
                        </a:rPr>
                        <a:t>leme</a:t>
                      </a:r>
                      <a:r>
                        <a:rPr lang="en-US" sz="2000" dirty="0">
                          <a:effectLst/>
                        </a:rPr>
                        <a:t>nts c</a:t>
                      </a:r>
                      <a:r>
                        <a:rPr lang="en-US" sz="2000" spc="-20" baseline="0" dirty="0">
                          <a:effectLst/>
                        </a:rPr>
                        <a:t>ommo</a:t>
                      </a:r>
                      <a:r>
                        <a:rPr lang="en-US" sz="2000" dirty="0">
                          <a:effectLst/>
                        </a:rPr>
                        <a:t>n </a:t>
                      </a:r>
                      <a:r>
                        <a:rPr lang="en-US" sz="2000" spc="0" baseline="0" dirty="0">
                          <a:effectLst/>
                        </a:rPr>
                        <a:t>t</a:t>
                      </a:r>
                      <a:r>
                        <a:rPr lang="en-US" sz="2000" spc="-50" baseline="0" dirty="0">
                          <a:effectLst/>
                        </a:rPr>
                        <a:t>o </a:t>
                      </a:r>
                      <a:r>
                        <a:rPr lang="en-US" sz="2000" b="0" i="0" spc="-50" baseline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spc="-50" baseline="0" dirty="0">
                          <a:effectLst/>
                        </a:rPr>
                        <a:t> and </a:t>
                      </a:r>
                      <a:r>
                        <a:rPr lang="en-US" sz="2000" b="0" i="0" spc="-50" baseline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spc="-50" baseline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.difference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-</a:t>
                      </a:r>
                      <a:r>
                        <a:rPr lang="en-US" sz="6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 smtClean="0">
                          <a:effectLst/>
                        </a:rPr>
                        <a:t>Returns a </a:t>
                      </a:r>
                      <a:r>
                        <a:rPr lang="en-US" sz="2000" dirty="0" smtClean="0">
                          <a:effectLst/>
                        </a:rPr>
                        <a:t>new </a:t>
                      </a:r>
                      <a:r>
                        <a:rPr lang="en-US" sz="2000" dirty="0">
                          <a:effectLst/>
                        </a:rPr>
                        <a:t>set with elements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>
                          <a:effectLst/>
                        </a:rPr>
                        <a:t> but not in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2000" i="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20145">
                <a:tc gridSpan="2">
                  <a:txBody>
                    <a:bodyPr/>
                    <a:lstStyle/>
                    <a:p>
                      <a:pPr algn="ctr" fontAlgn="base"/>
                      <a:r>
                        <a:rPr lang="en-US" sz="1800" b="0" i="0" baseline="0" dirty="0" err="1" smtClean="0">
                          <a:effectLst/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en-US" sz="1800" baseline="0" dirty="0" err="1" smtClean="0">
                          <a:effectLst/>
                          <a:latin typeface="Arial Narrow" panose="020B0606020202030204" pitchFamily="34" charset="0"/>
                        </a:rPr>
                        <a:t>.symmetric_difference</a:t>
                      </a:r>
                      <a:r>
                        <a:rPr lang="en-US" sz="1800" baseline="0" dirty="0" smtClean="0">
                          <a:effectLst/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en-US" sz="1800" b="0" i="0" baseline="0" dirty="0" smtClean="0">
                          <a:effectLst/>
                          <a:latin typeface="Arial Narrow" panose="020B0606020202030204" pitchFamily="34" charset="0"/>
                        </a:rPr>
                        <a:t>t</a:t>
                      </a:r>
                      <a:r>
                        <a:rPr lang="en-US" sz="1800" baseline="0" dirty="0" smtClean="0">
                          <a:effectLst/>
                          <a:latin typeface="Arial Narrow" panose="020B0606020202030204" pitchFamily="34" charset="0"/>
                        </a:rPr>
                        <a:t>)</a:t>
                      </a:r>
                      <a:r>
                        <a:rPr lang="en-US" sz="1800" b="0" i="1" dirty="0" smtClean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0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dirty="0">
                          <a:effectLst/>
                          <a:latin typeface="Lucida Console" panose="020B0609040504020204" pitchFamily="49" charset="0"/>
                        </a:rPr>
                        <a:t>^</a:t>
                      </a:r>
                      <a:r>
                        <a:rPr lang="en-US" sz="500" dirty="0">
                          <a:effectLst/>
                          <a:latin typeface="Lucida Console" panose="020B0609040504020204" pitchFamily="49" charset="0"/>
                        </a:rPr>
                        <a:t> </a:t>
                      </a:r>
                      <a:r>
                        <a:rPr lang="en-US" sz="1800" b="0" i="1" dirty="0" smtClean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endParaRPr lang="en-US" sz="1800" dirty="0"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0" marR="0"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spc="-80" baseline="0" dirty="0" smtClean="0">
                          <a:effectLst/>
                        </a:rPr>
                        <a:t>R</a:t>
                      </a:r>
                      <a:r>
                        <a:rPr lang="en-US" altLang="zh-TW" sz="2000" spc="-10" baseline="0" dirty="0" smtClean="0">
                          <a:effectLst/>
                        </a:rPr>
                        <a:t>e</a:t>
                      </a:r>
                      <a:r>
                        <a:rPr lang="en-US" altLang="zh-TW" sz="2000" dirty="0" smtClean="0">
                          <a:effectLst/>
                        </a:rPr>
                        <a:t>t</a:t>
                      </a:r>
                      <a:r>
                        <a:rPr lang="en-US" altLang="zh-TW" sz="2000" spc="-30" baseline="0" dirty="0" smtClean="0">
                          <a:effectLst/>
                        </a:rPr>
                        <a:t>u</a:t>
                      </a:r>
                      <a:r>
                        <a:rPr lang="en-US" altLang="zh-TW" sz="2000" dirty="0" smtClean="0">
                          <a:effectLst/>
                        </a:rPr>
                        <a:t>rns a </a:t>
                      </a:r>
                      <a:r>
                        <a:rPr lang="en-US" sz="2000" spc="-40" baseline="0" dirty="0" smtClean="0">
                          <a:effectLst/>
                        </a:rPr>
                        <a:t>n</a:t>
                      </a:r>
                      <a:r>
                        <a:rPr lang="en-US" sz="2000" spc="-20" baseline="0" dirty="0" smtClean="0">
                          <a:effectLst/>
                        </a:rPr>
                        <a:t>e</a:t>
                      </a:r>
                      <a:r>
                        <a:rPr lang="en-US" sz="2000" dirty="0" smtClean="0">
                          <a:effectLst/>
                        </a:rPr>
                        <a:t>w </a:t>
                      </a:r>
                      <a:r>
                        <a:rPr lang="en-US" sz="2000" dirty="0">
                          <a:effectLst/>
                        </a:rPr>
                        <a:t>set with </a:t>
                      </a:r>
                      <a:r>
                        <a:rPr lang="en-US" sz="2000" spc="-20" baseline="0" dirty="0">
                          <a:effectLst/>
                        </a:rPr>
                        <a:t>elemen</a:t>
                      </a:r>
                      <a:r>
                        <a:rPr lang="en-US" sz="2000" dirty="0">
                          <a:effectLst/>
                        </a:rPr>
                        <a:t>ts </a:t>
                      </a:r>
                      <a:r>
                        <a:rPr lang="en-US" sz="2000" dirty="0" smtClean="0">
                          <a:effectLst/>
                        </a:rPr>
                        <a:t>i</a:t>
                      </a:r>
                      <a:r>
                        <a:rPr lang="en-US" sz="2000" spc="-30" dirty="0" smtClean="0">
                          <a:effectLst/>
                        </a:rPr>
                        <a:t>n</a:t>
                      </a:r>
                      <a:r>
                        <a:rPr lang="en-US" sz="1800" spc="-30" dirty="0">
                          <a:effectLst/>
                        </a:rPr>
                        <a:t> </a:t>
                      </a:r>
                      <a:r>
                        <a:rPr lang="en-US" sz="2000" b="0" i="0" spc="-3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1800" spc="-30" dirty="0">
                          <a:effectLst/>
                        </a:rPr>
                        <a:t> </a:t>
                      </a:r>
                      <a:r>
                        <a:rPr lang="en-US" sz="2000" spc="-30" dirty="0">
                          <a:effectLst/>
                        </a:rPr>
                        <a:t>or</a:t>
                      </a:r>
                      <a:r>
                        <a:rPr lang="en-US" sz="1800" spc="-30" dirty="0">
                          <a:effectLst/>
                        </a:rPr>
                        <a:t> </a:t>
                      </a:r>
                      <a:r>
                        <a:rPr lang="en-US" sz="2000" b="0" i="0" spc="-30" dirty="0">
                          <a:effectLst/>
                          <a:latin typeface="Lucida Console" panose="020B0609040504020204" pitchFamily="49" charset="0"/>
                        </a:rPr>
                        <a:t>t</a:t>
                      </a:r>
                      <a:r>
                        <a:rPr lang="en-US" sz="2000" spc="-30" dirty="0">
                          <a:effectLst/>
                        </a:rPr>
                        <a:t> </a:t>
                      </a:r>
                      <a:r>
                        <a:rPr lang="en-US" sz="2000" spc="-30" baseline="0" dirty="0">
                          <a:effectLst/>
                        </a:rPr>
                        <a:t>b</a:t>
                      </a:r>
                      <a:r>
                        <a:rPr lang="en-US" sz="2000" spc="-10" baseline="0" dirty="0">
                          <a:effectLst/>
                        </a:rPr>
                        <a:t>u</a:t>
                      </a:r>
                      <a:r>
                        <a:rPr lang="en-US" sz="2000" dirty="0">
                          <a:effectLst/>
                        </a:rPr>
                        <a:t>t </a:t>
                      </a:r>
                      <a:r>
                        <a:rPr lang="en-US" sz="2000" spc="-40" baseline="0" dirty="0">
                          <a:effectLst/>
                        </a:rPr>
                        <a:t>no</a:t>
                      </a:r>
                      <a:r>
                        <a:rPr lang="en-US" sz="2000" spc="-20" baseline="0" dirty="0">
                          <a:effectLst/>
                        </a:rPr>
                        <a:t>t </a:t>
                      </a:r>
                      <a:r>
                        <a:rPr lang="en-US" sz="2000" spc="-40" baseline="0" dirty="0">
                          <a:effectLst/>
                        </a:rPr>
                        <a:t>bo</a:t>
                      </a:r>
                      <a:r>
                        <a:rPr lang="en-US" sz="2000" dirty="0">
                          <a:effectLst/>
                        </a:rPr>
                        <a:t>t</a:t>
                      </a:r>
                      <a:r>
                        <a:rPr lang="en-US" sz="2000" spc="-100" baseline="0" dirty="0">
                          <a:effectLst/>
                        </a:rPr>
                        <a:t>h</a:t>
                      </a:r>
                    </a:p>
                  </a:txBody>
                  <a:tcPr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42014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dirty="0" err="1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  <a:r>
                        <a:rPr lang="en-US" sz="2000" dirty="0" err="1">
                          <a:effectLst/>
                        </a:rPr>
                        <a:t>.copy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T="54864" marB="54864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1900"/>
                    </a:p>
                  </a:txBody>
                  <a:tcPr marL="0" marR="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</a:rPr>
                        <a:t>Returns a new </a:t>
                      </a:r>
                      <a:r>
                        <a:rPr lang="en-US" sz="2000" dirty="0">
                          <a:effectLst/>
                        </a:rPr>
                        <a:t>set with a shallow copy of </a:t>
                      </a:r>
                      <a:r>
                        <a:rPr lang="en-US" sz="2000" b="0" i="0" dirty="0">
                          <a:effectLst/>
                          <a:latin typeface="Lucida Console" panose="020B0609040504020204" pitchFamily="49" charset="0"/>
                        </a:rPr>
                        <a:t>s</a:t>
                      </a: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0110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96862" y="1077137"/>
            <a:ext cx="9439915" cy="578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&gt;&gt;&gt;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800" b="1" kern="0" dirty="0" smtClean="0">
                <a:solidFill>
                  <a:srgbClr val="FFC000"/>
                </a:solidFill>
                <a:latin typeface="Lucida Console" pitchFamily="49" charset="0"/>
              </a:rPr>
              <a:t>f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=set(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dir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frozenset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))</a:t>
            </a: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&gt;&gt;&gt;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for 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 in 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dir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frozenset</a:t>
            </a:r>
            <a:r>
              <a:rPr lang="en-US" altLang="en-US" sz="2800" kern="0" spc="-1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: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...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    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if 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[0]=="_":</a:t>
            </a:r>
            <a:r>
              <a:rPr lang="en-US" altLang="en-US" sz="2800" b="1" kern="0" dirty="0" smtClean="0">
                <a:solidFill>
                  <a:srgbClr val="FFC000"/>
                </a:solidFill>
                <a:latin typeface="Lucida Console" pitchFamily="49" charset="0"/>
              </a:rPr>
              <a:t>f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-=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 smtClean="0">
              <a:solidFill>
                <a:schemeClr val="bg1">
                  <a:lumMod val="75000"/>
                </a:schemeClr>
              </a:solidFill>
              <a:latin typeface="Lucida Console" pitchFamily="49" charset="0"/>
            </a:endParaRPr>
          </a:p>
          <a:p>
            <a:pPr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>
              <a:solidFill>
                <a:schemeClr val="bg1">
                  <a:lumMod val="75000"/>
                </a:schemeClr>
              </a:solidFill>
              <a:latin typeface="Lucida Console" pitchFamily="49" charset="0"/>
            </a:endParaRP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 bwMode="auto">
          <a:xfrm>
            <a:off x="947" y="1"/>
            <a:ext cx="9735831" cy="1171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93822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6pPr>
            <a:lvl7pPr marL="987643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7pPr>
            <a:lvl8pPr marL="1481465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8pPr>
            <a:lvl9pPr marL="1975287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>
              <a:lnSpc>
                <a:spcPct val="80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US" alt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Putting together some of the </a:t>
            </a:r>
            <a:br>
              <a:rPr lang="en-US" alt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</a:br>
            <a:r>
              <a:rPr lang="en-US" alt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ideas from the above slides:</a:t>
            </a:r>
            <a:endParaRPr lang="en-GB" altLang="en-US" sz="4400" kern="0" dirty="0"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96863" y="1077137"/>
            <a:ext cx="971550" cy="458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...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868612" y="1086661"/>
            <a:ext cx="6629401" cy="578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algn="r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#Ca</a:t>
            </a:r>
            <a:r>
              <a:rPr lang="en-US" altLang="en-US" sz="2800" kern="0" spc="-480" dirty="0" smtClean="0">
                <a:solidFill>
                  <a:srgbClr val="FF0000"/>
                </a:solidFill>
                <a:latin typeface="Lucida Console" pitchFamily="49" charset="0"/>
              </a:rPr>
              <a:t>n’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t</a:t>
            </a:r>
            <a:r>
              <a:rPr lang="en-US" altLang="en-US" sz="1800" kern="0" dirty="0" smtClean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z="2800" kern="0" spc="-100" dirty="0" smtClean="0">
                <a:solidFill>
                  <a:srgbClr val="FF0000"/>
                </a:solidFill>
                <a:latin typeface="Lucida Console" pitchFamily="49" charset="0"/>
              </a:rPr>
              <a:t>loop</a:t>
            </a:r>
            <a:r>
              <a:rPr lang="en-US" altLang="en-US" sz="2000" kern="0" spc="-100" dirty="0" smtClean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z="2800" kern="0" spc="-100" dirty="0" smtClean="0">
                <a:solidFill>
                  <a:srgbClr val="FF0000"/>
                </a:solidFill>
                <a:latin typeface="Lucida Console" pitchFamily="49" charset="0"/>
              </a:rPr>
              <a:t>o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n</a:t>
            </a:r>
            <a:r>
              <a:rPr lang="en-US" altLang="en-US" sz="1800" kern="0" dirty="0" smtClean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f 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8983662" y="2571750"/>
            <a:ext cx="628650" cy="3429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6626465" y="2552052"/>
            <a:ext cx="2286809" cy="709566"/>
          </a:xfrm>
          <a:prstGeom prst="wedgeRoundRectCallout">
            <a:avLst>
              <a:gd name="adj1" fmla="val 18478"/>
              <a:gd name="adj2" fmla="val -158883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074" dirty="0">
                <a:solidFill>
                  <a:srgbClr val="000000"/>
                </a:solidFill>
                <a:latin typeface="Times New Roman" charset="0"/>
              </a:rPr>
              <a:t>Why not?</a:t>
            </a:r>
            <a:endParaRPr lang="zh-TW" altLang="en-US" sz="4074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07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96862" y="1077137"/>
            <a:ext cx="9439915" cy="578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&gt;&gt;&gt;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800" b="1" kern="0" dirty="0" smtClean="0">
                <a:solidFill>
                  <a:srgbClr val="FFC000"/>
                </a:solidFill>
                <a:latin typeface="Lucida Console" pitchFamily="49" charset="0"/>
              </a:rPr>
              <a:t>f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=set(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dir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frozenset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))</a:t>
            </a: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&gt;&gt;&gt;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for 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 in 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dir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frozenset</a:t>
            </a:r>
            <a:r>
              <a:rPr lang="en-US" altLang="en-US" sz="2800" kern="0" spc="-1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: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...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    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if 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[0]=="_":</a:t>
            </a:r>
            <a:r>
              <a:rPr lang="en-US" altLang="en-US" sz="2800" b="1" kern="0" dirty="0" smtClean="0">
                <a:solidFill>
                  <a:srgbClr val="FFC000"/>
                </a:solidFill>
                <a:latin typeface="Lucida Console" pitchFamily="49" charset="0"/>
              </a:rPr>
              <a:t>f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-=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...</a:t>
            </a:r>
          </a:p>
          <a:p>
            <a:pPr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&gt;&gt;&gt;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 print(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*</a:t>
            </a:r>
            <a:r>
              <a:rPr lang="en-US" altLang="en-US" sz="2800" kern="0" dirty="0" smtClean="0">
                <a:solidFill>
                  <a:srgbClr val="00B0F0"/>
                </a:solidFill>
                <a:latin typeface="Lucida Console" pitchFamily="49" charset="0"/>
              </a:rPr>
              <a:t>f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) </a:t>
            </a:r>
            <a:endParaRPr lang="en-US" altLang="en-US" sz="2800" kern="0" dirty="0" smtClean="0">
              <a:solidFill>
                <a:schemeClr val="bg1">
                  <a:lumMod val="75000"/>
                </a:schemeClr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spc="-120" dirty="0" smtClean="0">
                <a:solidFill>
                  <a:srgbClr val="00B050"/>
                </a:solidFill>
                <a:latin typeface="Lucida Console" pitchFamily="49" charset="0"/>
              </a:rPr>
              <a:t>difference intersection </a:t>
            </a:r>
            <a:r>
              <a:rPr lang="en-US" altLang="en-US" sz="2800" kern="0" spc="-120" dirty="0" err="1" smtClean="0">
                <a:solidFill>
                  <a:srgbClr val="00B050"/>
                </a:solidFill>
                <a:latin typeface="Lucida Console" pitchFamily="49" charset="0"/>
              </a:rPr>
              <a:t>issubset</a:t>
            </a:r>
            <a:r>
              <a:rPr lang="en-US" altLang="en-US" sz="2800" kern="0" spc="-120" dirty="0" smtClean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en-US" sz="2800" kern="0" spc="-120" dirty="0" err="1" smtClean="0">
                <a:solidFill>
                  <a:srgbClr val="00B050"/>
                </a:solidFill>
                <a:latin typeface="Lucida Console" pitchFamily="49" charset="0"/>
              </a:rPr>
              <a:t>issuperset</a:t>
            </a:r>
            <a:r>
              <a:rPr lang="en-US" altLang="en-US" sz="2800" kern="0" spc="-120" dirty="0" smtClean="0">
                <a:solidFill>
                  <a:srgbClr val="00B050"/>
                </a:solidFill>
                <a:latin typeface="Lucida Console" pitchFamily="49" charset="0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spc="-120" dirty="0" err="1" smtClean="0">
                <a:solidFill>
                  <a:srgbClr val="00B050"/>
                </a:solidFill>
                <a:latin typeface="Lucida Console" pitchFamily="49" charset="0"/>
              </a:rPr>
              <a:t>symmetric_difference</a:t>
            </a:r>
            <a:r>
              <a:rPr lang="en-US" altLang="en-US" sz="2800" kern="0" spc="-120" dirty="0" smtClean="0">
                <a:solidFill>
                  <a:srgbClr val="00B050"/>
                </a:solidFill>
                <a:latin typeface="Lucida Console" pitchFamily="49" charset="0"/>
              </a:rPr>
              <a:t> union copy </a:t>
            </a:r>
            <a:r>
              <a:rPr lang="en-US" altLang="en-US" sz="2800" kern="0" spc="-120" dirty="0" err="1" smtClean="0">
                <a:solidFill>
                  <a:srgbClr val="00B050"/>
                </a:solidFill>
                <a:latin typeface="Lucida Console" pitchFamily="49" charset="0"/>
              </a:rPr>
              <a:t>isdisjoint</a:t>
            </a:r>
            <a:endParaRPr lang="en-US" altLang="en-US" sz="2800" kern="0" spc="-120" dirty="0" smtClean="0">
              <a:solidFill>
                <a:srgbClr val="00B050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&gt;&gt;&gt;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800" kern="0" dirty="0" smtClean="0">
                <a:solidFill>
                  <a:srgbClr val="00B0F0"/>
                </a:solidFill>
                <a:latin typeface="Lucida Console" pitchFamily="49" charset="0"/>
              </a:rPr>
              <a:t>s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=set()</a:t>
            </a: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&gt;&gt;&gt;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for 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 in 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dir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(set):</a:t>
            </a: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...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    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if 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[0]!="_":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en-US" sz="2800" b="1" kern="0" dirty="0" smtClean="0">
                <a:solidFill>
                  <a:srgbClr val="00B0F0"/>
                </a:solidFill>
                <a:latin typeface="Lucida Console" pitchFamily="49" charset="0"/>
              </a:rPr>
              <a:t>s</a:t>
            </a:r>
            <a:r>
              <a:rPr lang="en-US" altLang="en-US" sz="2800" b="1" kern="0" dirty="0" smtClean="0">
                <a:solidFill>
                  <a:srgbClr val="FF0000"/>
                </a:solidFill>
                <a:latin typeface="Lucida Console" pitchFamily="49" charset="0"/>
              </a:rPr>
              <a:t>|=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{</a:t>
            </a:r>
            <a:r>
              <a:rPr lang="en-US" altLang="en-US" sz="2800" kern="0" dirty="0" err="1" smtClean="0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pPr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...</a:t>
            </a:r>
          </a:p>
          <a:p>
            <a:pPr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/>
                </a:solidFill>
                <a:latin typeface="Lucida Console" pitchFamily="49" charset="0"/>
              </a:rPr>
              <a:t>   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 print(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*</a:t>
            </a:r>
            <a:r>
              <a:rPr lang="en-US" altLang="en-US" sz="2800" b="1" kern="0" dirty="0" smtClean="0">
                <a:solidFill>
                  <a:srgbClr val="00B0F0"/>
                </a:solidFill>
                <a:latin typeface="Lucida Console" pitchFamily="49" charset="0"/>
              </a:rPr>
              <a:t>s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-</a:t>
            </a:r>
            <a:r>
              <a:rPr lang="en-US" altLang="en-US" sz="2800" b="1" kern="0" dirty="0" smtClean="0">
                <a:solidFill>
                  <a:srgbClr val="FFC000"/>
                </a:solidFill>
                <a:latin typeface="Lucida Console" pitchFamily="49" charset="0"/>
              </a:rPr>
              <a:t>f</a:t>
            </a:r>
            <a:r>
              <a:rPr lang="en-US" altLang="en-US" sz="2800" kern="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#Gets the set-only methods</a:t>
            </a: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spc="-100" dirty="0" err="1" smtClean="0">
                <a:solidFill>
                  <a:srgbClr val="00B050"/>
                </a:solidFill>
                <a:latin typeface="Lucida Console" pitchFamily="49" charset="0"/>
              </a:rPr>
              <a:t>difference_update</a:t>
            </a:r>
            <a:r>
              <a:rPr lang="en-US" altLang="en-US" sz="2800" kern="0" spc="-100" dirty="0" smtClean="0">
                <a:solidFill>
                  <a:srgbClr val="00B050"/>
                </a:solidFill>
                <a:latin typeface="Lucida Console" pitchFamily="49" charset="0"/>
              </a:rPr>
              <a:t> pop update clear remove </a:t>
            </a: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spc="-100" dirty="0" smtClean="0">
                <a:solidFill>
                  <a:srgbClr val="00B050"/>
                </a:solidFill>
                <a:latin typeface="Lucida Console" pitchFamily="49" charset="0"/>
              </a:rPr>
              <a:t>add discard </a:t>
            </a:r>
            <a:r>
              <a:rPr lang="en-US" altLang="en-US" sz="2800" kern="0" spc="-100" dirty="0" err="1" smtClean="0">
                <a:solidFill>
                  <a:srgbClr val="00B050"/>
                </a:solidFill>
                <a:latin typeface="Lucida Console" pitchFamily="49" charset="0"/>
              </a:rPr>
              <a:t>symmetric_difference_update</a:t>
            </a:r>
            <a:endParaRPr lang="en-US" altLang="en-US" sz="2800" kern="0" spc="-100" dirty="0" smtClean="0">
              <a:solidFill>
                <a:srgbClr val="00B050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spc="-100" dirty="0" err="1" smtClean="0">
                <a:solidFill>
                  <a:srgbClr val="00B050"/>
                </a:solidFill>
                <a:latin typeface="Lucida Console" pitchFamily="49" charset="0"/>
              </a:rPr>
              <a:t>intersection_update</a:t>
            </a:r>
            <a:endParaRPr lang="en-US" altLang="en-US" sz="2800" kern="0" spc="-100" dirty="0" smtClean="0">
              <a:solidFill>
                <a:srgbClr val="00B050"/>
              </a:solidFill>
              <a:latin typeface="Lucida Console" pitchFamily="49" charset="0"/>
            </a:endParaRPr>
          </a:p>
          <a:p>
            <a:pPr defTabSz="91440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2800" kern="0" dirty="0">
              <a:solidFill>
                <a:schemeClr val="bg1">
                  <a:lumMod val="75000"/>
                </a:schemeClr>
              </a:solidFill>
              <a:latin typeface="Lucida Console" pitchFamily="49" charset="0"/>
            </a:endParaRP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 bwMode="auto">
          <a:xfrm>
            <a:off x="947" y="1"/>
            <a:ext cx="9735831" cy="1171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88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93822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6pPr>
            <a:lvl7pPr marL="987643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7pPr>
            <a:lvl8pPr marL="1481465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8pPr>
            <a:lvl9pPr marL="1975287" algn="ctr" rtl="0" eaLnBrk="1" fontAlgn="base" hangingPunct="1">
              <a:spcBef>
                <a:spcPct val="0"/>
              </a:spcBef>
              <a:spcAft>
                <a:spcPct val="0"/>
              </a:spcAft>
              <a:defRPr sz="3888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>
              <a:lnSpc>
                <a:spcPct val="80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US" alt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Putting together some of the </a:t>
            </a:r>
            <a:br>
              <a:rPr lang="en-US" alt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</a:br>
            <a:r>
              <a:rPr lang="en-US" alt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ideas from the above slides:</a:t>
            </a:r>
            <a:endParaRPr lang="en-GB" altLang="en-US" sz="4400" kern="0" dirty="0"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96863" y="1077137"/>
            <a:ext cx="971550" cy="458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...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 smtClean="0">
              <a:solidFill>
                <a:schemeClr val="bg1">
                  <a:lumMod val="75000"/>
                </a:schemeClr>
              </a:solidFill>
              <a:latin typeface="Lucida Console" pitchFamily="49" charset="0"/>
            </a:endParaRPr>
          </a:p>
          <a:p>
            <a:pPr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spc="-120" dirty="0" smtClean="0">
              <a:solidFill>
                <a:srgbClr val="00B050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spc="-120" dirty="0" smtClean="0">
              <a:solidFill>
                <a:srgbClr val="00B050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...</a:t>
            </a: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 smtClean="0">
              <a:solidFill>
                <a:schemeClr val="bg1">
                  <a:lumMod val="75000"/>
                </a:schemeClr>
              </a:solidFill>
              <a:latin typeface="Lucida Console" pitchFamily="49" charset="0"/>
            </a:endParaRPr>
          </a:p>
          <a:p>
            <a:pPr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2800" kern="0" dirty="0" smtClean="0">
              <a:solidFill>
                <a:srgbClr val="FF0000"/>
              </a:solidFill>
              <a:latin typeface="Lucida Console" pitchFamily="49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868612" y="1086661"/>
            <a:ext cx="6629401" cy="578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algn="r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#Ca</a:t>
            </a:r>
            <a:r>
              <a:rPr lang="en-US" altLang="en-US" sz="2800" kern="0" spc="-480" dirty="0" smtClean="0">
                <a:solidFill>
                  <a:srgbClr val="FF0000"/>
                </a:solidFill>
                <a:latin typeface="Lucida Console" pitchFamily="49" charset="0"/>
              </a:rPr>
              <a:t>n’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t</a:t>
            </a:r>
            <a:r>
              <a:rPr lang="en-US" altLang="en-US" sz="1800" kern="0" dirty="0" smtClean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z="2800" kern="0" spc="-100" dirty="0" smtClean="0">
                <a:solidFill>
                  <a:srgbClr val="FF0000"/>
                </a:solidFill>
                <a:latin typeface="Lucida Console" pitchFamily="49" charset="0"/>
              </a:rPr>
              <a:t>loop</a:t>
            </a:r>
            <a:r>
              <a:rPr lang="en-US" altLang="en-US" sz="2000" kern="0" spc="-100" dirty="0" smtClean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z="2800" kern="0" spc="-100" dirty="0" smtClean="0">
                <a:solidFill>
                  <a:srgbClr val="FF0000"/>
                </a:solidFill>
                <a:latin typeface="Lucida Console" pitchFamily="49" charset="0"/>
              </a:rPr>
              <a:t>o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n</a:t>
            </a:r>
            <a:r>
              <a:rPr lang="en-US" altLang="en-US" sz="1800" kern="0" dirty="0" smtClean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f </a:t>
            </a:r>
          </a:p>
          <a:p>
            <a:pPr algn="r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spc="-100" dirty="0" smtClean="0">
                <a:solidFill>
                  <a:srgbClr val="FF0000"/>
                </a:solidFill>
                <a:latin typeface="Lucida Console" pitchFamily="49" charset="0"/>
              </a:rPr>
              <a:t>#since</a:t>
            </a:r>
            <a:r>
              <a:rPr lang="en-US" altLang="en-US" sz="1800" kern="0" spc="-100" dirty="0" smtClean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itchFamily="49" charset="0"/>
              </a:rPr>
              <a:t>f</a:t>
            </a:r>
            <a:r>
              <a:rPr lang="en-US" altLang="en-US" sz="1600" kern="0" spc="-100" dirty="0" smtClean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altLang="en-US" sz="2800" kern="0" spc="-100" dirty="0" smtClean="0">
                <a:solidFill>
                  <a:srgbClr val="FF0000"/>
                </a:solidFill>
                <a:latin typeface="Lucida Console" pitchFamily="49" charset="0"/>
              </a:rPr>
              <a:t>changes</a:t>
            </a:r>
          </a:p>
          <a:p>
            <a:pPr algn="r"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 smtClean="0">
              <a:solidFill>
                <a:srgbClr val="FF0000"/>
              </a:solidFill>
              <a:latin typeface="Lucida Console" pitchFamily="49" charset="0"/>
            </a:endParaRPr>
          </a:p>
          <a:p>
            <a:pPr algn="r"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#Note the use of splat      </a:t>
            </a:r>
            <a:r>
              <a:rPr lang="en-US" altLang="en-US" sz="2000" kern="0" dirty="0" smtClean="0">
                <a:solidFill>
                  <a:srgbClr val="FF0000"/>
                </a:solidFill>
                <a:latin typeface="Lucida Console" pitchFamily="49" charset="0"/>
              </a:rPr>
              <a:t>.</a:t>
            </a:r>
            <a:endParaRPr lang="en-US" altLang="en-US" sz="2800" kern="0" dirty="0" smtClean="0">
              <a:solidFill>
                <a:srgbClr val="FF0000"/>
              </a:solidFill>
              <a:latin typeface="Lucida Console" pitchFamily="49" charset="0"/>
            </a:endParaRPr>
          </a:p>
          <a:p>
            <a:pPr algn="r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spc="-120" dirty="0" smtClean="0">
              <a:solidFill>
                <a:srgbClr val="FF0000"/>
              </a:solidFill>
              <a:latin typeface="Lucida Console" pitchFamily="49" charset="0"/>
            </a:endParaRPr>
          </a:p>
          <a:p>
            <a:pPr algn="r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spc="-120" dirty="0" smtClean="0">
              <a:solidFill>
                <a:srgbClr val="FF0000"/>
              </a:solidFill>
              <a:latin typeface="Lucida Console" pitchFamily="49" charset="0"/>
            </a:endParaRPr>
          </a:p>
          <a:p>
            <a:pPr algn="r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#Note: I couldn’t say “s={}”</a:t>
            </a:r>
          </a:p>
          <a:p>
            <a:pPr algn="r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 smtClean="0">
              <a:solidFill>
                <a:srgbClr val="FF0000"/>
              </a:solidFill>
              <a:latin typeface="Lucida Console" pitchFamily="49" charset="0"/>
            </a:endParaRPr>
          </a:p>
          <a:p>
            <a:pPr algn="r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rgbClr val="FF0000"/>
                </a:solidFill>
                <a:latin typeface="Lucida Console" pitchFamily="49" charset="0"/>
              </a:rPr>
              <a:t>#Note isn’t +=</a:t>
            </a:r>
          </a:p>
          <a:p>
            <a:pPr algn="r" defTabSz="914400">
              <a:lnSpc>
                <a:spcPct val="7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 smtClean="0">
              <a:solidFill>
                <a:srgbClr val="FF0000"/>
              </a:solidFill>
              <a:latin typeface="Lucida Console" pitchFamily="49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8983662" y="2571750"/>
            <a:ext cx="628650" cy="3429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7287223" y="5556428"/>
            <a:ext cx="2286809" cy="709566"/>
          </a:xfrm>
          <a:prstGeom prst="wedgeRoundRectCallout">
            <a:avLst>
              <a:gd name="adj1" fmla="val 32022"/>
              <a:gd name="adj2" fmla="val -155973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074" dirty="0">
                <a:solidFill>
                  <a:srgbClr val="000000"/>
                </a:solidFill>
                <a:latin typeface="Times New Roman" charset="0"/>
              </a:rPr>
              <a:t>Why not?</a:t>
            </a:r>
            <a:endParaRPr lang="zh-TW" altLang="en-US" sz="4074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6754812" y="4813078"/>
            <a:ext cx="2286809" cy="709566"/>
          </a:xfrm>
          <a:prstGeom prst="wedgeRoundRectCallout">
            <a:avLst>
              <a:gd name="adj1" fmla="val 32640"/>
              <a:gd name="adj2" fmla="val -166937"/>
              <a:gd name="adj3" fmla="val 16667"/>
            </a:avLst>
          </a:prstGeom>
          <a:solidFill>
            <a:srgbClr val="66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84655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074" dirty="0">
                <a:solidFill>
                  <a:srgbClr val="000000"/>
                </a:solidFill>
                <a:latin typeface="Times New Roman" charset="0"/>
              </a:rPr>
              <a:t>Why not?</a:t>
            </a:r>
            <a:endParaRPr lang="zh-TW" altLang="en-US" sz="4074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91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/>
          </p:nvPr>
        </p:nvGraphicFramePr>
        <p:xfrm>
          <a:off x="239123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60427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644239" y="412152"/>
            <a:ext cx="2725649" cy="643997"/>
          </a:xfrm>
          <a:prstGeom prst="trapezoid">
            <a:avLst>
              <a:gd name="adj" fmla="val 100370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70000"/>
              </a:lnSpc>
            </a:pP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Lecture</a:t>
            </a:r>
            <a:r>
              <a:rPr lang="en-US" sz="16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3</a:t>
            </a:r>
            <a: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/>
            </a:r>
            <a:b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Slide 66</a:t>
            </a:r>
            <a:endParaRPr lang="en-US" sz="280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831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6971968"/>
              </p:ext>
            </p:extLst>
          </p:nvPr>
        </p:nvGraphicFramePr>
        <p:xfrm>
          <a:off x="239123" y="622856"/>
          <a:ext cx="9258300" cy="619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60427" y="-177244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644239" y="41096"/>
            <a:ext cx="2725649" cy="643997"/>
          </a:xfrm>
          <a:prstGeom prst="trapezoid">
            <a:avLst>
              <a:gd name="adj" fmla="val 100370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70000"/>
              </a:lnSpc>
            </a:pP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Lecture</a:t>
            </a:r>
            <a:r>
              <a:rPr lang="en-US" sz="16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3</a:t>
            </a:r>
            <a: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/>
            </a:r>
            <a:b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Slide 66</a:t>
            </a:r>
            <a:endParaRPr lang="en-US" sz="280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913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1626160"/>
              </p:ext>
            </p:extLst>
          </p:nvPr>
        </p:nvGraphicFramePr>
        <p:xfrm>
          <a:off x="239123" y="622856"/>
          <a:ext cx="9258300" cy="619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FF0000"/>
                          </a:solidFill>
                          <a:latin typeface="Verdana"/>
                        </a:rPr>
                        <a:t>frozenset</a:t>
                      </a:r>
                      <a:r>
                        <a:rPr lang="en-US" sz="1800" b="0" i="0" u="none" strike="noStrike" dirty="0" smtClean="0">
                          <a:solidFill>
                            <a:srgbClr val="FF0000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FF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FF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latin typeface="Verdana"/>
                        </a:rPr>
                        <a:t>to </a:t>
                      </a:r>
                      <a:r>
                        <a:rPr lang="en-US" sz="1800" b="0" i="0" u="none" strike="noStrike" dirty="0" smtClean="0">
                          <a:solidFill>
                            <a:srgbClr val="FF0000"/>
                          </a:solidFill>
                          <a:latin typeface="Verdana"/>
                        </a:rPr>
                        <a:t>an immutable </a:t>
                      </a:r>
                      <a:r>
                        <a:rPr lang="en-US" sz="1800" b="0" i="0" u="none" strike="noStrike" dirty="0" err="1" smtClean="0">
                          <a:solidFill>
                            <a:srgbClr val="FF0000"/>
                          </a:solidFill>
                          <a:latin typeface="Verdana"/>
                        </a:rPr>
                        <a:t>frozenset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60427" y="-177244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644239" y="41096"/>
            <a:ext cx="2725649" cy="643997"/>
          </a:xfrm>
          <a:prstGeom prst="trapezoid">
            <a:avLst>
              <a:gd name="adj" fmla="val 100370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70000"/>
              </a:lnSpc>
            </a:pP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Lecture</a:t>
            </a:r>
            <a:r>
              <a:rPr lang="en-US" sz="16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3</a:t>
            </a:r>
            <a: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/>
            </a:r>
            <a:b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Slide 66</a:t>
            </a:r>
            <a:endParaRPr lang="en-US" sz="280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598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8982792"/>
              </p:ext>
            </p:extLst>
          </p:nvPr>
        </p:nvGraphicFramePr>
        <p:xfrm>
          <a:off x="239123" y="329184"/>
          <a:ext cx="9258300" cy="6483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FF0000"/>
                          </a:solidFill>
                          <a:latin typeface="Verdana"/>
                        </a:rPr>
                        <a:t>frozenset</a:t>
                      </a:r>
                      <a:r>
                        <a:rPr lang="en-US" sz="1800" b="0" i="0" u="none" strike="noStrike" dirty="0" smtClean="0">
                          <a:solidFill>
                            <a:srgbClr val="FF0000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FF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FF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latin typeface="Verdana"/>
                        </a:rPr>
                        <a:t>to </a:t>
                      </a:r>
                      <a:r>
                        <a:rPr lang="en-US" sz="1800" b="0" i="0" u="none" strike="noStrike" dirty="0" smtClean="0">
                          <a:solidFill>
                            <a:srgbClr val="FF0000"/>
                          </a:solidFill>
                          <a:latin typeface="Verdana"/>
                        </a:rPr>
                        <a:t>an immutable </a:t>
                      </a:r>
                      <a:r>
                        <a:rPr lang="en-US" sz="1800" b="0" i="0" u="none" strike="noStrike" dirty="0" err="1" smtClean="0">
                          <a:solidFill>
                            <a:srgbClr val="FF0000"/>
                          </a:solidFill>
                          <a:latin typeface="Verdana"/>
                        </a:rPr>
                        <a:t>frozenset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60427" y="-50292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644239" y="-476280"/>
            <a:ext cx="2725649" cy="643997"/>
          </a:xfrm>
          <a:prstGeom prst="trapezoid">
            <a:avLst>
              <a:gd name="adj" fmla="val 100370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70000"/>
              </a:lnSpc>
            </a:pP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Lecture</a:t>
            </a:r>
            <a:r>
              <a:rPr lang="en-US" sz="16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3</a:t>
            </a:r>
            <a: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/>
            </a:r>
            <a:b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Slide 66</a:t>
            </a:r>
            <a:endParaRPr lang="en-US" sz="280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09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2728034"/>
              </p:ext>
            </p:extLst>
          </p:nvPr>
        </p:nvGraphicFramePr>
        <p:xfrm>
          <a:off x="239123" y="36576"/>
          <a:ext cx="9258300" cy="6775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frozenset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an immutable 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frozenset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60427" y="-795528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644239" y="-1113440"/>
            <a:ext cx="2725649" cy="643997"/>
          </a:xfrm>
          <a:prstGeom prst="trapezoid">
            <a:avLst>
              <a:gd name="adj" fmla="val 100370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70000"/>
              </a:lnSpc>
            </a:pP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Lecture</a:t>
            </a:r>
            <a:r>
              <a:rPr lang="en-US" sz="16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3</a:t>
            </a:r>
            <a: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/>
            </a:r>
            <a:b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Slide 66</a:t>
            </a:r>
            <a:endParaRPr lang="en-US" sz="280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566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7966523"/>
              </p:ext>
            </p:extLst>
          </p:nvPr>
        </p:nvGraphicFramePr>
        <p:xfrm>
          <a:off x="239123" y="36576"/>
          <a:ext cx="9258300" cy="6775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down to </a:t>
                      </a:r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an integer. </a:t>
                      </a:r>
                      <a:r>
                        <a:rPr lang="en-US" sz="1800" b="0" i="0" u="none" strike="noStrike" spc="-8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If x is a string, you can give the base.</a:t>
                      </a:r>
                      <a:endParaRPr lang="en-US" sz="1800" b="0" i="0" u="none" strike="noStrike" spc="-8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])</a:t>
                      </a:r>
                      <a:endParaRPr lang="en-US" sz="1800" b="0" i="0" u="none" strike="noStrike" spc="-15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bool(x)</a:t>
                      </a:r>
                      <a:endParaRPr lang="en-US" sz="1800" b="0" i="0" u="none" strike="noStrike" spc="-90" baseline="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value (True or False).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(c)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round(n[,d])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tuple.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list that is sorted.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set.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frozenset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an immutable 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frozenset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“nice looking”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string</a:t>
                      </a:r>
                      <a:r>
                        <a:rPr lang="en-US" sz="1800" b="0" i="0" u="none" strike="noStrike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 smtClean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rgbClr val="FF0000"/>
                          </a:solidFill>
                          <a:latin typeface="Verdana"/>
                        </a:rPr>
                        <a:t>bytes(</a:t>
                      </a:r>
                      <a:r>
                        <a:rPr lang="en-US" sz="1800" b="0" i="0" u="none" strike="noStrike" dirty="0" err="1" smtClean="0">
                          <a:solidFill>
                            <a:srgbClr val="FF0000"/>
                          </a:solidFill>
                          <a:latin typeface="Verdana"/>
                        </a:rPr>
                        <a:t>s,en</a:t>
                      </a:r>
                      <a:r>
                        <a:rPr lang="en-US" sz="1800" b="0" i="0" u="none" strike="noStrike" dirty="0" smtClean="0">
                          <a:solidFill>
                            <a:srgbClr val="FF0000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Use</a:t>
                      </a:r>
                      <a:r>
                        <a:rPr lang="en-US" sz="1800" b="0" i="0" u="none" strike="noStrike" spc="-5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 encoding </a:t>
                      </a:r>
                      <a:r>
                        <a:rPr lang="en-US" sz="1800" b="0" i="1" u="none" strike="noStrike" spc="-50" baseline="0" dirty="0" err="1" smtClean="0">
                          <a:solidFill>
                            <a:srgbClr val="FF0000"/>
                          </a:solidFill>
                          <a:latin typeface="Verdana"/>
                        </a:rPr>
                        <a:t>en</a:t>
                      </a:r>
                      <a:r>
                        <a:rPr lang="en-US" sz="1800" b="0" i="0" u="none" strike="noStrike" spc="-5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 to c</a:t>
                      </a:r>
                      <a:r>
                        <a:rPr lang="en-US" sz="1800" b="0" i="0" u="none" strike="noStrike" spc="-5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onvert</a:t>
                      </a:r>
                      <a:r>
                        <a:rPr lang="en-US" sz="1800" b="0" i="0" u="none" strike="noStrike" spc="-5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 string </a:t>
                      </a:r>
                      <a:r>
                        <a:rPr lang="en-US" sz="1800" b="0" i="1" u="none" strike="noStrike" spc="-5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s</a:t>
                      </a:r>
                      <a:r>
                        <a:rPr lang="en-US" sz="1800" b="0" i="0" u="none" strike="noStrike" spc="-5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 to an immutable byte sequence.</a:t>
                      </a:r>
                      <a:endParaRPr lang="en-US" sz="1800" b="0" i="0" u="none" strike="noStrike" spc="-50" dirty="0">
                        <a:solidFill>
                          <a:srgbClr val="FF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20" baseline="0" dirty="0" err="1" smtClean="0">
                          <a:solidFill>
                            <a:srgbClr val="FF0000"/>
                          </a:solidFill>
                          <a:latin typeface="Verdana"/>
                        </a:rPr>
                        <a:t>bytearray</a:t>
                      </a:r>
                      <a:r>
                        <a:rPr lang="en-US" sz="1800" b="0" i="0" u="none" strike="noStrike" spc="-2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spc="-20" baseline="0" dirty="0" err="1" smtClean="0">
                          <a:solidFill>
                            <a:srgbClr val="FF0000"/>
                          </a:solidFill>
                          <a:latin typeface="Verdana"/>
                        </a:rPr>
                        <a:t>s,en</a:t>
                      </a:r>
                      <a:r>
                        <a:rPr lang="en-US" sz="1800" b="0" i="0" u="none" strike="noStrike" spc="-2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spc="-20" baseline="0" dirty="0">
                        <a:solidFill>
                          <a:srgbClr val="FF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Use</a:t>
                      </a:r>
                      <a:r>
                        <a:rPr lang="en-US" sz="1800" b="0" i="0" u="none" strike="noStrike" spc="-5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 encoding </a:t>
                      </a:r>
                      <a:r>
                        <a:rPr lang="en-US" sz="1800" b="0" i="1" u="none" strike="noStrike" spc="-50" baseline="0" dirty="0" err="1" smtClean="0">
                          <a:solidFill>
                            <a:srgbClr val="FF0000"/>
                          </a:solidFill>
                          <a:latin typeface="Verdana"/>
                        </a:rPr>
                        <a:t>en</a:t>
                      </a:r>
                      <a:r>
                        <a:rPr lang="en-US" sz="1800" b="0" i="0" u="none" strike="noStrike" spc="-5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 to c</a:t>
                      </a:r>
                      <a:r>
                        <a:rPr lang="en-US" sz="1800" b="0" i="0" u="none" strike="noStrike" spc="-5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onvert</a:t>
                      </a:r>
                      <a:r>
                        <a:rPr lang="en-US" sz="1800" b="0" i="0" u="none" strike="noStrike" spc="-5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 string </a:t>
                      </a:r>
                      <a:r>
                        <a:rPr lang="en-US" sz="1800" b="0" i="1" u="none" strike="noStrike" spc="-5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s</a:t>
                      </a:r>
                      <a:r>
                        <a:rPr lang="en-US" sz="1800" b="0" i="0" u="none" strike="noStrike" spc="-50" baseline="0" dirty="0" smtClean="0">
                          <a:solidFill>
                            <a:srgbClr val="FF0000"/>
                          </a:solidFill>
                          <a:latin typeface="Verdana"/>
                        </a:rPr>
                        <a:t> to a mutable byte sequence.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hexadecimal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octal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 smtClean="0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</a:t>
                      </a:r>
                      <a:r>
                        <a:rPr lang="en-US" sz="1800" b="0" i="0" u="none" strike="noStrike" dirty="0" smtClean="0">
                          <a:solidFill>
                            <a:schemeClr val="tx1"/>
                          </a:solidFill>
                          <a:latin typeface="Verdana"/>
                        </a:rPr>
                        <a:t>a binary value, stored in a string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35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888147"/>
            <a:ext cx="9040416" cy="6461272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33" dirty="0"/>
              <a:t>Python has six/seven standard data types: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</a:p>
          <a:p>
            <a:pPr marL="598339" indent="-509602"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Sets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6.5 </a:t>
            </a:r>
            <a:r>
              <a:rPr lang="en-US" altLang="en-US" sz="2963" dirty="0" err="1">
                <a:solidFill>
                  <a:srgbClr val="A6A6A6"/>
                </a:solidFill>
                <a:latin typeface="Elephant" panose="02020904090505020303" pitchFamily="18" charset="0"/>
              </a:rPr>
              <a:t>Frozensets</a:t>
            </a:r>
            <a:endParaRPr lang="en-US" altLang="en-US" sz="2963" dirty="0">
              <a:solidFill>
                <a:srgbClr val="A6A6A6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	</a:t>
            </a:r>
            <a:r>
              <a:rPr lang="en-US" alt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… </a:t>
            </a:r>
          </a:p>
          <a:p>
            <a:pPr marL="88737" indent="0">
              <a:buNone/>
            </a:pP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	</a:t>
            </a:r>
            <a:r>
              <a:rPr lang="en-US" sz="2963" dirty="0">
                <a:solidFill>
                  <a:schemeClr val="bg1"/>
                </a:solidFill>
              </a:rPr>
              <a:t>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 err="1">
                <a:solidFill>
                  <a:schemeClr val="bg1"/>
                </a:solidFill>
              </a:rPr>
              <a:t>frozensets</a:t>
            </a:r>
            <a:r>
              <a:rPr lang="en-US" sz="2963" dirty="0">
                <a:solidFill>
                  <a:schemeClr val="bg1"/>
                </a:solidFill>
              </a:rPr>
              <a:t>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>
                <a:solidFill>
                  <a:srgbClr val="FF0000"/>
                </a:solidFill>
              </a:rPr>
              <a:t>bytes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2963" dirty="0" err="1">
                <a:solidFill>
                  <a:schemeClr val="bg1">
                    <a:lumMod val="50000"/>
                  </a:schemeClr>
                </a:solidFill>
              </a:rPr>
              <a:t>bytearrays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etc.</a:t>
            </a:r>
            <a:br>
              <a:rPr lang="en-US" sz="2963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	will be covered later…</a:t>
            </a: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</p:spTree>
    <p:extLst>
      <p:ext uri="{BB962C8B-B14F-4D97-AF65-F5344CB8AC3E}">
        <p14:creationId xmlns:p14="http://schemas.microsoft.com/office/powerpoint/2010/main" val="50923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888147"/>
            <a:ext cx="9040416" cy="6240421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33" dirty="0"/>
              <a:t>Python has </a:t>
            </a:r>
            <a:r>
              <a:rPr lang="en-US" altLang="en-US" sz="3333" dirty="0">
                <a:solidFill>
                  <a:srgbClr val="FF0000"/>
                </a:solidFill>
              </a:rPr>
              <a:t>seven/eight</a:t>
            </a:r>
            <a:r>
              <a:rPr lang="en-US" altLang="en-US" sz="3333" dirty="0"/>
              <a:t> standard data types: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</a:p>
          <a:p>
            <a:pPr marL="598339" indent="-509602"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Sets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6.5 </a:t>
            </a:r>
            <a:r>
              <a:rPr lang="en-US" altLang="en-US" sz="2963" dirty="0" err="1">
                <a:solidFill>
                  <a:srgbClr val="A6A6A6"/>
                </a:solidFill>
                <a:latin typeface="Elephant" panose="02020904090505020303" pitchFamily="18" charset="0"/>
              </a:rPr>
              <a:t>Frozensets</a:t>
            </a:r>
            <a:endParaRPr lang="en-US" altLang="en-US" sz="2963" dirty="0">
              <a:solidFill>
                <a:srgbClr val="A6A6A6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7  Bytes</a:t>
            </a:r>
          </a:p>
          <a:p>
            <a:pPr marL="88737" indent="0">
              <a:buNone/>
            </a:pPr>
            <a:endParaRPr lang="en-US" altLang="en-US" sz="2963" dirty="0">
              <a:solidFill>
                <a:srgbClr val="FF0000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	</a:t>
            </a:r>
            <a:r>
              <a:rPr lang="en-US" sz="2963" dirty="0">
                <a:solidFill>
                  <a:schemeClr val="bg1"/>
                </a:solidFill>
              </a:rPr>
              <a:t>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 err="1">
                <a:solidFill>
                  <a:schemeClr val="bg1"/>
                </a:solidFill>
              </a:rPr>
              <a:t>frozensets</a:t>
            </a:r>
            <a:r>
              <a:rPr lang="en-US" sz="2963" dirty="0">
                <a:solidFill>
                  <a:schemeClr val="bg1"/>
                </a:solidFill>
              </a:rPr>
              <a:t>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>
                <a:solidFill>
                  <a:schemeClr val="bg1"/>
                </a:solidFill>
              </a:rPr>
              <a:t>bytes, </a:t>
            </a:r>
            <a:r>
              <a:rPr lang="en-US" sz="2963" dirty="0" err="1">
                <a:solidFill>
                  <a:schemeClr val="bg1">
                    <a:lumMod val="50000"/>
                  </a:schemeClr>
                </a:solidFill>
              </a:rPr>
              <a:t>byte</a:t>
            </a:r>
            <a:r>
              <a:rPr lang="en-US" altLang="zh-TW" sz="2963" dirty="0" err="1">
                <a:solidFill>
                  <a:schemeClr val="bg1">
                    <a:lumMod val="50000"/>
                  </a:schemeClr>
                </a:solidFill>
              </a:rPr>
              <a:t>array</a:t>
            </a:r>
            <a:r>
              <a:rPr lang="en-US" sz="2963" dirty="0" err="1">
                <a:solidFill>
                  <a:schemeClr val="bg1">
                    <a:lumMod val="50000"/>
                  </a:schemeClr>
                </a:solidFill>
              </a:rPr>
              <a:t>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etc.</a:t>
            </a:r>
            <a:br>
              <a:rPr lang="en-US" sz="2963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	will be covered later…</a:t>
            </a: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</p:spTree>
    <p:extLst>
      <p:ext uri="{BB962C8B-B14F-4D97-AF65-F5344CB8AC3E}">
        <p14:creationId xmlns:p14="http://schemas.microsoft.com/office/powerpoint/2010/main" val="10422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2" y="6238"/>
            <a:ext cx="9335626" cy="6851762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hex(</a:t>
            </a:r>
            <a:r>
              <a:rPr lang="en-US" sz="2222" dirty="0" err="1">
                <a:latin typeface="Lucida Console" panose="020B0609040504020204" pitchFamily="49" charset="0"/>
              </a:rPr>
              <a:t>ord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sz="2222" dirty="0">
                <a:latin typeface="Lucida Console" panose="020B0609040504020204" pitchFamily="49" charset="0"/>
              </a:rPr>
              <a:t>))</a:t>
            </a:r>
            <a:r>
              <a:rPr lang="en-US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ASCII code for 'A' is 0x41: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'0x41'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</a:t>
            </a:r>
            <a:r>
              <a:rPr lang="en-US" sz="2222" dirty="0" err="1">
                <a:latin typeface="Lucida Console" panose="020B0609040504020204" pitchFamily="49" charset="0"/>
              </a:rPr>
              <a:t>chr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0x41</a:t>
            </a:r>
            <a:r>
              <a:rPr lang="en-US" sz="2222" dirty="0">
                <a:latin typeface="Lucida Console" panose="020B0609040504020204" pitchFamily="49" charset="0"/>
              </a:rPr>
              <a:t>)   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character for ASCII 0x41 is 'A':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hex(</a:t>
            </a:r>
            <a:r>
              <a:rPr lang="en-US" sz="2222" dirty="0" err="1">
                <a:latin typeface="Lucida Console" panose="020B0609040504020204" pitchFamily="49" charset="0"/>
              </a:rPr>
              <a:t>ord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♞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  <a:r>
              <a:rPr lang="en-US" sz="2222" dirty="0">
                <a:latin typeface="Lucida Console" panose="020B0609040504020204" pitchFamily="49" charset="0"/>
              </a:rPr>
              <a:t>))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</a:t>
            </a:r>
            <a:r>
              <a:rPr lang="en-US" altLang="zh-TW" sz="2222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unicode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for '♞' is 0x265e: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'0x265e'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</a:t>
            </a:r>
            <a:r>
              <a:rPr lang="en-US" sz="2222" dirty="0" err="1">
                <a:latin typeface="Lucida Console" panose="020B0609040504020204" pitchFamily="49" charset="0"/>
              </a:rPr>
              <a:t>chr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0x265e</a:t>
            </a:r>
            <a:r>
              <a:rPr lang="en-US" sz="2222" dirty="0">
                <a:latin typeface="Lucida Console" panose="020B0609040504020204" pitchFamily="49" charset="0"/>
              </a:rPr>
              <a:t>)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character for 0x265e is '♞':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'♞'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a=</a:t>
            </a:r>
            <a:r>
              <a:rPr lang="en-US" altLang="zh-TW" sz="2222" dirty="0">
                <a:latin typeface="Lucida Console" panose="020B0609040504020204" pitchFamily="49" charset="0"/>
              </a:rPr>
              <a:t>bytes(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altLang="zh-TW" sz="2222" dirty="0">
                <a:latin typeface="Lucida Console" panose="020B0609040504020204" pitchFamily="49" charset="0"/>
              </a:rPr>
              <a:t>, '</a:t>
            </a:r>
            <a:r>
              <a:rPr lang="en-US" altLang="zh-TW" sz="2222" dirty="0" err="1">
                <a:latin typeface="Lucida Console" panose="020B0609040504020204" pitchFamily="49" charset="0"/>
              </a:rPr>
              <a:t>ascii</a:t>
            </a:r>
            <a:r>
              <a:rPr lang="en-US" altLang="zh-TW" sz="2222" dirty="0">
                <a:latin typeface="Lucida Console" panose="020B0609040504020204" pitchFamily="49" charset="0"/>
              </a:rPr>
              <a:t>')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Q:But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what does this do?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latin typeface="Lucida Console" panose="020B0609040504020204" pitchFamily="49" charset="0"/>
              </a:rPr>
              <a:t>print(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b'A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latin typeface="Lucida Console" panose="020B0609040504020204" pitchFamily="49" charset="0"/>
              </a:rPr>
              <a:t>print(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65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latin typeface="Lucida Console" panose="020B0609040504020204" pitchFamily="49" charset="0"/>
              </a:rPr>
              <a:t>hex(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#show in hexadecimal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'0x41'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b=</a:t>
            </a:r>
            <a:r>
              <a:rPr lang="en-US" altLang="zh-TW" sz="2222" dirty="0">
                <a:latin typeface="Lucida Console" panose="020B0609040504020204" pitchFamily="49" charset="0"/>
              </a:rPr>
              <a:t>bytes(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'Hi!'</a:t>
            </a:r>
            <a:r>
              <a:rPr lang="en-US" altLang="zh-TW" sz="2222" dirty="0">
                <a:latin typeface="Lucida Console" panose="020B0609040504020204" pitchFamily="49" charset="0"/>
              </a:rPr>
              <a:t>,'</a:t>
            </a:r>
            <a:r>
              <a:rPr lang="en-US" altLang="zh-TW" sz="2222" dirty="0" err="1">
                <a:latin typeface="Lucida Console" panose="020B0609040504020204" pitchFamily="49" charset="0"/>
              </a:rPr>
              <a:t>ascii</a:t>
            </a:r>
            <a:r>
              <a:rPr lang="en-US" altLang="zh-TW" sz="2222" dirty="0"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b'Hi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!'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latin typeface="Lucida Console" panose="020B0609040504020204" pitchFamily="49" charset="0"/>
              </a:rPr>
              <a:t>[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222" dirty="0">
                <a:latin typeface="Lucida Console" panose="020B0609040504020204" pitchFamily="49" charset="0"/>
              </a:rPr>
              <a:t>] </a:t>
            </a:r>
            <a:r>
              <a:rPr lang="en-US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hex(</a:t>
            </a:r>
            <a:r>
              <a:rPr lang="en-US" altLang="zh-TW" sz="2222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b) wouldn’t work, because takes 1 arg.</a:t>
            </a: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[72, 105, 33]</a:t>
            </a:r>
            <a:endParaRPr lang="en-US" altLang="zh-TW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2" dirty="0">
                <a:latin typeface="Lucida Console" panose="020B0609040504020204" pitchFamily="49" charset="0"/>
              </a:rPr>
              <a:t>=[]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latin typeface="Lucida Console" panose="020B0609040504020204" pitchFamily="49" charset="0"/>
              </a:rPr>
              <a:t>for 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 in [</a:t>
            </a:r>
            <a:r>
              <a:rPr lang="en-US" altLang="zh-TW" sz="2222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222" dirty="0">
                <a:latin typeface="Lucida Console" panose="020B0609040504020204" pitchFamily="49" charset="0"/>
              </a:rPr>
              <a:t>]: 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2" dirty="0" err="1">
                <a:latin typeface="Lucida Console" panose="020B0609040504020204" pitchFamily="49" charset="0"/>
              </a:rPr>
              <a:t>.append</a:t>
            </a:r>
            <a:r>
              <a:rPr lang="en-US" altLang="zh-TW" sz="2222" dirty="0">
                <a:latin typeface="Lucida Console" panose="020B0609040504020204" pitchFamily="49" charset="0"/>
              </a:rPr>
              <a:t>(hex(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4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['0x48', '0x69', '0x21']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96863" y="6239"/>
            <a:ext cx="967840" cy="6440303"/>
          </a:xfrm>
          <a:prstGeom prst="rect">
            <a:avLst/>
          </a:prstGeom>
        </p:spPr>
        <p:txBody>
          <a:bodyPr vert="horz" lIns="84659" tIns="42330" rIns="84659" bIns="42330" rtlCol="0">
            <a:noAutofit/>
          </a:bodyPr>
          <a:lstStyle>
            <a:lvl1pPr marL="197175" indent="-197175" algn="l" defTabSz="788697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524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872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80221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4570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8918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3267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7616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1965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22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1111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4786554" y="2454155"/>
            <a:ext cx="4914949" cy="1085106"/>
          </a:xfrm>
          <a:prstGeom prst="wedgeRoundRectCallout">
            <a:avLst>
              <a:gd name="adj1" fmla="val -127653"/>
              <a:gd name="adj2" fmla="val -15915"/>
              <a:gd name="adj3" fmla="val 16667"/>
            </a:avLst>
          </a:prstGeom>
          <a:solidFill>
            <a:srgbClr val="FFC000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317457" indent="-317457" defTabSz="846552"/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A:It prints a special kind of string (special in that it has a ‘b’</a:t>
            </a:r>
            <a:r>
              <a:rPr lang="en-US" altLang="zh-TW" sz="185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at the front</a:t>
            </a:r>
            <a:r>
              <a:rPr lang="en-US" altLang="zh-TW" sz="2222" spc="-37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endParaRPr lang="zh-TW" altLang="en-US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5784307" y="4146492"/>
            <a:ext cx="3185919" cy="1218671"/>
          </a:xfrm>
          <a:prstGeom prst="wedgeRoundRectCallout">
            <a:avLst>
              <a:gd name="adj1" fmla="val -32151"/>
              <a:gd name="adj2" fmla="val -130659"/>
              <a:gd name="adj3" fmla="val 16667"/>
            </a:avLst>
          </a:prstGeom>
          <a:solidFill>
            <a:srgbClr val="FFC000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846552"/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If it is a string, then it can be 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splatted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endParaRPr lang="zh-TW" altLang="en-US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2216095" y="3135206"/>
            <a:ext cx="3782410" cy="1801560"/>
          </a:xfrm>
          <a:prstGeom prst="straightConnector1">
            <a:avLst/>
          </a:prstGeom>
          <a:ln w="28575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8253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9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2" dur="500"/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2" y="6238"/>
            <a:ext cx="9335626" cy="6851762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hex(</a:t>
            </a:r>
            <a:r>
              <a:rPr lang="en-US" sz="2222" dirty="0" err="1">
                <a:latin typeface="Lucida Console" panose="020B0609040504020204" pitchFamily="49" charset="0"/>
              </a:rPr>
              <a:t>ord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sz="2222" dirty="0">
                <a:latin typeface="Lucida Console" panose="020B0609040504020204" pitchFamily="49" charset="0"/>
              </a:rPr>
              <a:t>))</a:t>
            </a:r>
            <a:r>
              <a:rPr lang="en-US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ASCII code for 'A' is 0x41: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'0x41'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</a:t>
            </a:r>
            <a:r>
              <a:rPr lang="en-US" sz="2222" dirty="0" err="1">
                <a:latin typeface="Lucida Console" panose="020B0609040504020204" pitchFamily="49" charset="0"/>
              </a:rPr>
              <a:t>chr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0x41</a:t>
            </a:r>
            <a:r>
              <a:rPr lang="en-US" sz="2222" dirty="0">
                <a:latin typeface="Lucida Console" panose="020B0609040504020204" pitchFamily="49" charset="0"/>
              </a:rPr>
              <a:t>)   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character for ASCII 0x41 is 'A':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hex(</a:t>
            </a:r>
            <a:r>
              <a:rPr lang="en-US" sz="2222" dirty="0" err="1">
                <a:latin typeface="Lucida Console" panose="020B0609040504020204" pitchFamily="49" charset="0"/>
              </a:rPr>
              <a:t>ord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♞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  <a:r>
              <a:rPr lang="en-US" sz="2222" dirty="0">
                <a:latin typeface="Lucida Console" panose="020B0609040504020204" pitchFamily="49" charset="0"/>
              </a:rPr>
              <a:t>))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</a:t>
            </a:r>
            <a:r>
              <a:rPr lang="en-US" altLang="zh-TW" sz="2222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unicode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for '♞' is 0x265e: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'0x265e'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</a:t>
            </a:r>
            <a:r>
              <a:rPr lang="en-US" sz="2222" dirty="0" err="1">
                <a:latin typeface="Lucida Console" panose="020B0609040504020204" pitchFamily="49" charset="0"/>
              </a:rPr>
              <a:t>chr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0x265e</a:t>
            </a:r>
            <a:r>
              <a:rPr lang="en-US" sz="2222" dirty="0">
                <a:latin typeface="Lucida Console" panose="020B0609040504020204" pitchFamily="49" charset="0"/>
              </a:rPr>
              <a:t>)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character for 0x265e is '♞':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'♞'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a=</a:t>
            </a:r>
            <a:r>
              <a:rPr lang="en-US" altLang="zh-TW" sz="2222" dirty="0">
                <a:latin typeface="Lucida Console" panose="020B0609040504020204" pitchFamily="49" charset="0"/>
              </a:rPr>
              <a:t>bytes(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altLang="zh-TW" sz="2222" dirty="0">
                <a:latin typeface="Lucida Console" panose="020B0609040504020204" pitchFamily="49" charset="0"/>
              </a:rPr>
              <a:t>, '</a:t>
            </a:r>
            <a:r>
              <a:rPr lang="en-US" altLang="zh-TW" sz="2222" dirty="0" err="1">
                <a:latin typeface="Lucida Console" panose="020B0609040504020204" pitchFamily="49" charset="0"/>
              </a:rPr>
              <a:t>ascii</a:t>
            </a:r>
            <a:r>
              <a:rPr lang="en-US" altLang="zh-TW" sz="2222" dirty="0">
                <a:latin typeface="Lucida Console" panose="020B0609040504020204" pitchFamily="49" charset="0"/>
              </a:rPr>
              <a:t>')</a:t>
            </a: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latin typeface="Lucida Console" panose="020B0609040504020204" pitchFamily="49" charset="0"/>
              </a:rPr>
              <a:t>print(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b'A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latin typeface="Lucida Console" panose="020B0609040504020204" pitchFamily="49" charset="0"/>
              </a:rPr>
              <a:t>print(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65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latin typeface="Lucida Console" panose="020B0609040504020204" pitchFamily="49" charset="0"/>
              </a:rPr>
              <a:t>hex(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 </a:t>
            </a:r>
            <a:endParaRPr lang="en-US" altLang="zh-TW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'0x41'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b=</a:t>
            </a:r>
            <a:r>
              <a:rPr lang="en-US" altLang="zh-TW" sz="2222" dirty="0">
                <a:latin typeface="Lucida Console" panose="020B0609040504020204" pitchFamily="49" charset="0"/>
              </a:rPr>
              <a:t>bytes(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'Hi!'</a:t>
            </a:r>
            <a:r>
              <a:rPr lang="en-US" altLang="zh-TW" sz="2222" dirty="0">
                <a:latin typeface="Lucida Console" panose="020B0609040504020204" pitchFamily="49" charset="0"/>
              </a:rPr>
              <a:t>,'</a:t>
            </a:r>
            <a:r>
              <a:rPr lang="en-US" altLang="zh-TW" sz="2222" dirty="0" err="1">
                <a:latin typeface="Lucida Console" panose="020B0609040504020204" pitchFamily="49" charset="0"/>
              </a:rPr>
              <a:t>ascii</a:t>
            </a:r>
            <a:r>
              <a:rPr lang="en-US" altLang="zh-TW" sz="2222" dirty="0"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b'Hi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!'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latin typeface="Lucida Console" panose="020B0609040504020204" pitchFamily="49" charset="0"/>
              </a:rPr>
              <a:t>[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222" dirty="0">
                <a:latin typeface="Lucida Console" panose="020B0609040504020204" pitchFamily="49" charset="0"/>
              </a:rPr>
              <a:t>]</a:t>
            </a: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[72, 105, 33]</a:t>
            </a:r>
            <a:endParaRPr lang="en-US" altLang="zh-TW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2" dirty="0">
                <a:latin typeface="Lucida Console" panose="020B0609040504020204" pitchFamily="49" charset="0"/>
              </a:rPr>
              <a:t>=[]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latin typeface="Lucida Console" panose="020B0609040504020204" pitchFamily="49" charset="0"/>
              </a:rPr>
              <a:t>for 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 in [</a:t>
            </a:r>
            <a:r>
              <a:rPr lang="en-US" altLang="zh-TW" sz="2222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222" dirty="0">
                <a:latin typeface="Lucida Console" panose="020B0609040504020204" pitchFamily="49" charset="0"/>
              </a:rPr>
              <a:t>]: 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2" dirty="0" err="1">
                <a:latin typeface="Lucida Console" panose="020B0609040504020204" pitchFamily="49" charset="0"/>
              </a:rPr>
              <a:t>.append</a:t>
            </a:r>
            <a:r>
              <a:rPr lang="en-US" altLang="zh-TW" sz="2222" dirty="0">
                <a:latin typeface="Lucida Console" panose="020B0609040504020204" pitchFamily="49" charset="0"/>
              </a:rPr>
              <a:t>(hex(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4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['0x48', '0x69', '0x21']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96863" y="6239"/>
            <a:ext cx="967840" cy="6440303"/>
          </a:xfrm>
          <a:prstGeom prst="rect">
            <a:avLst/>
          </a:prstGeom>
        </p:spPr>
        <p:txBody>
          <a:bodyPr vert="horz" lIns="84659" tIns="42330" rIns="84659" bIns="42330" rtlCol="0">
            <a:noAutofit/>
          </a:bodyPr>
          <a:lstStyle>
            <a:lvl1pPr marL="197175" indent="-197175" algn="l" defTabSz="788697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524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872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80221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4570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8918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3267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7616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1965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22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1111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7006982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2" y="6238"/>
            <a:ext cx="9439916" cy="6851762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hex(</a:t>
            </a:r>
            <a:r>
              <a:rPr lang="en-US" sz="2222" dirty="0" err="1">
                <a:latin typeface="Lucida Console" panose="020B0609040504020204" pitchFamily="49" charset="0"/>
              </a:rPr>
              <a:t>ord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sz="2222" dirty="0">
                <a:latin typeface="Lucida Console" panose="020B0609040504020204" pitchFamily="49" charset="0"/>
              </a:rPr>
              <a:t>))</a:t>
            </a:r>
            <a:r>
              <a:rPr lang="en-US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ASCII code for 'A' is 0x41: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'0x41'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</a:t>
            </a:r>
            <a:r>
              <a:rPr lang="en-US" sz="2222" dirty="0" err="1">
                <a:latin typeface="Lucida Console" panose="020B0609040504020204" pitchFamily="49" charset="0"/>
              </a:rPr>
              <a:t>chr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0x41</a:t>
            </a:r>
            <a:r>
              <a:rPr lang="en-US" sz="2222" dirty="0">
                <a:latin typeface="Lucida Console" panose="020B0609040504020204" pitchFamily="49" charset="0"/>
              </a:rPr>
              <a:t>)   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character for ASCII 0x41 is 'A':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hex(</a:t>
            </a:r>
            <a:r>
              <a:rPr lang="en-US" sz="2222" dirty="0" err="1">
                <a:latin typeface="Lucida Console" panose="020B0609040504020204" pitchFamily="49" charset="0"/>
              </a:rPr>
              <a:t>ord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♞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  <a:r>
              <a:rPr lang="en-US" sz="2222" dirty="0">
                <a:latin typeface="Lucida Console" panose="020B0609040504020204" pitchFamily="49" charset="0"/>
              </a:rPr>
              <a:t>))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</a:t>
            </a:r>
            <a:r>
              <a:rPr lang="en-US" altLang="zh-TW" sz="2222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unicode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for '♞' is 0x265e: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'0x265e'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</a:t>
            </a:r>
            <a:r>
              <a:rPr lang="en-US" sz="2222" dirty="0" err="1">
                <a:latin typeface="Lucida Console" panose="020B0609040504020204" pitchFamily="49" charset="0"/>
              </a:rPr>
              <a:t>chr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0x265e</a:t>
            </a:r>
            <a:r>
              <a:rPr lang="en-US" sz="2222" dirty="0">
                <a:latin typeface="Lucida Console" panose="020B0609040504020204" pitchFamily="49" charset="0"/>
              </a:rPr>
              <a:t>)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character for 0x265e is '♞':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'♞'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a=</a:t>
            </a:r>
            <a:r>
              <a:rPr lang="en-US" altLang="zh-TW" sz="2222" dirty="0">
                <a:latin typeface="Lucida Console" panose="020B0609040504020204" pitchFamily="49" charset="0"/>
              </a:rPr>
              <a:t>bytes(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altLang="zh-TW" sz="2222" dirty="0">
                <a:latin typeface="Lucida Console" panose="020B0609040504020204" pitchFamily="49" charset="0"/>
              </a:rPr>
              <a:t>, 'utf8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')</a:t>
            </a: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latin typeface="Lucida Console" panose="020B0609040504020204" pitchFamily="49" charset="0"/>
              </a:rPr>
              <a:t>print(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           </a:t>
            </a: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b'A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latin typeface="Lucida Console" panose="020B0609040504020204" pitchFamily="49" charset="0"/>
              </a:rPr>
              <a:t>print(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65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latin typeface="Lucida Console" panose="020B0609040504020204" pitchFamily="49" charset="0"/>
              </a:rPr>
              <a:t>hex(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  <a:endParaRPr lang="en-US" altLang="zh-TW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'0x41'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k=</a:t>
            </a:r>
            <a:r>
              <a:rPr lang="en-US" altLang="zh-TW" sz="2222" dirty="0">
                <a:latin typeface="Lucida Console" panose="020B0609040504020204" pitchFamily="49" charset="0"/>
              </a:rPr>
              <a:t>bytes(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'♞'</a:t>
            </a:r>
            <a:r>
              <a:rPr lang="en-US" altLang="zh-TW" sz="2222" dirty="0">
                <a:latin typeface="Lucida Console" panose="020B0609040504020204" pitchFamily="49" charset="0"/>
              </a:rPr>
              <a:t>,'utf8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')</a:t>
            </a:r>
            <a:r>
              <a:rPr lang="en-US" altLang="zh-TW" sz="2222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k                  </a:t>
            </a:r>
            <a:r>
              <a:rPr lang="en-US" altLang="zh-TW" sz="1666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endParaRPr lang="en-US" altLang="zh-TW" sz="2222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b'\xe2\x99\x9e'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latin typeface="Lucida Console" panose="020B0609040504020204" pitchFamily="49" charset="0"/>
              </a:rPr>
              <a:t>[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]    </a:t>
            </a:r>
            <a:endParaRPr lang="en-US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[226, 153, 158]</a:t>
            </a:r>
            <a:endParaRPr lang="en-US" altLang="zh-TW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2" dirty="0">
                <a:latin typeface="Lucida Console" panose="020B0609040504020204" pitchFamily="49" charset="0"/>
              </a:rPr>
              <a:t>=[]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latin typeface="Lucida Console" panose="020B0609040504020204" pitchFamily="49" charset="0"/>
              </a:rPr>
              <a:t>for 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 in [</a:t>
            </a:r>
            <a:r>
              <a:rPr lang="en-US" altLang="zh-TW" sz="2222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]: 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2" dirty="0" err="1">
                <a:latin typeface="Lucida Console" panose="020B0609040504020204" pitchFamily="49" charset="0"/>
              </a:rPr>
              <a:t>.append</a:t>
            </a:r>
            <a:r>
              <a:rPr lang="en-US" altLang="zh-TW" sz="2222" dirty="0">
                <a:latin typeface="Lucida Console" panose="020B0609040504020204" pitchFamily="49" charset="0"/>
              </a:rPr>
              <a:t>(hex(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4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['0xe2', '0x99', '0x9e']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96863" y="6239"/>
            <a:ext cx="967840" cy="6440303"/>
          </a:xfrm>
          <a:prstGeom prst="rect">
            <a:avLst/>
          </a:prstGeom>
        </p:spPr>
        <p:txBody>
          <a:bodyPr vert="horz" lIns="84659" tIns="42330" rIns="84659" bIns="42330" rtlCol="0">
            <a:noAutofit/>
          </a:bodyPr>
          <a:lstStyle>
            <a:lvl1pPr marL="197175" indent="-197175" algn="l" defTabSz="788697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524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872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80221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4570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8918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3267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7616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1965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22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1111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9179988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2" y="6238"/>
            <a:ext cx="9439916" cy="6851762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hex(</a:t>
            </a:r>
            <a:r>
              <a:rPr lang="en-US" sz="2222" dirty="0" err="1">
                <a:latin typeface="Lucida Console" panose="020B0609040504020204" pitchFamily="49" charset="0"/>
              </a:rPr>
              <a:t>ord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sz="2222" dirty="0">
                <a:latin typeface="Lucida Console" panose="020B0609040504020204" pitchFamily="49" charset="0"/>
              </a:rPr>
              <a:t>))</a:t>
            </a:r>
            <a:r>
              <a:rPr lang="en-US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ASCII code for 'A' is 0x41: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'0x41'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</a:t>
            </a:r>
            <a:r>
              <a:rPr lang="en-US" sz="2222" dirty="0" err="1">
                <a:latin typeface="Lucida Console" panose="020B0609040504020204" pitchFamily="49" charset="0"/>
              </a:rPr>
              <a:t>chr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0x41</a:t>
            </a:r>
            <a:r>
              <a:rPr lang="en-US" sz="2222" dirty="0">
                <a:latin typeface="Lucida Console" panose="020B0609040504020204" pitchFamily="49" charset="0"/>
              </a:rPr>
              <a:t>)   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character for ASCII 0x41 is 'A':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hex(</a:t>
            </a:r>
            <a:r>
              <a:rPr lang="en-US" sz="2222" dirty="0" err="1">
                <a:latin typeface="Lucida Console" panose="020B0609040504020204" pitchFamily="49" charset="0"/>
              </a:rPr>
              <a:t>ord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♞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  <a:r>
              <a:rPr lang="en-US" sz="2222" dirty="0">
                <a:latin typeface="Lucida Console" panose="020B0609040504020204" pitchFamily="49" charset="0"/>
              </a:rPr>
              <a:t>))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</a:t>
            </a:r>
            <a:r>
              <a:rPr lang="en-US" altLang="zh-TW" sz="2222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unicode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for '♞' is 0x265e: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'0x265e'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latin typeface="Lucida Console" panose="020B0609040504020204" pitchFamily="49" charset="0"/>
              </a:rPr>
              <a:t> </a:t>
            </a:r>
            <a:r>
              <a:rPr lang="en-US" sz="2222" dirty="0" err="1">
                <a:latin typeface="Lucida Console" panose="020B0609040504020204" pitchFamily="49" charset="0"/>
              </a:rPr>
              <a:t>chr</a:t>
            </a:r>
            <a:r>
              <a:rPr lang="en-US" sz="2222" dirty="0">
                <a:latin typeface="Lucida Console" panose="020B0609040504020204" pitchFamily="49" charset="0"/>
              </a:rPr>
              <a:t>(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0x265e</a:t>
            </a:r>
            <a:r>
              <a:rPr lang="en-US" sz="2222" dirty="0">
                <a:latin typeface="Lucida Console" panose="020B0609040504020204" pitchFamily="49" charset="0"/>
              </a:rPr>
              <a:t>)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#The character for 0x265e is '♞':</a:t>
            </a:r>
            <a:endParaRPr lang="en-US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'♞'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a=</a:t>
            </a:r>
            <a:r>
              <a:rPr lang="en-US" altLang="zh-TW" sz="2222" dirty="0">
                <a:latin typeface="Lucida Console" panose="020B0609040504020204" pitchFamily="49" charset="0"/>
              </a:rPr>
              <a:t>bytes(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altLang="zh-TW" sz="2222" dirty="0">
                <a:latin typeface="Lucida Console" panose="020B0609040504020204" pitchFamily="49" charset="0"/>
              </a:rPr>
              <a:t>, 'utf8')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# Unicode instead of 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ascii</a:t>
            </a: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latin typeface="Lucida Console" panose="020B0609040504020204" pitchFamily="49" charset="0"/>
              </a:rPr>
              <a:t>print(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           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# But it gives same answer: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b'A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latin typeface="Lucida Console" panose="020B0609040504020204" pitchFamily="49" charset="0"/>
              </a:rPr>
              <a:t>print(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65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latin typeface="Lucida Console" panose="020B0609040504020204" pitchFamily="49" charset="0"/>
              </a:rPr>
              <a:t>hex(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  <a:endParaRPr lang="en-US" altLang="zh-TW" sz="222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'0x41'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k=</a:t>
            </a:r>
            <a:r>
              <a:rPr lang="en-US" altLang="zh-TW" sz="2222" dirty="0">
                <a:latin typeface="Lucida Console" panose="020B0609040504020204" pitchFamily="49" charset="0"/>
              </a:rPr>
              <a:t>bytes(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'♞'</a:t>
            </a:r>
            <a:r>
              <a:rPr lang="en-US" altLang="zh-TW" sz="2222" dirty="0">
                <a:latin typeface="Lucida Console" panose="020B0609040504020204" pitchFamily="49" charset="0"/>
              </a:rPr>
              <a:t>,'utf8')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# Here, 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would give error 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k                  </a:t>
            </a:r>
            <a:r>
              <a:rPr lang="en-US" altLang="zh-TW" sz="1666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# Notice the ugly output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b'\xe2\x99\x9e'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latin typeface="Lucida Console" panose="020B0609040504020204" pitchFamily="49" charset="0"/>
              </a:rPr>
              <a:t>[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]    </a:t>
            </a:r>
            <a:r>
              <a:rPr lang="en-US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# Notice k looks long, but </a:t>
            </a:r>
            <a:r>
              <a:rPr lang="en-US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len</a:t>
            </a:r>
            <a:r>
              <a:rPr lang="en-US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(k)==3 only: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[226, 153, 158]</a:t>
            </a:r>
            <a:endParaRPr lang="en-US" altLang="zh-TW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2" dirty="0">
                <a:latin typeface="Lucida Console" panose="020B0609040504020204" pitchFamily="49" charset="0"/>
              </a:rPr>
              <a:t>=[]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latin typeface="Lucida Console" panose="020B0609040504020204" pitchFamily="49" charset="0"/>
              </a:rPr>
              <a:t>for 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 in [</a:t>
            </a:r>
            <a:r>
              <a:rPr lang="en-US" altLang="zh-TW" sz="2222" dirty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]: 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222" dirty="0" err="1">
                <a:latin typeface="Lucida Console" panose="020B0609040504020204" pitchFamily="49" charset="0"/>
              </a:rPr>
              <a:t>.append</a:t>
            </a:r>
            <a:r>
              <a:rPr lang="en-US" altLang="zh-TW" sz="2222" dirty="0">
                <a:latin typeface="Lucida Console" panose="020B0609040504020204" pitchFamily="49" charset="0"/>
              </a:rPr>
              <a:t>(hex(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4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print(h, list(map(hex,[*k])))</a:t>
            </a: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['0xe2', '0x99', '0x9e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'] [</a:t>
            </a:r>
            <a:r>
              <a:rPr lang="en-US" altLang="zh-TW" sz="2222" dirty="0">
                <a:latin typeface="Lucida Console" panose="020B0609040504020204" pitchFamily="49" charset="0"/>
              </a:rPr>
              <a:t>'0xe2', '0x99', '0x9e']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96863" y="6239"/>
            <a:ext cx="967840" cy="6440303"/>
          </a:xfrm>
          <a:prstGeom prst="rect">
            <a:avLst/>
          </a:prstGeom>
        </p:spPr>
        <p:txBody>
          <a:bodyPr vert="horz" lIns="84659" tIns="42330" rIns="84659" bIns="42330" rtlCol="0">
            <a:noAutofit/>
          </a:bodyPr>
          <a:lstStyle>
            <a:lvl1pPr marL="197175" indent="-197175" algn="l" defTabSz="788697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524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872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80221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4570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8918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3267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7616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1965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22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2222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1111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9643048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1" y="745509"/>
            <a:ext cx="9635770" cy="6112491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333" dirty="0">
                <a:solidFill>
                  <a:srgbClr val="FF0000"/>
                </a:solidFill>
              </a:rPr>
              <a:t>You can make a bytes object by type casting a string: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7030A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222" dirty="0">
                <a:latin typeface="Lucida Console" panose="020B0609040504020204" pitchFamily="49" charset="0"/>
              </a:rPr>
              <a:t>=bytes(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'ABC'</a:t>
            </a:r>
            <a:r>
              <a:rPr lang="en-US" altLang="zh-TW" sz="2222" dirty="0">
                <a:latin typeface="Lucida Console" panose="020B0609040504020204" pitchFamily="49" charset="0"/>
              </a:rPr>
              <a:t>,'utf8')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7030A0"/>
                </a:solidFill>
                <a:latin typeface="Lucida Console" panose="020B0609040504020204" pitchFamily="49" charset="0"/>
              </a:rPr>
              <a:t>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2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b'ABC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FFC00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=bytes(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'♞'</a:t>
            </a:r>
            <a:r>
              <a:rPr lang="en-US" altLang="zh-TW" sz="2222" dirty="0">
                <a:latin typeface="Lucida Console" panose="020B0609040504020204" pitchFamily="49" charset="0"/>
              </a:rPr>
              <a:t>,'utf8')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FFC000"/>
                </a:solidFill>
                <a:latin typeface="Lucida Console" panose="020B0609040504020204" pitchFamily="49" charset="0"/>
              </a:rPr>
              <a:t>K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  b'\xe2\x99\x9e'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222" dirty="0">
                <a:latin typeface="Lucida Console" panose="020B0609040504020204" pitchFamily="49" charset="0"/>
              </a:rPr>
              <a:t> = </a:t>
            </a:r>
            <a:r>
              <a:rPr lang="en-US" altLang="zh-TW" sz="2222" dirty="0" err="1">
                <a:latin typeface="Lucida Console" panose="020B0609040504020204" pitchFamily="49" charset="0"/>
              </a:rPr>
              <a:t>bytes.fromhex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00B0F0"/>
                </a:solidFill>
                <a:latin typeface="Lucida Console" panose="020B0609040504020204" pitchFamily="49" charset="0"/>
              </a:rPr>
              <a:t>'e2999d'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rgbClr val="00B0F0"/>
                </a:solidFill>
                <a:latin typeface="Lucida Console" panose="020B0609040504020204" pitchFamily="49" charset="0"/>
              </a:rPr>
              <a:t>  b'\xe2\x99\x9d'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dirty="0">
                <a:latin typeface="Lucida Console" panose="020B0609040504020204" pitchFamily="49" charset="0"/>
              </a:rPr>
              <a:t>=</a:t>
            </a:r>
            <a:r>
              <a:rPr lang="en-US" altLang="zh-TW" sz="2222" b="1" dirty="0">
                <a:solidFill>
                  <a:srgbClr val="00B050"/>
                </a:solidFill>
                <a:latin typeface="Lucida Console" panose="020B0609040504020204" pitchFamily="49" charset="0"/>
              </a:rPr>
              <a:t>b'\xe2\x99\x9c'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R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rgbClr val="00B050"/>
                </a:solidFill>
                <a:latin typeface="Lucida Console" panose="020B0609040504020204" pitchFamily="49" charset="0"/>
              </a:rPr>
              <a:t>  b'\xe2\x99\x9c'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endParaRPr lang="en-US" altLang="zh-TW" sz="1666" dirty="0"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333" spc="-93" dirty="0">
                <a:solidFill>
                  <a:srgbClr val="FF0000"/>
                </a:solidFill>
              </a:rPr>
              <a:t>Yo</a:t>
            </a:r>
            <a:r>
              <a:rPr lang="en-US" altLang="zh-TW" sz="3333" spc="-46" dirty="0">
                <a:solidFill>
                  <a:srgbClr val="FF0000"/>
                </a:solidFill>
              </a:rPr>
              <a:t>u</a:t>
            </a:r>
            <a:r>
              <a:rPr lang="en-US" altLang="zh-TW" sz="2963" dirty="0">
                <a:solidFill>
                  <a:srgbClr val="FF0000"/>
                </a:solidFill>
              </a:rPr>
              <a:t> </a:t>
            </a:r>
            <a:r>
              <a:rPr lang="en-US" altLang="zh-TW" sz="3333" dirty="0">
                <a:solidFill>
                  <a:srgbClr val="FF0000"/>
                </a:solidFill>
              </a:rPr>
              <a:t>c</a:t>
            </a:r>
            <a:r>
              <a:rPr lang="en-US" altLang="zh-TW" sz="3333" spc="-37" dirty="0">
                <a:solidFill>
                  <a:srgbClr val="FF0000"/>
                </a:solidFill>
              </a:rPr>
              <a:t>an</a:t>
            </a:r>
            <a:r>
              <a:rPr lang="en-US" altLang="zh-TW" sz="2963" spc="-37" dirty="0">
                <a:solidFill>
                  <a:srgbClr val="FF0000"/>
                </a:solidFill>
              </a:rPr>
              <a:t> </a:t>
            </a:r>
            <a:r>
              <a:rPr lang="en-US" altLang="zh-TW" sz="3333" spc="-37" dirty="0" smtClean="0">
                <a:solidFill>
                  <a:srgbClr val="FF0000"/>
                </a:solidFill>
              </a:rPr>
              <a:t>g</a:t>
            </a:r>
            <a:r>
              <a:rPr lang="en-US" altLang="zh-TW" sz="3333" spc="-28" dirty="0" smtClean="0">
                <a:solidFill>
                  <a:srgbClr val="FF0000"/>
                </a:solidFill>
              </a:rPr>
              <a:t>et</a:t>
            </a:r>
            <a:r>
              <a:rPr lang="en-US" altLang="zh-TW" sz="2963" dirty="0" smtClean="0">
                <a:solidFill>
                  <a:srgbClr val="FF0000"/>
                </a:solidFill>
              </a:rPr>
              <a:t> </a:t>
            </a:r>
            <a:r>
              <a:rPr lang="en-US" altLang="zh-TW" sz="3333" dirty="0">
                <a:solidFill>
                  <a:srgbClr val="FF0000"/>
                </a:solidFill>
              </a:rPr>
              <a:t>t</a:t>
            </a:r>
            <a:r>
              <a:rPr lang="en-US" altLang="zh-TW" sz="3333" spc="-37" dirty="0">
                <a:solidFill>
                  <a:srgbClr val="FF0000"/>
                </a:solidFill>
              </a:rPr>
              <a:t>he</a:t>
            </a:r>
            <a:r>
              <a:rPr lang="en-US" altLang="zh-TW" sz="2963" spc="-37" dirty="0">
                <a:solidFill>
                  <a:srgbClr val="FF0000"/>
                </a:solidFill>
              </a:rPr>
              <a:t> </a:t>
            </a:r>
            <a:r>
              <a:rPr lang="en-US" altLang="zh-TW" sz="3333" spc="-37" dirty="0">
                <a:solidFill>
                  <a:srgbClr val="FF0000"/>
                </a:solidFill>
              </a:rPr>
              <a:t>ind</a:t>
            </a:r>
            <a:r>
              <a:rPr lang="en-US" altLang="zh-TW" sz="3333" dirty="0">
                <a:solidFill>
                  <a:srgbClr val="FF0000"/>
                </a:solidFill>
              </a:rPr>
              <a:t>iv</a:t>
            </a:r>
            <a:r>
              <a:rPr lang="en-US" altLang="zh-TW" sz="3333" spc="-37" dirty="0">
                <a:solidFill>
                  <a:srgbClr val="FF0000"/>
                </a:solidFill>
              </a:rPr>
              <a:t>idua</a:t>
            </a:r>
            <a:r>
              <a:rPr lang="en-US" altLang="zh-TW" sz="3333" dirty="0">
                <a:solidFill>
                  <a:srgbClr val="FF0000"/>
                </a:solidFill>
              </a:rPr>
              <a:t>l</a:t>
            </a:r>
            <a:r>
              <a:rPr lang="en-US" altLang="zh-TW" sz="2963" dirty="0">
                <a:solidFill>
                  <a:srgbClr val="FF0000"/>
                </a:solidFill>
              </a:rPr>
              <a:t> </a:t>
            </a:r>
            <a:r>
              <a:rPr lang="en-US" altLang="zh-TW" sz="3333" spc="-37" dirty="0">
                <a:solidFill>
                  <a:srgbClr val="FF0000"/>
                </a:solidFill>
              </a:rPr>
              <a:t>eleme</a:t>
            </a:r>
            <a:r>
              <a:rPr lang="en-US" altLang="zh-TW" sz="3333" dirty="0">
                <a:solidFill>
                  <a:srgbClr val="FF0000"/>
                </a:solidFill>
              </a:rPr>
              <a:t>nts</a:t>
            </a:r>
            <a:r>
              <a:rPr lang="en-US" altLang="zh-TW" sz="2963" dirty="0">
                <a:solidFill>
                  <a:srgbClr val="FF0000"/>
                </a:solidFill>
              </a:rPr>
              <a:t> </a:t>
            </a:r>
            <a:r>
              <a:rPr lang="en-US" altLang="zh-TW" sz="3333" dirty="0">
                <a:solidFill>
                  <a:srgbClr val="FF0000"/>
                </a:solidFill>
              </a:rPr>
              <a:t>of</a:t>
            </a:r>
            <a:r>
              <a:rPr lang="en-US" altLang="zh-TW" sz="2963" dirty="0">
                <a:solidFill>
                  <a:srgbClr val="FF0000"/>
                </a:solidFill>
              </a:rPr>
              <a:t> </a:t>
            </a:r>
            <a:r>
              <a:rPr lang="en-US" altLang="zh-TW" sz="3333" dirty="0">
                <a:solidFill>
                  <a:srgbClr val="FF0000"/>
                </a:solidFill>
              </a:rPr>
              <a:t>bytes</a:t>
            </a:r>
            <a:r>
              <a:rPr lang="en-US" altLang="zh-TW" sz="2963" dirty="0">
                <a:solidFill>
                  <a:srgbClr val="FF0000"/>
                </a:solidFill>
              </a:rPr>
              <a:t> </a:t>
            </a:r>
            <a:r>
              <a:rPr lang="en-US" altLang="zh-TW" sz="3333" spc="-56" dirty="0">
                <a:solidFill>
                  <a:srgbClr val="FF0000"/>
                </a:solidFill>
              </a:rPr>
              <a:t>obj</a:t>
            </a:r>
            <a:r>
              <a:rPr lang="en-US" altLang="zh-TW" sz="3333" spc="-37" dirty="0">
                <a:solidFill>
                  <a:srgbClr val="FF0000"/>
                </a:solidFill>
              </a:rPr>
              <a:t>e</a:t>
            </a:r>
            <a:r>
              <a:rPr lang="en-US" altLang="zh-TW" sz="3333" dirty="0">
                <a:solidFill>
                  <a:srgbClr val="FF0000"/>
                </a:solidFill>
              </a:rPr>
              <a:t>cts: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[*S]     </a:t>
            </a:r>
            <a:r>
              <a:rPr lang="en-US" altLang="zh-TW" sz="2222" dirty="0">
                <a:solidFill>
                  <a:srgbClr val="FF7171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dirty="0" err="1">
                <a:solidFill>
                  <a:srgbClr val="FF717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dirty="0">
                <a:solidFill>
                  <a:srgbClr val="FF7171"/>
                </a:solidFill>
                <a:latin typeface="Lucida Console" panose="020B0609040504020204" pitchFamily="49" charset="0"/>
              </a:rPr>
              <a:t> code for</a:t>
            </a:r>
            <a:r>
              <a:rPr lang="en-US" altLang="zh-TW" sz="1852" dirty="0">
                <a:solidFill>
                  <a:srgbClr val="FF717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FF7171"/>
                </a:solidFill>
                <a:latin typeface="Lucida Console" panose="020B0609040504020204" pitchFamily="49" charset="0"/>
              </a:rPr>
              <a:t>'A'=65,</a:t>
            </a:r>
            <a:r>
              <a:rPr lang="en-US" altLang="zh-TW" sz="1852" dirty="0">
                <a:solidFill>
                  <a:srgbClr val="FF717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FF7171"/>
                </a:solidFill>
                <a:latin typeface="Lucida Console" panose="020B0609040504020204" pitchFamily="49" charset="0"/>
              </a:rPr>
              <a:t>'B'=66,</a:t>
            </a:r>
            <a:r>
              <a:rPr lang="en-US" altLang="zh-TW" sz="1852" dirty="0">
                <a:solidFill>
                  <a:srgbClr val="FF717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FF7171"/>
                </a:solidFill>
                <a:latin typeface="Lucida Console" panose="020B0609040504020204" pitchFamily="49" charset="0"/>
              </a:rPr>
              <a:t>'C'=67 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rgbClr val="CC6600"/>
                </a:solidFill>
                <a:latin typeface="Lucida Console" panose="020B0609040504020204" pitchFamily="49" charset="0"/>
              </a:rPr>
              <a:t>[65, 66, 67]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S[0]     </a:t>
            </a:r>
            <a:r>
              <a:rPr lang="en-US" altLang="zh-TW" sz="2222" dirty="0">
                <a:solidFill>
                  <a:srgbClr val="FF7171"/>
                </a:solidFill>
                <a:latin typeface="Lucida Console" panose="020B0609040504020204" pitchFamily="49" charset="0"/>
              </a:rPr>
              <a:t>#The first element is for 'A'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rgbClr val="CC6600"/>
                </a:solidFill>
                <a:latin typeface="Lucida Console" panose="020B0609040504020204" pitchFamily="49" charset="0"/>
              </a:rPr>
              <a:t>65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1666" dirty="0">
                <a:latin typeface="Lucida Console" panose="020B0609040504020204" pitchFamily="49" charset="0"/>
              </a:rPr>
              <a:t>	</a:t>
            </a:r>
            <a:endParaRPr lang="en-US" altLang="zh-TW" sz="185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333" dirty="0">
                <a:solidFill>
                  <a:srgbClr val="FF0000"/>
                </a:solidFill>
              </a:rPr>
              <a:t>You can use decode() to reconstruct the string:</a:t>
            </a: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pr</a:t>
            </a:r>
            <a:r>
              <a:rPr lang="en-US" altLang="zh-TW" sz="2222" spc="-50" dirty="0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n</a:t>
            </a:r>
            <a:r>
              <a:rPr lang="en-US" altLang="zh-TW" sz="2222" spc="-50" dirty="0">
                <a:latin typeface="Lucida Console" panose="020B0609040504020204" pitchFamily="49" charset="0"/>
              </a:rPr>
              <a:t>t</a:t>
            </a:r>
            <a:r>
              <a:rPr lang="en-US" altLang="zh-TW" sz="2222" spc="-70" dirty="0">
                <a:latin typeface="Lucida Console" panose="020B0609040504020204" pitchFamily="49" charset="0"/>
              </a:rPr>
              <a:t>(</a:t>
            </a:r>
            <a:r>
              <a:rPr lang="en-US" altLang="zh-TW" sz="2222" spc="-15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222" spc="-150" dirty="0" err="1">
                <a:latin typeface="Lucida Console" panose="020B0609040504020204" pitchFamily="49" charset="0"/>
              </a:rPr>
              <a:t>.</a:t>
            </a:r>
            <a:r>
              <a:rPr lang="en-US" altLang="zh-TW" sz="2222" dirty="0" err="1">
                <a:latin typeface="Lucida Console" panose="020B0609040504020204" pitchFamily="49" charset="0"/>
              </a:rPr>
              <a:t>dec</a:t>
            </a:r>
            <a:r>
              <a:rPr lang="en-US" altLang="zh-TW" sz="2222" spc="-20" dirty="0" err="1">
                <a:latin typeface="Lucida Console" panose="020B0609040504020204" pitchFamily="49" charset="0"/>
              </a:rPr>
              <a:t>od</a:t>
            </a:r>
            <a:r>
              <a:rPr lang="en-US" altLang="zh-TW" sz="2222" spc="-60" dirty="0" err="1">
                <a:latin typeface="Lucida Console" panose="020B0609040504020204" pitchFamily="49" charset="0"/>
              </a:rPr>
              <a:t>e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spc="-463" dirty="0">
                <a:latin typeface="Lucida Console" panose="020B0609040504020204" pitchFamily="49" charset="0"/>
              </a:rPr>
              <a:t>)</a:t>
            </a:r>
            <a:r>
              <a:rPr lang="en-US" altLang="zh-TW" sz="2222" dirty="0">
                <a:latin typeface="Lucida Console" panose="020B0609040504020204" pitchFamily="49" charset="0"/>
              </a:rPr>
              <a:t>,</a:t>
            </a:r>
            <a:r>
              <a:rPr lang="en-US" altLang="zh-TW" sz="2222" spc="-15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spc="-150" dirty="0" err="1" smtClean="0">
                <a:latin typeface="Lucida Console" panose="020B0609040504020204" pitchFamily="49" charset="0"/>
              </a:rPr>
              <a:t>.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dec</a:t>
            </a:r>
            <a:r>
              <a:rPr lang="en-US" altLang="zh-TW" sz="2222" spc="-20" dirty="0" err="1" smtClean="0">
                <a:latin typeface="Lucida Console" panose="020B0609040504020204" pitchFamily="49" charset="0"/>
              </a:rPr>
              <a:t>od</a:t>
            </a:r>
            <a:r>
              <a:rPr lang="en-US" altLang="zh-TW" sz="2222" spc="-60" dirty="0" err="1" smtClean="0">
                <a:latin typeface="Lucida Console" panose="020B0609040504020204" pitchFamily="49" charset="0"/>
              </a:rPr>
              <a:t>e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(</a:t>
            </a:r>
            <a:r>
              <a:rPr lang="en-US" altLang="zh-TW" sz="2222" spc="-463" dirty="0" smtClean="0">
                <a:latin typeface="Lucida Console" panose="020B0609040504020204" pitchFamily="49" charset="0"/>
              </a:rPr>
              <a:t>)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,</a:t>
            </a:r>
            <a:r>
              <a:rPr lang="en-US" altLang="zh-TW" sz="2222" spc="-15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222" spc="-150" dirty="0" err="1" smtClean="0">
                <a:latin typeface="Lucida Console" panose="020B0609040504020204" pitchFamily="49" charset="0"/>
              </a:rPr>
              <a:t>.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dec</a:t>
            </a:r>
            <a:r>
              <a:rPr lang="en-US" altLang="zh-TW" sz="2222" spc="-20" dirty="0" err="1" smtClean="0">
                <a:latin typeface="Lucida Console" panose="020B0609040504020204" pitchFamily="49" charset="0"/>
              </a:rPr>
              <a:t>od</a:t>
            </a:r>
            <a:r>
              <a:rPr lang="en-US" altLang="zh-TW" sz="2222" spc="-60" dirty="0" err="1" smtClean="0">
                <a:latin typeface="Lucida Console" panose="020B0609040504020204" pitchFamily="49" charset="0"/>
              </a:rPr>
              <a:t>e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(</a:t>
            </a:r>
            <a:r>
              <a:rPr lang="en-US" altLang="zh-TW" sz="2222" spc="-463" dirty="0" smtClean="0">
                <a:latin typeface="Lucida Console" panose="020B0609040504020204" pitchFamily="49" charset="0"/>
              </a:rPr>
              <a:t>)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,</a:t>
            </a:r>
            <a:r>
              <a:rPr lang="en-US" altLang="zh-TW" sz="2222" spc="-15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spc="-150" dirty="0" err="1" smtClean="0">
                <a:latin typeface="Lucida Console" panose="020B0609040504020204" pitchFamily="49" charset="0"/>
              </a:rPr>
              <a:t>.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dec</a:t>
            </a:r>
            <a:r>
              <a:rPr lang="en-US" altLang="zh-TW" sz="2222" spc="-20" dirty="0" err="1" smtClean="0">
                <a:latin typeface="Lucida Console" panose="020B0609040504020204" pitchFamily="49" charset="0"/>
              </a:rPr>
              <a:t>od</a:t>
            </a:r>
            <a:r>
              <a:rPr lang="en-US" altLang="zh-TW" sz="2222" spc="-60" dirty="0" err="1" smtClean="0">
                <a:latin typeface="Lucida Console" panose="020B0609040504020204" pitchFamily="49" charset="0"/>
              </a:rPr>
              <a:t>e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(</a:t>
            </a:r>
            <a:r>
              <a:rPr lang="en-US" altLang="zh-TW" sz="2222" spc="-100" dirty="0" smtClean="0">
                <a:latin typeface="Lucida Console" panose="020B0609040504020204" pitchFamily="49" charset="0"/>
              </a:rPr>
              <a:t>)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)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rgbClr val="7030A0"/>
                </a:solidFill>
                <a:latin typeface="Lucida Console" panose="020B0609040504020204" pitchFamily="49" charset="0"/>
              </a:rPr>
              <a:t>ABC</a:t>
            </a:r>
            <a:r>
              <a:rPr lang="en-US" altLang="zh-TW" sz="2222" dirty="0">
                <a:solidFill>
                  <a:srgbClr val="FFC000"/>
                </a:solidFill>
                <a:latin typeface="Lucida Console" panose="020B0609040504020204" pitchFamily="49" charset="0"/>
              </a:rPr>
              <a:t> ♞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♝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♜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>
          <a:xfrm>
            <a:off x="947" y="1"/>
            <a:ext cx="9735831" cy="960316"/>
          </a:xfrm>
        </p:spPr>
        <p:txBody>
          <a:bodyPr>
            <a:normAutofit/>
          </a:bodyPr>
          <a:lstStyle/>
          <a:p>
            <a:pPr>
              <a:lnSpc>
                <a:spcPct val="47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How to Work with Bytes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96861" y="745509"/>
            <a:ext cx="1257301" cy="6112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82545" indent="-182545" algn="l" defTabSz="730176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33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720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809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2897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7984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3073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161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3249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3333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7030A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 </a:t>
            </a:r>
            <a:endParaRPr lang="en-US" altLang="zh-TW" sz="2222" dirty="0" smtClean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b="1" dirty="0" smtClean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1666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3333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FF717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endParaRPr lang="en-US" altLang="zh-TW" sz="2222" dirty="0" smtClean="0">
              <a:solidFill>
                <a:srgbClr val="CC66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7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&gt;&gt;&gt;</a:t>
            </a:r>
            <a:endParaRPr lang="en-US" altLang="zh-TW" sz="2222" dirty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926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3" y="1314450"/>
            <a:ext cx="9144000" cy="5531280"/>
          </a:xfrm>
        </p:spPr>
        <p:txBody>
          <a:bodyPr>
            <a:noAutofit/>
          </a:bodyPr>
          <a:lstStyle/>
          <a:p>
            <a:pPr marL="0" indent="0">
              <a:lnSpc>
                <a:spcPct val="94000"/>
              </a:lnSpc>
              <a:buNone/>
            </a:pPr>
            <a:r>
              <a:rPr lang="en-US" sz="3333" dirty="0">
                <a:solidFill>
                  <a:srgbClr val="FF0000"/>
                </a:solidFill>
              </a:rPr>
              <a:t>Python3 separates the concept of character </a:t>
            </a:r>
            <a:r>
              <a:rPr lang="en-US" sz="3333" u="sng" dirty="0">
                <a:solidFill>
                  <a:srgbClr val="FF0000"/>
                </a:solidFill>
              </a:rPr>
              <a:t>identity</a:t>
            </a:r>
            <a:r>
              <a:rPr lang="en-US" sz="3333" dirty="0">
                <a:solidFill>
                  <a:srgbClr val="FF0000"/>
                </a:solidFill>
              </a:rPr>
              <a:t> from the reality of its </a:t>
            </a:r>
            <a:r>
              <a:rPr lang="en-US" sz="3333" u="sng" dirty="0">
                <a:solidFill>
                  <a:srgbClr val="FF0000"/>
                </a:solidFill>
              </a:rPr>
              <a:t>memory representation</a:t>
            </a:r>
            <a:r>
              <a:rPr lang="en-US" sz="3333" dirty="0">
                <a:solidFill>
                  <a:srgbClr val="FF0000"/>
                </a:solidFill>
              </a:rPr>
              <a:t>:</a:t>
            </a:r>
          </a:p>
          <a:p>
            <a:pPr marL="208698" indent="-208698">
              <a:lnSpc>
                <a:spcPct val="100000"/>
              </a:lnSpc>
              <a:spcBef>
                <a:spcPts val="0"/>
              </a:spcBef>
            </a:pPr>
            <a:r>
              <a:rPr lang="en-US" sz="2963" dirty="0">
                <a:solidFill>
                  <a:srgbClr val="FF0000"/>
                </a:solidFill>
              </a:rPr>
              <a:t>Its </a:t>
            </a:r>
            <a:r>
              <a:rPr lang="en-US" sz="2963" u="sng" dirty="0">
                <a:solidFill>
                  <a:srgbClr val="FF0000"/>
                </a:solidFill>
              </a:rPr>
              <a:t>identity</a:t>
            </a:r>
            <a:r>
              <a:rPr lang="en-US" sz="2963" dirty="0">
                <a:solidFill>
                  <a:srgbClr val="FF0000"/>
                </a:solidFill>
              </a:rPr>
              <a:t> is called its </a:t>
            </a:r>
            <a:r>
              <a:rPr lang="en-US" sz="2963" i="1" dirty="0">
                <a:solidFill>
                  <a:srgbClr val="FF0000"/>
                </a:solidFill>
              </a:rPr>
              <a:t>code </a:t>
            </a:r>
            <a:r>
              <a:rPr lang="en-US" sz="2963" i="1" dirty="0" smtClean="0">
                <a:solidFill>
                  <a:srgbClr val="FF0000"/>
                </a:solidFill>
              </a:rPr>
              <a:t>point.</a:t>
            </a:r>
            <a:endParaRPr lang="en-US" sz="2963" i="1" dirty="0">
              <a:solidFill>
                <a:srgbClr val="FF0000"/>
              </a:solidFill>
            </a:endParaRPr>
          </a:p>
          <a:p>
            <a:pPr marL="573787" lvl="1" indent="-208698">
              <a:lnSpc>
                <a:spcPct val="100000"/>
              </a:lnSpc>
              <a:spcBef>
                <a:spcPts val="0"/>
              </a:spcBef>
            </a:pPr>
            <a:r>
              <a:rPr lang="en-US" sz="2777" dirty="0">
                <a:solidFill>
                  <a:srgbClr val="FF0000"/>
                </a:solidFill>
              </a:rPr>
              <a:t>This is a number from 0 to </a:t>
            </a:r>
            <a:r>
              <a:rPr lang="en-US" sz="2777" dirty="0" smtClean="0">
                <a:solidFill>
                  <a:srgbClr val="FF0000"/>
                </a:solidFill>
              </a:rPr>
              <a:t>1,114,111.</a:t>
            </a:r>
            <a:endParaRPr lang="en-US" sz="2777" dirty="0">
              <a:solidFill>
                <a:srgbClr val="FF0000"/>
              </a:solidFill>
            </a:endParaRPr>
          </a:p>
          <a:p>
            <a:pPr marL="573787" lvl="1" indent="-208698">
              <a:lnSpc>
                <a:spcPct val="100000"/>
              </a:lnSpc>
              <a:spcBef>
                <a:spcPts val="0"/>
              </a:spcBef>
            </a:pPr>
            <a:r>
              <a:rPr lang="en-US" altLang="zh-TW" sz="2777" dirty="0">
                <a:solidFill>
                  <a:srgbClr val="FF0000"/>
                </a:solidFill>
              </a:rPr>
              <a:t>You do not see this number. </a:t>
            </a:r>
          </a:p>
          <a:p>
            <a:pPr marL="266018" indent="-266018">
              <a:lnSpc>
                <a:spcPct val="100000"/>
              </a:lnSpc>
              <a:spcBef>
                <a:spcPts val="300"/>
              </a:spcBef>
            </a:pPr>
            <a:r>
              <a:rPr lang="en-US" altLang="zh-TW" sz="2963" dirty="0">
                <a:solidFill>
                  <a:srgbClr val="FF0000"/>
                </a:solidFill>
              </a:rPr>
              <a:t>Its true </a:t>
            </a:r>
            <a:r>
              <a:rPr lang="en-US" altLang="zh-TW" sz="2963" u="sng" dirty="0">
                <a:solidFill>
                  <a:srgbClr val="FF0000"/>
                </a:solidFill>
              </a:rPr>
              <a:t>memory representation</a:t>
            </a:r>
            <a:r>
              <a:rPr lang="en-US" altLang="zh-TW" sz="2963" dirty="0">
                <a:solidFill>
                  <a:srgbClr val="FF0000"/>
                </a:solidFill>
              </a:rPr>
              <a:t> </a:t>
            </a:r>
            <a:r>
              <a:rPr lang="en-US" sz="2963" dirty="0">
                <a:solidFill>
                  <a:srgbClr val="FF0000"/>
                </a:solidFill>
              </a:rPr>
              <a:t>depends on the </a:t>
            </a:r>
            <a:r>
              <a:rPr lang="en-US" sz="2963" i="1" dirty="0">
                <a:solidFill>
                  <a:srgbClr val="FF0000"/>
                </a:solidFill>
              </a:rPr>
              <a:t>encoding</a:t>
            </a:r>
            <a:r>
              <a:rPr lang="en-US" sz="2963" dirty="0">
                <a:solidFill>
                  <a:srgbClr val="FF0000"/>
                </a:solidFill>
              </a:rPr>
              <a:t> used.</a:t>
            </a:r>
          </a:p>
          <a:p>
            <a:pPr marL="631106" lvl="1" indent="-266018">
              <a:spcBef>
                <a:spcPts val="300"/>
              </a:spcBef>
            </a:pPr>
            <a:r>
              <a:rPr lang="en-US" sz="2777" dirty="0">
                <a:solidFill>
                  <a:srgbClr val="FF0000"/>
                </a:solidFill>
              </a:rPr>
              <a:t>An encoding is an algorithm that converts code points to byte sequences and vice versa. </a:t>
            </a:r>
          </a:p>
          <a:p>
            <a:pPr marL="996193" lvl="2" indent="-266018">
              <a:lnSpc>
                <a:spcPct val="100000"/>
              </a:lnSpc>
              <a:spcBef>
                <a:spcPts val="0"/>
              </a:spcBef>
            </a:pPr>
            <a:r>
              <a:rPr lang="en-US" sz="2592" dirty="0">
                <a:solidFill>
                  <a:srgbClr val="FF0000"/>
                </a:solidFill>
              </a:rPr>
              <a:t>For example, the code point for A (U+0041) is encoded as:</a:t>
            </a:r>
          </a:p>
          <a:p>
            <a:pPr marL="1361282" lvl="3" indent="-266018">
              <a:lnSpc>
                <a:spcPct val="100000"/>
              </a:lnSpc>
              <a:spcBef>
                <a:spcPts val="0"/>
              </a:spcBef>
            </a:pPr>
            <a:r>
              <a:rPr lang="en-US" sz="2592" dirty="0">
                <a:solidFill>
                  <a:srgbClr val="FF0000"/>
                </a:solidFill>
              </a:rPr>
              <a:t>the single byte \x41 in the UTF-8 encoding, or </a:t>
            </a:r>
          </a:p>
          <a:p>
            <a:pPr marL="1361282" lvl="3" indent="-266018">
              <a:lnSpc>
                <a:spcPct val="100000"/>
              </a:lnSpc>
              <a:spcBef>
                <a:spcPts val="0"/>
              </a:spcBef>
            </a:pPr>
            <a:r>
              <a:rPr lang="en-US" sz="2592" dirty="0">
                <a:solidFill>
                  <a:srgbClr val="FF0000"/>
                </a:solidFill>
              </a:rPr>
              <a:t>the bytes \x41\x00 in UTF-16LE encoding. </a:t>
            </a:r>
          </a:p>
        </p:txBody>
      </p:sp>
      <p:sp>
        <p:nvSpPr>
          <p:cNvPr id="7" name="Rectangle 1"/>
          <p:cNvSpPr>
            <a:spLocks noGrp="1" noChangeArrowheads="1"/>
          </p:cNvSpPr>
          <p:nvPr>
            <p:ph type="title"/>
          </p:nvPr>
        </p:nvSpPr>
        <p:spPr>
          <a:xfrm>
            <a:off x="947" y="0"/>
            <a:ext cx="9735831" cy="1390649"/>
          </a:xfrm>
        </p:spPr>
        <p:txBody>
          <a:bodyPr wrap="none">
            <a:normAutofit/>
          </a:bodyPr>
          <a:lstStyle/>
          <a:p>
            <a:pPr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What </a:t>
            </a:r>
            <a:r>
              <a:rPr lang="en-GB" altLang="en-US" sz="4400" i="1" dirty="0">
                <a:solidFill>
                  <a:srgbClr val="2D2DB9"/>
                </a:solidFill>
                <a:cs typeface="Arial" panose="020B0604020202020204" pitchFamily="34" charset="0"/>
              </a:rPr>
              <a:t>are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 the “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Bytes”</a:t>
            </a:r>
            <a:b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</a:b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for 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a Character</a:t>
            </a:r>
            <a:r>
              <a:rPr lang="en-GB" altLang="en-US" sz="4400" b="1" dirty="0">
                <a:solidFill>
                  <a:srgbClr val="2D2DB9"/>
                </a:solidFill>
                <a:latin typeface="Stencil" panose="040409050D0802020404" pitchFamily="82" charset="0"/>
                <a:ea typeface="LiSu" panose="02010509060101010101" pitchFamily="49" charset="-122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733429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6863" y="783416"/>
            <a:ext cx="9144000" cy="6074584"/>
          </a:xfrm>
        </p:spPr>
        <p:txBody>
          <a:bodyPr>
            <a:noAutofit/>
          </a:bodyPr>
          <a:lstStyle/>
          <a:p>
            <a:pPr marL="0" indent="0">
              <a:lnSpc>
                <a:spcPct val="94000"/>
              </a:lnSpc>
              <a:buNone/>
            </a:pPr>
            <a:r>
              <a:rPr lang="en-US" sz="3703" b="1" dirty="0">
                <a:solidFill>
                  <a:srgbClr val="92D050"/>
                </a:solidFill>
              </a:rPr>
              <a:t>A </a:t>
            </a:r>
            <a:r>
              <a:rPr lang="en-US" sz="3703" b="1" dirty="0" err="1">
                <a:solidFill>
                  <a:srgbClr val="92D050"/>
                </a:solidFill>
              </a:rPr>
              <a:t>str</a:t>
            </a:r>
            <a:r>
              <a:rPr lang="en-US" sz="3703" b="1" dirty="0">
                <a:solidFill>
                  <a:srgbClr val="92D050"/>
                </a:solidFill>
              </a:rPr>
              <a:t> object: </a:t>
            </a:r>
          </a:p>
          <a:p>
            <a:pPr>
              <a:lnSpc>
                <a:spcPct val="94000"/>
              </a:lnSpc>
              <a:spcBef>
                <a:spcPts val="0"/>
              </a:spcBef>
            </a:pPr>
            <a:r>
              <a:rPr lang="en-US" sz="3333" dirty="0"/>
              <a:t> Is essentially a tuple of Unicode code points.</a:t>
            </a:r>
          </a:p>
          <a:p>
            <a:pPr>
              <a:lnSpc>
                <a:spcPct val="94000"/>
              </a:lnSpc>
              <a:spcBef>
                <a:spcPts val="555"/>
              </a:spcBef>
            </a:pPr>
            <a:r>
              <a:rPr lang="en-US" altLang="zh-TW" sz="3333" dirty="0"/>
              <a:t> Is intended to represent text.</a:t>
            </a:r>
            <a:endParaRPr lang="en-US" sz="3333" dirty="0"/>
          </a:p>
          <a:p>
            <a:pPr marL="0" indent="0">
              <a:lnSpc>
                <a:spcPct val="94000"/>
              </a:lnSpc>
              <a:spcBef>
                <a:spcPts val="2777"/>
              </a:spcBef>
              <a:buNone/>
            </a:pPr>
            <a:r>
              <a:rPr lang="en-US" sz="3703" b="1" dirty="0">
                <a:solidFill>
                  <a:srgbClr val="92D050"/>
                </a:solidFill>
              </a:rPr>
              <a:t>A bytes object: </a:t>
            </a:r>
            <a:endParaRPr lang="en-US" altLang="zh-TW" sz="3703" b="1" dirty="0">
              <a:solidFill>
                <a:srgbClr val="92D050"/>
              </a:solidFill>
            </a:endParaRPr>
          </a:p>
          <a:p>
            <a:pPr>
              <a:lnSpc>
                <a:spcPct val="94000"/>
              </a:lnSpc>
              <a:spcBef>
                <a:spcPts val="0"/>
              </a:spcBef>
            </a:pPr>
            <a:r>
              <a:rPr lang="en-US" altLang="zh-TW" sz="3200" dirty="0"/>
              <a:t> </a:t>
            </a:r>
            <a:r>
              <a:rPr lang="en-US" altLang="zh-TW" sz="3333" dirty="0"/>
              <a:t>Is essentially a tuple </a:t>
            </a:r>
            <a:r>
              <a:rPr lang="en-US" sz="3333" dirty="0"/>
              <a:t>of bytes.</a:t>
            </a:r>
          </a:p>
          <a:p>
            <a:pPr>
              <a:lnSpc>
                <a:spcPct val="94000"/>
              </a:lnSpc>
            </a:pPr>
            <a:r>
              <a:rPr lang="en-US" sz="3333" dirty="0"/>
              <a:t> Can represent </a:t>
            </a:r>
            <a:r>
              <a:rPr lang="en-US" sz="3333" dirty="0" smtClean="0"/>
              <a:t>text, </a:t>
            </a:r>
            <a:r>
              <a:rPr lang="en-US" sz="3333" dirty="0"/>
              <a:t>but for a specific encoding.</a:t>
            </a:r>
          </a:p>
          <a:p>
            <a:pPr lvl="1">
              <a:lnSpc>
                <a:spcPct val="94000"/>
              </a:lnSpc>
              <a:spcBef>
                <a:spcPts val="0"/>
              </a:spcBef>
            </a:pPr>
            <a:r>
              <a:rPr lang="en-US" sz="2963" dirty="0" err="1"/>
              <a:t>Eg</a:t>
            </a:r>
            <a:r>
              <a:rPr lang="en-US" sz="2963" dirty="0"/>
              <a:t>, ASCII (the default), UTF-8, etc.</a:t>
            </a:r>
            <a:endParaRPr lang="en-US" sz="2880" dirty="0"/>
          </a:p>
          <a:p>
            <a:pPr marL="315988" indent="-315988">
              <a:lnSpc>
                <a:spcPct val="94000"/>
              </a:lnSpc>
            </a:pPr>
            <a:r>
              <a:rPr lang="en-US" altLang="zh-TW" sz="3333" dirty="0"/>
              <a:t>But can also </a:t>
            </a:r>
            <a:r>
              <a:rPr lang="en-US" sz="3333" dirty="0"/>
              <a:t>represent arbitrary byte sequences that do not correspond to text at all: </a:t>
            </a:r>
          </a:p>
          <a:p>
            <a:pPr lvl="1">
              <a:lnSpc>
                <a:spcPct val="94000"/>
              </a:lnSpc>
              <a:spcBef>
                <a:spcPts val="0"/>
              </a:spcBef>
            </a:pPr>
            <a:r>
              <a:rPr lang="en-US" sz="2963" dirty="0"/>
              <a:t> Sequences of small integers, or</a:t>
            </a:r>
          </a:p>
          <a:p>
            <a:pPr lvl="1">
              <a:lnSpc>
                <a:spcPct val="94000"/>
              </a:lnSpc>
              <a:spcBef>
                <a:spcPts val="0"/>
              </a:spcBef>
            </a:pPr>
            <a:r>
              <a:rPr lang="en-US" sz="2963" dirty="0"/>
              <a:t> Anything else you want to represent as a bytes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>
          <a:xfrm>
            <a:off x="947" y="1"/>
            <a:ext cx="9735831" cy="1100572"/>
          </a:xfrm>
        </p:spPr>
        <p:txBody>
          <a:bodyPr>
            <a:normAutofit/>
          </a:bodyPr>
          <a:lstStyle/>
          <a:p>
            <a:pPr>
              <a:lnSpc>
                <a:spcPct val="47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Bytes vs. Strings</a:t>
            </a:r>
          </a:p>
        </p:txBody>
      </p:sp>
    </p:spTree>
    <p:extLst>
      <p:ext uri="{BB962C8B-B14F-4D97-AF65-F5344CB8AC3E}">
        <p14:creationId xmlns:p14="http://schemas.microsoft.com/office/powerpoint/2010/main" val="3598750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7322" y="745509"/>
            <a:ext cx="9635770" cy="6112491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12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h=[]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for 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 in (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bytes</a:t>
            </a:r>
            <a:r>
              <a:rPr lang="en-US" altLang="zh-TW" sz="2222" dirty="0">
                <a:latin typeface="Lucida Console" panose="020B0609040504020204" pitchFamily="49" charset="0"/>
              </a:rPr>
              <a:t>)):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2222" dirty="0">
                <a:latin typeface="Lucida Console" panose="020B0609040504020204" pitchFamily="49" charset="0"/>
              </a:rPr>
              <a:t>     if 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[0]!='_': h+=[</a:t>
            </a:r>
            <a:r>
              <a:rPr lang="en-US" altLang="zh-TW" sz="2222" dirty="0" err="1">
                <a:latin typeface="Lucida Console" panose="020B0609040504020204" pitchFamily="49" charset="0"/>
              </a:rPr>
              <a:t>i</a:t>
            </a:r>
            <a:r>
              <a:rPr lang="en-US" altLang="zh-TW" sz="2222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 h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['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capitalize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center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count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decode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endswith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expandtabs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find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fromhex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hex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index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isalnum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isalpha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isdigit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isspace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istitle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isupper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join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ljust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lower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lstrip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maketrans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partition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replace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rfind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rindex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rjust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rpartition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rsplit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rstrip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split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splitlines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startswith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strip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swapcase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title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translate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upper</a:t>
            </a:r>
            <a:r>
              <a:rPr lang="en-US" altLang="zh-TW" sz="222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zfill</a:t>
            </a:r>
            <a:r>
              <a:rPr lang="en-US" altLang="zh-TW" sz="2222" dirty="0"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&gt;&gt;&gt;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222" dirty="0"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>
          <a:xfrm>
            <a:off x="947" y="1"/>
            <a:ext cx="9735831" cy="1185232"/>
          </a:xfrm>
        </p:spPr>
        <p:txBody>
          <a:bodyPr>
            <a:normAutofit/>
          </a:bodyPr>
          <a:lstStyle/>
          <a:p>
            <a:pPr>
              <a:lnSpc>
                <a:spcPct val="47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The Methods for Bytes</a:t>
            </a:r>
          </a:p>
        </p:txBody>
      </p:sp>
      <p:sp>
        <p:nvSpPr>
          <p:cNvPr id="2" name="Rectangle 1"/>
          <p:cNvSpPr/>
          <p:nvPr/>
        </p:nvSpPr>
        <p:spPr>
          <a:xfrm>
            <a:off x="279400" y="2286000"/>
            <a:ext cx="70326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r>
              <a:rPr lang="en-US" altLang="zh-TW" sz="222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20" dirty="0"/>
          </a:p>
        </p:txBody>
      </p:sp>
    </p:spTree>
    <p:extLst>
      <p:ext uri="{BB962C8B-B14F-4D97-AF65-F5344CB8AC3E}">
        <p14:creationId xmlns:p14="http://schemas.microsoft.com/office/powerpoint/2010/main" val="16445177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62292" y="745509"/>
            <a:ext cx="9635770" cy="6112491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1111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greeting</a:t>
            </a:r>
            <a:r>
              <a:rPr lang="en-US" altLang="zh-TW" sz="2222" dirty="0">
                <a:latin typeface="Lucida Console" panose="020B0609040504020204" pitchFamily="49" charset="0"/>
              </a:rPr>
              <a:t>=bytes("Hello","</a:t>
            </a:r>
            <a:r>
              <a:rPr lang="en-US" altLang="zh-TW" sz="2222" dirty="0" err="1">
                <a:latin typeface="Lucida Console" panose="020B0609040504020204" pitchFamily="49" charset="0"/>
              </a:rPr>
              <a:t>ascii</a:t>
            </a:r>
            <a:r>
              <a:rPr lang="en-US" altLang="zh-TW" sz="2222" dirty="0">
                <a:latin typeface="Lucida Console" panose="020B0609040504020204" pitchFamily="49" charset="0"/>
              </a:rPr>
              <a:t>")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b="1" dirty="0" err="1" smtClean="0">
                <a:solidFill>
                  <a:srgbClr val="92D050"/>
                </a:solidFill>
                <a:latin typeface="Lucida Console" panose="020B0609040504020204" pitchFamily="49" charset="0"/>
              </a:rPr>
              <a:t>greeting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.replace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(b'H',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b'J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')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#Can we change it?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 err="1" smtClean="0">
                <a:latin typeface="Lucida Console" panose="020B0609040504020204" pitchFamily="49" charset="0"/>
              </a:rPr>
              <a:t>b'Jello</a:t>
            </a:r>
            <a:r>
              <a:rPr lang="en-US" altLang="zh-TW" sz="2222" dirty="0"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#Python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did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chang</a:t>
            </a:r>
            <a:r>
              <a:rPr lang="en-US" altLang="zh-TW" sz="2222" spc="-200" dirty="0">
                <a:solidFill>
                  <a:srgbClr val="0070C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. But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did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greeting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change?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greeting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latin typeface="Lucida Console" panose="020B0609040504020204" pitchFamily="49" charset="0"/>
              </a:rPr>
              <a:t>b'Hello</a:t>
            </a:r>
            <a:r>
              <a:rPr lang="en-US" altLang="zh-TW" sz="2222" dirty="0"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#O</a:t>
            </a:r>
            <a:r>
              <a:rPr lang="en-US" altLang="zh-TW" sz="2222" spc="-200" dirty="0">
                <a:solidFill>
                  <a:srgbClr val="0070C0"/>
                </a:solidFill>
                <a:latin typeface="Lucida Console" panose="020B0609040504020204" pitchFamily="49" charset="0"/>
              </a:rPr>
              <a:t>nl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returned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copy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was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changed.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Need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new</a:t>
            </a:r>
            <a:r>
              <a:rPr lang="en-US" altLang="zh-TW" sz="2000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wa</a:t>
            </a:r>
            <a:r>
              <a:rPr lang="en-US" altLang="zh-TW" sz="2222" spc="-300" dirty="0">
                <a:solidFill>
                  <a:srgbClr val="0070C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latin typeface="Lucida Console" panose="020B0609040504020204" pitchFamily="49" charset="0"/>
              </a:rPr>
              <a:t>[*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greeting</a:t>
            </a:r>
            <a:r>
              <a:rPr lang="en-US" altLang="zh-TW" sz="2222" dirty="0">
                <a:latin typeface="Lucida Console" panose="020B0609040504020204" pitchFamily="49" charset="0"/>
              </a:rPr>
              <a:t>] </a:t>
            </a:r>
            <a:r>
              <a:rPr lang="en-US" altLang="zh-TW" sz="2222" spc="-60" dirty="0">
                <a:solidFill>
                  <a:srgbClr val="0070C0"/>
                </a:solidFill>
                <a:latin typeface="Lucida Console" panose="020B0609040504020204" pitchFamily="49" charset="0"/>
              </a:rPr>
              <a:t>#Here are the byte values: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[72, 101, 108, 108, 111]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spc="-4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#Then let’s just change </a:t>
            </a:r>
            <a:r>
              <a:rPr lang="en-US" altLang="zh-TW" sz="2222" spc="-40" dirty="0">
                <a:solidFill>
                  <a:srgbClr val="0070C0"/>
                </a:solidFill>
                <a:latin typeface="Lucida Console" panose="020B0609040504020204" pitchFamily="49" charset="0"/>
              </a:rPr>
              <a:t>that position </a:t>
            </a:r>
            <a:r>
              <a:rPr lang="en-US" altLang="zh-TW" sz="2222" spc="-4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directl</a:t>
            </a:r>
            <a:r>
              <a:rPr lang="en-US" altLang="zh-TW" sz="2222" spc="-14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222" spc="-4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spc="-40" dirty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b="1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greeting[0]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=</a:t>
            </a:r>
            <a:r>
              <a:rPr lang="en-US" altLang="zh-TW" sz="2222" dirty="0" err="1">
                <a:latin typeface="Lucida Console" panose="020B0609040504020204" pitchFamily="49" charset="0"/>
              </a:rPr>
              <a:t>ord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'J')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   File "&lt;</a:t>
            </a: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spc="-46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46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spc="-100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yp</a:t>
            </a:r>
            <a:r>
              <a:rPr lang="en-US" altLang="zh-TW" sz="2222" spc="-46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eErr</a:t>
            </a:r>
            <a:r>
              <a:rPr lang="en-US" altLang="zh-TW" sz="2222" spc="-200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2222" spc="-46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222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byte</a:t>
            </a:r>
            <a:r>
              <a:rPr lang="en-US" altLang="zh-TW" sz="2222" spc="-39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222" spc="-287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000" spc="-287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bj</a:t>
            </a:r>
            <a:r>
              <a:rPr lang="en-US" altLang="zh-TW" sz="2222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ect</a:t>
            </a:r>
            <a:r>
              <a:rPr lang="en-US" altLang="zh-TW" sz="2000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does</a:t>
            </a:r>
            <a:r>
              <a:rPr lang="en-US" altLang="zh-TW" sz="20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0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supp</a:t>
            </a:r>
            <a:r>
              <a:rPr lang="en-US" altLang="zh-TW" sz="2222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rt</a:t>
            </a:r>
            <a:r>
              <a:rPr lang="en-US" altLang="zh-TW" sz="2000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em</a:t>
            </a:r>
            <a:r>
              <a:rPr lang="en-US" altLang="zh-TW" sz="2000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as</a:t>
            </a:r>
            <a:r>
              <a:rPr lang="en-US" altLang="zh-TW" sz="2222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si</a:t>
            </a:r>
            <a:r>
              <a:rPr lang="en-US" altLang="zh-TW" sz="2222" spc="-46" dirty="0">
                <a:solidFill>
                  <a:srgbClr val="FF0000"/>
                </a:solidFill>
                <a:latin typeface="Lucida Console" panose="020B0609040504020204" pitchFamily="49" charset="0"/>
              </a:rPr>
              <a:t>gnment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spc="-3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#Oh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, we ca</a:t>
            </a:r>
            <a:r>
              <a:rPr lang="en-US" altLang="zh-TW" sz="2222" spc="-300" dirty="0">
                <a:solidFill>
                  <a:srgbClr val="0070C0"/>
                </a:solidFill>
                <a:latin typeface="Lucida Console" panose="020B0609040504020204" pitchFamily="49" charset="0"/>
              </a:rPr>
              <a:t>n’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t.  Bytes must be </a:t>
            </a:r>
            <a:r>
              <a:rPr lang="en-US" altLang="zh-TW" sz="2222" spc="-3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immutabl</a:t>
            </a:r>
            <a:r>
              <a:rPr lang="en-US" altLang="zh-TW" sz="2222" spc="-140" dirty="0">
                <a:solidFill>
                  <a:srgbClr val="0070C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spc="-3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.</a:t>
            </a:r>
            <a:endParaRPr lang="en-US" altLang="zh-TW" sz="2222" spc="-30" dirty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latin typeface="Lucida Console" panose="020B0609040504020204" pitchFamily="49" charset="0"/>
              </a:rPr>
              <a:t>{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greeting</a:t>
            </a:r>
            <a:r>
              <a:rPr lang="en-US" altLang="zh-TW" sz="2222" dirty="0">
                <a:latin typeface="Lucida Console" panose="020B0609040504020204" pitchFamily="49" charset="0"/>
              </a:rPr>
              <a:t>} </a:t>
            </a:r>
            <a:r>
              <a:rPr lang="en-US" altLang="zh-TW" sz="2222" spc="-4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#Will </a:t>
            </a:r>
            <a:r>
              <a:rPr lang="en-US" altLang="zh-TW" sz="2222" spc="-40" dirty="0">
                <a:solidFill>
                  <a:srgbClr val="0070C0"/>
                </a:solidFill>
                <a:latin typeface="Lucida Console" panose="020B0609040504020204" pitchFamily="49" charset="0"/>
              </a:rPr>
              <a:t>this work? Will if i</a:t>
            </a:r>
            <a:r>
              <a:rPr lang="en-US" altLang="zh-TW" sz="2222" spc="-300" dirty="0">
                <a:solidFill>
                  <a:srgbClr val="0070C0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spc="-40" dirty="0">
                <a:solidFill>
                  <a:srgbClr val="0070C0"/>
                </a:solidFill>
                <a:latin typeface="Lucida Console" panose="020B0609040504020204" pitchFamily="49" charset="0"/>
              </a:rPr>
              <a:t>s immutabl</a:t>
            </a:r>
            <a:r>
              <a:rPr lang="en-US" altLang="zh-TW" sz="2222" spc="-140" dirty="0">
                <a:solidFill>
                  <a:srgbClr val="0070C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spc="-40" dirty="0">
                <a:solidFill>
                  <a:srgbClr val="0070C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{</a:t>
            </a:r>
            <a:r>
              <a:rPr lang="en-US" altLang="zh-TW" sz="2222" dirty="0" err="1">
                <a:latin typeface="Lucida Console" panose="020B0609040504020204" pitchFamily="49" charset="0"/>
              </a:rPr>
              <a:t>b'Hello</a:t>
            </a:r>
            <a:r>
              <a:rPr lang="en-US" altLang="zh-TW" sz="2222" dirty="0">
                <a:latin typeface="Lucida Console" panose="020B0609040504020204" pitchFamily="49" charset="0"/>
              </a:rPr>
              <a:t>'}     </a:t>
            </a:r>
            <a:r>
              <a:rPr lang="en-US" altLang="zh-TW" sz="2222" spc="-4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#Yes</a:t>
            </a:r>
            <a:r>
              <a:rPr lang="en-US" altLang="zh-TW" sz="2222" spc="-40" dirty="0">
                <a:solidFill>
                  <a:srgbClr val="0070C0"/>
                </a:solidFill>
                <a:latin typeface="Lucida Console" panose="020B0609040504020204" pitchFamily="49" charset="0"/>
              </a:rPr>
              <a:t>, it worked. Yes, i</a:t>
            </a:r>
            <a:r>
              <a:rPr lang="en-US" altLang="zh-TW" sz="2222" spc="-300" dirty="0">
                <a:solidFill>
                  <a:srgbClr val="0070C0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spc="-40" dirty="0">
                <a:solidFill>
                  <a:srgbClr val="0070C0"/>
                </a:solidFill>
                <a:latin typeface="Lucida Console" panose="020B0609040504020204" pitchFamily="49" charset="0"/>
              </a:rPr>
              <a:t>s </a:t>
            </a:r>
            <a:r>
              <a:rPr lang="en-US" altLang="zh-TW" sz="2222" spc="-4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immutabl</a:t>
            </a:r>
            <a:r>
              <a:rPr lang="en-US" altLang="zh-TW" sz="2222" spc="-140" dirty="0">
                <a:solidFill>
                  <a:srgbClr val="0070C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spc="-4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97000"/>
              </a:lnSpc>
              <a:spcBef>
                <a:spcPts val="0"/>
              </a:spcBef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7" y="-1"/>
            <a:ext cx="9735831" cy="1185232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dirty="0">
                <a:solidFill>
                  <a:srgbClr val="92D050"/>
                </a:solidFill>
                <a:cs typeface="Arial" panose="020B0604020202020204" pitchFamily="34" charset="0"/>
              </a:rPr>
              <a:t>Bytes</a:t>
            </a:r>
            <a:r>
              <a:rPr lang="en-GB" altLang="en-US" sz="440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is an </a:t>
            </a:r>
            <a:r>
              <a:rPr lang="en-GB" altLang="en-US" sz="4400" dirty="0">
                <a:solidFill>
                  <a:srgbClr val="FFC000"/>
                </a:solidFill>
                <a:cs typeface="Arial" panose="020B0604020202020204" pitchFamily="34" charset="0"/>
              </a:rPr>
              <a:t>Immutable</a:t>
            </a:r>
            <a:r>
              <a:rPr lang="en-GB" altLang="en-US" sz="440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Type</a:t>
            </a:r>
            <a:endParaRPr lang="en-GB" altLang="en-US" sz="4400" dirty="0">
              <a:solidFill>
                <a:srgbClr val="2D2DB9"/>
              </a:solidFill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62292" y="745509"/>
            <a:ext cx="9635770" cy="6112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82545" indent="-182545" algn="l" defTabSz="730176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33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720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809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2897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7984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3073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161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3249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1111" dirty="0" smtClean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b="1" dirty="0" smtClean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solidFill>
                <a:srgbClr val="FFAFA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solidFill>
                <a:srgbClr val="FFAFA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spc="-46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1008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888147"/>
            <a:ext cx="9040416" cy="6240421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33" dirty="0"/>
              <a:t>Python has seven/eight standard data types: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</a:p>
          <a:p>
            <a:pPr marL="598339" indent="-509602"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Sets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6.5 </a:t>
            </a:r>
            <a:r>
              <a:rPr lang="en-US" altLang="en-US" sz="2963" dirty="0" err="1">
                <a:solidFill>
                  <a:srgbClr val="A6A6A6"/>
                </a:solidFill>
                <a:latin typeface="Elephant" panose="02020904090505020303" pitchFamily="18" charset="0"/>
              </a:rPr>
              <a:t>Frozensets</a:t>
            </a:r>
            <a:endParaRPr lang="en-US" altLang="en-US" sz="2963" dirty="0">
              <a:solidFill>
                <a:srgbClr val="A6A6A6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7  Bytes</a:t>
            </a:r>
          </a:p>
          <a:p>
            <a:pPr marL="88737" indent="0">
              <a:buNone/>
            </a:pPr>
            <a:endParaRPr lang="en-US" altLang="en-US" sz="2963" dirty="0">
              <a:solidFill>
                <a:srgbClr val="FF0000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	</a:t>
            </a:r>
            <a:r>
              <a:rPr lang="en-US" sz="2963" dirty="0">
                <a:solidFill>
                  <a:schemeClr val="bg1"/>
                </a:solidFill>
              </a:rPr>
              <a:t>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>
                <a:solidFill>
                  <a:schemeClr val="bg1"/>
                </a:solidFill>
              </a:rPr>
              <a:t>frozen 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>
                <a:solidFill>
                  <a:schemeClr val="bg1"/>
                </a:solidFill>
              </a:rPr>
              <a:t>bytes, </a:t>
            </a:r>
            <a:r>
              <a:rPr lang="en-US" sz="2963" dirty="0" err="1">
                <a:solidFill>
                  <a:srgbClr val="7F7F7F"/>
                </a:solidFill>
              </a:rPr>
              <a:t>byte</a:t>
            </a:r>
            <a:r>
              <a:rPr lang="en-US" altLang="zh-TW" sz="2963" dirty="0" err="1">
                <a:solidFill>
                  <a:srgbClr val="7F7F7F"/>
                </a:solidFill>
              </a:rPr>
              <a:t>array</a:t>
            </a:r>
            <a:r>
              <a:rPr lang="en-US" sz="2963" dirty="0" err="1">
                <a:solidFill>
                  <a:srgbClr val="7F7F7F"/>
                </a:solidFill>
              </a:rPr>
              <a:t>s</a:t>
            </a:r>
            <a:r>
              <a:rPr lang="en-US" sz="2963" dirty="0">
                <a:solidFill>
                  <a:srgbClr val="7F7F7F"/>
                </a:solidFill>
              </a:rPr>
              <a:t>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etc.</a:t>
            </a:r>
            <a:br>
              <a:rPr lang="en-US" sz="2963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	will be covered later…</a:t>
            </a: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</p:spTree>
    <p:extLst>
      <p:ext uri="{BB962C8B-B14F-4D97-AF65-F5344CB8AC3E}">
        <p14:creationId xmlns:p14="http://schemas.microsoft.com/office/powerpoint/2010/main" val="2928930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888147"/>
            <a:ext cx="9040416" cy="6240421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33" dirty="0"/>
              <a:t>Python has seven/eight standard data types: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</a:p>
          <a:p>
            <a:pPr marL="598339" indent="-509602"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Sets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6.5 </a:t>
            </a:r>
            <a:r>
              <a:rPr lang="en-US" altLang="en-US" sz="2963" dirty="0" err="1">
                <a:solidFill>
                  <a:srgbClr val="A6A6A6"/>
                </a:solidFill>
                <a:latin typeface="Elephant" panose="02020904090505020303" pitchFamily="18" charset="0"/>
              </a:rPr>
              <a:t>Frozensets</a:t>
            </a:r>
            <a:endParaRPr lang="en-US" altLang="en-US" sz="2963" dirty="0">
              <a:solidFill>
                <a:srgbClr val="A6A6A6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7  Bytes</a:t>
            </a:r>
          </a:p>
          <a:p>
            <a:pPr marL="88737" indent="0">
              <a:buNone/>
            </a:pPr>
            <a:endParaRPr lang="en-US" altLang="en-US" sz="2963" dirty="0">
              <a:solidFill>
                <a:srgbClr val="FF0000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	</a:t>
            </a:r>
            <a:r>
              <a:rPr lang="en-US" sz="2963" dirty="0">
                <a:solidFill>
                  <a:schemeClr val="bg1"/>
                </a:solidFill>
              </a:rPr>
              <a:t>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>
                <a:solidFill>
                  <a:schemeClr val="bg1"/>
                </a:solidFill>
              </a:rPr>
              <a:t>frozen 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>
                <a:solidFill>
                  <a:schemeClr val="bg1"/>
                </a:solidFill>
              </a:rPr>
              <a:t>bytes, </a:t>
            </a:r>
            <a:r>
              <a:rPr lang="en-US" sz="2963" dirty="0" err="1">
                <a:solidFill>
                  <a:srgbClr val="FF0000"/>
                </a:solidFill>
              </a:rPr>
              <a:t>byte</a:t>
            </a:r>
            <a:r>
              <a:rPr lang="en-US" altLang="zh-TW" sz="2963" dirty="0" err="1">
                <a:solidFill>
                  <a:srgbClr val="FF0000"/>
                </a:solidFill>
              </a:rPr>
              <a:t>array</a:t>
            </a:r>
            <a:r>
              <a:rPr lang="en-US" sz="2963" dirty="0" err="1">
                <a:solidFill>
                  <a:srgbClr val="FF0000"/>
                </a:solidFill>
              </a:rPr>
              <a:t>s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, etc.</a:t>
            </a:r>
            <a:br>
              <a:rPr lang="en-US" sz="2963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	will be covered later…</a:t>
            </a:r>
            <a:endParaRPr lang="en-US" altLang="en-US" sz="2963" dirty="0">
              <a:solidFill>
                <a:schemeClr val="bg1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</p:spTree>
    <p:extLst>
      <p:ext uri="{BB962C8B-B14F-4D97-AF65-F5344CB8AC3E}">
        <p14:creationId xmlns:p14="http://schemas.microsoft.com/office/powerpoint/2010/main" val="271135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888147"/>
            <a:ext cx="9040416" cy="6240421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33" dirty="0"/>
              <a:t>Python has </a:t>
            </a:r>
            <a:r>
              <a:rPr lang="en-US" altLang="en-US" sz="3333" dirty="0">
                <a:solidFill>
                  <a:srgbClr val="FF0000"/>
                </a:solidFill>
              </a:rPr>
              <a:t>seven/nine</a:t>
            </a:r>
            <a:r>
              <a:rPr lang="en-US" altLang="en-US" sz="3333" dirty="0"/>
              <a:t> standard data types: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</a:p>
          <a:p>
            <a:pPr marL="598339" indent="-509602"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Sets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6.5 </a:t>
            </a:r>
            <a:r>
              <a:rPr lang="en-US" altLang="en-US" sz="2963" dirty="0" err="1">
                <a:solidFill>
                  <a:srgbClr val="A6A6A6"/>
                </a:solidFill>
                <a:latin typeface="Elephant" panose="02020904090505020303" pitchFamily="18" charset="0"/>
              </a:rPr>
              <a:t>Fro</a:t>
            </a:r>
            <a:r>
              <a:rPr lang="en-US" altLang="en-US" sz="2963" dirty="0" err="1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zensets</a:t>
            </a:r>
            <a:endParaRPr lang="en-US" altLang="en-US" sz="2963" dirty="0">
              <a:solidFill>
                <a:schemeClr val="bg1">
                  <a:lumMod val="65000"/>
                </a:schemeClr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7  Bytes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7.5 </a:t>
            </a:r>
            <a:r>
              <a:rPr lang="en-US" altLang="en-US" sz="2963" dirty="0" err="1">
                <a:solidFill>
                  <a:srgbClr val="FF0000"/>
                </a:solidFill>
                <a:latin typeface="Elephant" panose="02020904090505020303" pitchFamily="18" charset="0"/>
              </a:rPr>
              <a:t>Bytearrays</a:t>
            </a:r>
            <a:endParaRPr lang="en-US" altLang="en-US" sz="2963" dirty="0">
              <a:solidFill>
                <a:srgbClr val="FF0000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	</a:t>
            </a:r>
            <a:r>
              <a:rPr lang="en-US" sz="2963" dirty="0">
                <a:solidFill>
                  <a:schemeClr val="bg1"/>
                </a:solidFill>
              </a:rPr>
              <a:t>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>
                <a:solidFill>
                  <a:schemeClr val="bg1"/>
                </a:solidFill>
              </a:rPr>
              <a:t>frozen sets, byte arrays, bytes,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>
                <a:solidFill>
                  <a:schemeClr val="bg1"/>
                </a:solidFill>
              </a:rPr>
              <a:t>etc.</a:t>
            </a:r>
            <a:br>
              <a:rPr lang="en-US" sz="2963" dirty="0">
                <a:solidFill>
                  <a:schemeClr val="bg1"/>
                </a:solidFill>
              </a:rPr>
            </a:br>
            <a:r>
              <a:rPr lang="en-US" sz="2963" dirty="0">
                <a:solidFill>
                  <a:schemeClr val="bg1"/>
                </a:solidFill>
              </a:rPr>
              <a:t>	will be covered later…</a:t>
            </a:r>
            <a:endParaRPr lang="en-US" altLang="en-US" sz="2963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</p:spTree>
    <p:extLst>
      <p:ext uri="{BB962C8B-B14F-4D97-AF65-F5344CB8AC3E}">
        <p14:creationId xmlns:p14="http://schemas.microsoft.com/office/powerpoint/2010/main" val="55059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62292" y="745509"/>
            <a:ext cx="9635770" cy="6112491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1018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greeting1 </a:t>
            </a:r>
            <a:r>
              <a:rPr lang="en-US" altLang="zh-TW" sz="2222" dirty="0">
                <a:latin typeface="Lucida Console" panose="020B0609040504020204" pitchFamily="49" charset="0"/>
              </a:rPr>
              <a:t>=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bytes</a:t>
            </a:r>
            <a:r>
              <a:rPr lang="en-US" altLang="zh-TW" sz="2222" dirty="0">
                <a:latin typeface="Lucida Console" panose="020B0609040504020204" pitchFamily="49" charset="0"/>
              </a:rPr>
              <a:t>("Hello","</a:t>
            </a:r>
            <a:r>
              <a:rPr lang="en-US" altLang="zh-TW" sz="2222" dirty="0" err="1">
                <a:latin typeface="Lucida Console" panose="020B0609040504020204" pitchFamily="49" charset="0"/>
              </a:rPr>
              <a:t>ascii</a:t>
            </a:r>
            <a:r>
              <a:rPr lang="en-US" altLang="zh-TW" sz="2222" dirty="0">
                <a:latin typeface="Lucida Console" panose="020B0609040504020204" pitchFamily="49" charset="0"/>
              </a:rPr>
              <a:t>")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greeting1 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 We already know how this displays:</a:t>
            </a:r>
            <a:r>
              <a:rPr lang="en-US" altLang="zh-TW" sz="2222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latin typeface="Lucida Console" panose="020B0609040504020204" pitchFamily="49" charset="0"/>
              </a:rPr>
              <a:t>b'Hello</a:t>
            </a:r>
            <a:r>
              <a:rPr lang="en-US" altLang="zh-TW" sz="2222" dirty="0"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greeting2 </a:t>
            </a:r>
            <a:r>
              <a:rPr lang="en-US" altLang="zh-TW" sz="2222" dirty="0">
                <a:latin typeface="Lucida Console" panose="020B0609040504020204" pitchFamily="49" charset="0"/>
              </a:rPr>
              <a:t>=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latin typeface="Lucida Console" panose="020B0609040504020204" pitchFamily="49" charset="0"/>
              </a:rPr>
              <a:t>("Hello","</a:t>
            </a:r>
            <a:r>
              <a:rPr lang="en-US" altLang="zh-TW" sz="2222" dirty="0" err="1">
                <a:latin typeface="Lucida Console" panose="020B0609040504020204" pitchFamily="49" charset="0"/>
              </a:rPr>
              <a:t>ascii</a:t>
            </a:r>
            <a:r>
              <a:rPr lang="en-US" altLang="zh-TW" sz="2222" dirty="0">
                <a:latin typeface="Lucida Console" panose="020B0609040504020204" pitchFamily="49" charset="0"/>
              </a:rPr>
              <a:t>")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greeting2 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 But how does this display?</a:t>
            </a:r>
            <a:endParaRPr lang="en-US" altLang="zh-TW" sz="2222" b="1" dirty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dirty="0" err="1">
                <a:latin typeface="Lucida Console" panose="020B0609040504020204" pitchFamily="49" charset="0"/>
              </a:rPr>
              <a:t>b'Hello</a:t>
            </a:r>
            <a:r>
              <a:rPr lang="en-US" altLang="zh-TW" sz="2222" dirty="0"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2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Are</a:t>
            </a:r>
            <a:r>
              <a:rPr lang="en-US" altLang="zh-TW" sz="1600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they</a:t>
            </a:r>
            <a:r>
              <a:rPr lang="en-US" altLang="zh-TW" sz="1600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comparable</a:t>
            </a:r>
            <a:r>
              <a:rPr lang="en-US" altLang="zh-TW" sz="1600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80" dirty="0">
                <a:solidFill>
                  <a:srgbClr val="0070C0"/>
                </a:solidFill>
                <a:latin typeface="Lucida Console" panose="020B0609040504020204" pitchFamily="49" charset="0"/>
              </a:rPr>
              <a:t>like</a:t>
            </a:r>
            <a:r>
              <a:rPr lang="en-US" altLang="zh-TW" sz="1600" spc="-8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spc="-80" dirty="0">
                <a:solidFill>
                  <a:srgbClr val="00B0F0"/>
                </a:solidFill>
                <a:latin typeface="Lucida Console" panose="020B0609040504020204" pitchFamily="49" charset="0"/>
              </a:rPr>
              <a:t>sets</a:t>
            </a:r>
            <a:r>
              <a:rPr lang="en-US" altLang="zh-TW" sz="1600" b="1" spc="-8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spc="-80" dirty="0">
                <a:solidFill>
                  <a:srgbClr val="00B0F0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zh-TW" sz="1600" b="1" spc="-8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spc="-8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frozensets</a:t>
            </a:r>
            <a:r>
              <a:rPr lang="en-US" altLang="zh-TW" sz="2222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?</a:t>
            </a:r>
            <a:r>
              <a:rPr lang="en-US" altLang="zh-TW" sz="1600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Le</a:t>
            </a:r>
            <a:r>
              <a:rPr lang="en-US" altLang="zh-TW" sz="2222" spc="-40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t'</a:t>
            </a:r>
            <a:r>
              <a:rPr lang="en-US" altLang="zh-TW" sz="2222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600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8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see:</a:t>
            </a:r>
            <a:endParaRPr lang="en-US" altLang="zh-TW" sz="2222" spc="-80" dirty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print(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greeting1</a:t>
            </a:r>
            <a:r>
              <a:rPr lang="en-US" altLang="zh-TW" sz="2222" dirty="0">
                <a:latin typeface="Lucida Console" panose="020B0609040504020204" pitchFamily="49" charset="0"/>
              </a:rPr>
              <a:t>==</a:t>
            </a:r>
            <a:r>
              <a:rPr lang="en-US" altLang="zh-TW" sz="2222" b="1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greeting2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,</a:t>
            </a:r>
            <a:r>
              <a:rPr lang="en-US" altLang="zh-TW" sz="2222" b="1" dirty="0" smtClean="0">
                <a:solidFill>
                  <a:srgbClr val="FF6969"/>
                </a:solidFill>
                <a:latin typeface="Lucida Console" panose="020B0609040504020204" pitchFamily="49" charset="0"/>
              </a:rPr>
              <a:t>greeting1</a:t>
            </a:r>
            <a:r>
              <a:rPr lang="en-US" altLang="zh-TW" sz="180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is</a:t>
            </a:r>
            <a:r>
              <a:rPr lang="en-US" altLang="zh-TW" sz="180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greeting</a:t>
            </a:r>
            <a:r>
              <a:rPr lang="en-US" altLang="zh-TW" sz="2222" b="1" spc="-200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)</a:t>
            </a:r>
            <a:endParaRPr lang="en-US" altLang="zh-TW" sz="2222" b="1" dirty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True False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greeting2[0]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=</a:t>
            </a:r>
            <a:r>
              <a:rPr lang="en-US" altLang="zh-TW" sz="2222" dirty="0" err="1">
                <a:latin typeface="Lucida Console" panose="020B0609040504020204" pitchFamily="49" charset="0"/>
              </a:rPr>
              <a:t>ord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'J')</a:t>
            </a:r>
            <a:r>
              <a:rPr lang="en-US" altLang="zh-TW" sz="140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4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If mutabl</a:t>
            </a:r>
            <a:r>
              <a:rPr lang="en-US" altLang="zh-TW" sz="2222" spc="-100" dirty="0">
                <a:solidFill>
                  <a:srgbClr val="0070C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600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this</a:t>
            </a:r>
            <a:r>
              <a:rPr lang="en-US" altLang="zh-TW" sz="1800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will</a:t>
            </a:r>
            <a:r>
              <a:rPr lang="en-US" altLang="zh-TW" sz="1800" spc="-3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wor</a:t>
            </a:r>
            <a:r>
              <a:rPr lang="en-US" altLang="zh-TW" sz="2222" spc="-200" dirty="0">
                <a:solidFill>
                  <a:srgbClr val="0070C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spc="-30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.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greeting2            </a:t>
            </a:r>
            <a:r>
              <a:rPr lang="en-US" altLang="zh-TW" sz="1400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4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Yes, it did work: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 err="1" smtClean="0">
                <a:latin typeface="Lucida Console" panose="020B0609040504020204" pitchFamily="49" charset="0"/>
              </a:rPr>
              <a:t>bytearray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(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b'Jello</a:t>
            </a:r>
            <a:r>
              <a:rPr lang="en-US" altLang="zh-TW" sz="2222" dirty="0"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greeting1</a:t>
            </a:r>
            <a:r>
              <a:rPr lang="en-US" altLang="zh-TW" sz="2222" dirty="0">
                <a:latin typeface="Lucida Console" panose="020B0609040504020204" pitchFamily="49" charset="0"/>
              </a:rPr>
              <a:t>==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greeting2 </a:t>
            </a:r>
            <a:r>
              <a:rPr lang="en-US" altLang="zh-TW" sz="1400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4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So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222" spc="-250" dirty="0">
                <a:solidFill>
                  <a:srgbClr val="0070C0"/>
                </a:solidFill>
                <a:latin typeface="Lucida Console" panose="020B0609040504020204" pitchFamily="49" charset="0"/>
              </a:rPr>
              <a:t>y’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re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no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longer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equ</a:t>
            </a:r>
            <a:r>
              <a:rPr lang="en-US" altLang="zh-TW" sz="2222" spc="-100" dirty="0">
                <a:solidFill>
                  <a:srgbClr val="0070C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222" spc="-150" dirty="0">
                <a:solidFill>
                  <a:srgbClr val="0070C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b="1" dirty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latin typeface="Lucida Console" panose="020B0609040504020204" pitchFamily="49" charset="0"/>
              </a:rPr>
              <a:t>{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greeting2</a:t>
            </a:r>
            <a:r>
              <a:rPr lang="en-US" altLang="zh-TW" sz="2222" dirty="0">
                <a:latin typeface="Lucida Console" panose="020B0609040504020204" pitchFamily="49" charset="0"/>
              </a:rPr>
              <a:t>}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          </a:t>
            </a:r>
            <a:r>
              <a:rPr lang="en-US" altLang="zh-TW" sz="14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4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If mutabl</a:t>
            </a:r>
            <a:r>
              <a:rPr lang="en-US" altLang="zh-TW" sz="2222" spc="-100" dirty="0">
                <a:solidFill>
                  <a:srgbClr val="0070C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600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this</a:t>
            </a:r>
            <a:r>
              <a:rPr lang="en-US" altLang="zh-TW" sz="1800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wo</a:t>
            </a:r>
            <a:r>
              <a:rPr lang="en-US" altLang="zh-TW" sz="2222" spc="-250" dirty="0">
                <a:solidFill>
                  <a:srgbClr val="0070C0"/>
                </a:solidFill>
                <a:latin typeface="Lucida Console" panose="020B0609040504020204" pitchFamily="49" charset="0"/>
              </a:rPr>
              <a:t>n’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1800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wor</a:t>
            </a:r>
            <a:r>
              <a:rPr lang="en-US" altLang="zh-TW" sz="2222" spc="-200" dirty="0">
                <a:solidFill>
                  <a:srgbClr val="0070C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spc="-30" dirty="0">
                <a:solidFill>
                  <a:srgbClr val="0070C0"/>
                </a:solidFill>
                <a:latin typeface="Lucida Console" panose="020B0609040504020204" pitchFamily="49" charset="0"/>
              </a:rPr>
              <a:t>.</a:t>
            </a:r>
            <a:endParaRPr lang="en-US" altLang="zh-TW" sz="2222" spc="-3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</a:t>
            </a:r>
            <a:r>
              <a:rPr lang="en-US" altLang="zh-TW" sz="2222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latin typeface="Lucida Console" panose="020B0609040504020204" pitchFamily="49" charset="0"/>
              </a:rPr>
              <a:t>{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bytes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greeting2</a:t>
            </a:r>
            <a:r>
              <a:rPr lang="en-US" altLang="zh-TW" sz="2222" dirty="0">
                <a:latin typeface="Lucida Console" panose="020B0609040504020204" pitchFamily="49" charset="0"/>
              </a:rPr>
              <a:t>)}   </a:t>
            </a:r>
            <a:r>
              <a:rPr lang="en-US" altLang="zh-TW" sz="1400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4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But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casting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can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fix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thi</a:t>
            </a:r>
            <a:r>
              <a:rPr lang="en-US" altLang="zh-TW" sz="2222" spc="-100" dirty="0">
                <a:solidFill>
                  <a:srgbClr val="0070C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.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{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b'Jello</a:t>
            </a:r>
            <a:r>
              <a:rPr lang="en-US" altLang="zh-TW" sz="2222" dirty="0">
                <a:latin typeface="Lucida Console" panose="020B0609040504020204" pitchFamily="49" charset="0"/>
              </a:rPr>
              <a:t>'}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155917" y="-1"/>
            <a:ext cx="9735831" cy="1185232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dirty="0" err="1">
                <a:solidFill>
                  <a:srgbClr val="92D050"/>
                </a:solidFill>
                <a:cs typeface="Arial" panose="020B0604020202020204" pitchFamily="34" charset="0"/>
              </a:rPr>
              <a:t>Bytearrays</a:t>
            </a:r>
            <a:r>
              <a:rPr lang="en-GB" altLang="en-US" sz="4400" dirty="0">
                <a:solidFill>
                  <a:srgbClr val="0070C0"/>
                </a:solidFill>
                <a:cs typeface="Arial" panose="020B0604020202020204" pitchFamily="34" charset="0"/>
              </a:rPr>
              <a:t>  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are</a:t>
            </a:r>
            <a:r>
              <a:rPr lang="en-GB" altLang="en-US" sz="440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>
                <a:solidFill>
                  <a:srgbClr val="FFC000"/>
                </a:solidFill>
                <a:cs typeface="Arial" panose="020B0604020202020204" pitchFamily="34" charset="0"/>
              </a:rPr>
              <a:t>Mutable</a:t>
            </a:r>
            <a:r>
              <a:rPr lang="en-GB" altLang="en-US" sz="4400" dirty="0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Bytes</a:t>
            </a:r>
            <a:endParaRPr lang="en-GB" altLang="en-US" sz="4400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62292" y="745509"/>
            <a:ext cx="9635770" cy="611249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82545" indent="-182545" algn="l" defTabSz="730176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33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720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809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2897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7984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3073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161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3249" indent="-182545" algn="l" defTabSz="730176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1018" dirty="0" smtClean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b="1" dirty="0" smtClean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b="1" dirty="0" smtClean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b="1" dirty="0" smtClean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solidFill>
                <a:srgbClr val="FFAFA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solidFill>
                <a:srgbClr val="FFAFA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222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2239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-152400"/>
            <a:ext cx="97377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/>
            <a:r>
              <a:rPr lang="en-GB" altLang="en-US" sz="4000" b="1" dirty="0" smtClean="0">
                <a:latin typeface="Lucida Console" panose="020B0609040504020204" pitchFamily="49" charset="0"/>
                <a:cs typeface="Arial" panose="020B0604020202020204" pitchFamily="34" charset="0"/>
              </a:rPr>
              <a:t>bytes</a:t>
            </a:r>
            <a:r>
              <a:rPr lang="en-GB" altLang="en-US" sz="4400" dirty="0" smtClean="0">
                <a:cs typeface="Arial" panose="020B0604020202020204" pitchFamily="34" charset="0"/>
              </a:rPr>
              <a:t> </a:t>
            </a:r>
            <a:r>
              <a:rPr lang="en-GB" altLang="en-US" sz="4400" dirty="0" smtClean="0">
                <a:latin typeface="Elephant" panose="02020904090505020303" pitchFamily="18" charset="0"/>
                <a:cs typeface="Arial" panose="020B0604020202020204" pitchFamily="34" charset="0"/>
              </a:rPr>
              <a:t>and</a:t>
            </a:r>
            <a:r>
              <a:rPr lang="en-GB" altLang="en-US" sz="4400" dirty="0" smtClean="0">
                <a:cs typeface="Arial" panose="020B0604020202020204" pitchFamily="34" charset="0"/>
              </a:rPr>
              <a:t> </a:t>
            </a:r>
            <a:r>
              <a:rPr lang="en-GB" altLang="en-US" sz="4000" b="1" dirty="0" err="1" smtClean="0">
                <a:latin typeface="Lucida Console" panose="020B0609040504020204" pitchFamily="49" charset="0"/>
                <a:cs typeface="Arial" panose="020B0604020202020204" pitchFamily="34" charset="0"/>
              </a:rPr>
              <a:t>bytearray</a:t>
            </a:r>
            <a:r>
              <a:rPr lang="en-GB" altLang="en-US" sz="4800" dirty="0" smtClean="0">
                <a:cs typeface="Arial" panose="020B0604020202020204" pitchFamily="34" charset="0"/>
              </a:rPr>
              <a:t> </a:t>
            </a:r>
            <a:r>
              <a:rPr lang="en-US" altLang="zh-TW" sz="4400" kern="0" dirty="0" smtClean="0">
                <a:latin typeface="Elephant" panose="02020904090505020303" pitchFamily="18" charset="0"/>
              </a:rPr>
              <a:t>types</a:t>
            </a:r>
            <a:endParaRPr lang="en-US" altLang="zh-TW" sz="4400" kern="0" dirty="0">
              <a:latin typeface="Elephant" panose="02020904090505020303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96861" y="685800"/>
            <a:ext cx="9439917" cy="6172200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333" dirty="0">
                <a:solidFill>
                  <a:srgbClr val="FF0000"/>
                </a:solidFill>
              </a:rPr>
              <a:t>How to create them: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bytes(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'ABC♞DEF'</a:t>
            </a:r>
            <a:r>
              <a:rPr lang="en-US" altLang="zh-TW" sz="2222" dirty="0">
                <a:latin typeface="Lucida Console" panose="020B0609040504020204" pitchFamily="49" charset="0"/>
              </a:rPr>
              <a:t>,'utf8') </a:t>
            </a:r>
            <a:r>
              <a:rPr lang="en-US" altLang="zh-TW" sz="2222" dirty="0" smtClean="0">
                <a:solidFill>
                  <a:srgbClr val="FFC9C9"/>
                </a:solidFill>
                <a:latin typeface="Lucida Console" panose="020B0609040504020204" pitchFamily="49" charset="0"/>
              </a:rPr>
              <a:t>#Why </a:t>
            </a:r>
            <a:r>
              <a:rPr lang="en-US" altLang="zh-TW" sz="2222" dirty="0">
                <a:solidFill>
                  <a:srgbClr val="FFC9C9"/>
                </a:solidFill>
                <a:latin typeface="Lucida Console" panose="020B0609040504020204" pitchFamily="49" charset="0"/>
              </a:rPr>
              <a:t>not ‘</a:t>
            </a:r>
            <a:r>
              <a:rPr lang="en-US" altLang="zh-TW" sz="2222" dirty="0" err="1">
                <a:solidFill>
                  <a:srgbClr val="FFC9C9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dirty="0" smtClean="0">
                <a:solidFill>
                  <a:srgbClr val="FFC9C9"/>
                </a:solidFill>
                <a:latin typeface="Lucida Console" panose="020B0609040504020204" pitchFamily="49" charset="0"/>
              </a:rPr>
              <a:t>’ here?</a:t>
            </a:r>
            <a:endParaRPr lang="en-US" altLang="zh-TW" sz="2222" dirty="0">
              <a:solidFill>
                <a:srgbClr val="FFC9C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2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b'ABC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\xe2\x99\x9eDEF'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print(</a:t>
            </a:r>
            <a:r>
              <a:rPr lang="en-US" altLang="zh-TW" sz="2222" dirty="0" err="1" smtClean="0">
                <a:latin typeface="Lucida Console" panose="020B0609040504020204" pitchFamily="49" charset="0"/>
              </a:rPr>
              <a:t>bytes.fromhex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00B0F0"/>
                </a:solidFill>
                <a:latin typeface="Lucida Console" panose="020B0609040504020204" pitchFamily="49" charset="0"/>
              </a:rPr>
              <a:t>'e2999d</a:t>
            </a:r>
            <a:r>
              <a:rPr lang="en-US" altLang="zh-TW" sz="2222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 smtClean="0">
                <a:latin typeface="Lucida Console" panose="020B0609040504020204" pitchFamily="49" charset="0"/>
              </a:rPr>
              <a:t>),</a:t>
            </a:r>
            <a:r>
              <a:rPr lang="en-US" altLang="zh-TW" sz="2222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222" b="1" dirty="0">
                <a:solidFill>
                  <a:srgbClr val="00B050"/>
                </a:solidFill>
                <a:latin typeface="Lucida Console" panose="020B0609040504020204" pitchFamily="49" charset="0"/>
              </a:rPr>
              <a:t>'\xe2\x99\x9c</a:t>
            </a:r>
            <a:r>
              <a:rPr lang="en-US" altLang="zh-TW" sz="2222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  <a:endParaRPr lang="en-US" altLang="zh-TW" sz="2222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rgbClr val="00B0F0"/>
                </a:solidFill>
                <a:latin typeface="Lucida Console" panose="020B0609040504020204" pitchFamily="49" charset="0"/>
              </a:rPr>
              <a:t>  b'\xe2\x99\x9d</a:t>
            </a:r>
            <a:r>
              <a:rPr lang="en-US" altLang="zh-TW" sz="2222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00B050"/>
                </a:solidFill>
                <a:latin typeface="Lucida Console" panose="020B0609040504020204" pitchFamily="49" charset="0"/>
              </a:rPr>
              <a:t>b'\xe2\x99\x9c'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b'ABC</a:t>
            </a:r>
            <a:r>
              <a:rPr lang="en-US" altLang="zh-TW" sz="2222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')</a:t>
            </a:r>
            <a:endParaRPr lang="en-US" altLang="zh-TW" sz="2222" b="1" dirty="0">
              <a:solidFill>
                <a:srgbClr val="FFC9C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7030A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2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b'ABC</a:t>
            </a: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')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endParaRPr lang="en-US" altLang="zh-TW" sz="800" dirty="0">
              <a:solidFill>
                <a:srgbClr val="FF0000"/>
              </a:solidFill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333" dirty="0">
                <a:solidFill>
                  <a:srgbClr val="FF0000"/>
                </a:solidFill>
              </a:rPr>
              <a:t>How to convert them: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963" dirty="0">
                <a:solidFill>
                  <a:schemeClr val="tx1"/>
                </a:solidFill>
              </a:rPr>
              <a:t>To a string:</a:t>
            </a:r>
            <a:br>
              <a:rPr lang="en-US" altLang="zh-TW" sz="2963" dirty="0">
                <a:solidFill>
                  <a:schemeClr val="tx1"/>
                </a:solidFill>
              </a:rPr>
            </a:b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CC66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b="1" dirty="0">
                <a:solidFill>
                  <a:srgbClr val="CC66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bytes.fromhex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('e2999e')</a:t>
            </a:r>
            <a:r>
              <a:rPr lang="en-US" altLang="zh-TW" sz="2222" b="1" dirty="0">
                <a:solidFill>
                  <a:srgbClr val="CC66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222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C9C9"/>
                </a:solidFill>
                <a:latin typeface="Lucida Console" panose="020B0609040504020204" pitchFamily="49" charset="0"/>
              </a:rPr>
              <a:t>#The “wrong” way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2" b="1" dirty="0">
                <a:solidFill>
                  <a:srgbClr val="CC6600"/>
                </a:solidFill>
                <a:latin typeface="Lucida Console" panose="020B0609040504020204" pitchFamily="49" charset="0"/>
              </a:rPr>
              <a:t>"b'\\xe2\\x99\\x9e'"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2" b="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bytes.fromhex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('e2999e')</a:t>
            </a:r>
            <a:r>
              <a:rPr lang="en-US" altLang="zh-TW" sz="2222" b="1" dirty="0">
                <a:solidFill>
                  <a:srgbClr val="CC6600"/>
                </a:solidFill>
                <a:latin typeface="Lucida Console" panose="020B0609040504020204" pitchFamily="49" charset="0"/>
              </a:rPr>
              <a:t>.decode()</a:t>
            </a:r>
            <a:r>
              <a:rPr lang="en-US" altLang="zh-TW" sz="2222" b="1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C9C9"/>
                </a:solidFill>
                <a:latin typeface="Lucida Console" panose="020B0609040504020204" pitchFamily="49" charset="0"/>
              </a:rPr>
              <a:t>#The right way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2" b="1" dirty="0">
                <a:solidFill>
                  <a:srgbClr val="CC6600"/>
                </a:solidFill>
                <a:latin typeface="Lucida Console" panose="020B0609040504020204" pitchFamily="49" charset="0"/>
              </a:rPr>
              <a:t>'♞'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rgbClr val="7030A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963" dirty="0">
                <a:solidFill>
                  <a:schemeClr val="tx1"/>
                </a:solidFill>
              </a:rPr>
              <a:t>To </a:t>
            </a:r>
            <a:r>
              <a:rPr lang="en-US" altLang="zh-TW" sz="2963" dirty="0" smtClean="0">
                <a:solidFill>
                  <a:schemeClr val="tx1"/>
                </a:solidFill>
              </a:rPr>
              <a:t>a </a:t>
            </a:r>
            <a:r>
              <a:rPr lang="en-US" altLang="zh-TW" sz="2963" dirty="0">
                <a:solidFill>
                  <a:schemeClr val="tx1"/>
                </a:solidFill>
              </a:rPr>
              <a:t>list, tuple, or set:</a:t>
            </a:r>
            <a:br>
              <a:rPr lang="en-US" altLang="zh-TW" sz="2963" dirty="0">
                <a:solidFill>
                  <a:schemeClr val="tx1"/>
                </a:solidFill>
              </a:rPr>
            </a:b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CC6600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b'ABC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')</a:t>
            </a:r>
            <a:r>
              <a:rPr lang="en-US" altLang="zh-TW" sz="2222" b="1" dirty="0">
                <a:solidFill>
                  <a:srgbClr val="CC66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2" b="1" dirty="0">
                <a:solidFill>
                  <a:srgbClr val="CC6600"/>
                </a:solidFill>
                <a:latin typeface="Lucida Console" panose="020B0609040504020204" pitchFamily="49" charset="0"/>
              </a:rPr>
              <a:t>[65, 66, 67]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endParaRPr lang="en-US" altLang="zh-TW" sz="800" dirty="0">
              <a:solidFill>
                <a:srgbClr val="FF0000"/>
              </a:solidFill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333" spc="-93" dirty="0">
                <a:solidFill>
                  <a:srgbClr val="FF0000"/>
                </a:solidFill>
              </a:rPr>
              <a:t>How to</a:t>
            </a:r>
            <a:r>
              <a:rPr lang="en-US" altLang="zh-TW" sz="2963" spc="-37" dirty="0">
                <a:solidFill>
                  <a:srgbClr val="FF0000"/>
                </a:solidFill>
              </a:rPr>
              <a:t> </a:t>
            </a:r>
            <a:r>
              <a:rPr lang="en-US" altLang="zh-TW" sz="3333" spc="-37" dirty="0">
                <a:solidFill>
                  <a:srgbClr val="FF0000"/>
                </a:solidFill>
              </a:rPr>
              <a:t>a</a:t>
            </a:r>
            <a:r>
              <a:rPr lang="en-US" altLang="zh-TW" sz="3333" dirty="0">
                <a:solidFill>
                  <a:srgbClr val="FF0000"/>
                </a:solidFill>
              </a:rPr>
              <a:t>cc</a:t>
            </a:r>
            <a:r>
              <a:rPr lang="en-US" altLang="zh-TW" sz="3333" spc="-28" dirty="0">
                <a:solidFill>
                  <a:srgbClr val="FF0000"/>
                </a:solidFill>
              </a:rPr>
              <a:t>es</a:t>
            </a:r>
            <a:r>
              <a:rPr lang="en-US" altLang="zh-TW" sz="3333" dirty="0">
                <a:solidFill>
                  <a:srgbClr val="FF0000"/>
                </a:solidFill>
              </a:rPr>
              <a:t>s</a:t>
            </a:r>
            <a:r>
              <a:rPr lang="en-US" altLang="zh-TW" sz="2963" spc="-37" dirty="0">
                <a:solidFill>
                  <a:srgbClr val="FF0000"/>
                </a:solidFill>
              </a:rPr>
              <a:t> </a:t>
            </a:r>
            <a:r>
              <a:rPr lang="en-US" altLang="zh-TW" sz="3333" spc="-37" dirty="0">
                <a:solidFill>
                  <a:srgbClr val="FF0000"/>
                </a:solidFill>
              </a:rPr>
              <a:t>ind</a:t>
            </a:r>
            <a:r>
              <a:rPr lang="en-US" altLang="zh-TW" sz="3333" dirty="0">
                <a:solidFill>
                  <a:srgbClr val="FF0000"/>
                </a:solidFill>
              </a:rPr>
              <a:t>iv</a:t>
            </a:r>
            <a:r>
              <a:rPr lang="en-US" altLang="zh-TW" sz="3333" spc="-37" dirty="0">
                <a:solidFill>
                  <a:srgbClr val="FF0000"/>
                </a:solidFill>
              </a:rPr>
              <a:t>idua</a:t>
            </a:r>
            <a:r>
              <a:rPr lang="en-US" altLang="zh-TW" sz="3333" dirty="0">
                <a:solidFill>
                  <a:srgbClr val="FF0000"/>
                </a:solidFill>
              </a:rPr>
              <a:t>l</a:t>
            </a:r>
            <a:r>
              <a:rPr lang="en-US" altLang="zh-TW" sz="2963" dirty="0">
                <a:solidFill>
                  <a:srgbClr val="FF0000"/>
                </a:solidFill>
              </a:rPr>
              <a:t> </a:t>
            </a:r>
            <a:r>
              <a:rPr lang="en-US" altLang="zh-TW" sz="3333" spc="-37" dirty="0">
                <a:solidFill>
                  <a:srgbClr val="FF0000"/>
                </a:solidFill>
              </a:rPr>
              <a:t>eleme</a:t>
            </a:r>
            <a:r>
              <a:rPr lang="en-US" altLang="zh-TW" sz="3333" dirty="0">
                <a:solidFill>
                  <a:srgbClr val="FF0000"/>
                </a:solidFill>
              </a:rPr>
              <a:t>nts: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 B=bytes(</a:t>
            </a:r>
            <a:r>
              <a:rPr lang="en-US" altLang="zh-TW" sz="222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b'ABCDEF</a:t>
            </a:r>
            <a:r>
              <a:rPr lang="en-US" altLang="zh-TW" sz="222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');print(</a:t>
            </a:r>
            <a:r>
              <a:rPr lang="en-US" altLang="zh-TW" sz="2222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B[2]</a:t>
            </a:r>
            <a:r>
              <a:rPr lang="en-US" altLang="zh-TW" sz="222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b="1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(B</a:t>
            </a:r>
            <a:r>
              <a:rPr lang="en-US" altLang="zh-TW" sz="2222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)[3</a:t>
            </a:r>
            <a:r>
              <a:rPr lang="en-US" altLang="zh-TW" sz="2222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22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zh-TW" sz="2222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222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67 </a:t>
            </a:r>
            <a:r>
              <a:rPr lang="en-US" altLang="zh-TW" sz="2222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53418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449262" y="914400"/>
            <a:ext cx="8915400" cy="6459880"/>
          </a:xfrm>
        </p:spPr>
        <p:txBody>
          <a:bodyPr>
            <a:normAutofit/>
          </a:bodyPr>
          <a:lstStyle/>
          <a:p>
            <a:pPr marL="423276" indent="-423276">
              <a:buNone/>
            </a:pPr>
            <a:r>
              <a:rPr lang="en-US" altLang="zh-TW" sz="3000" dirty="0">
                <a:solidFill>
                  <a:srgbClr val="FF0000"/>
                </a:solidFill>
              </a:rPr>
              <a:t>Q: We already have </a:t>
            </a:r>
            <a:r>
              <a:rPr lang="en-US" altLang="zh-TW" sz="30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altLang="zh-TW" sz="3000" dirty="0" smtClean="0">
                <a:solidFill>
                  <a:srgbClr val="FF0000"/>
                </a:solidFill>
              </a:rPr>
              <a:t> </a:t>
            </a:r>
            <a:r>
              <a:rPr lang="en-US" altLang="zh-TW" sz="3000" dirty="0">
                <a:solidFill>
                  <a:srgbClr val="FF0000"/>
                </a:solidFill>
              </a:rPr>
              <a:t>which efficiently pack data. So why do we want a datatype called  </a:t>
            </a:r>
            <a:r>
              <a:rPr lang="en-US" altLang="zh-TW" sz="30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bytearray</a:t>
            </a:r>
            <a:r>
              <a:rPr lang="en-US" altLang="zh-TW" sz="3000" dirty="0" smtClean="0">
                <a:solidFill>
                  <a:srgbClr val="FF0000"/>
                </a:solidFill>
              </a:rPr>
              <a:t>?</a:t>
            </a:r>
            <a:endParaRPr lang="en-US" altLang="zh-TW" sz="3000" dirty="0">
              <a:solidFill>
                <a:srgbClr val="FF0000"/>
              </a:solidFill>
            </a:endParaRPr>
          </a:p>
          <a:p>
            <a:pPr marL="423276" indent="-423276">
              <a:buNone/>
            </a:pPr>
            <a:r>
              <a:rPr lang="en-US" altLang="zh-TW" sz="3000" dirty="0">
                <a:solidFill>
                  <a:srgbClr val="FF0000"/>
                </a:solidFill>
              </a:rPr>
              <a:t>A: Well, among other reasons, strings are immutable, so we want a mutable-but-memory-efficient datatype.</a:t>
            </a:r>
            <a:br>
              <a:rPr lang="en-US" altLang="zh-TW" sz="3000" dirty="0">
                <a:solidFill>
                  <a:srgbClr val="FF0000"/>
                </a:solidFill>
              </a:rPr>
            </a:br>
            <a:endParaRPr lang="en-US" altLang="zh-TW" sz="3000" dirty="0">
              <a:solidFill>
                <a:srgbClr val="FF0000"/>
              </a:solidFill>
            </a:endParaRPr>
          </a:p>
          <a:p>
            <a:pPr marL="423276" indent="-423276">
              <a:buNone/>
            </a:pPr>
            <a:r>
              <a:rPr lang="en-US" altLang="zh-TW" sz="3000" dirty="0">
                <a:solidFill>
                  <a:srgbClr val="FF0000"/>
                </a:solidFill>
              </a:rPr>
              <a:t>Q: OK, I can see that. But explain why we have </a:t>
            </a:r>
            <a:r>
              <a:rPr lang="en-US" altLang="zh-TW" sz="3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bytes</a:t>
            </a:r>
            <a:r>
              <a:rPr lang="en-US" altLang="zh-TW" sz="3000" dirty="0" smtClean="0">
                <a:solidFill>
                  <a:srgbClr val="FF0000"/>
                </a:solidFill>
              </a:rPr>
              <a:t>. </a:t>
            </a:r>
            <a:r>
              <a:rPr lang="en-US" altLang="zh-TW" sz="3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Bytes</a:t>
            </a:r>
            <a:r>
              <a:rPr lang="en-US" altLang="zh-TW" sz="3000" dirty="0" smtClean="0">
                <a:solidFill>
                  <a:srgbClr val="FF0000"/>
                </a:solidFill>
              </a:rPr>
              <a:t> </a:t>
            </a:r>
            <a:r>
              <a:rPr lang="en-US" altLang="zh-TW" sz="3000" dirty="0">
                <a:solidFill>
                  <a:srgbClr val="FF0000"/>
                </a:solidFill>
              </a:rPr>
              <a:t>is immutable, so no different than a </a:t>
            </a:r>
            <a:r>
              <a:rPr lang="en-US" altLang="zh-TW" sz="3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altLang="zh-TW" sz="3000" dirty="0" smtClean="0">
                <a:solidFill>
                  <a:srgbClr val="FF0000"/>
                </a:solidFill>
              </a:rPr>
              <a:t>.</a:t>
            </a:r>
            <a:endParaRPr lang="en-US" altLang="zh-TW" sz="3000" dirty="0">
              <a:solidFill>
                <a:srgbClr val="FF0000"/>
              </a:solidFill>
            </a:endParaRPr>
          </a:p>
          <a:p>
            <a:pPr marL="423276" indent="-423276">
              <a:buNone/>
            </a:pPr>
            <a:r>
              <a:rPr lang="en-US" altLang="zh-TW" sz="3000" dirty="0">
                <a:solidFill>
                  <a:srgbClr val="FF0000"/>
                </a:solidFill>
              </a:rPr>
              <a:t>A: No, they are different. For example, </a:t>
            </a:r>
            <a:r>
              <a:rPr lang="en-US" altLang="zh-TW" sz="3000" dirty="0" smtClean="0">
                <a:solidFill>
                  <a:srgbClr val="FF0000"/>
                </a:solidFill>
              </a:rPr>
              <a:t>ASCII text stores </a:t>
            </a:r>
            <a:r>
              <a:rPr lang="en-US" altLang="zh-TW" sz="3000" dirty="0">
                <a:solidFill>
                  <a:srgbClr val="FF0000"/>
                </a:solidFill>
              </a:rPr>
              <a:t>smaller in </a:t>
            </a:r>
            <a:r>
              <a:rPr lang="en-US" altLang="zh-TW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bytes</a:t>
            </a:r>
            <a:r>
              <a:rPr lang="en-US" altLang="zh-TW" sz="3000" dirty="0">
                <a:solidFill>
                  <a:srgbClr val="FF0000"/>
                </a:solidFill>
              </a:rPr>
              <a:t> than </a:t>
            </a:r>
            <a:r>
              <a:rPr lang="en-US" altLang="zh-TW" sz="30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n-US" altLang="zh-TW" sz="3000" dirty="0" smtClean="0">
                <a:solidFill>
                  <a:srgbClr val="FF0000"/>
                </a:solidFill>
              </a:rPr>
              <a:t> </a:t>
            </a:r>
            <a:r>
              <a:rPr lang="en-US" altLang="zh-TW" sz="3000" dirty="0">
                <a:solidFill>
                  <a:srgbClr val="FF0000"/>
                </a:solidFill>
              </a:rPr>
              <a:t>(which is Unicode format).</a:t>
            </a:r>
          </a:p>
          <a:p>
            <a:pPr marL="423276" indent="0">
              <a:buNone/>
            </a:pPr>
            <a:r>
              <a:rPr lang="en-US" altLang="zh-TW" sz="3000" dirty="0">
                <a:solidFill>
                  <a:srgbClr val="FF0000"/>
                </a:solidFill>
              </a:rPr>
              <a:t>More to the point, </a:t>
            </a:r>
            <a:r>
              <a:rPr lang="en-US" altLang="zh-TW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bytes</a:t>
            </a:r>
            <a:r>
              <a:rPr lang="en-US" altLang="zh-TW" sz="3000" dirty="0">
                <a:solidFill>
                  <a:srgbClr val="FF0000"/>
                </a:solidFill>
              </a:rPr>
              <a:t> and </a:t>
            </a:r>
            <a:r>
              <a:rPr lang="en-US" altLang="zh-TW" sz="3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bytearrays</a:t>
            </a:r>
            <a:r>
              <a:rPr lang="en-US" altLang="zh-TW" sz="3000" dirty="0">
                <a:solidFill>
                  <a:srgbClr val="FF0000"/>
                </a:solidFill>
              </a:rPr>
              <a:t> can store any data, not just strings. </a:t>
            </a:r>
            <a:r>
              <a:rPr lang="en-US" altLang="zh-TW" sz="3000" dirty="0" smtClean="0">
                <a:solidFill>
                  <a:srgbClr val="FF0000"/>
                </a:solidFill>
              </a:rPr>
              <a:t>So the language shouldn’t force you to misleadingly call your data a string. </a:t>
            </a:r>
            <a:endParaRPr lang="en-US" altLang="zh-TW" sz="3000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0"/>
            <a:ext cx="9735832" cy="85725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300"/>
              </a:spcBef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Why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use </a:t>
            </a:r>
            <a:r>
              <a:rPr lang="en-GB" altLang="en-US" sz="200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4000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bytes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200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and </a:t>
            </a:r>
            <a:r>
              <a:rPr lang="en-GB" altLang="en-US" sz="200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4000" b="1" dirty="0" err="1" smtClean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bytearrays</a:t>
            </a:r>
            <a:r>
              <a:rPr lang="en-GB" altLang="en-US" sz="120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? </a:t>
            </a:r>
            <a:endParaRPr lang="en-GB" altLang="en-US" sz="4400" dirty="0">
              <a:solidFill>
                <a:srgbClr val="2D2DB9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72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449262" y="685800"/>
            <a:ext cx="9048750" cy="6172200"/>
          </a:xfrm>
        </p:spPr>
        <p:txBody>
          <a:bodyPr>
            <a:noAutofit/>
          </a:bodyPr>
          <a:lstStyle/>
          <a:p>
            <a:pPr marL="423276" indent="-423276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963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The </a:t>
            </a:r>
            <a:r>
              <a:rPr lang="en-US" altLang="zh-TW" sz="2870" dirty="0">
                <a:solidFill>
                  <a:srgbClr val="FF0000"/>
                </a:solidFill>
                <a:latin typeface="Lucida Console" panose="020B0609040504020204" pitchFamily="49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bytes</a:t>
            </a:r>
            <a:r>
              <a:rPr lang="en-US" altLang="zh-TW" sz="2963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datatype has many methods, as we see:</a:t>
            </a:r>
          </a:p>
          <a:p>
            <a:pPr marL="423276" indent="-55849">
              <a:spcBef>
                <a:spcPts val="0"/>
              </a:spcBef>
              <a:buNone/>
            </a:pPr>
            <a:r>
              <a:rPr lang="en-US" altLang="zh-TW" sz="2222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spc="-100" dirty="0">
                <a:latin typeface="Lucida Console" panose="020B0609040504020204" pitchFamily="49" charset="0"/>
              </a:rPr>
              <a:t> print(*</a:t>
            </a:r>
            <a:r>
              <a:rPr lang="en-US" altLang="zh-TW" sz="2222" spc="-10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spc="-100" dirty="0">
                <a:latin typeface="Lucida Console" panose="020B0609040504020204" pitchFamily="49" charset="0"/>
              </a:rPr>
              <a:t>(bytes)[-40:-35</a:t>
            </a:r>
            <a:r>
              <a:rPr lang="en-US" altLang="zh-TW" sz="2222" spc="-100" dirty="0" smtClean="0">
                <a:latin typeface="Lucida Console" panose="020B0609040504020204" pitchFamily="49" charset="0"/>
              </a:rPr>
              <a:t>],"...",*</a:t>
            </a:r>
            <a:r>
              <a:rPr lang="en-US" altLang="zh-TW" sz="2222" spc="-10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spc="-100" dirty="0">
                <a:latin typeface="Lucida Console" panose="020B0609040504020204" pitchFamily="49" charset="0"/>
              </a:rPr>
              <a:t>(bytes)[-2:])</a:t>
            </a:r>
          </a:p>
          <a:p>
            <a:pPr marL="423276" indent="-55849">
              <a:spcBef>
                <a:spcPts val="0"/>
              </a:spcBef>
              <a:buNone/>
            </a:pPr>
            <a:r>
              <a:rPr lang="en-US" altLang="zh-TW" sz="2222" spc="-100" dirty="0">
                <a:latin typeface="Lucida Console" panose="020B0609040504020204" pitchFamily="49" charset="0"/>
              </a:rPr>
              <a:t>capitalize</a:t>
            </a:r>
            <a:r>
              <a:rPr lang="en-US" altLang="zh-TW" sz="20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0" dirty="0">
                <a:latin typeface="Lucida Console" panose="020B0609040504020204" pitchFamily="49" charset="0"/>
              </a:rPr>
              <a:t>center</a:t>
            </a:r>
            <a:r>
              <a:rPr lang="en-US" altLang="zh-TW" sz="20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0" dirty="0">
                <a:latin typeface="Lucida Console" panose="020B0609040504020204" pitchFamily="49" charset="0"/>
              </a:rPr>
              <a:t>count</a:t>
            </a:r>
            <a:r>
              <a:rPr lang="en-US" altLang="zh-TW" sz="20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0" dirty="0">
                <a:latin typeface="Lucida Console" panose="020B0609040504020204" pitchFamily="49" charset="0"/>
              </a:rPr>
              <a:t>decode</a:t>
            </a:r>
            <a:r>
              <a:rPr lang="en-US" altLang="zh-TW" sz="20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0" dirty="0" err="1">
                <a:latin typeface="Lucida Console" panose="020B0609040504020204" pitchFamily="49" charset="0"/>
              </a:rPr>
              <a:t>endswith</a:t>
            </a:r>
            <a:r>
              <a:rPr lang="en-US" altLang="zh-TW" sz="20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222" spc="-200" dirty="0">
                <a:latin typeface="Lucida Console" panose="020B0609040504020204" pitchFamily="49" charset="0"/>
              </a:rPr>
              <a:t>...</a:t>
            </a:r>
            <a:r>
              <a:rPr lang="en-US" altLang="zh-TW" sz="20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0" dirty="0">
                <a:latin typeface="Lucida Console" panose="020B0609040504020204" pitchFamily="49" charset="0"/>
              </a:rPr>
              <a:t>upper</a:t>
            </a:r>
            <a:r>
              <a:rPr lang="en-US" altLang="zh-TW" sz="2000" spc="-100" dirty="0">
                <a:latin typeface="Lucida Console" panose="020B0609040504020204" pitchFamily="49" charset="0"/>
              </a:rPr>
              <a:t> </a:t>
            </a:r>
            <a:r>
              <a:rPr lang="en-US" altLang="zh-TW" sz="2222" spc="-100" dirty="0" err="1" smtClean="0">
                <a:latin typeface="Lucida Console" panose="020B0609040504020204" pitchFamily="49" charset="0"/>
              </a:rPr>
              <a:t>zfill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423276" indent="-423276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600" dirty="0"/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963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But among all these methods, only three are not also provided by the </a:t>
            </a:r>
            <a:r>
              <a:rPr lang="en-US" altLang="zh-TW" sz="2870" dirty="0" err="1">
                <a:solidFill>
                  <a:srgbClr val="FF0000"/>
                </a:solidFill>
                <a:latin typeface="Lucida Console" panose="020B0609040504020204" pitchFamily="49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str</a:t>
            </a:r>
            <a:r>
              <a:rPr lang="en-US" altLang="zh-TW" sz="2963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datatype, as we see here:</a:t>
            </a:r>
          </a:p>
          <a:p>
            <a:pPr marL="423276" indent="-55849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{*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(bytes)}-{*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dirty="0" err="1">
                <a:latin typeface="Lucida Console" panose="020B0609040504020204" pitchFamily="49" charset="0"/>
              </a:rPr>
              <a:t>str</a:t>
            </a:r>
            <a:r>
              <a:rPr lang="en-US" altLang="zh-TW" sz="2222" dirty="0">
                <a:latin typeface="Lucida Console" panose="020B0609040504020204" pitchFamily="49" charset="0"/>
              </a:rPr>
              <a:t>)}</a:t>
            </a:r>
          </a:p>
          <a:p>
            <a:pPr marL="423276" indent="-55849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{'</a:t>
            </a:r>
            <a:r>
              <a:rPr lang="en-US" altLang="zh-TW" sz="2222" dirty="0" err="1">
                <a:latin typeface="Lucida Console" panose="020B0609040504020204" pitchFamily="49" charset="0"/>
              </a:rPr>
              <a:t>fromhex</a:t>
            </a:r>
            <a:r>
              <a:rPr lang="en-US" altLang="zh-TW" sz="2222" dirty="0">
                <a:latin typeface="Lucida Console" panose="020B0609040504020204" pitchFamily="49" charset="0"/>
              </a:rPr>
              <a:t>', 'hex', 'decode'}</a:t>
            </a:r>
          </a:p>
          <a:p>
            <a:pPr marL="423276" indent="-423276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7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963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Similarly, </a:t>
            </a:r>
            <a:r>
              <a:rPr lang="en-US" altLang="zh-TW" sz="2870" dirty="0" err="1">
                <a:solidFill>
                  <a:srgbClr val="FF0000"/>
                </a:solidFill>
                <a:latin typeface="Lucida Console" panose="020B0609040504020204" pitchFamily="49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str</a:t>
            </a:r>
            <a:r>
              <a:rPr lang="en-US" altLang="zh-TW" sz="2963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only has eight methods that </a:t>
            </a:r>
            <a:r>
              <a:rPr lang="en-US" altLang="zh-TW" sz="2870" dirty="0">
                <a:solidFill>
                  <a:srgbClr val="FF0000"/>
                </a:solidFill>
                <a:latin typeface="Lucida Console" panose="020B0609040504020204" pitchFamily="49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bytes</a:t>
            </a:r>
            <a:r>
              <a:rPr lang="en-US" altLang="zh-TW" sz="2963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doesn’t also have, as we see here:</a:t>
            </a:r>
          </a:p>
          <a:p>
            <a:pPr marL="423276" indent="-9994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{*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dirty="0" err="1">
                <a:latin typeface="Lucida Console" panose="020B0609040504020204" pitchFamily="49" charset="0"/>
              </a:rPr>
              <a:t>str</a:t>
            </a:r>
            <a:r>
              <a:rPr lang="en-US" altLang="zh-TW" sz="2222" dirty="0">
                <a:latin typeface="Lucida Console" panose="020B0609040504020204" pitchFamily="49" charset="0"/>
              </a:rPr>
              <a:t>)}-{*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(bytes)}</a:t>
            </a:r>
          </a:p>
          <a:p>
            <a:pPr marL="423276" indent="-9994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{'</a:t>
            </a:r>
            <a:r>
              <a:rPr lang="en-US" altLang="zh-TW" sz="2222" dirty="0" err="1">
                <a:latin typeface="Lucida Console" panose="020B0609040504020204" pitchFamily="49" charset="0"/>
              </a:rPr>
              <a:t>format_map</a:t>
            </a:r>
            <a:r>
              <a:rPr lang="en-US" altLang="zh-TW" sz="2222" spc="-463" dirty="0">
                <a:latin typeface="Lucida Console" panose="020B0609040504020204" pitchFamily="49" charset="0"/>
              </a:rPr>
              <a:t>', </a:t>
            </a:r>
            <a:r>
              <a:rPr lang="en-US" altLang="zh-TW" sz="2222" dirty="0"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latin typeface="Lucida Console" panose="020B0609040504020204" pitchFamily="49" charset="0"/>
              </a:rPr>
              <a:t>isdecimal</a:t>
            </a:r>
            <a:r>
              <a:rPr lang="en-US" altLang="zh-TW" sz="2222" spc="-463" dirty="0">
                <a:latin typeface="Lucida Console" panose="020B0609040504020204" pitchFamily="49" charset="0"/>
              </a:rPr>
              <a:t>', </a:t>
            </a:r>
            <a:r>
              <a:rPr lang="en-US" altLang="zh-TW" sz="2222" dirty="0">
                <a:latin typeface="Lucida Console" panose="020B0609040504020204" pitchFamily="49" charset="0"/>
              </a:rPr>
              <a:t>'encode</a:t>
            </a:r>
            <a:r>
              <a:rPr lang="en-US" altLang="zh-TW" sz="2222" spc="-463" dirty="0">
                <a:latin typeface="Lucida Console" panose="020B0609040504020204" pitchFamily="49" charset="0"/>
              </a:rPr>
              <a:t>', </a:t>
            </a:r>
            <a:r>
              <a:rPr lang="en-US" altLang="zh-TW" sz="2222" dirty="0"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latin typeface="Lucida Console" panose="020B0609040504020204" pitchFamily="49" charset="0"/>
              </a:rPr>
              <a:t>isprintable</a:t>
            </a:r>
            <a:r>
              <a:rPr lang="en-US" altLang="zh-TW" sz="2222" spc="-463" dirty="0">
                <a:latin typeface="Lucida Console" panose="020B0609040504020204" pitchFamily="49" charset="0"/>
              </a:rPr>
              <a:t>', </a:t>
            </a:r>
            <a:r>
              <a:rPr lang="en-US" altLang="zh-TW" sz="2222" dirty="0"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latin typeface="Lucida Console" panose="020B0609040504020204" pitchFamily="49" charset="0"/>
              </a:rPr>
              <a:t>casefold</a:t>
            </a:r>
            <a:r>
              <a:rPr lang="en-US" altLang="zh-TW" sz="2222" spc="-463" dirty="0">
                <a:latin typeface="Lucida Console" panose="020B0609040504020204" pitchFamily="49" charset="0"/>
              </a:rPr>
              <a:t>', </a:t>
            </a:r>
            <a:r>
              <a:rPr lang="en-US" altLang="zh-TW" sz="2222" dirty="0"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latin typeface="Lucida Console" panose="020B0609040504020204" pitchFamily="49" charset="0"/>
              </a:rPr>
              <a:t>isnumeric</a:t>
            </a:r>
            <a:r>
              <a:rPr lang="en-US" altLang="zh-TW" sz="2222" spc="-463" dirty="0">
                <a:latin typeface="Lucida Console" panose="020B0609040504020204" pitchFamily="49" charset="0"/>
              </a:rPr>
              <a:t>', </a:t>
            </a:r>
            <a:r>
              <a:rPr lang="en-US" altLang="zh-TW" sz="2222" dirty="0">
                <a:latin typeface="Lucida Console" panose="020B0609040504020204" pitchFamily="49" charset="0"/>
              </a:rPr>
              <a:t>'</a:t>
            </a:r>
            <a:r>
              <a:rPr lang="en-US" altLang="zh-TW" sz="2222" dirty="0" err="1">
                <a:latin typeface="Lucida Console" panose="020B0609040504020204" pitchFamily="49" charset="0"/>
              </a:rPr>
              <a:t>isidentifier</a:t>
            </a:r>
            <a:r>
              <a:rPr lang="en-US" altLang="zh-TW" sz="2222" spc="-463" dirty="0">
                <a:latin typeface="Lucida Console" panose="020B0609040504020204" pitchFamily="49" charset="0"/>
              </a:rPr>
              <a:t>', </a:t>
            </a:r>
            <a:r>
              <a:rPr lang="en-US" altLang="zh-TW" sz="2222" dirty="0">
                <a:latin typeface="Lucida Console" panose="020B0609040504020204" pitchFamily="49" charset="0"/>
              </a:rPr>
              <a:t>'format'}</a:t>
            </a:r>
          </a:p>
          <a:p>
            <a:pPr marL="423276" indent="-423276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700" dirty="0">
              <a:solidFill>
                <a:prstClr val="black"/>
              </a:solidFill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963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This means they are very similar datatypes:</a:t>
            </a:r>
          </a:p>
          <a:p>
            <a:pPr marL="634914" indent="-311578">
              <a:spcBef>
                <a:spcPts val="0"/>
              </a:spcBef>
            </a:pPr>
            <a:r>
              <a:rPr lang="en-US" altLang="zh-TW" sz="2963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They have most of the same methods.</a:t>
            </a:r>
          </a:p>
          <a:p>
            <a:pPr marL="634914" indent="-311578">
              <a:lnSpc>
                <a:spcPct val="92000"/>
              </a:lnSpc>
              <a:spcBef>
                <a:spcPts val="0"/>
              </a:spcBef>
            </a:pPr>
            <a:r>
              <a:rPr lang="en-US" altLang="zh-TW" sz="2963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They both use arrays to pack data efficiently.</a:t>
            </a:r>
          </a:p>
          <a:p>
            <a:pPr marL="634914" indent="-311578">
              <a:lnSpc>
                <a:spcPct val="92000"/>
              </a:lnSpc>
              <a:spcBef>
                <a:spcPts val="0"/>
              </a:spcBef>
            </a:pPr>
            <a:r>
              <a:rPr lang="en-US" altLang="zh-TW" sz="2963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They both are immutable.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0"/>
            <a:ext cx="9735832" cy="102870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But </a:t>
            </a:r>
            <a:r>
              <a:rPr lang="en-GB" altLang="en-US" sz="200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4000" b="1" dirty="0" smtClean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bytes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120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&amp; </a:t>
            </a:r>
            <a:r>
              <a:rPr lang="en-GB" altLang="en-US" sz="200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4000" b="1" dirty="0" err="1" smtClean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str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2000" dirty="0" smtClean="0">
                <a:solidFill>
                  <a:srgbClr val="2D2DB9"/>
                </a:solidFill>
                <a:cs typeface="Arial" panose="020B0604020202020204" pitchFamily="34" charset="0"/>
              </a:rPr>
              <a:t>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are 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similar</a:t>
            </a:r>
          </a:p>
        </p:txBody>
      </p:sp>
    </p:spTree>
    <p:extLst>
      <p:ext uri="{BB962C8B-B14F-4D97-AF65-F5344CB8AC3E}">
        <p14:creationId xmlns:p14="http://schemas.microsoft.com/office/powerpoint/2010/main" val="260601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1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16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16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16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678" y="1"/>
            <a:ext cx="9461047" cy="6857999"/>
          </a:xfrm>
        </p:spPr>
        <p:txBody>
          <a:bodyPr>
            <a:noAutofit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by=set()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for m in 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bytes</a:t>
            </a:r>
            <a:r>
              <a:rPr lang="en-US" altLang="zh-TW" sz="2222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2222" dirty="0">
                <a:latin typeface="Lucida Console" panose="020B0609040504020204" pitchFamily="49" charset="0"/>
              </a:rPr>
              <a:t>     if m[0]!='_': by|={m}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print(*by)  </a:t>
            </a:r>
            <a:r>
              <a:rPr lang="en-US" altLang="zh-TW" sz="2222" b="1" dirty="0">
                <a:solidFill>
                  <a:srgbClr val="0070C0"/>
                </a:solidFill>
                <a:latin typeface="Lucida Console" panose="020B0609040504020204" pitchFamily="49" charset="0"/>
              </a:rPr>
              <a:t># Here are all of the bytes methods: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index capitalize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maketrans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join hex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istitle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replace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startswith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title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rpartition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translate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rindex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expandtabs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isspace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swapcase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isupper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strip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endswith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partition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center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zfill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fromhex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rstrip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ljust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rjust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decode count upper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isalnum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rsplit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isdigit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split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isalpha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splitlines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rfind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find lower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lstrip</a:t>
            </a:r>
            <a:endParaRPr lang="en-US" altLang="zh-TW" sz="2222" b="1" dirty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latin typeface="Lucida Console" panose="020B0609040504020204" pitchFamily="49" charset="0"/>
              </a:rPr>
              <a:t>ba</a:t>
            </a:r>
            <a:r>
              <a:rPr lang="en-US" altLang="zh-TW" sz="2222" dirty="0">
                <a:latin typeface="Lucida Console" panose="020B0609040504020204" pitchFamily="49" charset="0"/>
              </a:rPr>
              <a:t>=set()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for m in 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2222" dirty="0">
                <a:latin typeface="Lucida Console" panose="020B0609040504020204" pitchFamily="49" charset="0"/>
              </a:rPr>
              <a:t>     if m[0]!='_': </a:t>
            </a:r>
            <a:r>
              <a:rPr lang="en-US" altLang="zh-TW" sz="2222" dirty="0" err="1">
                <a:latin typeface="Lucida Console" panose="020B0609040504020204" pitchFamily="49" charset="0"/>
              </a:rPr>
              <a:t>ba</a:t>
            </a:r>
            <a:r>
              <a:rPr lang="en-US" altLang="zh-TW" sz="2222" dirty="0">
                <a:latin typeface="Lucida Console" panose="020B0609040504020204" pitchFamily="49" charset="0"/>
              </a:rPr>
              <a:t>|={m}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latin typeface="Lucida Console" panose="020B0609040504020204" pitchFamily="49" charset="0"/>
              </a:rPr>
              <a:t>ba</a:t>
            </a:r>
            <a:r>
              <a:rPr lang="en-US" altLang="zh-TW" sz="2222" dirty="0">
                <a:latin typeface="Lucida Console" panose="020B0609040504020204" pitchFamily="49" charset="0"/>
              </a:rPr>
              <a:t>-by</a:t>
            </a:r>
            <a:r>
              <a:rPr lang="en-US" altLang="zh-TW" sz="14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400" b="1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Here </a:t>
            </a:r>
            <a:r>
              <a:rPr lang="en-US" altLang="zh-TW" sz="2222" b="1" dirty="0">
                <a:solidFill>
                  <a:srgbClr val="0070C0"/>
                </a:solidFill>
                <a:latin typeface="Lucida Console" panose="020B0609040504020204" pitchFamily="49" charset="0"/>
              </a:rPr>
              <a:t>are the additional </a:t>
            </a:r>
            <a:r>
              <a:rPr lang="en-US" altLang="zh-TW" sz="2222" b="1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b="1" dirty="0">
                <a:solidFill>
                  <a:srgbClr val="0070C0"/>
                </a:solidFill>
                <a:latin typeface="Lucida Console" panose="020B0609040504020204" pitchFamily="49" charset="0"/>
              </a:rPr>
              <a:t> methods: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{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reverse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append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clear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extend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copy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remove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pop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insert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2" name="Rectangle 1"/>
          <p:cNvSpPr/>
          <p:nvPr/>
        </p:nvSpPr>
        <p:spPr>
          <a:xfrm>
            <a:off x="-1935072" y="3372939"/>
            <a:ext cx="42329" cy="42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6552"/>
            <a:endParaRPr lang="zh-TW" altLang="en-US" sz="1666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94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678" y="1"/>
            <a:ext cx="9461047" cy="6857999"/>
          </a:xfrm>
        </p:spPr>
        <p:txBody>
          <a:bodyPr>
            <a:noAutofit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by=set()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for m in </a:t>
            </a:r>
            <a:r>
              <a:rPr lang="en-US" altLang="zh-TW" sz="2222" dirty="0" err="1">
                <a:solidFill>
                  <a:schemeClr val="bg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bytes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...     if m[0]!='_': by|={m}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print(*by)  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# Here are all of the bytes methods: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index capitalize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maketrans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join hex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istitle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replace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startswith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title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rpartition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translate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rindex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expandtabs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isspace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swapcase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isupper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strip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endswith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partition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center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zfill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fromhex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rstrip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ljust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rjust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decode count upper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isalnum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rsplit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isdigit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split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isalpha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splitlines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rfind</a:t>
            </a:r>
            <a:r>
              <a:rPr lang="en-US" altLang="zh-TW" sz="2222" b="1" dirty="0">
                <a:solidFill>
                  <a:schemeClr val="bg1"/>
                </a:solidFill>
                <a:latin typeface="Lucida Console" panose="020B0609040504020204" pitchFamily="49" charset="0"/>
              </a:rPr>
              <a:t> find lower 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lstrip</a:t>
            </a:r>
            <a:endParaRPr lang="en-US" altLang="zh-TW" sz="2222" b="1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 err="1">
                <a:solidFill>
                  <a:schemeClr val="bg1"/>
                </a:solidFill>
                <a:latin typeface="Lucida Console" panose="020B0609040504020204" pitchFamily="49" charset="0"/>
              </a:rPr>
              <a:t>ba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=set()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for m in </a:t>
            </a:r>
            <a:r>
              <a:rPr lang="en-US" altLang="zh-TW" sz="2222" dirty="0" err="1">
                <a:solidFill>
                  <a:schemeClr val="bg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...     if m[0]!='_': </a:t>
            </a:r>
            <a:r>
              <a:rPr lang="en-US" altLang="zh-TW" sz="2222" dirty="0" err="1">
                <a:solidFill>
                  <a:schemeClr val="bg1"/>
                </a:solidFill>
                <a:latin typeface="Lucida Console" panose="020B0609040504020204" pitchFamily="49" charset="0"/>
              </a:rPr>
              <a:t>ba</a:t>
            </a: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|={m}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 err="1">
                <a:latin typeface="Lucida Console" panose="020B0609040504020204" pitchFamily="49" charset="0"/>
              </a:rPr>
              <a:t>ba</a:t>
            </a:r>
            <a:r>
              <a:rPr lang="en-US" altLang="zh-TW" sz="2222" dirty="0">
                <a:latin typeface="Lucida Console" panose="020B0609040504020204" pitchFamily="49" charset="0"/>
              </a:rPr>
              <a:t>-by</a:t>
            </a:r>
            <a:r>
              <a:rPr lang="en-US" altLang="zh-TW" sz="14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0070C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4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0070C0"/>
                </a:solidFill>
                <a:latin typeface="Lucida Console" panose="020B0609040504020204" pitchFamily="49" charset="0"/>
              </a:rPr>
              <a:t>Here are the additional </a:t>
            </a:r>
            <a:r>
              <a:rPr lang="en-US" altLang="zh-TW" sz="2222" b="1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b="1" dirty="0">
                <a:solidFill>
                  <a:srgbClr val="0070C0"/>
                </a:solidFill>
                <a:latin typeface="Lucida Console" panose="020B0609040504020204" pitchFamily="49" charset="0"/>
              </a:rPr>
              <a:t> methods: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{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reverse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append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clear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extend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copy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remove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pop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insert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{*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(list)}-{*</a:t>
            </a:r>
            <a:r>
              <a:rPr lang="en-US" altLang="zh-TW" sz="222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dirty="0">
                <a:latin typeface="Lucida Console" panose="020B0609040504020204" pitchFamily="49" charset="0"/>
              </a:rPr>
              <a:t>(tuple)}</a:t>
            </a:r>
            <a:r>
              <a:rPr lang="en-US" altLang="zh-TW" sz="1600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0070C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4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0070C0"/>
                </a:solidFill>
                <a:latin typeface="Lucida Console" panose="020B0609040504020204" pitchFamily="49" charset="0"/>
              </a:rPr>
              <a:t>Compare</a:t>
            </a:r>
            <a:r>
              <a:rPr lang="en-US" altLang="zh-TW" sz="16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0070C0"/>
                </a:solidFill>
                <a:latin typeface="Lucida Console" panose="020B0609040504020204" pitchFamily="49" charset="0"/>
              </a:rPr>
              <a:t>to</a:t>
            </a:r>
            <a:r>
              <a:rPr lang="en-US" altLang="zh-TW" sz="16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spc="-4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li</a:t>
            </a:r>
            <a:r>
              <a:rPr lang="en-US" altLang="zh-TW" sz="2222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st-tu</a:t>
            </a:r>
            <a:r>
              <a:rPr lang="en-US" altLang="zh-TW" sz="2222" b="1" spc="-8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pl</a:t>
            </a:r>
            <a:r>
              <a:rPr lang="en-US" altLang="zh-TW" sz="2222" b="1" spc="-4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b="1" dirty="0">
                <a:solidFill>
                  <a:srgbClr val="0070C0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2" dirty="0" smtClean="0">
                <a:latin typeface="Lucida Console" panose="020B0609040504020204" pitchFamily="49" charset="0"/>
              </a:rPr>
              <a:t>{</a:t>
            </a:r>
            <a:r>
              <a:rPr lang="en-US" altLang="zh-TW" sz="2222" spc="-27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revers</a:t>
            </a:r>
            <a:r>
              <a:rPr lang="en-US" altLang="zh-TW" sz="2222" b="1" spc="-2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spc="-5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27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en-US" altLang="zh-TW" sz="2222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appen</a:t>
            </a:r>
            <a:r>
              <a:rPr lang="en-US" altLang="zh-TW" sz="2222" b="1" spc="-1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spc="-5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27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en-US" altLang="zh-TW" sz="2222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clea</a:t>
            </a:r>
            <a:r>
              <a:rPr lang="en-US" altLang="zh-TW" sz="2222" b="1" spc="-1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spc="-5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27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27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27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iadd</a:t>
            </a:r>
            <a:r>
              <a:rPr lang="en-US" altLang="zh-TW" sz="2222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spc="-5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27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27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27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sor</a:t>
            </a:r>
            <a:r>
              <a:rPr lang="en-US" altLang="zh-TW" sz="2222" b="1" spc="-2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spc="-5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spc="-27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000" spc="-27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278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exten</a:t>
            </a:r>
            <a:r>
              <a:rPr lang="en-US" altLang="zh-TW" sz="2222" b="1" spc="-1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spc="-5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'__</a:t>
            </a:r>
            <a:r>
              <a:rPr lang="en-US" altLang="zh-TW" sz="2222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setitem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zh-TW" sz="2222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imul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__', '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copy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'__</a:t>
            </a:r>
            <a:r>
              <a:rPr lang="en-US" altLang="zh-TW" sz="2222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delitem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__', '__reversed__', '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remove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pop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insert</a:t>
            </a:r>
            <a:r>
              <a:rPr lang="en-US" altLang="zh-TW" sz="2222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dirty="0"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198079" y="1028700"/>
            <a:ext cx="6242783" cy="4641004"/>
            <a:chOff x="3782651" y="1111091"/>
            <a:chExt cx="6742784" cy="5012714"/>
          </a:xfrm>
        </p:grpSpPr>
        <p:sp>
          <p:nvSpPr>
            <p:cNvPr id="8" name="Isosceles Triangle 7"/>
            <p:cNvSpPr/>
            <p:nvPr/>
          </p:nvSpPr>
          <p:spPr>
            <a:xfrm rot="12259932">
              <a:off x="4060043" y="2465579"/>
              <a:ext cx="818437" cy="3658226"/>
            </a:xfrm>
            <a:prstGeom prst="triangle">
              <a:avLst>
                <a:gd name="adj" fmla="val 38891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417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/>
              <a:endParaRPr lang="zh-TW" altLang="en-US" sz="1666">
                <a:solidFill>
                  <a:prstClr val="white"/>
                </a:solidFill>
              </a:endParaRPr>
            </a:p>
          </p:txBody>
        </p:sp>
        <p:sp>
          <p:nvSpPr>
            <p:cNvPr id="6" name="Rounded Rectangular Callout 5"/>
            <p:cNvSpPr/>
            <p:nvPr/>
          </p:nvSpPr>
          <p:spPr>
            <a:xfrm>
              <a:off x="3782651" y="1111091"/>
              <a:ext cx="6742784" cy="2837475"/>
            </a:xfrm>
            <a:prstGeom prst="wedgeRoundRectCallout">
              <a:avLst>
                <a:gd name="adj1" fmla="val -76499"/>
                <a:gd name="adj2" fmla="val 76220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417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>
                <a:lnSpc>
                  <a:spcPct val="80000"/>
                </a:lnSpc>
              </a:pPr>
              <a:r>
                <a:rPr lang="en-US" altLang="zh-TW" sz="4999" dirty="0" smtClean="0">
                  <a:solidFill>
                    <a:prstClr val="black"/>
                  </a:solidFill>
                </a:rPr>
                <a:t>The </a:t>
              </a:r>
              <a:r>
                <a:rPr lang="en-US" altLang="zh-TW" sz="4999" dirty="0">
                  <a:solidFill>
                    <a:prstClr val="black"/>
                  </a:solidFill>
                </a:rPr>
                <a:t>similarity </a:t>
              </a:r>
              <a:r>
                <a:rPr lang="en-US" altLang="zh-TW" sz="4999" dirty="0" smtClean="0">
                  <a:solidFill>
                    <a:prstClr val="black"/>
                  </a:solidFill>
                </a:rPr>
                <a:t>is from </a:t>
              </a:r>
              <a:r>
                <a:rPr lang="en-US" altLang="zh-TW" sz="4999" dirty="0">
                  <a:solidFill>
                    <a:prstClr val="black"/>
                  </a:solidFill>
                </a:rPr>
                <a:t>each </a:t>
              </a:r>
              <a:r>
                <a:rPr lang="en-US" altLang="zh-TW" sz="4999" dirty="0" smtClean="0">
                  <a:solidFill>
                    <a:prstClr val="black"/>
                  </a:solidFill>
                </a:rPr>
                <a:t>being </a:t>
              </a:r>
              <a:r>
                <a:rPr lang="en-US" altLang="zh-TW" sz="4999" dirty="0">
                  <a:solidFill>
                    <a:prstClr val="black"/>
                  </a:solidFill>
                </a:rPr>
                <a:t>a mutable/ immutable pair of comparable objects. </a:t>
              </a:r>
              <a:endParaRPr lang="zh-TW" altLang="en-US" sz="4999" dirty="0">
                <a:solidFill>
                  <a:prstClr val="black"/>
                </a:solidFill>
              </a:endParaRPr>
            </a:p>
          </p:txBody>
        </p:sp>
        <p:sp>
          <p:nvSpPr>
            <p:cNvPr id="7" name="Isosceles Triangle 6"/>
            <p:cNvSpPr/>
            <p:nvPr/>
          </p:nvSpPr>
          <p:spPr>
            <a:xfrm rot="1113025" flipV="1">
              <a:off x="4360590" y="3846064"/>
              <a:ext cx="497361" cy="663753"/>
            </a:xfrm>
            <a:prstGeom prst="triangle">
              <a:avLst>
                <a:gd name="adj" fmla="val 855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F2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/>
              <a:endParaRPr lang="zh-TW" altLang="en-US" sz="1666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673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888147"/>
            <a:ext cx="9040416" cy="6240421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333" dirty="0"/>
              <a:t>Python has </a:t>
            </a:r>
            <a:r>
              <a:rPr lang="en-US" altLang="en-US" sz="3333" dirty="0">
                <a:solidFill>
                  <a:srgbClr val="FF0000"/>
                </a:solidFill>
              </a:rPr>
              <a:t>seven/nine</a:t>
            </a:r>
            <a:r>
              <a:rPr lang="en-US" altLang="en-US" sz="3333" dirty="0"/>
              <a:t> standard data types: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chemeClr val="bg1">
                    <a:lumMod val="65000"/>
                  </a:schemeClr>
                </a:solidFill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rgbClr val="FFC000"/>
                </a:solidFill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rgbClr val="FFC000"/>
                </a:solidFill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buFont typeface="+mj-lt"/>
              <a:buAutoNum type="arabicPeriod"/>
            </a:pPr>
            <a:r>
              <a:rPr lang="en-US" altLang="en-US" sz="2963" dirty="0">
                <a:solidFill>
                  <a:srgbClr val="A6A6A6"/>
                </a:solidFill>
                <a:latin typeface="Elephant" panose="02020904090505020303" pitchFamily="18" charset="0"/>
              </a:rPr>
              <a:t>Dictionary</a:t>
            </a:r>
            <a:endParaRPr lang="en-US" altLang="en-US" sz="2963" dirty="0">
              <a:solidFill>
                <a:srgbClr val="00B0F0"/>
              </a:solidFill>
              <a:latin typeface="Elephant" panose="02020904090505020303" pitchFamily="18" charset="0"/>
            </a:endParaRPr>
          </a:p>
          <a:p>
            <a:pPr marL="598339" indent="-509602">
              <a:buClr>
                <a:srgbClr val="00B0F0"/>
              </a:buClr>
              <a:buFont typeface="+mj-lt"/>
              <a:buAutoNum type="arabicPeriod"/>
            </a:pPr>
            <a:r>
              <a:rPr lang="en-US" altLang="en-US" sz="2963" dirty="0">
                <a:solidFill>
                  <a:srgbClr val="00B0F0"/>
                </a:solidFill>
                <a:latin typeface="Elephant" panose="02020904090505020303" pitchFamily="18" charset="0"/>
              </a:rPr>
              <a:t>Sets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00B0F0"/>
                </a:solidFill>
                <a:latin typeface="Elephant" panose="02020904090505020303" pitchFamily="18" charset="0"/>
              </a:rPr>
              <a:t>6.5 </a:t>
            </a:r>
            <a:r>
              <a:rPr lang="en-US" altLang="en-US" sz="2963" dirty="0" err="1">
                <a:solidFill>
                  <a:srgbClr val="00B0F0"/>
                </a:solidFill>
                <a:latin typeface="Elephant" panose="02020904090505020303" pitchFamily="18" charset="0"/>
              </a:rPr>
              <a:t>Frozensets</a:t>
            </a:r>
            <a:endParaRPr lang="en-US" altLang="en-US" sz="2963" dirty="0">
              <a:solidFill>
                <a:srgbClr val="00B0F0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7  Bytes</a:t>
            </a:r>
          </a:p>
          <a:p>
            <a:pPr marL="88737" indent="0">
              <a:buNone/>
            </a:pPr>
            <a:r>
              <a:rPr lang="en-US" altLang="en-US" sz="2963" dirty="0">
                <a:solidFill>
                  <a:srgbClr val="FF0000"/>
                </a:solidFill>
                <a:latin typeface="Elephant" panose="02020904090505020303" pitchFamily="18" charset="0"/>
              </a:rPr>
              <a:t>7.5 </a:t>
            </a:r>
            <a:r>
              <a:rPr lang="en-US" altLang="en-US" sz="2963" dirty="0" err="1">
                <a:solidFill>
                  <a:srgbClr val="FF0000"/>
                </a:solidFill>
                <a:latin typeface="Elephant" panose="02020904090505020303" pitchFamily="18" charset="0"/>
              </a:rPr>
              <a:t>Bytearrays</a:t>
            </a:r>
            <a:endParaRPr lang="en-US" altLang="en-US" sz="2963" dirty="0">
              <a:solidFill>
                <a:srgbClr val="FF0000"/>
              </a:solidFill>
              <a:latin typeface="Elephant" panose="02020904090505020303" pitchFamily="18" charset="0"/>
            </a:endParaRPr>
          </a:p>
          <a:p>
            <a:pPr marL="88737" indent="0">
              <a:buNone/>
            </a:pPr>
            <a:r>
              <a:rPr lang="en-US" sz="2963" dirty="0">
                <a:solidFill>
                  <a:schemeClr val="bg1">
                    <a:lumMod val="50000"/>
                  </a:schemeClr>
                </a:solidFill>
                <a:latin typeface="Elephant" panose="02020904090505020303" pitchFamily="18" charset="0"/>
              </a:rPr>
              <a:t>	</a:t>
            </a:r>
            <a:r>
              <a:rPr lang="en-US" sz="2963" dirty="0">
                <a:solidFill>
                  <a:schemeClr val="bg1"/>
                </a:solidFill>
              </a:rPr>
              <a:t>sets,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 err="1">
                <a:solidFill>
                  <a:schemeClr val="bg1"/>
                </a:solidFill>
              </a:rPr>
              <a:t>frozensets</a:t>
            </a:r>
            <a:r>
              <a:rPr lang="en-US" sz="2963" dirty="0">
                <a:solidFill>
                  <a:schemeClr val="bg1"/>
                </a:solidFill>
              </a:rPr>
              <a:t>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 err="1">
                <a:solidFill>
                  <a:schemeClr val="bg1"/>
                </a:solidFill>
              </a:rPr>
              <a:t>bytearrays</a:t>
            </a:r>
            <a:r>
              <a:rPr lang="en-US" sz="2963" dirty="0">
                <a:solidFill>
                  <a:schemeClr val="bg1"/>
                </a:solidFill>
              </a:rPr>
              <a:t>, bytes,</a:t>
            </a:r>
            <a:r>
              <a:rPr lang="en-US" sz="2963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963" dirty="0">
                <a:solidFill>
                  <a:schemeClr val="bg1"/>
                </a:solidFill>
              </a:rPr>
              <a:t>etc.</a:t>
            </a:r>
            <a:br>
              <a:rPr lang="en-US" sz="2963" dirty="0">
                <a:solidFill>
                  <a:schemeClr val="bg1"/>
                </a:solidFill>
              </a:rPr>
            </a:br>
            <a:r>
              <a:rPr lang="en-US" sz="2963" dirty="0">
                <a:solidFill>
                  <a:schemeClr val="bg1"/>
                </a:solidFill>
              </a:rPr>
              <a:t>	will be covered later…</a:t>
            </a:r>
            <a:endParaRPr lang="en-US" altLang="en-US" sz="2963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596757" y="1028700"/>
            <a:ext cx="7844105" cy="3725671"/>
            <a:chOff x="1596757" y="1028700"/>
            <a:chExt cx="7844105" cy="3725671"/>
          </a:xfrm>
        </p:grpSpPr>
        <p:sp>
          <p:nvSpPr>
            <p:cNvPr id="16" name="Isosceles Triangle 15"/>
            <p:cNvSpPr/>
            <p:nvPr/>
          </p:nvSpPr>
          <p:spPr>
            <a:xfrm rot="13956321">
              <a:off x="2946800" y="2665479"/>
              <a:ext cx="757747" cy="3420038"/>
            </a:xfrm>
            <a:prstGeom prst="triangle">
              <a:avLst>
                <a:gd name="adj" fmla="val 38891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417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/>
              <a:endParaRPr lang="zh-TW" altLang="en-US" sz="1666">
                <a:solidFill>
                  <a:prstClr val="white"/>
                </a:solidFill>
              </a:endParaRPr>
            </a:p>
          </p:txBody>
        </p:sp>
        <p:sp>
          <p:nvSpPr>
            <p:cNvPr id="19" name="Isosceles Triangle 18"/>
            <p:cNvSpPr/>
            <p:nvPr/>
          </p:nvSpPr>
          <p:spPr>
            <a:xfrm rot="14176908">
              <a:off x="2424620" y="2739847"/>
              <a:ext cx="704888" cy="2360613"/>
            </a:xfrm>
            <a:prstGeom prst="triangle">
              <a:avLst>
                <a:gd name="adj" fmla="val 587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417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/>
              <a:endParaRPr lang="zh-TW" altLang="en-US" sz="1666">
                <a:solidFill>
                  <a:prstClr val="white"/>
                </a:solidFill>
              </a:endParaRPr>
            </a:p>
          </p:txBody>
        </p:sp>
        <p:sp>
          <p:nvSpPr>
            <p:cNvPr id="29" name="Rounded Rectangular Callout 28"/>
            <p:cNvSpPr/>
            <p:nvPr/>
          </p:nvSpPr>
          <p:spPr>
            <a:xfrm>
              <a:off x="3198079" y="1028700"/>
              <a:ext cx="6242783" cy="2627066"/>
            </a:xfrm>
            <a:prstGeom prst="wedgeRoundRectCallout">
              <a:avLst>
                <a:gd name="adj1" fmla="val -70063"/>
                <a:gd name="adj2" fmla="val 20318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417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>
                <a:lnSpc>
                  <a:spcPct val="80000"/>
                </a:lnSpc>
              </a:pPr>
              <a:r>
                <a:rPr lang="en-US" altLang="zh-TW" sz="4999" dirty="0" smtClean="0">
                  <a:solidFill>
                    <a:prstClr val="black"/>
                  </a:solidFill>
                </a:rPr>
                <a:t>The </a:t>
              </a:r>
              <a:r>
                <a:rPr lang="en-US" altLang="zh-TW" sz="4999" dirty="0">
                  <a:solidFill>
                    <a:prstClr val="black"/>
                  </a:solidFill>
                </a:rPr>
                <a:t>similarity </a:t>
              </a:r>
              <a:r>
                <a:rPr lang="en-US" altLang="zh-TW" sz="4999" dirty="0" smtClean="0">
                  <a:solidFill>
                    <a:prstClr val="black"/>
                  </a:solidFill>
                </a:rPr>
                <a:t>is from </a:t>
              </a:r>
              <a:r>
                <a:rPr lang="en-US" altLang="zh-TW" sz="4999" dirty="0">
                  <a:solidFill>
                    <a:prstClr val="black"/>
                  </a:solidFill>
                </a:rPr>
                <a:t>each </a:t>
              </a:r>
              <a:r>
                <a:rPr lang="en-US" altLang="zh-TW" sz="4999" dirty="0" smtClean="0">
                  <a:solidFill>
                    <a:prstClr val="black"/>
                  </a:solidFill>
                </a:rPr>
                <a:t>being </a:t>
              </a:r>
              <a:r>
                <a:rPr lang="en-US" altLang="zh-TW" sz="4999" dirty="0">
                  <a:solidFill>
                    <a:prstClr val="black"/>
                  </a:solidFill>
                </a:rPr>
                <a:t>a mutable/ immutable pair of </a:t>
              </a:r>
              <a:r>
                <a:rPr lang="en-US" altLang="zh-TW" sz="4999" dirty="0">
                  <a:solidFill>
                    <a:srgbClr val="FF0000"/>
                  </a:solidFill>
                </a:rPr>
                <a:t>comparable</a:t>
              </a:r>
              <a:r>
                <a:rPr lang="en-US" altLang="zh-TW" sz="4999" dirty="0">
                  <a:solidFill>
                    <a:prstClr val="black"/>
                  </a:solidFill>
                </a:rPr>
                <a:t> objects. </a:t>
              </a:r>
              <a:endParaRPr lang="zh-TW" altLang="en-US" sz="4999" dirty="0">
                <a:solidFill>
                  <a:prstClr val="black"/>
                </a:solidFill>
              </a:endParaRPr>
            </a:p>
          </p:txBody>
        </p:sp>
        <p:sp>
          <p:nvSpPr>
            <p:cNvPr id="18" name="Isosceles Triangle 17"/>
            <p:cNvSpPr/>
            <p:nvPr/>
          </p:nvSpPr>
          <p:spPr>
            <a:xfrm flipV="1">
              <a:off x="4043988" y="3523920"/>
              <a:ext cx="787309" cy="500368"/>
            </a:xfrm>
            <a:prstGeom prst="triangle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F2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/>
              <a:endParaRPr lang="zh-TW" altLang="en-US" sz="1666">
                <a:solidFill>
                  <a:prstClr val="white"/>
                </a:solidFill>
              </a:endParaRPr>
            </a:p>
          </p:txBody>
        </p:sp>
        <p:sp>
          <p:nvSpPr>
            <p:cNvPr id="20" name="Isosceles Triangle 19"/>
            <p:cNvSpPr/>
            <p:nvPr/>
          </p:nvSpPr>
          <p:spPr>
            <a:xfrm rot="5400000">
              <a:off x="4111796" y="3342424"/>
              <a:ext cx="571303" cy="1104328"/>
            </a:xfrm>
            <a:prstGeom prst="triangle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F2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/>
              <a:endParaRPr lang="zh-TW" altLang="en-US" sz="1666">
                <a:solidFill>
                  <a:prstClr val="white"/>
                </a:solidFill>
              </a:endParaRPr>
            </a:p>
          </p:txBody>
        </p:sp>
        <p:sp>
          <p:nvSpPr>
            <p:cNvPr id="21" name="Isosceles Triangle 20"/>
            <p:cNvSpPr/>
            <p:nvPr/>
          </p:nvSpPr>
          <p:spPr>
            <a:xfrm rot="3288988" flipH="1" flipV="1">
              <a:off x="2700054" y="3088684"/>
              <a:ext cx="654607" cy="1340605"/>
            </a:xfrm>
            <a:prstGeom prst="triangle">
              <a:avLst>
                <a:gd name="adj" fmla="val 62556"/>
              </a:avLst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/>
              <a:endParaRPr lang="zh-TW" altLang="en-US" sz="1666">
                <a:solidFill>
                  <a:prstClr val="white"/>
                </a:solidFill>
              </a:endParaRPr>
            </a:p>
          </p:txBody>
        </p:sp>
      </p:grp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610046" y="4695576"/>
            <a:ext cx="5814131" cy="1958539"/>
            <a:chOff x="3610046" y="4695576"/>
            <a:chExt cx="5814131" cy="1958539"/>
          </a:xfrm>
        </p:grpSpPr>
        <p:sp>
          <p:nvSpPr>
            <p:cNvPr id="7" name="Rounded Rectangular Callout 6"/>
            <p:cNvSpPr/>
            <p:nvPr/>
          </p:nvSpPr>
          <p:spPr>
            <a:xfrm>
              <a:off x="4321097" y="4695576"/>
              <a:ext cx="5103080" cy="1958539"/>
            </a:xfrm>
            <a:prstGeom prst="wedgeRoundRectCallout">
              <a:avLst>
                <a:gd name="adj1" fmla="val -111167"/>
                <a:gd name="adj2" fmla="val -41058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>
                <a:lnSpc>
                  <a:spcPct val="80000"/>
                </a:lnSpc>
              </a:pPr>
              <a:r>
                <a:rPr lang="en-US" altLang="zh-TW" sz="4999" dirty="0">
                  <a:solidFill>
                    <a:prstClr val="black"/>
                  </a:solidFill>
                </a:rPr>
                <a:t>This similarity is indicated by how I numbered them... </a:t>
              </a:r>
              <a:endParaRPr lang="zh-TW" altLang="en-US" sz="4999" dirty="0">
                <a:solidFill>
                  <a:prstClr val="black"/>
                </a:solidFill>
              </a:endParaRPr>
            </a:p>
          </p:txBody>
        </p:sp>
        <p:sp>
          <p:nvSpPr>
            <p:cNvPr id="8" name="Rounded Rectangular Callout 7"/>
            <p:cNvSpPr/>
            <p:nvPr/>
          </p:nvSpPr>
          <p:spPr>
            <a:xfrm>
              <a:off x="4321097" y="4695576"/>
              <a:ext cx="5103080" cy="1958539"/>
            </a:xfrm>
            <a:prstGeom prst="wedgeRoundRectCallout">
              <a:avLst>
                <a:gd name="adj1" fmla="val -112549"/>
                <a:gd name="adj2" fmla="val 10573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846552">
                <a:lnSpc>
                  <a:spcPct val="80000"/>
                </a:lnSpc>
              </a:pPr>
              <a:r>
                <a:rPr lang="en-US" altLang="zh-TW" sz="4999" dirty="0" smtClean="0">
                  <a:solidFill>
                    <a:prstClr val="black"/>
                  </a:solidFill>
                </a:rPr>
                <a:t>These pairs can</a:t>
              </a:r>
              <a:br>
                <a:rPr lang="en-US" altLang="zh-TW" sz="4999" dirty="0" smtClean="0">
                  <a:solidFill>
                    <a:prstClr val="black"/>
                  </a:solidFill>
                </a:rPr>
              </a:br>
              <a:r>
                <a:rPr lang="en-US" altLang="zh-TW" sz="4999" spc="-120" dirty="0" smtClean="0">
                  <a:solidFill>
                    <a:prstClr val="black"/>
                  </a:solidFill>
                </a:rPr>
                <a:t>compare, </a:t>
              </a:r>
              <a:r>
                <a:rPr lang="en-US" altLang="zh-TW" sz="4999" spc="-120" dirty="0">
                  <a:solidFill>
                    <a:prstClr val="black"/>
                  </a:solidFill>
                </a:rPr>
                <a:t>so they’re</a:t>
              </a:r>
              <a:r>
                <a:rPr lang="en-US" altLang="zh-TW" sz="4999" dirty="0">
                  <a:solidFill>
                    <a:prstClr val="black"/>
                  </a:solidFill>
                </a:rPr>
                <a:t/>
              </a:r>
              <a:br>
                <a:rPr lang="en-US" altLang="zh-TW" sz="4999" dirty="0">
                  <a:solidFill>
                    <a:prstClr val="black"/>
                  </a:solidFill>
                </a:rPr>
              </a:br>
              <a:r>
                <a:rPr lang="en-US" altLang="zh-TW" sz="4999" dirty="0">
                  <a:solidFill>
                    <a:prstClr val="black"/>
                  </a:solidFill>
                </a:rPr>
                <a:t> only ½ different ... </a:t>
              </a:r>
              <a:endParaRPr lang="zh-TW" altLang="en-US" sz="4999" dirty="0">
                <a:solidFill>
                  <a:prstClr val="black"/>
                </a:solidFill>
              </a:endParaRPr>
            </a:p>
          </p:txBody>
        </p:sp>
        <p:sp>
          <p:nvSpPr>
            <p:cNvPr id="10" name="Isosceles Triangle 9"/>
            <p:cNvSpPr/>
            <p:nvPr/>
          </p:nvSpPr>
          <p:spPr>
            <a:xfrm rot="16501470">
              <a:off x="3745283" y="4842719"/>
              <a:ext cx="504743" cy="775218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F2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/>
              <a:endParaRPr lang="zh-TW" altLang="en-US" sz="1666">
                <a:solidFill>
                  <a:prstClr val="white"/>
                </a:solidFill>
              </a:endParaRPr>
            </a:p>
          </p:txBody>
        </p:sp>
      </p:grpSp>
      <p:sp>
        <p:nvSpPr>
          <p:cNvPr id="24" name="Content Placeholder 2"/>
          <p:cNvSpPr txBox="1">
            <a:spLocks/>
          </p:cNvSpPr>
          <p:nvPr/>
        </p:nvSpPr>
        <p:spPr>
          <a:xfrm>
            <a:off x="3663155" y="17070"/>
            <a:ext cx="6071048" cy="28023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txBody>
          <a:bodyPr vert="horz" lIns="84659" tIns="42330" rIns="84659" bIns="42330" rtlCol="0">
            <a:noAutofit/>
          </a:bodyPr>
          <a:lstStyle>
            <a:lvl1pPr marL="197175" indent="-197175" algn="l" defTabSz="788697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524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872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80221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4570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8918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3267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7616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51965" indent="-197175" algn="l" defTabSz="788697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spc="-278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srgbClr val="FF6969"/>
                </a:solidFill>
                <a:latin typeface="Lucida Console" panose="020B0609040504020204" pitchFamily="49" charset="0"/>
              </a:rPr>
              <a:t>#In Python, </a:t>
            </a:r>
            <a:r>
              <a:rPr lang="en-US" altLang="zh-TW" sz="222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spc="-37" dirty="0">
                <a:solidFill>
                  <a:srgbClr val="FF6969"/>
                </a:solidFill>
                <a:latin typeface="Lucida Console" panose="020B0609040504020204" pitchFamily="49" charset="0"/>
              </a:rPr>
              <a:t> comparable: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spc="-278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prstClr val="black"/>
                </a:solidFill>
                <a:latin typeface="Lucida Console" panose="020B0609040504020204" pitchFamily="49" charset="0"/>
              </a:rPr>
              <a:t>lis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222" spc="-37" dirty="0">
                <a:solidFill>
                  <a:prstClr val="black"/>
                </a:solidFill>
                <a:latin typeface="Lucida Console" panose="020B0609040504020204" pitchFamily="49" charset="0"/>
              </a:rPr>
              <a:t>rang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e(9))</a:t>
            </a:r>
            <a:r>
              <a:rPr lang="en-US" altLang="zh-TW" sz="2222" spc="-37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TW" sz="2222" spc="-37" dirty="0">
                <a:solidFill>
                  <a:prstClr val="black"/>
                </a:solidFill>
                <a:latin typeface="Lucida Console" panose="020B0609040504020204" pitchFamily="49" charset="0"/>
              </a:rPr>
              <a:t>tupl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e(</a:t>
            </a:r>
            <a:r>
              <a:rPr lang="en-US" altLang="zh-TW" sz="2222" spc="-37" dirty="0">
                <a:solidFill>
                  <a:prstClr val="black"/>
                </a:solidFill>
                <a:latin typeface="Lucida Console" panose="020B0609040504020204" pitchFamily="49" charset="0"/>
              </a:rPr>
              <a:t>rang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e(9))</a:t>
            </a:r>
            <a:endParaRPr lang="en-US" altLang="zh-TW" sz="2222" spc="-37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b="1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spc="-278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srgbClr val="FF6969"/>
                </a:solidFill>
                <a:latin typeface="Lucida Console" panose="020B0609040504020204" pitchFamily="49" charset="0"/>
              </a:rPr>
              <a:t>#In Python, comparable: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spc="-278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prstClr val="black"/>
                </a:solidFill>
                <a:latin typeface="Lucida Console" panose="020B0609040504020204" pitchFamily="49" charset="0"/>
              </a:rPr>
              <a:t>se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t(</a:t>
            </a:r>
            <a:r>
              <a:rPr lang="en-US" altLang="zh-TW" sz="2222" spc="-37" dirty="0">
                <a:solidFill>
                  <a:prstClr val="black"/>
                </a:solidFill>
                <a:latin typeface="Lucida Console" panose="020B0609040504020204" pitchFamily="49" charset="0"/>
              </a:rPr>
              <a:t>rang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e(9))</a:t>
            </a:r>
            <a:r>
              <a:rPr lang="en-US" altLang="zh-TW" sz="2222" spc="-37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TW" sz="2222" spc="-37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frozense</a:t>
            </a:r>
            <a:r>
              <a:rPr lang="en-US" altLang="zh-TW" sz="2222" spc="-27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spc="-37" dirty="0">
                <a:solidFill>
                  <a:prstClr val="black"/>
                </a:solidFill>
                <a:latin typeface="Lucida Console" panose="020B0609040504020204" pitchFamily="49" charset="0"/>
              </a:rPr>
              <a:t>rang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e(9))</a:t>
            </a:r>
            <a:endParaRPr lang="en-US" altLang="zh-TW" sz="2222" spc="-37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b="1" spc="-37" dirty="0">
                <a:solidFill>
                  <a:srgbClr val="00660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spc="-278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srgbClr val="FF6969"/>
                </a:solidFill>
                <a:latin typeface="Lucida Console" panose="020B0609040504020204" pitchFamily="49" charset="0"/>
              </a:rPr>
              <a:t>#In Python, comparable: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spc="-278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111" dirty="0">
                <a:solidFill>
                  <a:prstClr val="black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222" spc="-37" dirty="0">
                <a:solidFill>
                  <a:prstClr val="black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222" spc="-93" dirty="0">
                <a:solidFill>
                  <a:prstClr val="black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spc="-111" dirty="0">
                <a:solidFill>
                  <a:prstClr val="black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s(</a:t>
            </a:r>
            <a:r>
              <a:rPr lang="en-US" altLang="zh-TW" sz="2222" spc="-111" dirty="0">
                <a:solidFill>
                  <a:prstClr val="black"/>
                </a:solidFill>
                <a:latin typeface="Lucida Console" panose="020B0609040504020204" pitchFamily="49" charset="0"/>
              </a:rPr>
              <a:t>ran</a:t>
            </a:r>
            <a:r>
              <a:rPr lang="en-US" altLang="zh-TW" sz="2222" spc="-37" dirty="0">
                <a:solidFill>
                  <a:prstClr val="black"/>
                </a:solidFill>
                <a:latin typeface="Lucida Console" panose="020B0609040504020204" pitchFamily="49" charset="0"/>
              </a:rPr>
              <a:t>g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e(9))</a:t>
            </a:r>
            <a:r>
              <a:rPr lang="en-US" altLang="zh-TW" sz="2222" spc="-37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==</a:t>
            </a:r>
            <a:r>
              <a:rPr lang="en-US" altLang="zh-TW" sz="2222" spc="-11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222" spc="-37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222" spc="-93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spc="-37" dirty="0" err="1">
                <a:solidFill>
                  <a:prstClr val="black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spc="-11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arra</a:t>
            </a:r>
            <a:r>
              <a:rPr lang="en-US" altLang="zh-TW" sz="2222" spc="-278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spc="-111" dirty="0">
                <a:solidFill>
                  <a:prstClr val="black"/>
                </a:solidFill>
                <a:latin typeface="Lucida Console" panose="020B0609040504020204" pitchFamily="49" charset="0"/>
              </a:rPr>
              <a:t>ran</a:t>
            </a:r>
            <a:r>
              <a:rPr lang="en-US" altLang="zh-TW" sz="2222" spc="-37" dirty="0">
                <a:solidFill>
                  <a:prstClr val="black"/>
                </a:solidFill>
                <a:latin typeface="Lucida Console" panose="020B0609040504020204" pitchFamily="49" charset="0"/>
              </a:rPr>
              <a:t>g</a:t>
            </a:r>
            <a:r>
              <a:rPr lang="en-US" altLang="zh-TW" sz="2222" spc="-278" dirty="0">
                <a:solidFill>
                  <a:prstClr val="black"/>
                </a:solidFill>
                <a:latin typeface="Lucida Console" panose="020B0609040504020204" pitchFamily="49" charset="0"/>
              </a:rPr>
              <a:t>e(9))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b="1" spc="-37" dirty="0">
                <a:solidFill>
                  <a:srgbClr val="00660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222" spc="-278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spc="-37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Rounded Rectangular Callout 30"/>
          <p:cNvSpPr/>
          <p:nvPr/>
        </p:nvSpPr>
        <p:spPr>
          <a:xfrm>
            <a:off x="947" y="35272"/>
            <a:ext cx="3156930" cy="2172867"/>
          </a:xfrm>
          <a:prstGeom prst="wedgeRoundRectCallout">
            <a:avLst>
              <a:gd name="adj1" fmla="val -25085"/>
              <a:gd name="adj2" fmla="val 67274"/>
              <a:gd name="adj3" fmla="val 16667"/>
            </a:avLst>
          </a:prstGeom>
          <a:solidFill>
            <a:srgbClr val="FFF2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846552">
              <a:lnSpc>
                <a:spcPct val="70000"/>
              </a:lnSpc>
            </a:pPr>
            <a:r>
              <a:rPr lang="en-US" altLang="zh-TW" sz="4999" spc="-56" dirty="0">
                <a:solidFill>
                  <a:srgbClr val="FF0000"/>
                </a:solidFill>
              </a:rPr>
              <a:t>Can’t </a:t>
            </a:r>
            <a:br>
              <a:rPr lang="en-US" altLang="zh-TW" sz="4999" spc="-56" dirty="0">
                <a:solidFill>
                  <a:srgbClr val="FF0000"/>
                </a:solidFill>
              </a:rPr>
            </a:br>
            <a:r>
              <a:rPr lang="en-US" altLang="zh-TW" sz="4999" spc="-56" dirty="0">
                <a:solidFill>
                  <a:srgbClr val="FF0000"/>
                </a:solidFill>
              </a:rPr>
              <a:t> </a:t>
            </a:r>
            <a:r>
              <a:rPr lang="en-US" altLang="zh-TW" sz="4999" spc="-83" dirty="0">
                <a:solidFill>
                  <a:srgbClr val="FF0000"/>
                </a:solidFill>
              </a:rPr>
              <a:t>compare</a:t>
            </a:r>
            <a:r>
              <a:rPr lang="en-US" altLang="zh-TW" sz="4999" spc="-83" dirty="0">
                <a:solidFill>
                  <a:prstClr val="black"/>
                </a:solidFill>
              </a:rPr>
              <a:t>, so </a:t>
            </a:r>
          </a:p>
          <a:p>
            <a:pPr algn="ctr" defTabSz="846552">
              <a:lnSpc>
                <a:spcPct val="70000"/>
              </a:lnSpc>
            </a:pPr>
            <a:r>
              <a:rPr lang="en-US" altLang="zh-TW" sz="4999" spc="-56" dirty="0">
                <a:solidFill>
                  <a:srgbClr val="FFC000"/>
                </a:solidFill>
              </a:rPr>
              <a:t>numbered </a:t>
            </a:r>
            <a:br>
              <a:rPr lang="en-US" altLang="zh-TW" sz="4999" spc="-56" dirty="0">
                <a:solidFill>
                  <a:srgbClr val="FFC000"/>
                </a:solidFill>
              </a:rPr>
            </a:br>
            <a:r>
              <a:rPr lang="en-US" altLang="zh-TW" sz="4999" spc="-56" dirty="0">
                <a:solidFill>
                  <a:srgbClr val="FFC000"/>
                </a:solidFill>
              </a:rPr>
              <a:t>separately</a:t>
            </a:r>
            <a:r>
              <a:rPr lang="en-US" altLang="zh-TW" sz="4999" spc="-56" dirty="0">
                <a:solidFill>
                  <a:prstClr val="black"/>
                </a:solidFill>
              </a:rPr>
              <a:t>.</a:t>
            </a:r>
            <a:endParaRPr lang="zh-TW" altLang="en-US" sz="4999" dirty="0">
              <a:solidFill>
                <a:prstClr val="black"/>
              </a:solidFill>
            </a:endParaRPr>
          </a:p>
        </p:txBody>
      </p:sp>
      <p:sp>
        <p:nvSpPr>
          <p:cNvPr id="4" name="Isosceles Triangle 3"/>
          <p:cNvSpPr/>
          <p:nvPr/>
        </p:nvSpPr>
        <p:spPr>
          <a:xfrm rot="2015443">
            <a:off x="2093763" y="525856"/>
            <a:ext cx="1066869" cy="4676150"/>
          </a:xfrm>
          <a:prstGeom prst="triangle">
            <a:avLst/>
          </a:prstGeom>
          <a:solidFill>
            <a:srgbClr val="BDD7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6552"/>
            <a:endParaRPr lang="zh-TW" altLang="en-US" sz="1666">
              <a:solidFill>
                <a:prstClr val="white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610046" y="4695576"/>
            <a:ext cx="5814131" cy="1958539"/>
            <a:chOff x="3610046" y="4695576"/>
            <a:chExt cx="5814131" cy="1958539"/>
          </a:xfrm>
        </p:grpSpPr>
        <p:sp>
          <p:nvSpPr>
            <p:cNvPr id="32" name="Rounded Rectangular Callout 31"/>
            <p:cNvSpPr/>
            <p:nvPr/>
          </p:nvSpPr>
          <p:spPr>
            <a:xfrm>
              <a:off x="4321097" y="4695576"/>
              <a:ext cx="5103080" cy="1958539"/>
            </a:xfrm>
            <a:prstGeom prst="wedgeRoundRectCallout">
              <a:avLst>
                <a:gd name="adj1" fmla="val -111167"/>
                <a:gd name="adj2" fmla="val -41058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>
                <a:lnSpc>
                  <a:spcPct val="80000"/>
                </a:lnSpc>
              </a:pPr>
              <a:r>
                <a:rPr lang="en-US" altLang="zh-TW" sz="4999" dirty="0">
                  <a:solidFill>
                    <a:prstClr val="black"/>
                  </a:solidFill>
                </a:rPr>
                <a:t>This similarity is indicated by how I numbered them... </a:t>
              </a:r>
              <a:endParaRPr lang="zh-TW" altLang="en-US" sz="4999" dirty="0">
                <a:solidFill>
                  <a:prstClr val="black"/>
                </a:solidFill>
              </a:endParaRPr>
            </a:p>
          </p:txBody>
        </p:sp>
        <p:sp>
          <p:nvSpPr>
            <p:cNvPr id="33" name="Rounded Rectangular Callout 32"/>
            <p:cNvSpPr/>
            <p:nvPr/>
          </p:nvSpPr>
          <p:spPr>
            <a:xfrm>
              <a:off x="4321097" y="4695576"/>
              <a:ext cx="5103080" cy="1958539"/>
            </a:xfrm>
            <a:prstGeom prst="wedgeRoundRectCallout">
              <a:avLst>
                <a:gd name="adj1" fmla="val -112549"/>
                <a:gd name="adj2" fmla="val 10573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>
                <a:lnSpc>
                  <a:spcPct val="80000"/>
                </a:lnSpc>
              </a:pPr>
              <a:r>
                <a:rPr lang="en-US" altLang="zh-TW" sz="4999" dirty="0" smtClean="0">
                  <a:solidFill>
                    <a:prstClr val="black"/>
                  </a:solidFill>
                </a:rPr>
                <a:t>This similarity is indicated by how I numbered them... </a:t>
              </a:r>
              <a:endParaRPr lang="zh-TW" altLang="en-US" sz="4999" dirty="0">
                <a:solidFill>
                  <a:prstClr val="black"/>
                </a:solidFill>
              </a:endParaRPr>
            </a:p>
          </p:txBody>
        </p:sp>
        <p:sp>
          <p:nvSpPr>
            <p:cNvPr id="34" name="Isosceles Triangle 33"/>
            <p:cNvSpPr/>
            <p:nvPr/>
          </p:nvSpPr>
          <p:spPr>
            <a:xfrm rot="16501470">
              <a:off x="3745283" y="4842719"/>
              <a:ext cx="504743" cy="775218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F2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6552"/>
              <a:endParaRPr lang="zh-TW" altLang="en-US" sz="1666">
                <a:solidFill>
                  <a:prstClr val="white"/>
                </a:solidFill>
              </a:endParaRPr>
            </a:p>
          </p:txBody>
        </p:sp>
      </p:grpSp>
      <p:sp>
        <p:nvSpPr>
          <p:cNvPr id="22" name="Rounded Rectangular Callout 21"/>
          <p:cNvSpPr/>
          <p:nvPr/>
        </p:nvSpPr>
        <p:spPr>
          <a:xfrm>
            <a:off x="4710332" y="4441719"/>
            <a:ext cx="5026446" cy="2337445"/>
          </a:xfrm>
          <a:prstGeom prst="wedgeRoundRectCallout">
            <a:avLst>
              <a:gd name="adj1" fmla="val -32796"/>
              <a:gd name="adj2" fmla="val -94173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846552">
              <a:lnSpc>
                <a:spcPct val="70000"/>
              </a:lnSpc>
            </a:pPr>
            <a:r>
              <a:rPr lang="en-US" altLang="zh-TW" sz="4999" spc="-56" dirty="0">
                <a:solidFill>
                  <a:prstClr val="black"/>
                </a:solidFill>
              </a:rPr>
              <a:t>Wel</a:t>
            </a:r>
            <a:r>
              <a:rPr lang="en-US" altLang="zh-TW" sz="4999" spc="-278" dirty="0">
                <a:solidFill>
                  <a:prstClr val="black"/>
                </a:solidFill>
              </a:rPr>
              <a:t>l</a:t>
            </a:r>
            <a:r>
              <a:rPr lang="en-US" altLang="zh-TW" sz="4999" spc="-56" dirty="0">
                <a:solidFill>
                  <a:prstClr val="black"/>
                </a:solidFill>
              </a:rPr>
              <a:t>,</a:t>
            </a:r>
            <a:r>
              <a:rPr lang="en-US" altLang="zh-TW" sz="2963" spc="-56" dirty="0">
                <a:solidFill>
                  <a:prstClr val="black"/>
                </a:solidFill>
              </a:rPr>
              <a:t> </a:t>
            </a:r>
            <a:r>
              <a:rPr lang="en-US" altLang="zh-TW" sz="4999" i="1" spc="-56" dirty="0">
                <a:solidFill>
                  <a:prstClr val="black"/>
                </a:solidFill>
              </a:rPr>
              <a:t>comparable </a:t>
            </a:r>
            <a:r>
              <a:rPr lang="en-US" altLang="zh-TW" sz="4999" spc="-56" dirty="0">
                <a:solidFill>
                  <a:prstClr val="black"/>
                </a:solidFill>
              </a:rPr>
              <a:t>in</a:t>
            </a:r>
            <a:br>
              <a:rPr lang="en-US" altLang="zh-TW" sz="4999" spc="-56" dirty="0">
                <a:solidFill>
                  <a:prstClr val="black"/>
                </a:solidFill>
              </a:rPr>
            </a:br>
            <a:r>
              <a:rPr lang="en-US" altLang="zh-TW" sz="4999" dirty="0">
                <a:solidFill>
                  <a:prstClr val="black"/>
                </a:solidFill>
              </a:rPr>
              <a:t> the sense of the</a:t>
            </a:r>
            <a:br>
              <a:rPr lang="en-US" altLang="zh-TW" sz="4999" dirty="0">
                <a:solidFill>
                  <a:prstClr val="black"/>
                </a:solidFill>
              </a:rPr>
            </a:br>
            <a:r>
              <a:rPr lang="en-US" altLang="zh-TW" sz="4999" dirty="0">
                <a:solidFill>
                  <a:prstClr val="black"/>
                </a:solidFill>
              </a:rPr>
              <a:t> word’s common </a:t>
            </a:r>
            <a:br>
              <a:rPr lang="en-US" altLang="zh-TW" sz="4999" dirty="0">
                <a:solidFill>
                  <a:prstClr val="black"/>
                </a:solidFill>
              </a:rPr>
            </a:br>
            <a:r>
              <a:rPr lang="en-US" altLang="zh-TW" sz="4999" dirty="0">
                <a:solidFill>
                  <a:prstClr val="black"/>
                </a:solidFill>
              </a:rPr>
              <a:t>English meaning...</a:t>
            </a:r>
            <a:endParaRPr lang="zh-TW" altLang="en-US" sz="4999" dirty="0">
              <a:solidFill>
                <a:prstClr val="black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2009" y="4441719"/>
            <a:ext cx="4222846" cy="2342632"/>
          </a:xfrm>
          <a:prstGeom prst="roundRect">
            <a:avLst/>
          </a:prstGeom>
          <a:solidFill>
            <a:srgbClr val="BDD7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846552">
              <a:lnSpc>
                <a:spcPct val="70000"/>
              </a:lnSpc>
            </a:pPr>
            <a:r>
              <a:rPr lang="en-US" altLang="zh-TW" sz="4999" spc="-56" dirty="0">
                <a:solidFill>
                  <a:prstClr val="black"/>
                </a:solidFill>
              </a:rPr>
              <a:t>But in the sense</a:t>
            </a:r>
          </a:p>
          <a:p>
            <a:pPr algn="ctr" defTabSz="846552">
              <a:lnSpc>
                <a:spcPct val="70000"/>
              </a:lnSpc>
            </a:pPr>
            <a:r>
              <a:rPr lang="en-US" altLang="zh-TW" sz="4999" spc="-111" dirty="0">
                <a:solidFill>
                  <a:prstClr val="black"/>
                </a:solidFill>
              </a:rPr>
              <a:t>of </a:t>
            </a:r>
            <a:r>
              <a:rPr lang="en-US" altLang="zh-TW" sz="4999" spc="-74" dirty="0">
                <a:solidFill>
                  <a:prstClr val="black"/>
                </a:solidFill>
              </a:rPr>
              <a:t>Py</a:t>
            </a:r>
            <a:r>
              <a:rPr lang="en-US" altLang="zh-TW" sz="4999" spc="-111" dirty="0">
                <a:solidFill>
                  <a:prstClr val="black"/>
                </a:solidFill>
              </a:rPr>
              <a:t>t</a:t>
            </a:r>
            <a:r>
              <a:rPr lang="en-US" altLang="zh-TW" sz="4999" spc="-204" dirty="0">
                <a:solidFill>
                  <a:prstClr val="black"/>
                </a:solidFill>
              </a:rPr>
              <a:t>ho</a:t>
            </a:r>
            <a:r>
              <a:rPr lang="en-US" altLang="zh-TW" sz="4999" spc="-278" dirty="0">
                <a:solidFill>
                  <a:prstClr val="black"/>
                </a:solidFill>
              </a:rPr>
              <a:t>n</a:t>
            </a:r>
            <a:r>
              <a:rPr lang="en-US" altLang="zh-TW" sz="4999" spc="-111" dirty="0">
                <a:solidFill>
                  <a:prstClr val="black"/>
                </a:solidFill>
              </a:rPr>
              <a:t>,</a:t>
            </a:r>
            <a:r>
              <a:rPr lang="en-US" altLang="zh-TW" sz="4074" spc="-111" dirty="0">
                <a:solidFill>
                  <a:prstClr val="black"/>
                </a:solidFill>
              </a:rPr>
              <a:t> </a:t>
            </a:r>
            <a:r>
              <a:rPr lang="en-US" altLang="zh-TW" sz="4999" spc="-111" dirty="0">
                <a:solidFill>
                  <a:prstClr val="black"/>
                </a:solidFill>
              </a:rPr>
              <a:t>lists</a:t>
            </a:r>
            <a:r>
              <a:rPr lang="en-US" altLang="zh-TW" sz="4074" spc="-111" dirty="0">
                <a:solidFill>
                  <a:prstClr val="black"/>
                </a:solidFill>
              </a:rPr>
              <a:t> </a:t>
            </a:r>
            <a:r>
              <a:rPr lang="en-US" altLang="zh-TW" sz="4999" spc="-111" dirty="0">
                <a:solidFill>
                  <a:prstClr val="black"/>
                </a:solidFill>
              </a:rPr>
              <a:t>&amp;</a:t>
            </a:r>
          </a:p>
          <a:p>
            <a:pPr algn="ctr" defTabSz="846552">
              <a:lnSpc>
                <a:spcPct val="70000"/>
              </a:lnSpc>
            </a:pPr>
            <a:r>
              <a:rPr lang="en-US" altLang="zh-TW" sz="4999" spc="-56" dirty="0">
                <a:solidFill>
                  <a:prstClr val="black"/>
                </a:solidFill>
              </a:rPr>
              <a:t> tuples are not</a:t>
            </a:r>
          </a:p>
          <a:p>
            <a:pPr algn="ctr" defTabSz="846552">
              <a:lnSpc>
                <a:spcPct val="70000"/>
              </a:lnSpc>
            </a:pPr>
            <a:r>
              <a:rPr lang="en-US" altLang="zh-TW" sz="2963" spc="-56" dirty="0">
                <a:solidFill>
                  <a:prstClr val="black"/>
                </a:solidFill>
              </a:rPr>
              <a:t> </a:t>
            </a:r>
            <a:r>
              <a:rPr lang="en-US" altLang="zh-TW" sz="4999" i="1" spc="-56" dirty="0">
                <a:solidFill>
                  <a:prstClr val="black"/>
                </a:solidFill>
              </a:rPr>
              <a:t>comparable.</a:t>
            </a:r>
            <a:endParaRPr lang="zh-TW" altLang="en-US" sz="4999" dirty="0">
              <a:solidFill>
                <a:prstClr val="black"/>
              </a:solidFill>
            </a:endParaRPr>
          </a:p>
        </p:txBody>
      </p:sp>
      <p:sp>
        <p:nvSpPr>
          <p:cNvPr id="27" name="Isosceles Triangle 26"/>
          <p:cNvSpPr/>
          <p:nvPr/>
        </p:nvSpPr>
        <p:spPr>
          <a:xfrm>
            <a:off x="894743" y="3539867"/>
            <a:ext cx="1218355" cy="954834"/>
          </a:xfrm>
          <a:prstGeom prst="triangle">
            <a:avLst>
              <a:gd name="adj" fmla="val 100000"/>
            </a:avLst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6552"/>
            <a:endParaRPr lang="zh-TW" altLang="en-US" sz="1666">
              <a:solidFill>
                <a:prstClr val="white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2133600" y="535388"/>
            <a:ext cx="1611744" cy="1704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55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4" presetClass="exit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31" grpId="0" animBg="1"/>
      <p:bldP spid="4" grpId="0" animBg="1"/>
      <p:bldP spid="4" grpId="1" animBg="1"/>
      <p:bldP spid="22" grpId="0" animBg="1"/>
      <p:bldP spid="22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40263" y="640080"/>
            <a:ext cx="4800600" cy="60198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963" dirty="0">
                <a:solidFill>
                  <a:schemeClr val="accent2"/>
                </a:solidFill>
              </a:rPr>
              <a:t>Singleton objects: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2" dirty="0">
                <a:latin typeface="Lucida Console" panose="020B0609040504020204" pitchFamily="49" charset="0"/>
              </a:rPr>
              <a:t> 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L=</a:t>
            </a:r>
            <a:r>
              <a:rPr lang="en-US" sz="2592" b="1" dirty="0">
                <a:latin typeface="Lucida Console" panose="020B0609040504020204" pitchFamily="49" charset="0"/>
              </a:rPr>
              <a:t>[1]</a:t>
            </a:r>
            <a:r>
              <a:rPr lang="en-US" sz="2592" dirty="0">
                <a:latin typeface="Lucida Console" panose="020B0609040504020204" pitchFamily="49" charset="0"/>
              </a:rPr>
              <a:t/>
            </a:r>
            <a:br>
              <a:rPr lang="en-US" sz="2592" dirty="0">
                <a:latin typeface="Lucida Console" panose="020B0609040504020204" pitchFamily="49" charset="0"/>
              </a:rPr>
            </a:br>
            <a:r>
              <a:rPr lang="en-US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2" dirty="0">
                <a:latin typeface="Lucida Console" panose="020B0609040504020204" pitchFamily="49" charset="0"/>
              </a:rPr>
              <a:t> 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T=</a:t>
            </a:r>
            <a:r>
              <a:rPr lang="en-US" sz="2592" b="1" dirty="0">
                <a:latin typeface="Lucida Console" panose="020B0609040504020204" pitchFamily="49" charset="0"/>
              </a:rPr>
              <a:t>(1</a:t>
            </a:r>
            <a:r>
              <a:rPr lang="en-US" sz="2592" b="1" dirty="0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  <a:r>
              <a:rPr lang="en-US" sz="2592" b="1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592" dirty="0">
                <a:latin typeface="Lucida Console" panose="020B0609040504020204" pitchFamily="49" charset="0"/>
              </a:rPr>
              <a:t> </a:t>
            </a:r>
            <a:r>
              <a:rPr lang="en-US" altLang="zh-TW" sz="2592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592" b="1" dirty="0">
                <a:latin typeface="Lucida Console" panose="020B0609040504020204" pitchFamily="49" charset="0"/>
              </a:rPr>
              <a:t>"1"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2" dirty="0">
                <a:latin typeface="Lucida Console" panose="020B0609040504020204" pitchFamily="49" charset="0"/>
              </a:rPr>
              <a:t> 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D=</a:t>
            </a:r>
            <a:r>
              <a:rPr lang="en-US" sz="2592" b="1" dirty="0">
                <a:latin typeface="Lucida Console" panose="020B0609040504020204" pitchFamily="49" charset="0"/>
              </a:rPr>
              <a:t>{1:1}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2" dirty="0">
                <a:latin typeface="Lucida Console" panose="020B0609040504020204" pitchFamily="49" charset="0"/>
              </a:rPr>
              <a:t> 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S=</a:t>
            </a:r>
            <a:r>
              <a:rPr lang="en-US" sz="2592" b="1" dirty="0">
                <a:latin typeface="Lucida Console" panose="020B0609040504020204" pitchFamily="49" charset="0"/>
              </a:rPr>
              <a:t>{1}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altLang="zh-TW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F=</a:t>
            </a:r>
            <a:r>
              <a:rPr lang="en-US" altLang="zh-TW" sz="2592" b="1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2592" b="1" dirty="0">
                <a:latin typeface="Lucida Console" panose="020B0609040504020204" pitchFamily="49" charset="0"/>
              </a:rPr>
              <a:t>([1]) </a:t>
            </a:r>
            <a:r>
              <a:rPr lang="en-US" altLang="zh-TW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592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B=</a:t>
            </a:r>
            <a:r>
              <a:rPr lang="en-US" altLang="zh-TW" sz="2592" b="1" dirty="0" smtClean="0">
                <a:latin typeface="Lucida Console" panose="020B0609040504020204" pitchFamily="49" charset="0"/>
              </a:rPr>
              <a:t>b"1"</a:t>
            </a:r>
            <a:r>
              <a:rPr lang="en-US" altLang="zh-TW" sz="2592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altLang="zh-TW" sz="2592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592" dirty="0">
                <a:solidFill>
                  <a:schemeClr val="tx1"/>
                </a:solidFill>
                <a:latin typeface="Lucida Console" panose="020B0609040504020204" pitchFamily="49" charset="0"/>
              </a:rPr>
              <a:t>BA=</a:t>
            </a:r>
            <a:r>
              <a:rPr lang="en-US" altLang="zh-TW" sz="2592" b="1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592" b="1" dirty="0">
                <a:latin typeface="Lucida Console" panose="020B0609040504020204" pitchFamily="49" charset="0"/>
              </a:rPr>
              <a:t>(B)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2" dirty="0">
                <a:latin typeface="Lucida Console" panose="020B0609040504020204" pitchFamily="49" charset="0"/>
              </a:rPr>
              <a:t> 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sz="2592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L,T,Str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sz="2592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D,S,B,BA,sep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=",")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592" b="1" dirty="0">
                <a:latin typeface="Lucida Console" panose="020B0609040504020204" pitchFamily="49" charset="0"/>
              </a:rPr>
              <a:t>[1]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592" b="1" dirty="0">
                <a:latin typeface="Lucida Console" panose="020B0609040504020204" pitchFamily="49" charset="0"/>
              </a:rPr>
              <a:t>(1,)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592" b="1" dirty="0">
                <a:latin typeface="Lucida Console" panose="020B0609040504020204" pitchFamily="49" charset="0"/>
              </a:rPr>
              <a:t>1</a:t>
            </a:r>
            <a:r>
              <a:rPr lang="en-US" altLang="zh-TW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592" b="1" dirty="0">
                <a:latin typeface="Lucida Console" panose="020B0609040504020204" pitchFamily="49" charset="0"/>
              </a:rPr>
              <a:t>{1: 1}</a:t>
            </a:r>
            <a:r>
              <a:rPr lang="en-US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sz="2592" b="1" dirty="0">
                <a:latin typeface="Lucida Console" panose="020B0609040504020204" pitchFamily="49" charset="0"/>
              </a:rPr>
              <a:t>{1}</a:t>
            </a:r>
            <a:r>
              <a:rPr lang="en-US" altLang="zh-TW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592" b="1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2592" b="1" dirty="0">
                <a:latin typeface="Lucida Console" panose="020B0609040504020204" pitchFamily="49" charset="0"/>
              </a:rPr>
              <a:t>([1])</a:t>
            </a:r>
            <a:r>
              <a:rPr lang="en-US" altLang="zh-TW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592" b="1" dirty="0">
                <a:latin typeface="Lucida Console" panose="020B0609040504020204" pitchFamily="49" charset="0"/>
              </a:rPr>
              <a:t>b'1'</a:t>
            </a:r>
            <a:r>
              <a:rPr lang="en-US" altLang="zh-TW" sz="2592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592" b="1" dirty="0">
                <a:latin typeface="Lucida Console" panose="020B0609040504020204" pitchFamily="49" charset="0"/>
              </a:rPr>
              <a:t> </a:t>
            </a:r>
            <a:r>
              <a:rPr lang="en-US" altLang="zh-TW" sz="2592" b="1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592" b="1" dirty="0">
                <a:latin typeface="Lucida Console" panose="020B0609040504020204" pitchFamily="49" charset="0"/>
              </a:rPr>
              <a:t>(b'1')</a:t>
            </a:r>
            <a:endParaRPr lang="en-US" sz="2592" b="1" dirty="0"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sz="2592" dirty="0">
              <a:latin typeface="Lucida Console" panose="020B0609040504020204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96862" y="640080"/>
            <a:ext cx="43434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spcBef>
                <a:spcPts val="300"/>
              </a:spcBef>
              <a:buNone/>
            </a:pPr>
            <a:r>
              <a:rPr lang="en-US" sz="2963" kern="0" dirty="0">
                <a:solidFill>
                  <a:srgbClr val="ED7D31"/>
                </a:solidFill>
              </a:rPr>
              <a:t>Empty objects:</a:t>
            </a:r>
          </a:p>
          <a:p>
            <a:pPr marL="0" indent="0" defTabSz="846552">
              <a:spcBef>
                <a:spcPts val="300"/>
              </a:spcBef>
              <a:buNone/>
            </a:pPr>
            <a:r>
              <a:rPr lang="en-US" sz="2592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L=</a:t>
            </a:r>
            <a:r>
              <a:rPr lang="en-US" sz="2592" b="1" kern="0" dirty="0">
                <a:latin typeface="Lucida Console" panose="020B0609040504020204" pitchFamily="49" charset="0"/>
              </a:rPr>
              <a:t>[]</a:t>
            </a:r>
            <a:r>
              <a:rPr lang="en-US" sz="2592" kern="0" dirty="0">
                <a:latin typeface="Lucida Console" panose="020B0609040504020204" pitchFamily="49" charset="0"/>
              </a:rPr>
              <a:t/>
            </a:r>
            <a:br>
              <a:rPr lang="en-US" sz="2592" kern="0" dirty="0">
                <a:latin typeface="Lucida Console" panose="020B0609040504020204" pitchFamily="49" charset="0"/>
              </a:rPr>
            </a:br>
            <a:r>
              <a:rPr lang="en-US" sz="2592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T=</a:t>
            </a:r>
            <a:r>
              <a:rPr lang="en-US" sz="2592" b="1" kern="0" dirty="0">
                <a:latin typeface="Lucida Console" panose="020B0609040504020204" pitchFamily="49" charset="0"/>
              </a:rPr>
              <a:t>()</a:t>
            </a:r>
          </a:p>
          <a:p>
            <a:pPr marL="0" indent="0" defTabSz="846552">
              <a:spcBef>
                <a:spcPts val="300"/>
              </a:spcBef>
              <a:buNone/>
            </a:pPr>
            <a:r>
              <a:rPr lang="en-US" altLang="zh-TW" sz="2592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592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592" b="1" kern="0" dirty="0">
                <a:latin typeface="Lucida Console" panose="020B0609040504020204" pitchFamily="49" charset="0"/>
              </a:rPr>
              <a:t>""</a:t>
            </a:r>
          </a:p>
          <a:p>
            <a:pPr marL="0" indent="0" defTabSz="846552">
              <a:spcBef>
                <a:spcPts val="300"/>
              </a:spcBef>
              <a:buNone/>
            </a:pPr>
            <a:r>
              <a:rPr lang="en-US" sz="2592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D=</a:t>
            </a:r>
            <a:r>
              <a:rPr lang="en-US" sz="2592" b="1" kern="0" dirty="0">
                <a:latin typeface="Lucida Console" panose="020B0609040504020204" pitchFamily="49" charset="0"/>
              </a:rPr>
              <a:t>{}</a:t>
            </a:r>
          </a:p>
          <a:p>
            <a:pPr marL="0" indent="0" defTabSz="846552">
              <a:spcBef>
                <a:spcPts val="300"/>
              </a:spcBef>
              <a:buNone/>
            </a:pPr>
            <a:r>
              <a:rPr lang="en-US" sz="2592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S=</a:t>
            </a:r>
            <a:r>
              <a:rPr lang="en-US" sz="2592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set()</a:t>
            </a:r>
          </a:p>
          <a:p>
            <a:pPr marL="0" indent="0" defTabSz="846552">
              <a:spcBef>
                <a:spcPts val="300"/>
              </a:spcBef>
              <a:buNone/>
            </a:pPr>
            <a:r>
              <a:rPr lang="en-US" altLang="zh-TW" sz="2592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F=</a:t>
            </a:r>
            <a:r>
              <a:rPr lang="en-US" altLang="zh-TW" sz="2592" b="1" kern="0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2592" b="1" kern="0" dirty="0">
                <a:latin typeface="Lucida Console" panose="020B0609040504020204" pitchFamily="49" charset="0"/>
              </a:rPr>
              <a:t>()</a:t>
            </a:r>
            <a:endParaRPr lang="en-US" sz="2592" b="1" kern="0" dirty="0">
              <a:latin typeface="Lucida Console" panose="020B0609040504020204" pitchFamily="49" charset="0"/>
            </a:endParaRPr>
          </a:p>
          <a:p>
            <a:pPr marL="0" indent="0" defTabSz="846552">
              <a:spcBef>
                <a:spcPts val="300"/>
              </a:spcBef>
              <a:buNone/>
            </a:pPr>
            <a:r>
              <a:rPr lang="en-US" altLang="zh-TW" sz="2592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592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B=</a:t>
            </a:r>
            <a:r>
              <a:rPr lang="en-US" altLang="zh-TW" sz="2592" b="1" dirty="0" smtClean="0">
                <a:latin typeface="Lucida Console" panose="020B0609040504020204" pitchFamily="49" charset="0"/>
              </a:rPr>
              <a:t>b""</a:t>
            </a:r>
            <a:endParaRPr lang="en-US" altLang="zh-TW" sz="2592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6552">
              <a:spcBef>
                <a:spcPts val="300"/>
              </a:spcBef>
              <a:buNone/>
            </a:pPr>
            <a:r>
              <a:rPr lang="en-US" altLang="zh-TW" sz="2592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592" dirty="0">
                <a:solidFill>
                  <a:srgbClr val="000000"/>
                </a:solidFill>
                <a:latin typeface="Lucida Console" panose="020B0609040504020204" pitchFamily="49" charset="0"/>
              </a:rPr>
              <a:t>BA=</a:t>
            </a:r>
            <a:r>
              <a:rPr lang="en-US" altLang="zh-TW" sz="2592" b="1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592" b="1" dirty="0">
                <a:latin typeface="Lucida Console" panose="020B0609040504020204" pitchFamily="49" charset="0"/>
              </a:rPr>
              <a:t>(B)</a:t>
            </a:r>
          </a:p>
          <a:p>
            <a:pPr marL="0" indent="0" defTabSz="846552">
              <a:spcBef>
                <a:spcPts val="300"/>
              </a:spcBef>
              <a:buNone/>
            </a:pPr>
            <a:r>
              <a:rPr lang="en-US" sz="2592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print(</a:t>
            </a:r>
            <a:r>
              <a:rPr lang="en-US" sz="2592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L,T,Str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,</a:t>
            </a:r>
            <a:r>
              <a:rPr lang="en-US" sz="2592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\</a:t>
            </a:r>
          </a:p>
          <a:p>
            <a:pPr marL="0" indent="0" defTabSz="846552">
              <a:spcBef>
                <a:spcPts val="300"/>
              </a:spcBef>
              <a:buNone/>
            </a:pPr>
            <a:r>
              <a:rPr lang="en-US" sz="2592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...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  </a:t>
            </a:r>
            <a:r>
              <a:rPr lang="en-US" sz="2592" kern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D,S,F,sep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=",")</a:t>
            </a:r>
          </a:p>
          <a:p>
            <a:pPr marL="0" indent="0" defTabSz="846552">
              <a:spcBef>
                <a:spcPts val="300"/>
              </a:spcBef>
              <a:buNone/>
            </a:pPr>
            <a:r>
              <a:rPr lang="en-US" sz="2592" b="1" kern="0" dirty="0">
                <a:latin typeface="Lucida Console" panose="020B0609040504020204" pitchFamily="49" charset="0"/>
              </a:rPr>
              <a:t>[]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,</a:t>
            </a:r>
            <a:r>
              <a:rPr lang="en-US" sz="2592" b="1" kern="0" dirty="0">
                <a:latin typeface="Lucida Console" panose="020B0609040504020204" pitchFamily="49" charset="0"/>
              </a:rPr>
              <a:t>()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,,</a:t>
            </a:r>
            <a:r>
              <a:rPr lang="en-US" sz="2592" b="1" kern="0" dirty="0">
                <a:latin typeface="Lucida Console" panose="020B0609040504020204" pitchFamily="49" charset="0"/>
              </a:rPr>
              <a:t>{}</a:t>
            </a:r>
            <a:r>
              <a:rPr lang="en-US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,</a:t>
            </a:r>
            <a:r>
              <a:rPr lang="en-US" sz="2592" b="1" kern="0" dirty="0">
                <a:latin typeface="Lucida Console" panose="020B0609040504020204" pitchFamily="49" charset="0"/>
              </a:rPr>
              <a:t>set()</a:t>
            </a:r>
            <a:r>
              <a:rPr lang="en-US" altLang="zh-TW" sz="2592" kern="0" dirty="0">
                <a:solidFill>
                  <a:prstClr val="black">
                    <a:lumMod val="65000"/>
                    <a:lumOff val="35000"/>
                  </a:prst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592" b="1" kern="0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2592" b="1" kern="0" dirty="0">
                <a:latin typeface="Lucida Console" panose="020B0609040504020204" pitchFamily="49" charset="0"/>
              </a:rPr>
              <a:t>(</a:t>
            </a:r>
            <a:r>
              <a:rPr lang="en-US" altLang="zh-TW" sz="2592" b="1" dirty="0">
                <a:latin typeface="Lucida Console" panose="020B0609040504020204" pitchFamily="49" charset="0"/>
              </a:rPr>
              <a:t>)</a:t>
            </a:r>
            <a:r>
              <a:rPr lang="en-US" altLang="zh-TW" sz="2592" dirty="0">
                <a:solidFill>
                  <a:srgbClr val="000000">
                    <a:lumMod val="65000"/>
                    <a:lumOff val="3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592" b="1" dirty="0">
                <a:latin typeface="Lucida Console" panose="020B0609040504020204" pitchFamily="49" charset="0"/>
              </a:rPr>
              <a:t>b''</a:t>
            </a:r>
            <a:r>
              <a:rPr lang="en-US" altLang="zh-TW" sz="2592" dirty="0">
                <a:solidFill>
                  <a:srgbClr val="000000">
                    <a:lumMod val="65000"/>
                    <a:lumOff val="3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592" b="1" dirty="0">
                <a:latin typeface="Lucida Console" panose="020B0609040504020204" pitchFamily="49" charset="0"/>
              </a:rPr>
              <a:t> </a:t>
            </a:r>
            <a:r>
              <a:rPr lang="en-US" altLang="zh-TW" sz="2592" b="1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592" b="1" dirty="0">
                <a:latin typeface="Lucida Console" panose="020B0609040504020204" pitchFamily="49" charset="0"/>
              </a:rPr>
              <a:t>(b''</a:t>
            </a:r>
            <a:r>
              <a:rPr lang="en-US" altLang="zh-TW" sz="2592" b="1" kern="0" dirty="0">
                <a:latin typeface="Lucida Console" panose="020B0609040504020204" pitchFamily="49" charset="0"/>
              </a:rPr>
              <a:t>)</a:t>
            </a:r>
            <a:endParaRPr lang="en-US" sz="2592" b="1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592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5" name="Group 4"/>
          <p:cNvGrpSpPr/>
          <p:nvPr/>
        </p:nvGrpSpPr>
        <p:grpSpPr>
          <a:xfrm rot="189999">
            <a:off x="2506723" y="1965883"/>
            <a:ext cx="3895196" cy="927372"/>
            <a:chOff x="2338279" y="2551770"/>
            <a:chExt cx="3946957" cy="927372"/>
          </a:xfrm>
        </p:grpSpPr>
        <p:sp>
          <p:nvSpPr>
            <p:cNvPr id="7" name="Left-Right Arrow 6"/>
            <p:cNvSpPr/>
            <p:nvPr/>
          </p:nvSpPr>
          <p:spPr bwMode="auto">
            <a:xfrm rot="20431380">
              <a:off x="2338279" y="2852105"/>
              <a:ext cx="3946957" cy="305031"/>
            </a:xfrm>
            <a:prstGeom prst="leftRightArrow">
              <a:avLst/>
            </a:prstGeom>
            <a:solidFill>
              <a:srgbClr val="FFCCCC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846552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 bwMode="auto">
            <a:xfrm rot="20460000">
              <a:off x="3283450" y="2672398"/>
              <a:ext cx="1994049" cy="685800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655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400" dirty="0">
                  <a:solidFill>
                    <a:prstClr val="black"/>
                  </a:solidFill>
                  <a:latin typeface="Times New Roman" charset="0"/>
                </a:rPr>
                <a:t>The two special cases</a:t>
              </a:r>
            </a:p>
            <a:p>
              <a:pPr algn="ctr" defTabSz="84655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TW" altLang="en-US" sz="2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" name="Isosceles Triangle 8"/>
            <p:cNvSpPr/>
            <p:nvPr/>
          </p:nvSpPr>
          <p:spPr bwMode="auto">
            <a:xfrm rot="4344255">
              <a:off x="5224079" y="2400661"/>
              <a:ext cx="196304" cy="498522"/>
            </a:xfrm>
            <a:prstGeom prst="triangle">
              <a:avLst/>
            </a:prstGeom>
            <a:solidFill>
              <a:srgbClr val="FFCC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846552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10" name="Isosceles Triangle 9"/>
            <p:cNvSpPr/>
            <p:nvPr/>
          </p:nvSpPr>
          <p:spPr bwMode="auto">
            <a:xfrm rot="15144255">
              <a:off x="3138940" y="3131729"/>
              <a:ext cx="196304" cy="498522"/>
            </a:xfrm>
            <a:prstGeom prst="triangle">
              <a:avLst/>
            </a:prstGeom>
            <a:solidFill>
              <a:srgbClr val="FFCC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846552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1" name="Title 1"/>
          <p:cNvSpPr txBox="1">
            <a:spLocks/>
          </p:cNvSpPr>
          <p:nvPr/>
        </p:nvSpPr>
        <p:spPr bwMode="auto">
          <a:xfrm>
            <a:off x="947" y="-38100"/>
            <a:ext cx="9735831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/>
            <a:r>
              <a:rPr lang="en-US" altLang="zh-TW" sz="4400" kern="0" dirty="0">
                <a:latin typeface="Elephant" panose="02020904090505020303" pitchFamily="18" charset="0"/>
              </a:rPr>
              <a:t>W</a:t>
            </a:r>
            <a:r>
              <a:rPr lang="en-US" altLang="zh-TW" sz="4400" kern="0" dirty="0" smtClean="0">
                <a:latin typeface="Elephant" panose="02020904090505020303" pitchFamily="18" charset="0"/>
              </a:rPr>
              <a:t>ays </a:t>
            </a:r>
            <a:r>
              <a:rPr lang="en-US" altLang="zh-TW" sz="4400" kern="0" dirty="0">
                <a:latin typeface="Elephant" panose="02020904090505020303" pitchFamily="18" charset="0"/>
              </a:rPr>
              <a:t>of declaring various objects</a:t>
            </a:r>
          </a:p>
        </p:txBody>
      </p:sp>
    </p:spTree>
    <p:extLst>
      <p:ext uri="{BB962C8B-B14F-4D97-AF65-F5344CB8AC3E}">
        <p14:creationId xmlns:p14="http://schemas.microsoft.com/office/powerpoint/2010/main" val="3810209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0245" y="659337"/>
            <a:ext cx="9040416" cy="596985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3703" dirty="0"/>
              <a:t>Python has </a:t>
            </a:r>
            <a:r>
              <a:rPr lang="en-US" altLang="en-US" sz="3703" dirty="0">
                <a:solidFill>
                  <a:srgbClr val="FF0000"/>
                </a:solidFill>
              </a:rPr>
              <a:t>seven/nine</a:t>
            </a:r>
            <a:r>
              <a:rPr lang="en-US" altLang="en-US" sz="3703" dirty="0"/>
              <a:t> standard data types:</a:t>
            </a:r>
          </a:p>
          <a:p>
            <a:pPr marL="598339" indent="-509602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Number</a:t>
            </a:r>
          </a:p>
          <a:p>
            <a:pPr marL="598339" indent="-509602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String</a:t>
            </a:r>
          </a:p>
          <a:p>
            <a:pPr marL="598339" indent="-509602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List</a:t>
            </a:r>
          </a:p>
          <a:p>
            <a:pPr marL="598339" indent="-509602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Tuple</a:t>
            </a:r>
          </a:p>
          <a:p>
            <a:pPr marL="598339" indent="-509602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Dictionary</a:t>
            </a:r>
          </a:p>
          <a:p>
            <a:pPr marL="598339" indent="-509602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963" dirty="0">
                <a:latin typeface="Elephant" panose="02020904090505020303" pitchFamily="18" charset="0"/>
              </a:rPr>
              <a:t>Sets</a:t>
            </a:r>
          </a:p>
          <a:p>
            <a:pPr marL="88737" indent="0">
              <a:lnSpc>
                <a:spcPct val="100000"/>
              </a:lnSpc>
              <a:buNone/>
            </a:pPr>
            <a:r>
              <a:rPr lang="en-US" altLang="en-US" sz="2963" dirty="0">
                <a:latin typeface="Elephant" panose="02020904090505020303" pitchFamily="18" charset="0"/>
              </a:rPr>
              <a:t>6.5 </a:t>
            </a:r>
            <a:r>
              <a:rPr lang="en-US" altLang="en-US" sz="2963" dirty="0" err="1">
                <a:latin typeface="Elephant" panose="02020904090505020303" pitchFamily="18" charset="0"/>
              </a:rPr>
              <a:t>Frozensets</a:t>
            </a:r>
            <a:endParaRPr lang="en-US" altLang="en-US" sz="2963" dirty="0">
              <a:latin typeface="Elephant" panose="02020904090505020303" pitchFamily="18" charset="0"/>
            </a:endParaRPr>
          </a:p>
          <a:p>
            <a:pPr marL="88737" indent="0">
              <a:lnSpc>
                <a:spcPct val="100000"/>
              </a:lnSpc>
              <a:buNone/>
            </a:pPr>
            <a:r>
              <a:rPr lang="en-US" altLang="en-US" sz="2963" dirty="0">
                <a:latin typeface="Elephant" panose="02020904090505020303" pitchFamily="18" charset="0"/>
              </a:rPr>
              <a:t>7  Bytes</a:t>
            </a:r>
          </a:p>
          <a:p>
            <a:pPr marL="88737" indent="0">
              <a:lnSpc>
                <a:spcPct val="100000"/>
              </a:lnSpc>
              <a:buNone/>
            </a:pPr>
            <a:r>
              <a:rPr lang="en-US" altLang="en-US" sz="2963" dirty="0">
                <a:latin typeface="Elephant" panose="02020904090505020303" pitchFamily="18" charset="0"/>
              </a:rPr>
              <a:t>7.5 </a:t>
            </a:r>
            <a:r>
              <a:rPr lang="en-US" altLang="en-US" sz="2963" dirty="0" err="1">
                <a:latin typeface="Elephant" panose="02020904090505020303" pitchFamily="18" charset="0"/>
              </a:rPr>
              <a:t>Bytearrays</a:t>
            </a:r>
            <a:endParaRPr lang="en-US" altLang="en-US" sz="2963" dirty="0">
              <a:latin typeface="Elephant" panose="02020904090505020303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4974" y="-1926"/>
            <a:ext cx="10607675" cy="86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2D2DB9"/>
                </a:solidFill>
              </a:rPr>
              <a:t>Standard Data Types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4335004" y="3143486"/>
            <a:ext cx="4359327" cy="2606299"/>
          </a:xfrm>
          <a:prstGeom prst="wedgeRoundRectCallout">
            <a:avLst>
              <a:gd name="adj1" fmla="val -68079"/>
              <a:gd name="adj2" fmla="val -1233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6552">
              <a:lnSpc>
                <a:spcPct val="80000"/>
              </a:lnSpc>
            </a:pPr>
            <a:r>
              <a:rPr lang="en-US" altLang="zh-TW" sz="4999" dirty="0">
                <a:solidFill>
                  <a:prstClr val="black"/>
                </a:solidFill>
              </a:rPr>
              <a:t>That’s all the data types? </a:t>
            </a:r>
            <a:br>
              <a:rPr lang="en-US" altLang="zh-TW" sz="4999" dirty="0">
                <a:solidFill>
                  <a:prstClr val="black"/>
                </a:solidFill>
              </a:rPr>
            </a:br>
            <a:r>
              <a:rPr lang="en-US" altLang="zh-TW" sz="4999" dirty="0">
                <a:solidFill>
                  <a:prstClr val="black"/>
                </a:solidFill>
              </a:rPr>
              <a:t>What about pointers?</a:t>
            </a:r>
            <a:endParaRPr lang="zh-TW" altLang="en-US" sz="4999" dirty="0">
              <a:solidFill>
                <a:prstClr val="black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43825" y="-25100"/>
            <a:ext cx="3797037" cy="14655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6552"/>
            <a:r>
              <a:rPr lang="en-US" altLang="zh-TW" sz="4999" dirty="0">
                <a:solidFill>
                  <a:prstClr val="black"/>
                </a:solidFill>
              </a:rPr>
              <a:t>Well, there is</a:t>
            </a:r>
            <a:br>
              <a:rPr lang="en-US" altLang="zh-TW" sz="4999" dirty="0">
                <a:solidFill>
                  <a:prstClr val="black"/>
                </a:solidFill>
              </a:rPr>
            </a:br>
            <a:r>
              <a:rPr lang="en-US" altLang="zh-TW" sz="4999" i="1" dirty="0" err="1">
                <a:solidFill>
                  <a:prstClr val="black"/>
                </a:solidFill>
              </a:rPr>
              <a:t>memoryview</a:t>
            </a:r>
            <a:endParaRPr lang="zh-TW" altLang="en-US" sz="4999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96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92" y="1"/>
            <a:ext cx="9849984" cy="6857999"/>
          </a:xfrm>
        </p:spPr>
        <p:txBody>
          <a:bodyPr>
            <a:noAutofit/>
          </a:bodyPr>
          <a:lstStyle/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=</a:t>
            </a:r>
            <a:r>
              <a:rPr lang="en-US" altLang="zh-TW" sz="2222" b="1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dirty="0">
                <a:latin typeface="Lucida Console" panose="020B0609040504020204" pitchFamily="49" charset="0"/>
              </a:rPr>
              <a:t>'♞','utf8'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latin typeface="Lucida Console" panose="020B0609040504020204" pitchFamily="49" charset="0"/>
              </a:rPr>
              <a:t>(b'\xe2\x99\x9e')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[*</a:t>
            </a:r>
            <a:r>
              <a:rPr lang="en-US" altLang="zh-TW" sz="2222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[226, 153, 158]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</a:t>
            </a:r>
            <a:r>
              <a:rPr lang="en-US" altLang="zh-TW" sz="2222" b="1" dirty="0">
                <a:latin typeface="Lucida Console" panose="020B0609040504020204" pitchFamily="49" charset="0"/>
              </a:rPr>
              <a:t>=</a:t>
            </a:r>
            <a:r>
              <a:rPr lang="en-US" altLang="zh-TW" sz="2222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) # What is this?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 As you see, typing this doesn’t tell us much: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&lt;memory at 0x6ffffa261c8&gt;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[*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</a:t>
            </a:r>
            <a:r>
              <a:rPr lang="en-US" altLang="zh-TW" sz="2222" dirty="0">
                <a:latin typeface="Lucida Console" panose="020B0609040504020204" pitchFamily="49" charset="0"/>
              </a:rPr>
              <a:t>]; </a:t>
            </a:r>
            <a:r>
              <a:rPr lang="en-US" altLang="zh-TW" sz="2222" b="1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222" dirty="0">
                <a:latin typeface="Lucida Console" panose="020B0609040504020204" pitchFamily="49" charset="0"/>
              </a:rPr>
              <a:t>.decode()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 #They look the same: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[226, 153, 158]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'♞' 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print(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</a:t>
            </a:r>
            <a:r>
              <a:rPr lang="en-US" altLang="zh-TW" sz="2222" b="1" dirty="0">
                <a:solidFill>
                  <a:srgbClr val="00B050"/>
                </a:solidFill>
                <a:latin typeface="Lucida Console" panose="020B0609040504020204" pitchFamily="49" charset="0"/>
              </a:rPr>
              <a:t>==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, 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C00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#But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are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they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re</a:t>
            </a:r>
            <a:r>
              <a:rPr lang="en-US" altLang="zh-TW" sz="2222" spc="-50" dirty="0">
                <a:solidFill>
                  <a:srgbClr val="0070C0"/>
                </a:solidFill>
                <a:latin typeface="Lucida Console" panose="020B0609040504020204" pitchFamily="49" charset="0"/>
              </a:rPr>
              <a:t>ally</a:t>
            </a:r>
            <a:r>
              <a:rPr lang="en-US" altLang="zh-TW" sz="2000" spc="-5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00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same?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00B05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C0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mv[2]</a:t>
            </a:r>
            <a:r>
              <a:rPr lang="en-US" altLang="zh-TW" sz="2222" dirty="0">
                <a:latin typeface="Lucida Console" panose="020B0609040504020204" pitchFamily="49" charset="0"/>
              </a:rPr>
              <a:t>=157;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 Change mv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 err="1">
                <a:latin typeface="Lucida Console" panose="020B0609040504020204" pitchFamily="49" charset="0"/>
              </a:rPr>
              <a:t>.decode</a:t>
            </a:r>
            <a:r>
              <a:rPr lang="en-US" altLang="zh-TW" sz="2222" dirty="0">
                <a:latin typeface="Lucida Console" panose="020B0609040504020204" pitchFamily="49" charset="0"/>
              </a:rPr>
              <a:t>()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 With mv now changed, will K change?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'♝'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K[2]</a:t>
            </a:r>
            <a:r>
              <a:rPr lang="en-US" altLang="zh-TW" sz="2222" dirty="0">
                <a:latin typeface="Lucida Console" panose="020B0609040504020204" pitchFamily="49" charset="0"/>
              </a:rPr>
              <a:t>=0x9c 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 Change K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latin typeface="Lucida Console" panose="020B0609040504020204" pitchFamily="49" charset="0"/>
              </a:rPr>
              <a:t>(b'\xe2\x99\x9c')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 err="1">
                <a:latin typeface="Lucida Console" panose="020B0609040504020204" pitchFamily="49" charset="0"/>
              </a:rPr>
              <a:t>.decode</a:t>
            </a:r>
            <a:r>
              <a:rPr lang="en-US" altLang="zh-TW" sz="2222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'♜'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[*</a:t>
            </a:r>
            <a:r>
              <a:rPr lang="en-US" altLang="zh-TW" sz="2222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mv</a:t>
            </a:r>
            <a:r>
              <a:rPr lang="en-US" altLang="zh-TW" sz="2222" dirty="0" err="1">
                <a:latin typeface="Lucida Console" panose="020B0609040504020204" pitchFamily="49" charset="0"/>
              </a:rPr>
              <a:t>.hex</a:t>
            </a:r>
            <a:r>
              <a:rPr lang="en-US" altLang="zh-TW" sz="2222" dirty="0">
                <a:latin typeface="Lucida Console" panose="020B0609040504020204" pitchFamily="49" charset="0"/>
              </a:rPr>
              <a:t>()]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 I changed K. Will mv change?</a:t>
            </a:r>
            <a:endParaRPr lang="en-US" altLang="zh-TW" sz="2222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['e', '2', '9', '9', '9', '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c</a:t>
            </a:r>
            <a:r>
              <a:rPr lang="en-US" altLang="zh-TW" sz="2222" dirty="0">
                <a:latin typeface="Lucida Console" panose="020B0609040504020204" pitchFamily="49" charset="0"/>
              </a:rPr>
              <a:t>']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 Yes it did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3825" y="-25100"/>
            <a:ext cx="3797037" cy="14655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6552"/>
            <a:r>
              <a:rPr lang="en-US" altLang="zh-TW" sz="4999" dirty="0">
                <a:solidFill>
                  <a:prstClr val="black"/>
                </a:solidFill>
              </a:rPr>
              <a:t>Well, there is</a:t>
            </a:r>
            <a:br>
              <a:rPr lang="en-US" altLang="zh-TW" sz="4999" dirty="0">
                <a:solidFill>
                  <a:prstClr val="black"/>
                </a:solidFill>
              </a:rPr>
            </a:br>
            <a:r>
              <a:rPr lang="en-US" altLang="zh-TW" sz="4999" i="1" dirty="0" err="1">
                <a:solidFill>
                  <a:prstClr val="black"/>
                </a:solidFill>
              </a:rPr>
              <a:t>memoryview</a:t>
            </a:r>
            <a:endParaRPr lang="zh-TW" altLang="en-US" sz="4999" i="1" dirty="0">
              <a:solidFill>
                <a:prstClr val="black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9093" y="1"/>
            <a:ext cx="854757" cy="6857999"/>
          </a:xfrm>
          <a:prstGeom prst="rect">
            <a:avLst/>
          </a:prstGeom>
        </p:spPr>
        <p:txBody>
          <a:bodyPr vert="horz" lIns="84659" tIns="42330" rIns="84659" bIns="42330" rtlCol="0">
            <a:noAutofit/>
          </a:bodyPr>
          <a:lstStyle>
            <a:lvl1pPr marL="246911" indent="-246911" algn="l" defTabSz="987643" rtl="0" eaLnBrk="1" latinLnBrk="0" hangingPunct="1">
              <a:lnSpc>
                <a:spcPct val="90000"/>
              </a:lnSpc>
              <a:spcBef>
                <a:spcPts val="1080"/>
              </a:spcBef>
              <a:buFont typeface="Arial" panose="020B0604020202020204" pitchFamily="34" charset="0"/>
              <a:buChar char="•"/>
              <a:defRPr sz="3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733" indent="-246911" algn="l" defTabSz="987643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4554" indent="-246911" algn="l" defTabSz="987643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8376" indent="-246911" algn="l" defTabSz="987643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2198" indent="-246911" algn="l" defTabSz="987643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6019" indent="-246911" algn="l" defTabSz="987643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9841" indent="-246911" algn="l" defTabSz="987643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03663" indent="-246911" algn="l" defTabSz="987643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97485" indent="-246911" algn="l" defTabSz="987643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222" b="1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222" b="1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b="1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white">
                  <a:lumMod val="8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srgbClr val="0070C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endParaRPr lang="en-US" altLang="zh-TW" sz="2222" b="1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2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794707" y="6446210"/>
            <a:ext cx="1789942" cy="217695"/>
          </a:xfrm>
          <a:prstGeom prst="straightConnector1">
            <a:avLst/>
          </a:prstGeom>
          <a:ln w="28575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c 6"/>
          <p:cNvSpPr/>
          <p:nvPr/>
        </p:nvSpPr>
        <p:spPr>
          <a:xfrm rot="20383168">
            <a:off x="369487" y="2980416"/>
            <a:ext cx="1873604" cy="1082448"/>
          </a:xfrm>
          <a:prstGeom prst="arc">
            <a:avLst>
              <a:gd name="adj1" fmla="val 12128127"/>
              <a:gd name="adj2" fmla="val 0"/>
            </a:avLst>
          </a:prstGeom>
          <a:ln w="190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6552"/>
            <a:endParaRPr lang="zh-TW" altLang="en-US" sz="1666">
              <a:solidFill>
                <a:prstClr val="black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 rot="10800000" flipH="1">
            <a:off x="-808562" y="3146209"/>
            <a:ext cx="4376441" cy="469341"/>
          </a:xfrm>
          <a:prstGeom prst="arc">
            <a:avLst>
              <a:gd name="adj1" fmla="val 19893785"/>
              <a:gd name="adj2" fmla="val 0"/>
            </a:avLst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6552"/>
            <a:endParaRPr lang="zh-TW" altLang="en-US" sz="1666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04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449262" y="533400"/>
            <a:ext cx="8915400" cy="4124325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000" dirty="0"/>
              <a:t>A dictionary </a:t>
            </a:r>
            <a:r>
              <a:rPr lang="en-US" altLang="zh-TW" sz="3000" i="1" u="sng" dirty="0"/>
              <a:t>view</a:t>
            </a:r>
            <a:r>
              <a:rPr lang="en-US" altLang="zh-TW" sz="3000" dirty="0"/>
              <a:t> is a </a:t>
            </a:r>
            <a:r>
              <a:rPr lang="en-US" altLang="zh-TW" sz="3000" i="1" u="sng" dirty="0"/>
              <a:t>window</a:t>
            </a:r>
            <a:r>
              <a:rPr lang="en-US" altLang="zh-TW" sz="3000" dirty="0"/>
              <a:t> on its keys &amp; values: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0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400" dirty="0">
                <a:latin typeface="Lucida Console" panose="020B0609040504020204" pitchFamily="49" charset="0"/>
              </a:rPr>
              <a:t> = {'e': 2, 'b': 1, 'c': 1, 'B': 500}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valuesView</a:t>
            </a:r>
            <a:r>
              <a:rPr lang="en-US" altLang="zh-TW" sz="2400" dirty="0">
                <a:latin typeface="Lucida Console" panose="020B0609040504020204" pitchFamily="49" charset="0"/>
              </a:rPr>
              <a:t>=</a:t>
            </a:r>
            <a:r>
              <a:rPr lang="en-US" altLang="zh-TW" sz="2400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400" dirty="0" err="1">
                <a:latin typeface="Lucida Console" panose="020B0609040504020204" pitchFamily="49" charset="0"/>
              </a:rPr>
              <a:t>.values</a:t>
            </a:r>
            <a:r>
              <a:rPr lang="en-US" altLang="zh-TW" sz="2400" dirty="0">
                <a:latin typeface="Lucida Console" panose="020B0609040504020204" pitchFamily="49" charset="0"/>
              </a:rPr>
              <a:t>();</a:t>
            </a:r>
            <a:r>
              <a:rPr lang="en-US" altLang="zh-TW" sz="2400" b="1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400" dirty="0">
                <a:latin typeface="Lucida Console" panose="020B0609040504020204" pitchFamily="49" charset="0"/>
              </a:rPr>
              <a:t>=</a:t>
            </a:r>
            <a:r>
              <a:rPr lang="en-US" altLang="zh-TW" sz="2400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400" dirty="0" err="1">
                <a:latin typeface="Lucida Console" panose="020B0609040504020204" pitchFamily="49" charset="0"/>
              </a:rPr>
              <a:t>.keys</a:t>
            </a:r>
            <a:r>
              <a:rPr lang="en-US" altLang="zh-TW" sz="2400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valuesCopy</a:t>
            </a:r>
            <a:r>
              <a:rPr lang="en-US" altLang="zh-TW" sz="2400" dirty="0">
                <a:latin typeface="Lucida Console" panose="020B0609040504020204" pitchFamily="49" charset="0"/>
              </a:rPr>
              <a:t>=list(</a:t>
            </a:r>
            <a:r>
              <a:rPr lang="en-US" altLang="zh-TW" sz="2400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400" dirty="0" err="1">
                <a:latin typeface="Lucida Console" panose="020B0609040504020204" pitchFamily="49" charset="0"/>
              </a:rPr>
              <a:t>.values</a:t>
            </a:r>
            <a:r>
              <a:rPr lang="en-US" altLang="zh-TW" sz="2400" dirty="0">
                <a:latin typeface="Lucida Console" panose="020B0609040504020204" pitchFamily="49" charset="0"/>
              </a:rPr>
              <a:t>())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>
                <a:latin typeface="Lucida Console" panose="020B0609040504020204" pitchFamily="49" charset="0"/>
              </a:rPr>
              <a:t> del </a:t>
            </a:r>
            <a:r>
              <a:rPr lang="en-US" altLang="zh-TW" sz="2400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400" dirty="0">
                <a:latin typeface="Lucida Console" panose="020B0609040504020204" pitchFamily="49" charset="0"/>
              </a:rPr>
              <a:t>['e']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b="1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400" dirty="0">
                <a:latin typeface="Lucida Console" panose="020B0609040504020204" pitchFamily="49" charset="0"/>
              </a:rPr>
              <a:t> # No e anymore!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latin typeface="Lucida Console" panose="020B0609040504020204" pitchFamily="49" charset="0"/>
              </a:rPr>
              <a:t>dict_keys</a:t>
            </a:r>
            <a:r>
              <a:rPr lang="en-US" altLang="zh-TW" sz="2400" dirty="0">
                <a:latin typeface="Lucida Console" panose="020B0609040504020204" pitchFamily="49" charset="0"/>
              </a:rPr>
              <a:t>(['b', 'c', 'B'])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valuesView</a:t>
            </a:r>
            <a:r>
              <a:rPr lang="en-US" altLang="zh-TW" sz="2400" dirty="0">
                <a:latin typeface="Lucida Console" panose="020B0609040504020204" pitchFamily="49" charset="0"/>
              </a:rPr>
              <a:t> # No e value (2) anymore!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latin typeface="Lucida Console" panose="020B0609040504020204" pitchFamily="49" charset="0"/>
              </a:rPr>
              <a:t>dict_values</a:t>
            </a:r>
            <a:r>
              <a:rPr lang="en-US" altLang="zh-TW" sz="2400" dirty="0">
                <a:latin typeface="Lucida Console" panose="020B0609040504020204" pitchFamily="49" charset="0"/>
              </a:rPr>
              <a:t>([1, 1, 500])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valuesCopy</a:t>
            </a:r>
            <a:r>
              <a:rPr lang="en-US" altLang="zh-TW" sz="2400" dirty="0">
                <a:latin typeface="Lucida Console" panose="020B0609040504020204" pitchFamily="49" charset="0"/>
              </a:rPr>
              <a:t> # The copied one kept the 2!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[2, 1, 1, 500</a:t>
            </a:r>
            <a:r>
              <a:rPr lang="en-US" altLang="zh-TW" sz="2400" dirty="0" smtClean="0">
                <a:latin typeface="Lucida Console" panose="020B0609040504020204" pitchFamily="49" charset="0"/>
              </a:rPr>
              <a:t>]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49262" y="4448171"/>
            <a:ext cx="8915400" cy="383857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70" indent="-34287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885" indent="-28572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00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061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222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381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542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702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5863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endParaRPr lang="en-US" altLang="zh-TW" sz="1050" kern="0" dirty="0" smtClean="0">
              <a:latin typeface="Lucida Console" panose="020B0609040504020204" pitchFamily="49" charset="0"/>
            </a:endParaRPr>
          </a:p>
          <a:p>
            <a:pPr defTabSz="914400"/>
            <a:r>
              <a:rPr lang="en-US" altLang="zh-TW" sz="2800" kern="0" dirty="0" smtClean="0"/>
              <a:t>See what </a:t>
            </a:r>
            <a:r>
              <a:rPr lang="en-US" altLang="zh-TW" sz="2800" b="1" kern="0" dirty="0" smtClean="0"/>
              <a:t>dynamic </a:t>
            </a:r>
            <a:r>
              <a:rPr lang="en-US" altLang="zh-TW" sz="2800" kern="0" dirty="0" smtClean="0"/>
              <a:t>means? </a:t>
            </a:r>
            <a:r>
              <a:rPr lang="en-US" altLang="zh-TW" sz="2800" kern="0" dirty="0" err="1" smtClean="0">
                <a:latin typeface="Lucida Console" panose="020B0609040504020204" pitchFamily="49" charset="0"/>
              </a:rPr>
              <a:t>keysView</a:t>
            </a:r>
            <a:r>
              <a:rPr lang="en-US" altLang="zh-TW" sz="2800" kern="0" dirty="0" smtClean="0"/>
              <a:t> is </a:t>
            </a:r>
            <a:r>
              <a:rPr lang="en-US" altLang="zh-TW" sz="2800" i="1" kern="0" dirty="0" smtClean="0"/>
              <a:t>not</a:t>
            </a:r>
            <a:r>
              <a:rPr lang="en-US" altLang="zh-TW" sz="2800" kern="0" dirty="0" smtClean="0"/>
              <a:t> </a:t>
            </a:r>
            <a:r>
              <a:rPr lang="en-US" altLang="zh-TW" sz="2800" i="1" kern="0" dirty="0" smtClean="0"/>
              <a:t>a copy</a:t>
            </a:r>
            <a:r>
              <a:rPr lang="en-US" altLang="zh-TW" sz="2800" kern="0" dirty="0" smtClean="0"/>
              <a:t> of </a:t>
            </a:r>
            <a:r>
              <a:rPr lang="en-US" altLang="zh-TW" sz="2800" kern="0" dirty="0" err="1" smtClean="0">
                <a:latin typeface="Lucida Console" panose="020B0609040504020204" pitchFamily="49" charset="0"/>
              </a:rPr>
              <a:t>var</a:t>
            </a:r>
            <a:r>
              <a:rPr lang="en-US" altLang="zh-TW" sz="2800" kern="0" dirty="0" err="1" smtClean="0"/>
              <a:t>’s</a:t>
            </a:r>
            <a:r>
              <a:rPr lang="en-US" altLang="zh-TW" sz="2800" kern="0" dirty="0" smtClean="0"/>
              <a:t> keys, only a window pointing to those keys.</a:t>
            </a:r>
          </a:p>
          <a:p>
            <a:pPr lvl="1" defTabSz="914400">
              <a:spcBef>
                <a:spcPts val="0"/>
              </a:spcBef>
            </a:pPr>
            <a:r>
              <a:rPr lang="en-US" altLang="zh-TW" kern="0" dirty="0" smtClean="0"/>
              <a:t>If keys change, then you will view that through the window.</a:t>
            </a:r>
          </a:p>
          <a:p>
            <a:pPr lvl="1" defTabSz="914400"/>
            <a:r>
              <a:rPr lang="en-US" altLang="zh-TW" kern="0" dirty="0" smtClean="0"/>
              <a:t>If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you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don’t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want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this (</a:t>
            </a:r>
            <a:r>
              <a:rPr lang="en-US" altLang="zh-TW" kern="0" dirty="0" err="1" smtClean="0"/>
              <a:t>eg</a:t>
            </a:r>
            <a:r>
              <a:rPr lang="en-US" altLang="zh-TW" kern="0" dirty="0" smtClean="0"/>
              <a:t>,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if you’re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iterating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over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a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dictionary while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also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changing</a:t>
            </a:r>
            <a:r>
              <a:rPr lang="en-US" altLang="zh-TW" sz="1800" kern="0" dirty="0" smtClean="0"/>
              <a:t> </a:t>
            </a:r>
            <a:r>
              <a:rPr lang="en-US" altLang="zh-TW" kern="0" dirty="0" smtClean="0"/>
              <a:t>it), then make a copy with “list” instead.</a:t>
            </a:r>
          </a:p>
          <a:p>
            <a:pPr lvl="1" defTabSz="914400"/>
            <a:endParaRPr lang="en-US" altLang="zh-TW" kern="0" dirty="0"/>
          </a:p>
          <a:p>
            <a:pPr lvl="1" defTabSz="914400"/>
            <a:endParaRPr lang="en-US" altLang="zh-TW" kern="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49262" y="533400"/>
            <a:ext cx="891540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70" indent="-34287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885" indent="-28572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00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061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222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381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542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702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5863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endParaRPr lang="en-US" altLang="zh-TW" sz="1050" kern="0" dirty="0" smtClean="0">
              <a:latin typeface="Lucida Console" panose="020B0609040504020204" pitchFamily="49" charset="0"/>
            </a:endParaRPr>
          </a:p>
          <a:p>
            <a:pPr defTabSz="914400"/>
            <a:r>
              <a:rPr lang="en-US" altLang="zh-TW" sz="2800" kern="0" dirty="0" smtClean="0"/>
              <a:t>See what </a:t>
            </a:r>
            <a:r>
              <a:rPr lang="en-US" altLang="zh-TW" sz="2800" b="1" kern="0" dirty="0" smtClean="0"/>
              <a:t>dynamic </a:t>
            </a:r>
            <a:r>
              <a:rPr lang="en-US" altLang="zh-TW" sz="2800" kern="0" dirty="0" smtClean="0"/>
              <a:t>means? </a:t>
            </a:r>
            <a:r>
              <a:rPr lang="en-US" altLang="zh-TW" sz="2800" kern="0" dirty="0" err="1" smtClean="0">
                <a:latin typeface="Lucida Console" panose="020B0609040504020204" pitchFamily="49" charset="0"/>
              </a:rPr>
              <a:t>keysView</a:t>
            </a:r>
            <a:r>
              <a:rPr lang="en-US" altLang="zh-TW" sz="2800" kern="0" dirty="0" smtClean="0"/>
              <a:t> is </a:t>
            </a:r>
            <a:r>
              <a:rPr lang="en-US" altLang="zh-TW" sz="2800" i="1" kern="0" dirty="0" smtClean="0"/>
              <a:t>not</a:t>
            </a:r>
            <a:r>
              <a:rPr lang="en-US" altLang="zh-TW" sz="2800" kern="0" dirty="0" smtClean="0"/>
              <a:t> </a:t>
            </a:r>
            <a:r>
              <a:rPr lang="en-US" altLang="zh-TW" sz="2800" i="1" kern="0" dirty="0" smtClean="0"/>
              <a:t>a copy</a:t>
            </a:r>
            <a:r>
              <a:rPr lang="en-US" altLang="zh-TW" sz="2800" kern="0" dirty="0" smtClean="0"/>
              <a:t> of </a:t>
            </a:r>
            <a:r>
              <a:rPr lang="en-US" altLang="zh-TW" sz="2800" kern="0" dirty="0" err="1" smtClean="0">
                <a:latin typeface="Lucida Console" panose="020B0609040504020204" pitchFamily="49" charset="0"/>
              </a:rPr>
              <a:t>var</a:t>
            </a:r>
            <a:r>
              <a:rPr lang="en-US" altLang="zh-TW" sz="2800" kern="0" dirty="0" err="1" smtClean="0"/>
              <a:t>’s</a:t>
            </a:r>
            <a:r>
              <a:rPr lang="en-US" altLang="zh-TW" sz="2800" kern="0" dirty="0" smtClean="0"/>
              <a:t> keys, only a window pointing to those keys.</a:t>
            </a:r>
          </a:p>
          <a:p>
            <a:pPr lvl="1" defTabSz="914400">
              <a:spcBef>
                <a:spcPts val="0"/>
              </a:spcBef>
            </a:pPr>
            <a:r>
              <a:rPr lang="en-US" altLang="zh-TW" kern="0" dirty="0" smtClean="0"/>
              <a:t>If keys change, then you will view that through the window.</a:t>
            </a:r>
          </a:p>
          <a:p>
            <a:pPr lvl="1" defTabSz="914400"/>
            <a:r>
              <a:rPr lang="en-US" altLang="zh-TW" kern="0" dirty="0" smtClean="0"/>
              <a:t>If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you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don’t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want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this (</a:t>
            </a:r>
            <a:r>
              <a:rPr lang="en-US" altLang="zh-TW" kern="0" dirty="0" err="1" smtClean="0"/>
              <a:t>eg</a:t>
            </a:r>
            <a:r>
              <a:rPr lang="en-US" altLang="zh-TW" kern="0" dirty="0" smtClean="0"/>
              <a:t>,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if you’re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iterating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over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a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dictionary while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also</a:t>
            </a:r>
            <a:r>
              <a:rPr lang="en-US" altLang="zh-TW" sz="2000" kern="0" dirty="0" smtClean="0"/>
              <a:t> </a:t>
            </a:r>
            <a:r>
              <a:rPr lang="en-US" altLang="zh-TW" kern="0" dirty="0" smtClean="0"/>
              <a:t>changing</a:t>
            </a:r>
            <a:r>
              <a:rPr lang="en-US" altLang="zh-TW" sz="1800" kern="0" dirty="0" smtClean="0"/>
              <a:t> </a:t>
            </a:r>
            <a:r>
              <a:rPr lang="en-US" altLang="zh-TW" kern="0" dirty="0" smtClean="0"/>
              <a:t>it), then make a copy with “list” instead.</a:t>
            </a:r>
            <a:endParaRPr lang="en-US" altLang="zh-TW" kern="0" dirty="0"/>
          </a:p>
        </p:txBody>
      </p:sp>
      <p:grpSp>
        <p:nvGrpSpPr>
          <p:cNvPr id="13" name="Group 12"/>
          <p:cNvGrpSpPr/>
          <p:nvPr/>
        </p:nvGrpSpPr>
        <p:grpSpPr>
          <a:xfrm>
            <a:off x="946" y="3624344"/>
            <a:ext cx="9735832" cy="3033631"/>
            <a:chOff x="946" y="3624344"/>
            <a:chExt cx="9735832" cy="3033631"/>
          </a:xfrm>
        </p:grpSpPr>
        <p:sp>
          <p:nvSpPr>
            <p:cNvPr id="14" name="Rectangle 1"/>
            <p:cNvSpPr txBox="1">
              <a:spLocks noChangeArrowheads="1"/>
            </p:cNvSpPr>
            <p:nvPr/>
          </p:nvSpPr>
          <p:spPr>
            <a:xfrm>
              <a:off x="946" y="3624344"/>
              <a:ext cx="9735832" cy="822960"/>
            </a:xfrm>
            <a:prstGeom prst="rect">
              <a:avLst/>
            </a:prstGeom>
          </p:spPr>
          <p:txBody>
            <a:bodyPr vert="horz" lIns="84659" tIns="42330" rIns="84659" bIns="42330" rtlCol="0" anchor="ctr">
              <a:normAutofit/>
            </a:bodyPr>
            <a:lstStyle>
              <a:lvl1pPr algn="ctr" defTabSz="788697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795" kern="1200">
                  <a:solidFill>
                    <a:srgbClr val="002060"/>
                  </a:solidFill>
                  <a:latin typeface="Elephant" panose="02020904090505020303" pitchFamily="18" charset="0"/>
                  <a:ea typeface="+mj-ea"/>
                  <a:cs typeface="+mj-cs"/>
                </a:defRPr>
              </a:lvl1pPr>
            </a:lstStyle>
            <a:p>
              <a:pPr>
                <a:lnSpc>
                  <a:spcPct val="47000"/>
                </a:lnSpc>
                <a:tabLst>
                  <a:tab pos="0" algn="l"/>
                  <a:tab pos="414302" algn="l"/>
                  <a:tab pos="828603" algn="l"/>
                  <a:tab pos="1242905" algn="l"/>
                  <a:tab pos="1657206" algn="l"/>
                  <a:tab pos="2073095" algn="l"/>
                  <a:tab pos="2487397" algn="l"/>
                  <a:tab pos="2901698" algn="l"/>
                  <a:tab pos="3316000" algn="l"/>
                  <a:tab pos="3731889" algn="l"/>
                  <a:tab pos="4146190" algn="l"/>
                  <a:tab pos="4560492" algn="l"/>
                  <a:tab pos="4974793" algn="l"/>
                  <a:tab pos="5390682" algn="l"/>
                  <a:tab pos="5804984" algn="l"/>
                  <a:tab pos="6219285" algn="l"/>
                  <a:tab pos="6633587" algn="l"/>
                  <a:tab pos="7049476" algn="l"/>
                  <a:tab pos="7463776" algn="l"/>
                  <a:tab pos="7878079" algn="l"/>
                  <a:tab pos="8292379" algn="l"/>
                </a:tabLst>
              </a:pPr>
              <a:r>
                <a:rPr lang="en-GB" altLang="en-US" sz="4400" dirty="0" smtClean="0">
                  <a:solidFill>
                    <a:srgbClr val="2D2DB9"/>
                  </a:solidFill>
                  <a:cs typeface="Arial" panose="020B0604020202020204" pitchFamily="34" charset="0"/>
                </a:rPr>
                <a:t>Memory </a:t>
              </a:r>
              <a:r>
                <a:rPr lang="en-GB" altLang="en-US" sz="4400" dirty="0">
                  <a:solidFill>
                    <a:srgbClr val="2D2DB9"/>
                  </a:solidFill>
                  <a:cs typeface="Arial" panose="020B0604020202020204" pitchFamily="34" charset="0"/>
                </a:rPr>
                <a:t>views</a:t>
              </a:r>
            </a:p>
          </p:txBody>
        </p:sp>
        <p:sp>
          <p:nvSpPr>
            <p:cNvPr id="15" name="Content Placeholder 2"/>
            <p:cNvSpPr txBox="1">
              <a:spLocks/>
            </p:cNvSpPr>
            <p:nvPr/>
          </p:nvSpPr>
          <p:spPr bwMode="auto">
            <a:xfrm>
              <a:off x="449262" y="4124325"/>
              <a:ext cx="8915400" cy="2533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870" indent="-34287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D2DB9"/>
                </a:buClr>
                <a:buFont typeface="Wingdings" pitchFamily="2" charset="2"/>
                <a:buChar char="§"/>
                <a:defRPr sz="2600">
                  <a:solidFill>
                    <a:srgbClr val="222222"/>
                  </a:solidFill>
                  <a:latin typeface="+mn-lt"/>
                  <a:ea typeface="MS PGothic" pitchFamily="34" charset="-128"/>
                  <a:cs typeface="ＭＳ Ｐゴシック" pitchFamily="-65" charset="-128"/>
                </a:defRPr>
              </a:lvl1pPr>
              <a:lvl2pPr marL="742885" indent="-285726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rgbClr val="222222"/>
                  </a:solidFill>
                  <a:latin typeface="+mn-lt"/>
                  <a:ea typeface="MS PGothic" pitchFamily="34" charset="-128"/>
                </a:defRPr>
              </a:lvl2pPr>
              <a:lvl3pPr marL="1142900" indent="-22858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rgbClr val="222222"/>
                  </a:solidFill>
                  <a:latin typeface="+mn-lt"/>
                  <a:ea typeface="MS PGothic" pitchFamily="34" charset="-128"/>
                </a:defRPr>
              </a:lvl3pPr>
              <a:lvl4pPr marL="1600061" indent="-22858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200">
                  <a:solidFill>
                    <a:srgbClr val="222222"/>
                  </a:solidFill>
                  <a:latin typeface="+mn-lt"/>
                  <a:ea typeface="MS PGothic" pitchFamily="34" charset="-128"/>
                </a:defRPr>
              </a:lvl4pPr>
              <a:lvl5pPr marL="2057222" indent="-22858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MS PGothic" pitchFamily="34" charset="-128"/>
                </a:defRPr>
              </a:lvl5pPr>
              <a:lvl6pPr marL="2514381" indent="-22858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542" indent="-22858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8702" indent="-22858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5863" indent="-22858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marL="0" indent="0" defTabSz="914400">
                <a:spcBef>
                  <a:spcPts val="0"/>
                </a:spcBef>
                <a:buFont typeface="Wingdings" pitchFamily="2" charset="2"/>
                <a:buNone/>
              </a:pPr>
              <a:endParaRPr lang="en-US" altLang="zh-TW" sz="1050" kern="0" dirty="0" smtClean="0">
                <a:latin typeface="Lucida Console" panose="020B0609040504020204" pitchFamily="49" charset="0"/>
              </a:endParaRPr>
            </a:p>
            <a:p>
              <a:pPr defTabSz="914400"/>
              <a:r>
                <a:rPr lang="en-US" altLang="zh-TW" sz="2800" kern="0" dirty="0" smtClean="0"/>
                <a:t>These are also views, but in this case they look into some part of memory.</a:t>
              </a:r>
            </a:p>
            <a:p>
              <a:pPr lvl="1" defTabSz="914400">
                <a:spcBef>
                  <a:spcPts val="0"/>
                </a:spcBef>
              </a:pPr>
              <a:r>
                <a:rPr lang="en-US" altLang="zh-TW" kern="0" dirty="0" smtClean="0"/>
                <a:t>If that memory changes, then you will view that change through the window.</a:t>
              </a:r>
            </a:p>
          </p:txBody>
        </p:sp>
      </p:grp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33419"/>
            <a:ext cx="9735832" cy="822960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02" algn="l"/>
                <a:tab pos="828603" algn="l"/>
                <a:tab pos="1242905" algn="l"/>
                <a:tab pos="1657206" algn="l"/>
                <a:tab pos="2073095" algn="l"/>
                <a:tab pos="2487397" algn="l"/>
                <a:tab pos="2901698" algn="l"/>
                <a:tab pos="3316000" algn="l"/>
                <a:tab pos="3731889" algn="l"/>
                <a:tab pos="4146190" algn="l"/>
                <a:tab pos="4560492" algn="l"/>
                <a:tab pos="4974793" algn="l"/>
                <a:tab pos="5390682" algn="l"/>
                <a:tab pos="5804984" algn="l"/>
                <a:tab pos="6219285" algn="l"/>
                <a:tab pos="6633587" algn="l"/>
                <a:tab pos="7049476" algn="l"/>
                <a:tab pos="7463776" algn="l"/>
                <a:tab pos="7878079" algn="l"/>
                <a:tab pos="8292379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Dictionary </a:t>
            </a:r>
            <a:r>
              <a:rPr lang="en-GB" altLang="en-US" sz="4400" dirty="0" smtClean="0">
                <a:solidFill>
                  <a:srgbClr val="2D2DB9"/>
                </a:solidFill>
                <a:cs typeface="Arial" panose="020B0604020202020204" pitchFamily="34" charset="0"/>
              </a:rPr>
              <a:t>dynamic views</a:t>
            </a:r>
            <a:endParaRPr lang="en-GB" altLang="en-US" sz="4400" dirty="0">
              <a:solidFill>
                <a:srgbClr val="2D2DB9"/>
              </a:solidFill>
              <a:cs typeface="Arial" panose="020B0604020202020204" pitchFamily="34" charset="0"/>
            </a:endParaRP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7644239" y="401035"/>
            <a:ext cx="2725649" cy="643997"/>
          </a:xfrm>
          <a:prstGeom prst="trapezoid">
            <a:avLst>
              <a:gd name="adj" fmla="val 100370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70000"/>
              </a:lnSpc>
            </a:pP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Lecture</a:t>
            </a:r>
            <a:r>
              <a:rPr lang="en-US" sz="16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400" spc="-5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7</a:t>
            </a:r>
            <a: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  <a:t/>
            </a:r>
            <a:br>
              <a:rPr lang="en-US" sz="2400" spc="-5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Slide 138</a:t>
            </a:r>
            <a:endParaRPr lang="en-US" sz="2800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0550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61819E-6 -2.22222E-6 L 0.00082 -0.56875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" y="-28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  <p:bldP spid="6" grpId="0" animBg="1"/>
      <p:bldP spid="6" grpId="1" animBg="1"/>
      <p:bldP spid="8" grpId="0"/>
      <p:bldP spid="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92" y="606507"/>
            <a:ext cx="9697686" cy="6251493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 Here we see that dangling pointers are avoided: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=</a:t>
            </a:r>
            <a:r>
              <a:rPr lang="en-US" altLang="zh-TW" sz="2222" b="1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dirty="0">
                <a:latin typeface="Lucida Console" panose="020B0609040504020204" pitchFamily="49" charset="0"/>
              </a:rPr>
              <a:t>'♞','utf8'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</a:t>
            </a:r>
            <a:r>
              <a:rPr lang="en-US" altLang="zh-TW" sz="2222" b="1" dirty="0">
                <a:latin typeface="Lucida Console" panose="020B0609040504020204" pitchFamily="49" charset="0"/>
              </a:rPr>
              <a:t>=</a:t>
            </a:r>
            <a:r>
              <a:rPr lang="en-US" altLang="zh-TW" sz="2222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K=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bytes</a:t>
            </a:r>
            <a:r>
              <a:rPr lang="en-US" altLang="zh-TW" sz="2222" dirty="0">
                <a:latin typeface="Lucida Console" panose="020B0609040504020204" pitchFamily="49" charset="0"/>
              </a:rPr>
              <a:t>('♜','utf8')</a:t>
            </a:r>
            <a:r>
              <a:rPr lang="en-US" altLang="zh-TW" sz="185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852" dirty="0">
                <a:solidFill>
                  <a:srgbClr val="87BCE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anytime</a:t>
            </a:r>
            <a:r>
              <a:rPr lang="en-US" altLang="zh-TW" sz="1852" dirty="0">
                <a:solidFill>
                  <a:srgbClr val="87BCE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you</a:t>
            </a:r>
            <a:r>
              <a:rPr lang="en-US" altLang="zh-TW" sz="1852" dirty="0">
                <a:solidFill>
                  <a:srgbClr val="87BCE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use “=”</a:t>
            </a:r>
            <a:r>
              <a:rPr lang="en-US" altLang="zh-TW" sz="1852" dirty="0">
                <a:solidFill>
                  <a:srgbClr val="87BCE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spc="-204" dirty="0">
                <a:solidFill>
                  <a:srgbClr val="87BCE1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852" dirty="0">
                <a:solidFill>
                  <a:srgbClr val="87BCE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new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</a:t>
            </a:r>
            <a:r>
              <a:rPr lang="en-US" altLang="zh-TW" sz="2222" dirty="0">
                <a:latin typeface="Lucida Console" panose="020B0609040504020204" pitchFamily="49" charset="0"/>
              </a:rPr>
              <a:t>).decode()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'♞'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# Here we see that the old memory </a:t>
            </a:r>
            <a:r>
              <a:rPr lang="en-US" altLang="zh-TW" sz="2222" spc="-19" dirty="0">
                <a:solidFill>
                  <a:srgbClr val="0070C0"/>
                </a:solidFill>
                <a:latin typeface="Lucida Console" panose="020B0609040504020204" pitchFamily="49" charset="0"/>
              </a:rPr>
              <a:t>is still useable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mv[2]</a:t>
            </a:r>
            <a:r>
              <a:rPr lang="en-US" altLang="zh-TW" sz="2222" dirty="0">
                <a:latin typeface="Lucida Console" panose="020B0609040504020204" pitchFamily="49" charset="0"/>
              </a:rPr>
              <a:t>=157; </a:t>
            </a:r>
            <a:r>
              <a:rPr lang="en-US" altLang="zh-TW" sz="2222" b="1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</a:t>
            </a:r>
            <a:r>
              <a:rPr lang="en-US" altLang="zh-TW" sz="2222" dirty="0">
                <a:latin typeface="Lucida Console" panose="020B0609040504020204" pitchFamily="49" charset="0"/>
              </a:rPr>
              <a:t>).decode()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'♝'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 err="1">
                <a:solidFill>
                  <a:srgbClr val="92D05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 err="1">
                <a:latin typeface="Lucida Console" panose="020B0609040504020204" pitchFamily="49" charset="0"/>
              </a:rPr>
              <a:t>.decode</a:t>
            </a:r>
            <a:r>
              <a:rPr lang="en-US" altLang="zh-TW" sz="2222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latin typeface="Lucida Console" panose="020B0609040504020204" pitchFamily="49" charset="0"/>
              </a:rPr>
              <a:t>'♜'</a:t>
            </a:r>
            <a:endParaRPr lang="en-US" altLang="zh-TW" sz="2222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mv</a:t>
            </a:r>
            <a:r>
              <a:rPr lang="en-US" altLang="zh-TW" sz="2222" dirty="0">
                <a:latin typeface="Lucida Console" panose="020B0609040504020204" pitchFamily="49" charset="0"/>
              </a:rPr>
              <a:t>=</a:t>
            </a:r>
            <a:r>
              <a:rPr lang="en-US" altLang="zh-TW" sz="2222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2222" dirty="0">
                <a:latin typeface="Lucida Console" panose="020B0609040504020204" pitchFamily="49" charset="0"/>
              </a:rPr>
              <a:t>(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2" dirty="0">
                <a:latin typeface="Lucida Console" panose="020B0609040504020204" pitchFamily="49" charset="0"/>
              </a:rPr>
              <a:t>)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# Changing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mv w</a:t>
            </a:r>
            <a:r>
              <a:rPr lang="en-US" altLang="zh-TW" sz="2222" spc="-56" dirty="0">
                <a:solidFill>
                  <a:srgbClr val="87BCE1"/>
                </a:solidFill>
                <a:latin typeface="Lucida Console" panose="020B0609040504020204" pitchFamily="49" charset="0"/>
              </a:rPr>
              <a:t>il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1852" dirty="0">
                <a:solidFill>
                  <a:srgbClr val="87BCE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free</a:t>
            </a:r>
            <a:r>
              <a:rPr lang="en-US" altLang="zh-TW" sz="1852" dirty="0">
                <a:solidFill>
                  <a:srgbClr val="87BCE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its</a:t>
            </a:r>
            <a:r>
              <a:rPr lang="en-US" altLang="zh-TW" sz="1852" dirty="0">
                <a:solidFill>
                  <a:srgbClr val="87BCE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mem</a:t>
            </a:r>
            <a:r>
              <a:rPr lang="en-US" altLang="zh-TW" sz="2222" spc="-139" dirty="0">
                <a:solidFill>
                  <a:srgbClr val="87BCE1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sz="2222" spc="-194" dirty="0">
                <a:solidFill>
                  <a:srgbClr val="87BCE1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spc="-28" dirty="0">
                <a:solidFill>
                  <a:srgbClr val="0070C0"/>
                </a:solidFill>
                <a:latin typeface="Lucida Console" panose="020B0609040504020204" pitchFamily="49" charset="0"/>
              </a:rPr>
              <a:t>Here we see that a </a:t>
            </a:r>
            <a:r>
              <a:rPr lang="en-US" altLang="zh-TW" sz="2222" spc="-28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spc="-28" dirty="0">
                <a:solidFill>
                  <a:srgbClr val="0070C0"/>
                </a:solidFill>
                <a:latin typeface="Lucida Console" panose="020B0609040504020204" pitchFamily="49" charset="0"/>
              </a:rPr>
              <a:t> retains the underlying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70C0"/>
                </a:solidFill>
                <a:latin typeface="Lucida Console" panose="020B0609040504020204" pitchFamily="49" charset="0"/>
              </a:rPr>
              <a:t>object’s characteristics: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222" b="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b="1" dirty="0">
                <a:solidFill>
                  <a:srgbClr val="FFC000"/>
                </a:solidFill>
                <a:latin typeface="Lucida Console" panose="020B0609040504020204" pitchFamily="49" charset="0"/>
              </a:rPr>
              <a:t> mv[2]</a:t>
            </a:r>
            <a:r>
              <a:rPr lang="en-US" altLang="zh-TW" sz="2222" dirty="0">
                <a:latin typeface="Lucida Console" panose="020B0609040504020204" pitchFamily="49" charset="0"/>
              </a:rPr>
              <a:t>=156  </a:t>
            </a:r>
            <a:r>
              <a:rPr lang="en-US" altLang="zh-TW" sz="1852" dirty="0">
                <a:latin typeface="Lucida Console" panose="020B0609040504020204" pitchFamily="49" charset="0"/>
              </a:rPr>
              <a:t> 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852" dirty="0">
                <a:solidFill>
                  <a:srgbClr val="87BCE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It</a:t>
            </a:r>
            <a:r>
              <a:rPr lang="en-US" altLang="zh-TW" sz="1852" dirty="0">
                <a:solidFill>
                  <a:srgbClr val="87BCE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worked</a:t>
            </a:r>
            <a:r>
              <a:rPr lang="en-US" altLang="zh-TW" sz="1852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before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222" dirty="0">
                <a:solidFill>
                  <a:srgbClr val="FF0000"/>
                </a:solidFill>
                <a:latin typeface="Lucida Console" panose="020B0609040504020204" pitchFamily="49" charset="0"/>
              </a:rPr>
              <a:t> cannot modify read-only memory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2" dirty="0"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K[2]</a:t>
            </a:r>
            <a:r>
              <a:rPr lang="en-US" altLang="zh-TW" sz="2222" dirty="0">
                <a:latin typeface="Lucida Console" panose="020B0609040504020204" pitchFamily="49" charset="0"/>
              </a:rPr>
              <a:t>=156</a:t>
            </a:r>
            <a:r>
              <a:rPr lang="en-US" altLang="zh-TW" sz="1852" dirty="0"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660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852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6600"/>
                </a:solidFill>
                <a:latin typeface="Lucida Console" panose="020B0609040504020204" pitchFamily="49" charset="0"/>
              </a:rPr>
              <a:t>A:</a:t>
            </a:r>
            <a:r>
              <a:rPr lang="en-US" altLang="zh-TW" sz="1852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66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1852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underlying</a:t>
            </a:r>
            <a:r>
              <a:rPr lang="en-US" altLang="zh-TW" sz="1852" b="1" dirty="0">
                <a:solidFill>
                  <a:srgbClr val="92D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b="1" dirty="0">
                <a:solidFill>
                  <a:srgbClr val="92D05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1852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66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1852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u="sng" dirty="0">
                <a:solidFill>
                  <a:srgbClr val="006600"/>
                </a:solidFill>
                <a:latin typeface="Lucida Console" panose="020B0609040504020204" pitchFamily="49" charset="0"/>
              </a:rPr>
              <a:t>now</a:t>
            </a:r>
            <a:r>
              <a:rPr lang="en-US" altLang="zh-TW" sz="1852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dirty="0">
                <a:solidFill>
                  <a:srgbClr val="006600"/>
                </a:solidFill>
                <a:latin typeface="Lucida Console" panose="020B0609040504020204" pitchFamily="49" charset="0"/>
              </a:rPr>
              <a:t>immutabl</a:t>
            </a:r>
            <a:r>
              <a:rPr lang="en-US" altLang="zh-TW" sz="2222" spc="-370" dirty="0">
                <a:solidFill>
                  <a:srgbClr val="0066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dirty="0">
                <a:solidFill>
                  <a:srgbClr val="00660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22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222" dirty="0">
                <a:solidFill>
                  <a:srgbClr val="FFAFAF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2" spc="-37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222" spc="-37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185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b="1" spc="-37" dirty="0">
                <a:solidFill>
                  <a:srgbClr val="92D050"/>
                </a:solidFill>
                <a:latin typeface="Lucida Console" panose="020B0609040504020204" pitchFamily="49" charset="0"/>
              </a:rPr>
              <a:t>bytes</a:t>
            </a:r>
            <a:r>
              <a:rPr lang="en-US" altLang="zh-TW" sz="222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185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185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srgbClr val="006600"/>
                </a:solidFill>
                <a:latin typeface="Lucida Console" panose="020B0609040504020204" pitchFamily="49" charset="0"/>
              </a:rPr>
              <a:t>does</a:t>
            </a:r>
            <a:r>
              <a:rPr lang="en-US" altLang="zh-TW" sz="1852" spc="-37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srgbClr val="0066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1852" spc="-37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srgbClr val="006600"/>
                </a:solidFill>
                <a:latin typeface="Lucida Console" panose="020B0609040504020204" pitchFamily="49" charset="0"/>
              </a:rPr>
              <a:t>support</a:t>
            </a:r>
            <a:r>
              <a:rPr lang="en-US" altLang="zh-TW" sz="185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item</a:t>
            </a:r>
            <a:r>
              <a:rPr lang="en-US" altLang="zh-TW" sz="185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spc="-37" dirty="0">
                <a:solidFill>
                  <a:srgbClr val="FF0000"/>
                </a:solidFill>
                <a:latin typeface="Lucida Console" panose="020B0609040504020204" pitchFamily="49" charset="0"/>
              </a:rPr>
              <a:t>assignment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2370607" y="2931485"/>
            <a:ext cx="2983901" cy="1857457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6333612" y="5002431"/>
            <a:ext cx="1407182" cy="349517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/>
          <p:cNvSpPr txBox="1">
            <a:spLocks noChangeArrowheads="1"/>
          </p:cNvSpPr>
          <p:nvPr/>
        </p:nvSpPr>
        <p:spPr>
          <a:xfrm>
            <a:off x="-289676" y="0"/>
            <a:ext cx="10323393" cy="758145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spc="-278" dirty="0" smtClean="0">
                <a:solidFill>
                  <a:srgbClr val="2D2DB9"/>
                </a:solidFill>
                <a:cs typeface="Arial" panose="020B0604020202020204" pitchFamily="34" charset="0"/>
              </a:rPr>
              <a:t>How </a:t>
            </a:r>
            <a:r>
              <a:rPr lang="en-GB" altLang="en-US" sz="4400" spc="-93" dirty="0" smtClean="0">
                <a:solidFill>
                  <a:srgbClr val="2D2DB9"/>
                </a:solidFill>
                <a:cs typeface="Arial" panose="020B0604020202020204" pitchFamily="34" charset="0"/>
              </a:rPr>
              <a:t>to </a:t>
            </a:r>
            <a:r>
              <a:rPr lang="en-GB" altLang="en-US" sz="4400" spc="-278" dirty="0" smtClean="0">
                <a:solidFill>
                  <a:srgbClr val="2D2DB9"/>
                </a:solidFill>
                <a:cs typeface="Arial" panose="020B0604020202020204" pitchFamily="34" charset="0"/>
              </a:rPr>
              <a:t>u</a:t>
            </a:r>
            <a:r>
              <a:rPr lang="en-GB" altLang="en-US" sz="4400" spc="-93" dirty="0" smtClean="0">
                <a:solidFill>
                  <a:srgbClr val="2D2DB9"/>
                </a:solidFill>
                <a:cs typeface="Arial" panose="020B0604020202020204" pitchFamily="34" charset="0"/>
              </a:rPr>
              <a:t>se </a:t>
            </a:r>
            <a:r>
              <a:rPr lang="en-GB" altLang="en-US" sz="4400" spc="-278" dirty="0" smtClean="0">
                <a:solidFill>
                  <a:srgbClr val="2D2DB9"/>
                </a:solidFill>
                <a:cs typeface="Arial" panose="020B0604020202020204" pitchFamily="34" charset="0"/>
              </a:rPr>
              <a:t>m</a:t>
            </a:r>
            <a:r>
              <a:rPr lang="en-GB" altLang="en-US" sz="4400" spc="-93" dirty="0" smtClean="0">
                <a:solidFill>
                  <a:srgbClr val="2D2DB9"/>
                </a:solidFill>
                <a:cs typeface="Arial" panose="020B0604020202020204" pitchFamily="34" charset="0"/>
              </a:rPr>
              <a:t>e</a:t>
            </a:r>
            <a:r>
              <a:rPr lang="en-GB" altLang="en-US" sz="4400" spc="-148" dirty="0" smtClean="0">
                <a:solidFill>
                  <a:srgbClr val="2D2DB9"/>
                </a:solidFill>
                <a:cs typeface="Arial" panose="020B0604020202020204" pitchFamily="34" charset="0"/>
              </a:rPr>
              <a:t>m</a:t>
            </a:r>
            <a:r>
              <a:rPr lang="en-GB" altLang="en-US" sz="4400" spc="-93" dirty="0" smtClean="0">
                <a:solidFill>
                  <a:srgbClr val="2D2DB9"/>
                </a:solidFill>
                <a:cs typeface="Arial" panose="020B0604020202020204" pitchFamily="34" charset="0"/>
              </a:rPr>
              <a:t>ory vi</a:t>
            </a:r>
            <a:r>
              <a:rPr lang="en-GB" altLang="en-US" sz="4400" spc="-167" dirty="0" smtClean="0">
                <a:solidFill>
                  <a:srgbClr val="2D2DB9"/>
                </a:solidFill>
                <a:cs typeface="Arial" panose="020B0604020202020204" pitchFamily="34" charset="0"/>
              </a:rPr>
              <a:t>ew</a:t>
            </a:r>
            <a:r>
              <a:rPr lang="en-GB" altLang="en-US" sz="4400" spc="-93" dirty="0" smtClean="0">
                <a:solidFill>
                  <a:srgbClr val="2D2DB9"/>
                </a:solidFill>
                <a:cs typeface="Arial" panose="020B0604020202020204" pitchFamily="34" charset="0"/>
              </a:rPr>
              <a:t>s</a:t>
            </a:r>
            <a:endParaRPr lang="en-GB" altLang="en-US" sz="4400" spc="-93" dirty="0">
              <a:solidFill>
                <a:srgbClr val="2D2DB9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092" y="3548802"/>
            <a:ext cx="699230" cy="4342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dirty="0">
              <a:solidFill>
                <a:prstClr val="black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581821" y="6006725"/>
            <a:ext cx="2112895" cy="624931"/>
          </a:xfrm>
          <a:prstGeom prst="straightConnector1">
            <a:avLst/>
          </a:prstGeom>
          <a:ln w="38100">
            <a:solidFill>
              <a:srgbClr val="92D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5976498" y="6039924"/>
            <a:ext cx="2660691" cy="591731"/>
          </a:xfrm>
          <a:prstGeom prst="straightConnector1">
            <a:avLst/>
          </a:prstGeom>
          <a:ln w="28575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c 20"/>
          <p:cNvSpPr/>
          <p:nvPr/>
        </p:nvSpPr>
        <p:spPr>
          <a:xfrm rot="10397130">
            <a:off x="1532401" y="-172682"/>
            <a:ext cx="2424987" cy="7385647"/>
          </a:xfrm>
          <a:prstGeom prst="arc">
            <a:avLst>
              <a:gd name="adj1" fmla="val 16966410"/>
              <a:gd name="adj2" fmla="val 3744949"/>
            </a:avLst>
          </a:prstGeom>
          <a:ln w="38100">
            <a:solidFill>
              <a:srgbClr val="92D05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846552"/>
            <a:endParaRPr lang="zh-TW" altLang="en-US" sz="1666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6648" y="4638448"/>
            <a:ext cx="3391249" cy="4342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Why does</a:t>
            </a:r>
            <a:r>
              <a:rPr lang="en-US" altLang="zh-TW" sz="2222" spc="-204" dirty="0">
                <a:solidFill>
                  <a:srgbClr val="87BCE1"/>
                </a:solidFill>
                <a:latin typeface="Lucida Console" panose="020B0609040504020204" pitchFamily="49" charset="0"/>
              </a:rPr>
              <a:t>n’</a:t>
            </a:r>
            <a:r>
              <a:rPr lang="en-US" altLang="zh-TW" sz="2222" dirty="0">
                <a:solidFill>
                  <a:srgbClr val="87BCE1"/>
                </a:solidFill>
                <a:latin typeface="Lucida Console" panose="020B0609040504020204" pitchFamily="49" charset="0"/>
              </a:rPr>
              <a:t>t it now?</a:t>
            </a:r>
            <a:endParaRPr lang="zh-TW" altLang="en-US" sz="2222" dirty="0">
              <a:solidFill>
                <a:srgbClr val="87BCE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161" y="5693813"/>
            <a:ext cx="699230" cy="4342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846552"/>
            <a:r>
              <a:rPr lang="en-US" altLang="zh-TW" sz="2222" dirty="0">
                <a:solidFill>
                  <a:prstClr val="white">
                    <a:lumMod val="8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222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49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 animBg="1"/>
      <p:bldP spid="22" grpId="0"/>
      <p:bldP spid="23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415842" y="758144"/>
            <a:ext cx="9287516" cy="60998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3148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Its not a pointer. So what good is it?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1481" dirty="0">
              <a:solidFill>
                <a:srgbClr val="0033CC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TW" sz="3148" spc="-37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</a:t>
            </a:r>
            <a:r>
              <a:rPr lang="en-US" altLang="zh-TW" sz="3148" spc="-37" dirty="0" err="1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memoryview</a:t>
            </a:r>
            <a:r>
              <a:rPr lang="en-US" altLang="zh-TW" sz="3148" spc="-37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 is used when you need subsets of </a:t>
            </a:r>
            <a:r>
              <a:rPr lang="en-US" altLang="zh-TW" sz="3148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binary data that only need to support indexing. </a:t>
            </a:r>
          </a:p>
          <a:p>
            <a:pPr lvl="1">
              <a:lnSpc>
                <a:spcPct val="100000"/>
              </a:lnSpc>
            </a:pPr>
            <a:r>
              <a:rPr lang="en-US" altLang="zh-TW" sz="2963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Although that means that it only works with bytes and </a:t>
            </a:r>
            <a:r>
              <a:rPr lang="en-US" altLang="zh-TW" sz="2963" dirty="0" err="1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bytearray</a:t>
            </a:r>
            <a:r>
              <a:rPr lang="en-US" altLang="zh-TW" sz="2963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, recall that other datatypes can be cast into a bytes or a </a:t>
            </a:r>
            <a:r>
              <a:rPr lang="en-US" altLang="zh-TW" sz="2963" dirty="0" err="1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bytearray</a:t>
            </a:r>
            <a:r>
              <a:rPr lang="en-US" altLang="zh-TW" sz="2963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.</a:t>
            </a:r>
          </a:p>
          <a:p>
            <a:pPr marL="457180" lvl="1" indent="0">
              <a:lnSpc>
                <a:spcPct val="100000"/>
              </a:lnSpc>
              <a:buNone/>
            </a:pPr>
            <a:endParaRPr lang="en-US" altLang="zh-TW" sz="1666" dirty="0">
              <a:solidFill>
                <a:srgbClr val="0033CC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TW" sz="3148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Instead of having to take slices (and create new, potentially large) objects to pass around you can </a:t>
            </a:r>
            <a:br>
              <a:rPr lang="en-US" altLang="zh-TW" sz="3148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</a:br>
            <a:r>
              <a:rPr lang="en-US" altLang="zh-TW" sz="3148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just take a </a:t>
            </a:r>
            <a:r>
              <a:rPr lang="en-US" altLang="zh-TW" sz="3148" dirty="0" err="1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memoryview</a:t>
            </a:r>
            <a:r>
              <a:rPr lang="en-US" altLang="zh-TW" sz="3148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 object.</a:t>
            </a:r>
          </a:p>
          <a:p>
            <a:pPr lvl="1">
              <a:lnSpc>
                <a:spcPct val="100000"/>
              </a:lnSpc>
            </a:pPr>
            <a:r>
              <a:rPr lang="en-US" altLang="zh-TW" sz="2963" dirty="0">
                <a:solidFill>
                  <a:srgbClr val="0033CC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This makes code faster, as the next slide shows...</a:t>
            </a:r>
            <a:endParaRPr lang="en-US" altLang="zh-TW" sz="2563" dirty="0">
              <a:solidFill>
                <a:srgbClr val="0033CC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0"/>
            <a:ext cx="9735832" cy="758145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Why do we want a </a:t>
            </a:r>
            <a:r>
              <a:rPr lang="en-GB" altLang="en-US" sz="4400" dirty="0" err="1">
                <a:solidFill>
                  <a:srgbClr val="2D2DB9"/>
                </a:solidFill>
                <a:cs typeface="Arial" panose="020B0604020202020204" pitchFamily="34" charset="0"/>
              </a:rPr>
              <a:t>memoryview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6180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70285" y="604159"/>
            <a:ext cx="8778515" cy="62383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 </a:t>
            </a:r>
            <a:r>
              <a:rPr lang="en-US" altLang="zh-TW" sz="259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import </a:t>
            </a:r>
            <a:r>
              <a:rPr lang="en-US" altLang="zh-TW" sz="2592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os</a:t>
            </a:r>
            <a:endParaRPr lang="en-US" altLang="zh-TW" sz="2592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 </a:t>
            </a:r>
            <a:r>
              <a:rPr lang="en-US" altLang="zh-TW" sz="259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592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os.system</a:t>
            </a:r>
            <a:r>
              <a:rPr lang="en-US" altLang="zh-TW" sz="259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("cat</a:t>
            </a: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 byteexample.py</a:t>
            </a:r>
            <a:r>
              <a:rPr lang="en-US" altLang="zh-TW" sz="2592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import time</a:t>
            </a: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b= data= </a:t>
            </a:r>
            <a:r>
              <a:rPr lang="en-US" altLang="zh-TW" sz="2592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bytes(300000</a:t>
            </a:r>
            <a:r>
              <a:rPr lang="en-US" altLang="zh-TW" sz="2592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592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inherit"/>
              </a:rPr>
              <a:t>#An</a:t>
            </a:r>
            <a:r>
              <a:rPr lang="en-US" altLang="zh-TW" sz="20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592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inherit"/>
              </a:rPr>
              <a:t>all</a:t>
            </a:r>
            <a:r>
              <a:rPr lang="en-US" altLang="zh-TW" sz="20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592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inherit"/>
              </a:rPr>
              <a:t>0</a:t>
            </a:r>
            <a:r>
              <a:rPr lang="en-US" altLang="zh-TW" sz="20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592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0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592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inherit"/>
              </a:rPr>
              <a:t>chunk</a:t>
            </a:r>
            <a:endParaRPr lang="en-US" altLang="zh-TW" sz="2592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start = </a:t>
            </a:r>
            <a:r>
              <a:rPr lang="en-US" altLang="zh-TW" sz="2592" dirty="0" err="1">
                <a:latin typeface="Lucida Console" panose="020B0609040504020204" pitchFamily="49" charset="0"/>
                <a:ea typeface="inherit"/>
              </a:rPr>
              <a:t>time.time</a:t>
            </a: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()</a:t>
            </a: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while b:</a:t>
            </a: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   </a:t>
            </a:r>
            <a:r>
              <a:rPr lang="en-US" altLang="zh-TW" sz="2592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 = b[1:]</a:t>
            </a: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print('bytes:', </a:t>
            </a:r>
            <a:r>
              <a:rPr lang="en-US" altLang="zh-TW" sz="2592" dirty="0" err="1">
                <a:latin typeface="Lucida Console" panose="020B0609040504020204" pitchFamily="49" charset="0"/>
                <a:ea typeface="inherit"/>
              </a:rPr>
              <a:t>time.time</a:t>
            </a: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()-</a:t>
            </a:r>
            <a:r>
              <a:rPr lang="en-US" altLang="zh-TW" sz="2592" dirty="0" smtClean="0">
                <a:latin typeface="Lucida Console" panose="020B0609040504020204" pitchFamily="49" charset="0"/>
                <a:ea typeface="inherit"/>
              </a:rPr>
              <a:t>start, "sec")</a:t>
            </a:r>
            <a:endParaRPr lang="en-US" altLang="zh-TW" sz="2592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m = </a:t>
            </a:r>
            <a:r>
              <a:rPr lang="en-US" altLang="zh-TW" sz="2592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memoryview</a:t>
            </a:r>
            <a:r>
              <a:rPr lang="en-US" altLang="zh-TW" sz="2592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(data)</a:t>
            </a: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start = </a:t>
            </a:r>
            <a:r>
              <a:rPr lang="en-US" altLang="zh-TW" sz="2592" dirty="0" err="1">
                <a:latin typeface="Lucida Console" panose="020B0609040504020204" pitchFamily="49" charset="0"/>
                <a:ea typeface="inherit"/>
              </a:rPr>
              <a:t>time.time</a:t>
            </a: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()</a:t>
            </a: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while m:</a:t>
            </a: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592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  m = m[1:]</a:t>
            </a: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print('</a:t>
            </a:r>
            <a:r>
              <a:rPr lang="en-US" altLang="zh-TW" sz="2592" dirty="0" err="1">
                <a:latin typeface="Lucida Console" panose="020B0609040504020204" pitchFamily="49" charset="0"/>
                <a:ea typeface="inherit"/>
              </a:rPr>
              <a:t>mview</a:t>
            </a: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:', </a:t>
            </a:r>
            <a:r>
              <a:rPr lang="en-US" altLang="zh-TW" sz="2592" dirty="0" err="1">
                <a:latin typeface="Lucida Console" panose="020B0609040504020204" pitchFamily="49" charset="0"/>
                <a:ea typeface="inherit"/>
              </a:rPr>
              <a:t>time.time</a:t>
            </a: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()-start, "sec")</a:t>
            </a: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 </a:t>
            </a:r>
            <a:r>
              <a:rPr lang="en-US" altLang="zh-TW" sz="2592" dirty="0">
                <a:latin typeface="Lucida Console" panose="020B0609040504020204" pitchFamily="49" charset="0"/>
                <a:ea typeface="inherit"/>
              </a:rPr>
              <a:t>import </a:t>
            </a:r>
            <a:r>
              <a:rPr lang="en-US" altLang="zh-TW" sz="2592" dirty="0" err="1">
                <a:latin typeface="Lucida Console" panose="020B0609040504020204" pitchFamily="49" charset="0"/>
                <a:ea typeface="inherit"/>
              </a:rPr>
              <a:t>byteexample</a:t>
            </a:r>
            <a:endParaRPr lang="en-US" altLang="zh-TW" sz="2592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bytes: </a:t>
            </a:r>
            <a:r>
              <a:rPr lang="en-US" altLang="zh-TW" sz="2592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9.126793384552002 sec</a:t>
            </a:r>
            <a:endParaRPr lang="en-US" altLang="zh-TW" sz="2592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mview</a:t>
            </a:r>
            <a:r>
              <a:rPr lang="en-US" altLang="zh-TW" sz="2592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: </a:t>
            </a:r>
            <a:r>
              <a:rPr lang="en-US" altLang="zh-TW" sz="2592" dirty="0" smtClean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0.04240107536315918 sec</a:t>
            </a:r>
            <a:endParaRPr lang="en-US" altLang="zh-TW" sz="2592" dirty="0">
              <a:solidFill>
                <a:schemeClr val="accent6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592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 </a:t>
            </a:r>
            <a:r>
              <a:rPr lang="en-US" altLang="zh-TW" sz="2592" dirty="0">
                <a:solidFill>
                  <a:srgbClr val="0033CC"/>
                </a:solidFill>
                <a:latin typeface="Lucida Console" panose="020B0609040504020204" pitchFamily="49" charset="0"/>
                <a:ea typeface="inherit"/>
              </a:rPr>
              <a:t>#It's faster because it didn’t copy 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0"/>
            <a:ext cx="9735832" cy="758145"/>
          </a:xfrm>
          <a:prstGeom prst="rect">
            <a:avLst/>
          </a:prstGeom>
        </p:spPr>
        <p:txBody>
          <a:bodyPr vert="horz" lIns="84659" tIns="42330" rIns="84659" bIns="42330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4320" algn="l"/>
                <a:tab pos="828639" algn="l"/>
                <a:tab pos="1242959" algn="l"/>
                <a:tab pos="1657278" algn="l"/>
                <a:tab pos="2073185" algn="l"/>
                <a:tab pos="2487505" algn="l"/>
                <a:tab pos="2901824" algn="l"/>
                <a:tab pos="3316144" algn="l"/>
                <a:tab pos="3732051" algn="l"/>
                <a:tab pos="4146370" algn="l"/>
                <a:tab pos="4560690" algn="l"/>
                <a:tab pos="4975009" algn="l"/>
                <a:tab pos="5390916" algn="l"/>
                <a:tab pos="5805236" algn="l"/>
                <a:tab pos="6219555" algn="l"/>
                <a:tab pos="6633875" algn="l"/>
                <a:tab pos="7049782" algn="l"/>
                <a:tab pos="7464100" algn="l"/>
                <a:tab pos="7878421" algn="l"/>
                <a:tab pos="8292740" algn="l"/>
              </a:tabLst>
            </a:pP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Why do we want a </a:t>
            </a:r>
            <a:r>
              <a:rPr lang="en-GB" altLang="en-US" sz="4400" dirty="0" err="1">
                <a:solidFill>
                  <a:srgbClr val="2D2DB9"/>
                </a:solidFill>
                <a:cs typeface="Arial" panose="020B0604020202020204" pitchFamily="34" charset="0"/>
              </a:rPr>
              <a:t>memoryview</a:t>
            </a:r>
            <a:r>
              <a:rPr lang="en-GB" altLang="en-US" sz="4400" dirty="0">
                <a:solidFill>
                  <a:srgbClr val="2D2DB9"/>
                </a:solidFill>
                <a:cs typeface="Arial" panose="020B0604020202020204" pitchFamily="34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70529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0"/>
            <a:ext cx="90487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/>
                </a:solidFill>
                <a:latin typeface="Lucida Console" panose="020B0609040504020204" pitchFamily="49" charset="0"/>
                <a:ea typeface="inherit"/>
              </a:rPr>
              <a:t>%</a:t>
            </a: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 cat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60180" y="4645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2423228" y="11662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60478" y="-67115"/>
            <a:ext cx="3417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00" spc="-1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ea typeface="inherit"/>
              </a:rPr>
              <a:t>%</a:t>
            </a:r>
            <a:endParaRPr lang="en-US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9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0"/>
            <a:ext cx="90487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/>
                </a:solidFill>
                <a:latin typeface="Lucida Console" panose="020B0609040504020204" pitchFamily="49" charset="0"/>
                <a:ea typeface="inherit"/>
              </a:rPr>
              <a:t>%</a:t>
            </a: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 cat demo.py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print("</a:t>
            </a:r>
            <a:r>
              <a:rPr lang="en-US" altLang="zh-TW" sz="2200" spc="-160" dirty="0" smtClean="0">
                <a:latin typeface="Lucida Console" panose="020B0609040504020204" pitchFamily="49" charset="0"/>
                <a:ea typeface="inherit"/>
              </a:rPr>
              <a:t>Le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us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140" dirty="0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60" dirty="0" smtClean="0"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eve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functio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but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f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sli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print("\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nSuppose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we tried the following function:")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partReversedBadX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2</a:t>
            </a:r>
            <a:r>
              <a:rPr lang="en-US" altLang="zh-TW" sz="2200" spc="-180" dirty="0" smtClean="0"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p=reverse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 smtClean="0"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("A</a:t>
            </a:r>
            <a:r>
              <a:rPr lang="en-US" altLang="zh-TW" sz="20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problem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her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0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overwriting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instead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of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updatin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L=list(range(12))#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ll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try</a:t>
            </a:r>
            <a:r>
              <a:rPr lang="en-US" altLang="zh-TW" sz="16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changing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:"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;prin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x="partReversedBadX2(L[1:11]);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input("See that the contents of L did not change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.")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input("So we try again. Let's make it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update instead:")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 smtClean="0"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:p[: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]=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reverse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(L[1:11]);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input("See that the contents of L still did not change.")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t("\</a:t>
            </a:r>
            <a:r>
              <a:rPr lang="en-US" altLang="zh-TW" sz="2200" spc="-200" dirty="0" err="1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80" dirty="0" err="1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00" dirty="0" err="1">
                <a:latin typeface="Lucida Console" panose="020B0609040504020204" pitchFamily="49" charset="0"/>
                <a:ea typeface="inherit"/>
              </a:rPr>
              <a:t>his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 p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ro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bl</a:t>
            </a:r>
            <a:r>
              <a:rPr lang="en-US" altLang="zh-TW" sz="2200" spc="-5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m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20" dirty="0"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ol</a:t>
            </a:r>
            <a:r>
              <a:rPr lang="en-US" altLang="zh-TW" sz="2200" spc="-120" dirty="0" smtClean="0"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es sli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.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t'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s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K if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o 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slice:")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 smtClean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(L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 smtClean="0"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 smtClean="0"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 smtClean="0"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 smtClean="0"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 smtClean="0"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 smtClean="0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 smtClean="0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4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f(x):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x[10:15]=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478" y="-67115"/>
            <a:ext cx="3417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00" spc="-1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ea typeface="inherit"/>
              </a:rPr>
              <a:t>%</a:t>
            </a:r>
            <a:endParaRPr lang="en-US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45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1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1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1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1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1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1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1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"/>
                            </p:stCondLst>
                            <p:childTnLst>
                              <p:par>
                                <p:cTn id="4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1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1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"/>
                            </p:stCondLst>
                            <p:childTnLst>
                              <p:par>
                                <p:cTn id="5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1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"/>
                            </p:stCondLst>
                            <p:childTnLst>
                              <p:par>
                                <p:cTn id="6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1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1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1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00"/>
                            </p:stCondLst>
                            <p:childTnLst>
                              <p:par>
                                <p:cTn id="7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1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800"/>
                            </p:stCondLst>
                            <p:childTnLst>
                              <p:par>
                                <p:cTn id="7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1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900"/>
                            </p:stCondLst>
                            <p:childTnLst>
                              <p:par>
                                <p:cTn id="8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1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1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print("</a:t>
            </a:r>
            <a:r>
              <a:rPr lang="en-US" altLang="zh-TW" sz="2200" spc="-160" dirty="0" smtClean="0">
                <a:latin typeface="Lucida Console" panose="020B0609040504020204" pitchFamily="49" charset="0"/>
                <a:ea typeface="inherit"/>
              </a:rPr>
              <a:t>Le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us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140" dirty="0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60" dirty="0" smtClean="0"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eve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functio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but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f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sli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print("\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nSuppose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we tried the following function:")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partReversedBadX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2</a:t>
            </a:r>
            <a:r>
              <a:rPr lang="en-US" altLang="zh-TW" sz="2200" spc="-180" dirty="0" smtClean="0"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p=reverse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 smtClean="0"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("A</a:t>
            </a:r>
            <a:r>
              <a:rPr lang="en-US" altLang="zh-TW" sz="20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problem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her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0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overwriting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instead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of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updatin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L=list(range(12))#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ll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try</a:t>
            </a:r>
            <a:r>
              <a:rPr lang="en-US" altLang="zh-TW" sz="16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changing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:"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;prin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x="partReversedBadX2(L[1:11]);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input("See that the contents of L did not change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.")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input("So we try again. Let's make it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update instead:")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 smtClean="0"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:p[: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]=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reverse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(L[1:11]);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input("See that the contents of L still did not change.")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t("\</a:t>
            </a:r>
            <a:r>
              <a:rPr lang="en-US" altLang="zh-TW" sz="2200" spc="-200" dirty="0" err="1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80" dirty="0" err="1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00" dirty="0" err="1">
                <a:latin typeface="Lucida Console" panose="020B0609040504020204" pitchFamily="49" charset="0"/>
                <a:ea typeface="inherit"/>
              </a:rPr>
              <a:t>his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 p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ro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bl</a:t>
            </a:r>
            <a:r>
              <a:rPr lang="en-US" altLang="zh-TW" sz="2200" spc="-5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m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20" dirty="0"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ol</a:t>
            </a:r>
            <a:r>
              <a:rPr lang="en-US" altLang="zh-TW" sz="2200" spc="-120" dirty="0" smtClean="0"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es sli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.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t'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s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K if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o 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slice:")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 smtClean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(L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bg1"/>
                </a:solidFill>
                <a:latin typeface="Lucida Console" panose="020B0609040504020204" pitchFamily="49" charset="0"/>
                <a:ea typeface="inherit"/>
              </a:rPr>
              <a:t>%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python3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60180" y="6548064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3061671" y="6548064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60478" y="6480982"/>
            <a:ext cx="3417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00" spc="-1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ea typeface="inherit"/>
              </a:rPr>
              <a:t>%</a:t>
            </a:r>
            <a:endParaRPr lang="en-US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65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print("</a:t>
            </a:r>
            <a:r>
              <a:rPr lang="en-US" altLang="zh-TW" sz="2200" spc="-16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18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us</a:t>
            </a:r>
            <a:r>
              <a:rPr lang="en-US" altLang="zh-TW" sz="18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14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6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8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5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eve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5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15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8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18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functio</a:t>
            </a:r>
            <a:r>
              <a:rPr lang="en-US" altLang="zh-TW" sz="2200" spc="-15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but</a:t>
            </a:r>
            <a:r>
              <a:rPr lang="en-US" altLang="zh-TW" sz="1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f</a:t>
            </a:r>
            <a:r>
              <a:rPr lang="en-US" altLang="zh-TW" sz="2200" spc="-15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1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sli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4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5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print("\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we tried the following function: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partReversedBadX</a:t>
            </a:r>
            <a:r>
              <a:rPr lang="en-US" altLang="zh-TW" sz="2200" spc="-35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2</a:t>
            </a:r>
            <a:r>
              <a:rPr lang="en-US" altLang="zh-TW" sz="2200" spc="-18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p=reverse</a:t>
            </a:r>
            <a:r>
              <a:rPr lang="en-US" altLang="zh-TW" sz="2200" spc="-25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exec(x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("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0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</a:t>
            </a:r>
            <a:r>
              <a:rPr lang="en-US" altLang="zh-TW" sz="20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her</a:t>
            </a:r>
            <a:r>
              <a:rPr lang="en-US" altLang="zh-TW" sz="2200" spc="-2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0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overwriting</a:t>
            </a:r>
            <a:r>
              <a:rPr lang="en-US" altLang="zh-TW" sz="1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instead</a:t>
            </a:r>
            <a:r>
              <a:rPr lang="en-US" altLang="zh-TW" sz="1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of</a:t>
            </a:r>
            <a:r>
              <a:rPr lang="en-US" altLang="zh-TW" sz="1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updatin</a:t>
            </a:r>
            <a:r>
              <a:rPr lang="en-US" altLang="zh-TW" sz="2200" spc="-4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5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L=list(range(12))#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ll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try</a:t>
            </a:r>
            <a:r>
              <a:rPr lang="en-US" altLang="zh-TW" sz="16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changing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:"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;prin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x="partReversedBadX2(L[1:11]);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input("See that the contents of L did not change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.")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input("So we try again. Let's make it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update instead:")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 smtClean="0"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:p[: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]=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reverse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(L[1:11]);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input("See that the contents of L still did not change.")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t("\</a:t>
            </a:r>
            <a:r>
              <a:rPr lang="en-US" altLang="zh-TW" sz="2200" spc="-200" dirty="0" err="1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80" dirty="0" err="1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00" dirty="0" err="1">
                <a:latin typeface="Lucida Console" panose="020B0609040504020204" pitchFamily="49" charset="0"/>
                <a:ea typeface="inherit"/>
              </a:rPr>
              <a:t>his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 p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ro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bl</a:t>
            </a:r>
            <a:r>
              <a:rPr lang="en-US" altLang="zh-TW" sz="2200" spc="-5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m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20" dirty="0"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ol</a:t>
            </a:r>
            <a:r>
              <a:rPr lang="en-US" altLang="zh-TW" sz="2200" spc="-120" dirty="0" smtClean="0"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es sli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.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t'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s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K if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o 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slice:")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 smtClean="0"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(L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bg1"/>
                </a:solidFill>
                <a:latin typeface="Lucida Console" panose="020B0609040504020204" pitchFamily="49" charset="0"/>
                <a:ea typeface="inherit"/>
              </a:rPr>
              <a:t>%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python3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61671" y="6548064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60478" y="6480982"/>
            <a:ext cx="3417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00" spc="-1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ea typeface="inherit"/>
              </a:rPr>
              <a:t>%</a:t>
            </a:r>
            <a:endParaRPr lang="en-US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76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partReversedBadX</a:t>
            </a:r>
            <a:r>
              <a:rPr lang="en-US" altLang="zh-TW" sz="2200" spc="-35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2</a:t>
            </a:r>
            <a:r>
              <a:rPr lang="en-US" altLang="zh-TW" sz="2200" spc="-18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p=reverse</a:t>
            </a:r>
            <a:r>
              <a:rPr lang="en-US" altLang="zh-TW" sz="2200" spc="-25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;print(x</a:t>
            </a:r>
            <a:r>
              <a:rPr lang="en-US" altLang="zh-TW" sz="2200" spc="-350" dirty="0"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exec(x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input("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0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</a:t>
            </a:r>
            <a:r>
              <a:rPr lang="en-US" altLang="zh-TW" sz="20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her</a:t>
            </a:r>
            <a:r>
              <a:rPr lang="en-US" altLang="zh-TW" sz="2200" spc="-2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0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overwriting</a:t>
            </a:r>
            <a:r>
              <a:rPr lang="en-US" altLang="zh-TW" sz="1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instead</a:t>
            </a:r>
            <a:r>
              <a:rPr lang="en-US" altLang="zh-TW" sz="1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of</a:t>
            </a:r>
            <a:r>
              <a:rPr lang="en-US" altLang="zh-TW" sz="1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updatin</a:t>
            </a:r>
            <a:r>
              <a:rPr lang="en-US" altLang="zh-TW" sz="2200" spc="-4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5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200" dirty="0"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="L=list(range(12))# W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ll</a:t>
            </a:r>
            <a:r>
              <a:rPr lang="en-US" altLang="zh-TW" sz="16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try</a:t>
            </a:r>
            <a:r>
              <a:rPr lang="en-US" altLang="zh-TW" sz="16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changing</a:t>
            </a:r>
            <a:r>
              <a:rPr lang="en-US" altLang="zh-TW" sz="16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:"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;prin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x="partReversedBadX2(L[1:11]);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input("See that the contents of L did not change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input("So we try again. Let's make it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update instead:")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:p[: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]=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reverse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(L[1:11]);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input("See that the contents of L still did not change.")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t("\</a:t>
            </a:r>
            <a:r>
              <a:rPr lang="en-US" altLang="zh-TW" sz="2200" spc="-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his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p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ro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bl</a:t>
            </a:r>
            <a:r>
              <a:rPr lang="en-US" altLang="zh-TW" sz="2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ol</a:t>
            </a:r>
            <a:r>
              <a:rPr lang="en-US" altLang="zh-TW" sz="2200" spc="-12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es sli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t'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K if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 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(L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python3 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88320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x="L=list(range(12))# W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ll</a:t>
            </a:r>
            <a:r>
              <a:rPr lang="en-US" altLang="zh-TW" sz="16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try</a:t>
            </a:r>
            <a:r>
              <a:rPr lang="en-US" altLang="zh-TW" sz="16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changing</a:t>
            </a:r>
            <a:r>
              <a:rPr lang="en-US" altLang="zh-TW" sz="16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:"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;prin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x="partReversedBadX2(L[1:11]);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input("See that the contents of L did not change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input("So we try again. Let's make it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update instead:")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:p[: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]=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reverse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(L[1:11]);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input("See that the contents of L still did not change.")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t("\</a:t>
            </a:r>
            <a:r>
              <a:rPr lang="en-US" altLang="zh-TW" sz="2200" spc="-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his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p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ro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bl</a:t>
            </a:r>
            <a:r>
              <a:rPr lang="en-US" altLang="zh-TW" sz="2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ol</a:t>
            </a:r>
            <a:r>
              <a:rPr lang="en-US" altLang="zh-TW" sz="2200" spc="-12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es sli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t'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K if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 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(L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python3 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 partReversedBadX2(p):p=reversed(p</a:t>
            </a:r>
            <a:r>
              <a:rPr lang="en-US" altLang="zh-TW" sz="2200" spc="-10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accent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77304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x="partReversedBadX2(L[1:11]);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input("See that the contents of L did not change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input("So we try again. Let's make it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update instead:")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:p[: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]=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reverse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(L[1:11]);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input("See that the contents of L still did not change.")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t("\</a:t>
            </a:r>
            <a:r>
              <a:rPr lang="en-US" altLang="zh-TW" sz="2200" spc="-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his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p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ro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bl</a:t>
            </a:r>
            <a:r>
              <a:rPr lang="en-US" altLang="zh-TW" sz="2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ol</a:t>
            </a:r>
            <a:r>
              <a:rPr lang="en-US" altLang="zh-TW" sz="2200" spc="-12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es sli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t'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K if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 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(L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python3 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840662" y="6548064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88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partReversedBadX2(L[1:11]);</a:t>
            </a:r>
            <a:r>
              <a:rPr lang="en-US" altLang="zh-TW" sz="2200" spc="-10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exec(x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input("So we try again. Let's make it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update instead:")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:p[: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]=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reverse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(L[1:11]);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input("See that the contents of L still did not change.")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t("\</a:t>
            </a:r>
            <a:r>
              <a:rPr lang="en-US" altLang="zh-TW" sz="2200" spc="-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his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p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ro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bl</a:t>
            </a:r>
            <a:r>
              <a:rPr lang="en-US" altLang="zh-TW" sz="2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ol</a:t>
            </a:r>
            <a:r>
              <a:rPr lang="en-US" altLang="zh-TW" sz="2200" spc="-12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es sli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t'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K if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 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(L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solidFill>
                <a:schemeClr val="tx1">
                  <a:lumMod val="85000"/>
                  <a:lumOff val="1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python3 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840662" y="6548064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36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input("So we try again. Let's make it update instead:")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2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:p[: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]=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reverse</a:t>
            </a:r>
            <a:r>
              <a:rPr lang="en-US" altLang="zh-TW" sz="2200" spc="-2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1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(p</a:t>
            </a:r>
            <a:r>
              <a:rPr lang="en-US" altLang="zh-TW" sz="2200" spc="-26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;print(x</a:t>
            </a:r>
            <a:r>
              <a:rPr lang="en-US" altLang="zh-TW" sz="2200" spc="-35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(L[1:11]);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input("See that the contents of L still did not change.")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inpu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t("\</a:t>
            </a:r>
            <a:r>
              <a:rPr lang="en-US" altLang="zh-TW" sz="2200" spc="-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his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p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ro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bl</a:t>
            </a:r>
            <a:r>
              <a:rPr lang="en-US" altLang="zh-TW" sz="22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m 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2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ol</a:t>
            </a:r>
            <a:r>
              <a:rPr lang="en-US" altLang="zh-TW" sz="2200" spc="-12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es sli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.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3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t'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K if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o 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slice:")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(L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</a:t>
            </a: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python3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partReversedBadX2(L[1:11]);print(L</a:t>
            </a:r>
            <a:r>
              <a:rPr lang="en-US" altLang="zh-TW" sz="2200" spc="-100" dirty="0" smtClean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accent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00680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(L[1:11]);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input("See that the contents of L still did not change.")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inpu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t("\</a:t>
            </a:r>
            <a:r>
              <a:rPr lang="en-US" altLang="zh-TW" sz="2200" spc="-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his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p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ro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bl</a:t>
            </a:r>
            <a:r>
              <a:rPr lang="en-US" altLang="zh-TW" sz="22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m 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2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ol</a:t>
            </a:r>
            <a:r>
              <a:rPr lang="en-US" altLang="zh-TW" sz="2200" spc="-12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es sli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.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3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t'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K if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o 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slice:")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(L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</a:t>
            </a: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python3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.</a:t>
            </a: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931006" y="6548064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83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("See that the contents of L still did not change.")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inpu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t("\</a:t>
            </a:r>
            <a:r>
              <a:rPr lang="en-US" altLang="zh-TW" sz="2200" spc="-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8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his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p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ro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bl</a:t>
            </a:r>
            <a:r>
              <a:rPr lang="en-US" altLang="zh-TW" sz="22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m 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12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ol</a:t>
            </a:r>
            <a:r>
              <a:rPr lang="en-US" altLang="zh-TW" sz="2200" spc="-12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v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es sli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ce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.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3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t'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s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O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K if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o 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slice:")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(L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tx1">
                  <a:lumMod val="65000"/>
                  <a:lumOff val="3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65000"/>
                  <a:lumOff val="3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solidFill>
                <a:schemeClr val="tx1">
                  <a:lumMod val="65000"/>
                  <a:lumOff val="3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python3 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595149" y="6548064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97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partReversedBa</a:t>
            </a:r>
            <a:r>
              <a:rPr lang="en-US" altLang="zh-TW" sz="2200" spc="-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d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(L);print(L)";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c(x</a:t>
            </a:r>
            <a:r>
              <a:rPr lang="en-US" altLang="zh-TW" sz="2200" spc="-5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pr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5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2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input("\</a:t>
            </a:r>
            <a:r>
              <a:rPr lang="en-US" altLang="zh-TW" sz="22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nQ:How</a:t>
            </a:r>
            <a:r>
              <a:rPr lang="en-US" altLang="zh-TW" sz="18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can</a:t>
            </a:r>
            <a:r>
              <a:rPr lang="en-US" altLang="zh-TW" sz="18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sliced</a:t>
            </a:r>
            <a:r>
              <a:rPr lang="en-US" altLang="zh-TW" sz="18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data</a:t>
            </a:r>
            <a:r>
              <a:rPr lang="en-US" altLang="zh-TW" sz="2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be</a:t>
            </a:r>
            <a:r>
              <a:rPr lang="en-US" altLang="zh-TW" sz="2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updated?</a:t>
            </a:r>
            <a:r>
              <a:rPr lang="en-US" altLang="zh-TW" sz="18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A:Use</a:t>
            </a:r>
            <a:r>
              <a:rPr lang="en-US" altLang="zh-TW" sz="18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5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5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tx1">
                  <a:lumMod val="65000"/>
                  <a:lumOff val="3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(s,'</a:t>
            </a:r>
            <a:r>
              <a:rPr lang="en-US" altLang="zh-TW" sz="2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t(x);</a:t>
            </a:r>
            <a:r>
              <a:rPr lang="en-US" altLang="zh-TW" sz="2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python3 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b="1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38544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16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8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28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p,s</a:t>
            </a:r>
            <a:r>
              <a:rPr lang="en-US" altLang="zh-TW" sz="2200" spc="-26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=reversed(</a:t>
            </a:r>
            <a:r>
              <a:rPr lang="en-US" altLang="zh-TW" sz="2200" spc="-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[s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26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3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L,slice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(1,11));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print(L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)";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print(x</a:t>
            </a:r>
            <a:r>
              <a:rPr lang="en-US" altLang="zh-TW" sz="2200" spc="-3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(s,'</a:t>
            </a:r>
            <a:r>
              <a:rPr lang="en-US" altLang="zh-TW" sz="2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t(x);</a:t>
            </a:r>
            <a:r>
              <a:rPr lang="en-US" altLang="zh-TW" sz="2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python3 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b="1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.</a:t>
            </a: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857436" y="6548064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4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input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("\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nBT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W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18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ther</a:t>
            </a:r>
            <a:r>
              <a:rPr lang="en-US" altLang="zh-TW" sz="2200" spc="-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e'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0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another</a:t>
            </a:r>
            <a:r>
              <a:rPr lang="en-US" altLang="zh-TW" sz="2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way</a:t>
            </a:r>
            <a:r>
              <a:rPr lang="en-US" altLang="zh-TW" sz="18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to</a:t>
            </a:r>
            <a:r>
              <a:rPr lang="en-US" altLang="zh-TW" sz="2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18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it</a:t>
            </a:r>
            <a:r>
              <a:rPr lang="en-US" altLang="zh-TW" sz="18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for</a:t>
            </a:r>
            <a:r>
              <a:rPr lang="en-US" altLang="zh-TW" sz="20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bytearr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ays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")</a:t>
            </a:r>
            <a:endParaRPr lang="en-US" altLang="zh-TW" sz="2200" spc="-10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"s</a:t>
            </a:r>
            <a:r>
              <a:rPr lang="en-US" altLang="zh-TW" sz="2200" spc="-3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14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q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ui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k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ow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fox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3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j</a:t>
            </a:r>
            <a:r>
              <a:rPr lang="en-US" altLang="zh-TW" sz="2200" spc="-7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um</a:t>
            </a:r>
            <a:r>
              <a:rPr lang="en-US" altLang="zh-TW" sz="2200" spc="-13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ps</a:t>
            </a:r>
            <a:r>
              <a:rPr lang="en-US" altLang="zh-TW" sz="1400" spc="-2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8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ov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er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7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2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h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</a:t>
            </a:r>
            <a:r>
              <a:rPr lang="en-US" altLang="zh-TW" sz="11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3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14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z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14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4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</a:t>
            </a:r>
            <a:r>
              <a:rPr lang="en-US" altLang="zh-TW" sz="2200" spc="-26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n</a:t>
            </a:r>
            <a:r>
              <a:rPr lang="en-US" altLang="zh-TW" sz="2200" spc="-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;exec(x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f(x):x[10:15]=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="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(s,</a:t>
            </a:r>
            <a:r>
              <a:rPr lang="en-US" altLang="zh-TW" sz="2200" spc="-1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t(x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  <a:endParaRPr lang="en-US" altLang="zh-TW" sz="2200" spc="-400" dirty="0" smtClean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);f(</a:t>
            </a:r>
            <a:r>
              <a:rPr lang="en-US" altLang="zh-TW" sz="2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</a:t>
            </a:r>
            <a:r>
              <a:rPr lang="en-US" altLang="zh-TW" sz="2200" spc="-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</a:t>
            </a:r>
            <a:r>
              <a:rPr lang="en-US" altLang="zh-TW" sz="2200" spc="-1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python3 demo.py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b="1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8211161" y="6550470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29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f(x):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x[10:15]=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'";print(x);exec(x)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x="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bytearra</a:t>
            </a:r>
            <a:r>
              <a:rPr lang="en-US" altLang="zh-TW" sz="2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y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(s,'</a:t>
            </a:r>
            <a:r>
              <a:rPr lang="en-US" altLang="zh-TW" sz="22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asci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')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mv=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memory</a:t>
            </a:r>
            <a:r>
              <a:rPr lang="en-US" altLang="zh-TW" sz="2200" spc="-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vi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ew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4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t(x);</a:t>
            </a:r>
            <a:r>
              <a:rPr lang="en-US" altLang="zh-TW" sz="2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exe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 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f(</a:t>
            </a:r>
            <a:r>
              <a:rPr lang="en-US" altLang="zh-TW" sz="2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python3 demo.py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b="1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  <a:endParaRPr lang="en-US" altLang="zh-TW" sz="2200" spc="-100" dirty="0">
              <a:solidFill>
                <a:srgbClr val="2D2DB9"/>
              </a:solidFill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2965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"f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[19:])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</a:t>
            </a:r>
            <a:r>
              <a:rPr lang="en-US" altLang="zh-TW" sz="22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r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int(</a:t>
            </a:r>
            <a:r>
              <a:rPr lang="en-US" altLang="zh-TW" sz="22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f(</a:t>
            </a:r>
            <a:r>
              <a:rPr lang="en-US" altLang="zh-TW" sz="2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m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v[19</a:t>
            </a:r>
            <a:r>
              <a:rPr lang="en-US" altLang="zh-TW" sz="2200" spc="-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spc="-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]</a:t>
            </a:r>
            <a:r>
              <a:rPr lang="en-US" altLang="zh-TW" sz="2200" spc="-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</a:t>
            </a:r>
            <a:r>
              <a:rPr lang="en-US" altLang="zh-TW" sz="22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prin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t(</a:t>
            </a:r>
            <a:r>
              <a:rPr lang="en-US" altLang="zh-TW" sz="2200" spc="-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b</a:t>
            </a:r>
            <a:r>
              <a:rPr lang="en-US" altLang="zh-TW" sz="2200" spc="-2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a</a:t>
            </a:r>
            <a:r>
              <a:rPr lang="en-US" altLang="zh-TW" sz="2200" spc="-2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";prin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t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  <a:r>
              <a:rPr lang="en-US" altLang="zh-TW" sz="2200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;exe</a:t>
            </a:r>
            <a:r>
              <a:rPr lang="en-US" altLang="zh-TW" sz="2200" spc="-32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c</a:t>
            </a:r>
            <a:r>
              <a:rPr lang="en-US" altLang="zh-TW" sz="2200" spc="-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(x)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 python3 demo.py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b="1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0, 1, 2, 3, 4, 5, 6, 7, 8, 9, 10, 11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  <a:endParaRPr lang="en-US" altLang="zh-TW" sz="2200" spc="-100" dirty="0">
              <a:solidFill>
                <a:srgbClr val="2D2DB9"/>
              </a:solidFill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77075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b="1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0, 1, 2, 3, 4, 5, 6, 7, 8, 9, 10, 11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Q:How can sliced data be updated? A:Use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b="1" spc="-100" dirty="0" smtClean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):</a:t>
            </a:r>
            <a:endParaRPr lang="en-US" altLang="zh-TW" sz="2200" b="1" spc="-100" dirty="0">
              <a:solidFill>
                <a:srgbClr val="00B050"/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944062" y="6550470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20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6998" y="6363481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373062" y="976524"/>
            <a:ext cx="7537650" cy="3654619"/>
          </a:xfrm>
          <a:prstGeom prst="wedgeRoundRectCallout">
            <a:avLst>
              <a:gd name="adj1" fmla="val -38538"/>
              <a:gd name="adj2" fmla="val 89643"/>
              <a:gd name="adj3" fmla="val 16667"/>
            </a:avLst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683" numCol="1" rtlCol="0" anchor="t" anchorCtr="0" compatLnSpc="1">
            <a:prstTxWarp prst="textNoShape">
              <a:avLst/>
            </a:prstTxWarp>
          </a:bodyPr>
          <a:lstStyle/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  <a:defRPr/>
            </a:pPr>
            <a:r>
              <a:rPr lang="en-US" altLang="zh-TW" sz="2798" kern="0" dirty="0">
                <a:solidFill>
                  <a:srgbClr val="222222"/>
                </a:solidFill>
                <a:latin typeface="Calibri" panose="020F0502020204030204"/>
                <a:ea typeface="MS PGothic" pitchFamily="34" charset="-128"/>
              </a:rPr>
              <a:t> This lets you predefine slice (</a:t>
            </a:r>
            <a:r>
              <a:rPr lang="en-US" altLang="zh-TW" sz="2798" kern="0" dirty="0" err="1">
                <a:solidFill>
                  <a:srgbClr val="222222"/>
                </a:solidFill>
                <a:latin typeface="Calibri" panose="020F0502020204030204"/>
                <a:ea typeface="MS PGothic" pitchFamily="34" charset="-128"/>
              </a:rPr>
              <a:t>ie</a:t>
            </a:r>
            <a:r>
              <a:rPr lang="en-US" altLang="zh-TW" sz="2798" kern="0" dirty="0">
                <a:solidFill>
                  <a:srgbClr val="222222"/>
                </a:solidFill>
                <a:latin typeface="Calibri" panose="020F0502020204030204"/>
                <a:ea typeface="MS PGothic" pitchFamily="34" charset="-128"/>
              </a:rPr>
              <a:t>, […]) settings:</a:t>
            </a:r>
            <a:br>
              <a:rPr lang="en-US" altLang="zh-TW" sz="2798" kern="0" dirty="0">
                <a:solidFill>
                  <a:srgbClr val="222222"/>
                </a:solidFill>
                <a:latin typeface="Calibri" panose="020F0502020204030204"/>
                <a:ea typeface="MS PGothic" pitchFamily="34" charset="-128"/>
              </a:rPr>
            </a:br>
            <a:r>
              <a:rPr lang="en-US" altLang="zh-TW" sz="2798" kern="0" dirty="0">
                <a:solidFill>
                  <a:srgbClr val="222222"/>
                </a:solidFill>
                <a:latin typeface="Calibri" panose="020F0502020204030204"/>
                <a:ea typeface="MS PGothic" pitchFamily="34" charset="-128"/>
              </a:rPr>
              <a:t>  </a:t>
            </a:r>
            <a:r>
              <a:rPr lang="en-US" altLang="zh-TW" sz="23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list(range(</a:t>
            </a:r>
            <a:r>
              <a:rPr lang="en-US" altLang="zh-TW" sz="2398" b="1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20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)[</a:t>
            </a:r>
            <a:r>
              <a:rPr lang="en-US" altLang="zh-TW" sz="2398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13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:</a:t>
            </a:r>
            <a:r>
              <a:rPr lang="en-US" altLang="zh-TW" sz="2398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2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:</a:t>
            </a:r>
            <a:r>
              <a:rPr lang="en-US" altLang="zh-TW" sz="2398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-3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])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  <a:defRPr/>
            </a:pPr>
            <a:r>
              <a:rPr lang="en-US" altLang="zh-TW" sz="19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[</a:t>
            </a:r>
            <a:r>
              <a:rPr lang="en-US" altLang="zh-TW" sz="2398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13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en-US" altLang="zh-TW" sz="2398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10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en-US" altLang="zh-TW" sz="2398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7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en-US" altLang="zh-TW" sz="2398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4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]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  <a:defRPr/>
            </a:pP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lang="en-US" altLang="zh-TW" sz="23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lang="en-US" altLang="zh-TW" sz="2398" kern="0" dirty="0" err="1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sliceSettings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=</a:t>
            </a:r>
            <a:r>
              <a:rPr lang="en-US" altLang="zh-TW" sz="2398" b="1" kern="0" dirty="0">
                <a:solidFill>
                  <a:srgbClr val="00B050"/>
                </a:solidFill>
                <a:latin typeface="Lucida Console" panose="020B0609040504020204" pitchFamily="49" charset="0"/>
                <a:ea typeface="MS PGothic" pitchFamily="34" charset="-128"/>
              </a:rPr>
              <a:t>slice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(</a:t>
            </a:r>
            <a:r>
              <a:rPr lang="en-US" altLang="zh-TW" sz="2398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13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en-US" altLang="zh-TW" sz="2398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2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lang="en-US" altLang="zh-TW" sz="2398" kern="0" dirty="0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-3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)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  <a:defRPr/>
            </a:pP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lang="en-US" altLang="zh-TW" sz="23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list(range(</a:t>
            </a:r>
            <a:r>
              <a:rPr lang="en-US" altLang="zh-TW" sz="2398" b="1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20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)[</a:t>
            </a:r>
            <a:r>
              <a:rPr lang="en-US" altLang="zh-TW" sz="2398" kern="0" dirty="0" err="1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sliceSettings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])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  <a:defRPr/>
            </a:pPr>
            <a:r>
              <a:rPr lang="en-US" altLang="zh-TW" sz="19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[</a:t>
            </a:r>
            <a:r>
              <a:rPr lang="en-US" altLang="zh-TW" sz="2398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13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en-US" altLang="zh-TW" sz="2398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10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en-US" altLang="zh-TW" sz="2398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7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lang="en-US" altLang="zh-TW" sz="2398" kern="0" dirty="0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4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]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  <a:defRPr/>
            </a:pP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lang="en-US" altLang="zh-TW" sz="23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'</a:t>
            </a:r>
            <a:r>
              <a:rPr lang="en-US" altLang="zh-TW" sz="2398" kern="0" dirty="0" err="1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abcd</a:t>
            </a:r>
            <a:r>
              <a:rPr lang="en-US" altLang="zh-TW" sz="2398" kern="0" dirty="0" err="1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e</a:t>
            </a:r>
            <a:r>
              <a:rPr lang="en-US" altLang="zh-TW" sz="2398" kern="0" dirty="0" err="1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fg</a:t>
            </a:r>
            <a:r>
              <a:rPr lang="en-US" altLang="zh-TW" sz="2398" kern="0" dirty="0" err="1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h</a:t>
            </a:r>
            <a:r>
              <a:rPr lang="en-US" altLang="zh-TW" sz="2398" kern="0" dirty="0" err="1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ij</a:t>
            </a:r>
            <a:r>
              <a:rPr lang="en-US" altLang="zh-TW" sz="2398" kern="0" dirty="0" err="1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k</a:t>
            </a:r>
            <a:r>
              <a:rPr lang="en-US" altLang="zh-TW" sz="2398" kern="0" dirty="0" err="1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lm</a:t>
            </a:r>
            <a:r>
              <a:rPr lang="en-US" altLang="zh-TW" sz="2398" kern="0" dirty="0" err="1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n</a:t>
            </a:r>
            <a:r>
              <a:rPr lang="en-US" altLang="zh-TW" sz="2398" kern="0" dirty="0" err="1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o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'[</a:t>
            </a:r>
            <a:r>
              <a:rPr lang="en-US" altLang="zh-TW" sz="2398" kern="0" dirty="0" err="1">
                <a:solidFill>
                  <a:srgbClr val="339933"/>
                </a:solidFill>
                <a:latin typeface="Lucida Console" panose="020B0609040504020204" pitchFamily="49" charset="0"/>
                <a:ea typeface="MS PGothic" pitchFamily="34" charset="-128"/>
              </a:rPr>
              <a:t>sliceSettings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]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  <a:defRPr/>
            </a:pPr>
            <a:r>
              <a:rPr lang="en-US" altLang="zh-TW" sz="19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'</a:t>
            </a:r>
            <a:r>
              <a:rPr lang="en-US" altLang="zh-TW" sz="2398" kern="0" dirty="0" err="1">
                <a:solidFill>
                  <a:srgbClr val="FF0000"/>
                </a:solidFill>
                <a:latin typeface="Lucida Console" panose="020B0609040504020204" pitchFamily="49" charset="0"/>
                <a:ea typeface="MS PGothic" pitchFamily="34" charset="-128"/>
              </a:rPr>
              <a:t>nkhe</a:t>
            </a: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'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  <a:defRPr/>
            </a:pPr>
            <a:r>
              <a:rPr lang="en-US" altLang="zh-TW" sz="2398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lang="en-US" altLang="zh-TW" sz="23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</a:p>
        </p:txBody>
      </p:sp>
      <p:sp>
        <p:nvSpPr>
          <p:cNvPr id="9" name="Trapezoid 8"/>
          <p:cNvSpPr>
            <a:spLocks noChangeAspect="1"/>
          </p:cNvSpPr>
          <p:nvPr/>
        </p:nvSpPr>
        <p:spPr bwMode="auto">
          <a:xfrm rot="2700000" flipH="1">
            <a:off x="7447556" y="459518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 smtClean="0">
                <a:solidFill>
                  <a:srgbClr val="000000"/>
                </a:solidFill>
                <a:ea typeface="新細明體" charset="-120"/>
              </a:rPr>
              <a:t>Lecture 7</a:t>
            </a: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/>
            </a:r>
            <a:br>
              <a:rPr lang="en-US" sz="2592" dirty="0" smtClean="0">
                <a:solidFill>
                  <a:srgbClr val="000000"/>
                </a:solidFill>
                <a:ea typeface="新細明體" charset="-120"/>
              </a:rPr>
            </a:b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> Slide #128</a:t>
            </a:r>
            <a:endParaRPr lang="en-US" sz="3024" dirty="0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22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Let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us make a reversed( ) function, but for slices.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One 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>
              <a:lnSpc>
                <a:spcPct val="93000"/>
              </a:lnSpc>
              <a:spcBef>
                <a:spcPct val="0"/>
              </a:spcBef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>
              <a:lnSpc>
                <a:spcPct val="93000"/>
              </a:lnSpc>
              <a:spcBef>
                <a:spcPct val="0"/>
              </a:spcBef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>
              <a:lnSpc>
                <a:spcPct val="93000"/>
              </a:lnSpc>
              <a:spcBef>
                <a:spcPct val="0"/>
              </a:spcBef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>
              <a:lnSpc>
                <a:spcPct val="93000"/>
              </a:lnSpc>
              <a:spcBef>
                <a:spcPct val="0"/>
              </a:spcBef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0, 1, 2, 3, 4, 5, 6, 7, 8, 9, 10, 11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Q:How can sliced data be updated? A:Use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b="1" spc="-100" dirty="0" smtClean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):</a:t>
            </a:r>
            <a:endParaRPr lang="en-US" altLang="zh-TW" sz="2200" b="1" spc="-100" dirty="0">
              <a:solidFill>
                <a:srgbClr val="00B050"/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944062" y="6550470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84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Suppose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tried the following function: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One 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0, 1, 2, 3, 4, 5, 6, 7, 8, 9, 10, 11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Q:How can sliced data be updated? A:Use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):p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L,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(1,11)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);print(L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02464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partReversedBadX2(p):p=reversed(p)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One problem here: overwriting instead of updating.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0, 1, 2, 3, 4, 5, 6, 7, 8, 9, 10, 11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Q:How can sliced data be updated? A:Use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):p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L,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(1,11)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10, 9, 8, 7, 6, 5, 4, 3, 2, 1,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95516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L=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list(range(12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))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# We'll try changing L: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partReversedBadX2(L[1:11]);print(L)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0, 1, 2, 3, 4, 5, 6, 7, 8, 9, 10, 11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Q:How can sliced data be updated? A:Use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):p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L,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(1,11)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[0, 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10, 9, 8, 7, 6, 5, 4, 3, 2, 1,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BTW, there's another way to do it for </a:t>
            </a:r>
            <a:r>
              <a:rPr lang="en-US" altLang="zh-TW" sz="2200" spc="-1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bytearrays</a:t>
            </a: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  <a:endParaRPr lang="en-US" altLang="zh-TW" sz="2200" spc="-100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8012642" y="6550470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34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0, 1, 2, 3, 4, 5, 6, 7, 8, 9, 10, 11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Q:How can sliced data be updated? A:Use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):p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L,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(1,11)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0, 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10, 9, 8, 7, 6, 5, 4, 3, 2, 1,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BTW, there's another way to do it for </a:t>
            </a:r>
            <a:r>
              <a:rPr lang="en-US" altLang="zh-TW" sz="2200" spc="-1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bytearrays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s='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The quick brown fox 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jumps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over the lazy dog.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f(x):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x[10:15]=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'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18612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So 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we try again. Let's make it update instead: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(p):p</a:t>
            </a:r>
            <a:r>
              <a:rPr lang="en-US" altLang="zh-TW" sz="2200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[:]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(L[1:11]);print(L)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0, 1, 2, 3, 4, 5, 6, 7, 8, 9, 10, 11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Q:How can sliced data be updated? A:Use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):p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L,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(1,11)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0, 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10, 9, 8, 7, 6, 5, 4, 3, 2, 1,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BTW, there's another way to do it for </a:t>
            </a:r>
            <a:r>
              <a:rPr lang="en-US" altLang="zh-TW" sz="2200" spc="-1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bytearrays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s='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The quick brown fox 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jumps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over the lazy dog.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f(x):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x[10:15]=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b="1" spc="-100" dirty="0" err="1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bytearray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(s,'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ascii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');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mv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memoryview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b="1" spc="-100" dirty="0" err="1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f(</a:t>
            </a:r>
            <a:r>
              <a:rPr lang="en-US" altLang="zh-TW" sz="2200" b="1" spc="-100" dirty="0" err="1" smtClean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b="1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[19:]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f(</a:t>
            </a:r>
            <a:r>
              <a:rPr lang="en-US" altLang="zh-TW" sz="2200" b="1" spc="-100" dirty="0" smtClean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mv[19:]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</a:t>
            </a:r>
            <a:r>
              <a:rPr lang="en-US" altLang="zh-TW" sz="2200" b="1" spc="-100" dirty="0" err="1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88951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 smtClean="0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(L[1:11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]);print(L)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0, 1, 2, 3, 4, 5, 6, 7, 8, 9, 10, 11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Q:How can sliced data be updated? A:Use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):p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L,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(1,11)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0, 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10, 9, 8, 7, 6, 5, 4, 3, 2, 1,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BTW, there's another way to do it for </a:t>
            </a:r>
            <a:r>
              <a:rPr lang="en-US" altLang="zh-TW" sz="2200" spc="-1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bytearrays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s='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The quick brown fox 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jumps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over the lazy dog.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f(x):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x[10:15]=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b="1" spc="-100" dirty="0" err="1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bytearray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(s,'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ascii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');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mv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memoryview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b="1" spc="-100" dirty="0" err="1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f(</a:t>
            </a:r>
            <a:r>
              <a:rPr lang="en-US" altLang="zh-TW" sz="2200" b="1" spc="-100" dirty="0" err="1" smtClean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b="1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[19:]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f(</a:t>
            </a:r>
            <a:r>
              <a:rPr lang="en-US" altLang="zh-TW" sz="2200" b="1" spc="-100" dirty="0" smtClean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mv[19:]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</a:t>
            </a:r>
            <a:r>
              <a:rPr lang="en-US" altLang="zh-TW" sz="2200" b="1" spc="-100" dirty="0" err="1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bytearray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b'A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quick brown fox 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jumps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over the</a:t>
            </a:r>
            <a:r>
              <a:rPr lang="en-US" altLang="zh-TW" sz="20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lazy</a:t>
            </a:r>
            <a:r>
              <a:rPr lang="en-US" altLang="zh-TW" sz="20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5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3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bytearray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b'A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quick brown fox 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jumps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over 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my</a:t>
            </a:r>
            <a:r>
              <a:rPr lang="en-US" altLang="zh-TW" sz="20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azy</a:t>
            </a:r>
            <a:r>
              <a:rPr lang="en-US" altLang="zh-TW" sz="20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5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3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)</a:t>
            </a: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21643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"/>
    </mc:Choice>
    <mc:Fallback xmlns="">
      <p:transition spd="slow" advTm="100"/>
    </mc:Fallback>
  </mc:AlternateContent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52426" y="1"/>
            <a:ext cx="9048750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0, 1, 2, 3, 4, 5, 6, 7, 8, 9, 10, 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See that the contents of L still did not change.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This problem involves slices. It's OK if no slice: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11, 10, 9, 8, 7, 6, 5, 4, 3, 2, 1, 0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partReversedBad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(L);print(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0, 1, 2, 3, 4, 5, 6, 7, 8, 9, 10, 11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Q:How can sliced data be updated? A:Use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slice(</a:t>
            </a:r>
            <a:r>
              <a:rPr lang="en-US" altLang="zh-TW" sz="8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):p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=reversed(p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[s]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partReversed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L,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slice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(1,11)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);print(L)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[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0, 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10, 9, 8, 7, 6, 5, 4, 3, 2, 1,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11]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BTW, there's another way to do it for </a:t>
            </a:r>
            <a:r>
              <a:rPr lang="en-US" altLang="zh-TW" sz="2200" spc="-1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bytearrays</a:t>
            </a:r>
            <a:r>
              <a:rPr lang="en-US" altLang="zh-TW" sz="2200" spc="-1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: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s=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A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quick brown fox 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jumps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over the lazy dog.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f(x):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x[10:15]=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b'my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b="1" spc="-100" dirty="0" err="1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bytearray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(s,'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ascii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');</a:t>
            </a:r>
            <a:r>
              <a:rPr lang="en-US" altLang="zh-TW" sz="2200" b="1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mv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=</a:t>
            </a:r>
            <a:r>
              <a:rPr lang="en-US" altLang="zh-TW" sz="22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memoryview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b="1" spc="-100" dirty="0" err="1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f(</a:t>
            </a:r>
            <a:r>
              <a:rPr lang="en-US" altLang="zh-TW" sz="2200" b="1" spc="-100" dirty="0" err="1" smtClean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b="1" spc="-100" dirty="0" smtClean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[19:]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</a:t>
            </a:r>
            <a:r>
              <a:rPr lang="en-US" altLang="zh-TW" sz="2200" spc="-100" dirty="0" err="1"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f(</a:t>
            </a:r>
            <a:r>
              <a:rPr lang="en-US" altLang="zh-TW" sz="2200" b="1" spc="-100" dirty="0" smtClean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mv[19:]</a:t>
            </a:r>
            <a:r>
              <a:rPr lang="en-US" altLang="zh-TW" sz="2200" spc="-100" dirty="0" smtClean="0">
                <a:latin typeface="Lucida Console" panose="020B0609040504020204" pitchFamily="49" charset="0"/>
                <a:ea typeface="inherit"/>
              </a:rPr>
              <a:t>);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print(</a:t>
            </a:r>
            <a:r>
              <a:rPr lang="en-US" altLang="zh-TW" sz="2200" b="1" spc="-100" dirty="0" err="1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ba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bytearray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b'A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quick brown fox 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jumps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over the</a:t>
            </a:r>
            <a:r>
              <a:rPr lang="en-US" altLang="zh-TW" sz="20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lazy</a:t>
            </a:r>
            <a:r>
              <a:rPr lang="en-US" altLang="zh-TW" sz="20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5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3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 err="1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bytearray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200" spc="-100" dirty="0" err="1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b'A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quick brown fox </a:t>
            </a:r>
            <a:r>
              <a:rPr lang="en-US" altLang="zh-TW" sz="2200" spc="-100" dirty="0" smtClean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jumps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over </a:t>
            </a:r>
            <a:r>
              <a:rPr lang="en-US" altLang="zh-TW" sz="22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my</a:t>
            </a:r>
            <a:r>
              <a:rPr lang="en-US" altLang="zh-TW" sz="2000" spc="-100" dirty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 smtClean="0">
                <a:solidFill>
                  <a:srgbClr val="00B050"/>
                </a:solidFill>
                <a:latin typeface="Lucida Console" panose="020B0609040504020204" pitchFamily="49" charset="0"/>
                <a:ea typeface="inherit"/>
              </a:rPr>
              <a:t>cr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azy</a:t>
            </a:r>
            <a:r>
              <a:rPr lang="en-US" altLang="zh-TW" sz="20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do</a:t>
            </a:r>
            <a:r>
              <a:rPr lang="en-US" altLang="zh-TW" sz="2200" spc="-3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g</a:t>
            </a:r>
            <a:r>
              <a:rPr lang="en-US" altLang="zh-TW" sz="2200" spc="-5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.</a:t>
            </a:r>
            <a:r>
              <a:rPr lang="en-US" altLang="zh-TW" sz="2200" spc="-3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'</a:t>
            </a:r>
            <a:r>
              <a:rPr lang="en-US" altLang="zh-TW" sz="2200" spc="-1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20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ea typeface="inherit"/>
              </a:rPr>
              <a:t>%</a:t>
            </a:r>
          </a:p>
          <a:p>
            <a:pPr marL="0" indent="0" defTabSz="846552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TW" sz="2200" spc="-1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inheri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60180" y="6548064"/>
            <a:ext cx="0" cy="274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3703320" y="4973782"/>
            <a:ext cx="3794442" cy="339436"/>
            <a:chOff x="3703320" y="4973782"/>
            <a:chExt cx="3794442" cy="339436"/>
          </a:xfrm>
        </p:grpSpPr>
        <p:sp>
          <p:nvSpPr>
            <p:cNvPr id="8" name="Rectangle 7"/>
            <p:cNvSpPr/>
            <p:nvPr/>
          </p:nvSpPr>
          <p:spPr>
            <a:xfrm>
              <a:off x="3944265" y="5126499"/>
              <a:ext cx="3553497" cy="142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417" t="64748"/>
            <a:stretch/>
          </p:blipFill>
          <p:spPr>
            <a:xfrm>
              <a:off x="3703320" y="4973782"/>
              <a:ext cx="3713018" cy="339436"/>
            </a:xfrm>
            <a:prstGeom prst="rect">
              <a:avLst/>
            </a:prstGeom>
          </p:spPr>
        </p:pic>
      </p:grpSp>
      <p:sp>
        <p:nvSpPr>
          <p:cNvPr id="18" name="Rectangle 17"/>
          <p:cNvSpPr/>
          <p:nvPr/>
        </p:nvSpPr>
        <p:spPr>
          <a:xfrm>
            <a:off x="1965595" y="4926283"/>
            <a:ext cx="9701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00" b="1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10</a:t>
            </a:r>
            <a:r>
              <a:rPr lang="en-US" altLang="zh-TW" sz="2200" spc="-100" dirty="0">
                <a:latin typeface="Lucida Console" panose="020B0609040504020204" pitchFamily="49" charset="0"/>
                <a:ea typeface="inherit"/>
              </a:rPr>
              <a:t>:</a:t>
            </a:r>
            <a:r>
              <a:rPr lang="en-US" altLang="zh-TW" sz="2200" b="1" spc="-1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15</a:t>
            </a:r>
            <a:endParaRPr lang="en-US" sz="2200" dirty="0"/>
          </a:p>
        </p:txBody>
      </p:sp>
      <p:sp>
        <p:nvSpPr>
          <p:cNvPr id="17" name="Arc 16"/>
          <p:cNvSpPr/>
          <p:nvPr/>
        </p:nvSpPr>
        <p:spPr>
          <a:xfrm rot="301670" flipV="1">
            <a:off x="1945634" y="4289545"/>
            <a:ext cx="3533831" cy="1257946"/>
          </a:xfrm>
          <a:prstGeom prst="arc">
            <a:avLst>
              <a:gd name="adj1" fmla="val 11876696"/>
              <a:gd name="adj2" fmla="val 21256906"/>
            </a:avLst>
          </a:prstGeom>
          <a:ln w="381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314205" y="4651678"/>
            <a:ext cx="811957" cy="34906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432518" y="4972050"/>
            <a:ext cx="837430" cy="34906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4297362" y="4905983"/>
            <a:ext cx="997727" cy="23751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768927" y="4350026"/>
            <a:ext cx="6592170" cy="353592"/>
            <a:chOff x="768927" y="4350026"/>
            <a:chExt cx="6592170" cy="353592"/>
          </a:xfrm>
        </p:grpSpPr>
        <p:sp>
          <p:nvSpPr>
            <p:cNvPr id="7" name="Rectangle 6"/>
            <p:cNvSpPr/>
            <p:nvPr/>
          </p:nvSpPr>
          <p:spPr>
            <a:xfrm>
              <a:off x="822332" y="4408789"/>
              <a:ext cx="6537302" cy="142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3" b="63309"/>
            <a:stretch/>
          </p:blipFill>
          <p:spPr>
            <a:xfrm>
              <a:off x="768927" y="4350327"/>
              <a:ext cx="6592170" cy="353291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3783012" y="4414630"/>
              <a:ext cx="126379" cy="12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46" r="30701" b="63309"/>
            <a:stretch/>
          </p:blipFill>
          <p:spPr>
            <a:xfrm>
              <a:off x="3803719" y="4350026"/>
              <a:ext cx="119270" cy="353291"/>
            </a:xfrm>
            <a:prstGeom prst="rect">
              <a:avLst/>
            </a:prstGeom>
          </p:spPr>
        </p:pic>
        <p:sp>
          <p:nvSpPr>
            <p:cNvPr id="28" name="Rectangle 27"/>
            <p:cNvSpPr/>
            <p:nvPr/>
          </p:nvSpPr>
          <p:spPr>
            <a:xfrm>
              <a:off x="3783012" y="4410075"/>
              <a:ext cx="68263" cy="1222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5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882" t="8086" r="26446" b="80560"/>
            <a:stretch/>
          </p:blipFill>
          <p:spPr>
            <a:xfrm>
              <a:off x="3806203" y="4425398"/>
              <a:ext cx="45719" cy="109330"/>
            </a:xfrm>
            <a:prstGeom prst="rect">
              <a:avLst/>
            </a:prstGeom>
          </p:spPr>
        </p:pic>
      </p:grpSp>
      <p:cxnSp>
        <p:nvCxnSpPr>
          <p:cNvPr id="11" name="Straight Arrow Connector 10"/>
          <p:cNvCxnSpPr/>
          <p:nvPr/>
        </p:nvCxnSpPr>
        <p:spPr>
          <a:xfrm flipV="1">
            <a:off x="1473684" y="4519537"/>
            <a:ext cx="2352586" cy="113241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3899138" y="4523976"/>
            <a:ext cx="604992" cy="110536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97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17" grpId="0" animBg="1"/>
      <p:bldP spid="17" grpId="1" animBg="1"/>
      <p:bldP spid="19" grpId="0" animBg="1"/>
      <p:bldP spid="15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Open 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endParaRPr lang="en-US" altLang="zh-TW" sz="20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endParaRPr lang="en-US" altLang="zh-TW" sz="20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998" y="6363481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983162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513038" y="1145484"/>
            <a:ext cx="1734832" cy="334356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anchor="b" anchorCtr="1">
            <a:noAutofit/>
          </a:bodyPr>
          <a:lstStyle/>
          <a:p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b="1" kern="0" spc="-200" dirty="0" err="1">
                <a:solidFill>
                  <a:srgbClr val="FFFF00"/>
                </a:solidFill>
                <a:latin typeface="Consolas" panose="020B0609020204030204" pitchFamily="49" charset="0"/>
              </a:rPr>
              <a:t>w</a:t>
            </a:r>
            <a:endParaRPr lang="en-US" sz="2600" b="1" dirty="0">
              <a:solidFill>
                <a:srgbClr val="FFFF00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058862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rapezoid 9"/>
          <p:cNvSpPr>
            <a:spLocks noChangeAspect="1"/>
          </p:cNvSpPr>
          <p:nvPr/>
        </p:nvSpPr>
        <p:spPr bwMode="auto">
          <a:xfrm rot="2700000" flipH="1">
            <a:off x="8141487" y="260435"/>
            <a:ext cx="2101380" cy="572468"/>
          </a:xfrm>
          <a:prstGeom prst="trapezoid">
            <a:avLst>
              <a:gd name="adj" fmla="val 99928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> Slide #16</a:t>
            </a:r>
            <a:endParaRPr lang="en-US" sz="3024" dirty="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3502" y="1485901"/>
            <a:ext cx="649615" cy="350850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 anchor="b" anchorCtr="1">
            <a:noAutofit/>
          </a:bodyPr>
          <a:lstStyle/>
          <a:p>
            <a:r>
              <a:rPr lang="en-US" altLang="zh-TW" sz="26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sz="2600" b="1" dirty="0">
              <a:solidFill>
                <a:srgbClr val="FF66CC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 rot="20847120">
            <a:off x="227844" y="937642"/>
            <a:ext cx="2110879" cy="90121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97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3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b="1" kern="0" spc="-200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b="1" kern="0" spc="-200" dirty="0">
                <a:solidFill>
                  <a:srgbClr val="00B0F0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FF66CC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b="1" kern="0" spc="-200" dirty="0">
                <a:solidFill>
                  <a:srgbClr val="FF66CC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Open 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schemeClr val="bg1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object which references the given object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15775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b="1" kern="0" spc="-2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Open 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</a:t>
            </a:r>
            <a:r>
              <a:rPr lang="en-US" altLang="zh-TW" sz="2400" kern="0" spc="-25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6998" y="6383628"/>
            <a:ext cx="732893" cy="45934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068762" y="6491321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058862" y="6491321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65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Open 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88675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__[:205]+'...'+</a:t>
            </a:r>
            <a:r>
              <a:rPr lang="en-US" altLang="zh-TW" sz="2400" b="1" kern="0" spc="-100" dirty="0" err="1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__[379:673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Open 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998" y="6383628"/>
            <a:ext cx="732893" cy="45934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068762" y="6491321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58862" y="6491321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18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Open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file and return a stream.  Raise </a:t>
            </a:r>
            <a:r>
              <a:rPr lang="en-US" altLang="zh-TW" sz="2400" kern="0" spc="-150" dirty="0" err="1">
                <a:solidFill>
                  <a:schemeClr val="bg1"/>
                </a:solidFill>
                <a:latin typeface="Consolas" panose="020B0609020204030204" pitchFamily="49" charset="0"/>
              </a:rPr>
              <a:t>OSError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upon failure.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535195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sz="2400" kern="0" spc="-25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998" y="6363183"/>
            <a:ext cx="732893" cy="437668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9D9D9D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725612" y="6420333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39812" y="6420333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23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either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2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or byte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giving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(and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path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72152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working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directory)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be opened ...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105" y="6354691"/>
            <a:ext cx="732893" cy="45934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725612" y="64145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55969" y="64145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61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be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opened ...</a:t>
            </a:r>
          </a:p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64999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endParaRPr lang="en-US" altLang="zh-TW" sz="2400" kern="0" spc="-25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exit()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105" y="6398653"/>
            <a:ext cx="732893" cy="45934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19313" y="649823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55969" y="645847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43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exit()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%  </a:t>
            </a:r>
            <a:r>
              <a:rPr lang="en-US" altLang="zh-TW" sz="2600" kern="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endParaRPr lang="en-US" altLang="zh-TW" sz="2600" kern="0" spc="-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39762" y="647166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4105" y="6035041"/>
            <a:ext cx="732893" cy="4800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55969" y="611557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18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optional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that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specifies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which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</a:p>
          <a:p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prstClr val="black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remove(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remove('</a:t>
            </a:r>
            <a:r>
              <a:rPr lang="en-US" altLang="zh-TW" sz="24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')</a:t>
            </a:r>
            <a:endParaRPr lang="en-US" altLang="zh-TW" sz="2400" kern="0" spc="-10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.remove('</a:t>
            </a:r>
            <a:r>
              <a:rPr lang="en-US" altLang="zh-TW" sz="2400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.remove('</a:t>
            </a:r>
            <a:r>
              <a:rPr lang="en-US" altLang="zh-TW" sz="2400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05" y="6435090"/>
            <a:ext cx="732893" cy="4800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55969" y="6515627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869112" y="6515099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94105" y="6035041"/>
            <a:ext cx="732893" cy="4800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312" y="611505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871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r>
              <a:rPr lang="en-US" altLang="zh-TW" sz="2400" kern="0" spc="-2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kern="0" spc="-22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opened.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defaults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'r'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which means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reading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0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20" dirty="0">
                <a:solidFill>
                  <a:schemeClr val="bg1"/>
                </a:solidFill>
                <a:latin typeface="Consolas" panose="020B0609020204030204" pitchFamily="49" charset="0"/>
              </a:rPr>
              <a:t>text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mode.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remove(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remove('</a:t>
            </a:r>
            <a:r>
              <a:rPr lang="en-US" altLang="zh-TW" sz="24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')</a:t>
            </a:r>
            <a:endParaRPr lang="en-US" altLang="zh-TW" sz="2400" kern="0" spc="-10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.remove('</a:t>
            </a:r>
            <a:r>
              <a:rPr lang="en-US" altLang="zh-TW" sz="2400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.remove('</a:t>
            </a:r>
            <a:r>
              <a:rPr lang="en-US" altLang="zh-TW" sz="2400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'filter',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41835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mode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Other</a:t>
            </a:r>
            <a:r>
              <a:rPr lang="en-US" altLang="zh-TW" sz="20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common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values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ar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'w'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truncating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file</a:t>
            </a:r>
            <a:r>
              <a:rPr lang="en-US" altLang="zh-TW" sz="18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</a:p>
          <a:p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remove(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remove('</a:t>
            </a:r>
            <a:r>
              <a:rPr lang="en-US" altLang="zh-TW" sz="24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')</a:t>
            </a:r>
            <a:endParaRPr lang="en-US" altLang="zh-TW" sz="2400" kern="0" spc="-10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.remove('</a:t>
            </a:r>
            <a:r>
              <a:rPr lang="en-US" altLang="zh-TW" sz="2400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.remove('</a:t>
            </a:r>
            <a:r>
              <a:rPr lang="en-US" altLang="zh-TW" sz="2400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'filter',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'map', 'next',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41079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r>
              <a:rPr lang="en-US" altLang="zh-TW" sz="24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1800" kern="0" spc="-1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already</a:t>
            </a:r>
            <a:r>
              <a:rPr lang="en-US" altLang="zh-TW" sz="18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exist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s),</a:t>
            </a:r>
            <a:r>
              <a:rPr lang="en-US" altLang="zh-TW" sz="20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550" dirty="0">
                <a:solidFill>
                  <a:schemeClr val="bg1"/>
                </a:solidFill>
                <a:latin typeface="Consolas" panose="020B0609020204030204" pitchFamily="49" charset="0"/>
              </a:rPr>
              <a:t>'x'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creating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writing</a:t>
            </a:r>
            <a:r>
              <a:rPr lang="en-US" altLang="zh-TW" sz="20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to</a:t>
            </a:r>
            <a:r>
              <a:rPr lang="en-US" altLang="zh-TW" sz="18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altLang="zh-TW" sz="1800" kern="0" spc="-18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80" dirty="0">
                <a:solidFill>
                  <a:schemeClr val="bg1"/>
                </a:solidFill>
                <a:latin typeface="Consolas" panose="020B0609020204030204" pitchFamily="49" charset="0"/>
              </a:rPr>
              <a:t>fil</a:t>
            </a:r>
            <a:r>
              <a:rPr lang="en-US" altLang="zh-TW" sz="24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e,</a:t>
            </a:r>
            <a:r>
              <a:rPr lang="en-US" altLang="zh-TW" sz="1800" kern="0" spc="-3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50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</a:p>
          <a:p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'a'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remove(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remove('</a:t>
            </a:r>
            <a:r>
              <a:rPr lang="en-US" altLang="zh-TW" sz="24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')</a:t>
            </a:r>
            <a:endParaRPr lang="en-US" altLang="zh-TW" sz="2400" kern="0" spc="-10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.remove('</a:t>
            </a:r>
            <a:r>
              <a:rPr lang="en-US" altLang="zh-TW" sz="2400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.remove('</a:t>
            </a:r>
            <a:r>
              <a:rPr lang="en-US" altLang="zh-TW" sz="2400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'filter',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'map', 'next',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'object',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'property',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']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18679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'a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16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appending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prstClr val="white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prstClr val="white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() or Ctrl-D (i.e. EOF) to exit </a:t>
            </a:r>
            <a:endParaRPr lang="en-US" altLang="zh-TW" sz="2400" kern="0" spc="-1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remove(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kern="0" spc="-100" dirty="0">
                <a:solidFill>
                  <a:prstClr val="white"/>
                </a:solidFill>
                <a:latin typeface="Consolas" panose="020B0609020204030204" pitchFamily="49" charset="0"/>
              </a:rPr>
              <a:t>remove('</a:t>
            </a:r>
            <a:r>
              <a:rPr lang="en-US" altLang="zh-TW" sz="24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open</a:t>
            </a:r>
            <a:r>
              <a:rPr lang="en-US" altLang="zh-TW" sz="2400" kern="0" spc="-100" dirty="0" smtClean="0">
                <a:solidFill>
                  <a:prstClr val="white"/>
                </a:solidFill>
                <a:latin typeface="Consolas" panose="020B0609020204030204" pitchFamily="49" charset="0"/>
              </a:rPr>
              <a:t>')</a:t>
            </a:r>
            <a:endParaRPr lang="en-US" altLang="zh-TW" sz="2400" kern="0" spc="-10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.remove('</a:t>
            </a:r>
            <a:r>
              <a:rPr lang="en-US" altLang="zh-TW" sz="2400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 smtClean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.remove('</a:t>
            </a:r>
            <a:r>
              <a:rPr lang="en-US" altLang="zh-TW" sz="2400" kern="0" spc="-100" dirty="0" smtClean="0">
                <a:solidFill>
                  <a:srgbClr val="FF66CC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'); </a:t>
            </a:r>
            <a:r>
              <a:rPr lang="en-US" altLang="zh-TW" sz="2400" b="1" kern="0" spc="-100" dirty="0">
                <a:solidFill>
                  <a:srgbClr val="FF3333"/>
                </a:solidFill>
                <a:latin typeface="Consolas" panose="020B0609020204030204" pitchFamily="49" charset="0"/>
              </a:rPr>
              <a:t>_</a:t>
            </a:r>
            <a:endParaRPr lang="en-US" altLang="zh-TW" sz="2400" kern="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'filter',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'map', 'next', 'object', 'property',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'super']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18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18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400" kern="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105" y="6384616"/>
            <a:ext cx="732893" cy="47338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554412" y="6457950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039812" y="6450087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94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5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.__doc__) </a:t>
            </a:r>
            <a:endParaRPr lang="en-US" altLang="zh-TW" sz="2400" kern="0" spc="-100" dirty="0" smtClean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 smtClean="0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 smtClean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 smtClean="0">
                <a:solidFill>
                  <a:srgbClr val="9D9D9D"/>
                </a:solidFill>
                <a:latin typeface="Consolas" panose="020B0609020204030204" pitchFamily="49" charset="0"/>
              </a:rPr>
              <a:t>.__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</a:t>
            </a: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() or Ctrl-D (i.e. EOF) to exit </a:t>
            </a:r>
            <a:endParaRPr lang="en-US" altLang="zh-TW" sz="2400" kern="0" spc="-100" dirty="0" smtClean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_.remove(</a:t>
            </a: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 err="1" smtClean="0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'); _.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remove('open</a:t>
            </a: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')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 _.remove('quit'); _.remove('exit'); _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'filter',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'map', 'next', 'object', 'property',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4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4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'super']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 smtClean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18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1800" kern="0" spc="-1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400" kern="0" spc="-1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kern="0" spc="-100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039812" y="6450087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94105" y="6384616"/>
            <a:ext cx="732893" cy="47338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34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also put multiple exceptions on one line:</a:t>
            </a:r>
            <a:endParaRPr lang="en-US" altLang="zh-TW" sz="2800" kern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two errors detected.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except:</a:t>
            </a:r>
            <a:endParaRPr lang="en-US" altLang="zh-TW" kern="0" dirty="0">
              <a:solidFill>
                <a:srgbClr val="CC33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 other kind of error happened.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Even with errors, this always prints.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8312" y="742950"/>
            <a:ext cx="8915400" cy="49149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8141487" y="260435"/>
            <a:ext cx="2101380" cy="572468"/>
          </a:xfrm>
          <a:prstGeom prst="trapezoid">
            <a:avLst>
              <a:gd name="adj" fmla="val 99928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> Slide </a:t>
            </a: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>#</a:t>
            </a: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>58</a:t>
            </a:r>
            <a:endParaRPr lang="en-US" sz="3024" dirty="0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457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also put multiple exceptions on one line:</a:t>
            </a:r>
            <a:endParaRPr lang="en-US" altLang="zh-TW" sz="2800" kern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two errors detected</a:t>
            </a: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 smtClean="0">
                <a:solidFill>
                  <a:srgbClr val="2D2DB9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b="1" kern="0" dirty="0" smtClean="0">
                <a:solidFill>
                  <a:srgbClr val="2D2DB9"/>
                </a:solidFill>
                <a:latin typeface="Lucida Console" panose="020B0609040504020204" pitchFamily="49" charset="0"/>
                <a:cs typeface="Courier New" pitchFamily="49" charset="0"/>
              </a:rPr>
              <a:t>exit</a:t>
            </a:r>
            <a:r>
              <a:rPr lang="en-US" altLang="zh-TW" b="1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# Crashes, but message is customized</a:t>
            </a:r>
            <a:endParaRPr lang="en-US" altLang="zh-TW" b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except:</a:t>
            </a:r>
            <a:endParaRPr lang="en-US" altLang="zh-TW" kern="0" dirty="0">
              <a:solidFill>
                <a:srgbClr val="CC33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 other kind of error happened</a:t>
            </a: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altLang="zh-TW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Even with errors, this always prints.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8312" y="4171950"/>
            <a:ext cx="8915400" cy="22288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8312" y="742950"/>
            <a:ext cx="8915400" cy="29718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8141487" y="260435"/>
            <a:ext cx="2101380" cy="572468"/>
          </a:xfrm>
          <a:prstGeom prst="trapezoid">
            <a:avLst>
              <a:gd name="adj" fmla="val 99928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> Slide </a:t>
            </a: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>#</a:t>
            </a:r>
            <a:r>
              <a:rPr lang="en-US" sz="2592" dirty="0" smtClean="0">
                <a:solidFill>
                  <a:srgbClr val="000000"/>
                </a:solidFill>
                <a:ea typeface="新細明體" charset="-120"/>
              </a:rPr>
              <a:t>58</a:t>
            </a:r>
            <a:endParaRPr lang="en-US" sz="3024" dirty="0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411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462" y="685800"/>
            <a:ext cx="8915400" cy="612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also put multiple exceptions on one line:</a:t>
            </a:r>
            <a:endParaRPr lang="en-US" altLang="zh-TW" sz="2800" kern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z = </a:t>
            </a:r>
            <a:r>
              <a:rPr lang="en-US" altLang="zh-TW" kern="0" dirty="0" err="1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int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(input("</a:t>
            </a:r>
            <a:r>
              <a:rPr lang="en-US" altLang="zh-TW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Enter a number: </a:t>
            </a:r>
            <a:r>
              <a:rPr lang="en-US" altLang="zh-TW" sz="400" i="1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en-US" altLang="zh-TW" kern="0" dirty="0">
                <a:solidFill>
                  <a:srgbClr val="7F7F7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"))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try: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(z&lt;1):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10 * (1/z)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(z&lt;2):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4 + 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junk*3</a:t>
            </a:r>
            <a:endParaRPr lang="en-US" altLang="zh-TW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  <a:cs typeface="Courier New" pitchFamily="49" charset="0"/>
              </a:rPr>
              <a:t>   if (z&lt;3): 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'2' + 2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ZeroDivisionError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NameError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One of two errors detected</a:t>
            </a: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</a:t>
            </a:r>
            <a:r>
              <a:rPr lang="en-US" altLang="zh-TW" b="1" kern="0" dirty="0" smtClean="0">
                <a:solidFill>
                  <a:srgbClr val="2D2DB9"/>
                </a:solidFill>
                <a:latin typeface="Lucida Console" panose="020B0609040504020204" pitchFamily="49" charset="0"/>
                <a:cs typeface="Courier New" pitchFamily="49" charset="0"/>
              </a:rPr>
              <a:t>exit()</a:t>
            </a:r>
            <a:r>
              <a:rPr lang="en-US" altLang="zh-TW" b="1" kern="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# </a:t>
            </a:r>
            <a:r>
              <a:rPr lang="en-US" altLang="zh-TW" b="1" kern="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b="1" kern="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rashes, but message is customized</a:t>
            </a:r>
            <a:endParaRPr lang="en-US" altLang="zh-TW" b="1" kern="0" dirty="0">
              <a:solidFill>
                <a:srgbClr val="FF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except:</a:t>
            </a:r>
            <a:endParaRPr lang="en-US" altLang="zh-TW" kern="0" dirty="0">
              <a:solidFill>
                <a:srgbClr val="CC3399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Some other kind of error happened</a:t>
            </a:r>
            <a:r>
              <a:rPr lang="en-US" altLang="zh-TW" i="1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kern="0" dirty="0" smtClean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kern="0" dirty="0" smtClean="0">
                <a:solidFill>
                  <a:srgbClr val="2D2DB9"/>
                </a:solidFill>
                <a:latin typeface="Lucida Console" panose="020B0609040504020204" pitchFamily="49" charset="0"/>
                <a:cs typeface="Courier New" pitchFamily="49" charset="0"/>
              </a:rPr>
              <a:t>  </a:t>
            </a:r>
            <a:r>
              <a:rPr lang="en-US" altLang="zh-TW" b="1" kern="0" dirty="0" smtClean="0">
                <a:solidFill>
                  <a:srgbClr val="2D2DB9"/>
                </a:solidFill>
                <a:latin typeface="Lucida Console" panose="020B0609040504020204" pitchFamily="49" charset="0"/>
                <a:cs typeface="Courier New" pitchFamily="49" charset="0"/>
              </a:rPr>
              <a:t>quit</a:t>
            </a:r>
            <a:r>
              <a:rPr lang="en-US" altLang="zh-TW" b="1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# N</a:t>
            </a:r>
            <a:r>
              <a:rPr lang="en-US" altLang="zh-TW" b="1" kern="0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o difference between exit and quit</a:t>
            </a:r>
            <a:endParaRPr lang="en-US" altLang="zh-TW" b="1" i="1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kern="0" dirty="0">
                <a:solidFill>
                  <a:srgbClr val="CC3399"/>
                </a:solidFill>
                <a:latin typeface="Lucida Console" panose="020B0609040504020204" pitchFamily="49" charset="0"/>
                <a:cs typeface="Courier New" pitchFamily="49" charset="0"/>
              </a:rPr>
              <a:t>else: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   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I guess there were no problems.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</a:p>
          <a:p>
            <a:pPr marL="0" lvl="1" indent="0" defTabSz="846552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print("</a:t>
            </a:r>
            <a:r>
              <a:rPr lang="en-US" altLang="zh-TW" i="1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Even with errors, this always prints.</a:t>
            </a:r>
            <a:r>
              <a:rPr lang="en-US" altLang="zh-TW" kern="0" dirty="0">
                <a:solidFill>
                  <a:srgbClr val="000000"/>
                </a:solidFill>
                <a:latin typeface="Lucida Console" panose="020B0609040504020204" pitchFamily="49" charset="0"/>
                <a:cs typeface="Courier New" pitchFamily="49" charset="0"/>
              </a:rPr>
              <a:t>")</a:t>
            </a:r>
            <a:endParaRPr lang="en-US" kern="0" dirty="0">
              <a:solidFill>
                <a:srgbClr val="000000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2" y="0"/>
            <a:ext cx="89725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algn="l" defTabSz="846552" eaLnBrk="1" hangingPunct="1"/>
            <a:r>
              <a:rPr lang="en-US" sz="4400" kern="0" dirty="0">
                <a:latin typeface="Elephant" panose="02020904090505020303" pitchFamily="18" charset="0"/>
              </a:rPr>
              <a:t>Handling Exceptions</a:t>
            </a:r>
            <a:r>
              <a:rPr lang="en-US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: </a:t>
            </a:r>
            <a:r>
              <a:rPr lang="en-US" sz="4400" kern="0" dirty="0" smtClean="0">
                <a:solidFill>
                  <a:schemeClr val="bg1"/>
                </a:solidFill>
                <a:latin typeface="Elephant" panose="02020904090505020303" pitchFamily="18" charset="0"/>
              </a:rPr>
              <a:t>Using</a:t>
            </a:r>
            <a:r>
              <a:rPr lang="en-US" b="1" kern="0" dirty="0" smtClean="0">
                <a:solidFill>
                  <a:schemeClr val="bg1"/>
                </a:solidFill>
              </a:rPr>
              <a:t> </a:t>
            </a:r>
            <a:r>
              <a:rPr lang="en-US" sz="4400" b="1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as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8312" y="5257800"/>
            <a:ext cx="8915400" cy="1143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68312" y="4171950"/>
            <a:ext cx="8915400" cy="6286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8312" y="742950"/>
            <a:ext cx="8915400" cy="29146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9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31483</TotalTime>
  <Words>25910</Words>
  <Application>Microsoft Office PowerPoint</Application>
  <PresentationFormat>Custom</PresentationFormat>
  <Paragraphs>3610</Paragraphs>
  <Slides>185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185</vt:i4>
      </vt:variant>
    </vt:vector>
  </HeadingPairs>
  <TitlesOfParts>
    <vt:vector size="217" baseType="lpstr">
      <vt:lpstr>Arial Unicode MS</vt:lpstr>
      <vt:lpstr>inherit</vt:lpstr>
      <vt:lpstr>LiSu</vt:lpstr>
      <vt:lpstr>Lucida Grande</vt:lpstr>
      <vt:lpstr>MS PGothic</vt:lpstr>
      <vt:lpstr>MS PGothic</vt:lpstr>
      <vt:lpstr>新細明體</vt:lpstr>
      <vt:lpstr>Agency FB</vt:lpstr>
      <vt:lpstr>Arial</vt:lpstr>
      <vt:lpstr>Arial Narrow</vt:lpstr>
      <vt:lpstr>Calibri</vt:lpstr>
      <vt:lpstr>Calibri Light</vt:lpstr>
      <vt:lpstr>Consolas</vt:lpstr>
      <vt:lpstr>Cooper Black</vt:lpstr>
      <vt:lpstr>Courier New</vt:lpstr>
      <vt:lpstr>Elephant</vt:lpstr>
      <vt:lpstr>Lucida Console</vt:lpstr>
      <vt:lpstr>Stencil</vt:lpstr>
      <vt:lpstr>times</vt:lpstr>
      <vt:lpstr>Times New Roman</vt:lpstr>
      <vt:lpstr>Verdana</vt:lpstr>
      <vt:lpstr>Wingdings</vt:lpstr>
      <vt:lpstr>Default Design</vt:lpstr>
      <vt:lpstr>2_Office Theme</vt:lpstr>
      <vt:lpstr>3_Default Design</vt:lpstr>
      <vt:lpstr>1_Office Theme</vt:lpstr>
      <vt:lpstr>Office Theme</vt:lpstr>
      <vt:lpstr>4_Default Design</vt:lpstr>
      <vt:lpstr>4_Office Theme</vt:lpstr>
      <vt:lpstr>9_Office Theme</vt:lpstr>
      <vt:lpstr>5_Default Design</vt:lpstr>
      <vt:lpstr>9_Default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Mutable types have their uses too. These methods are only for sets:</vt:lpstr>
      <vt:lpstr>For Sets and Frozensets: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Work with Bytes</vt:lpstr>
      <vt:lpstr>What are the “Bytes” for a Character?</vt:lpstr>
      <vt:lpstr>Bytes vs. Strings</vt:lpstr>
      <vt:lpstr>The Methods for Bytes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variable names</dc:title>
  <dc:creator>Steve Haga</dc:creator>
  <cp:lastModifiedBy>Me</cp:lastModifiedBy>
  <cp:revision>1145</cp:revision>
  <dcterms:created xsi:type="dcterms:W3CDTF">2017-03-07T03:26:49Z</dcterms:created>
  <dcterms:modified xsi:type="dcterms:W3CDTF">2021-04-13T05:01:48Z</dcterms:modified>
</cp:coreProperties>
</file>