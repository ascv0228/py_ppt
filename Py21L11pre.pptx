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4008" r:id="rId2"/>
    <p:sldMasterId id="2147484032" r:id="rId3"/>
    <p:sldMasterId id="2147484044" r:id="rId4"/>
    <p:sldMasterId id="2147484056" r:id="rId5"/>
  </p:sldMasterIdLst>
  <p:notesMasterIdLst>
    <p:notesMasterId r:id="rId82"/>
  </p:notesMasterIdLst>
  <p:sldIdLst>
    <p:sldId id="2058" r:id="rId6"/>
    <p:sldId id="2059" r:id="rId7"/>
    <p:sldId id="2047" r:id="rId8"/>
    <p:sldId id="2054" r:id="rId9"/>
    <p:sldId id="2055" r:id="rId10"/>
    <p:sldId id="2056" r:id="rId11"/>
    <p:sldId id="2057" r:id="rId12"/>
    <p:sldId id="2046" r:id="rId13"/>
    <p:sldId id="2074" r:id="rId14"/>
    <p:sldId id="2073" r:id="rId15"/>
    <p:sldId id="2060" r:id="rId16"/>
    <p:sldId id="2067" r:id="rId17"/>
    <p:sldId id="2064" r:id="rId18"/>
    <p:sldId id="2066" r:id="rId19"/>
    <p:sldId id="2065" r:id="rId20"/>
    <p:sldId id="2038" r:id="rId21"/>
    <p:sldId id="2063" r:id="rId22"/>
    <p:sldId id="2076" r:id="rId23"/>
    <p:sldId id="2068" r:id="rId24"/>
    <p:sldId id="2039" r:id="rId25"/>
    <p:sldId id="2069" r:id="rId26"/>
    <p:sldId id="2012" r:id="rId27"/>
    <p:sldId id="2009" r:id="rId28"/>
    <p:sldId id="2014" r:id="rId29"/>
    <p:sldId id="2015" r:id="rId30"/>
    <p:sldId id="2072" r:id="rId31"/>
    <p:sldId id="2071" r:id="rId32"/>
    <p:sldId id="2070" r:id="rId33"/>
    <p:sldId id="2016" r:id="rId34"/>
    <p:sldId id="2018" r:id="rId35"/>
    <p:sldId id="2019" r:id="rId36"/>
    <p:sldId id="2020" r:id="rId37"/>
    <p:sldId id="2021" r:id="rId38"/>
    <p:sldId id="2022" r:id="rId39"/>
    <p:sldId id="2023" r:id="rId40"/>
    <p:sldId id="2024" r:id="rId41"/>
    <p:sldId id="2077" r:id="rId42"/>
    <p:sldId id="2075" r:id="rId43"/>
    <p:sldId id="2028" r:id="rId44"/>
    <p:sldId id="2032" r:id="rId45"/>
    <p:sldId id="2029" r:id="rId46"/>
    <p:sldId id="2027" r:id="rId47"/>
    <p:sldId id="2008" r:id="rId48"/>
    <p:sldId id="2033" r:id="rId49"/>
    <p:sldId id="2034" r:id="rId50"/>
    <p:sldId id="2035" r:id="rId51"/>
    <p:sldId id="1903" r:id="rId52"/>
    <p:sldId id="1904" r:id="rId53"/>
    <p:sldId id="1905" r:id="rId54"/>
    <p:sldId id="1984" r:id="rId55"/>
    <p:sldId id="1986" r:id="rId56"/>
    <p:sldId id="1931" r:id="rId57"/>
    <p:sldId id="2036" r:id="rId58"/>
    <p:sldId id="1933" r:id="rId59"/>
    <p:sldId id="1934" r:id="rId60"/>
    <p:sldId id="1935" r:id="rId61"/>
    <p:sldId id="1936" r:id="rId62"/>
    <p:sldId id="1987" r:id="rId63"/>
    <p:sldId id="1988" r:id="rId64"/>
    <p:sldId id="2037" r:id="rId65"/>
    <p:sldId id="1989" r:id="rId66"/>
    <p:sldId id="1990" r:id="rId67"/>
    <p:sldId id="1991" r:id="rId68"/>
    <p:sldId id="1992" r:id="rId69"/>
    <p:sldId id="1993" r:id="rId70"/>
    <p:sldId id="1994" r:id="rId71"/>
    <p:sldId id="1995" r:id="rId72"/>
    <p:sldId id="1996" r:id="rId73"/>
    <p:sldId id="1997" r:id="rId74"/>
    <p:sldId id="1998" r:id="rId75"/>
    <p:sldId id="1999" r:id="rId76"/>
    <p:sldId id="2000" r:id="rId77"/>
    <p:sldId id="2001" r:id="rId78"/>
    <p:sldId id="2002" r:id="rId79"/>
    <p:sldId id="2003" r:id="rId80"/>
    <p:sldId id="2004" r:id="rId81"/>
  </p:sldIdLst>
  <p:sldSz cx="9737725" cy="6858000"/>
  <p:notesSz cx="6858000" cy="9144000"/>
  <p:defaultTextStyle>
    <a:defPPr>
      <a:defRPr lang="en-US"/>
    </a:defPPr>
    <a:lvl1pPr marL="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啟桓" initials="黃啟桓" lastIdx="1" clrIdx="0">
    <p:extLst>
      <p:ext uri="{19B8F6BF-5375-455C-9EA6-DF929625EA0E}">
        <p15:presenceInfo xmlns:p15="http://schemas.microsoft.com/office/powerpoint/2012/main" userId="黃啟桓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8F8F8"/>
    <a:srgbClr val="0070C0"/>
    <a:srgbClr val="A6A6A6"/>
    <a:srgbClr val="A173FF"/>
    <a:srgbClr val="006600"/>
    <a:srgbClr val="7F7F7F"/>
    <a:srgbClr val="FF3F3F"/>
    <a:srgbClr val="FF8FD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23" y="-72"/>
      </p:cViewPr>
      <p:guideLst>
        <p:guide orient="horz" pos="2160"/>
        <p:guide pos="3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presProps" Target="pres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tableStyles" Target="tableStyles.xml"/><Relationship Id="rId61" Type="http://schemas.openxmlformats.org/officeDocument/2006/relationships/slide" Target="slides/slide56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5/11/2021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43000"/>
            <a:ext cx="4381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116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59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2CD3497-8034-4B7C-8079-30ED79BBBC0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86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534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237B5F0F-4982-4A43-AC78-B6371C509A7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883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0891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998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803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443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128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164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596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905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676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4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4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8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40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80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40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7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47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43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6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49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65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143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609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80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4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766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764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30" y="1535113"/>
            <a:ext cx="430420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30" y="2174875"/>
            <a:ext cx="430420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606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8392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979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929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6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607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6017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5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424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582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2845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981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23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0924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363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4119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5067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8140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8170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4573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330" y="1122363"/>
            <a:ext cx="827706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7" y="3602038"/>
            <a:ext cx="730329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3072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79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7" y="1709742"/>
            <a:ext cx="83987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7" y="4589467"/>
            <a:ext cx="839878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5056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4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648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365129"/>
            <a:ext cx="8398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9" y="1681163"/>
            <a:ext cx="41195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9" y="2505075"/>
            <a:ext cx="41195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4" y="1681163"/>
            <a:ext cx="413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4" y="2505075"/>
            <a:ext cx="41398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0484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1570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5329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0" y="987429"/>
            <a:ext cx="492972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56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9800" y="987429"/>
            <a:ext cx="492972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9084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5990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60" y="365125"/>
            <a:ext cx="209969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70" y="365125"/>
            <a:ext cx="61773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5/11/2021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6489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217" y="1122363"/>
            <a:ext cx="7303294" cy="2387600"/>
          </a:xfrm>
        </p:spPr>
        <p:txBody>
          <a:bodyPr anchor="b"/>
          <a:lstStyle>
            <a:lvl1pPr algn="ctr">
              <a:defRPr sz="55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7" y="3602038"/>
            <a:ext cx="7303294" cy="1655762"/>
          </a:xfrm>
        </p:spPr>
        <p:txBody>
          <a:bodyPr/>
          <a:lstStyle>
            <a:lvl1pPr marL="0" indent="0" algn="ctr">
              <a:buNone/>
              <a:defRPr sz="2201"/>
            </a:lvl1pPr>
            <a:lvl2pPr marL="419344" indent="0" algn="ctr">
              <a:buNone/>
              <a:defRPr sz="1834"/>
            </a:lvl2pPr>
            <a:lvl3pPr marL="838688" indent="0" algn="ctr">
              <a:buNone/>
              <a:defRPr sz="1651"/>
            </a:lvl3pPr>
            <a:lvl4pPr marL="1258032" indent="0" algn="ctr">
              <a:buNone/>
              <a:defRPr sz="1468"/>
            </a:lvl4pPr>
            <a:lvl5pPr marL="1677375" indent="0" algn="ctr">
              <a:buNone/>
              <a:defRPr sz="1468"/>
            </a:lvl5pPr>
            <a:lvl6pPr marL="2096719" indent="0" algn="ctr">
              <a:buNone/>
              <a:defRPr sz="1468"/>
            </a:lvl6pPr>
            <a:lvl7pPr marL="2516063" indent="0" algn="ctr">
              <a:buNone/>
              <a:defRPr sz="1468"/>
            </a:lvl7pPr>
            <a:lvl8pPr marL="2935407" indent="0" algn="ctr">
              <a:buNone/>
              <a:defRPr sz="1468"/>
            </a:lvl8pPr>
            <a:lvl9pPr marL="3354751" indent="0" algn="ctr">
              <a:buNone/>
              <a:defRPr sz="146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4434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0925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7" y="1709741"/>
            <a:ext cx="8398788" cy="2852737"/>
          </a:xfrm>
        </p:spPr>
        <p:txBody>
          <a:bodyPr anchor="b"/>
          <a:lstStyle>
            <a:lvl1pPr>
              <a:defRPr sz="55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7" y="4589466"/>
            <a:ext cx="8398788" cy="1500187"/>
          </a:xfrm>
        </p:spPr>
        <p:txBody>
          <a:bodyPr/>
          <a:lstStyle>
            <a:lvl1pPr marL="0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1pPr>
            <a:lvl2pPr marL="419344" indent="0">
              <a:buNone/>
              <a:defRPr sz="1834">
                <a:solidFill>
                  <a:schemeClr val="tx1">
                    <a:tint val="75000"/>
                  </a:schemeClr>
                </a:solidFill>
              </a:defRPr>
            </a:lvl2pPr>
            <a:lvl3pPr marL="838688" indent="0">
              <a:buNone/>
              <a:defRPr sz="1651">
                <a:solidFill>
                  <a:schemeClr val="tx1">
                    <a:tint val="75000"/>
                  </a:schemeClr>
                </a:solidFill>
              </a:defRPr>
            </a:lvl3pPr>
            <a:lvl4pPr marL="1258032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4pPr>
            <a:lvl5pPr marL="1677375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5pPr>
            <a:lvl6pPr marL="2096719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6pPr>
            <a:lvl7pPr marL="2516063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7pPr>
            <a:lvl8pPr marL="2935407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8pPr>
            <a:lvl9pPr marL="3354751" indent="0">
              <a:buNone/>
              <a:defRPr sz="14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5507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857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8"/>
            <a:ext cx="8398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3"/>
            <a:ext cx="4119514" cy="823912"/>
          </a:xfrm>
        </p:spPr>
        <p:txBody>
          <a:bodyPr anchor="b"/>
          <a:lstStyle>
            <a:lvl1pPr marL="0" indent="0">
              <a:buNone/>
              <a:defRPr sz="2201" b="1"/>
            </a:lvl1pPr>
            <a:lvl2pPr marL="419344" indent="0">
              <a:buNone/>
              <a:defRPr sz="1834" b="1"/>
            </a:lvl2pPr>
            <a:lvl3pPr marL="838688" indent="0">
              <a:buNone/>
              <a:defRPr sz="1651" b="1"/>
            </a:lvl3pPr>
            <a:lvl4pPr marL="1258032" indent="0">
              <a:buNone/>
              <a:defRPr sz="1468" b="1"/>
            </a:lvl4pPr>
            <a:lvl5pPr marL="1677375" indent="0">
              <a:buNone/>
              <a:defRPr sz="1468" b="1"/>
            </a:lvl5pPr>
            <a:lvl6pPr marL="2096719" indent="0">
              <a:buNone/>
              <a:defRPr sz="1468" b="1"/>
            </a:lvl6pPr>
            <a:lvl7pPr marL="2516063" indent="0">
              <a:buNone/>
              <a:defRPr sz="1468" b="1"/>
            </a:lvl7pPr>
            <a:lvl8pPr marL="2935407" indent="0">
              <a:buNone/>
              <a:defRPr sz="1468" b="1"/>
            </a:lvl8pPr>
            <a:lvl9pPr marL="3354751" indent="0">
              <a:buNone/>
              <a:defRPr sz="1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3" y="1681163"/>
            <a:ext cx="4139802" cy="823912"/>
          </a:xfrm>
        </p:spPr>
        <p:txBody>
          <a:bodyPr anchor="b"/>
          <a:lstStyle>
            <a:lvl1pPr marL="0" indent="0">
              <a:buNone/>
              <a:defRPr sz="2201" b="1"/>
            </a:lvl1pPr>
            <a:lvl2pPr marL="419344" indent="0">
              <a:buNone/>
              <a:defRPr sz="1834" b="1"/>
            </a:lvl2pPr>
            <a:lvl3pPr marL="838688" indent="0">
              <a:buNone/>
              <a:defRPr sz="1651" b="1"/>
            </a:lvl3pPr>
            <a:lvl4pPr marL="1258032" indent="0">
              <a:buNone/>
              <a:defRPr sz="1468" b="1"/>
            </a:lvl4pPr>
            <a:lvl5pPr marL="1677375" indent="0">
              <a:buNone/>
              <a:defRPr sz="1468" b="1"/>
            </a:lvl5pPr>
            <a:lvl6pPr marL="2096719" indent="0">
              <a:buNone/>
              <a:defRPr sz="1468" b="1"/>
            </a:lvl6pPr>
            <a:lvl7pPr marL="2516063" indent="0">
              <a:buNone/>
              <a:defRPr sz="1468" b="1"/>
            </a:lvl7pPr>
            <a:lvl8pPr marL="2935407" indent="0">
              <a:buNone/>
              <a:defRPr sz="1468" b="1"/>
            </a:lvl8pPr>
            <a:lvl9pPr marL="3354751" indent="0">
              <a:buNone/>
              <a:defRPr sz="14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3" y="2505075"/>
            <a:ext cx="41398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72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884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665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3" y="987428"/>
            <a:ext cx="4929723" cy="4873625"/>
          </a:xfrm>
        </p:spPr>
        <p:txBody>
          <a:bodyPr/>
          <a:lstStyle>
            <a:lvl1pPr>
              <a:defRPr sz="2935"/>
            </a:lvl1pPr>
            <a:lvl2pPr>
              <a:defRPr sz="2568"/>
            </a:lvl2pPr>
            <a:lvl3pPr>
              <a:defRPr sz="2201"/>
            </a:lvl3pPr>
            <a:lvl4pPr>
              <a:defRPr sz="1834"/>
            </a:lvl4pPr>
            <a:lvl5pPr>
              <a:defRPr sz="1834"/>
            </a:lvl5pPr>
            <a:lvl6pPr>
              <a:defRPr sz="1834"/>
            </a:lvl6pPr>
            <a:lvl7pPr>
              <a:defRPr sz="1834"/>
            </a:lvl7pPr>
            <a:lvl8pPr>
              <a:defRPr sz="1834"/>
            </a:lvl8pPr>
            <a:lvl9pPr>
              <a:defRPr sz="18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468"/>
            </a:lvl1pPr>
            <a:lvl2pPr marL="419344" indent="0">
              <a:buNone/>
              <a:defRPr sz="1284"/>
            </a:lvl2pPr>
            <a:lvl3pPr marL="838688" indent="0">
              <a:buNone/>
              <a:defRPr sz="1101"/>
            </a:lvl3pPr>
            <a:lvl4pPr marL="1258032" indent="0">
              <a:buNone/>
              <a:defRPr sz="917"/>
            </a:lvl4pPr>
            <a:lvl5pPr marL="1677375" indent="0">
              <a:buNone/>
              <a:defRPr sz="917"/>
            </a:lvl5pPr>
            <a:lvl6pPr marL="2096719" indent="0">
              <a:buNone/>
              <a:defRPr sz="917"/>
            </a:lvl6pPr>
            <a:lvl7pPr marL="2516063" indent="0">
              <a:buNone/>
              <a:defRPr sz="917"/>
            </a:lvl7pPr>
            <a:lvl8pPr marL="2935407" indent="0">
              <a:buNone/>
              <a:defRPr sz="917"/>
            </a:lvl8pPr>
            <a:lvl9pPr marL="3354751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9257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9803" y="987428"/>
            <a:ext cx="4929723" cy="4873625"/>
          </a:xfrm>
        </p:spPr>
        <p:txBody>
          <a:bodyPr/>
          <a:lstStyle>
            <a:lvl1pPr marL="0" indent="0">
              <a:buNone/>
              <a:defRPr sz="2935"/>
            </a:lvl1pPr>
            <a:lvl2pPr marL="419344" indent="0">
              <a:buNone/>
              <a:defRPr sz="2568"/>
            </a:lvl2pPr>
            <a:lvl3pPr marL="838688" indent="0">
              <a:buNone/>
              <a:defRPr sz="2201"/>
            </a:lvl3pPr>
            <a:lvl4pPr marL="1258032" indent="0">
              <a:buNone/>
              <a:defRPr sz="1834"/>
            </a:lvl4pPr>
            <a:lvl5pPr marL="1677375" indent="0">
              <a:buNone/>
              <a:defRPr sz="1834"/>
            </a:lvl5pPr>
            <a:lvl6pPr marL="2096719" indent="0">
              <a:buNone/>
              <a:defRPr sz="1834"/>
            </a:lvl6pPr>
            <a:lvl7pPr marL="2516063" indent="0">
              <a:buNone/>
              <a:defRPr sz="1834"/>
            </a:lvl7pPr>
            <a:lvl8pPr marL="2935407" indent="0">
              <a:buNone/>
              <a:defRPr sz="1834"/>
            </a:lvl8pPr>
            <a:lvl9pPr marL="3354751" indent="0">
              <a:buNone/>
              <a:defRPr sz="183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468"/>
            </a:lvl1pPr>
            <a:lvl2pPr marL="419344" indent="0">
              <a:buNone/>
              <a:defRPr sz="1284"/>
            </a:lvl2pPr>
            <a:lvl3pPr marL="838688" indent="0">
              <a:buNone/>
              <a:defRPr sz="1101"/>
            </a:lvl3pPr>
            <a:lvl4pPr marL="1258032" indent="0">
              <a:buNone/>
              <a:defRPr sz="917"/>
            </a:lvl4pPr>
            <a:lvl5pPr marL="1677375" indent="0">
              <a:buNone/>
              <a:defRPr sz="917"/>
            </a:lvl5pPr>
            <a:lvl6pPr marL="2096719" indent="0">
              <a:buNone/>
              <a:defRPr sz="917"/>
            </a:lvl6pPr>
            <a:lvl7pPr marL="2516063" indent="0">
              <a:buNone/>
              <a:defRPr sz="917"/>
            </a:lvl7pPr>
            <a:lvl8pPr marL="2935407" indent="0">
              <a:buNone/>
              <a:defRPr sz="917"/>
            </a:lvl8pPr>
            <a:lvl9pPr marL="3354751" indent="0">
              <a:buNone/>
              <a:defRPr sz="9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0957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0804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59" y="365125"/>
            <a:ext cx="209969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69" y="365125"/>
            <a:ext cx="61773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5/11/2021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29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96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1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1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1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84655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03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59A33E89-56BA-4489-ACFB-045B09264CFD}" type="slidenum">
              <a:rPr lang="en-US" altLang="en-US" smtClean="0"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873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470" y="365129"/>
            <a:ext cx="83987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70" y="1825625"/>
            <a:ext cx="83987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470" y="6356354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5/11/2021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5624" y="6356354"/>
            <a:ext cx="3286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7268" y="6356354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7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3772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369" y="1161143"/>
            <a:ext cx="904217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763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xStyles>
    <p:titleStyle>
      <a:lvl1pPr algn="ctr" defTabSz="838688" rtl="0" eaLnBrk="1" latinLnBrk="0" hangingPunct="1">
        <a:lnSpc>
          <a:spcPct val="90000"/>
        </a:lnSpc>
        <a:spcBef>
          <a:spcPct val="0"/>
        </a:spcBef>
        <a:buNone/>
        <a:defRPr sz="4036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209672" indent="-209672" algn="l" defTabSz="838688" rtl="0" eaLnBrk="1" latinLnBrk="0" hangingPunct="1">
        <a:lnSpc>
          <a:spcPct val="90000"/>
        </a:lnSpc>
        <a:spcBef>
          <a:spcPts val="917"/>
        </a:spcBef>
        <a:buFont typeface="Arial" panose="020B0604020202020204" pitchFamily="34" charset="0"/>
        <a:buChar char="•"/>
        <a:defRPr sz="3669" kern="1200">
          <a:solidFill>
            <a:schemeClr val="tx1"/>
          </a:solidFill>
          <a:latin typeface="+mn-lt"/>
          <a:ea typeface="+mn-ea"/>
          <a:cs typeface="+mn-cs"/>
        </a:defRPr>
      </a:lvl1pPr>
      <a:lvl2pPr marL="629016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3302" kern="1200">
          <a:solidFill>
            <a:schemeClr val="tx1"/>
          </a:solidFill>
          <a:latin typeface="+mn-lt"/>
          <a:ea typeface="+mn-ea"/>
          <a:cs typeface="+mn-cs"/>
        </a:defRPr>
      </a:lvl2pPr>
      <a:lvl3pPr marL="1048360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3pPr>
      <a:lvl4pPr marL="1467703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568" kern="1200">
          <a:solidFill>
            <a:schemeClr val="tx1"/>
          </a:solidFill>
          <a:latin typeface="+mn-lt"/>
          <a:ea typeface="+mn-ea"/>
          <a:cs typeface="+mn-cs"/>
        </a:defRPr>
      </a:lvl4pPr>
      <a:lvl5pPr marL="1887047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2568" kern="1200">
          <a:solidFill>
            <a:schemeClr val="tx1"/>
          </a:solidFill>
          <a:latin typeface="+mn-lt"/>
          <a:ea typeface="+mn-ea"/>
          <a:cs typeface="+mn-cs"/>
        </a:defRPr>
      </a:lvl5pPr>
      <a:lvl6pPr marL="2306391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6pPr>
      <a:lvl7pPr marL="2725735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7pPr>
      <a:lvl8pPr marL="3145079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8pPr>
      <a:lvl9pPr marL="3564423" indent="-209672" algn="l" defTabSz="838688" rtl="0" eaLnBrk="1" latinLnBrk="0" hangingPunct="1">
        <a:lnSpc>
          <a:spcPct val="90000"/>
        </a:lnSpc>
        <a:spcBef>
          <a:spcPts val="459"/>
        </a:spcBef>
        <a:buFont typeface="Arial" panose="020B0604020202020204" pitchFamily="34" charset="0"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1pPr>
      <a:lvl2pPr marL="419344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2pPr>
      <a:lvl3pPr marL="838688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3pPr>
      <a:lvl4pPr marL="1258032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4pPr>
      <a:lvl5pPr marL="1677375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5pPr>
      <a:lvl6pPr marL="2096719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6pPr>
      <a:lvl7pPr marL="2516063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7pPr>
      <a:lvl8pPr marL="2935407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8pPr>
      <a:lvl9pPr marL="3354751" algn="l" defTabSz="838688" rtl="0" eaLnBrk="1" latinLnBrk="0" hangingPunct="1">
        <a:defRPr sz="16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collections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numpy.org/doc/stable/user/whatisnumpy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>
          <a:xfrm>
            <a:off x="295348" y="1063638"/>
            <a:ext cx="9438408" cy="5885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dirty="0"/>
              <a:t>Python lets you do C-style formatted prints.</a:t>
            </a:r>
          </a:p>
          <a:p>
            <a:pPr lvl="1">
              <a:spcBef>
                <a:spcPts val="0"/>
              </a:spcBef>
            </a:pPr>
            <a:r>
              <a:rPr lang="en-US" altLang="en-US" sz="3200" dirty="0"/>
              <a:t>The syntax is:</a:t>
            </a:r>
            <a:br>
              <a:rPr lang="en-US" altLang="en-US" sz="3200" dirty="0"/>
            </a:br>
            <a:r>
              <a:rPr lang="en-US" alt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"format string"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%(</a:t>
            </a:r>
            <a:r>
              <a:rPr lang="en-US" altLang="en-US" sz="3200" dirty="0">
                <a:latin typeface="Lucida Console" panose="020B0609040504020204" pitchFamily="49" charset="0"/>
                <a:cs typeface="Courier New" panose="02070309020205020404" pitchFamily="49" charset="0"/>
              </a:rPr>
              <a:t>argument list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The “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</a:rPr>
              <a:t>%</a:t>
            </a:r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” is the key part of this syntax. </a:t>
            </a:r>
          </a:p>
          <a:p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Note the argument list is inside of 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</a:rPr>
              <a:t>parentheses</a:t>
            </a:r>
            <a:r>
              <a:rPr lang="en-US" altLang="en-US" sz="3600" dirty="0">
                <a:solidFill>
                  <a:schemeClr val="bg1">
                    <a:lumMod val="50000"/>
                  </a:schemeClr>
                </a:solidFill>
              </a:rPr>
              <a:t>. </a:t>
            </a:r>
          </a:p>
          <a:p>
            <a:pPr lvl="1"/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</a:rPr>
              <a:t>(As you’ll see in a moment, that means it is a </a:t>
            </a:r>
            <a:r>
              <a:rPr lang="en-US" altLang="en-US" sz="3200" i="1" dirty="0">
                <a:solidFill>
                  <a:schemeClr val="bg1">
                    <a:lumMod val="50000"/>
                  </a:schemeClr>
                </a:solidFill>
              </a:rPr>
              <a:t>tuple</a:t>
            </a: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altLang="en-US" sz="3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sz="3600" dirty="0">
                <a:solidFill>
                  <a:srgbClr val="0070C0"/>
                </a:solidFill>
              </a:rPr>
              <a:t>Here are examples:  </a:t>
            </a: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("***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%s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there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***"</a:t>
            </a:r>
            <a:r>
              <a:rPr lang="en-US" altLang="en-US" sz="24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"Hi"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***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Hi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there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***</a:t>
            </a: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print ("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hours at $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%.2f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an hour</a:t>
            </a:r>
            <a:r>
              <a:rPr lang="en-US" altLang="en-US" sz="20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= 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%.2f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b="1" dirty="0"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\</a:t>
            </a:r>
            <a:b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</a:b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en-US" sz="14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8*10.5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hours at $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an hour = 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358" y="220359"/>
            <a:ext cx="7093883" cy="770241"/>
          </a:xfrm>
        </p:spPr>
        <p:txBody>
          <a:bodyPr>
            <a:no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Formatted Strings: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887" y="5387899"/>
            <a:ext cx="742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sz="24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439564" y="459509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Slides 44-45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785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" y="1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Formatting Symbols:</a:t>
            </a:r>
          </a:p>
        </p:txBody>
      </p:sp>
      <p:graphicFrame>
        <p:nvGraphicFramePr>
          <p:cNvPr id="3" name="Content Placeholder 3"/>
          <p:cNvGraphicFramePr>
            <a:graphicFrameLocks noGrp="1"/>
          </p:cNvGraphicFramePr>
          <p:nvPr>
            <p:ph idx="1"/>
          </p:nvPr>
        </p:nvGraphicFramePr>
        <p:xfrm>
          <a:off x="1326314" y="1135626"/>
          <a:ext cx="7093883" cy="519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Format Symbol</a:t>
                      </a:r>
                    </a:p>
                  </a:txBody>
                  <a:tcPr marL="8287" marR="8287" marT="95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Conversion</a:t>
                      </a:r>
                    </a:p>
                  </a:txBody>
                  <a:tcPr marL="8287" marR="8287" marT="952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%c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character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%s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string conversion via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() prior to formatting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%i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signed decimal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%d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signed decimal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%u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unsigned decimal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%o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octal integer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%x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hexadecimal integer (lowercase letters)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%X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hexadecimal integer 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UPPERcase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letters)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%e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exponential notation (with lowercase 'e')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%E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exponential notation (with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UPPERcase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'E')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%f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floating point real number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%g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the shorter of %f and %e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%G</a:t>
                      </a:r>
                    </a:p>
                  </a:txBody>
                  <a:tcPr marL="8287" marR="8287" marT="9524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the shorter of %f and %E</a:t>
                      </a:r>
                    </a:p>
                  </a:txBody>
                  <a:tcPr marL="8287" marR="8287" marT="9524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439564" y="459509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2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Slides 44-45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685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239123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>
                          <a:solidFill>
                            <a:schemeClr val="bg1"/>
                          </a:solidFill>
                          <a:latin typeface="Verdana"/>
                        </a:rPr>
                        <a:t>down to an integer. If x is a string, you can give the base.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>
                          <a:solidFill>
                            <a:schemeClr val="bg1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>
                          <a:solidFill>
                            <a:schemeClr val="bg1"/>
                          </a:solidFill>
                          <a:latin typeface="Verdana"/>
                        </a:rPr>
                        <a:t>bool(x)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 value (True or False).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bg1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(c)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latin typeface="Verdana"/>
                        </a:rPr>
                        <a:t>round(n[,d])</a:t>
                      </a: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>
                          <a:solidFill>
                            <a:schemeClr val="bg1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>
                          <a:solidFill>
                            <a:schemeClr val="bg1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>
                          <a:solidFill>
                            <a:schemeClr val="bg1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>
                          <a:solidFill>
                            <a:schemeClr val="bg1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chemeClr val="bg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F9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tuple.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list that is sorted.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set.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>
                    <a:solidFill>
                      <a:srgbClr val="CCE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“nice looking”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a string</a:t>
                      </a:r>
                      <a:r>
                        <a:rPr lang="en-US" sz="1800" b="0" i="0" u="none" strike="noStrike" baseline="0" dirty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hexadecimal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octal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binary value, stored in a string.</a:t>
                      </a:r>
                    </a:p>
                  </a:txBody>
                  <a:tcPr marL="9525" marR="9525" marT="9525" marB="0">
                    <a:solidFill>
                      <a:srgbClr val="86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860427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0926" y="1714190"/>
            <a:ext cx="7315875" cy="1740527"/>
          </a:xfrm>
          <a:prstGeom prst="rect">
            <a:avLst/>
          </a:prstGeom>
          <a:solidFill>
            <a:srgbClr val="86A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930" dirty="0">
                <a:solidFill>
                  <a:prstClr val="black"/>
                </a:solidFill>
              </a:rPr>
              <a:t>These return strings</a:t>
            </a:r>
            <a:endParaRPr lang="zh-TW" altLang="en-US" sz="4930" dirty="0">
              <a:solidFill>
                <a:prstClr val="black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55448" y="1075946"/>
            <a:ext cx="9299714" cy="3343655"/>
            <a:chOff x="330199" y="2729468"/>
            <a:chExt cx="9954230" cy="4698747"/>
          </a:xfrm>
        </p:grpSpPr>
        <p:sp>
          <p:nvSpPr>
            <p:cNvPr id="14" name="Rectangle 13"/>
            <p:cNvSpPr/>
            <p:nvPr/>
          </p:nvSpPr>
          <p:spPr>
            <a:xfrm>
              <a:off x="406917" y="2729468"/>
              <a:ext cx="9701765" cy="46987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4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0199" y="2843030"/>
              <a:ext cx="5785998" cy="456424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3.14159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no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te</a:t>
              </a:r>
              <a:r>
                <a:rPr lang="en-US" altLang="zh-TW" sz="1826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t</a:t>
              </a:r>
              <a:r>
                <a:rPr lang="en-US" altLang="zh-TW" sz="2191" spc="-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he</a:t>
              </a:r>
              <a:r>
                <a:rPr lang="en-US" altLang="zh-TW" sz="1643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quote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s: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'3.14159'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str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hex(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hexadecimal</a:t>
              </a:r>
              <a:r>
                <a:rPr lang="en-US" altLang="zh-TW" sz="2191" spc="-64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'0x265e'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oct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octal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'0o23136'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bin(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 in binary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'0b10011001011110'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chr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9822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srgbClr val="006600"/>
                  </a:solidFill>
                </a:rPr>
                <a:t>'♞'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1500" y="2843030"/>
              <a:ext cx="5902929" cy="45642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repr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usually acts like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str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()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en-US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dirty="0">
                  <a:solidFill>
                    <a:srgbClr val="006600"/>
                  </a:solidFill>
                </a:rPr>
                <a:t>'}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</a:t>
              </a:r>
              <a:r>
                <a:rPr lang="en-US" altLang="zh-TW" sz="2191" dirty="0" err="1">
                  <a:solidFill>
                    <a:prstClr val="black"/>
                  </a:solidFill>
                </a:rPr>
                <a:t>ascii</a:t>
              </a:r>
              <a:r>
                <a:rPr lang="en-US" altLang="zh-TW" sz="2191" dirty="0">
                  <a:solidFill>
                    <a:prstClr val="black"/>
                  </a:solidFill>
                </a:rPr>
                <a:t>(</a:t>
              </a:r>
              <a:r>
                <a:rPr lang="en-US" altLang="zh-TW" sz="2191" dirty="0">
                  <a:solidFill>
                    <a:srgbClr val="FFC000"/>
                  </a:solidFill>
                </a:rPr>
                <a:t>{1,2,(1,),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'}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#</a:t>
              </a:r>
              <a:r>
                <a:rPr lang="en-US" altLang="zh-TW" sz="2191" spc="-274" dirty="0">
                  <a:solidFill>
                    <a:srgbClr val="FFAFAF"/>
                  </a:solidFill>
                </a:rPr>
                <a:t>♞</a:t>
              </a:r>
              <a:r>
                <a:rPr lang="en-US" altLang="zh-TW" sz="2191" spc="-274" dirty="0">
                  <a:solidFill>
                    <a:prstClr val="black"/>
                  </a:solidFill>
                </a:rPr>
                <a:t> 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is 265E in </a:t>
              </a:r>
              <a:r>
                <a:rPr lang="en-US" altLang="zh-TW" sz="2191" dirty="0" err="1">
                  <a:solidFill>
                    <a:srgbClr val="FFAFAF"/>
                  </a:solidFill>
                  <a:latin typeface="Arial Narrow" panose="020B0606020202030204" pitchFamily="34" charset="0"/>
                </a:rPr>
                <a:t>unicode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  <a:r>
                <a:rPr lang="pl-PL" altLang="zh-TW" sz="2191" dirty="0">
                  <a:solidFill>
                    <a:srgbClr val="006600"/>
                  </a:solidFill>
                </a:rPr>
                <a:t>{(1,), 1, 2, </a:t>
              </a:r>
              <a:r>
                <a:rPr lang="en-US" altLang="zh-TW" sz="2191" spc="-9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dirty="0">
                  <a:solidFill>
                    <a:srgbClr val="006600"/>
                  </a:solidFill>
                </a:rPr>
                <a:t>@</a:t>
              </a:r>
              <a:r>
                <a:rPr lang="pl-PL" altLang="zh-TW" sz="2191" dirty="0">
                  <a:solidFill>
                    <a:srgbClr val="006600"/>
                  </a:solidFill>
                </a:rPr>
                <a:t>\\u265e'}</a:t>
              </a:r>
              <a:r>
                <a:rPr lang="pl-PL" altLang="zh-TW" sz="2191" b="1" dirty="0">
                  <a:solidFill>
                    <a:srgbClr val="006600"/>
                  </a:solidFill>
                </a:rPr>
                <a:t>"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"#&lt;10s"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right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"#^10s"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</a:t>
              </a:r>
              <a:r>
                <a:rPr lang="en-US" altLang="zh-TW" sz="11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center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pads</a:t>
              </a:r>
              <a:r>
                <a:rPr lang="en-US" altLang="zh-TW" sz="105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a</a:t>
              </a:r>
              <a:r>
                <a:rPr lang="en-US" altLang="zh-TW" sz="1000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####'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"#&gt;10s"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left pads a string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  <a:p>
              <a:pPr>
                <a:lnSpc>
                  <a:spcPct val="80000"/>
                </a:lnSpc>
              </a:pPr>
              <a:r>
                <a:rPr lang="en-US" altLang="zh-TW" sz="2191" dirty="0">
                  <a:solidFill>
                    <a:prstClr val="white">
                      <a:lumMod val="85000"/>
                    </a:prstClr>
                  </a:solidFill>
                </a:rPr>
                <a:t>&gt;&gt;&gt;</a:t>
              </a:r>
              <a:r>
                <a:rPr lang="en-US" altLang="zh-TW" sz="2191" dirty="0">
                  <a:solidFill>
                    <a:prstClr val="black"/>
                  </a:solidFill>
                </a:rPr>
                <a:t> format(</a:t>
              </a:r>
              <a:r>
                <a:rPr lang="en-US" altLang="zh-TW" sz="2191" spc="-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spc="-365" dirty="0">
                  <a:solidFill>
                    <a:srgbClr val="FFC0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FFC000"/>
                  </a:solidFill>
                </a:rPr>
                <a:t>♞</a:t>
              </a:r>
              <a:r>
                <a:rPr lang="en-US" altLang="zh-TW" sz="2191" dirty="0">
                  <a:solidFill>
                    <a:srgbClr val="FFC000"/>
                  </a:solidFill>
                </a:rPr>
                <a:t>'</a:t>
              </a:r>
              <a:r>
                <a:rPr lang="en-US" altLang="zh-TW" sz="2191" dirty="0">
                  <a:solidFill>
                    <a:prstClr val="black"/>
                  </a:solidFill>
                </a:rPr>
                <a:t>,</a:t>
              </a:r>
              <a:r>
                <a:rPr lang="en-US" altLang="zh-TW" sz="2191" dirty="0">
                  <a:solidFill>
                    <a:srgbClr val="FFC000"/>
                  </a:solidFill>
                </a:rPr>
                <a:t>"&gt;10s"</a:t>
              </a:r>
              <a:r>
                <a:rPr lang="en-US" altLang="zh-TW" sz="2191" dirty="0">
                  <a:solidFill>
                    <a:prstClr val="black"/>
                  </a:solidFill>
                </a:rPr>
                <a:t>) </a:t>
              </a:r>
              <a:r>
                <a:rPr lang="en-US" altLang="zh-TW" sz="2191" dirty="0">
                  <a:solidFill>
                    <a:srgbClr val="FFAFAF"/>
                  </a:solidFill>
                  <a:latin typeface="Arial Narrow" panose="020B0606020202030204" pitchFamily="34" charset="0"/>
                </a:rPr>
                <a:t># default pad is space</a:t>
              </a:r>
              <a:endParaRPr lang="en-US" altLang="zh-TW" sz="2191" dirty="0">
                <a:solidFill>
                  <a:prstClr val="black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  <a:r>
                <a:rPr lang="en-US" altLang="zh-TW" sz="2191" b="1" dirty="0">
                  <a:solidFill>
                    <a:prstClr val="white"/>
                  </a:solidFill>
                </a:rPr>
                <a:t>########</a:t>
              </a:r>
              <a:r>
                <a:rPr lang="en-US" altLang="zh-TW" sz="2191" spc="-365" dirty="0">
                  <a:solidFill>
                    <a:srgbClr val="006600"/>
                  </a:solidFill>
                </a:rPr>
                <a:t>@</a:t>
              </a:r>
              <a:r>
                <a:rPr lang="en-US" altLang="zh-TW" sz="2191" spc="-274" dirty="0">
                  <a:solidFill>
                    <a:srgbClr val="006600"/>
                  </a:solidFill>
                </a:rPr>
                <a:t>♞</a:t>
              </a:r>
              <a:r>
                <a:rPr lang="en-US" altLang="zh-TW" sz="2191" b="1" dirty="0">
                  <a:solidFill>
                    <a:srgbClr val="006600"/>
                  </a:solidFill>
                </a:rPr>
                <a:t>'</a:t>
              </a:r>
            </a:p>
          </p:txBody>
        </p:sp>
      </p:grp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439563" y="459508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69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95255" y="5191129"/>
            <a:ext cx="1905008" cy="609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71873" y="1843088"/>
            <a:ext cx="4171950" cy="302894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3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266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80" dirty="0">
                <a:solidFill>
                  <a:prstClr val="black"/>
                </a:solidFill>
              </a:rPr>
              <a:t> </a:t>
            </a:r>
            <a:r>
              <a:rPr lang="en-US" sz="2600" spc="-80" dirty="0" err="1">
                <a:solidFill>
                  <a:srgbClr val="FFFFFF"/>
                </a:solidFill>
              </a:rPr>
              <a:t>dir</a:t>
            </a:r>
            <a:r>
              <a:rPr lang="en-US" sz="2600" spc="-80" dirty="0">
                <a:solidFill>
                  <a:srgbClr val="FFFFFF"/>
                </a:solidFill>
              </a:rPr>
              <a:t> (tuple)[-2:]</a:t>
            </a:r>
            <a:r>
              <a:rPr lang="en-US" sz="2600" spc="-8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Since the methods are at the end, let’s see just the end:</a:t>
            </a:r>
            <a:endParaRPr lang="en-US" sz="2600" spc="-80" dirty="0">
              <a:solidFill>
                <a:srgbClr val="FFFFFF"/>
              </a:solidFill>
            </a:endParaRP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['count', 'index']</a:t>
            </a:r>
            <a:endParaRPr lang="en-US" sz="2600" spc="-70" dirty="0">
              <a:solidFill>
                <a:prstClr val="white">
                  <a:lumMod val="50000"/>
                </a:prstClr>
              </a:solidFill>
            </a:endParaRP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  <a:r>
              <a:rPr lang="en-US" sz="2600" spc="-70" dirty="0">
                <a:solidFill>
                  <a:prstClr val="black"/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(list)[-11:]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11 list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['append', 'clear', 'copy', 'count', 'extend', 'index', 'insert', 'pop', 'remove', 'reverse', 'sort']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(set)[-17:]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I happen to know that there are 17 set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srgbClr val="FFFFFF"/>
                </a:solidFill>
              </a:rPr>
              <a:t>['add',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'clear',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'copy',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'difference',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</a:t>
            </a:r>
            <a:r>
              <a:rPr lang="en-US" sz="2600" spc="-80" dirty="0" err="1">
                <a:solidFill>
                  <a:srgbClr val="FFFFFF"/>
                </a:solidFill>
              </a:rPr>
              <a:t>difference</a:t>
            </a:r>
            <a:r>
              <a:rPr lang="en-US" sz="2600" spc="-80" dirty="0" err="1">
                <a:solidFill>
                  <a:srgbClr val="FFFFFF"/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srgbClr val="FFFFFF"/>
                </a:solidFill>
              </a:rPr>
              <a:t>update</a:t>
            </a:r>
            <a:r>
              <a:rPr lang="en-US" sz="2600" spc="-80" dirty="0">
                <a:solidFill>
                  <a:srgbClr val="FFFFFF"/>
                </a:solidFill>
              </a:rPr>
              <a:t>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srgbClr val="FFFFFF"/>
                </a:solidFill>
              </a:rPr>
              <a:t>'discard',</a:t>
            </a:r>
            <a:r>
              <a:rPr lang="en-US" sz="2400" spc="-80" dirty="0">
                <a:solidFill>
                  <a:srgbClr val="FFFFFF"/>
                </a:solidFill>
              </a:rPr>
              <a:t> </a:t>
            </a:r>
            <a:r>
              <a:rPr lang="en-US" sz="2600" spc="-80" dirty="0">
                <a:solidFill>
                  <a:prstClr val="white"/>
                </a:solidFill>
              </a:rPr>
              <a:t>'intersection', </a:t>
            </a:r>
            <a:r>
              <a:rPr lang="en-US" sz="2600" spc="-70" dirty="0">
                <a:solidFill>
                  <a:prstClr val="white"/>
                </a:solidFill>
              </a:rPr>
              <a:t>'</a:t>
            </a:r>
            <a:r>
              <a:rPr lang="en-US" sz="2600" spc="-70" dirty="0" err="1">
                <a:solidFill>
                  <a:prstClr val="white"/>
                </a:solidFill>
              </a:rPr>
              <a:t>intersection_update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isdisjoint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issubset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issuperset</a:t>
            </a:r>
            <a:r>
              <a:rPr lang="en-US" sz="2600" spc="-70" dirty="0">
                <a:solidFill>
                  <a:prstClr val="white"/>
                </a:solidFill>
              </a:rPr>
              <a:t>', 'pop', 'remove',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</a:t>
            </a:r>
            <a:r>
              <a:rPr lang="en-US" sz="2600" spc="-70" dirty="0">
                <a:solidFill>
                  <a:prstClr val="white"/>
                </a:solidFill>
              </a:rPr>
              <a:t>', '</a:t>
            </a:r>
            <a:r>
              <a:rPr lang="en-US" sz="2600" spc="-70" dirty="0" err="1">
                <a:solidFill>
                  <a:prstClr val="white"/>
                </a:solidFill>
              </a:rPr>
              <a:t>symmetric_difference_update</a:t>
            </a:r>
            <a:r>
              <a:rPr lang="en-US" sz="2600" spc="-70" dirty="0">
                <a:solidFill>
                  <a:prstClr val="white"/>
                </a:solidFill>
              </a:rPr>
              <a:t>', 'union', 'update']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srgbClr val="7F7F7F"/>
                </a:solidFill>
              </a:rPr>
              <a:t>&gt;&gt;&gt;</a:t>
            </a: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dict</a:t>
            </a:r>
            <a:r>
              <a:rPr lang="en-US" sz="2600" spc="-70" dirty="0">
                <a:solidFill>
                  <a:srgbClr val="FFFFFF"/>
                </a:solidFill>
              </a:rPr>
              <a:t>)[-11:]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 # 11 dictionary methods</a:t>
            </a:r>
            <a:endParaRPr lang="en-US" sz="2600" spc="-70" dirty="0">
              <a:solidFill>
                <a:srgbClr val="FFFFFF"/>
              </a:solidFill>
            </a:endParaRP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['clear', 'copy', '</a:t>
            </a:r>
            <a:r>
              <a:rPr lang="en-US" sz="2600" spc="-70" dirty="0" err="1">
                <a:solidFill>
                  <a:srgbClr val="FFFFFF"/>
                </a:solidFill>
              </a:rPr>
              <a:t>fromkeys</a:t>
            </a:r>
            <a:r>
              <a:rPr lang="en-US" sz="2600" spc="-70" dirty="0">
                <a:solidFill>
                  <a:srgbClr val="FFFFFF"/>
                </a:solidFill>
              </a:rPr>
              <a:t>', 'get', 'items', 'keys', 'pop', '</a:t>
            </a:r>
            <a:r>
              <a:rPr lang="en-US" sz="2600" spc="-70" dirty="0" err="1">
                <a:solidFill>
                  <a:srgbClr val="FFFFFF"/>
                </a:solidFill>
              </a:rPr>
              <a:t>popitem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setdefault</a:t>
            </a:r>
            <a:r>
              <a:rPr lang="en-US" sz="2600" spc="-70" dirty="0">
                <a:solidFill>
                  <a:srgbClr val="FFFFFF"/>
                </a:solidFill>
              </a:rPr>
              <a:t>', 'update', 'values']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srgbClr val="FFFFFF"/>
                </a:solidFill>
              </a:rPr>
              <a:t>dir</a:t>
            </a:r>
            <a:r>
              <a:rPr lang="en-US" sz="2600" spc="-70" dirty="0">
                <a:solidFill>
                  <a:srgbClr val="FFFFFF"/>
                </a:solidFill>
              </a:rPr>
              <a:t> (</a:t>
            </a:r>
            <a:r>
              <a:rPr lang="en-US" sz="2600" spc="-70" dirty="0" err="1">
                <a:solidFill>
                  <a:srgbClr val="FFFFFF"/>
                </a:solidFill>
              </a:rPr>
              <a:t>str</a:t>
            </a:r>
            <a:r>
              <a:rPr lang="en-US" sz="2600" spc="-70" dirty="0">
                <a:solidFill>
                  <a:srgbClr val="FFFFFF"/>
                </a:solidFill>
              </a:rPr>
              <a:t>)[-44:]</a:t>
            </a:r>
            <a:r>
              <a:rPr lang="en-US" sz="2600" spc="-70" dirty="0">
                <a:solidFill>
                  <a:srgbClr val="705500"/>
                </a:solidFill>
              </a:rPr>
              <a:t> </a:t>
            </a:r>
            <a:r>
              <a:rPr lang="en-US" sz="2600" spc="-70" dirty="0">
                <a:solidFill>
                  <a:srgbClr val="FFC000">
                    <a:lumMod val="40000"/>
                    <a:lumOff val="60000"/>
                  </a:srgbClr>
                </a:solidFill>
              </a:rPr>
              <a:t># 44 string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srgbClr val="FFFFFF"/>
                </a:solidFill>
              </a:rPr>
              <a:t>['capitalize', '</a:t>
            </a:r>
            <a:r>
              <a:rPr lang="en-US" sz="2600" spc="-70" dirty="0" err="1">
                <a:solidFill>
                  <a:srgbClr val="FFFFFF"/>
                </a:solidFill>
              </a:rPr>
              <a:t>casefold</a:t>
            </a:r>
            <a:r>
              <a:rPr lang="en-US" sz="2600" spc="-70" dirty="0">
                <a:solidFill>
                  <a:srgbClr val="FFFFFF"/>
                </a:solidFill>
              </a:rPr>
              <a:t>', 'center', 'count', 'encode', '</a:t>
            </a:r>
            <a:r>
              <a:rPr lang="en-US" sz="2600" spc="-70" dirty="0" err="1">
                <a:solidFill>
                  <a:srgbClr val="FFFFFF"/>
                </a:solidFill>
              </a:rPr>
              <a:t>endswith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expandtabs</a:t>
            </a:r>
            <a:r>
              <a:rPr lang="en-US" sz="2600" spc="-70" dirty="0">
                <a:solidFill>
                  <a:srgbClr val="FFFFFF"/>
                </a:solidFill>
              </a:rPr>
              <a:t>', 'find', 'format', '</a:t>
            </a:r>
            <a:r>
              <a:rPr lang="en-US" sz="2600" spc="-70" dirty="0" err="1">
                <a:solidFill>
                  <a:srgbClr val="FFFFFF"/>
                </a:solidFill>
              </a:rPr>
              <a:t>format_map</a:t>
            </a:r>
            <a:r>
              <a:rPr lang="en-US" sz="2600" spc="-70" dirty="0">
                <a:solidFill>
                  <a:srgbClr val="FFFFFF"/>
                </a:solidFill>
              </a:rPr>
              <a:t>', 'index', '</a:t>
            </a:r>
            <a:r>
              <a:rPr lang="en-US" sz="2600" spc="-70" dirty="0" err="1">
                <a:solidFill>
                  <a:srgbClr val="FFFFFF"/>
                </a:solidFill>
              </a:rPr>
              <a:t>isalnum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isalpha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isdecimal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isdigit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isidentifier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islower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isnumeric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isprintable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isspace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istitle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isupper</a:t>
            </a:r>
            <a:r>
              <a:rPr lang="en-US" sz="2600" spc="-70" dirty="0">
                <a:solidFill>
                  <a:srgbClr val="FFFFFF"/>
                </a:solidFill>
              </a:rPr>
              <a:t>', 'join', '</a:t>
            </a:r>
            <a:r>
              <a:rPr lang="en-US" sz="2600" spc="-70" dirty="0" err="1">
                <a:solidFill>
                  <a:srgbClr val="FFFFFF"/>
                </a:solidFill>
              </a:rPr>
              <a:t>ljust</a:t>
            </a:r>
            <a:r>
              <a:rPr lang="en-US" sz="2600" spc="-70" dirty="0">
                <a:solidFill>
                  <a:srgbClr val="FFFFFF"/>
                </a:solidFill>
              </a:rPr>
              <a:t>', 'lower', '</a:t>
            </a:r>
            <a:r>
              <a:rPr lang="en-US" sz="2600" spc="-70" dirty="0" err="1">
                <a:solidFill>
                  <a:srgbClr val="FFFFFF"/>
                </a:solidFill>
              </a:rPr>
              <a:t>lstrip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maketrans</a:t>
            </a:r>
            <a:r>
              <a:rPr lang="en-US" sz="2600" spc="-70" dirty="0">
                <a:solidFill>
                  <a:srgbClr val="FFFFFF"/>
                </a:solidFill>
              </a:rPr>
              <a:t>', 'partition', 'replace', '</a:t>
            </a:r>
            <a:r>
              <a:rPr lang="en-US" sz="2600" spc="-70" dirty="0" err="1">
                <a:solidFill>
                  <a:srgbClr val="FFFFFF"/>
                </a:solidFill>
              </a:rPr>
              <a:t>rfind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rindex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rjust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rpartition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rsplit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rstrip</a:t>
            </a:r>
            <a:r>
              <a:rPr lang="en-US" sz="2600" spc="-70" dirty="0">
                <a:solidFill>
                  <a:srgbClr val="FFFFFF"/>
                </a:solidFill>
              </a:rPr>
              <a:t>', 'split', '</a:t>
            </a:r>
            <a:r>
              <a:rPr lang="en-US" sz="2600" spc="-70" dirty="0" err="1">
                <a:solidFill>
                  <a:srgbClr val="FFFFFF"/>
                </a:solidFill>
              </a:rPr>
              <a:t>splitlines</a:t>
            </a:r>
            <a:r>
              <a:rPr lang="en-US" sz="2600" spc="-70" dirty="0">
                <a:solidFill>
                  <a:srgbClr val="FFFFFF"/>
                </a:solidFill>
              </a:rPr>
              <a:t>', '</a:t>
            </a:r>
            <a:r>
              <a:rPr lang="en-US" sz="2600" spc="-70" dirty="0" err="1">
                <a:solidFill>
                  <a:srgbClr val="FFFFFF"/>
                </a:solidFill>
              </a:rPr>
              <a:t>startswith</a:t>
            </a:r>
            <a:r>
              <a:rPr lang="en-US" sz="2600" spc="-70" dirty="0">
                <a:solidFill>
                  <a:srgbClr val="FFFFFF"/>
                </a:solidFill>
              </a:rPr>
              <a:t>', 'strip', '</a:t>
            </a:r>
            <a:r>
              <a:rPr lang="en-US" sz="2600" spc="-70" dirty="0" err="1">
                <a:solidFill>
                  <a:srgbClr val="FFFFFF"/>
                </a:solidFill>
              </a:rPr>
              <a:t>swapcase</a:t>
            </a:r>
            <a:r>
              <a:rPr lang="en-US" sz="2600" spc="-70" dirty="0">
                <a:solidFill>
                  <a:srgbClr val="FFFFFF"/>
                </a:solidFill>
              </a:rPr>
              <a:t>', 'title', 'translate', 'upper', '</a:t>
            </a:r>
            <a:r>
              <a:rPr lang="en-US" sz="2600" spc="-70" dirty="0" err="1">
                <a:solidFill>
                  <a:srgbClr val="FFFFFF"/>
                </a:solidFill>
              </a:rPr>
              <a:t>zfill</a:t>
            </a:r>
            <a:r>
              <a:rPr lang="en-US" sz="2600" spc="-70" dirty="0">
                <a:solidFill>
                  <a:srgbClr val="FFFFFF"/>
                </a:solidFill>
              </a:rPr>
              <a:t>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white">
                    <a:lumMod val="50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263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8262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62" y="45950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Slides 152-155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2" name="Oval 1"/>
          <p:cNvSpPr/>
          <p:nvPr/>
        </p:nvSpPr>
        <p:spPr>
          <a:xfrm>
            <a:off x="823913" y="4876800"/>
            <a:ext cx="1143000" cy="609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266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)[-11:] # 11 dictionary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['clear', 'copy',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fromkeys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'get', 'items', 'keys', 'pop',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popitem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setdefault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'update', 'values']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str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)[-44:] # 44 string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['capitalize',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casefold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'center', 'count', 'encode',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endswith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expandtabs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'find', 'format',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format_map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'index',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isalnum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isalpha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isdecimal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isdigit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isidentifier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islower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isnumeric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isprintable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isspace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istitle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isupper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'join',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ljust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'lower',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lstrip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maketrans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'partition', 'replace',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rfind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rindex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rjust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rpartition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rsplit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rstrip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'split',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splitlines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startswith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'strip',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swapcase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'title', 'translate', 'upper',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zfill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263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8262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62" y="45950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Slides 152-155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3913" y="4876800"/>
            <a:ext cx="1143000" cy="609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1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266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)[-11:] # 11 dictionary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['clear', 'copy',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fromkeys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'get', 'items', 'keys', 'pop',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popitem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setdefault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'update', 'values']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dir</a:t>
            </a:r>
            <a:r>
              <a:rPr lang="en-US" sz="2600" spc="-70" dirty="0">
                <a:solidFill>
                  <a:prstClr val="white"/>
                </a:solidFill>
              </a:rPr>
              <a:t> 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white"/>
                </a:solidFill>
              </a:rPr>
              <a:t>)[-44:]</a:t>
            </a:r>
            <a:r>
              <a:rPr lang="en-US" sz="2400" spc="-70" dirty="0">
                <a:solidFill>
                  <a:prstClr val="white"/>
                </a:solidFill>
              </a:rPr>
              <a:t> </a:t>
            </a:r>
            <a:r>
              <a:rPr lang="en-US" sz="2600" spc="-70" dirty="0">
                <a:solidFill>
                  <a:prstClr val="white"/>
                </a:solidFill>
              </a:rPr>
              <a:t># 16 string methods are important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'capitalize',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casefold</a:t>
            </a:r>
            <a:r>
              <a:rPr lang="en-US" sz="2600" spc="-70" dirty="0">
                <a:solidFill>
                  <a:srgbClr val="480027"/>
                </a:solidFill>
              </a:rPr>
              <a:t>', 'center', 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endswith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expandtabs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'format', '</a:t>
            </a:r>
            <a:r>
              <a:rPr lang="en-US" sz="2600" spc="-70" dirty="0" err="1">
                <a:solidFill>
                  <a:srgbClr val="480027"/>
                </a:solidFill>
              </a:rPr>
              <a:t>format_map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isdecimal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isidentifier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isprintable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isspace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istitle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ljust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lstrip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maketrans</a:t>
            </a:r>
            <a:r>
              <a:rPr lang="en-US" sz="2600" spc="-70" dirty="0">
                <a:solidFill>
                  <a:srgbClr val="480027"/>
                </a:solidFill>
              </a:rPr>
              <a:t>', 'partition',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rfind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rindex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rjust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rpartition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480027"/>
                </a:solidFill>
              </a:rPr>
              <a:t>rstrip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splitlines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'strip', '</a:t>
            </a:r>
            <a:r>
              <a:rPr lang="en-US" sz="2600" spc="-70" dirty="0" err="1">
                <a:solidFill>
                  <a:srgbClr val="480027"/>
                </a:solidFill>
              </a:rPr>
              <a:t>swapcase</a:t>
            </a:r>
            <a:r>
              <a:rPr lang="en-US" sz="2600" spc="-70" dirty="0">
                <a:solidFill>
                  <a:srgbClr val="480027"/>
                </a:solidFill>
              </a:rPr>
              <a:t>', 'title', 'translate',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480027"/>
                </a:solidFill>
              </a:rPr>
              <a:t>zfill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263" y="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8262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62" y="45950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Slides 152-155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3913" y="4876800"/>
            <a:ext cx="1143000" cy="609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266" y="688770"/>
            <a:ext cx="9615196" cy="6169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(tuple)[-2:] # Since the methods are at the end, let’s see just the end: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['count', 'index']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(list)[-11:] # I happen to know that there are 11 list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['append', 'clear', 'copy', 'count', 'extend', 'index', 'insert', 'pop', 'remove', 'reverse', 'sort']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(set)[-17:] # I happen to know that there are 17 set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['add',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'clear',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'copy',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'difference',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difference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  <a:latin typeface="Bahnschrift Light" panose="020B0502040204020203" pitchFamily="34" charset="0"/>
              </a:rPr>
              <a:t>_</a:t>
            </a:r>
            <a:r>
              <a:rPr lang="en-US" sz="2600" spc="-8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update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'discard',</a:t>
            </a:r>
            <a:r>
              <a:rPr lang="en-US" sz="24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en-US" sz="2600" spc="-80" dirty="0">
                <a:solidFill>
                  <a:prstClr val="black">
                    <a:lumMod val="65000"/>
                    <a:lumOff val="35000"/>
                  </a:prstClr>
                </a:solidFill>
              </a:rPr>
              <a:t>'intersection',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intersection_update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isdisjoint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issubset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issuperset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'pop', 'remove',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symmetric_difference_update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'union', 'update']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dir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 (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dict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)[-11:] # 11 dictionary methods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['clear', 'copy',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fromkeys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'get', 'items', 'keys', 'pop',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popitem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</a:t>
            </a:r>
            <a:r>
              <a:rPr lang="en-US" sz="2600" spc="-7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setdefault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', 'update', 'values']</a:t>
            </a: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 </a:t>
            </a:r>
            <a:r>
              <a:rPr lang="en-US" sz="2600" spc="-70" dirty="0" err="1">
                <a:solidFill>
                  <a:prstClr val="white"/>
                </a:solidFill>
              </a:rPr>
              <a:t>ImportantMethodsOf</a:t>
            </a:r>
            <a:r>
              <a:rPr lang="en-US" sz="2600" spc="-70" dirty="0">
                <a:solidFill>
                  <a:prstClr val="white"/>
                </a:solidFill>
              </a:rPr>
              <a:t>(</a:t>
            </a:r>
            <a:r>
              <a:rPr lang="en-US" sz="2600" b="1" spc="-70" dirty="0" err="1">
                <a:solidFill>
                  <a:srgbClr val="FF1493"/>
                </a:solidFill>
              </a:rPr>
              <a:t>str</a:t>
            </a:r>
            <a:r>
              <a:rPr lang="en-US" sz="2600" spc="-70" dirty="0">
                <a:solidFill>
                  <a:prstClr val="white"/>
                </a:solidFill>
              </a:rPr>
              <a:t>) #Assume I have written this function…</a:t>
            </a:r>
            <a:endParaRPr lang="en-US" sz="2600" spc="-70" dirty="0">
              <a:solidFill>
                <a:srgbClr val="7F7F7F"/>
              </a:solidFill>
            </a:endParaRPr>
          </a:p>
          <a:p>
            <a:pPr defTabSz="914400">
              <a:lnSpc>
                <a:spcPct val="78000"/>
              </a:lnSpc>
            </a:pP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count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encode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find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index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isalnum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isalpha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isdigit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islower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 err="1">
                <a:solidFill>
                  <a:srgbClr val="FF1493"/>
                </a:solidFill>
              </a:rPr>
              <a:t>isnumeric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isupper</a:t>
            </a:r>
            <a:r>
              <a:rPr lang="en-US" sz="2600" spc="-70" dirty="0">
                <a:solidFill>
                  <a:srgbClr val="480027"/>
                </a:solidFill>
              </a:rPr>
              <a:t>',</a:t>
            </a:r>
            <a:r>
              <a:rPr lang="en-US" sz="2600" spc="-70" dirty="0">
                <a:solidFill>
                  <a:srgbClr val="FF1493"/>
                </a:solidFill>
              </a:rPr>
              <a:t> 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srgbClr val="FF1493"/>
                </a:solidFill>
              </a:rPr>
              <a:t>join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lower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replace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split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 err="1">
                <a:solidFill>
                  <a:srgbClr val="FF1493"/>
                </a:solidFill>
              </a:rPr>
              <a:t>startswith</a:t>
            </a:r>
            <a:r>
              <a:rPr lang="en-US" sz="2600" spc="-70" dirty="0">
                <a:solidFill>
                  <a:srgbClr val="480027"/>
                </a:solidFill>
              </a:rPr>
              <a:t>', '</a:t>
            </a:r>
            <a:r>
              <a:rPr lang="en-US" sz="2600" spc="-70" dirty="0">
                <a:solidFill>
                  <a:srgbClr val="FF1493"/>
                </a:solidFill>
              </a:rPr>
              <a:t>upper</a:t>
            </a:r>
            <a:r>
              <a:rPr lang="en-US" sz="2600" spc="-70" dirty="0">
                <a:solidFill>
                  <a:srgbClr val="480027"/>
                </a:solidFill>
              </a:rPr>
              <a:t>'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  <a:r>
              <a:rPr lang="en-US" sz="2600" spc="-70" dirty="0">
                <a:solidFill>
                  <a:srgbClr val="7F7F7F"/>
                </a:solidFill>
              </a:rPr>
              <a:t> </a:t>
            </a:r>
            <a:r>
              <a:rPr lang="en-US" sz="2600" spc="-70" dirty="0">
                <a:solidFill>
                  <a:prstClr val="black">
                    <a:lumMod val="65000"/>
                    <a:lumOff val="35000"/>
                  </a:prstClr>
                </a:solidFill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263" y="-1711"/>
            <a:ext cx="9601200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The Methods for Each Data Type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8262" y="685800"/>
            <a:ext cx="0" cy="6163056"/>
          </a:xfrm>
          <a:prstGeom prst="line">
            <a:avLst/>
          </a:prstGeom>
          <a:ln w="12700">
            <a:solidFill>
              <a:srgbClr val="4171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62" y="45950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Slides 152-155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4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95348" y="597294"/>
            <a:ext cx="9438408" cy="57943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46541">
              <a:lnSpc>
                <a:spcPct val="100000"/>
              </a:lnSpc>
              <a:spcBef>
                <a:spcPts val="0"/>
              </a:spcBef>
            </a:pPr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The format built-in function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format(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"@♞"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"#^10s"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# center pads a string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'####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@♞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####'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format(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"@♞"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"&gt;10s"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# default pad is space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   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@♞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lvl="0" indent="15875" defTabSz="84654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5348" y="1927722"/>
            <a:ext cx="9438408" cy="44805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C-style formatted prints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$%.2f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%.2f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b="1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8*10.5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95348" y="3217026"/>
            <a:ext cx="9438408" cy="3657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The format method of the string class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S="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hour:d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{rate:.2f}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{pay:.2f}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4 Common Ways to Format Prints 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95348" y="3217026"/>
            <a:ext cx="9438408" cy="3657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S.format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pay=8*10.5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hour=8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rate=10.5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"{</a:t>
            </a:r>
            <a:r>
              <a:rPr lang="en-US" altLang="en-US" sz="2400" b="1" spc="-6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x:d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 err="1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y:s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x:.1f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 err="1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y:s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x:%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}".format(y=</a:t>
            </a:r>
            <a:r>
              <a:rPr lang="en-US" altLang="en-US" sz="2400" b="1" spc="-80" dirty="0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","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spc="-6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x=1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1.0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100.000000%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S="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{:d}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S.format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8*10.5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95348" y="3217026"/>
            <a:ext cx="1159826" cy="3657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spc="-6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95348" y="4754880"/>
            <a:ext cx="9438408" cy="21031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46541">
              <a:lnSpc>
                <a:spcPct val="100000"/>
              </a:lnSpc>
              <a:spcBef>
                <a:spcPts val="0"/>
              </a:spcBef>
            </a:pPr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Formatted string literals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pay=8*10.5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hour=8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rate=10.5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f"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hour:d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{rate:.2f}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{pay:.2f}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7F7F7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63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95348" y="597294"/>
            <a:ext cx="9438408" cy="57943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46541">
              <a:lnSpc>
                <a:spcPct val="100000"/>
              </a:lnSpc>
              <a:spcBef>
                <a:spcPts val="0"/>
              </a:spcBef>
            </a:pPr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The format built-in function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format(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"@♞"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"#^10s"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# center pads a string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'####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@♞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####'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format(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"@♞"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"&gt;10s"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# default pad is space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   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@♞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lvl="0" indent="15875" defTabSz="84654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b="1" dirty="0">
              <a:solidFill>
                <a:srgbClr val="00B05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5348" y="1927722"/>
            <a:ext cx="9438408" cy="448056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C-style formatted prints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print("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$%.2f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%.2f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b="1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8*10.5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7F7F7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95348" y="3217026"/>
            <a:ext cx="9438408" cy="3657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The format method of the string class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S="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hour:d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{rate:.2f}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{pay:.2f}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4 Common Ways to Format Prints 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1673352" y="1691640"/>
            <a:ext cx="2003914" cy="841499"/>
          </a:xfrm>
          <a:prstGeom prst="wedgeRoundRectCallout">
            <a:avLst>
              <a:gd name="adj1" fmla="val -11387"/>
              <a:gd name="adj2" fmla="val 19416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The fields are named.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95348" y="3217026"/>
            <a:ext cx="9438408" cy="3657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S.format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pay=8*10.5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hour=8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rate=10.5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"{</a:t>
            </a:r>
            <a:r>
              <a:rPr lang="en-US" altLang="en-US" sz="2400" b="1" spc="-6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x:d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 err="1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y:s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x:.1f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 err="1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y:s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}{</a:t>
            </a:r>
            <a:r>
              <a:rPr lang="en-US" altLang="en-US" sz="2400" b="1" spc="-6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x:%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}".format(y=</a:t>
            </a:r>
            <a:r>
              <a:rPr lang="en-US" altLang="en-US" sz="2400" b="1" spc="-80" dirty="0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","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spc="-6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x=1</a:t>
            </a:r>
            <a:r>
              <a:rPr lang="en-US" altLang="en-US" sz="2400" spc="-6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1.0</a:t>
            </a:r>
            <a:r>
              <a:rPr lang="en-US" altLang="en-US" sz="2400" dirty="0">
                <a:solidFill>
                  <a:srgbClr val="C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100.000000%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S="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{:d}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S.format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8*10.5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295348" y="3217026"/>
            <a:ext cx="1159826" cy="3657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spc="-6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15875"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prstClr val="black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2880360" y="2514600"/>
            <a:ext cx="2953512" cy="843587"/>
          </a:xfrm>
          <a:prstGeom prst="wedgeRoundRectCallout">
            <a:avLst>
              <a:gd name="adj1" fmla="val 31589"/>
              <a:gd name="adj2" fmla="val 14163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And you must use them by name.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5843016" y="1755648"/>
            <a:ext cx="3894709" cy="1609344"/>
          </a:xfrm>
          <a:prstGeom prst="wedgeRoundRectCallout">
            <a:avLst>
              <a:gd name="adj1" fmla="val -13619"/>
              <a:gd name="adj2" fmla="val 7671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And so, just like named function arguments, they don't need to be passed in the order they're used. 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46329" y="3364992"/>
            <a:ext cx="6191396" cy="1494316"/>
            <a:chOff x="3546329" y="3364992"/>
            <a:chExt cx="6191396" cy="1494316"/>
          </a:xfrm>
        </p:grpSpPr>
        <p:sp>
          <p:nvSpPr>
            <p:cNvPr id="2" name="Isosceles Triangle 1"/>
            <p:cNvSpPr/>
            <p:nvPr/>
          </p:nvSpPr>
          <p:spPr bwMode="auto">
            <a:xfrm rot="15111723">
              <a:off x="4759586" y="3129138"/>
              <a:ext cx="244937" cy="2671451"/>
            </a:xfrm>
            <a:prstGeom prst="triangle">
              <a:avLst>
                <a:gd name="adj" fmla="val 42193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" name="Isosceles Triangle 15"/>
            <p:cNvSpPr/>
            <p:nvPr/>
          </p:nvSpPr>
          <p:spPr bwMode="auto">
            <a:xfrm rot="12830234" flipH="1">
              <a:off x="5710653" y="3975741"/>
              <a:ext cx="264687" cy="883567"/>
            </a:xfrm>
            <a:prstGeom prst="triangle">
              <a:avLst>
                <a:gd name="adj" fmla="val 92563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4" name="Rounded Rectangular Callout 13"/>
            <p:cNvSpPr/>
            <p:nvPr/>
          </p:nvSpPr>
          <p:spPr bwMode="auto">
            <a:xfrm>
              <a:off x="5846064" y="3364992"/>
              <a:ext cx="3891661" cy="832104"/>
            </a:xfrm>
            <a:prstGeom prst="wedgeRoundRectCallout">
              <a:avLst>
                <a:gd name="adj1" fmla="val -151739"/>
                <a:gd name="adj2" fmla="val 130972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>
                  <a:latin typeface="Times New Roman" charset="0"/>
                </a:rPr>
                <a:t>(In fact, you can even use them multiple times.)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  <p:sp>
          <p:nvSpPr>
            <p:cNvPr id="17" name="Isosceles Triangle 16"/>
            <p:cNvSpPr/>
            <p:nvPr/>
          </p:nvSpPr>
          <p:spPr bwMode="auto">
            <a:xfrm rot="15111723">
              <a:off x="5320516" y="3707273"/>
              <a:ext cx="253575" cy="1111646"/>
            </a:xfrm>
            <a:prstGeom prst="triangle">
              <a:avLst>
                <a:gd name="adj" fmla="val 17044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8" name="Isosceles Triangle 17"/>
            <p:cNvSpPr/>
            <p:nvPr/>
          </p:nvSpPr>
          <p:spPr bwMode="auto">
            <a:xfrm rot="11358420">
              <a:off x="5978563" y="4171808"/>
              <a:ext cx="149306" cy="291818"/>
            </a:xfrm>
            <a:prstGeom prst="triangle">
              <a:avLst>
                <a:gd name="adj" fmla="val 100000"/>
              </a:avLst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23" name="Rounded Rectangular Callout 22"/>
          <p:cNvSpPr/>
          <p:nvPr/>
        </p:nvSpPr>
        <p:spPr bwMode="auto">
          <a:xfrm>
            <a:off x="1629107" y="3623682"/>
            <a:ext cx="2421784" cy="841499"/>
          </a:xfrm>
          <a:prstGeom prst="wedgeRoundRectCallout">
            <a:avLst>
              <a:gd name="adj1" fmla="val -27383"/>
              <a:gd name="adj2" fmla="val 16729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These fields are </a:t>
            </a:r>
            <a:r>
              <a:rPr lang="en-US" sz="2800" b="1" dirty="0">
                <a:latin typeface="Times New Roman" charset="0"/>
              </a:rPr>
              <a:t>not</a:t>
            </a:r>
            <a:r>
              <a:rPr lang="en-US" sz="2800" dirty="0">
                <a:latin typeface="Times New Roman" charset="0"/>
              </a:rPr>
              <a:t> named.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24" name="Rounded Rectangular Callout 23"/>
          <p:cNvSpPr/>
          <p:nvPr/>
        </p:nvSpPr>
        <p:spPr bwMode="auto">
          <a:xfrm>
            <a:off x="5828268" y="3550037"/>
            <a:ext cx="3894709" cy="1609344"/>
          </a:xfrm>
          <a:prstGeom prst="wedgeRoundRectCallout">
            <a:avLst>
              <a:gd name="adj1" fmla="val -117629"/>
              <a:gd name="adj2" fmla="val 9381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spc="-30" dirty="0">
                <a:latin typeface="Times New Roman" charset="0"/>
              </a:rPr>
              <a:t>And so, just like positional</a:t>
            </a:r>
            <a:r>
              <a:rPr lang="en-US" sz="2800" dirty="0">
                <a:latin typeface="Times New Roman" charset="0"/>
              </a:rPr>
              <a:t> function arguments, they need to be passed </a:t>
            </a:r>
            <a:r>
              <a:rPr lang="en-US" sz="2800" b="1" dirty="0">
                <a:latin typeface="Times New Roman" charset="0"/>
              </a:rPr>
              <a:t>in the order they're used</a:t>
            </a:r>
            <a:r>
              <a:rPr lang="en-US" sz="2800" dirty="0">
                <a:latin typeface="Times New Roman" charset="0"/>
              </a:rPr>
              <a:t>. 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95348" y="4754880"/>
            <a:ext cx="9438408" cy="21031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46541">
              <a:lnSpc>
                <a:spcPct val="100000"/>
              </a:lnSpc>
              <a:spcBef>
                <a:spcPts val="0"/>
              </a:spcBef>
            </a:pPr>
            <a:r>
              <a:rPr lang="en-US" altLang="en-US" sz="3600" b="1" dirty="0">
                <a:solidFill>
                  <a:srgbClr val="0070C0"/>
                </a:solidFill>
                <a:latin typeface="Calibri"/>
              </a:rPr>
              <a:t>Formatted string literals</a:t>
            </a:r>
            <a:r>
              <a:rPr lang="en-US" altLang="en-US" sz="3600" dirty="0">
                <a:solidFill>
                  <a:prstClr val="black"/>
                </a:solidFill>
                <a:latin typeface="Calibri"/>
              </a:rPr>
              <a:t>:</a:t>
            </a:r>
            <a:endParaRPr lang="en-US" altLang="en-US" sz="3600" dirty="0">
              <a:solidFill>
                <a:srgbClr val="0070C0"/>
              </a:solidFill>
              <a:latin typeface="Calibri"/>
            </a:endParaRP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pay=8*10.5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hour=8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 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rate=10.5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f"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hour:d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{rate:.2f}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{pay:.2f}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sz="2400" dirty="0"/>
              <a:t>✕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10.50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2400" dirty="0" err="1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hr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=$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84.00</a:t>
            </a:r>
            <a:r>
              <a:rPr lang="en-US" altLang="en-US" sz="2400" dirty="0">
                <a:solidFill>
                  <a:prstClr val="black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</a:t>
            </a:r>
          </a:p>
          <a:p>
            <a:pPr marL="209550" lvl="0" indent="15875" defTabSz="84654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7F7F7F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88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23" grpId="0" animBg="1"/>
      <p:bldP spid="23" grpId="1" animBg="1"/>
      <p:bldP spid="24" grpId="0" animBg="1"/>
      <p:bldP spid="24" grpId="1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628831"/>
              </p:ext>
            </p:extLst>
          </p:nvPr>
        </p:nvGraphicFramePr>
        <p:xfrm>
          <a:off x="281782" y="825111"/>
          <a:ext cx="4457699" cy="575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9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Format </a:t>
                      </a:r>
                    </a:p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Symbol</a:t>
                      </a:r>
                    </a:p>
                  </a:txBody>
                  <a:tcPr marL="8287" marR="8287" marT="95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Conversion</a:t>
                      </a:r>
                    </a:p>
                  </a:txBody>
                  <a:tcPr marL="8287" marR="8287" marT="952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:&lt;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Left aligns the result </a:t>
                      </a: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(within the available space)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:&gt;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Right aligns the result </a:t>
                      </a:r>
                    </a:p>
                    <a:p>
                      <a:pPr algn="l" fontAlgn="t"/>
                      <a:r>
                        <a:rPr lang="en-US" sz="1800" dirty="0">
                          <a:effectLst/>
                        </a:rPr>
                        <a:t>(within the available space)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:^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Center aligns the result </a:t>
                      </a:r>
                    </a:p>
                    <a:p>
                      <a:pPr algn="l" fontAlgn="t"/>
                      <a:r>
                        <a:rPr lang="en-US" sz="1800" dirty="0">
                          <a:effectLst/>
                        </a:rPr>
                        <a:t>(within the available space)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:=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Places the sign at leftmost position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:+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Use a plus sign to indicate if the result is positive or negative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:-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Use a minus sign for negatives</a:t>
                      </a:r>
                      <a:r>
                        <a:rPr lang="en-US" sz="1800" baseline="0" dirty="0">
                          <a:effectLst/>
                        </a:rPr>
                        <a:t> only</a:t>
                      </a:r>
                      <a:endParaRPr lang="en-US" sz="1800" dirty="0">
                        <a:effectLst/>
                      </a:endParaRP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 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Use ":</a:t>
                      </a:r>
                      <a:r>
                        <a:rPr lang="en-US" sz="1800" baseline="0" dirty="0">
                          <a:effectLst/>
                        </a:rPr>
                        <a:t> "</a:t>
                      </a:r>
                      <a:r>
                        <a:rPr lang="en-US" sz="1800" dirty="0">
                          <a:effectLst/>
                        </a:rPr>
                        <a:t> to put a "</a:t>
                      </a:r>
                      <a:r>
                        <a:rPr lang="en-US" sz="1800" baseline="0" dirty="0">
                          <a:effectLst/>
                        </a:rPr>
                        <a:t> "</a:t>
                      </a:r>
                      <a:r>
                        <a:rPr lang="en-US" sz="1800" dirty="0">
                          <a:effectLst/>
                        </a:rPr>
                        <a:t> before positive numbers (and a "-" before negatives)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:,</a:t>
                      </a:r>
                    </a:p>
                  </a:txBody>
                  <a:tcPr marL="35362" marR="17681" marT="9144" marB="9144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Use a "," as a thousand separator</a:t>
                      </a:r>
                    </a:p>
                  </a:txBody>
                  <a:tcPr marL="17681" marR="17681" marT="9144" marB="914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:_</a:t>
                      </a:r>
                    </a:p>
                  </a:txBody>
                  <a:tcPr marL="35362" marR="17681" marT="9144" marB="9144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Use a "_" as a thousand separator</a:t>
                      </a:r>
                    </a:p>
                  </a:txBody>
                  <a:tcPr marL="17681" marR="17681" marT="9144" marB="914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:b</a:t>
                      </a:r>
                    </a:p>
                  </a:txBody>
                  <a:tcPr marL="35362" marR="17681" marT="9144" marB="9144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Binary format</a:t>
                      </a:r>
                    </a:p>
                  </a:txBody>
                  <a:tcPr marL="17681" marR="17681" marT="9144" marB="9144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:c</a:t>
                      </a:r>
                    </a:p>
                  </a:txBody>
                  <a:tcPr marL="35362" marR="17681" marT="9144" marB="9144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Convert value to a </a:t>
                      </a:r>
                      <a:r>
                        <a:rPr lang="en-US" sz="1800" dirty="0" err="1">
                          <a:effectLst/>
                        </a:rPr>
                        <a:t>unicode</a:t>
                      </a:r>
                      <a:r>
                        <a:rPr lang="en-US" sz="1800" dirty="0">
                          <a:effectLst/>
                        </a:rPr>
                        <a:t> character</a:t>
                      </a:r>
                    </a:p>
                  </a:txBody>
                  <a:tcPr marL="17681" marR="17681" marT="9144" marB="9144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8" y="-91439"/>
            <a:ext cx="9729787" cy="116114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70C0"/>
                </a:solidFill>
              </a:rPr>
              <a:t>String </a:t>
            </a:r>
            <a:r>
              <a:rPr lang="en-US" altLang="en-US" sz="4400" b="1" dirty="0">
                <a:solidFill>
                  <a:srgbClr val="0070C0"/>
                </a:solidFill>
                <a:latin typeface="Century" panose="02040604050505020304" pitchFamily="18" charset="0"/>
              </a:rPr>
              <a:t>{ }</a:t>
            </a:r>
            <a:r>
              <a:rPr lang="en-US" altLang="en-US" sz="4400" dirty="0">
                <a:solidFill>
                  <a:srgbClr val="0070C0"/>
                </a:solidFill>
              </a:rPr>
              <a:t> Formatting Symbols: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8425902"/>
              </p:ext>
            </p:extLst>
          </p:nvPr>
        </p:nvGraphicFramePr>
        <p:xfrm>
          <a:off x="5006182" y="825111"/>
          <a:ext cx="4457699" cy="5773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9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Format </a:t>
                      </a:r>
                    </a:p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Symbol</a:t>
                      </a:r>
                    </a:p>
                  </a:txBody>
                  <a:tcPr marL="8287" marR="8287" marT="952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Conversion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8287" marR="8287" marT="952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:d</a:t>
                      </a:r>
                      <a:endParaRPr lang="en-US" sz="3200" dirty="0">
                        <a:effectLst/>
                      </a:endParaRP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Decimal format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:e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Scientific format, with lower case e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:E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Scientific format, with upper case E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:f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Fix point number format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:F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Fix point number format, uppercase (show </a:t>
                      </a:r>
                      <a:r>
                        <a:rPr lang="en-US" sz="1800" dirty="0" err="1">
                          <a:effectLst/>
                        </a:rPr>
                        <a:t>inf</a:t>
                      </a:r>
                      <a:r>
                        <a:rPr lang="en-US" sz="1800" dirty="0">
                          <a:effectLst/>
                        </a:rPr>
                        <a:t> and nan as INF and NAN)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:g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General format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:G</a:t>
                      </a:r>
                    </a:p>
                  </a:txBody>
                  <a:tcPr marL="35362" marR="17681" marT="17681" marB="17681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General format (using a upper case E for scientific notations)</a:t>
                      </a:r>
                    </a:p>
                  </a:txBody>
                  <a:tcPr marL="17681" marR="17681" marT="17681" marB="1768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:o</a:t>
                      </a:r>
                    </a:p>
                  </a:txBody>
                  <a:tcPr marL="35362" marR="17681" marT="27432" marB="27432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Octal format</a:t>
                      </a:r>
                    </a:p>
                  </a:txBody>
                  <a:tcPr marL="17681" marR="17681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:x</a:t>
                      </a:r>
                    </a:p>
                  </a:txBody>
                  <a:tcPr marL="35362" marR="17681" marT="27432" marB="27432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Hex format, lower case</a:t>
                      </a:r>
                    </a:p>
                  </a:txBody>
                  <a:tcPr marL="17681" marR="17681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:X</a:t>
                      </a:r>
                    </a:p>
                  </a:txBody>
                  <a:tcPr marL="35362" marR="17681" marT="27432" marB="27432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Hex format, upper case</a:t>
                      </a:r>
                    </a:p>
                  </a:txBody>
                  <a:tcPr marL="17681" marR="17681"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:n</a:t>
                      </a:r>
                    </a:p>
                  </a:txBody>
                  <a:tcPr marL="35362" marR="17681" marT="27432" marB="27432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Number format</a:t>
                      </a:r>
                    </a:p>
                  </a:txBody>
                  <a:tcPr marL="17681" marR="17681" marT="27432" marB="2743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>
                          <a:effectLst/>
                        </a:rPr>
                        <a:t>:%</a:t>
                      </a:r>
                    </a:p>
                  </a:txBody>
                  <a:tcPr marL="35362" marR="17681" marT="27432" marB="27432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Percentage format</a:t>
                      </a:r>
                    </a:p>
                  </a:txBody>
                  <a:tcPr marL="17681" marR="17681" marT="27432" marB="2743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 bwMode="auto">
          <a:xfrm>
            <a:off x="1966453" y="0"/>
            <a:ext cx="5549964" cy="1050681"/>
          </a:xfrm>
          <a:prstGeom prst="wedgeRoundRectCallout">
            <a:avLst>
              <a:gd name="adj1" fmla="val -71098"/>
              <a:gd name="adj2" fmla="val 44699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latin typeface="Times New Roman" charset="0"/>
              </a:rPr>
              <a:t>{:?}has more options than the </a:t>
            </a:r>
            <a:r>
              <a:rPr lang="en-US" sz="3200" dirty="0" err="1">
                <a:latin typeface="Times New Roman" charset="0"/>
              </a:rPr>
              <a:t>printf</a:t>
            </a:r>
            <a:r>
              <a:rPr lang="en-US" sz="3200" dirty="0">
                <a:latin typeface="Times New Roman" charset="0"/>
              </a:rPr>
              <a:t>-like "…"%(…) syntax.</a:t>
            </a:r>
            <a:endParaRPr kumimoji="0" lang="en-US" sz="32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4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/>
          <p:nvPr/>
        </p:nvCxnSpPr>
        <p:spPr>
          <a:xfrm>
            <a:off x="934642" y="131260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0" y="690538"/>
            <a:ext cx="9737725" cy="616746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28,260,447,789,120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;print(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←wrong</a:t>
            </a:r>
          </a:p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400" spc="-70" dirty="0"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, 260, 447, 789, 120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&gt;&gt;&gt;</a:t>
            </a:r>
          </a:p>
          <a:p>
            <a:pPr marL="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28_260_447_789_120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;print(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←right</a:t>
            </a:r>
          </a:p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28260447789120</a:t>
            </a:r>
          </a:p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Notice above that the "commas" were</a:t>
            </a:r>
            <a:r>
              <a:rPr lang="en-US" altLang="en-US" sz="2400" spc="-1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n'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 saved.</a:t>
            </a:r>
          </a:p>
          <a:p>
            <a:pPr marL="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&gt;&gt;&gt; </a:t>
            </a: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But how can we print with commas?</a:t>
            </a: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print("$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%d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%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#C-style can't do it:</a:t>
            </a: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28260447789120</a:t>
            </a: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print(f"$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</a:t>
            </a:r>
            <a:r>
              <a:rPr lang="en-US" altLang="en-US" sz="2400" b="1" dirty="0" err="1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b="1" spc="-100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b="1" dirty="0">
                <a:solidFill>
                  <a:srgbClr val="0066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d}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")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#The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{}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syntax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can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do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it</a:t>
            </a:r>
            <a:r>
              <a:rPr lang="en-US" altLang="en-US" sz="2400" spc="-1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-3810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400" spc="-1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260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447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789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120</a:t>
            </a: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TWdebt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dirty="0">
                <a:solidFill>
                  <a:srgbClr val="A173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253756800000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#Of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course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entered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spc="-2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w/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out</a:t>
            </a:r>
            <a:r>
              <a:rPr lang="en-US" altLang="en-US" sz="18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_</a:t>
            </a: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S="${: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d}"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;x=' '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#can still be printed w/</a:t>
            </a:r>
            <a:r>
              <a:rPr lang="en-US" altLang="en-US" sz="20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0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FF7C8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S,</a:t>
            </a:r>
            <a:r>
              <a:rPr lang="en-US" altLang="en-US" sz="24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x,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S.format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TWdebt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  <a:r>
              <a:rPr lang="en-US" altLang="en-US" sz="2400" dirty="0" err="1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x,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S.format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USdebt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spc="-100" dirty="0">
                <a:latin typeface="Lucida Console" panose="020B0609040504020204" pitchFamily="49" charset="0"/>
                <a:cs typeface="Courier New" panose="02070309020205020404" pitchFamily="49" charset="0"/>
              </a:rPr>
              <a:t>{: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d}   $</a:t>
            </a:r>
            <a:r>
              <a:rPr lang="en-US" altLang="en-US" sz="2400" dirty="0">
                <a:solidFill>
                  <a:srgbClr val="A173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253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A173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756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A173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800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A173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000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28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260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447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789</a:t>
            </a:r>
            <a:r>
              <a:rPr lang="en-US" altLang="en-US" sz="2400" b="1" dirty="0">
                <a:solidFill>
                  <a:schemeClr val="accent2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120</a:t>
            </a: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Using commas in your numbers 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9653720" y="2289228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540573" y="291249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662126" y="515967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671256" y="70652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34642" y="68250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574401" y="5846040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010357" y="3255952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497079" y="4198210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9665925" y="161823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662421" y="551948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2"/>
          <p:cNvSpPr txBox="1">
            <a:spLocks/>
          </p:cNvSpPr>
          <p:nvPr/>
        </p:nvSpPr>
        <p:spPr>
          <a:xfrm>
            <a:off x="1" y="690539"/>
            <a:ext cx="1060704" cy="549329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09672" indent="-209672" algn="l" defTabSz="838688" rtl="0" eaLnBrk="1" latinLnBrk="0" hangingPunct="1">
              <a:lnSpc>
                <a:spcPct val="90000"/>
              </a:lnSpc>
              <a:spcBef>
                <a:spcPts val="917"/>
              </a:spcBef>
              <a:buFont typeface="Arial" panose="020B0604020202020204" pitchFamily="34" charset="0"/>
              <a:buChar char="•"/>
              <a:defRPr sz="3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016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33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60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9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0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047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25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391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5735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079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423" indent="-209672" algn="l" defTabSz="838688" rtl="0" eaLnBrk="1" latinLnBrk="0" hangingPunct="1">
              <a:lnSpc>
                <a:spcPct val="90000"/>
              </a:lnSpc>
              <a:spcBef>
                <a:spcPts val="459"/>
              </a:spcBef>
              <a:buFont typeface="Arial" panose="020B0604020202020204" pitchFamily="34" charset="0"/>
              <a:buChar char="•"/>
              <a:defRPr sz="16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1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endParaRPr lang="en-US" altLang="en-US" sz="2400" b="1" dirty="0">
              <a:solidFill>
                <a:srgbClr val="FF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846541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prstClr val="white">
                  <a:lumMod val="50000"/>
                </a:prst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846541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prstClr val="white">
                  <a:lumMod val="50000"/>
                </a:prst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prstClr val="white">
                  <a:lumMod val="50000"/>
                </a:prst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prstClr val="white">
                  <a:lumMod val="50000"/>
                </a:prst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solidFill>
                <a:srgbClr val="FF7C8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prstClr val="white">
                    <a:lumMod val="50000"/>
                  </a:prst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209550" indent="0" defTabSz="846541">
              <a:lnSpc>
                <a:spcPct val="91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34642" y="1630410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34642" y="259242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34642" y="290386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54202" y="483949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34642" y="583449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73762" y="648323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34642" y="420467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929727" y="227943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934642" y="324644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34642" y="3891417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934642" y="515285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34642" y="549158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15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1" dur="500"/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4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7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9" dur="500"/>
                                        <p:tgtEl>
                                          <p:spTgt spid="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0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1" dur="500"/>
                                        <p:tgtEl>
                                          <p:spTgt spid="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2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3" dur="500"/>
                                        <p:tgtEl>
                                          <p:spTgt spid="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4" dur="5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5" dur="500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8" dur="500"/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28646"/>
            <a:ext cx="9598577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latin typeface="Lucida Console" panose="020B0609040504020204" pitchFamily="49" charset="0"/>
              </a:rPr>
              <a:t>from time import time, sleep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def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timer(com="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START",was</a:t>
            </a:r>
            <a:r>
              <a:rPr lang="en-US" sz="2400" kern="0" spc="-100" dirty="0">
                <a:latin typeface="Lucida Console" panose="020B0609040504020204" pitchFamily="49" charset="0"/>
              </a:rPr>
              <a:t>=[0]):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   if com=="START": was[0]=time()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   else: print('   ',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      f'{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int</a:t>
            </a:r>
            <a:r>
              <a:rPr lang="en-US" sz="2400" kern="0" spc="-100" dirty="0">
                <a:latin typeface="Lucida Console" panose="020B0609040504020204" pitchFamily="49" charset="0"/>
              </a:rPr>
              <a:t>(1000000*(time()-was[0])):,d}','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r>
              <a:rPr lang="en-US" sz="2400" kern="0" spc="-100" dirty="0">
                <a:latin typeface="Lucida Console" panose="020B0609040504020204" pitchFamily="49" charset="0"/>
              </a:rPr>
              <a:t>')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sleep(2); timer("STOP")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2,000,056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f(None); timer("STOP")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1,000,107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f(None); timer("STOP")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1,000,212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latin typeface="Lucida Console" panose="020B0609040504020204" pitchFamily="49" charset="0"/>
              </a:rPr>
              <a:t>import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os</a:t>
            </a:r>
            <a:r>
              <a:rPr lang="en-US" sz="2400" kern="0" spc="-100" dirty="0">
                <a:latin typeface="Lucida Console" panose="020B0609040504020204" pitchFamily="49" charset="0"/>
              </a:rPr>
              <a:t>;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os.system</a:t>
            </a:r>
            <a:r>
              <a:rPr lang="en-US" sz="2400" kern="0" spc="-100" dirty="0">
                <a:latin typeface="Lucida Console" panose="020B0609040504020204" pitchFamily="49" charset="0"/>
              </a:rPr>
              <a:t>("cat timer.py")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from time import time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 err="1">
                <a:latin typeface="Lucida Console" panose="020B0609040504020204" pitchFamily="49" charset="0"/>
              </a:rPr>
              <a:t>def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timer(com="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START",was</a:t>
            </a:r>
            <a:r>
              <a:rPr lang="en-US" sz="2400" kern="0" spc="-100" dirty="0">
                <a:latin typeface="Lucida Console" panose="020B0609040504020204" pitchFamily="49" charset="0"/>
              </a:rPr>
              <a:t>=[0]):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if com=="START": was[0]=time()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else: print('   ',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    f'{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int</a:t>
            </a:r>
            <a:r>
              <a:rPr lang="en-US" sz="2400" kern="0" spc="-100" dirty="0">
                <a:latin typeface="Lucida Console" panose="020B0609040504020204" pitchFamily="49" charset="0"/>
              </a:rPr>
              <a:t>(1000000*(time()-was[0])):,d}','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r>
              <a:rPr lang="en-US" sz="2400" kern="0" spc="-100" dirty="0">
                <a:latin typeface="Lucida Console" panose="020B0609040504020204" pitchFamily="49" charset="0"/>
              </a:rPr>
              <a:t>')</a:t>
            </a:r>
          </a:p>
          <a:p>
            <a:pPr marL="0" indent="0" defTabSz="914400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Let's make a timer that uses</a:t>
            </a:r>
            <a:r>
              <a:rPr lang="en-US" altLang="en-US" sz="4400" spc="800" dirty="0">
                <a:solidFill>
                  <a:srgbClr val="0070C0"/>
                </a:solidFill>
              </a:rPr>
              <a:t> </a:t>
            </a:r>
            <a:r>
              <a:rPr lang="en-US" altLang="en-US" sz="4400" spc="200" dirty="0">
                <a:solidFill>
                  <a:srgbClr val="0070C0"/>
                </a:solidFill>
              </a:rPr>
              <a:t>“</a:t>
            </a:r>
            <a:r>
              <a:rPr lang="en-US" altLang="en-US" sz="4400" b="1" spc="800" dirty="0">
                <a:solidFill>
                  <a:srgbClr val="0070C0"/>
                </a:solidFill>
              </a:rPr>
              <a:t>,</a:t>
            </a:r>
            <a:r>
              <a:rPr lang="en-US" altLang="en-US" sz="4400" spc="800" dirty="0">
                <a:solidFill>
                  <a:srgbClr val="0070C0"/>
                </a:solidFill>
              </a:rPr>
              <a:t>”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9330" y="628646"/>
            <a:ext cx="833645" cy="4657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526046" y="1563015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457395" y="2389560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816152" y="2969897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147227" y="4757948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808018" y="617555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292867" y="946560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629239" y="1244018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274957" y="3529401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279446" y="4128694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9515926" y="1864875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92370" y="1527000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92370" y="2359062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86374" y="2979672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77380" y="4730448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94858" y="599273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92737" y="910466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92370" y="1243500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77380" y="6551705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86374" y="3257899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83376" y="4107190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93451" y="2103023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93451" y="1854930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86374" y="3509089"/>
            <a:ext cx="0" cy="347472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8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00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00"/>
                            </p:stCondLst>
                            <p:childTnLst>
                              <p:par>
                                <p:cTn id="2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00"/>
                            </p:stCondLst>
                            <p:childTnLst>
                              <p:par>
                                <p:cTn id="2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9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5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8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00"/>
                            </p:stCondLst>
                            <p:childTnLst>
                              <p:par>
                                <p:cTn id="3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42944"/>
            <a:ext cx="9598577" cy="621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from random import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randrange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as Rn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Ns=range(10)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[0, 2, 6]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[1, 2, 3, 5, 7]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#But how to get those values? This won't work: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#This gives #s &gt;= 5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[7, 2, 7, 0, 8, 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#The problem is the expression value became lost.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#Use an "expression assignment" to keep it: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)&lt;5]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[0, 1, 3, 1]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#Saves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the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&lt;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exprsn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[True, True, True]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We needed the ( 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9330" y="642944"/>
            <a:ext cx="844827" cy="537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543022" y="1948228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16354" y="193475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836411" y="260393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16354" y="259035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185007" y="293824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16354" y="292437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436441" y="4275100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16354" y="4249282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790405" y="62848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16354" y="63396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019680" y="963480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16354" y="949908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533594" y="1278932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16354" y="127488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619973" y="489898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16354" y="489487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505319" y="558241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16354" y="555961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354489" y="359355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16354" y="357997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355246" y="391406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16354" y="390049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ular Callout 1"/>
          <p:cNvSpPr/>
          <p:nvPr/>
        </p:nvSpPr>
        <p:spPr bwMode="auto">
          <a:xfrm>
            <a:off x="4212778" y="709293"/>
            <a:ext cx="5181599" cy="2077453"/>
          </a:xfrm>
          <a:prstGeom prst="wedgeRoundRectCallout">
            <a:avLst>
              <a:gd name="adj1" fmla="val -81019"/>
              <a:gd name="adj2" fmla="val 7735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What this output means is that 6 of the random numbers were </a:t>
            </a:r>
            <a:r>
              <a:rPr lang="en-US" sz="2800" dirty="0">
                <a:latin typeface="Palatino Linotype" panose="02040502050505030304" pitchFamily="18" charset="0"/>
              </a:rPr>
              <a:t>&lt;</a:t>
            </a:r>
            <a:r>
              <a:rPr lang="en-US" sz="2800" dirty="0">
                <a:latin typeface="Times New Roman" charset="0"/>
              </a:rPr>
              <a:t> 5.</a:t>
            </a:r>
            <a:br>
              <a:rPr lang="en-US" sz="2800" dirty="0">
                <a:latin typeface="Times New Roman" charset="0"/>
              </a:rPr>
            </a:br>
            <a:r>
              <a:rPr lang="en-US" sz="2800" dirty="0">
                <a:latin typeface="Times New Roman" charset="0"/>
              </a:rPr>
              <a:t>For each of those, a new random number was generated. Some of those new numbers are </a:t>
            </a:r>
            <a:r>
              <a:rPr lang="en-US" sz="2800" dirty="0">
                <a:latin typeface="Times New Roman" charset="0"/>
                <a:sym typeface="Symbol" panose="05050102010706020507" pitchFamily="18" charset="2"/>
              </a:rPr>
              <a:t> 6.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23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1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42944"/>
            <a:ext cx="9598577" cy="621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from random import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randrange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as Rn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Ns=range(10)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[0, 2, 6]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[1, 2, 3, 5, 7]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#But how to get those values? This won't work: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Rn(9)&lt;5]#This gives #s &gt;= 5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[6, 2, 6, 0, 8, 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#The problem is the expression value became lost.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#Use an "expression assignment" to keep it: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)&lt;5]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[0, 1, 3, 1]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#Saves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the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&lt;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exprsn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[True, True, True]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File "&lt;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stdin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&gt;", line 1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                        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9330" y="642944"/>
            <a:ext cx="844827" cy="537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</p:spTree>
    <p:extLst>
      <p:ext uri="{BB962C8B-B14F-4D97-AF65-F5344CB8AC3E}">
        <p14:creationId xmlns:p14="http://schemas.microsoft.com/office/powerpoint/2010/main" val="366756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42944"/>
            <a:ext cx="9598577" cy="621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from random import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randrange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as Rn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Ns=range(10)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[0, 2, 6]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[1, 2, 3, 5, 7]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#But how to get those values? This won't work: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Rn(9)&lt;5]#This gives #s &gt;= 5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[6, 2, 6, 0, 8, 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#The problem is the expression value became lost.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#Use an "expression assignment" to keep it: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)&lt;5]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[0, 1, 3, 1]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#Saves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the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&lt;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exprsn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[True, True, True]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File "&lt;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stdin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&gt;", line 1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[y for x in Ns if y:=Rn(9)&lt;5] 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                        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9330" y="642944"/>
            <a:ext cx="844827" cy="537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</p:spTree>
    <p:extLst>
      <p:ext uri="{BB962C8B-B14F-4D97-AF65-F5344CB8AC3E}">
        <p14:creationId xmlns:p14="http://schemas.microsoft.com/office/powerpoint/2010/main" val="70943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42944"/>
            <a:ext cx="9598577" cy="621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from random import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randrange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as Rn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Ns=range(10)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[0, 2, 6]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[1, 2, 3, 5, 7]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#But how to get those values? This won't work: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Rn(9)&lt;5]#This gives #s &gt;= 5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[6, 2, 6, 0, 8, 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#The problem is the expression value became lost.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#Use an "expression assignment" to keep it: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)&lt;5]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[0, 1, 3, 1]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#Saves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the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&lt;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exprsn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[True, True, True]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y:=Rn(9)&lt;5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File "&lt;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stdin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&gt;", line 1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[y for x in Ns if y:=Rn(9)&lt;5] 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                         ^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9330" y="642944"/>
            <a:ext cx="844827" cy="537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</p:spTree>
    <p:extLst>
      <p:ext uri="{BB962C8B-B14F-4D97-AF65-F5344CB8AC3E}">
        <p14:creationId xmlns:p14="http://schemas.microsoft.com/office/powerpoint/2010/main" val="85287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42944"/>
            <a:ext cx="95985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[0, 2, 6]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[1, 2, 3, 5, 7]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#But how to get those values? This won't work: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</a:t>
            </a: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Rn(9)&lt;5]#This gives #s &gt;= 5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[6, 2, 6, 0, 8, 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#The problem is the expression value became lost.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#Use an "expression assignment" to keep it: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</a:t>
            </a:r>
            <a:r>
              <a:rPr lang="en-US" altLang="zh-TW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Rn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)&lt;5]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[0, 1, 3, 1]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</a:t>
            </a:r>
            <a:r>
              <a:rPr lang="en-US" altLang="zh-TW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Rn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#Saves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the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&lt;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exprsn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[True, True, True]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y:=</a:t>
            </a:r>
            <a:r>
              <a:rPr lang="en-US" altLang="zh-TW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File "&lt;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stdin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&gt;", line 1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[y for x in Ns if y:=Rn(9)&lt;5] 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                         ^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: invalid syntax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06927" y="651648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28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642944"/>
            <a:ext cx="95985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[0, 2, 6]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#Which iterations match?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[1, 2, 3, 5, 7]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#But how to get those values? This won't work: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Rn</a:t>
            </a: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Rn(9)&lt;5]#This gives #s &gt;= 5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[6, 2, 6, 0, 8, 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#The problem is the expression value became lost.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#Use an "expression assignment" to keep it: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</a:t>
            </a:r>
            <a:r>
              <a:rPr lang="en-US" altLang="zh-TW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 Rn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(9)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)&lt;5]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[0, 1, 3, 1]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</a:t>
            </a:r>
            <a:r>
              <a:rPr lang="en-US" altLang="zh-TW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 Rn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)]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#Saves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the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&lt;</a:t>
            </a:r>
            <a:r>
              <a:rPr lang="en-US" sz="20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exprsn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[True, True, True]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Ns if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y:=</a:t>
            </a:r>
            <a:r>
              <a:rPr lang="en-US" altLang="zh-TW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Rn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(9)&lt;5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File "&lt;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stdin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&gt;", line 1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[y for x in Ns if y:=Rn(9)&lt;5] # We needed the ( )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                             ^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SyntaxError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: invalid syntax</a:t>
            </a: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906927" y="651648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 bwMode="auto">
          <a:xfrm>
            <a:off x="5893354" y="3755206"/>
            <a:ext cx="3741248" cy="528694"/>
          </a:xfrm>
          <a:prstGeom prst="wedgeRoundRectCallout">
            <a:avLst>
              <a:gd name="adj1" fmla="val -101108"/>
              <a:gd name="adj2" fmla="val 20254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Fails with no ( )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893354" y="1037064"/>
            <a:ext cx="3741248" cy="528694"/>
          </a:xfrm>
          <a:prstGeom prst="wedgeRoundRectCallout">
            <a:avLst>
              <a:gd name="adj1" fmla="val -86711"/>
              <a:gd name="adj2" fmla="val 20727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Works with no ( )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893354" y="2402398"/>
            <a:ext cx="3741248" cy="528694"/>
          </a:xfrm>
          <a:prstGeom prst="wedgeRoundRectCallout">
            <a:avLst>
              <a:gd name="adj1" fmla="val -96086"/>
              <a:gd name="adj2" fmla="val 20964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Works with ( )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82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1271587"/>
            <a:ext cx="9598577" cy="558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latin typeface="Lucida Console" panose="020B0609040504020204" pitchFamily="49" charset="0"/>
              </a:rPr>
              <a:t>from timer import timer; from time import sleep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sleep(2);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2,000,056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f(None);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1,000,126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from prime import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prime</a:t>
            </a:r>
            <a:r>
              <a:rPr lang="en-US" sz="2400" kern="0" spc="-18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#See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lecture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9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for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this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module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timer();[2*f(x)+1 for x in range(15) 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    if prime(2*f(x)+1)];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25,036,369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timer();[y for x in range(15)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 if prime(y:=2*f(x)+1)];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15,030,192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It was 10 sec faster without the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recompute</a:t>
            </a:r>
            <a:endParaRPr lang="en-US" sz="2400" kern="0" spc="-100" dirty="0">
              <a:solidFill>
                <a:srgbClr val="FF7C8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626943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Can Save Time: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9331" y="1271587"/>
            <a:ext cx="862220" cy="4914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8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18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16354" y="2580739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281351" y="2909962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16354" y="2873238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627245" y="355661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16354" y="355310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112119" y="392669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16354" y="388526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537743" y="425931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16354" y="422932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052933" y="1269508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16354" y="127498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32183" y="1604503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16354" y="159093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00581" y="2259517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16354" y="2245945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923133" y="5257240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916354" y="5251324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9505319" y="5601466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916354" y="557790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16354" y="6525151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542152" y="6530232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71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4" presetClass="entr" presetSubtype="10" fill="hold" nodeType="withEffect">
                                  <p:stCondLst>
                                    <p:cond delay="250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4" presetClass="entr" presetSubtype="10" fill="hold" nodeType="withEffect">
                                  <p:stCondLst>
                                    <p:cond delay="250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4" presetClass="entr" presetSubtype="10" fill="hold" nodeType="withEffect">
                                  <p:stCondLst>
                                    <p:cond delay="250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5500"/>
                            </p:stCondLst>
                            <p:childTnLst>
                              <p:par>
                                <p:cTn id="2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4" presetClass="entr" presetSubtype="10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4" presetClass="entr" presetSubtype="10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500"/>
                            </p:stCondLst>
                            <p:childTnLst>
                              <p:par>
                                <p:cTn id="2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Lesson #4: The filter may save computation: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2*x+1</a:t>
            </a:r>
            <a:r>
              <a:rPr lang="en-US" altLang="zh-TW" sz="2400" dirty="0">
                <a:latin typeface="Lucida Console" panose="020B0609040504020204" pitchFamily="49" charset="0"/>
              </a:rPr>
              <a:t>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 (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2*x+1</a:t>
            </a:r>
            <a:r>
              <a:rPr lang="en-US" altLang="zh-TW" sz="2400" dirty="0">
                <a:latin typeface="Lucida Console" panose="020B0609040504020204" pitchFamily="49" charset="0"/>
              </a:rPr>
              <a:t>)]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,[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2*x+1</a:t>
            </a:r>
            <a:r>
              <a:rPr lang="en-US" altLang="zh-TW" sz="2400" dirty="0">
                <a:latin typeface="Lucida Console" panose="020B0609040504020204" pitchFamily="49" charset="0"/>
              </a:rPr>
              <a:t> for x in range(15)]))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 </a:t>
            </a:r>
          </a:p>
          <a:p>
            <a:pPr marL="0" indent="0">
              <a:buNone/>
            </a:pPr>
            <a:endParaRPr lang="en-US" altLang="zh-TW" sz="6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Notice that the comprehension required the “</a:t>
            </a:r>
            <a:r>
              <a:rPr lang="en-US" altLang="zh-TW" sz="3200" dirty="0">
                <a:solidFill>
                  <a:srgbClr val="CC3399"/>
                </a:solidFill>
              </a:rPr>
              <a:t>2*x+1</a:t>
            </a:r>
            <a:r>
              <a:rPr lang="en-US" altLang="zh-TW" sz="3200" dirty="0">
                <a:solidFill>
                  <a:srgbClr val="FF0000"/>
                </a:solidFill>
              </a:rPr>
              <a:t>” to be typed twice.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This also means that it is </a:t>
            </a:r>
            <a:r>
              <a:rPr lang="en-US" altLang="zh-TW" sz="3200" i="1" dirty="0">
                <a:solidFill>
                  <a:srgbClr val="FF0000"/>
                </a:solidFill>
              </a:rPr>
              <a:t>calculated</a:t>
            </a:r>
            <a:r>
              <a:rPr lang="en-US" altLang="zh-TW" sz="3200" dirty="0">
                <a:solidFill>
                  <a:srgbClr val="FF0000"/>
                </a:solidFill>
              </a:rPr>
              <a:t> twice. 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rgbClr val="339933"/>
                </a:solidFill>
              </a:rPr>
              <a:t>If “</a:t>
            </a:r>
            <a:r>
              <a:rPr lang="en-US" altLang="zh-TW" sz="3200" dirty="0">
                <a:solidFill>
                  <a:srgbClr val="CC3399"/>
                </a:solidFill>
              </a:rPr>
              <a:t>2*x+1</a:t>
            </a:r>
            <a:r>
              <a:rPr lang="en-US" altLang="zh-TW" sz="3200" dirty="0">
                <a:solidFill>
                  <a:srgbClr val="339933"/>
                </a:solidFill>
              </a:rPr>
              <a:t>” were replaced with something more complex (</a:t>
            </a:r>
            <a:r>
              <a:rPr lang="en-US" altLang="zh-TW" sz="3200" dirty="0" err="1">
                <a:solidFill>
                  <a:srgbClr val="339933"/>
                </a:solidFill>
              </a:rPr>
              <a:t>eg</a:t>
            </a:r>
            <a:r>
              <a:rPr lang="en-US" altLang="zh-TW" sz="3200" dirty="0">
                <a:solidFill>
                  <a:srgbClr val="339933"/>
                </a:solidFill>
              </a:rPr>
              <a:t>: </a:t>
            </a:r>
            <a:r>
              <a:rPr lang="en-US" altLang="zh-TW" sz="3200" dirty="0" err="1">
                <a:solidFill>
                  <a:srgbClr val="CC3399"/>
                </a:solidFill>
              </a:rPr>
              <a:t>sqrt</a:t>
            </a:r>
            <a:r>
              <a:rPr lang="en-US" altLang="zh-TW" sz="3200" dirty="0">
                <a:solidFill>
                  <a:srgbClr val="CC3399"/>
                </a:solidFill>
              </a:rPr>
              <a:t>(</a:t>
            </a:r>
            <a:r>
              <a:rPr lang="en-US" altLang="zh-TW" sz="3200" dirty="0" err="1">
                <a:solidFill>
                  <a:srgbClr val="CC3399"/>
                </a:solidFill>
              </a:rPr>
              <a:t>sqrt</a:t>
            </a:r>
            <a:r>
              <a:rPr lang="en-US" altLang="zh-TW" sz="3200" dirty="0">
                <a:solidFill>
                  <a:srgbClr val="CC3399"/>
                </a:solidFill>
              </a:rPr>
              <a:t>(</a:t>
            </a:r>
            <a:r>
              <a:rPr lang="en-US" altLang="zh-TW" sz="3200" dirty="0" err="1">
                <a:solidFill>
                  <a:srgbClr val="CC3399"/>
                </a:solidFill>
              </a:rPr>
              <a:t>sqrt</a:t>
            </a:r>
            <a:r>
              <a:rPr lang="en-US" altLang="zh-TW" sz="3200" dirty="0">
                <a:solidFill>
                  <a:srgbClr val="CC3399"/>
                </a:solidFill>
              </a:rPr>
              <a:t>(x)))</a:t>
            </a:r>
            <a:r>
              <a:rPr lang="en-US" altLang="zh-TW" sz="3200" dirty="0">
                <a:solidFill>
                  <a:srgbClr val="339933"/>
                </a:solidFill>
              </a:rPr>
              <a:t>), then the cost of calculating twice could be significant for long lists.</a:t>
            </a:r>
            <a:endParaRPr lang="en-US" altLang="zh-TW" sz="3200" dirty="0">
              <a:solidFill>
                <a:srgbClr val="339933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spc="560" dirty="0">
                <a:latin typeface="Elephant" panose="02020904090505020303" pitchFamily="18" charset="0"/>
              </a:rPr>
              <a:t>f</a:t>
            </a:r>
            <a:r>
              <a:rPr lang="en-US" altLang="zh-TW" sz="4400" kern="0" dirty="0">
                <a:latin typeface="Elephant" panose="02020904090505020303" pitchFamily="18" charset="0"/>
              </a:rPr>
              <a:t>ilter vs comprehension-if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38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6862" y="5300662"/>
            <a:ext cx="9220200" cy="1557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But an expression assignment calculates </a:t>
            </a:r>
            <a:r>
              <a:rPr lang="en-US" altLang="zh-TW" sz="3200" i="1" dirty="0">
                <a:solidFill>
                  <a:srgbClr val="FF0000"/>
                </a:solidFill>
              </a:rPr>
              <a:t>once</a:t>
            </a:r>
            <a:r>
              <a:rPr lang="en-US" altLang="zh-TW" sz="3200" dirty="0">
                <a:solidFill>
                  <a:srgbClr val="FF0000"/>
                </a:solidFill>
              </a:rPr>
              <a:t>: </a:t>
            </a:r>
          </a:p>
          <a:p>
            <a:pPr marL="0" lvl="0" indent="0" defTabSz="914400">
              <a:buNone/>
            </a:pPr>
            <a:r>
              <a:rPr lang="en-US" altLang="zh-TW" sz="2400" kern="0" dirty="0">
                <a:solidFill>
                  <a:srgbClr val="FFFFFF">
                    <a:lumMod val="65000"/>
                  </a:srgb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latin typeface="Lucida Console" panose="020B0609040504020204" pitchFamily="49" charset="0"/>
              </a:rPr>
              <a:t>[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for x in range(15)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kern="0" dirty="0">
                <a:latin typeface="Lucida Console" panose="020B0609040504020204" pitchFamily="49" charset="0"/>
              </a:rPr>
              <a:t> (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y:2*x+1</a:t>
            </a:r>
            <a:r>
              <a:rPr lang="en-US" altLang="zh-TW" sz="2400" kern="0" dirty="0">
                <a:latin typeface="Lucida Console" panose="020B0609040504020204" pitchFamily="49" charset="0"/>
              </a:rPr>
              <a:t>)]</a:t>
            </a:r>
          </a:p>
          <a:p>
            <a:pPr marL="0" lvl="0" indent="0" defTabSz="914400"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</a:t>
            </a:r>
          </a:p>
        </p:txBody>
      </p:sp>
    </p:spTree>
    <p:extLst>
      <p:ext uri="{BB962C8B-B14F-4D97-AF65-F5344CB8AC3E}">
        <p14:creationId xmlns:p14="http://schemas.microsoft.com/office/powerpoint/2010/main" val="374942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over dir="ru"/>
      </p:transition>
    </mc:Choice>
    <mc:Fallback xmlns="">
      <p:transition spd="slow">
        <p:cover dir="r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9330" y="1271587"/>
            <a:ext cx="9598577" cy="558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>
                <a:latin typeface="Lucida Console" panose="020B0609040504020204" pitchFamily="49" charset="0"/>
              </a:rPr>
              <a:t>from timer import timer; from time import sleep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sleep(2);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2,000,056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latin typeface="Lucida Console" panose="020B0609040504020204" pitchFamily="49" charset="0"/>
              </a:rPr>
              <a:t> timer(); f(None);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latin typeface="Lucida Console" panose="020B0609040504020204" pitchFamily="49" charset="0"/>
              </a:rPr>
              <a:t>    1,000,127 </a:t>
            </a:r>
            <a:r>
              <a:rPr lang="en-US" sz="2400" kern="0" spc="-100" dirty="0" err="1"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from prime import </a:t>
            </a:r>
            <a:r>
              <a:rPr lang="en-US" sz="240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prime</a:t>
            </a:r>
            <a:r>
              <a:rPr lang="en-US" sz="2400" kern="0" spc="-18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#See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lecture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9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for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this</a:t>
            </a:r>
            <a:r>
              <a:rPr lang="en-US" sz="20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80" dirty="0">
                <a:solidFill>
                  <a:srgbClr val="FF7C80"/>
                </a:solidFill>
                <a:latin typeface="Lucida Console" panose="020B0609040504020204" pitchFamily="49" charset="0"/>
              </a:rPr>
              <a:t>module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timer();[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2*f(x)+1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range(15) 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    if prime(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2*f(x)+1)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25,036,369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timer();[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for x in range(15)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 if prime(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y:=2*f(x)+1)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]; timer("STOP")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400" b="1" kern="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15,030,192</a:t>
            </a:r>
            <a:r>
              <a:rPr lang="en-US" sz="24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spc="-1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usec</a:t>
            </a:r>
            <a:endParaRPr lang="en-US" sz="2400" kern="0" spc="-1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spc="-100" dirty="0">
                <a:solidFill>
                  <a:srgbClr val="FF7C80"/>
                </a:solidFill>
                <a:latin typeface="Lucida Console" panose="020B0609040504020204" pitchFamily="49" charset="0"/>
              </a:rPr>
              <a:t># It was 10 sec faster without the </a:t>
            </a:r>
            <a:r>
              <a:rPr lang="en-US" sz="2400" kern="0" spc="-100" dirty="0" err="1">
                <a:solidFill>
                  <a:srgbClr val="FF7C80"/>
                </a:solidFill>
                <a:latin typeface="Lucida Console" panose="020B0609040504020204" pitchFamily="49" charset="0"/>
              </a:rPr>
              <a:t>recompute</a:t>
            </a:r>
            <a:endParaRPr lang="en-US" sz="2400" kern="0" spc="-100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626943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Can Save Time: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-1711"/>
            <a:ext cx="9737725" cy="800100"/>
          </a:xfrm>
          <a:prstGeom prst="rect">
            <a:avLst/>
          </a:prstGeom>
        </p:spPr>
        <p:txBody>
          <a:bodyPr vert="horz" lIns="91440" tIns="0" rIns="91440" bIns="9144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Expression Assignments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9331" y="1271587"/>
            <a:ext cx="862220" cy="4914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spc="-1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80" dirty="0">
              <a:solidFill>
                <a:srgbClr val="FF7C8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2000"/>
              </a:lnSpc>
              <a:spcBef>
                <a:spcPts val="0"/>
              </a:spcBef>
              <a:buNone/>
            </a:pPr>
            <a:r>
              <a:rPr lang="en-US" sz="2400" kern="0" spc="-100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  <a:endParaRPr lang="en-US" sz="240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531517" y="6530232"/>
            <a:ext cx="0" cy="36576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7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ll dir="ld"/>
      </p:transition>
    </mc:Choice>
    <mc:Fallback xmlns="">
      <p:transition spd="slow">
        <p:pull dir="l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-1" y="4185501"/>
            <a:ext cx="9737725" cy="2672498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1078" y="3772235"/>
            <a:ext cx="732604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import 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; help(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21749" y="4264779"/>
            <a:ext cx="0" cy="36576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088014" y="4271705"/>
            <a:ext cx="0" cy="36576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68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496550" cy="6858000"/>
          </a:xfrm>
          <a:solidFill>
            <a:srgbClr val="F8F8F8"/>
          </a:solidFill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Help on built-in module </a:t>
            </a:r>
            <a:r>
              <a:rPr lang="en-US" sz="2800" dirty="0" err="1">
                <a:latin typeface="Arial Narrow" panose="020B0606020202030204" pitchFamily="34" charset="0"/>
              </a:rPr>
              <a:t>itertools</a:t>
            </a:r>
            <a:r>
              <a:rPr lang="en-US" sz="2800" dirty="0">
                <a:latin typeface="Arial Narrow" panose="020B060602020203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800" b="1" dirty="0">
                <a:latin typeface="Arial Narrow" panose="020B0606020202030204" pitchFamily="34" charset="0"/>
              </a:rPr>
              <a:t>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itertools</a:t>
            </a:r>
            <a:r>
              <a:rPr lang="en-US" sz="2800" dirty="0">
                <a:latin typeface="Arial Narrow" panose="020B0606020202030204" pitchFamily="34" charset="0"/>
              </a:rPr>
              <a:t> - Functional tools for creating and using iterators.</a:t>
            </a: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800" b="1" dirty="0">
                <a:latin typeface="Arial Narrow" panose="020B0606020202030204" pitchFamily="34" charset="0"/>
              </a:rPr>
              <a:t>DESCRIPTION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Infinite iterators: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count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(start=0, step=1)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start, </a:t>
            </a:r>
            <a:r>
              <a:rPr lang="en-US" sz="2800" dirty="0" err="1">
                <a:latin typeface="Arial Narrow" panose="020B0606020202030204" pitchFamily="34" charset="0"/>
              </a:rPr>
              <a:t>start+step</a:t>
            </a:r>
            <a:r>
              <a:rPr lang="en-US" sz="2800" dirty="0">
                <a:latin typeface="Arial Narrow" panose="020B0606020202030204" pitchFamily="34" charset="0"/>
              </a:rPr>
              <a:t>, start+2*step, 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2800" dirty="0">
                <a:latin typeface="Arial Narrow" panose="020B0606020202030204" pitchFamily="34" charset="0"/>
              </a:rPr>
              <a:t>    </a:t>
            </a:r>
            <a:r>
              <a:rPr lang="fr-FR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cycle</a:t>
            </a:r>
            <a:r>
              <a:rPr lang="fr-FR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(p)</a:t>
            </a:r>
            <a:r>
              <a:rPr lang="fr-FR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fr-FR" sz="2800" dirty="0">
                <a:latin typeface="Arial Narrow" panose="020B0606020202030204" pitchFamily="34" charset="0"/>
              </a:rPr>
              <a:t> p0, p1, ... </a:t>
            </a:r>
            <a:r>
              <a:rPr lang="fr-FR" sz="2800" dirty="0" err="1">
                <a:latin typeface="Arial Narrow" panose="020B0606020202030204" pitchFamily="34" charset="0"/>
              </a:rPr>
              <a:t>plast</a:t>
            </a:r>
            <a:r>
              <a:rPr lang="fr-FR" sz="2800" dirty="0">
                <a:latin typeface="Arial Narrow" panose="020B0606020202030204" pitchFamily="34" charset="0"/>
              </a:rPr>
              <a:t>, p0, p1, 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repeat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elem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 [,n])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 err="1">
                <a:latin typeface="Arial Narrow" panose="020B0606020202030204" pitchFamily="34" charset="0"/>
              </a:rPr>
              <a:t>elem</a:t>
            </a:r>
            <a:r>
              <a:rPr lang="en-US" sz="2800" dirty="0">
                <a:latin typeface="Arial Narrow" panose="020B0606020202030204" pitchFamily="34" charset="0"/>
              </a:rPr>
              <a:t>, </a:t>
            </a:r>
            <a:r>
              <a:rPr lang="en-US" sz="2800" dirty="0" err="1">
                <a:latin typeface="Arial Narrow" panose="020B0606020202030204" pitchFamily="34" charset="0"/>
              </a:rPr>
              <a:t>elem</a:t>
            </a:r>
            <a:r>
              <a:rPr lang="en-US" sz="2800" dirty="0">
                <a:latin typeface="Arial Narrow" panose="020B0606020202030204" pitchFamily="34" charset="0"/>
              </a:rPr>
              <a:t>, </a:t>
            </a:r>
            <a:r>
              <a:rPr lang="en-US" sz="2800" dirty="0" err="1">
                <a:latin typeface="Arial Narrow" panose="020B0606020202030204" pitchFamily="34" charset="0"/>
              </a:rPr>
              <a:t>elem</a:t>
            </a:r>
            <a:r>
              <a:rPr lang="en-US" sz="2800" dirty="0">
                <a:latin typeface="Arial Narrow" panose="020B0606020202030204" pitchFamily="34" charset="0"/>
              </a:rPr>
              <a:t>, ... endlessly or up to n times</a:t>
            </a: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Iterators terminating on the shortest input sequence: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accumulate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(p[, 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func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])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p0, p0+p1, p0+p1+p2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2800" dirty="0">
                <a:latin typeface="Arial Narrow" panose="020B0606020202030204" pitchFamily="34" charset="0"/>
              </a:rPr>
              <a:t>    </a:t>
            </a:r>
            <a:r>
              <a:rPr lang="fr-FR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chain</a:t>
            </a:r>
            <a:r>
              <a:rPr lang="fr-FR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(p, q, ...)</a:t>
            </a:r>
            <a:r>
              <a:rPr lang="fr-FR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fr-FR" sz="2800" dirty="0">
                <a:latin typeface="Arial Narrow" panose="020B0606020202030204" pitchFamily="34" charset="0"/>
              </a:rPr>
              <a:t> p0, p1, ... </a:t>
            </a:r>
            <a:r>
              <a:rPr lang="fr-FR" sz="2800" dirty="0" err="1">
                <a:latin typeface="Arial Narrow" panose="020B0606020202030204" pitchFamily="34" charset="0"/>
              </a:rPr>
              <a:t>plast</a:t>
            </a:r>
            <a:r>
              <a:rPr lang="fr-FR" sz="2800" dirty="0">
                <a:latin typeface="Arial Narrow" panose="020B0606020202030204" pitchFamily="34" charset="0"/>
              </a:rPr>
              <a:t>, q0, q1, 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chain.from_iterable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([p, q, ...])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p0, p1, ... </a:t>
            </a:r>
            <a:r>
              <a:rPr lang="en-US" sz="2800" dirty="0" err="1">
                <a:latin typeface="Arial Narrow" panose="020B0606020202030204" pitchFamily="34" charset="0"/>
              </a:rPr>
              <a:t>plast</a:t>
            </a:r>
            <a:r>
              <a:rPr lang="en-US" sz="2800" dirty="0">
                <a:latin typeface="Arial Narrow" panose="020B0606020202030204" pitchFamily="34" charset="0"/>
              </a:rPr>
              <a:t>, q0, q1, ...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-1" y="0"/>
            <a:ext cx="9729216" cy="6848856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87902" y="6450328"/>
            <a:ext cx="0" cy="36576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2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1" y="0"/>
            <a:ext cx="97377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0382865" cy="6858000"/>
          </a:xfrm>
          <a:noFill/>
          <a:ln w="28575">
            <a:noFill/>
          </a:ln>
        </p:spPr>
        <p:txBody>
          <a:bodyPr/>
          <a:lstStyle/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fr-FR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compress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(data, selectors)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(d[0] if s[0]), (d[1] if s[1]), ...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dropwhile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pred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seq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[n], 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[n+1], starting when </a:t>
            </a:r>
            <a:r>
              <a:rPr lang="en-US" sz="2800" dirty="0" err="1">
                <a:latin typeface="Arial Narrow" panose="020B0606020202030204" pitchFamily="34" charset="0"/>
              </a:rPr>
              <a:t>pred</a:t>
            </a:r>
            <a:r>
              <a:rPr lang="en-US" sz="2800" dirty="0">
                <a:latin typeface="Arial Narrow" panose="020B0606020202030204" pitchFamily="34" charset="0"/>
              </a:rPr>
              <a:t> fails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groupby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iterable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[,</a:t>
            </a:r>
            <a:r>
              <a:rPr lang="en-US" sz="2400" dirty="0">
                <a:solidFill>
                  <a:srgbClr val="FFC000"/>
                </a:solidFill>
                <a:latin typeface="Arial Narrow" panose="020B0606020202030204" pitchFamily="34" charset="0"/>
              </a:rPr>
              <a:t> 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keyfunc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])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latin typeface="Arial Narrow" panose="020B0606020202030204" pitchFamily="34" charset="0"/>
              </a:rPr>
              <a:t>sub-iterators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latin typeface="Arial Narrow" panose="020B0606020202030204" pitchFamily="34" charset="0"/>
              </a:rPr>
              <a:t>grouped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800" dirty="0">
                <a:latin typeface="Arial Narrow" panose="020B0606020202030204" pitchFamily="34" charset="0"/>
              </a:rPr>
              <a:t>by</a:t>
            </a: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800" dirty="0" err="1">
                <a:latin typeface="Arial Narrow" panose="020B0606020202030204" pitchFamily="34" charset="0"/>
              </a:rPr>
              <a:t>keyfunc</a:t>
            </a:r>
            <a:r>
              <a:rPr lang="en-US" sz="2800" spc="-100" dirty="0">
                <a:latin typeface="Arial Narrow" panose="020B0606020202030204" pitchFamily="34" charset="0"/>
              </a:rPr>
              <a:t>(v) </a:t>
            </a:r>
            <a:r>
              <a:rPr lang="en-US" sz="2800" dirty="0">
                <a:latin typeface="Arial Narrow" panose="020B0606020202030204" pitchFamily="34" charset="0"/>
              </a:rPr>
              <a:t>value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filterfalse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pred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seq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elements of 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 where </a:t>
            </a:r>
            <a:r>
              <a:rPr lang="en-US" sz="2800" dirty="0" err="1">
                <a:latin typeface="Arial Narrow" panose="020B0606020202030204" pitchFamily="34" charset="0"/>
              </a:rPr>
              <a:t>pred</a:t>
            </a:r>
            <a:r>
              <a:rPr lang="en-US" sz="2800" dirty="0"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latin typeface="Arial Narrow" panose="020B0606020202030204" pitchFamily="34" charset="0"/>
              </a:rPr>
              <a:t>elem</a:t>
            </a:r>
            <a:r>
              <a:rPr lang="en-US" sz="2800" dirty="0">
                <a:latin typeface="Arial Narrow" panose="020B0606020202030204" pitchFamily="34" charset="0"/>
              </a:rPr>
              <a:t>) is False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islice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seq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, [start,] stop [, step])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elements from 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</a:t>
            </a:r>
            <a:r>
              <a:rPr lang="en-US" sz="2800" dirty="0" err="1">
                <a:latin typeface="Arial Narrow" panose="020B0606020202030204" pitchFamily="34" charset="0"/>
              </a:rPr>
              <a:t>start:stop:step</a:t>
            </a:r>
            <a:r>
              <a:rPr lang="en-US" sz="2800" dirty="0">
                <a:latin typeface="Arial Narrow" panose="020B0606020202030204" pitchFamily="34" charset="0"/>
              </a:rPr>
              <a:t>]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starmap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(fun, 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seq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fun(*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[0]), fun(*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[1]), ...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tee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(it, n=2)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(it1, it2 , ... </a:t>
            </a:r>
            <a:r>
              <a:rPr lang="en-US" sz="2800" dirty="0" err="1">
                <a:latin typeface="Arial Narrow" panose="020B0606020202030204" pitchFamily="34" charset="0"/>
              </a:rPr>
              <a:t>itn</a:t>
            </a:r>
            <a:r>
              <a:rPr lang="en-US" sz="2800" dirty="0">
                <a:latin typeface="Arial Narrow" panose="020B0606020202030204" pitchFamily="34" charset="0"/>
              </a:rPr>
              <a:t>) splits one iterator into n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takewhile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pred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, </a:t>
            </a:r>
            <a:r>
              <a:rPr lang="en-US" sz="28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seq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[0], </a:t>
            </a:r>
            <a:r>
              <a:rPr lang="en-US" sz="2800" dirty="0" err="1">
                <a:latin typeface="Arial Narrow" panose="020B0606020202030204" pitchFamily="34" charset="0"/>
              </a:rPr>
              <a:t>seq</a:t>
            </a:r>
            <a:r>
              <a:rPr lang="en-US" sz="2800" dirty="0">
                <a:latin typeface="Arial Narrow" panose="020B0606020202030204" pitchFamily="34" charset="0"/>
              </a:rPr>
              <a:t>[1], until </a:t>
            </a:r>
            <a:r>
              <a:rPr lang="en-US" sz="2800" dirty="0" err="1">
                <a:latin typeface="Arial Narrow" panose="020B0606020202030204" pitchFamily="34" charset="0"/>
              </a:rPr>
              <a:t>pred</a:t>
            </a:r>
            <a:r>
              <a:rPr lang="en-US" sz="2800" dirty="0">
                <a:latin typeface="Arial Narrow" panose="020B0606020202030204" pitchFamily="34" charset="0"/>
              </a:rPr>
              <a:t> fails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zip_longest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(p, q, ...)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(p[0], q[0]), (p[1], q[1]), ...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endParaRPr lang="en-US" sz="1200" dirty="0">
              <a:latin typeface="Arial Narrow" panose="020B0606020202030204" pitchFamily="34" charset="0"/>
            </a:endParaRP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dirty="0" err="1">
                <a:latin typeface="Arial Narrow" panose="020B0606020202030204" pitchFamily="34" charset="0"/>
              </a:rPr>
              <a:t>Combinatoric</a:t>
            </a:r>
            <a:r>
              <a:rPr lang="en-US" sz="2800" dirty="0">
                <a:latin typeface="Arial Narrow" panose="020B0606020202030204" pitchFamily="34" charset="0"/>
              </a:rPr>
              <a:t> generators:</a:t>
            </a:r>
            <a:endParaRPr lang="en-US" sz="2800" dirty="0">
              <a:solidFill>
                <a:schemeClr val="accent2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accent2"/>
                </a:solidFill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product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(p, q, ... [repeat=1])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tuples of all combinations of elements </a:t>
            </a:r>
            <a:br>
              <a:rPr lang="en-US" sz="2800" dirty="0">
                <a:latin typeface="Arial Narrow" panose="020B0606020202030204" pitchFamily="34" charset="0"/>
              </a:rPr>
            </a:br>
            <a:r>
              <a:rPr lang="en-US" sz="2800" dirty="0">
                <a:latin typeface="Arial Narrow" panose="020B0606020202030204" pitchFamily="34" charset="0"/>
              </a:rPr>
              <a:t>                </a:t>
            </a:r>
            <a:r>
              <a:rPr lang="en-US" sz="2400" dirty="0">
                <a:latin typeface="Arial Narrow" panose="020B0606020202030204" pitchFamily="34" charset="0"/>
              </a:rPr>
              <a:t>   </a:t>
            </a:r>
            <a:r>
              <a:rPr lang="en-US" sz="2800" dirty="0">
                <a:latin typeface="Arial Narrow" panose="020B0606020202030204" pitchFamily="34" charset="0"/>
              </a:rPr>
              <a:t>o</a:t>
            </a:r>
            <a:r>
              <a:rPr lang="en-US" sz="2800" spc="-100" dirty="0">
                <a:latin typeface="Arial Narrow" panose="020B0606020202030204" pitchFamily="34" charset="0"/>
              </a:rPr>
              <a:t>f p &amp; q &amp; </a:t>
            </a:r>
            <a:r>
              <a:rPr lang="en-US" sz="2800" dirty="0">
                <a:latin typeface="Arial Narrow" panose="020B0606020202030204" pitchFamily="34" charset="0"/>
              </a:rPr>
              <a:t>...  As for repeat: product(</a:t>
            </a:r>
            <a:r>
              <a:rPr lang="en-US" sz="2800" dirty="0" err="1">
                <a:latin typeface="Arial Narrow" panose="020B0606020202030204" pitchFamily="34" charset="0"/>
              </a:rPr>
              <a:t>p,p,p</a:t>
            </a:r>
            <a:r>
              <a:rPr lang="en-US" sz="2800" dirty="0">
                <a:latin typeface="Arial Narrow" panose="020B0606020202030204" pitchFamily="34" charset="0"/>
              </a:rPr>
              <a:t>)=product(</a:t>
            </a:r>
            <a:r>
              <a:rPr lang="en-US" sz="2800" dirty="0" err="1">
                <a:latin typeface="Arial Narrow" panose="020B0606020202030204" pitchFamily="34" charset="0"/>
              </a:rPr>
              <a:t>p,repeat</a:t>
            </a:r>
            <a:r>
              <a:rPr lang="en-US" sz="2800" dirty="0">
                <a:latin typeface="Arial Narrow" panose="020B0606020202030204" pitchFamily="34" charset="0"/>
              </a:rPr>
              <a:t>=3)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permutations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(p[, r])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tuples of length-r orderings of elements of p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>
                <a:solidFill>
                  <a:srgbClr val="FFC000"/>
                </a:solidFill>
                <a:latin typeface="Arial Narrow" panose="020B0606020202030204" pitchFamily="34" charset="0"/>
              </a:rPr>
              <a:t>combinations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(p, r)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all permutations(</a:t>
            </a:r>
            <a:r>
              <a:rPr lang="en-US" sz="2800" dirty="0" err="1">
                <a:latin typeface="Arial Narrow" panose="020B0606020202030204" pitchFamily="34" charset="0"/>
              </a:rPr>
              <a:t>p,r</a:t>
            </a:r>
            <a:r>
              <a:rPr lang="en-US" sz="2800" dirty="0">
                <a:latin typeface="Arial Narrow" panose="020B0606020202030204" pitchFamily="34" charset="0"/>
              </a:rPr>
              <a:t>) that don't reorder elements</a:t>
            </a:r>
          </a:p>
          <a:p>
            <a:pPr marL="0" indent="0">
              <a:lnSpc>
                <a:spcPct val="98000"/>
              </a:lnSpc>
              <a:spcBef>
                <a:spcPts val="0"/>
              </a:spcBef>
              <a:buNone/>
            </a:pPr>
            <a:r>
              <a:rPr lang="en-US" sz="2800" dirty="0">
                <a:latin typeface="Arial Narrow" panose="020B0606020202030204" pitchFamily="34" charset="0"/>
              </a:rPr>
              <a:t>    </a:t>
            </a:r>
            <a:r>
              <a:rPr lang="en-US" sz="2800" b="1" dirty="0" err="1">
                <a:solidFill>
                  <a:srgbClr val="FFC000"/>
                </a:solidFill>
                <a:latin typeface="Arial Narrow" panose="020B0606020202030204" pitchFamily="34" charset="0"/>
              </a:rPr>
              <a:t>combinations_with_replacement</a:t>
            </a:r>
            <a:r>
              <a:rPr lang="en-US" sz="2800" dirty="0">
                <a:solidFill>
                  <a:srgbClr val="FFC000"/>
                </a:solidFill>
                <a:latin typeface="Arial Narrow" panose="020B0606020202030204" pitchFamily="34" charset="0"/>
              </a:rPr>
              <a:t>(p, r)</a:t>
            </a:r>
            <a:r>
              <a:rPr lang="en-US" sz="2800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 Narrow" panose="020B0606020202030204" pitchFamily="34" charset="0"/>
              </a:rPr>
              <a:t> allow elements to be reused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5315" y="6484694"/>
            <a:ext cx="1084522" cy="36799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gency FB" panose="020B0503020202020204" pitchFamily="34" charset="0"/>
                <a:cs typeface="Arial" panose="020B0604020202020204" pitchFamily="34" charset="0"/>
              </a:rPr>
              <a:t>(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gency FB" panose="020B0503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091615" y="6484019"/>
            <a:ext cx="0" cy="36576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62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 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; help (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from 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functo</a:t>
            </a:r>
            <a:r>
              <a:rPr lang="en-US" sz="28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ols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 </a:t>
            </a:r>
            <a:r>
              <a:rPr lang="en-US" sz="28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</a:t>
            </a:r>
            <a:r>
              <a:rPr lang="en-US" sz="2800" b="1" spc="-150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ia</a:t>
            </a:r>
            <a:r>
              <a:rPr lang="en-US" sz="2800" b="1" spc="-100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l</a:t>
            </a:r>
            <a:r>
              <a:rPr lang="en-US" sz="2800" dirty="0" err="1">
                <a:ea typeface="Tahoma" panose="020B0604030504040204" pitchFamily="34" charset="0"/>
                <a:cs typeface="Lucida Sans Unicode" panose="020B0602030504020204" pitchFamily="34" charset="0"/>
              </a:rPr>
              <a:t>#</a:t>
            </a:r>
            <a:r>
              <a:rPr lang="en-US" sz="2800" spc="-100" dirty="0" err="1">
                <a:ea typeface="Tahoma" panose="020B0604030504040204" pitchFamily="34" charset="0"/>
                <a:cs typeface="Lucida Sans Unicode" panose="020B0602030504020204" pitchFamily="34" charset="0"/>
              </a:rPr>
              <a:t>w</a:t>
            </a:r>
            <a:r>
              <a:rPr lang="en-US" sz="2800" dirty="0" err="1"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lang="en-US" sz="2800" dirty="0">
                <a:ea typeface="Tahoma" panose="020B0604030504040204" pitchFamily="34" charset="0"/>
                <a:cs typeface="Lucida Sans Unicode" panose="020B0602030504020204" pitchFamily="34" charset="0"/>
              </a:rPr>
              <a:t> k</a:t>
            </a:r>
            <a:r>
              <a:rPr lang="en-US" sz="2800" spc="-100" dirty="0">
                <a:ea typeface="Tahoma" panose="020B0604030504040204" pitchFamily="34" charset="0"/>
                <a:cs typeface="Lucida Sans Unicode" panose="020B0602030504020204" pitchFamily="34" charset="0"/>
              </a:rPr>
              <a:t>no</a:t>
            </a:r>
            <a:r>
              <a:rPr lang="en-US" sz="2800" dirty="0">
                <a:ea typeface="Tahoma" panose="020B0604030504040204" pitchFamily="34" charset="0"/>
                <a:cs typeface="Lucida Sans Unicode" panose="020B0602030504020204" pitchFamily="34" charset="0"/>
              </a:rPr>
              <a:t>w re</a:t>
            </a:r>
            <a:r>
              <a:rPr lang="en-US" sz="2800" spc="-50" dirty="0">
                <a:ea typeface="Tahoma" panose="020B0604030504040204" pitchFamily="34" charset="0"/>
                <a:cs typeface="Lucida Sans Unicode" panose="020B0602030504020204" pitchFamily="34" charset="0"/>
              </a:rPr>
              <a:t>du</a:t>
            </a:r>
            <a:r>
              <a:rPr lang="en-US" sz="2800" dirty="0">
                <a:ea typeface="Tahoma" panose="020B0604030504040204" pitchFamily="34" charset="0"/>
                <a:cs typeface="Lucida Sans Unicode" panose="020B0602030504020204" pitchFamily="34" charset="0"/>
              </a:rPr>
              <a:t>ce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print(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partial.__doc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__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[:-1])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-28281" y="4590858"/>
            <a:ext cx="857840" cy="98981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752391" y="5089468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680154" y="4654638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16354" y="5081006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21749" y="4635387"/>
            <a:ext cx="0" cy="36576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4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import 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; help (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from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to</a:t>
            </a:r>
            <a:r>
              <a:rPr kumimoji="0" lang="en-US" sz="2800" b="1" i="0" u="none" strike="noStrike" cap="none" spc="-100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ols</a:t>
            </a:r>
            <a:r>
              <a:rPr kumimoji="0" lang="en-US" sz="2800" b="0" i="0" u="none" strike="noStrike" cap="none" spc="-100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</a:t>
            </a:r>
            <a:r>
              <a:rPr kumimoji="0" lang="en-US" sz="2800" b="1" i="0" u="none" strike="noStrike" cap="none" spc="-15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ia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l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#</a:t>
            </a:r>
            <a:r>
              <a:rPr kumimoji="0" lang="en-US" sz="2800" b="0" i="0" u="none" strike="noStrike" cap="none" spc="-100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 k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no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 re</a:t>
            </a:r>
            <a:r>
              <a:rPr kumimoji="0" lang="en-US" sz="2800" b="0" i="0" u="none" strike="noStrike" cap="none" spc="-5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du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ce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print(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partial.__doc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__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[:-1])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args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**keywords) – return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-28281" y="4590858"/>
            <a:ext cx="857840" cy="98981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81996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import 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; help (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from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to</a:t>
            </a:r>
            <a:r>
              <a:rPr kumimoji="0" lang="en-US" sz="2800" b="1" i="0" u="none" strike="noStrike" cap="none" spc="-100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ols</a:t>
            </a:r>
            <a:r>
              <a:rPr kumimoji="0" lang="en-US" sz="2800" b="0" i="0" u="none" strike="noStrike" cap="none" spc="-100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</a:t>
            </a:r>
            <a:r>
              <a:rPr kumimoji="0" lang="en-US" sz="2800" b="1" i="0" u="none" strike="noStrike" cap="none" spc="-15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ia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l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#</a:t>
            </a:r>
            <a:r>
              <a:rPr kumimoji="0" lang="en-US" sz="2800" b="0" i="0" u="none" strike="noStrike" cap="none" spc="-100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 k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no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 re</a:t>
            </a:r>
            <a:r>
              <a:rPr kumimoji="0" lang="en-US" sz="2800" b="0" i="0" u="none" strike="noStrike" cap="none" spc="-5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du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ce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print(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partial.__doc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__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[:-1])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args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**keywords) – return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a new function with partial application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-28281" y="4590858"/>
            <a:ext cx="857840" cy="98981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19943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import 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; help (</a:t>
            </a:r>
            <a:r>
              <a:rPr lang="en-US" sz="28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itertools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from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to</a:t>
            </a:r>
            <a:r>
              <a:rPr kumimoji="0" lang="en-US" sz="2800" b="1" i="0" u="none" strike="noStrike" cap="none" spc="-100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ols</a:t>
            </a:r>
            <a:r>
              <a:rPr kumimoji="0" lang="en-US" sz="2800" b="0" i="0" u="none" strike="noStrike" cap="none" spc="-100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</a:t>
            </a:r>
            <a:r>
              <a:rPr kumimoji="0" lang="en-US" sz="2800" b="1" i="0" u="none" strike="noStrike" cap="none" spc="-15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ia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l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#</a:t>
            </a:r>
            <a:r>
              <a:rPr kumimoji="0" lang="en-US" sz="2800" b="0" i="0" u="none" strike="noStrike" cap="none" spc="-100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 k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no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 re</a:t>
            </a:r>
            <a:r>
              <a:rPr kumimoji="0" lang="en-US" sz="2800" b="0" i="0" u="none" strike="noStrike" cap="none" spc="-5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du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ce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print(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partial.__doc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__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[:-1])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args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**keywords) – return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a new function with partial application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of the given arguments and keywords.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3701988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-28281" y="4590858"/>
            <a:ext cx="857840" cy="989810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89128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from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kumimoji="0" lang="en-US" sz="2800" b="1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to</a:t>
            </a:r>
            <a:r>
              <a:rPr kumimoji="0" lang="en-US" sz="2800" b="1" i="0" u="none" strike="noStrike" cap="none" spc="-100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ols</a:t>
            </a:r>
            <a:r>
              <a:rPr kumimoji="0" lang="en-US" sz="2800" b="0" i="0" u="none" strike="noStrike" cap="none" spc="-100" normalizeH="0" baseline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</a:t>
            </a:r>
            <a:r>
              <a:rPr kumimoji="0" lang="en-US" sz="2800" b="1" i="0" u="none" strike="noStrike" cap="none" spc="-15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ia</a:t>
            </a:r>
            <a:r>
              <a:rPr kumimoji="0" lang="en-US" sz="2800" b="1" i="0" u="none" strike="noStrike" cap="none" spc="-100" normalizeH="0" dirty="0" err="1">
                <a:ln>
                  <a:noFill/>
                </a:ln>
                <a:solidFill>
                  <a:srgbClr val="00B050"/>
                </a:solidFill>
                <a:effectLst/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l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#</a:t>
            </a:r>
            <a:r>
              <a:rPr kumimoji="0" lang="en-US" sz="2800" b="0" i="0" u="none" strike="noStrike" cap="none" spc="-100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 k</a:t>
            </a:r>
            <a:r>
              <a:rPr kumimoji="0" lang="en-US" sz="2800" b="0" i="0" u="none" strike="noStrike" cap="none" spc="-10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no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w re</a:t>
            </a:r>
            <a:r>
              <a:rPr kumimoji="0" lang="en-US" sz="2800" b="0" i="0" u="none" strike="noStrike" cap="none" spc="-50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du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ea typeface="Tahoma" panose="020B0604030504040204" pitchFamily="34" charset="0"/>
                <a:cs typeface="Lucida Sans Unicode" panose="020B0602030504020204" pitchFamily="34" charset="0"/>
              </a:rPr>
              <a:t>ce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print(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partial.__doc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__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[:-1])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args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**keywords) – return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a new function with partial application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of the given arguments and keywords.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print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'[\t'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']'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7615845" y="6377056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93985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print(</a:t>
            </a:r>
            <a:r>
              <a:rPr lang="en-US" sz="2800" b="1" dirty="0" err="1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partial.__doc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__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[:-1])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*</a:t>
            </a:r>
            <a:r>
              <a:rPr lang="en-US" sz="2800" b="1" dirty="0" err="1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args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**keywords) – return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a new function with partial application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of the given arguments and keywords.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print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'[\t'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']'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("Hello world!")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702183" y="6372641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18629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func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*</a:t>
            </a:r>
            <a:r>
              <a:rPr lang="en-US" sz="2800" b="1" dirty="0" err="1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args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**keywords) – return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a new function with partial application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of the given arguments and keywords.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print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'[\t'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']'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("Hello world!")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66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a new function with partial application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of the given arguments and keywords.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print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'[\t'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']'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("Hello world!")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=partial(prin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t,'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7;41;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30m</a:t>
            </a:r>
            <a:r>
              <a:rPr lang="en-US" sz="2800" b="1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,sep=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9646724" y="6377555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506065" y="2402398"/>
            <a:ext cx="4128537" cy="1805808"/>
          </a:xfrm>
          <a:prstGeom prst="wedgeRoundRectCallout">
            <a:avLst>
              <a:gd name="adj1" fmla="val -22258"/>
              <a:gd name="adj2" fmla="val 17044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I won’t test you on this, but this how to get </a:t>
            </a:r>
            <a:r>
              <a:rPr lang="en-US" sz="2800" b="1" dirty="0">
                <a:solidFill>
                  <a:srgbClr val="FF0000"/>
                </a:solidFill>
                <a:latin typeface="Times New Roman" charset="0"/>
              </a:rPr>
              <a:t>red text</a:t>
            </a:r>
            <a:r>
              <a:rPr lang="en-US" sz="2800" dirty="0">
                <a:latin typeface="Times New Roman" charset="0"/>
              </a:rPr>
              <a:t> in UNIX (my Python is running in UNIX).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of the given arguments and keywords.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print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'[\t'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']'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("Hello world!")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=partial(prin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t,'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7;41;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30m</a:t>
            </a:r>
            <a:r>
              <a:rPr lang="en-US" sz="2800" b="1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,sep=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 '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\033[3;30;42m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,end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='\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033[1;m\n')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9640085" y="6377555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506065" y="2880852"/>
            <a:ext cx="4128537" cy="1327354"/>
          </a:xfrm>
          <a:prstGeom prst="wedgeRoundRectCallout">
            <a:avLst>
              <a:gd name="adj1" fmla="val -72032"/>
              <a:gd name="adj2" fmla="val 21192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Times New Roman" charset="0"/>
              </a:rPr>
              <a:t>I won’t test you on this, but this how to get </a:t>
            </a:r>
            <a:r>
              <a:rPr lang="en-US" sz="2800" b="1" i="1" dirty="0">
                <a:solidFill>
                  <a:srgbClr val="00B050"/>
                </a:solidFill>
                <a:latin typeface="Times New Roman" charset="0"/>
              </a:rPr>
              <a:t>green italics text</a:t>
            </a:r>
            <a:r>
              <a:rPr lang="en-US" sz="2800" dirty="0">
                <a:latin typeface="Times New Roman" charset="0"/>
              </a:rPr>
              <a:t> in UNIX.</a:t>
            </a:r>
            <a:endParaRPr kumimoji="0" lang="en-US" sz="2800" b="0" i="0" u="none" strike="noStrike" cap="none" normalizeH="0" baseline="0" dirty="0">
              <a:ln>
                <a:noFill/>
              </a:ln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16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</a:t>
            </a:r>
            <a:r>
              <a:rPr lang="en-US" sz="2800" b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partial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print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'[\t'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']'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("Hello world!")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=partial(prin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t,'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7;41;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30m</a:t>
            </a:r>
            <a:r>
              <a:rPr lang="en-US" sz="2800" b="1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,sep=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 '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\033[3;30;42m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,end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='\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033[1;m\n')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('Hello','World',1,2,3,[*"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"])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903543" y="6377555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8438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indpnt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("Hello world!")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=partial(prin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t,'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7;41;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30m</a:t>
            </a:r>
            <a:r>
              <a:rPr lang="en-US" sz="2800" b="1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,sep=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 '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\033[3;30;42m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,end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='\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033[1;m\n')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('Hello','World',1,2,3,[*"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Hello World 1 2 3 ['a', 'b', 'c']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4021584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69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=partial(prin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t,'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7;41;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30m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,sep=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 '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\033[3;30;42m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,end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='\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033[1;m\n')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('Hello','World',1,2,3,[*"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Hello World 1 2 3 ['a', 'b', 'c']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5273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-5250" y="4166648"/>
            <a:ext cx="9737725" cy="269135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[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</a:t>
            </a:r>
            <a:r>
              <a:rPr lang="en-US" sz="2800" b="1" dirty="0">
                <a:solidFill>
                  <a:srgbClr val="7030A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]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Hello world!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=partial(prin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t,'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</a:t>
            </a:r>
            <a:r>
              <a:rPr lang="en-US" sz="2800" spc="-1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7;41;</a:t>
            </a: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30m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,sep=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       '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\033[3;30;42m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spc="-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,end</a:t>
            </a:r>
            <a:r>
              <a:rPr lang="en-US" sz="2800" spc="-1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='\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033[1;m\n')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copnt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('Hello','World',1,2,3,[*"</a:t>
            </a:r>
            <a:r>
              <a:rPr lang="en-US" sz="28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abc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"])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→</a:t>
            </a:r>
            <a:r>
              <a:rPr lang="en-US" sz="2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800" i="1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Hello World 1 2 3 ['a', 'b', 'c']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320894" y="4194928"/>
            <a:ext cx="9416831" cy="266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7030A0"/>
                </a:solidFill>
              </a:rPr>
              <a:t>operator</a:t>
            </a:r>
          </a:p>
          <a:p>
            <a:pPr defTabSz="914400">
              <a:spcBef>
                <a:spcPts val="0"/>
              </a:spcBef>
              <a:buClrTx/>
              <a:buSzPct val="85000"/>
            </a:pPr>
            <a:r>
              <a:rPr lang="en-US" kern="0" dirty="0" err="1"/>
              <a:t>ComparisonOps</a:t>
            </a:r>
            <a:r>
              <a:rPr lang="en-US" kern="0" dirty="0"/>
              <a:t> (</a:t>
            </a:r>
            <a:r>
              <a:rPr lang="en-US" b="1" kern="0" dirty="0" err="1">
                <a:solidFill>
                  <a:srgbClr val="7030A0"/>
                </a:solidFill>
              </a:rPr>
              <a:t>lt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eq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le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ne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ge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LogicOps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not_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or_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and_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xor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UnaryOps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abs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inv</a:t>
            </a:r>
            <a:r>
              <a:rPr lang="en-US" kern="0" dirty="0"/>
              <a:t>,</a:t>
            </a:r>
            <a:r>
              <a:rPr lang="en-US" b="1" kern="0" dirty="0"/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neg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truth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BinaryOps</a:t>
            </a:r>
            <a:r>
              <a:rPr lang="en-US" kern="0" dirty="0"/>
              <a:t>(</a:t>
            </a:r>
            <a:r>
              <a:rPr lang="en-US" b="1" kern="0" dirty="0" err="1">
                <a:solidFill>
                  <a:srgbClr val="7030A0"/>
                </a:solidFill>
              </a:rPr>
              <a:t>concat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add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sub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mul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mod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truediv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pow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ContainerOps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contains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index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indexOf</a:t>
            </a:r>
            <a:r>
              <a:rPr lang="en-US" kern="0" dirty="0">
                <a:solidFill>
                  <a:srgbClr val="7030A0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countOf</a:t>
            </a:r>
            <a:r>
              <a:rPr lang="en-US" kern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3932808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916354" y="6383033"/>
            <a:ext cx="0" cy="36576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auto">
          <a:xfrm>
            <a:off x="-32156" y="6302089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47845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320894" y="4194928"/>
            <a:ext cx="9416831" cy="266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7030A0"/>
                </a:solidFill>
              </a:rPr>
              <a:t>operator</a:t>
            </a:r>
          </a:p>
          <a:p>
            <a:pPr defTabSz="914400">
              <a:spcBef>
                <a:spcPts val="0"/>
              </a:spcBef>
              <a:buClrTx/>
              <a:buSzPct val="85000"/>
            </a:pPr>
            <a:r>
              <a:rPr lang="en-US" kern="0" dirty="0" err="1"/>
              <a:t>ComparisonOps</a:t>
            </a:r>
            <a:r>
              <a:rPr lang="en-US" kern="0" dirty="0"/>
              <a:t> (</a:t>
            </a:r>
            <a:r>
              <a:rPr lang="en-US" b="1" kern="0" dirty="0" err="1">
                <a:solidFill>
                  <a:srgbClr val="7030A0"/>
                </a:solidFill>
              </a:rPr>
              <a:t>lt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eq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le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ne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ge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LogicOps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not_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or_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and_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xor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UnaryOps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abs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inv</a:t>
            </a:r>
            <a:r>
              <a:rPr lang="en-US" kern="0" dirty="0"/>
              <a:t>,</a:t>
            </a:r>
            <a:r>
              <a:rPr lang="en-US" b="1" kern="0" dirty="0"/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neg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truth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BinaryOps</a:t>
            </a:r>
            <a:r>
              <a:rPr lang="en-US" kern="0" dirty="0"/>
              <a:t>(</a:t>
            </a:r>
            <a:r>
              <a:rPr lang="en-US" b="1" kern="0" dirty="0" err="1">
                <a:solidFill>
                  <a:srgbClr val="7030A0"/>
                </a:solidFill>
              </a:rPr>
              <a:t>concat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add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sub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mul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mod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truediv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pow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ContainerOps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contains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index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indexOf</a:t>
            </a:r>
            <a:r>
              <a:rPr lang="en-US" kern="0" dirty="0">
                <a:solidFill>
                  <a:srgbClr val="7030A0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countOf</a:t>
            </a:r>
            <a:r>
              <a:rPr lang="en-US" kern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3932808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73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320894" y="4194928"/>
            <a:ext cx="9416831" cy="266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7030A0"/>
                </a:solidFill>
              </a:rPr>
              <a:t>operator</a:t>
            </a:r>
          </a:p>
          <a:p>
            <a:pPr defTabSz="914400">
              <a:spcBef>
                <a:spcPts val="0"/>
              </a:spcBef>
              <a:buClrTx/>
              <a:buSzPct val="85000"/>
            </a:pPr>
            <a:r>
              <a:rPr lang="en-US" kern="0" dirty="0" err="1"/>
              <a:t>ComparisonOps</a:t>
            </a:r>
            <a:r>
              <a:rPr lang="en-US" kern="0" dirty="0"/>
              <a:t> (</a:t>
            </a:r>
            <a:r>
              <a:rPr lang="en-US" b="1" kern="0" dirty="0" err="1">
                <a:solidFill>
                  <a:srgbClr val="7030A0"/>
                </a:solidFill>
              </a:rPr>
              <a:t>lt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eq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le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ne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ge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LogicOps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not_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or_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and_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xor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UnaryOps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abs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inv</a:t>
            </a:r>
            <a:r>
              <a:rPr lang="en-US" kern="0" dirty="0"/>
              <a:t>,</a:t>
            </a:r>
            <a:r>
              <a:rPr lang="en-US" b="1" kern="0" dirty="0"/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neg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truth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BinaryOps</a:t>
            </a:r>
            <a:r>
              <a:rPr lang="en-US" kern="0" dirty="0"/>
              <a:t>(</a:t>
            </a:r>
            <a:r>
              <a:rPr lang="en-US" b="1" kern="0" dirty="0" err="1">
                <a:solidFill>
                  <a:srgbClr val="7030A0"/>
                </a:solidFill>
              </a:rPr>
              <a:t>concat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add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sub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mul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mod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truediv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pow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ContainerOps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contains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index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indexOf</a:t>
            </a:r>
            <a:r>
              <a:rPr lang="en-US" kern="0" dirty="0">
                <a:solidFill>
                  <a:srgbClr val="7030A0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countOf</a:t>
            </a:r>
            <a:r>
              <a:rPr lang="en-US" kern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-684983"/>
            <a:ext cx="9737725" cy="7542983"/>
            <a:chOff x="0" y="-684983"/>
            <a:chExt cx="9737725" cy="7542983"/>
          </a:xfrm>
        </p:grpSpPr>
        <p:sp>
          <p:nvSpPr>
            <p:cNvPr id="9" name="Rectangle 8"/>
            <p:cNvSpPr/>
            <p:nvPr/>
          </p:nvSpPr>
          <p:spPr bwMode="auto">
            <a:xfrm>
              <a:off x="0" y="0"/>
              <a:ext cx="9737725" cy="685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39760" y="2527013"/>
              <a:ext cx="8907463" cy="4330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from 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functools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import 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</a:t>
              </a:r>
              <a:endPara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lambda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x,y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x+y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range(9)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endPara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rgbClr val="00B05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35</a:t>
              </a: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lambda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x,y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x+y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map(</a:t>
              </a:r>
              <a:r>
                <a:rPr lang="en-US" altLang="en-US" sz="2200" dirty="0" err="1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str,range</a:t>
              </a:r>
              <a:r>
                <a:rPr lang="en-US" altLang="en-US" sz="22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(9)))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endPara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rgbClr val="00B05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'012345678' </a:t>
              </a: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print(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</a:t>
              </a:r>
              <a:r>
                <a:rPr lang="en-US" altLang="en-US" sz="2200" spc="-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e._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_doc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[: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46]+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</a:t>
              </a:r>
              <a:r>
                <a:rPr lang="en-US" altLang="en-US" sz="2200" spc="-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e._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_doc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__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[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7: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])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spc="-1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200" spc="-1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function</a:t>
              </a:r>
              <a:r>
                <a:rPr lang="en-US" altLang="en-US" sz="2200" spc="-1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spc="-1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sequence</a:t>
              </a:r>
              <a:r>
                <a:rPr lang="en-US" altLang="en-US" sz="2200" spc="-1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[</a:t>
              </a:r>
              <a:r>
                <a:rPr lang="en-US" altLang="en-US" sz="2200" spc="-1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spc="-1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initial]</a:t>
              </a:r>
              <a:r>
                <a:rPr lang="en-US" altLang="en-US" sz="2200" spc="-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spc="-1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-&gt; value</a:t>
              </a:r>
              <a:endParaRPr lang="en-US" altLang="en-US" sz="1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Apply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a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function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of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arguments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cumulativ</a:t>
              </a:r>
              <a:r>
                <a:rPr lang="en-US" altLang="en-US" sz="2200" spc="-15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el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to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the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items of a sequence, from left to right, so as to reduce the sequence to a single value. For example, reduce(lambda x, y: </a:t>
              </a:r>
              <a:r>
                <a:rPr lang="en-US" altLang="en-US" sz="2200" spc="-100" dirty="0" err="1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</a:t>
              </a:r>
              <a:r>
                <a:rPr lang="en-US" altLang="en-US" sz="2200" spc="-130" dirty="0" err="1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[1,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2,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3,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4,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5]) calculates ((((1+2)+3)+4)+5</a:t>
              </a:r>
              <a:r>
                <a:rPr lang="en-US" altLang="en-US" sz="2200" spc="-3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.  If initial is present, it is placed before the items of the sequence in the calculation, and serves as a default</a:t>
              </a:r>
            </a:p>
          </p:txBody>
        </p:sp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182879" y="182879"/>
              <a:ext cx="9518074" cy="2223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D2DB9"/>
                </a:buClr>
                <a:buFont typeface="Wingdings" pitchFamily="2" charset="2"/>
                <a:buChar char="§"/>
                <a:defRPr sz="2600">
                  <a:solidFill>
                    <a:srgbClr val="222222"/>
                  </a:solidFill>
                  <a:latin typeface="+mn-lt"/>
                  <a:ea typeface="MS PGothic" pitchFamily="34" charset="-128"/>
                  <a:cs typeface="ＭＳ Ｐゴシック" pitchFamily="-65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2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MS PGothic" pitchFamily="34" charset="-128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defTabSz="914400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en-US" altLang="en-US" sz="3000" kern="0" dirty="0" err="1">
                  <a:solidFill>
                    <a:schemeClr val="accent2"/>
                  </a:solidFill>
                  <a:latin typeface="Lucida Console" pitchFamily="49" charset="0"/>
                </a:rPr>
                <a:t>functools.reduce</a:t>
              </a:r>
              <a:r>
                <a:rPr lang="en-US" altLang="en-US" sz="3000" dirty="0">
                  <a:solidFill>
                    <a:schemeClr val="accent2"/>
                  </a:solidFill>
                  <a:latin typeface="Lucida Console" pitchFamily="49" charset="0"/>
                </a:rPr>
                <a:t>(</a:t>
              </a:r>
              <a:r>
                <a:rPr lang="en-US" altLang="en-US" sz="3000" i="1" dirty="0">
                  <a:solidFill>
                    <a:srgbClr val="FF3300"/>
                  </a:solidFill>
                  <a:latin typeface="Lucida Console" pitchFamily="49" charset="0"/>
                </a:rPr>
                <a:t>function</a:t>
              </a:r>
              <a:r>
                <a:rPr lang="en-US" altLang="en-US" sz="3000" i="1" dirty="0">
                  <a:solidFill>
                    <a:schemeClr val="accent2"/>
                  </a:solidFill>
                  <a:latin typeface="Lucida Console" pitchFamily="49" charset="0"/>
                </a:rPr>
                <a:t>, </a:t>
              </a:r>
              <a:r>
                <a:rPr lang="en-US" altLang="en-US" sz="3000" i="1" dirty="0">
                  <a:solidFill>
                    <a:srgbClr val="9966FF"/>
                  </a:solidFill>
                  <a:latin typeface="Lucida Console" pitchFamily="49" charset="0"/>
                </a:rPr>
                <a:t>sequence</a:t>
              </a:r>
              <a:r>
                <a:rPr lang="en-US" altLang="en-US" sz="3000" dirty="0">
                  <a:solidFill>
                    <a:schemeClr val="accent2"/>
                  </a:solidFill>
                  <a:latin typeface="Lucida Console" pitchFamily="49" charset="0"/>
                </a:rPr>
                <a:t>)</a:t>
              </a:r>
              <a:endParaRPr lang="en-US" altLang="en-US" sz="3000" kern="0" dirty="0">
                <a:solidFill>
                  <a:schemeClr val="accent2"/>
                </a:solidFill>
                <a:latin typeface="Lucida Console" pitchFamily="49" charset="0"/>
              </a:endParaRPr>
            </a:p>
            <a:p>
              <a:pPr marL="623888" lvl="1" indent="-277813" defTabSz="914400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en-US" sz="2800" kern="0" dirty="0"/>
                <a:t>Apply the function to each item in the sequence.</a:t>
              </a:r>
            </a:p>
            <a:p>
              <a:pPr marL="914400" lvl="1" indent="-290513" defTabSz="9144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kern="0" dirty="0"/>
                <a:t>The function must take 2 arguments &amp; retur</a:t>
              </a:r>
              <a:r>
                <a:rPr lang="en-US" altLang="en-US" kern="0" spc="-50" dirty="0"/>
                <a:t>n 1 value</a:t>
              </a:r>
              <a:r>
                <a:rPr lang="en-US" altLang="en-US" kern="0" dirty="0"/>
                <a:t>.</a:t>
              </a:r>
            </a:p>
            <a:p>
              <a:pPr marL="914400" lvl="1" indent="-346075" defTabSz="9144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kern="0" dirty="0"/>
                <a:t>That returned value becomes the 1</a:t>
              </a:r>
              <a:r>
                <a:rPr lang="en-US" altLang="en-US" kern="0" baseline="30000" dirty="0"/>
                <a:t>st</a:t>
              </a:r>
              <a:r>
                <a:rPr lang="en-US" altLang="en-US" kern="0" dirty="0"/>
                <a:t> argument to the function on the next iteration (2</a:t>
              </a:r>
              <a:r>
                <a:rPr lang="en-US" altLang="en-US" kern="0" baseline="30000" dirty="0"/>
                <a:t>nd</a:t>
              </a:r>
              <a:r>
                <a:rPr lang="en-US" altLang="en-US" kern="0" dirty="0"/>
                <a:t> argument is the next sequence item).</a:t>
              </a:r>
            </a:p>
            <a:p>
              <a:pPr marL="623888" lvl="1" indent="-277813" defTabSz="9144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sz="2800" kern="0" dirty="0"/>
                <a:t>Return 1 value, the final value returned by the function.</a:t>
              </a:r>
            </a:p>
          </p:txBody>
        </p:sp>
        <p:sp>
          <p:nvSpPr>
            <p:cNvPr id="12" name="Trapezoid 11"/>
            <p:cNvSpPr>
              <a:spLocks noChangeAspect="1"/>
            </p:cNvSpPr>
            <p:nvPr/>
          </p:nvSpPr>
          <p:spPr bwMode="auto">
            <a:xfrm rot="2700000" flipH="1">
              <a:off x="7439565" y="459510"/>
              <a:ext cx="2984561" cy="695576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8764" tIns="0" rIns="98764" bIns="49382" numCol="1" rtlCol="0" anchor="ctr" anchorCtr="1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2592" spc="-100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Lecture 9</a:t>
              </a:r>
              <a:br>
                <a:rPr lang="en-US" sz="2592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</a:br>
              <a:r>
                <a:rPr lang="en-US" sz="2592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Slide 60</a:t>
              </a:r>
              <a:endParaRPr lang="en-US" sz="3024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3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320894" y="4194928"/>
            <a:ext cx="9416831" cy="266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7030A0"/>
                </a:solidFill>
              </a:rPr>
              <a:t>operator</a:t>
            </a:r>
          </a:p>
          <a:p>
            <a:pPr defTabSz="914400">
              <a:spcBef>
                <a:spcPts val="0"/>
              </a:spcBef>
              <a:buClrTx/>
              <a:buSzPct val="85000"/>
            </a:pPr>
            <a:r>
              <a:rPr lang="en-US" kern="0" dirty="0" err="1"/>
              <a:t>ComparisonOps</a:t>
            </a:r>
            <a:r>
              <a:rPr lang="en-US" kern="0" dirty="0"/>
              <a:t> (</a:t>
            </a:r>
            <a:r>
              <a:rPr lang="en-US" b="1" kern="0" dirty="0" err="1">
                <a:solidFill>
                  <a:srgbClr val="7030A0"/>
                </a:solidFill>
              </a:rPr>
              <a:t>lt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eq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le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ne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ge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LogicOps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not_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or_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and_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xor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UnaryOps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abs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inv</a:t>
            </a:r>
            <a:r>
              <a:rPr lang="en-US" kern="0" dirty="0"/>
              <a:t>,</a:t>
            </a:r>
            <a:r>
              <a:rPr lang="en-US" b="1" kern="0" dirty="0"/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neg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truth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BinaryOps</a:t>
            </a:r>
            <a:r>
              <a:rPr lang="en-US" kern="0" dirty="0"/>
              <a:t>(</a:t>
            </a:r>
            <a:r>
              <a:rPr lang="en-US" b="1" kern="0" dirty="0" err="1">
                <a:solidFill>
                  <a:srgbClr val="7030A0"/>
                </a:solidFill>
              </a:rPr>
              <a:t>concat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add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sub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mul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mod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truediv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pow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ContainerOps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contains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index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indexOf</a:t>
            </a:r>
            <a:r>
              <a:rPr lang="en-US" kern="0" dirty="0">
                <a:solidFill>
                  <a:srgbClr val="7030A0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countOf</a:t>
            </a:r>
            <a:r>
              <a:rPr lang="en-US" kern="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-684983"/>
            <a:ext cx="9737725" cy="7542983"/>
            <a:chOff x="0" y="-684983"/>
            <a:chExt cx="9737725" cy="7542983"/>
          </a:xfrm>
        </p:grpSpPr>
        <p:sp>
          <p:nvSpPr>
            <p:cNvPr id="9" name="Rectangle 8"/>
            <p:cNvSpPr/>
            <p:nvPr/>
          </p:nvSpPr>
          <p:spPr bwMode="auto">
            <a:xfrm>
              <a:off x="0" y="0"/>
              <a:ext cx="9737725" cy="685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39760" y="2527013"/>
              <a:ext cx="8907463" cy="4330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from 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functools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import 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</a:t>
              </a:r>
              <a:endPara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lambda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x,y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x+y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range(9)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endPara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rgbClr val="00B05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35</a:t>
              </a: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lambda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x,y</a:t>
              </a:r>
              <a:r>
                <a:rPr lang="en-US" altLang="en-US" sz="22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2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x+y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map(</a:t>
              </a:r>
              <a:r>
                <a:rPr lang="en-US" altLang="en-US" sz="2200" dirty="0" err="1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str,range</a:t>
              </a:r>
              <a:r>
                <a:rPr lang="en-US" altLang="en-US" sz="22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(9)))</a:t>
              </a:r>
              <a:r>
                <a:rPr lang="en-US" altLang="en-US" sz="2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endPara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rgbClr val="00B05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'012345678' </a:t>
              </a:r>
            </a:p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print(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</a:t>
              </a:r>
              <a:r>
                <a:rPr lang="en-US" altLang="en-US" sz="2200" spc="-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e._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_doc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[: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46]+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</a:t>
              </a:r>
              <a:r>
                <a:rPr lang="en-US" altLang="en-US" sz="2200" spc="-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e._</a:t>
              </a:r>
              <a:r>
                <a:rPr lang="en-US" altLang="en-US" sz="2200" dirty="0" err="1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_doc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__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[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200" spc="-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7:</a:t>
              </a:r>
              <a:r>
                <a:rPr lang="en-US" altLang="en-US" sz="22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])</a:t>
              </a: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spc="-1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200" spc="-1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function</a:t>
              </a:r>
              <a:r>
                <a:rPr lang="en-US" altLang="en-US" sz="2200" spc="-1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200" spc="-1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sequence</a:t>
              </a:r>
              <a:r>
                <a:rPr lang="en-US" altLang="en-US" sz="2200" spc="-1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[</a:t>
              </a:r>
              <a:r>
                <a:rPr lang="en-US" altLang="en-US" sz="2200" spc="-1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</a:t>
              </a:r>
              <a:r>
                <a:rPr lang="en-US" altLang="en-US" sz="2200" spc="-1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initial]</a:t>
              </a:r>
              <a:r>
                <a:rPr lang="en-US" altLang="en-US" sz="2200" spc="-2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spc="-1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-&gt; value</a:t>
              </a:r>
              <a:endParaRPr lang="en-US" altLang="en-US" sz="1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Apply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a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function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of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arguments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cumulativ</a:t>
              </a:r>
              <a:r>
                <a:rPr lang="en-US" altLang="en-US" sz="2200" spc="-15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el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to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the</a:t>
              </a:r>
              <a:r>
                <a:rPr lang="en-US" altLang="en-US" sz="20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items of a sequence, from left to right, so as to reduce the sequence to a single value. For example, reduce(lambda x, y: </a:t>
              </a:r>
              <a:r>
                <a:rPr lang="en-US" altLang="en-US" sz="2200" spc="-100" dirty="0" err="1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</a:t>
              </a:r>
              <a:r>
                <a:rPr lang="en-US" altLang="en-US" sz="2200" spc="-130" dirty="0" err="1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[1,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2,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3,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4,</a:t>
              </a:r>
              <a:r>
                <a:rPr lang="en-US" altLang="en-US" sz="2000" spc="-13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5]) calculates ((((1+2)+3)+4)+5</a:t>
              </a:r>
              <a:r>
                <a:rPr lang="en-US" altLang="en-US" sz="2200" spc="-3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r>
                <a:rPr lang="en-US" altLang="en-US" sz="2200" spc="-100" dirty="0">
                  <a:solidFill>
                    <a:srgbClr val="414A8B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.  If initial is present, it is placed before the items of the sequence in the calculation, and serves as a default</a:t>
              </a:r>
            </a:p>
          </p:txBody>
        </p:sp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182879" y="182879"/>
              <a:ext cx="9518074" cy="2223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D2DB9"/>
                </a:buClr>
                <a:buFont typeface="Wingdings" pitchFamily="2" charset="2"/>
                <a:buChar char="§"/>
                <a:defRPr sz="2600">
                  <a:solidFill>
                    <a:srgbClr val="222222"/>
                  </a:solidFill>
                  <a:latin typeface="+mn-lt"/>
                  <a:ea typeface="MS PGothic" pitchFamily="34" charset="-128"/>
                  <a:cs typeface="ＭＳ Ｐゴシック" pitchFamily="-65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200">
                  <a:solidFill>
                    <a:srgbClr val="222222"/>
                  </a:solidFill>
                  <a:latin typeface="+mn-lt"/>
                  <a:ea typeface="MS PGothic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MS PGothic" pitchFamily="34" charset="-128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defTabSz="914400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en-US" altLang="en-US" sz="3000" kern="0" dirty="0" err="1">
                  <a:solidFill>
                    <a:schemeClr val="accent2"/>
                  </a:solidFill>
                  <a:latin typeface="Lucida Console" pitchFamily="49" charset="0"/>
                </a:rPr>
                <a:t>functools.reduce</a:t>
              </a:r>
              <a:r>
                <a:rPr lang="en-US" altLang="en-US" sz="3000" dirty="0">
                  <a:solidFill>
                    <a:schemeClr val="accent2"/>
                  </a:solidFill>
                  <a:latin typeface="Lucida Console" pitchFamily="49" charset="0"/>
                </a:rPr>
                <a:t>(</a:t>
              </a:r>
              <a:r>
                <a:rPr lang="en-US" altLang="en-US" sz="3000" i="1" dirty="0">
                  <a:solidFill>
                    <a:srgbClr val="FF3300"/>
                  </a:solidFill>
                  <a:latin typeface="Lucida Console" pitchFamily="49" charset="0"/>
                </a:rPr>
                <a:t>function</a:t>
              </a:r>
              <a:r>
                <a:rPr lang="en-US" altLang="en-US" sz="3000" i="1" dirty="0">
                  <a:solidFill>
                    <a:schemeClr val="accent2"/>
                  </a:solidFill>
                  <a:latin typeface="Lucida Console" pitchFamily="49" charset="0"/>
                </a:rPr>
                <a:t>, </a:t>
              </a:r>
              <a:r>
                <a:rPr lang="en-US" altLang="en-US" sz="3000" i="1" dirty="0">
                  <a:solidFill>
                    <a:srgbClr val="9966FF"/>
                  </a:solidFill>
                  <a:latin typeface="Lucida Console" pitchFamily="49" charset="0"/>
                </a:rPr>
                <a:t>sequence</a:t>
              </a:r>
              <a:r>
                <a:rPr lang="en-US" altLang="en-US" sz="3000" dirty="0">
                  <a:solidFill>
                    <a:schemeClr val="accent2"/>
                  </a:solidFill>
                  <a:latin typeface="Lucida Console" pitchFamily="49" charset="0"/>
                </a:rPr>
                <a:t>)</a:t>
              </a:r>
              <a:endParaRPr lang="en-US" altLang="en-US" sz="3000" kern="0" dirty="0">
                <a:solidFill>
                  <a:schemeClr val="accent2"/>
                </a:solidFill>
                <a:latin typeface="Lucida Console" pitchFamily="49" charset="0"/>
              </a:endParaRPr>
            </a:p>
            <a:p>
              <a:pPr marL="623888" lvl="1" indent="-277813" defTabSz="914400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altLang="en-US" sz="2800" kern="0" dirty="0"/>
                <a:t>Apply the function to each item in the sequence.</a:t>
              </a:r>
            </a:p>
            <a:p>
              <a:pPr marL="914400" lvl="1" indent="-290513" defTabSz="9144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kern="0" dirty="0"/>
                <a:t>The function must take 2 arguments &amp; retur</a:t>
              </a:r>
              <a:r>
                <a:rPr lang="en-US" altLang="en-US" kern="0" spc="-50" dirty="0"/>
                <a:t>n 1 value</a:t>
              </a:r>
              <a:r>
                <a:rPr lang="en-US" altLang="en-US" kern="0" dirty="0"/>
                <a:t>.</a:t>
              </a:r>
            </a:p>
            <a:p>
              <a:pPr marL="914400" lvl="1" indent="-346075" defTabSz="9144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kern="0" dirty="0"/>
                <a:t>That returned value becomes the 1</a:t>
              </a:r>
              <a:r>
                <a:rPr lang="en-US" altLang="en-US" kern="0" baseline="30000" dirty="0"/>
                <a:t>st</a:t>
              </a:r>
              <a:r>
                <a:rPr lang="en-US" altLang="en-US" kern="0" dirty="0"/>
                <a:t> argument to the function on the next iteration (2</a:t>
              </a:r>
              <a:r>
                <a:rPr lang="en-US" altLang="en-US" kern="0" baseline="30000" dirty="0"/>
                <a:t>nd</a:t>
              </a:r>
              <a:r>
                <a:rPr lang="en-US" altLang="en-US" kern="0" dirty="0"/>
                <a:t> argument is the next sequence item).</a:t>
              </a:r>
            </a:p>
            <a:p>
              <a:pPr marL="623888" lvl="1" indent="-277813" defTabSz="9144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sz="2800" kern="0" dirty="0"/>
                <a:t>Return 1 value, the final value returned by the function.</a:t>
              </a:r>
            </a:p>
          </p:txBody>
        </p:sp>
        <p:sp>
          <p:nvSpPr>
            <p:cNvPr id="12" name="Trapezoid 11"/>
            <p:cNvSpPr>
              <a:spLocks noChangeAspect="1"/>
            </p:cNvSpPr>
            <p:nvPr/>
          </p:nvSpPr>
          <p:spPr bwMode="auto">
            <a:xfrm rot="2700000" flipH="1">
              <a:off x="7439565" y="459510"/>
              <a:ext cx="2984561" cy="695576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8764" tIns="0" rIns="98764" bIns="49382" numCol="1" rtlCol="0" anchor="ctr" anchorCtr="1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2592" spc="-100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Lecture 9</a:t>
              </a:r>
              <a:br>
                <a:rPr lang="en-US" sz="2592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</a:br>
              <a:r>
                <a:rPr lang="en-US" sz="2592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Slide 60</a:t>
              </a:r>
              <a:endParaRPr lang="en-US" sz="3024" dirty="0">
                <a:solidFill>
                  <a:srgbClr val="000000"/>
                </a:solidFill>
                <a:latin typeface="Arial" charset="0"/>
                <a:ea typeface="新細明體" charset="-120"/>
              </a:endParaRPr>
            </a:p>
          </p:txBody>
        </p:sp>
      </p:grpSp>
      <p:sp>
        <p:nvSpPr>
          <p:cNvPr id="21" name="Rectangle 20"/>
          <p:cNvSpPr/>
          <p:nvPr/>
        </p:nvSpPr>
        <p:spPr bwMode="auto">
          <a:xfrm>
            <a:off x="-5250" y="-7"/>
            <a:ext cx="9737725" cy="1698178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-5250" y="-7"/>
            <a:ext cx="9737725" cy="164750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range(9)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35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map(</a:t>
            </a:r>
            <a:r>
              <a:rPr lang="en-US" altLang="en-US" sz="24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str,range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(9)))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'012345678'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9933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40048" y="2850369"/>
            <a:ext cx="9186998" cy="1318385"/>
            <a:chOff x="640048" y="3497342"/>
            <a:chExt cx="8908151" cy="1318385"/>
          </a:xfrm>
        </p:grpSpPr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640736" y="3497342"/>
              <a:ext cx="8907463" cy="131838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noAutofit/>
            </a:bodyPr>
            <a:lstStyle/>
            <a:p>
              <a:pPr lvl="0" defTabSz="9144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rgbClr val="FFFFFF">
                      <a:lumMod val="75000"/>
                    </a:srgb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4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4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lambda </a:t>
              </a:r>
              <a:r>
                <a:rPr lang="en-US" altLang="en-US" sz="24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x,y</a:t>
              </a:r>
              <a:r>
                <a:rPr lang="en-US" altLang="en-US" sz="24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4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x+y</a:t>
              </a:r>
              <a:r>
                <a:rPr lang="en-US" altLang="en-US" sz="24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4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range(9)</a:t>
              </a:r>
              <a:r>
                <a:rPr lang="en-US" altLang="en-US" sz="24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endPara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lvl="0" defTabSz="9144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rgbClr val="00B05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35</a:t>
              </a:r>
            </a:p>
            <a:p>
              <a:pPr defTabSz="9144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  <a:r>
                <a:rPr lang="en-US" altLang="en-US" sz="2400" dirty="0">
                  <a:solidFill>
                    <a:srgbClr val="0000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4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reduce(</a:t>
              </a:r>
              <a:r>
                <a:rPr lang="en-US" altLang="en-US" sz="24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lambda </a:t>
              </a:r>
              <a:r>
                <a:rPr lang="en-US" altLang="en-US" sz="24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x,y</a:t>
              </a:r>
              <a:r>
                <a:rPr lang="en-US" altLang="en-US" sz="2400" dirty="0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400" dirty="0" err="1">
                  <a:solidFill>
                    <a:srgbClr val="FF330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x+y</a:t>
              </a:r>
              <a:r>
                <a:rPr lang="en-US" altLang="en-US" sz="24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4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map(</a:t>
              </a:r>
              <a:r>
                <a:rPr lang="en-US" altLang="en-US" sz="2400" dirty="0" err="1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str,range</a:t>
              </a:r>
              <a:r>
                <a:rPr lang="en-US" altLang="en-US" sz="2400" dirty="0">
                  <a:solidFill>
                    <a:srgbClr val="9966FF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(9)))</a:t>
              </a:r>
              <a:r>
                <a:rPr lang="en-US" altLang="en-US" sz="2400" dirty="0">
                  <a:solidFill>
                    <a:srgbClr val="2D2DB9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)</a:t>
              </a:r>
              <a:endPara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  <a:p>
              <a:pPr defTabSz="9144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400" dirty="0">
                  <a:solidFill>
                    <a:srgbClr val="00B050"/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'012345678'</a:t>
              </a:r>
              <a:endPara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640048" y="4214194"/>
              <a:ext cx="695766" cy="25576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tIns="0" bIns="0" anchor="ctr" anchorCtr="0">
              <a:noAutofit/>
            </a:bodyPr>
            <a:lstStyle/>
            <a:p>
              <a:pPr defTabSz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300" dirty="0">
                  <a:solidFill>
                    <a:schemeClr val="bg1">
                      <a:lumMod val="75000"/>
                    </a:schemeClr>
                  </a:solidFill>
                  <a:latin typeface="Lucida Console" panose="020B0609040504020204" pitchFamily="49" charset="0"/>
                  <a:cs typeface="Times New Roman" panose="02020603050405020304" pitchFamily="18" charset="0"/>
                </a:rPr>
                <a:t>&gt;&gt;&gt;</a:t>
              </a:r>
            </a:p>
          </p:txBody>
        </p:sp>
      </p:grpSp>
      <p:sp>
        <p:nvSpPr>
          <p:cNvPr id="22" name="Rectangle 21"/>
          <p:cNvSpPr/>
          <p:nvPr/>
        </p:nvSpPr>
        <p:spPr bwMode="auto">
          <a:xfrm>
            <a:off x="-5598" y="1188382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078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6" presetClass="path" presetSubtype="0" ac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8 4.44444E-6 L -0.0657 -0.41551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44" y="-2078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320894" y="4194928"/>
            <a:ext cx="9416831" cy="266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7030A0"/>
                </a:solidFill>
              </a:rPr>
              <a:t>operator</a:t>
            </a:r>
          </a:p>
          <a:p>
            <a:pPr defTabSz="914400">
              <a:spcBef>
                <a:spcPts val="0"/>
              </a:spcBef>
              <a:buClrTx/>
              <a:buSzPct val="85000"/>
            </a:pPr>
            <a:r>
              <a:rPr lang="en-US" kern="0" dirty="0" err="1"/>
              <a:t>ComparisonOps</a:t>
            </a:r>
            <a:r>
              <a:rPr lang="en-US" kern="0" dirty="0"/>
              <a:t> (</a:t>
            </a:r>
            <a:r>
              <a:rPr lang="en-US" b="1" kern="0" dirty="0" err="1">
                <a:solidFill>
                  <a:srgbClr val="7030A0"/>
                </a:solidFill>
              </a:rPr>
              <a:t>lt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eq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le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ne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ge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LogicOps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not_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or_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and_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xor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UnaryOps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abs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inv</a:t>
            </a:r>
            <a:r>
              <a:rPr lang="en-US" kern="0" dirty="0"/>
              <a:t>,</a:t>
            </a:r>
            <a:r>
              <a:rPr lang="en-US" b="1" kern="0" dirty="0"/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neg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truth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BinaryOps</a:t>
            </a:r>
            <a:r>
              <a:rPr lang="en-US" kern="0" dirty="0"/>
              <a:t>(</a:t>
            </a:r>
            <a:r>
              <a:rPr lang="en-US" b="1" kern="0" dirty="0" err="1">
                <a:solidFill>
                  <a:srgbClr val="7030A0"/>
                </a:solidFill>
              </a:rPr>
              <a:t>concat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add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sub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mul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mod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truediv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pow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ContainerOps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contains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index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indexOf</a:t>
            </a:r>
            <a:r>
              <a:rPr lang="en-US" kern="0" dirty="0">
                <a:solidFill>
                  <a:srgbClr val="7030A0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countOf</a:t>
            </a:r>
            <a:r>
              <a:rPr lang="en-US" kern="0" dirty="0"/>
              <a:t>)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-5250" y="-7"/>
            <a:ext cx="9737725" cy="1698178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-5250" y="-7"/>
            <a:ext cx="9737725" cy="164750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range(9)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35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map(</a:t>
            </a:r>
            <a:r>
              <a:rPr lang="en-US" altLang="en-US" sz="24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str,range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(9)))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'012345678'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solidFill>
                  <a:srgbClr val="9933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sum(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range(9)</a:t>
            </a:r>
            <a:r>
              <a:rPr lang="en-US" altLang="en-US" sz="2400" dirty="0">
                <a:solidFill>
                  <a:srgbClr val="99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3276272" y="1260057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02530" y="1246562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auto">
          <a:xfrm>
            <a:off x="-5598" y="1188382"/>
            <a:ext cx="857840" cy="491834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2392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20894" y="4194928"/>
            <a:ext cx="9416831" cy="266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7030A0"/>
                </a:solidFill>
              </a:rPr>
              <a:t>operator</a:t>
            </a:r>
          </a:p>
          <a:p>
            <a:pPr defTabSz="914400">
              <a:spcBef>
                <a:spcPts val="0"/>
              </a:spcBef>
              <a:buClrTx/>
              <a:buSzPct val="85000"/>
            </a:pPr>
            <a:r>
              <a:rPr lang="en-US" kern="0" dirty="0" err="1"/>
              <a:t>ComparisonOps</a:t>
            </a:r>
            <a:r>
              <a:rPr lang="en-US" kern="0" dirty="0"/>
              <a:t> (</a:t>
            </a:r>
            <a:r>
              <a:rPr lang="en-US" b="1" kern="0" dirty="0" err="1">
                <a:solidFill>
                  <a:srgbClr val="7030A0"/>
                </a:solidFill>
              </a:rPr>
              <a:t>lt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eq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le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ne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ge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LogicOps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not_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or_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and_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00B05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xor</a:t>
            </a:r>
            <a:r>
              <a:rPr lang="en-US" kern="0" dirty="0"/>
              <a:t>) 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UnaryOps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abs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inv</a:t>
            </a:r>
            <a:r>
              <a:rPr lang="en-US" kern="0" dirty="0"/>
              <a:t>,</a:t>
            </a:r>
            <a:r>
              <a:rPr lang="en-US" b="1" kern="0" dirty="0"/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neg</a:t>
            </a:r>
            <a:r>
              <a:rPr lang="en-US" kern="0" dirty="0">
                <a:solidFill>
                  <a:schemeClr val="tx1"/>
                </a:solidFill>
              </a:rPr>
              <a:t>, </a:t>
            </a:r>
            <a:r>
              <a:rPr lang="en-US" b="1" kern="0" dirty="0">
                <a:solidFill>
                  <a:srgbClr val="7030A0"/>
                </a:solidFill>
              </a:rPr>
              <a:t>truth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BinaryOps</a:t>
            </a:r>
            <a:r>
              <a:rPr lang="en-US" kern="0" dirty="0"/>
              <a:t>(</a:t>
            </a:r>
            <a:r>
              <a:rPr lang="en-US" b="1" kern="0" dirty="0" err="1">
                <a:solidFill>
                  <a:srgbClr val="7030A0"/>
                </a:solidFill>
              </a:rPr>
              <a:t>concat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add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sub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mul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mod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truediv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pow</a:t>
            </a:r>
            <a:r>
              <a:rPr lang="en-US" kern="0" dirty="0"/>
              <a:t>)</a:t>
            </a:r>
          </a:p>
          <a:p>
            <a:pPr defTabSz="914400">
              <a:spcBef>
                <a:spcPts val="400"/>
              </a:spcBef>
              <a:buClrTx/>
              <a:buSzPct val="85000"/>
            </a:pPr>
            <a:r>
              <a:rPr lang="en-US" kern="0" dirty="0" err="1"/>
              <a:t>ContainerOps</a:t>
            </a:r>
            <a:r>
              <a:rPr lang="en-US" kern="0" dirty="0"/>
              <a:t>(</a:t>
            </a:r>
            <a:r>
              <a:rPr lang="en-US" b="1" kern="0" dirty="0">
                <a:solidFill>
                  <a:srgbClr val="7030A0"/>
                </a:solidFill>
              </a:rPr>
              <a:t>contains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>
                <a:solidFill>
                  <a:srgbClr val="7030A0"/>
                </a:solidFill>
              </a:rPr>
              <a:t>index</a:t>
            </a:r>
            <a:r>
              <a:rPr lang="en-US" kern="0" dirty="0">
                <a:solidFill>
                  <a:schemeClr val="tx1"/>
                </a:solidFill>
              </a:rPr>
              <a:t>,</a:t>
            </a:r>
            <a:r>
              <a:rPr lang="en-US" kern="0" dirty="0">
                <a:solidFill>
                  <a:srgbClr val="7030A0"/>
                </a:solidFill>
              </a:rPr>
              <a:t> </a:t>
            </a:r>
            <a:r>
              <a:rPr lang="en-US" b="1" kern="0" dirty="0" err="1">
                <a:solidFill>
                  <a:srgbClr val="7030A0"/>
                </a:solidFill>
              </a:rPr>
              <a:t>indexOf</a:t>
            </a:r>
            <a:r>
              <a:rPr lang="en-US" kern="0" dirty="0">
                <a:solidFill>
                  <a:srgbClr val="7030A0"/>
                </a:solidFill>
              </a:rPr>
              <a:t>, </a:t>
            </a:r>
            <a:r>
              <a:rPr lang="en-US" b="1" kern="0" dirty="0" err="1">
                <a:solidFill>
                  <a:srgbClr val="7030A0"/>
                </a:solidFill>
              </a:rPr>
              <a:t>countOf</a:t>
            </a:r>
            <a:r>
              <a:rPr lang="en-US" kern="0" dirty="0"/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3554233" y="5983357"/>
            <a:ext cx="794977" cy="49244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sz="2600" b="1" u="sng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</a:t>
            </a:r>
            <a:endParaRPr 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305894" y="5983357"/>
            <a:ext cx="1240388" cy="492443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sz="2600" b="1" u="sng" kern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concat</a:t>
            </a:r>
            <a:endParaRPr 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C000"/>
                </a:solidFill>
              </a:rPr>
              <a:t>itertools</a:t>
            </a:r>
            <a:endParaRPr lang="en-US" sz="3000" b="1" dirty="0">
              <a:solidFill>
                <a:srgbClr val="FFC000"/>
              </a:solidFill>
            </a:endParaRPr>
          </a:p>
          <a:p>
            <a:pPr>
              <a:spcBef>
                <a:spcPts val="0"/>
              </a:spcBef>
              <a:buClrTx/>
              <a:buSzPct val="85000"/>
            </a:pPr>
            <a:r>
              <a:rPr lang="en-US" dirty="0"/>
              <a:t>infinite(</a:t>
            </a:r>
            <a:r>
              <a:rPr lang="en-US" b="1" dirty="0">
                <a:solidFill>
                  <a:srgbClr val="FFC000"/>
                </a:solidFill>
              </a:rPr>
              <a:t>count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cycle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repeat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variationsOnBuiltins</a:t>
            </a:r>
            <a:r>
              <a:rPr lang="en-US" dirty="0"/>
              <a:t>(slice: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islice</a:t>
            </a:r>
            <a:r>
              <a:rPr lang="en-US" dirty="0"/>
              <a:t>, zip: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zip_longest</a:t>
            </a:r>
            <a:r>
              <a:rPr lang="en-US" dirty="0"/>
              <a:t>,</a:t>
            </a:r>
          </a:p>
          <a:p>
            <a:pPr marL="0" indent="3373438">
              <a:spcBef>
                <a:spcPts val="0"/>
              </a:spcBef>
              <a:buClrTx/>
              <a:buSzPct val="85000"/>
              <a:buNone/>
            </a:pPr>
            <a:r>
              <a:rPr lang="en-US" dirty="0"/>
              <a:t>map: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starmap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filter: </a:t>
            </a:r>
            <a:r>
              <a:rPr lang="en-US" b="1" dirty="0" err="1">
                <a:solidFill>
                  <a:srgbClr val="FFC000"/>
                </a:solidFill>
              </a:rPr>
              <a:t>filterfalse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makesSmaller</a:t>
            </a:r>
            <a:r>
              <a:rPr lang="en-US" dirty="0"/>
              <a:t>(</a:t>
            </a:r>
            <a:r>
              <a:rPr lang="en-US" b="1" dirty="0">
                <a:solidFill>
                  <a:srgbClr val="FFC000"/>
                </a:solidFill>
              </a:rPr>
              <a:t>compress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dropwhile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C000"/>
                </a:solidFill>
              </a:rPr>
              <a:t>takewhile</a:t>
            </a:r>
            <a:r>
              <a:rPr lang="en-US" dirty="0"/>
              <a:t>)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 err="1"/>
              <a:t>makesMultiple</a:t>
            </a:r>
            <a:r>
              <a:rPr lang="en-US" dirty="0"/>
              <a:t>(</a:t>
            </a:r>
            <a:r>
              <a:rPr lang="en-US" b="1" dirty="0" err="1">
                <a:solidFill>
                  <a:srgbClr val="FFC000"/>
                </a:solidFill>
              </a:rPr>
              <a:t>groupby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tee</a:t>
            </a:r>
            <a:r>
              <a:rPr lang="en-US" dirty="0"/>
              <a:t>) </a:t>
            </a:r>
          </a:p>
          <a:p>
            <a:pPr>
              <a:spcBef>
                <a:spcPts val="400"/>
              </a:spcBef>
              <a:buClrTx/>
              <a:buSzPct val="85000"/>
            </a:pPr>
            <a:r>
              <a:rPr lang="en-US" dirty="0"/>
              <a:t>combines(</a:t>
            </a:r>
            <a:r>
              <a:rPr lang="en-US" b="1" dirty="0">
                <a:solidFill>
                  <a:srgbClr val="FFC000"/>
                </a:solidFill>
              </a:rPr>
              <a:t>combinations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permutations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product</a:t>
            </a:r>
            <a:r>
              <a:rPr lang="en-US" dirty="0"/>
              <a:t>, </a:t>
            </a:r>
            <a:r>
              <a:rPr lang="en-US" b="1" dirty="0">
                <a:solidFill>
                  <a:srgbClr val="FFC000"/>
                </a:solidFill>
              </a:rPr>
              <a:t>chain</a:t>
            </a:r>
            <a:r>
              <a:rPr lang="en-US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50"/>
                </a:solidFill>
              </a:rPr>
              <a:t>functools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reduce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partial</a:t>
            </a:r>
            <a:r>
              <a:rPr lang="en-US" dirty="0"/>
              <a:t>, </a:t>
            </a:r>
            <a:r>
              <a:rPr lang="en-US" b="1" dirty="0" err="1">
                <a:solidFill>
                  <a:srgbClr val="00B050"/>
                </a:solidFill>
              </a:rPr>
              <a:t>partialmethod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-5250" y="-6"/>
            <a:ext cx="9737725" cy="190396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-5250" y="-7"/>
            <a:ext cx="9737725" cy="2231393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-5250" y="-8"/>
            <a:ext cx="9737725" cy="2532441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-5250" y="-8"/>
            <a:ext cx="9737725" cy="285594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-5250" y="-9"/>
            <a:ext cx="9737725" cy="3219197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-5250" y="-9"/>
            <a:ext cx="9737725" cy="3519823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-5250" y="-9"/>
            <a:ext cx="9737725" cy="3820447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-5250" y="-9"/>
            <a:ext cx="9737725" cy="4146124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-5250" y="-10"/>
            <a:ext cx="9737725" cy="4434223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-5250" y="-9"/>
            <a:ext cx="9737725" cy="4722322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-5250" y="-9"/>
            <a:ext cx="9737725" cy="5047998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-5250" y="-10"/>
            <a:ext cx="9737725" cy="5348623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-5250" y="-10"/>
            <a:ext cx="9737725" cy="5649247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-5250" y="-9"/>
            <a:ext cx="9737725" cy="5962398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-5250" y="-10"/>
            <a:ext cx="9737725" cy="6275549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-5250" y="-10"/>
            <a:ext cx="9737725" cy="6626277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-5250" y="-10"/>
            <a:ext cx="9737725" cy="6858009"/>
          </a:xfrm>
          <a:prstGeom prst="rect">
            <a:avLst/>
          </a:prstGeom>
          <a:solidFill>
            <a:srgbClr val="F8F8F8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-5250" y="-7"/>
            <a:ext cx="9737725" cy="6858007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range(9)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35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map(</a:t>
            </a:r>
            <a:r>
              <a:rPr lang="en-US" altLang="en-US" sz="24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str,range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(9)))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'012345678'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 </a:t>
            </a:r>
            <a:r>
              <a:rPr lang="en-US" sz="2400" dirty="0">
                <a:solidFill>
                  <a:srgbClr val="9933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sum(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range(9)</a:t>
            </a:r>
            <a:r>
              <a:rPr lang="en-US" altLang="en-US" sz="2400" dirty="0">
                <a:solidFill>
                  <a:srgbClr val="99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35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try: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solidFill>
                  <a:srgbClr val="9933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sum(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</a:t>
            </a:r>
            <a:r>
              <a:rPr lang="en-US" sz="2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a","b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</a:t>
            </a:r>
            <a:r>
              <a:rPr lang="en-US" sz="2400" dirty="0">
                <a:solidFill>
                  <a:srgbClr val="9933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except: print("Can't use sum() on strings")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F8F8F8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7C8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Can't use sum() on strings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import </a:t>
            </a:r>
            <a:r>
              <a:rPr lang="en-US" sz="2400" b="1" dirty="0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operator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as </a:t>
            </a:r>
            <a:r>
              <a:rPr lang="en-US" sz="2400" b="1" dirty="0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op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reduc</a:t>
            </a:r>
            <a:r>
              <a:rPr lang="en-US" sz="2400" spc="-3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lang="en-US" sz="2400" spc="-45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400" b="1" spc="-1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</a:t>
            </a:r>
            <a:r>
              <a:rPr lang="en-US" sz="2400" b="1" spc="-4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p.</a:t>
            </a:r>
            <a:r>
              <a:rPr lang="en-US" sz="2400" b="1" spc="-1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ad</a:t>
            </a:r>
            <a:r>
              <a:rPr lang="en-US" sz="2400" b="1" spc="-3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d</a:t>
            </a:r>
            <a:r>
              <a:rPr lang="en-US" sz="2400" spc="-200" dirty="0" err="1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ma</a:t>
            </a:r>
            <a:r>
              <a:rPr lang="en-US" sz="2400" spc="-2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</a:t>
            </a:r>
            <a:r>
              <a:rPr lang="en-US" sz="2400" spc="-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400" spc="-2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st</a:t>
            </a:r>
            <a:r>
              <a:rPr lang="en-US" sz="2400" spc="-6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</a:t>
            </a:r>
            <a:r>
              <a:rPr lang="en-US" sz="2400" spc="-2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</a:t>
            </a:r>
            <a:r>
              <a:rPr lang="en-US" sz="2400" spc="-1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ang</a:t>
            </a:r>
            <a:r>
              <a:rPr lang="en-US" sz="2400" spc="-2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lang="en-US" sz="2400" spc="-3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(9</a:t>
            </a:r>
            <a:r>
              <a:rPr lang="en-US" sz="2400" spc="-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))</a:t>
            </a:r>
            <a:r>
              <a:rPr lang="en-US" sz="2400" spc="-6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  <a:r>
              <a:rPr lang="en-US" sz="2400" spc="-2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reduc</a:t>
            </a:r>
            <a:r>
              <a:rPr lang="en-US" sz="2400" spc="-3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lang="en-US" sz="2400" spc="-45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400" b="1" spc="-1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</a:t>
            </a:r>
            <a:r>
              <a:rPr lang="en-US" sz="2400" b="1" spc="-4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p.</a:t>
            </a:r>
            <a:r>
              <a:rPr lang="en-US" sz="2400" b="1" spc="-1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ad</a:t>
            </a:r>
            <a:r>
              <a:rPr lang="en-US" sz="2400" b="1" spc="-3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d</a:t>
            </a:r>
            <a:r>
              <a:rPr lang="en-US" sz="2400" spc="-200" dirty="0" err="1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2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rang</a:t>
            </a:r>
            <a:r>
              <a:rPr lang="en-US" sz="2400" spc="-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lang="en-US" sz="2400" spc="-3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(9</a:t>
            </a:r>
            <a:r>
              <a:rPr lang="en-US" sz="2400" spc="-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  <a:r>
              <a:rPr lang="en-US" sz="2400" spc="-4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400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'012345678</a:t>
            </a:r>
            <a:r>
              <a:rPr lang="en-US" sz="2400" spc="-300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</a:t>
            </a: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</a:t>
            </a:r>
            <a:r>
              <a:rPr lang="en-US" sz="18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35</a:t>
            </a: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reduc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</a:t>
            </a:r>
            <a:r>
              <a:rPr lang="en-US" sz="2400" spc="-3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400" b="1" spc="-1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</a:t>
            </a:r>
            <a:r>
              <a:rPr lang="en-US" sz="2400" b="1" spc="-3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p.</a:t>
            </a:r>
            <a:r>
              <a:rPr lang="en-US" sz="2400" b="1" spc="-1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concat</a:t>
            </a:r>
            <a:r>
              <a:rPr lang="en-US" sz="2400" spc="-1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map(</a:t>
            </a:r>
            <a:r>
              <a:rPr lang="en-US" sz="2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str,range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(9</a:t>
            </a:r>
            <a:r>
              <a:rPr lang="en-US" sz="2400" spc="-1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))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'012345678'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try: 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reduce</a:t>
            </a:r>
            <a:r>
              <a:rPr lang="en-US" sz="2400" spc="-2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</a:t>
            </a:r>
            <a:r>
              <a:rPr lang="en-US" sz="2400" b="1" spc="-200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op.</a:t>
            </a:r>
            <a:r>
              <a:rPr lang="en-US" sz="2400" b="1" dirty="0" err="1">
                <a:solidFill>
                  <a:srgbClr val="FFC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concat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, 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range(9)</a:t>
            </a:r>
            <a:r>
              <a:rPr lang="en-US" sz="2400" dirty="0">
                <a:solidFill>
                  <a:srgbClr val="2D2DB9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except: print("Can't use </a:t>
            </a:r>
            <a:r>
              <a:rPr lang="en-US" sz="24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concat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() on numbers")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F8F8F8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7C8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Can't use </a:t>
            </a:r>
            <a:r>
              <a:rPr lang="en-US" sz="2400" dirty="0" err="1">
                <a:solidFill>
                  <a:srgbClr val="FF7C8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concat</a:t>
            </a:r>
            <a:r>
              <a:rPr lang="en-US" sz="2400" dirty="0">
                <a:solidFill>
                  <a:srgbClr val="FF7C8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() on numbers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8F8F8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"".join(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map(</a:t>
            </a:r>
            <a:r>
              <a:rPr lang="en-US" sz="2400" dirty="0" err="1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str,range</a:t>
            </a:r>
            <a:r>
              <a:rPr lang="en-US" sz="2400" dirty="0">
                <a:solidFill>
                  <a:srgbClr val="A173F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(9))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)</a:t>
            </a:r>
            <a:r>
              <a:rPr lang="en-US" sz="2400" dirty="0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 #BTW, this also </a:t>
            </a:r>
            <a:r>
              <a:rPr lang="en-US" sz="2400" dirty="0" err="1"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worx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B050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'012345678'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F8F8F8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-5249" y="-7"/>
            <a:ext cx="769338" cy="6858007"/>
          </a:xfrm>
          <a:prstGeom prst="rect">
            <a:avLst/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9933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400" dirty="0">
              <a:solidFill>
                <a:srgbClr val="993300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FF7C80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400" b="1" dirty="0">
              <a:solidFill>
                <a:srgbClr val="FFC000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400" spc="-400" dirty="0">
              <a:solidFill>
                <a:srgbClr val="2D2DB9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BFBFBF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400" dirty="0">
              <a:solidFill>
                <a:srgbClr val="2D2DB9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B050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400" dirty="0">
              <a:solidFill>
                <a:srgbClr val="2D2DB9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...</a:t>
            </a: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FF7C80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  <a:endParaRPr lang="en-US" sz="2400" dirty="0"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B050"/>
              </a:solidFill>
              <a:latin typeface="Lucida Console" panose="020B0609040504020204" pitchFamily="49" charset="0"/>
              <a:ea typeface="Tahoma" panose="020B0604030504040204" pitchFamily="34" charset="0"/>
              <a:cs typeface="Lucida Sans Unicode" panose="020B0602030504020204" pitchFamily="34" charset="0"/>
            </a:endParaRPr>
          </a:p>
          <a:p>
            <a:pPr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BFBFBF"/>
                </a:solidFill>
                <a:latin typeface="Lucida Console" panose="020B0609040504020204" pitchFamily="49" charset="0"/>
                <a:ea typeface="Tahoma" panose="020B0604030504040204" pitchFamily="34" charset="0"/>
                <a:cs typeface="Lucida Sans Unicode" panose="020B0602030504020204" pitchFamily="34" charset="0"/>
              </a:rPr>
              <a:t>&gt;&gt;&gt;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990254" y="1873831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02530" y="1860336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775186" y="2186981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02530" y="2173486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02530" y="2486636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779392" y="3101379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02530" y="3100410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664537" y="3429000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02530" y="3401034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247014" y="4053355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02530" y="4039860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672805" y="4681643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02530" y="4666160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338860" y="4992805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02530" y="4979310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02530" y="5292460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539275" y="5907203"/>
            <a:ext cx="0" cy="3200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02530" y="5898918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02530" y="6520008"/>
            <a:ext cx="0" cy="3108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49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1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4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9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3" dur="5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9" dur="500"/>
                                        <p:tgtEl>
                                          <p:spTgt spid="1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1" dur="5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4" dur="5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0" dur="500"/>
                                        <p:tgtEl>
                                          <p:spTgt spid="1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3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 rIns="0"/>
          <a:lstStyle/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8FD2"/>
                </a:solidFill>
              </a:rPr>
              <a:t>collections</a:t>
            </a:r>
            <a:r>
              <a:rPr lang="en-US" dirty="0">
                <a:solidFill>
                  <a:schemeClr val="tx1"/>
                </a:solidFill>
              </a:rPr>
              <a:t>  # These extend the 7(or 9) built-in data types</a:t>
            </a: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namedtuple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deque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defaultdict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OrderedDict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Counter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print(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collections.__doc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__)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his module implements spe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cialized c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on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ainer dat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at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ypes providing alte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r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at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ive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</a:t>
            </a:r>
            <a:b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to Python's general purpose built-in containers,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 list, set, and tuple.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namedtuple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	fact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ry fu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ct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ion fo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r creati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g t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u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pl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e su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bclas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s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es with </a:t>
            </a:r>
            <a:r>
              <a:rPr lang="en-US" spc="-30" dirty="0">
                <a:solidFill>
                  <a:schemeClr val="tx1"/>
                </a:solidFill>
                <a:latin typeface="Arial Narrow" panose="020B0606020202030204" pitchFamily="34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amed f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i</a:t>
            </a:r>
            <a:r>
              <a:rPr lang="en-US" spc="-40" dirty="0">
                <a:solidFill>
                  <a:schemeClr val="tx1"/>
                </a:solidFill>
                <a:latin typeface="Arial Narrow" panose="020B0606020202030204" pitchFamily="34" charset="0"/>
              </a:rPr>
              <a:t>eld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s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deque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       	list-like container with fast appends and pops on either end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ChainMap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	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-like class for creating a single view of multiple mappings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>
                <a:solidFill>
                  <a:srgbClr val="FF8FD2"/>
                </a:solidFill>
                <a:latin typeface="Arial Narrow" panose="020B0606020202030204" pitchFamily="34" charset="0"/>
              </a:rPr>
              <a:t>Counter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	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subclass for counting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hashable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objects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OrderedDict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	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subclass that remembers the order entries were added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defaultdict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	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subclass that calls a fact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ry fu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n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ct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io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n to 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ge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 mis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sing v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al</a:t>
            </a:r>
            <a:r>
              <a:rPr lang="en-US" spc="-20" dirty="0">
                <a:solidFill>
                  <a:schemeClr val="tx1"/>
                </a:solidFill>
                <a:latin typeface="Arial Narrow" panose="020B0606020202030204" pitchFamily="34" charset="0"/>
              </a:rPr>
              <a:t>u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es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UserDict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 	wrapper around dictionary objects for easier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subclassing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UserList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  	wrapper around list objects for easier list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subclassing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* </a:t>
            </a:r>
            <a:r>
              <a:rPr lang="en-US" dirty="0" err="1">
                <a:solidFill>
                  <a:srgbClr val="FF8FD2"/>
                </a:solidFill>
                <a:latin typeface="Arial Narrow" panose="020B0606020202030204" pitchFamily="34" charset="0"/>
              </a:rPr>
              <a:t>UserString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 	wrapper around string objects for easier string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subclassing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endParaRPr lang="en-US" sz="1800" b="1" dirty="0">
              <a:solidFill>
                <a:srgbClr val="FF8FD2"/>
              </a:solidFill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b="1" dirty="0">
                <a:solidFill>
                  <a:srgbClr val="FF8FD2"/>
                </a:solidFill>
              </a:rPr>
              <a:t>         </a:t>
            </a:r>
            <a:r>
              <a:rPr lang="en-US" i="1" dirty="0">
                <a:solidFill>
                  <a:srgbClr val="FF8FD2"/>
                </a:solidFill>
                <a:hlinkClick r:id="rId2"/>
              </a:rPr>
              <a:t>https://docs.python.org/3/library/collections.html</a:t>
            </a:r>
            <a:r>
              <a:rPr lang="en-US" i="1" dirty="0">
                <a:solidFill>
                  <a:srgbClr val="FF8FD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995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 rIns="0"/>
          <a:lstStyle/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8FD2"/>
                </a:solidFill>
              </a:rPr>
              <a:t>collections</a:t>
            </a:r>
            <a:r>
              <a:rPr lang="en-US" dirty="0">
                <a:solidFill>
                  <a:schemeClr val="tx1"/>
                </a:solidFill>
              </a:rPr>
              <a:t>  # These extend the 7(or 9) built-in data types</a:t>
            </a: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namedtuple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deque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defaultdict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OrderedDict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Counter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0000"/>
                </a:solidFill>
              </a:rPr>
              <a:t>bisect</a:t>
            </a:r>
            <a:r>
              <a:rPr lang="en-US" dirty="0">
                <a:solidFill>
                  <a:srgbClr val="000000"/>
                </a:solidFill>
              </a:rPr>
              <a:t>  # Optimizes handling of sorted lists </a:t>
            </a:r>
            <a:endParaRPr lang="en-US" sz="3000" b="1" dirty="0">
              <a:solidFill>
                <a:srgbClr val="FF0000"/>
              </a:solidFill>
            </a:endParaRP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FF0000"/>
                </a:solidFill>
              </a:rPr>
              <a:t>bisect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insort</a:t>
            </a:r>
            <a:endParaRPr lang="en-US" b="1" dirty="0">
              <a:solidFill>
                <a:srgbClr val="FF0000"/>
              </a:solidFill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import bisect as 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bs</a:t>
            </a:r>
            <a:endParaRPr lang="en-US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print(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bs.bisect.__doc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__[:294]+".\n")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bisect_right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(a, x[, lo[, hi]]) -&gt; index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6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Return the index where to insert item x in list a, assuming a is sorted.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6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The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is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such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that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all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e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  <a:r>
              <a:rPr lang="en-US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: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] ha</a:t>
            </a:r>
            <a:r>
              <a:rPr lang="en-US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ve e</a:t>
            </a:r>
            <a:r>
              <a:rPr lang="en-US" sz="18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z="20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&lt;</a:t>
            </a:r>
            <a:r>
              <a:rPr lang="en-US" sz="24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=</a:t>
            </a:r>
            <a:r>
              <a:rPr lang="en-US" sz="16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x,</a:t>
            </a:r>
            <a:r>
              <a:rPr lang="en-US" sz="20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and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all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e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a[</a:t>
            </a:r>
            <a:r>
              <a:rPr lang="en-US" spc="-50" dirty="0" err="1">
                <a:solidFill>
                  <a:srgbClr val="000000"/>
                </a:solidFill>
                <a:latin typeface="Arial Narrow" panose="020B0606020202030204" pitchFamily="34" charset="0"/>
              </a:rPr>
              <a:t>i</a:t>
            </a:r>
            <a:r>
              <a:rPr lang="en-US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:] have e</a:t>
            </a:r>
            <a:r>
              <a:rPr lang="en-US" sz="16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z="20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&gt;</a:t>
            </a:r>
            <a:r>
              <a:rPr lang="en-US" sz="1400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.  So if x is already in the list, 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points just beyond the rightmost x already there.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6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print(bs.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insort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.__doc__[:163])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insort_right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(a, x[, lo[, hi]])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6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Insert item x in list a, and keep it sorted assuming a is sorted.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6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If x is already in a, insert it to the right of the rightmost x.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20894" y="0"/>
            <a:ext cx="782349" cy="5098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5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FF8FD2"/>
                </a:solidFill>
              </a:rPr>
              <a:t> </a:t>
            </a:r>
            <a:r>
              <a:rPr lang="en-US" kern="0" dirty="0">
                <a:solidFill>
                  <a:schemeClr val="tx1"/>
                </a:solidFill>
              </a:rPr>
              <a:t> </a:t>
            </a:r>
          </a:p>
          <a:p>
            <a:pPr marL="0" indent="0" defTabSz="91440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r>
              <a:rPr lang="en-US" b="1" kern="0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</a:p>
          <a:p>
            <a:pPr marL="0" indent="0" defTabSz="914400">
              <a:lnSpc>
                <a:spcPct val="95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3000" b="1" kern="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000000"/>
                </a:solidFill>
              </a:rPr>
              <a:t> </a:t>
            </a:r>
            <a:endParaRPr lang="en-US" sz="3000" b="1" kern="0" dirty="0">
              <a:solidFill>
                <a:srgbClr val="FF0000"/>
              </a:solidFill>
            </a:endParaRPr>
          </a:p>
          <a:p>
            <a:pPr marL="0" indent="0" defTabSz="914400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  <a:buNone/>
            </a:pPr>
            <a:endParaRPr lang="en-US" b="1" kern="0" dirty="0">
              <a:solidFill>
                <a:srgbClr val="FF0000"/>
              </a:solidFill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r>
              <a:rPr lang="en-US" kern="0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sz="1600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sz="1600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endParaRPr lang="en-US" sz="1600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85000"/>
              <a:buFont typeface="Wingdings" pitchFamily="2" charset="2"/>
              <a:buNone/>
            </a:pPr>
            <a:r>
              <a:rPr lang="en-US" kern="0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endParaRPr lang="en-US" kern="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36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 rIns="0"/>
          <a:lstStyle/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8FD2"/>
                </a:solidFill>
              </a:rPr>
              <a:t>collections</a:t>
            </a:r>
            <a:r>
              <a:rPr lang="en-US" dirty="0">
                <a:solidFill>
                  <a:schemeClr val="tx1"/>
                </a:solidFill>
              </a:rPr>
              <a:t>  # These extend the 7(or 9) built-in data types</a:t>
            </a: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namedtuple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deque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defaultdict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OrderedDict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Counter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0000"/>
                </a:solidFill>
              </a:rPr>
              <a:t>bisect</a:t>
            </a:r>
            <a:r>
              <a:rPr lang="en-US" dirty="0">
                <a:solidFill>
                  <a:srgbClr val="000000"/>
                </a:solidFill>
              </a:rPr>
              <a:t>  # Optimizes handling of sorted lists </a:t>
            </a:r>
            <a:endParaRPr lang="en-US" sz="3000" b="1" dirty="0">
              <a:solidFill>
                <a:srgbClr val="FF0000"/>
              </a:solidFill>
            </a:endParaRP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FF0000"/>
                </a:solidFill>
              </a:rPr>
              <a:t>bisect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insort</a:t>
            </a:r>
            <a:endParaRPr lang="en-US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spc="-60" dirty="0">
                <a:solidFill>
                  <a:srgbClr val="2D2DB9"/>
                </a:solidFill>
              </a:rPr>
              <a:t>c</a:t>
            </a:r>
            <a:r>
              <a:rPr lang="en-US" sz="3000" b="1" spc="-110" dirty="0">
                <a:solidFill>
                  <a:srgbClr val="2D2DB9"/>
                </a:solidFill>
              </a:rPr>
              <a:t>op</a:t>
            </a:r>
            <a:r>
              <a:rPr lang="en-US" sz="3000" b="1" spc="-60" dirty="0">
                <a:solidFill>
                  <a:srgbClr val="2D2DB9"/>
                </a:solidFill>
              </a:rPr>
              <a:t>y</a:t>
            </a:r>
            <a:r>
              <a:rPr lang="en-US" sz="24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#shallow</a:t>
            </a:r>
            <a:r>
              <a:rPr lang="en-US" sz="24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vs</a:t>
            </a:r>
            <a:r>
              <a:rPr lang="en-US" sz="24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deep-copy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=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Do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contained items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get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duplicated?</a:t>
            </a:r>
            <a:endParaRPr lang="en-US" sz="3000" b="1" dirty="0">
              <a:solidFill>
                <a:srgbClr val="2D2DB9"/>
              </a:solidFill>
            </a:endParaRPr>
          </a:p>
          <a:p>
            <a:pPr lvl="0">
              <a:lnSpc>
                <a:spcPct val="95000"/>
              </a:lnSpc>
              <a:spcBef>
                <a:spcPts val="0"/>
              </a:spcBef>
              <a:buClr>
                <a:srgbClr val="000000"/>
              </a:buClr>
              <a:buSzPct val="85000"/>
            </a:pPr>
            <a:r>
              <a:rPr lang="en-US" b="1" dirty="0">
                <a:solidFill>
                  <a:srgbClr val="2D2DB9"/>
                </a:solidFill>
              </a:rPr>
              <a:t>copy</a:t>
            </a:r>
            <a:r>
              <a:rPr lang="en-US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2D2DB9"/>
                </a:solidFill>
              </a:rPr>
              <a:t> </a:t>
            </a:r>
            <a:r>
              <a:rPr lang="en-US" b="1" dirty="0" err="1">
                <a:solidFill>
                  <a:srgbClr val="2D2DB9"/>
                </a:solidFill>
              </a:rPr>
              <a:t>deepcopy</a:t>
            </a:r>
            <a:endParaRPr lang="en-US" b="1" dirty="0">
              <a:solidFill>
                <a:srgbClr val="2D2DB9"/>
              </a:solidFill>
            </a:endParaRP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import copy as 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cp</a:t>
            </a:r>
            <a:endParaRPr lang="en-US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A6A6A6"/>
                </a:solidFill>
                <a:latin typeface="Arial Narrow" panose="020B0606020202030204" pitchFamily="34" charset="0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print(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cp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.__doc__[48:67]+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cp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.__doc__[89:204]+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cp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.__doc__[255:698])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Interface summary: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       x = 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copy.copy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(y)        # make a shallow copy of y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       x = </a:t>
            </a:r>
            <a:r>
              <a:rPr lang="en-US" dirty="0" err="1">
                <a:solidFill>
                  <a:srgbClr val="000000"/>
                </a:solidFill>
                <a:latin typeface="Arial Narrow" panose="020B0606020202030204" pitchFamily="34" charset="0"/>
              </a:rPr>
              <a:t>copy.deepcopy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(y)    # make a deep copy of y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4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The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difference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between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shallow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and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deep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copying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is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only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relevant for</a:t>
            </a:r>
            <a:r>
              <a:rPr lang="en-US" sz="2000" spc="-2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spc="-50" dirty="0">
                <a:solidFill>
                  <a:srgbClr val="000000"/>
                </a:solidFill>
                <a:latin typeface="Arial Narrow" panose="020B0606020202030204" pitchFamily="34" charset="0"/>
              </a:rPr>
              <a:t>compound</a:t>
            </a: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objects (objects that contain other objects, like lists or class instances).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4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- A shallow copy constructs a new compound object and then (to the extent  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 possible) inserts *the same objects* into it that the original contains.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endParaRPr lang="en-US" sz="14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- A deep copy constructs a new compound object and then, recursively,</a:t>
            </a:r>
          </a:p>
          <a:p>
            <a:pPr marL="0" lvl="0" indent="0">
              <a:lnSpc>
                <a:spcPct val="82000"/>
              </a:lnSpc>
              <a:spcBef>
                <a:spcPts val="0"/>
              </a:spcBef>
              <a:buClr>
                <a:srgbClr val="000000"/>
              </a:buClr>
              <a:buSzPct val="85000"/>
              <a:buNone/>
            </a:pPr>
            <a:r>
              <a:rPr lang="en-US" dirty="0">
                <a:solidFill>
                  <a:srgbClr val="000000"/>
                </a:solidFill>
                <a:latin typeface="Arial Narrow" panose="020B0606020202030204" pitchFamily="34" charset="0"/>
              </a:rPr>
              <a:t>  inserts *copies* into it of the objects found in the original.</a:t>
            </a:r>
          </a:p>
        </p:txBody>
      </p:sp>
    </p:spTree>
    <p:extLst>
      <p:ext uri="{BB962C8B-B14F-4D97-AF65-F5344CB8AC3E}">
        <p14:creationId xmlns:p14="http://schemas.microsoft.com/office/powerpoint/2010/main" val="327051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894" y="0"/>
            <a:ext cx="9416831" cy="6858000"/>
          </a:xfrm>
        </p:spPr>
        <p:txBody>
          <a:bodyPr rIns="0"/>
          <a:lstStyle/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8FD2"/>
                </a:solidFill>
              </a:rPr>
              <a:t>collections</a:t>
            </a:r>
            <a:r>
              <a:rPr lang="en-US" dirty="0">
                <a:solidFill>
                  <a:schemeClr val="tx1"/>
                </a:solidFill>
              </a:rPr>
              <a:t>  # These extend the 7(or 9) built-in data types</a:t>
            </a: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namedtuple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deque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defaultdict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rgbClr val="FF8FD2"/>
                </a:solidFill>
                <a:latin typeface="Arial Narrow" panose="020B0606020202030204" pitchFamily="34" charset="0"/>
              </a:rPr>
              <a:t>OrderedDict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,</a:t>
            </a:r>
            <a:r>
              <a:rPr lang="en-US" b="1" dirty="0">
                <a:solidFill>
                  <a:srgbClr val="FF8FD2"/>
                </a:solidFill>
                <a:latin typeface="Arial Narrow" panose="020B0606020202030204" pitchFamily="34" charset="0"/>
              </a:rPr>
              <a:t> Counter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0000"/>
                </a:solidFill>
              </a:rPr>
              <a:t>bisect</a:t>
            </a:r>
            <a:r>
              <a:rPr lang="en-US" dirty="0">
                <a:solidFill>
                  <a:srgbClr val="000000"/>
                </a:solidFill>
              </a:rPr>
              <a:t>  # Optimizes handling of sorted lists </a:t>
            </a:r>
            <a:endParaRPr lang="en-US" sz="3000" b="1" dirty="0">
              <a:solidFill>
                <a:srgbClr val="FF0000"/>
              </a:solidFill>
            </a:endParaRP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FF0000"/>
                </a:solidFill>
              </a:rPr>
              <a:t>bisect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insort</a:t>
            </a:r>
            <a:endParaRPr lang="en-US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spc="-60" dirty="0">
                <a:solidFill>
                  <a:srgbClr val="2D2DB9"/>
                </a:solidFill>
              </a:rPr>
              <a:t>c</a:t>
            </a:r>
            <a:r>
              <a:rPr lang="en-US" sz="3000" b="1" spc="-110" dirty="0">
                <a:solidFill>
                  <a:srgbClr val="2D2DB9"/>
                </a:solidFill>
              </a:rPr>
              <a:t>op</a:t>
            </a:r>
            <a:r>
              <a:rPr lang="en-US" sz="3000" b="1" spc="-60" dirty="0">
                <a:solidFill>
                  <a:srgbClr val="2D2DB9"/>
                </a:solidFill>
              </a:rPr>
              <a:t>y</a:t>
            </a:r>
            <a:r>
              <a:rPr lang="en-US" sz="24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#shallow</a:t>
            </a:r>
            <a:r>
              <a:rPr lang="en-US" sz="24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vs</a:t>
            </a:r>
            <a:r>
              <a:rPr lang="en-US" sz="24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deep-copy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=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Do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contained items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get</a:t>
            </a:r>
            <a:r>
              <a:rPr lang="en-US" sz="2000" spc="-60" dirty="0">
                <a:solidFill>
                  <a:srgbClr val="000000"/>
                </a:solidFill>
              </a:rPr>
              <a:t> </a:t>
            </a:r>
            <a:r>
              <a:rPr lang="en-US" spc="-60" dirty="0">
                <a:solidFill>
                  <a:srgbClr val="000000"/>
                </a:solidFill>
              </a:rPr>
              <a:t>duplicated?</a:t>
            </a:r>
            <a:endParaRPr lang="en-US" sz="3000" b="1" dirty="0">
              <a:solidFill>
                <a:srgbClr val="2D2DB9"/>
              </a:solidFill>
            </a:endParaRPr>
          </a:p>
          <a:p>
            <a:pPr lvl="0">
              <a:lnSpc>
                <a:spcPct val="95000"/>
              </a:lnSpc>
              <a:spcBef>
                <a:spcPts val="0"/>
              </a:spcBef>
              <a:buClr>
                <a:srgbClr val="000000"/>
              </a:buClr>
              <a:buSzPct val="85000"/>
            </a:pPr>
            <a:r>
              <a:rPr lang="en-US" b="1" dirty="0">
                <a:solidFill>
                  <a:srgbClr val="2D2DB9"/>
                </a:solidFill>
              </a:rPr>
              <a:t>copy</a:t>
            </a:r>
            <a:r>
              <a:rPr lang="en-US" dirty="0">
                <a:solidFill>
                  <a:srgbClr val="000000"/>
                </a:solidFill>
              </a:rPr>
              <a:t>,</a:t>
            </a:r>
            <a:r>
              <a:rPr lang="en-US" b="1" dirty="0">
                <a:solidFill>
                  <a:srgbClr val="2D2DB9"/>
                </a:solidFill>
              </a:rPr>
              <a:t> </a:t>
            </a:r>
            <a:r>
              <a:rPr lang="en-US" b="1" dirty="0" err="1">
                <a:solidFill>
                  <a:srgbClr val="2D2DB9"/>
                </a:solidFill>
              </a:rPr>
              <a:t>deepcopy</a:t>
            </a:r>
            <a:endParaRPr lang="en-US" b="1" dirty="0">
              <a:solidFill>
                <a:srgbClr val="2D2DB9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FFAC00"/>
                </a:solidFill>
              </a:rPr>
              <a:t>math</a:t>
            </a:r>
            <a:r>
              <a:rPr lang="en-US" sz="3000" b="1" dirty="0">
                <a:solidFill>
                  <a:srgbClr val="FFC000"/>
                </a:solidFill>
              </a:rPr>
              <a:t> </a:t>
            </a:r>
            <a:r>
              <a:rPr lang="en-US" sz="3000" dirty="0">
                <a:solidFill>
                  <a:schemeClr val="tx1"/>
                </a:solidFill>
              </a:rPr>
              <a:t>/</a:t>
            </a:r>
            <a:r>
              <a:rPr lang="en-US" sz="3000" b="1" dirty="0">
                <a:solidFill>
                  <a:srgbClr val="FFC000"/>
                </a:solidFill>
              </a:rPr>
              <a:t> </a:t>
            </a:r>
            <a:r>
              <a:rPr lang="en-US" sz="3000" b="1" dirty="0" err="1">
                <a:solidFill>
                  <a:srgbClr val="FFEC00"/>
                </a:solidFill>
              </a:rPr>
              <a:t>cmath</a:t>
            </a:r>
            <a:r>
              <a:rPr lang="en-US" b="1" dirty="0">
                <a:solidFill>
                  <a:srgbClr val="FFEC00"/>
                </a:solidFill>
              </a:rPr>
              <a:t> (for complex numbers)</a:t>
            </a:r>
            <a:r>
              <a:rPr lang="en-US" dirty="0">
                <a:solidFill>
                  <a:srgbClr val="000000"/>
                </a:solidFill>
              </a:rPr>
              <a:t>  # All the math </a:t>
            </a:r>
            <a:r>
              <a:rPr lang="en-US" dirty="0" err="1">
                <a:solidFill>
                  <a:srgbClr val="000000"/>
                </a:solidFill>
              </a:rPr>
              <a:t>funcs</a:t>
            </a:r>
            <a:endParaRPr lang="en-US" b="1" dirty="0">
              <a:solidFill>
                <a:srgbClr val="FFEC00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00B050"/>
                </a:solidFill>
              </a:rPr>
              <a:t>random</a:t>
            </a:r>
            <a:r>
              <a:rPr lang="en-US" dirty="0">
                <a:solidFill>
                  <a:srgbClr val="000000"/>
                </a:solidFill>
              </a:rPr>
              <a:t>   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# As we've used in the homework </a:t>
            </a:r>
            <a:endParaRPr lang="en-US" sz="3000" b="1" dirty="0">
              <a:solidFill>
                <a:srgbClr val="00B050"/>
              </a:solidFill>
            </a:endParaRP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50"/>
                </a:solidFill>
              </a:rPr>
              <a:t>random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00B050"/>
                </a:solidFill>
              </a:rPr>
              <a:t> uniform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randint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randrange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00B050"/>
                </a:solidFill>
              </a:rPr>
              <a:t> choice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00B0F0"/>
                </a:solidFill>
              </a:rPr>
              <a:t>importlib</a:t>
            </a:r>
            <a:r>
              <a:rPr lang="en-US" dirty="0">
                <a:solidFill>
                  <a:srgbClr val="000000"/>
                </a:solidFill>
              </a:rPr>
              <a:t>  # See lecture 4, slide 107 </a:t>
            </a:r>
            <a:endParaRPr lang="en-US" sz="3000" b="1" dirty="0">
              <a:solidFill>
                <a:srgbClr val="00B0F0"/>
              </a:solidFill>
            </a:endParaRP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>
                <a:solidFill>
                  <a:srgbClr val="00B0F0"/>
                </a:solidFill>
              </a:rPr>
              <a:t>reload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>
                <a:solidFill>
                  <a:srgbClr val="CC00FF"/>
                </a:solidFill>
              </a:rPr>
              <a:t>keyword</a:t>
            </a:r>
            <a:r>
              <a:rPr lang="en-US" dirty="0">
                <a:solidFill>
                  <a:srgbClr val="000000"/>
                </a:solidFill>
              </a:rPr>
              <a:t>  #Just lists Python's keywords. (We'll use it today…)</a:t>
            </a:r>
            <a:endParaRPr lang="en-US" sz="3000" b="1" dirty="0">
              <a:solidFill>
                <a:srgbClr val="CC00FF"/>
              </a:solidFill>
            </a:endParaRPr>
          </a:p>
          <a:p>
            <a:pPr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SzPct val="85000"/>
            </a:pPr>
            <a:r>
              <a:rPr lang="en-US" b="1" dirty="0" err="1">
                <a:solidFill>
                  <a:srgbClr val="CC00FF"/>
                </a:solidFill>
              </a:rPr>
              <a:t>kwlist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en-US" b="1" dirty="0">
                <a:solidFill>
                  <a:srgbClr val="CC00FF"/>
                </a:solidFill>
              </a:rPr>
              <a:t> </a:t>
            </a:r>
            <a:r>
              <a:rPr lang="en-US" b="1" dirty="0" err="1">
                <a:solidFill>
                  <a:srgbClr val="CC00FF"/>
                </a:solidFill>
              </a:rPr>
              <a:t>iskeyword</a:t>
            </a:r>
            <a:endParaRPr lang="en-US" b="1" dirty="0">
              <a:solidFill>
                <a:srgbClr val="CC00FF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3000" b="1" dirty="0" err="1">
                <a:solidFill>
                  <a:srgbClr val="7030A0"/>
                </a:solidFill>
              </a:rPr>
              <a:t>Numpy</a:t>
            </a:r>
            <a:r>
              <a:rPr lang="en-US" b="1" dirty="0">
                <a:solidFill>
                  <a:srgbClr val="CC00FF"/>
                </a:solidFill>
              </a:rPr>
              <a:t> </a:t>
            </a:r>
            <a:r>
              <a:rPr lang="en-US" dirty="0">
                <a:solidFill>
                  <a:srgbClr val="CC00FF"/>
                </a:solidFill>
                <a:hlinkClick r:id="rId2"/>
              </a:rPr>
              <a:t>https://numpy.org/doc/stable/user/whatisnumpy.html</a:t>
            </a:r>
            <a:r>
              <a:rPr lang="en-US" dirty="0">
                <a:solidFill>
                  <a:srgbClr val="CC00FF"/>
                </a:solidFill>
              </a:rPr>
              <a:t> </a:t>
            </a:r>
            <a:endParaRPr lang="en-US" b="1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5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altLang="zh-TW" sz="4400" kern="0" dirty="0">
                <a:latin typeface="Elephant" panose="02020904090505020303" pitchFamily="18" charset="0"/>
              </a:rPr>
              <a:t>Built-in constants</a:t>
            </a:r>
            <a:endParaRPr lang="en-US" sz="4400" kern="0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3" y="715936"/>
            <a:ext cx="8991600" cy="614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/>
              <a:t>A small number of constants live in the built-in namespace:</a:t>
            </a:r>
            <a:endParaRPr lang="zh-TW" altLang="zh-TW" kern="0" dirty="0">
              <a:solidFill>
                <a:srgbClr val="000000"/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False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false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True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sz="12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true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 </a:t>
            </a:r>
          </a:p>
          <a:p>
            <a:pPr marL="0" indent="0" defTabSz="914360">
              <a:spcBef>
                <a:spcPct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None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11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o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n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l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y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 value of the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NoneType</a:t>
            </a:r>
            <a:r>
              <a:rPr lang="zh-TW" altLang="zh-TW" kern="0" dirty="0"/>
              <a:t>. </a:t>
            </a:r>
            <a:endParaRPr lang="en-US" altLang="zh-TW" kern="0" dirty="0"/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None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 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can be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 used to represent the absence of a value, as 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when no return value is given for a function.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NotImplemented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</a:rPr>
              <a:t>A s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pecial value 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</a:rPr>
              <a:t>that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 should be returned 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by binary special methods</a:t>
            </a:r>
            <a:r>
              <a:rPr lang="en-US" altLang="zh-TW" spc="-20" dirty="0">
                <a:solidFill>
                  <a:srgbClr val="FFFFFF">
                    <a:lumMod val="50000"/>
                  </a:srgbClr>
                </a:solidFill>
              </a:rPr>
              <a:t> 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(e.g.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eq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,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lt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,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add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, etc.)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 to indicate that the operation is not implemented with respect to the other type; 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</a:rPr>
              <a:t>and it 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may be returned by in-place binary special methods (e.g. </a:t>
            </a:r>
            <a:r>
              <a:rPr lang="zh-TW" altLang="zh-TW" dirty="0">
                <a:solidFill>
                  <a:srgbClr val="6363BB"/>
                </a:solidFill>
                <a:cs typeface="Courier New" panose="02070309020205020404" pitchFamily="49" charset="0"/>
              </a:rPr>
              <a:t>__imul__()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, </a:t>
            </a:r>
            <a:r>
              <a:rPr lang="zh-TW" altLang="zh-TW" dirty="0">
                <a:solidFill>
                  <a:srgbClr val="6363BB"/>
                </a:solidFill>
                <a:cs typeface="Courier New" panose="02070309020205020404" pitchFamily="49" charset="0"/>
              </a:rPr>
              <a:t>__iand__()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, etc.).</a:t>
            </a:r>
            <a:endParaRPr lang="zh-TW" altLang="zh-TW" kern="0" dirty="0">
              <a:solidFill>
                <a:srgbClr val="FFFFFF">
                  <a:lumMod val="50000"/>
                </a:srgbClr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0000"/>
                </a:solidFill>
                <a:cs typeface="Courier New" panose="02070309020205020404" pitchFamily="49" charset="0"/>
              </a:rPr>
              <a:t>Ellipsis</a:t>
            </a:r>
            <a:r>
              <a:rPr lang="en-US" altLang="zh-TW" kern="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000000"/>
                </a:solidFill>
              </a:rPr>
              <a:t>A s</a:t>
            </a:r>
            <a:r>
              <a:rPr lang="zh-TW" altLang="zh-TW" kern="0" dirty="0">
                <a:solidFill>
                  <a:srgbClr val="000000"/>
                </a:solidFill>
              </a:rPr>
              <a:t>pecial value used mostly </a:t>
            </a:r>
            <a:r>
              <a:rPr lang="en-US" altLang="zh-TW" kern="0" dirty="0">
                <a:solidFill>
                  <a:srgbClr val="000000"/>
                </a:solidFill>
              </a:rPr>
              <a:t>for</a:t>
            </a:r>
            <a:r>
              <a:rPr lang="zh-TW" altLang="zh-TW" kern="0" dirty="0">
                <a:solidFill>
                  <a:srgbClr val="000000"/>
                </a:solidFill>
              </a:rPr>
              <a:t> extended slicing </a:t>
            </a:r>
            <a:r>
              <a:rPr lang="en-US" altLang="zh-TW" kern="0" dirty="0">
                <a:solidFill>
                  <a:srgbClr val="000000"/>
                </a:solidFill>
              </a:rPr>
              <a:t>of</a:t>
            </a:r>
            <a:r>
              <a:rPr lang="zh-TW" altLang="zh-TW" kern="0" dirty="0">
                <a:solidFill>
                  <a:srgbClr val="000000"/>
                </a:solidFill>
              </a:rPr>
              <a:t> user-defined container data types.</a:t>
            </a:r>
            <a:r>
              <a:rPr lang="en-US" altLang="zh-TW" kern="0" dirty="0">
                <a:solidFill>
                  <a:srgbClr val="000000"/>
                </a:solidFill>
              </a:rPr>
              <a:t> It is the same as “</a:t>
            </a:r>
            <a:r>
              <a:rPr lang="en-US" altLang="zh-TW" b="1" kern="0" dirty="0">
                <a:solidFill>
                  <a:srgbClr val="2D2DB9"/>
                </a:solidFill>
              </a:rPr>
              <a:t>…</a:t>
            </a:r>
            <a:r>
              <a:rPr lang="en-US" altLang="zh-TW" kern="0" dirty="0">
                <a:solidFill>
                  <a:srgbClr val="000000"/>
                </a:solidFill>
              </a:rPr>
              <a:t>”.</a:t>
            </a:r>
            <a:endParaRPr lang="zh-TW" altLang="zh-TW" kern="0" dirty="0">
              <a:solidFill>
                <a:srgbClr val="000000"/>
              </a:solidFill>
            </a:endParaRP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439564" y="459509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10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58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658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990600"/>
          </a:xfrm>
        </p:spPr>
        <p:txBody>
          <a:bodyPr/>
          <a:lstStyle/>
          <a:p>
            <a:r>
              <a:rPr lang="en-US" altLang="zh-TW" sz="4400" dirty="0">
                <a:latin typeface="Elephant" panose="02020904090505020303" pitchFamily="18" charset="0"/>
              </a:rPr>
              <a:t>A brief explanation of </a:t>
            </a:r>
            <a:r>
              <a:rPr lang="en-US" altLang="zh-TW" sz="4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ellipses</a:t>
            </a:r>
            <a:endParaRPr lang="zh-TW" altLang="en-US" sz="40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3063" y="960131"/>
            <a:ext cx="9287216" cy="60506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3148" dirty="0">
                <a:latin typeface="+mn-ea"/>
                <a:ea typeface="+mn-ea"/>
                <a:cs typeface="Courier New" panose="02070309020205020404" pitchFamily="49" charset="0"/>
              </a:rPr>
              <a:t>Ellipsis (or </a:t>
            </a:r>
            <a:r>
              <a:rPr lang="en-US" altLang="zh-TW" sz="3148" dirty="0">
                <a:solidFill>
                  <a:srgbClr val="FF0000"/>
                </a:solidFill>
                <a:latin typeface="+mn-ea"/>
                <a:ea typeface="+mn-ea"/>
                <a:cs typeface="Courier New" panose="02070309020205020404" pitchFamily="49" charset="0"/>
              </a:rPr>
              <a:t>…</a:t>
            </a:r>
            <a:r>
              <a:rPr lang="en-US" altLang="zh-TW" sz="3148" dirty="0">
                <a:latin typeface="+mn-ea"/>
                <a:ea typeface="+mn-ea"/>
                <a:cs typeface="Courier New" panose="02070309020205020404" pitchFamily="49" charset="0"/>
              </a:rPr>
              <a:t>) can appear in </a:t>
            </a:r>
            <a:r>
              <a:rPr lang="en-US" altLang="zh-TW" sz="3148" i="1" dirty="0">
                <a:latin typeface="+mn-ea"/>
                <a:ea typeface="+mn-ea"/>
                <a:cs typeface="Courier New" panose="02070309020205020404" pitchFamily="49" charset="0"/>
              </a:rPr>
              <a:t>some</a:t>
            </a:r>
            <a:r>
              <a:rPr lang="en-US" altLang="zh-TW" sz="3148" dirty="0">
                <a:latin typeface="+mn-ea"/>
                <a:ea typeface="+mn-ea"/>
                <a:cs typeface="Courier New" panose="02070309020205020404" pitchFamily="49" charset="0"/>
              </a:rPr>
              <a:t> slice notations. 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2963" dirty="0">
                <a:latin typeface="+mn-ea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TW" sz="2963" dirty="0" err="1">
                <a:latin typeface="+mn-ea"/>
                <a:ea typeface="+mn-ea"/>
                <a:cs typeface="Courier New" panose="02070309020205020404" pitchFamily="49" charset="0"/>
              </a:rPr>
              <a:t>Eg</a:t>
            </a:r>
            <a:r>
              <a:rPr lang="en-US" altLang="zh-TW" sz="2963" dirty="0">
                <a:latin typeface="+mn-ea"/>
                <a:ea typeface="+mn-ea"/>
                <a:cs typeface="Courier New" panose="02070309020205020404" pitchFamily="49" charset="0"/>
              </a:rPr>
              <a:t>: 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&gt;&gt;&gt;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z=</a:t>
            </a:r>
            <a:r>
              <a:rPr lang="en-US" altLang="zh-TW" dirty="0" err="1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myUnusualObject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[1:2,</a:t>
            </a:r>
            <a:r>
              <a:rPr lang="en-US" altLang="zh-TW" sz="2000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lang="en-US" altLang="zh-TW" sz="2000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0]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#no</a:t>
            </a:r>
            <a:r>
              <a:rPr lang="en-US" altLang="zh-TW" sz="2000" dirty="0">
                <a:solidFill>
                  <a:srgbClr val="FF6969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crash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r>
              <a:rPr lang="en-US" altLang="zh-TW" dirty="0">
                <a:latin typeface="Lucida Console" panose="020B0609040504020204" pitchFamily="49" charset="0"/>
                <a:cs typeface="Courier New" panose="02070309020205020404" pitchFamily="49" charset="0"/>
              </a:rPr>
              <a:t> z=</a:t>
            </a:r>
            <a:r>
              <a:rPr lang="en-US" altLang="zh-TW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myUnusualObject</a:t>
            </a:r>
            <a:r>
              <a:rPr lang="en-US" altLang="zh-TW" dirty="0">
                <a:latin typeface="Lucida Console" panose="020B0609040504020204" pitchFamily="49" charset="0"/>
                <a:cs typeface="Courier New" panose="02070309020205020404" pitchFamily="49" charset="0"/>
              </a:rPr>
              <a:t>[1:2,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Ellipsis</a:t>
            </a:r>
            <a:r>
              <a:rPr lang="en-US" altLang="zh-TW" dirty="0">
                <a:latin typeface="Lucida Console" panose="020B0609040504020204" pitchFamily="49" charset="0"/>
                <a:cs typeface="Courier New" panose="02070309020205020404" pitchFamily="49" charset="0"/>
              </a:rPr>
              <a:t>,0]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#same</a:t>
            </a:r>
            <a:endParaRPr lang="en-US" altLang="zh-TW" dirty="0">
              <a:solidFill>
                <a:srgbClr val="FF6969"/>
              </a:solidFill>
              <a:latin typeface="Lucida Console" panose="020B06090405040202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&gt;&gt;&gt;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z=[1,2,3,4,5,6]; z[1:2,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, 0]</a:t>
            </a:r>
            <a:r>
              <a:rPr lang="en-US" altLang="zh-TW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#crash</a:t>
            </a:r>
            <a:endParaRPr lang="en-US" altLang="zh-TW" dirty="0">
              <a:solidFill>
                <a:srgbClr val="FF6969"/>
              </a:solidFill>
              <a:latin typeface="Lucida Console" panose="020B06090405040202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TW" dirty="0" err="1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Traceback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(most recent call last):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  File "&lt;</a:t>
            </a:r>
            <a:r>
              <a:rPr lang="en-US" altLang="zh-TW" dirty="0" err="1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stdin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&gt;", line 1, in &lt;module&gt;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TW" dirty="0" err="1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TypeError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list indices must be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integers</a:t>
            </a:r>
            <a:r>
              <a:rPr lang="en-US" altLang="zh-TW" sz="20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or</a:t>
            </a:r>
            <a:b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</a:b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slices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, not tuple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endParaRPr lang="en-US" altLang="zh-TW" dirty="0">
              <a:latin typeface="Lucida Console" panose="020B06090405040202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3333" dirty="0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But what does "…" mean?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3333" dirty="0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How is </a:t>
            </a:r>
            <a:r>
              <a:rPr lang="en-US" altLang="zh-TW" sz="3333" dirty="0" err="1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myUnusualObject</a:t>
            </a:r>
            <a:r>
              <a:rPr lang="en-US" altLang="zh-TW" sz="3333" dirty="0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 different than a list?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endParaRPr lang="zh-TW" altLang="zh-TW" dirty="0">
              <a:latin typeface="+mn-ea"/>
              <a:ea typeface="+mn-ea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372892" y="1912357"/>
            <a:ext cx="1885949" cy="12836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sp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endParaRPr lang="en-US" altLang="zh-TW" kern="0" dirty="0">
              <a:solidFill>
                <a:srgbClr val="FF6969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endParaRPr lang="en-US" altLang="zh-TW" kern="0" dirty="0">
              <a:solidFill>
                <a:srgbClr val="FF6969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endParaRPr lang="zh-TW" altLang="zh-TW" kern="0" dirty="0"/>
          </a:p>
        </p:txBody>
      </p:sp>
    </p:spTree>
    <p:extLst>
      <p:ext uri="{BB962C8B-B14F-4D97-AF65-F5344CB8AC3E}">
        <p14:creationId xmlns:p14="http://schemas.microsoft.com/office/powerpoint/2010/main" val="61711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2" y="-65573"/>
            <a:ext cx="9363716" cy="70245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sp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lnSpc>
                <a:spcPct val="83000"/>
              </a:lnSpc>
              <a:spcBef>
                <a:spcPct val="0"/>
              </a:spcBef>
              <a:spcAft>
                <a:spcPts val="555"/>
              </a:spcAft>
              <a:buClrTx/>
              <a:buFont typeface="Wingdings" pitchFamily="2" charset="2"/>
              <a:buNone/>
            </a:pP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“…” is int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ende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d f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r use 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on m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atrix arr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ay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s i</a:t>
            </a:r>
            <a:r>
              <a:rPr lang="en-US" altLang="zh-TW" sz="2963" b="1" kern="0" spc="-20" dirty="0">
                <a:solidFill>
                  <a:srgbClr val="2D2DB9"/>
                </a:solidFill>
                <a:cs typeface="Courier New" panose="02070309020205020404" pitchFamily="49" charset="0"/>
              </a:rPr>
              <a:t>mpo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rted fr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om</a:t>
            </a:r>
            <a:r>
              <a:rPr lang="en-US" altLang="zh-TW" sz="2592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40" dirty="0" err="1">
                <a:solidFill>
                  <a:srgbClr val="2D2DB9"/>
                </a:solidFill>
                <a:cs typeface="Courier New" panose="02070309020205020404" pitchFamily="49" charset="0"/>
              </a:rPr>
              <a:t>nump</a:t>
            </a:r>
            <a:r>
              <a:rPr lang="en-US" altLang="zh-TW" sz="2963" b="1" kern="0" spc="-370" dirty="0" err="1">
                <a:solidFill>
                  <a:srgbClr val="2D2DB9"/>
                </a:solidFill>
                <a:cs typeface="Courier New" panose="02070309020205020404" pitchFamily="49" charset="0"/>
              </a:rPr>
              <a:t>y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,</a:t>
            </a:r>
            <a:r>
              <a:rPr lang="en-US" altLang="zh-TW" sz="2000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to</a:t>
            </a:r>
            <a:r>
              <a:rPr lang="en-US" altLang="zh-TW" sz="1852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al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l</a:t>
            </a:r>
            <a:r>
              <a:rPr lang="en-US" altLang="zh-TW" sz="2963" b="1" kern="0" spc="-100" dirty="0">
                <a:solidFill>
                  <a:srgbClr val="2D2DB9"/>
                </a:solidFill>
                <a:cs typeface="Courier New" panose="02070309020205020404" pitchFamily="49" charset="0"/>
              </a:rPr>
              <a:t>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w</a:t>
            </a:r>
            <a:r>
              <a:rPr lang="en-US" altLang="zh-TW" sz="2222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slici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n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g</a:t>
            </a:r>
            <a:r>
              <a:rPr lang="en-US" altLang="zh-TW" sz="2400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20" dirty="0">
                <a:solidFill>
                  <a:srgbClr val="2D2DB9"/>
                </a:solidFill>
                <a:cs typeface="Courier New" panose="02070309020205020404" pitchFamily="49" charset="0"/>
              </a:rPr>
              <a:t>in</a:t>
            </a:r>
            <a:r>
              <a:rPr lang="en-US" altLang="zh-TW" sz="2400" b="1" kern="0" spc="-2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50" dirty="0">
                <a:solidFill>
                  <a:srgbClr val="2D2DB9"/>
                </a:solidFill>
                <a:cs typeface="Courier New" panose="02070309020205020404" pitchFamily="49" charset="0"/>
              </a:rPr>
              <a:t>mu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lt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i</a:t>
            </a:r>
            <a:r>
              <a:rPr lang="en-US" altLang="zh-TW" sz="2963" b="1" kern="0" spc="-60" dirty="0">
                <a:solidFill>
                  <a:srgbClr val="2D2DB9"/>
                </a:solidFill>
                <a:cs typeface="Courier New" panose="02070309020205020404" pitchFamily="49" charset="0"/>
              </a:rPr>
              <a:t>pl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e</a:t>
            </a:r>
            <a:r>
              <a:rPr lang="en-US" altLang="zh-TW" sz="2000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dimensi</a:t>
            </a:r>
            <a:r>
              <a:rPr lang="en-US" altLang="zh-TW" sz="2963" b="1" kern="0" spc="-80" dirty="0">
                <a:solidFill>
                  <a:srgbClr val="2D2DB9"/>
                </a:solidFill>
                <a:cs typeface="Courier New" panose="02070309020205020404" pitchFamily="49" charset="0"/>
              </a:rPr>
              <a:t>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n</a:t>
            </a:r>
            <a:r>
              <a:rPr lang="en-US" altLang="zh-TW" sz="2963" b="1" kern="0" spc="-185" dirty="0">
                <a:solidFill>
                  <a:srgbClr val="2D2DB9"/>
                </a:solidFill>
                <a:cs typeface="Courier New" panose="02070309020205020404" pitchFamily="49" charset="0"/>
              </a:rPr>
              <a:t>s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. 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from </a:t>
            </a:r>
            <a:r>
              <a:rPr lang="en-US" altLang="zh-TW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numpy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import array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a=array([[ 1,  2,  3,  4],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 [ 5,  6,  7,  8],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 [ 9, 10, 11, 12],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 [13, 14, 15, 16]])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a[:2,:2]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array([[1, 2],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[5, 6]])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a[:2,</a:t>
            </a:r>
            <a:r>
              <a:rPr lang="en-US" altLang="zh-TW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array([[1, 2, 3, 4],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[5, 6, 7, 8]])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a[:2,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Here it'll work like </a:t>
            </a:r>
            <a:r>
              <a:rPr lang="en-US" altLang="zh-TW" b="1" u="sng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one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"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array([[1, 2, 3, 4],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[5, 6, 7, 8]])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sz="1018" kern="0" dirty="0"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cs typeface="Courier New" panose="02070309020205020404" pitchFamily="49" charset="0"/>
              </a:rPr>
              <a:t>But it isn't always </a:t>
            </a:r>
            <a:r>
              <a:rPr lang="en-US" altLang="zh-TW" u="sng" kern="0" dirty="0">
                <a:cs typeface="Courier New" panose="02070309020205020404" pitchFamily="49" charset="0"/>
              </a:rPr>
              <a:t>one</a:t>
            </a:r>
            <a:r>
              <a:rPr lang="en-US" altLang="zh-TW" kern="0" dirty="0">
                <a:cs typeface="Courier New" panose="02070309020205020404" pitchFamily="49" charset="0"/>
              </a:rPr>
              <a:t>. </a:t>
            </a:r>
            <a:r>
              <a:rPr lang="en-US" altLang="zh-TW" b="1" kern="0" spc="-2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zh-TW" b="1" kern="0" dirty="0">
                <a:solidFill>
                  <a:srgbClr val="00B050"/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cs typeface="Courier New" panose="02070309020205020404" pitchFamily="49" charset="0"/>
              </a:rPr>
              <a:t>takes </a:t>
            </a:r>
            <a:r>
              <a:rPr lang="en-US" altLang="zh-TW" u="sng" kern="0" dirty="0">
                <a:cs typeface="Courier New" panose="02070309020205020404" pitchFamily="49" charset="0"/>
              </a:rPr>
              <a:t>all</a:t>
            </a:r>
            <a:r>
              <a:rPr lang="en-US" altLang="zh-TW" kern="0" dirty="0">
                <a:cs typeface="Courier New" panose="02070309020205020404" pitchFamily="49" charset="0"/>
              </a:rPr>
              <a:t> unspecified dimension</a:t>
            </a:r>
            <a:r>
              <a:rPr lang="en-US" altLang="zh-TW" kern="0" spc="-200" dirty="0">
                <a:cs typeface="Courier New" panose="02070309020205020404" pitchFamily="49" charset="0"/>
              </a:rPr>
              <a:t>s</a:t>
            </a:r>
            <a:r>
              <a:rPr lang="en-US" altLang="zh-TW" kern="0" dirty="0">
                <a:cs typeface="Courier New" panose="02070309020205020404" pitchFamily="49" charset="0"/>
              </a:rPr>
              <a:t>. 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a[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== a[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:,: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for a 3-d array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== 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:,:,: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for a 4-d array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== 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:,:,:,: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</a:t>
            </a:r>
            <a:r>
              <a:rPr lang="en-US" altLang="zh-TW" sz="1100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zh-TW" sz="1100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</a:t>
            </a:r>
            <a:r>
              <a:rPr lang="en-US" altLang="zh-TW" kern="0" spc="-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or a 6-d arra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373062" y="-65573"/>
            <a:ext cx="1009650" cy="702458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lnSpc>
                <a:spcPct val="83000"/>
              </a:lnSpc>
              <a:spcBef>
                <a:spcPct val="0"/>
              </a:spcBef>
              <a:spcAft>
                <a:spcPts val="555"/>
              </a:spcAft>
              <a:buClrTx/>
              <a:buFont typeface="Wingdings" pitchFamily="2" charset="2"/>
              <a:buNone/>
            </a:pPr>
            <a:b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</a:br>
            <a:endParaRPr lang="en-US" altLang="zh-TW" sz="2963" b="1" kern="0" dirty="0">
              <a:solidFill>
                <a:srgbClr val="2D2DB9"/>
              </a:solidFill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sz="1018" kern="0" dirty="0"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b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b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endParaRPr lang="en-US" altLang="zh-TW" kern="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&gt;&gt;&gt;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[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in _ if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Except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Exit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...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Interrupt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Stop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] 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Ellipsis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9335" y="6375657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826732" y="4049571"/>
            <a:ext cx="6266531" cy="1297161"/>
          </a:xfrm>
          <a:prstGeom prst="wedgeRoundRectCallout">
            <a:avLst>
              <a:gd name="adj1" fmla="val -26422"/>
              <a:gd name="adj2" fmla="val 1145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These 5 are all built-in constants.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Let’s now take a look at them…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69982" y="643530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65" y="459510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10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Slide 54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98982" y="1043609"/>
            <a:ext cx="6395225" cy="248354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659" tIns="42330" rIns="84659" bIns="42330" numCol="1" rtlCol="0" anchor="ctr" anchorCtr="0" compatLnSpc="1">
            <a:prstTxWarp prst="textNoShape">
              <a:avLst/>
            </a:prstTxWarp>
          </a:bodyPr>
          <a:lstStyle/>
          <a:p>
            <a:pPr algn="ctr" defTabSz="846552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And so we’ve now</a:t>
            </a:r>
            <a:br>
              <a:rPr lang="en-US" altLang="zh-TW" sz="4800" dirty="0">
                <a:solidFill>
                  <a:prstClr val="black"/>
                </a:solidFill>
                <a:latin typeface="Times New Roman" charset="0"/>
              </a:rPr>
            </a:br>
            <a:r>
              <a:rPr lang="en-US" altLang="zh-TW" sz="4800" spc="200" dirty="0">
                <a:solidFill>
                  <a:prstClr val="black"/>
                </a:solidFill>
                <a:latin typeface="Times New Roman" charset="0"/>
              </a:rPr>
              <a:t>f</a:t>
            </a: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inished </a:t>
            </a:r>
            <a:r>
              <a:rPr lang="en-US" altLang="zh-TW" sz="4800" spc="-300" dirty="0">
                <a:solidFill>
                  <a:prstClr val="black"/>
                </a:solidFill>
                <a:latin typeface="Times New Roman" charset="0"/>
              </a:rPr>
              <a:t>_</a:t>
            </a: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_</a:t>
            </a:r>
            <a:r>
              <a:rPr lang="en-US" altLang="zh-TW" sz="4800" dirty="0" err="1">
                <a:solidFill>
                  <a:prstClr val="black"/>
                </a:solidFill>
                <a:latin typeface="Times New Roman" charset="0"/>
              </a:rPr>
              <a:t>builtins</a:t>
            </a:r>
            <a:r>
              <a:rPr lang="en-US" altLang="zh-TW" sz="4800" spc="-300" dirty="0">
                <a:solidFill>
                  <a:prstClr val="black"/>
                </a:solidFill>
                <a:latin typeface="Times New Roman" charset="0"/>
              </a:rPr>
              <a:t>_</a:t>
            </a: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_.</a:t>
            </a:r>
          </a:p>
          <a:p>
            <a:pPr algn="ctr" defTabSz="846552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 But not those for classes. </a:t>
            </a:r>
          </a:p>
          <a:p>
            <a:pPr algn="ctr" defTabSz="846552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Recall Lecture 9…</a:t>
            </a:r>
            <a:endParaRPr lang="zh-TW" altLang="en-US" sz="4800" dirty="0">
              <a:solidFill>
                <a:prstClr val="black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40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/>
            <a:endParaRPr lang="en-US" altLang="zh-TW" sz="20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44968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438" y="653072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圓角矩形圖說文字 4"/>
          <p:cNvSpPr/>
          <p:nvPr/>
        </p:nvSpPr>
        <p:spPr bwMode="auto">
          <a:xfrm>
            <a:off x="7376160" y="5872480"/>
            <a:ext cx="2361565" cy="985520"/>
          </a:xfrm>
          <a:prstGeom prst="wedgeRoundRectCallout">
            <a:avLst>
              <a:gd name="adj1" fmla="val -158841"/>
              <a:gd name="adj2" fmla="val -5533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These all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involve classes.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7430433" y="459516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#87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8409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1333500"/>
            <a:ext cx="9220200" cy="5524500"/>
          </a:xfrm>
        </p:spPr>
        <p:txBody>
          <a:bodyPr/>
          <a:lstStyle/>
          <a:p>
            <a:pPr marL="285750" indent="-285750">
              <a:buClrTx/>
            </a:pPr>
            <a:r>
              <a:rPr lang="en-US" altLang="zh-TW" sz="2800" dirty="0">
                <a:solidFill>
                  <a:srgbClr val="FF0000"/>
                </a:solidFill>
              </a:rPr>
              <a:t>To claim to “know” a computer language, we ought to:</a:t>
            </a:r>
          </a:p>
          <a:p>
            <a:pPr marL="685800" lvl="1" indent="-342900">
              <a:spcBef>
                <a:spcPts val="12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keywords.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built-in functions.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some imported functions if they are important.</a:t>
            </a:r>
          </a:p>
          <a:p>
            <a:pPr marL="971550" lvl="2"/>
            <a:r>
              <a:rPr lang="en-US" altLang="zh-TW" sz="2800" dirty="0" err="1">
                <a:solidFill>
                  <a:srgbClr val="FF0000"/>
                </a:solidFill>
              </a:rPr>
              <a:t>Eg</a:t>
            </a:r>
            <a:r>
              <a:rPr lang="en-US" altLang="zh-TW" sz="2800" dirty="0">
                <a:solidFill>
                  <a:srgbClr val="FF0000"/>
                </a:solidFill>
              </a:rPr>
              <a:t>, you don’t know C if you don’t know </a:t>
            </a:r>
            <a:r>
              <a:rPr lang="en-US" altLang="zh-TW" sz="2800" dirty="0" err="1">
                <a:solidFill>
                  <a:srgbClr val="FF0000"/>
                </a:solidFill>
              </a:rPr>
              <a:t>printf</a:t>
            </a:r>
            <a:r>
              <a:rPr lang="en-US" altLang="zh-TW" sz="2800" dirty="0">
                <a:solidFill>
                  <a:srgbClr val="FF0000"/>
                </a:solidFill>
              </a:rPr>
              <a:t>.</a:t>
            </a:r>
          </a:p>
          <a:p>
            <a:pPr marL="1371600" lvl="3" indent="-342900"/>
            <a:r>
              <a:rPr lang="en-US" altLang="zh-TW" sz="2800" dirty="0">
                <a:solidFill>
                  <a:srgbClr val="FF0000"/>
                </a:solidFill>
              </a:rPr>
              <a:t>But you have to #include &lt;</a:t>
            </a:r>
            <a:r>
              <a:rPr lang="en-US" altLang="zh-TW" sz="2800" dirty="0" err="1">
                <a:solidFill>
                  <a:srgbClr val="FF0000"/>
                </a:solidFill>
              </a:rPr>
              <a:t>stdio.h</a:t>
            </a:r>
            <a:r>
              <a:rPr lang="en-US" altLang="zh-TW" sz="2800" dirty="0">
                <a:solidFill>
                  <a:srgbClr val="FF0000"/>
                </a:solidFill>
              </a:rPr>
              <a:t>&gt; to use </a:t>
            </a:r>
            <a:r>
              <a:rPr lang="en-US" altLang="zh-TW" sz="2800" dirty="0" err="1">
                <a:solidFill>
                  <a:srgbClr val="FF0000"/>
                </a:solidFill>
              </a:rPr>
              <a:t>printf</a:t>
            </a:r>
            <a:r>
              <a:rPr lang="en-US" altLang="zh-TW" sz="2800" dirty="0">
                <a:solidFill>
                  <a:srgbClr val="FF0000"/>
                </a:solidFill>
              </a:rPr>
              <a:t>.</a:t>
            </a:r>
          </a:p>
          <a:p>
            <a:pPr marL="971550" lvl="2"/>
            <a:r>
              <a:rPr lang="en-US" altLang="zh-TW" sz="2800" dirty="0">
                <a:solidFill>
                  <a:srgbClr val="FF0000"/>
                </a:solidFill>
              </a:rPr>
              <a:t>For Python, some important modules are:</a:t>
            </a:r>
          </a:p>
          <a:p>
            <a:pPr marL="1371600" lvl="3" indent="-342900"/>
            <a:r>
              <a:rPr lang="en-US" altLang="zh-TW" sz="2800" dirty="0" err="1">
                <a:solidFill>
                  <a:srgbClr val="FF0000"/>
                </a:solidFill>
              </a:rPr>
              <a:t>itertools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functools</a:t>
            </a:r>
            <a:r>
              <a:rPr lang="en-US" altLang="zh-TW" sz="2800" dirty="0">
                <a:solidFill>
                  <a:srgbClr val="FF0000"/>
                </a:solidFill>
              </a:rPr>
              <a:t>, operators, </a:t>
            </a:r>
          </a:p>
          <a:p>
            <a:pPr marL="1371600" lvl="3" indent="-342900">
              <a:spcBef>
                <a:spcPts val="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FF0000"/>
                </a:solidFill>
              </a:rPr>
              <a:t>collections, bisect, copy, math, random, </a:t>
            </a:r>
            <a:r>
              <a:rPr lang="en-US" altLang="zh-TW" sz="2800" dirty="0" err="1">
                <a:solidFill>
                  <a:srgbClr val="FF0000"/>
                </a:solidFill>
              </a:rPr>
              <a:t>Numpy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</a:p>
          <a:p>
            <a:pPr marL="1371600" lvl="3" indent="-342900">
              <a:spcBef>
                <a:spcPts val="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FF3F3F"/>
                </a:solidFill>
              </a:rPr>
              <a:t>re, </a:t>
            </a:r>
            <a:r>
              <a:rPr lang="en-US" altLang="zh-TW" sz="2800" dirty="0" err="1">
                <a:solidFill>
                  <a:srgbClr val="FF3F3F"/>
                </a:solidFill>
              </a:rPr>
              <a:t>os</a:t>
            </a:r>
            <a:r>
              <a:rPr lang="en-US" altLang="zh-TW" sz="2800" dirty="0">
                <a:solidFill>
                  <a:srgbClr val="FF3F3F"/>
                </a:solidFill>
              </a:rPr>
              <a:t>, sys, pickle, </a:t>
            </a:r>
            <a:r>
              <a:rPr lang="en-US" altLang="zh-TW" sz="2800" dirty="0" err="1">
                <a:solidFill>
                  <a:srgbClr val="FF3F3F"/>
                </a:solidFill>
              </a:rPr>
              <a:t>abc</a:t>
            </a:r>
            <a:r>
              <a:rPr lang="en-US" altLang="zh-TW" sz="2800" dirty="0">
                <a:solidFill>
                  <a:srgbClr val="FF3F3F"/>
                </a:solidFill>
              </a:rPr>
              <a:t>, numbers, </a:t>
            </a:r>
            <a:r>
              <a:rPr lang="en-US" altLang="zh-TW" sz="2800" dirty="0" err="1">
                <a:solidFill>
                  <a:srgbClr val="FF3F3F"/>
                </a:solidFill>
              </a:rPr>
              <a:t>dataclasses</a:t>
            </a:r>
            <a:r>
              <a:rPr lang="en-US" altLang="zh-TW" sz="2800" dirty="0">
                <a:solidFill>
                  <a:srgbClr val="FF3F3F"/>
                </a:solidFill>
              </a:rPr>
              <a:t>...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30262" y="1143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>
              <a:lnSpc>
                <a:spcPct val="85000"/>
              </a:lnSpc>
            </a:pPr>
            <a:r>
              <a:rPr lang="en-US" altLang="zh-TW" sz="4400" kern="0" dirty="0">
                <a:latin typeface="Elephant" panose="02020904090505020303" pitchFamily="18" charset="0"/>
              </a:rPr>
              <a:t>Let’s get some perspective on what we’ve been doing…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796141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1333500"/>
            <a:ext cx="9220200" cy="5524500"/>
          </a:xfrm>
        </p:spPr>
        <p:txBody>
          <a:bodyPr/>
          <a:lstStyle/>
          <a:p>
            <a:pPr marL="285750" indent="-285750">
              <a:buClrTx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To claim to “know” a computer language, we ought to:</a:t>
            </a:r>
          </a:p>
          <a:p>
            <a:pPr marL="685800" lvl="1" indent="-342900">
              <a:spcBef>
                <a:spcPts val="12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keywords.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Know all of the built-in functions.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Know some imported functions if they are important.</a:t>
            </a:r>
          </a:p>
          <a:p>
            <a:pPr marL="971550" lvl="2"/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Eg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you don’t know C if you don’t know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printf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1371600" lvl="3" indent="-342900"/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But you have to #include &lt;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stdio.h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&gt; to use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printf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971550" lvl="2"/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For Python, some important modules are:</a:t>
            </a:r>
          </a:p>
          <a:p>
            <a:pPr marL="1371600" lvl="3" indent="-342900"/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itertools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functools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operators, </a:t>
            </a:r>
          </a:p>
          <a:p>
            <a:pPr marL="1371600" lvl="3" indent="-342900">
              <a:spcBef>
                <a:spcPts val="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collections, bisect, copy, math, random,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Numpy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</a:t>
            </a:r>
          </a:p>
          <a:p>
            <a:pPr marL="1371600" lvl="3" indent="-342900">
              <a:spcBef>
                <a:spcPts val="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re,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os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sys, pickle,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abc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numbers,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dataclasses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...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30262" y="1143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>
              <a:lnSpc>
                <a:spcPct val="85000"/>
              </a:lnSpc>
            </a:pPr>
            <a:r>
              <a:rPr lang="en-US" altLang="zh-TW" sz="4400" kern="0">
                <a:latin typeface="Elephant" panose="02020904090505020303" pitchFamily="18" charset="0"/>
              </a:rPr>
              <a:t>Let’s get some perspective on what we’ve been doing…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2068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r>
              <a:rPr lang="en-US" altLang="zh-TW" sz="4400" dirty="0">
                <a:latin typeface="Elephant" panose="02020904090505020303" pitchFamily="18" charset="0"/>
              </a:rPr>
              <a:t>What are the Python keywords?</a:t>
            </a:r>
            <a:endParaRPr lang="zh-TW" altLang="en-US" sz="44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['False', 'None', 'True', 'and', 'as', 'assert', 'break', 'class', 'continue', 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800" dirty="0">
              <a:latin typeface="Arial Narrow" panose="020B0606020202030204" pitchFamily="34" charset="0"/>
            </a:endParaRPr>
          </a:p>
        </p:txBody>
      </p:sp>
      <p:sp>
        <p:nvSpPr>
          <p:cNvPr id="6" name="Rounded Rectangular Callout 6"/>
          <p:cNvSpPr/>
          <p:nvPr/>
        </p:nvSpPr>
        <p:spPr bwMode="auto">
          <a:xfrm>
            <a:off x="4487862" y="6172200"/>
            <a:ext cx="4876800" cy="685800"/>
          </a:xfrm>
          <a:prstGeom prst="wedgeRoundRectCallout">
            <a:avLst>
              <a:gd name="adj1" fmla="val -64875"/>
              <a:gd name="adj2" fmla="val -44556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We know all these, right?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16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['False', 'None', 'True', 'and', 'as', 'assert', 'break',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'class'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 'continue',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'else', 'except', 'finally', 'for', 'from', '</a:t>
            </a:r>
            <a:r>
              <a:rPr lang="en-US" altLang="zh-TW" sz="2800" dirty="0">
                <a:solidFill>
                  <a:srgbClr val="D9D9D9"/>
                </a:solidFill>
                <a:latin typeface="Lucida Console" panose="020B0609040504020204" pitchFamily="49" charset="0"/>
              </a:rPr>
              <a:t>global', 'if', 'import', 'in', 'is',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'lambda', 'nonlocal', 'not', 'or', 'pass', 'raise', 'return', 'try', 'while', 'with', 'yield']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8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ular Callout 6"/>
          <p:cNvSpPr/>
          <p:nvPr/>
        </p:nvSpPr>
        <p:spPr bwMode="auto">
          <a:xfrm>
            <a:off x="433220" y="5657850"/>
            <a:ext cx="4191000" cy="1123950"/>
          </a:xfrm>
          <a:prstGeom prst="wedgeRoundRectCallout">
            <a:avLst>
              <a:gd name="adj1" fmla="val 64410"/>
              <a:gd name="adj2" fmla="val -31722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Well actually, we don’t know this one yet.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dirty="0">
                <a:latin typeface="Elephant" panose="02020904090505020303" pitchFamily="18" charset="0"/>
              </a:rPr>
              <a:t>What are the Python keywords?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24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['False', 'None', 'True', 'and', 'as', 'assert', 'break',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'class'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 'continue',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8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ular Callout 6"/>
          <p:cNvSpPr/>
          <p:nvPr/>
        </p:nvSpPr>
        <p:spPr bwMode="auto">
          <a:xfrm>
            <a:off x="433220" y="5257800"/>
            <a:ext cx="6797842" cy="1524000"/>
          </a:xfrm>
          <a:prstGeom prst="wedgeRoundRectCallout">
            <a:avLst>
              <a:gd name="adj1" fmla="val 22283"/>
              <a:gd name="adj2" fmla="val -21951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The class keyword behaves like the </a:t>
            </a:r>
            <a:r>
              <a:rPr lang="en-US" altLang="zh-TW" sz="3200" dirty="0" err="1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def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keyword, except for classes instead of functions. Let’s see an example…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dirty="0">
                <a:latin typeface="Elephant" panose="02020904090505020303" pitchFamily="18" charset="0"/>
              </a:rPr>
              <a:t>What are the Python keywords?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4242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Here is a simple class definition: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758952"/>
            <a:ext cx="8458200" cy="54102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800" dirty="0">
                <a:latin typeface="Lucida Console" panose="020B0609040504020204" pitchFamily="49" charset="0"/>
              </a:rPr>
              <a:t>   """A simple class"""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greet(self):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("Good afternoon.")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latin typeface="Lucida Console" panose="020B0609040504020204" pitchFamily="49" charset="0"/>
              </a:rPr>
              <a:t> = </a:t>
            </a:r>
            <a:r>
              <a:rPr lang="en-US" altLang="en-US" sz="2800" dirty="0" err="1"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latin typeface="Lucida Console" panose="020B0609040504020204" pitchFamily="49" charset="0"/>
              </a:rPr>
              <a:t>inst.greet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endParaRPr lang="en-US" altLang="en-US" sz="11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/>
              <a:t>When you define a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800" dirty="0"/>
              <a:t>, you provide:</a:t>
            </a:r>
          </a:p>
          <a:p>
            <a:pPr lvl="1" eaLnBrk="1" hangingPunct="1"/>
            <a:r>
              <a:rPr lang="en-US" altLang="en-US" dirty="0"/>
              <a:t>A class name (begin with capital letter, by convention)  </a:t>
            </a:r>
          </a:p>
          <a:p>
            <a:pPr lvl="1" eaLnBrk="1" hangingPunct="1"/>
            <a:r>
              <a:rPr lang="en-US" altLang="en-US" dirty="0"/>
              <a:t>An argument list</a:t>
            </a:r>
          </a:p>
          <a:p>
            <a:pPr marL="457200" lvl="1" indent="0" eaLnBrk="1" hangingPunct="1"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545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r>
              <a:rPr lang="en-US" altLang="zh-TW" sz="4400" dirty="0">
                <a:solidFill>
                  <a:srgbClr val="FF0000"/>
                </a:solidFill>
                <a:latin typeface="Elephant" panose="02020904090505020303" pitchFamily="18" charset="0"/>
              </a:rPr>
              <a:t>So we know all the keywords now</a:t>
            </a:r>
            <a:endParaRPr lang="zh-TW" altLang="en-US" sz="4400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['False', 'None', 'True', 'and', 'as', 'assert', 'break', 'class', 'continue',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72821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37724" cy="762000"/>
          </a:xfrm>
        </p:spPr>
        <p:txBody>
          <a:bodyPr/>
          <a:lstStyle/>
          <a:p>
            <a:r>
              <a:rPr lang="en-US" altLang="zh-TW" sz="4400" dirty="0">
                <a:solidFill>
                  <a:srgbClr val="FF0000"/>
                </a:solidFill>
                <a:latin typeface="Elephant" panose="02020904090505020303" pitchFamily="18" charset="0"/>
              </a:rPr>
              <a:t>And we know all the </a:t>
            </a:r>
            <a:r>
              <a:rPr lang="en-US" altLang="zh-TW" sz="4400" dirty="0" err="1">
                <a:solidFill>
                  <a:srgbClr val="FF0000"/>
                </a:solidFill>
                <a:latin typeface="Elephant" panose="02020904090505020303" pitchFamily="18" charset="0"/>
              </a:rPr>
              <a:t>builtins</a:t>
            </a:r>
            <a:r>
              <a:rPr lang="en-US" altLang="zh-TW" sz="4400" dirty="0">
                <a:solidFill>
                  <a:srgbClr val="FF0000"/>
                </a:solidFill>
                <a:latin typeface="Elephant" panose="02020904090505020303" pitchFamily="18" charset="0"/>
              </a:rPr>
              <a:t> now</a:t>
            </a:r>
            <a:endParaRPr lang="zh-TW" altLang="en-US" sz="4400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__) if (not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i.islower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() and "Error"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and "Warn"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and 'Ex'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and '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ter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'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 or (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i.islower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() and '_'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)]                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['Ellipsis', 'False', 'None',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NotImplemented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'True', '_', 'abs', 'all', 'any',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ascii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'bin', 'bool',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bytearray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'bytes', 'callable',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chr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classmethod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'compile', 'complex', 'copyright', 'credits',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delattr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dict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dir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divmod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'enumerate',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eval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'exec', 'exit', 'filter', 'float', 'format',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frozenset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getattr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globals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hasattr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'hash', 'help', 'hex', 'id', 'input',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int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isinstance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issubclass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iter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len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'license', 'list', 'locals', 'map', 'max',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memoryview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'min', 'next', 'object',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oct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'open',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ord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'pow', 'print', 'property', 'quit', 'range',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repr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'reversed', 'round', 'set',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setattr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'slice', 'sorted',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staticmethod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str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'sum', 'super', 'tuple', 'type',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vars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'zip']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altLang="zh-TW" sz="2400" dirty="0">
              <a:latin typeface="Arial Narrow" panose="020B0606020202030204" pitchFamily="34" charset="0"/>
            </a:endParaRPr>
          </a:p>
        </p:txBody>
      </p:sp>
      <p:sp>
        <p:nvSpPr>
          <p:cNvPr id="4" name="Rounded Rectangular Callout 6"/>
          <p:cNvSpPr/>
          <p:nvPr/>
        </p:nvSpPr>
        <p:spPr bwMode="auto">
          <a:xfrm>
            <a:off x="1782762" y="2362200"/>
            <a:ext cx="5562600" cy="1295400"/>
          </a:xfrm>
          <a:prstGeom prst="wedgeRoundRectCallout">
            <a:avLst>
              <a:gd name="adj1" fmla="val 125"/>
              <a:gd name="adj2" fmla="val -18615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But not really </a:t>
            </a:r>
            <a:r>
              <a:rPr lang="en-US" altLang="zh-TW" sz="3200" b="1" i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all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, because we skipped the ones for classes… 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06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1333500"/>
            <a:ext cx="9220200" cy="5524500"/>
          </a:xfrm>
        </p:spPr>
        <p:txBody>
          <a:bodyPr/>
          <a:lstStyle/>
          <a:p>
            <a:pPr marL="285750" indent="-285750">
              <a:buClrTx/>
            </a:pPr>
            <a:r>
              <a:rPr lang="en-US" altLang="zh-TW" sz="2800" dirty="0">
                <a:solidFill>
                  <a:schemeClr val="tx1"/>
                </a:solidFill>
              </a:rPr>
              <a:t>To claim to “know” a computer language, we ought to:</a:t>
            </a:r>
          </a:p>
          <a:p>
            <a:pPr marL="685800" lvl="1" indent="-342900">
              <a:spcBef>
                <a:spcPts val="1200"/>
              </a:spcBef>
            </a:pPr>
            <a:r>
              <a:rPr lang="en-US" altLang="zh-TW" sz="2800" dirty="0">
                <a:solidFill>
                  <a:schemeClr val="tx1"/>
                </a:solidFill>
              </a:rPr>
              <a:t>Know all of the keywords.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built-in functions.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chemeClr val="tx1"/>
                </a:solidFill>
              </a:rPr>
              <a:t>Know some imported functions if they are important.</a:t>
            </a:r>
          </a:p>
          <a:p>
            <a:pPr marL="971550" lvl="2"/>
            <a:r>
              <a:rPr lang="en-US" altLang="zh-TW" sz="2800" dirty="0" err="1">
                <a:solidFill>
                  <a:schemeClr val="tx1"/>
                </a:solidFill>
              </a:rPr>
              <a:t>Eg</a:t>
            </a:r>
            <a:r>
              <a:rPr lang="en-US" altLang="zh-TW" sz="2800" dirty="0">
                <a:solidFill>
                  <a:schemeClr val="tx1"/>
                </a:solidFill>
              </a:rPr>
              <a:t>, you don’t know C if you don’t know </a:t>
            </a:r>
            <a:r>
              <a:rPr lang="en-US" altLang="zh-TW" sz="2800" dirty="0" err="1">
                <a:solidFill>
                  <a:schemeClr val="tx1"/>
                </a:solidFill>
              </a:rPr>
              <a:t>printf</a:t>
            </a:r>
            <a:r>
              <a:rPr lang="en-US" altLang="zh-TW" sz="2800" dirty="0">
                <a:solidFill>
                  <a:schemeClr val="tx1"/>
                </a:solidFill>
              </a:rPr>
              <a:t>.</a:t>
            </a:r>
          </a:p>
          <a:p>
            <a:pPr marL="1371600" lvl="3" indent="-342900"/>
            <a:r>
              <a:rPr lang="en-US" altLang="zh-TW" sz="2800" dirty="0">
                <a:solidFill>
                  <a:schemeClr val="tx1"/>
                </a:solidFill>
              </a:rPr>
              <a:t>But you have to #include &lt;</a:t>
            </a:r>
            <a:r>
              <a:rPr lang="en-US" altLang="zh-TW" sz="2800" dirty="0" err="1">
                <a:solidFill>
                  <a:schemeClr val="tx1"/>
                </a:solidFill>
              </a:rPr>
              <a:t>stdio.h</a:t>
            </a:r>
            <a:r>
              <a:rPr lang="en-US" altLang="zh-TW" sz="2800" dirty="0">
                <a:solidFill>
                  <a:schemeClr val="tx1"/>
                </a:solidFill>
              </a:rPr>
              <a:t>&gt; to use </a:t>
            </a:r>
            <a:r>
              <a:rPr lang="en-US" altLang="zh-TW" sz="2800" dirty="0" err="1">
                <a:solidFill>
                  <a:schemeClr val="tx1"/>
                </a:solidFill>
              </a:rPr>
              <a:t>printf</a:t>
            </a:r>
            <a:r>
              <a:rPr lang="en-US" altLang="zh-TW" sz="2800" dirty="0">
                <a:solidFill>
                  <a:schemeClr val="tx1"/>
                </a:solidFill>
              </a:rPr>
              <a:t>.</a:t>
            </a:r>
          </a:p>
          <a:p>
            <a:pPr marL="971550" lvl="2"/>
            <a:r>
              <a:rPr lang="en-US" altLang="zh-TW" sz="2800" dirty="0">
                <a:solidFill>
                  <a:schemeClr val="tx1"/>
                </a:solidFill>
              </a:rPr>
              <a:t>For Python, some important modules are:</a:t>
            </a:r>
          </a:p>
          <a:p>
            <a:pPr marL="1371600" lvl="3" indent="-342900"/>
            <a:r>
              <a:rPr lang="en-US" altLang="zh-TW" sz="2800" dirty="0" err="1">
                <a:solidFill>
                  <a:schemeClr val="tx1"/>
                </a:solidFill>
              </a:rPr>
              <a:t>itertools</a:t>
            </a:r>
            <a:r>
              <a:rPr lang="en-US" altLang="zh-TW" sz="2800" dirty="0">
                <a:solidFill>
                  <a:schemeClr val="tx1"/>
                </a:solidFill>
              </a:rPr>
              <a:t>, </a:t>
            </a:r>
            <a:r>
              <a:rPr lang="en-US" altLang="zh-TW" sz="2800" dirty="0" err="1">
                <a:solidFill>
                  <a:schemeClr val="tx1"/>
                </a:solidFill>
              </a:rPr>
              <a:t>functools</a:t>
            </a:r>
            <a:r>
              <a:rPr lang="en-US" altLang="zh-TW" sz="2800" dirty="0">
                <a:solidFill>
                  <a:schemeClr val="tx1"/>
                </a:solidFill>
              </a:rPr>
              <a:t>, operators, </a:t>
            </a:r>
          </a:p>
          <a:p>
            <a:pPr marL="1371600" lvl="3" indent="-342900">
              <a:spcBef>
                <a:spcPts val="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chemeClr val="tx1"/>
                </a:solidFill>
              </a:rPr>
              <a:t>collections, bisect, copy, math, random, </a:t>
            </a:r>
            <a:r>
              <a:rPr lang="en-US" altLang="zh-TW" sz="2800" dirty="0" err="1">
                <a:solidFill>
                  <a:schemeClr val="tx1"/>
                </a:solidFill>
              </a:rPr>
              <a:t>Numpy</a:t>
            </a:r>
            <a:r>
              <a:rPr lang="en-US" altLang="zh-TW" sz="2800" dirty="0">
                <a:solidFill>
                  <a:schemeClr val="tx1"/>
                </a:solidFill>
              </a:rPr>
              <a:t>, </a:t>
            </a:r>
          </a:p>
          <a:p>
            <a:pPr marL="1371600" lvl="3" indent="-342900">
              <a:spcBef>
                <a:spcPts val="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  <a:t>re, </a:t>
            </a:r>
            <a:r>
              <a:rPr lang="en-US" altLang="zh-TW" sz="2800" dirty="0" err="1">
                <a:solidFill>
                  <a:schemeClr val="bg1">
                    <a:lumMod val="50000"/>
                  </a:schemeClr>
                </a:solidFill>
              </a:rPr>
              <a:t>os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  <a:t>, sys, pickle, </a:t>
            </a:r>
            <a:r>
              <a:rPr lang="en-US" altLang="zh-TW" sz="2800" dirty="0" err="1">
                <a:solidFill>
                  <a:schemeClr val="bg1">
                    <a:lumMod val="50000"/>
                  </a:schemeClr>
                </a:solidFill>
              </a:rPr>
              <a:t>abc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  <a:t>, numbers, </a:t>
            </a:r>
            <a:r>
              <a:rPr lang="en-US" altLang="zh-TW" sz="2800" dirty="0" err="1">
                <a:solidFill>
                  <a:schemeClr val="bg1">
                    <a:lumMod val="50000"/>
                  </a:schemeClr>
                </a:solidFill>
              </a:rPr>
              <a:t>dataclasses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</a:rPr>
              <a:t>...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30262" y="1143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>
              <a:lnSpc>
                <a:spcPct val="85000"/>
              </a:lnSpc>
            </a:pPr>
            <a:r>
              <a:rPr lang="en-US" altLang="zh-TW" sz="4400" kern="0" dirty="0">
                <a:latin typeface="Elephant" panose="02020904090505020303" pitchFamily="18" charset="0"/>
              </a:rPr>
              <a:t>So we know all of this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30978"/>
      </p:ext>
    </p:extLst>
  </p:cSld>
  <p:clrMapOvr>
    <a:masterClrMapping/>
  </p:clrMapOvr>
  <p:transition spd="med">
    <p:pull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830262" y="2343150"/>
            <a:ext cx="8077200" cy="451485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Information hiding (</a:t>
            </a:r>
            <a:r>
              <a:rPr lang="zh-TW" altLang="en-US" sz="3200" dirty="0"/>
              <a:t>資訊隱藏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Abstraction (</a:t>
            </a:r>
            <a:r>
              <a:rPr lang="zh-TW" altLang="en-US" sz="3200" dirty="0"/>
              <a:t>資料抽象化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3200" dirty="0"/>
              <a:t>封裝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Modularity (</a:t>
            </a:r>
            <a:r>
              <a:rPr lang="zh-TW" altLang="en-US" sz="3200" dirty="0"/>
              <a:t>模組化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3200" dirty="0"/>
              <a:t>多型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Inheritance (</a:t>
            </a:r>
            <a:r>
              <a:rPr lang="zh-TW" altLang="en-US" sz="3200" dirty="0"/>
              <a:t>繼承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-1" y="381000"/>
            <a:ext cx="973772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</a:t>
            </a:r>
            <a:r>
              <a:rPr lang="en-US" altLang="en-US" sz="4000" dirty="0">
                <a:latin typeface="Elephant" panose="02020904090505020303" pitchFamily="18" charset="0"/>
              </a:rPr>
              <a:t> </a:t>
            </a:r>
            <a:r>
              <a:rPr lang="en-US" altLang="en-US" sz="4400" dirty="0">
                <a:latin typeface="Elephant" panose="02020904090505020303" pitchFamily="18" charset="0"/>
              </a:rPr>
              <a:t>Concepts of Object-Oriented Programming (OOP)</a:t>
            </a:r>
            <a:br>
              <a:rPr lang="en-US" altLang="en-US" sz="4400" dirty="0">
                <a:latin typeface="Elephant" panose="02020904090505020303" pitchFamily="18" charset="0"/>
              </a:rPr>
            </a:br>
            <a:r>
              <a:rPr lang="en-US" altLang="en-US" sz="4400" dirty="0">
                <a:latin typeface="Elephant" panose="02020904090505020303" pitchFamily="18" charset="0"/>
              </a:rPr>
              <a:t>(</a:t>
            </a:r>
            <a:r>
              <a:rPr lang="zh-TW" altLang="en-US" sz="4000" dirty="0"/>
              <a:t>物件導向</a:t>
            </a:r>
            <a:r>
              <a:rPr lang="en-US" altLang="en-US" sz="4400" dirty="0">
                <a:latin typeface="Elephant" panose="02020904090505020303" pitchFamily="18" charset="0"/>
              </a:rPr>
              <a:t>)</a:t>
            </a:r>
            <a:endParaRPr lang="en-US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865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eaLnBrk="1" hangingPunct="1"/>
            <a:r>
              <a:rPr lang="en-US" altLang="en-US" sz="4400" spc="-270" dirty="0">
                <a:latin typeface="Elephant" panose="02020904090505020303" pitchFamily="18" charset="0"/>
              </a:rPr>
              <a:t>O</a:t>
            </a:r>
            <a:r>
              <a:rPr lang="en-US" altLang="en-US" sz="4400" spc="-200" dirty="0">
                <a:latin typeface="Elephant" panose="02020904090505020303" pitchFamily="18" charset="0"/>
              </a:rPr>
              <a:t>bject</a:t>
            </a:r>
            <a:r>
              <a:rPr lang="en-US" altLang="en-US" sz="4000" spc="-200" dirty="0">
                <a:latin typeface="Elephant" panose="02020904090505020303" pitchFamily="18" charset="0"/>
              </a:rPr>
              <a:t> </a:t>
            </a:r>
            <a:r>
              <a:rPr lang="en-US" altLang="en-US" sz="4400" spc="-200" dirty="0">
                <a:latin typeface="Elephant" panose="02020904090505020303" pitchFamily="18" charset="0"/>
              </a:rPr>
              <a:t>Oriented</a:t>
            </a:r>
            <a:r>
              <a:rPr lang="en-US" altLang="en-US" sz="4000" spc="-200" dirty="0">
                <a:latin typeface="Elephant" panose="02020904090505020303" pitchFamily="18" charset="0"/>
              </a:rPr>
              <a:t> </a:t>
            </a:r>
            <a:r>
              <a:rPr lang="en-US" altLang="en-US" sz="4400" spc="-200" dirty="0">
                <a:latin typeface="Elephant" panose="02020904090505020303" pitchFamily="18" charset="0"/>
              </a:rPr>
              <a:t>Programming</a:t>
            </a:r>
            <a:r>
              <a:rPr lang="en-US" altLang="en-US" sz="4000" spc="-200" dirty="0">
                <a:latin typeface="Elephant" panose="02020904090505020303" pitchFamily="18" charset="0"/>
              </a:rPr>
              <a:t> </a:t>
            </a:r>
            <a:r>
              <a:rPr lang="en-US" altLang="en-US" sz="4400" b="1" spc="-450" dirty="0">
                <a:latin typeface="Agency FB" panose="020B0503020202020204" pitchFamily="34" charset="0"/>
              </a:rPr>
              <a:t>(</a:t>
            </a:r>
            <a:r>
              <a:rPr lang="en-US" altLang="en-US" sz="4400" spc="-320" dirty="0">
                <a:latin typeface="Elephant" panose="02020904090505020303" pitchFamily="18" charset="0"/>
              </a:rPr>
              <a:t>O</a:t>
            </a:r>
            <a:r>
              <a:rPr lang="en-US" altLang="en-US" sz="4400" spc="-550" dirty="0">
                <a:latin typeface="Elephant" panose="02020904090505020303" pitchFamily="18" charset="0"/>
              </a:rPr>
              <a:t>O</a:t>
            </a:r>
            <a:r>
              <a:rPr lang="en-US" altLang="en-US" sz="4400" spc="-450" dirty="0">
                <a:latin typeface="Elephant" panose="02020904090505020303" pitchFamily="18" charset="0"/>
              </a:rPr>
              <a:t>P</a:t>
            </a:r>
            <a:r>
              <a:rPr lang="en-US" altLang="en-US" sz="4400" b="1" spc="-450" dirty="0">
                <a:latin typeface="Agency FB" panose="020B0503020202020204" pitchFamily="34" charset="0"/>
              </a:rPr>
              <a:t>)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296862" y="838200"/>
            <a:ext cx="9144000" cy="601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solidFill>
                  <a:schemeClr val="tx1"/>
                </a:solidFill>
              </a:rPr>
              <a:t>Object-oriented programming is a programming model focused on:</a:t>
            </a:r>
          </a:p>
          <a:p>
            <a:pPr marL="685800" lvl="1" indent="-342900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The idea of abstract </a:t>
            </a:r>
            <a:r>
              <a:rPr lang="en-US" altLang="en-US" sz="3200" b="1" i="1" dirty="0">
                <a:solidFill>
                  <a:srgbClr val="006600"/>
                </a:solidFill>
              </a:rPr>
              <a:t>objects</a:t>
            </a:r>
            <a:r>
              <a:rPr lang="en-US" altLang="en-US" sz="3200" b="1" dirty="0">
                <a:solidFill>
                  <a:srgbClr val="006600"/>
                </a:solidFill>
              </a:rPr>
              <a:t> </a:t>
            </a:r>
            <a:br>
              <a:rPr lang="en-US" altLang="en-US" sz="3200" dirty="0">
                <a:solidFill>
                  <a:schemeClr val="tx1"/>
                </a:solidFill>
              </a:rPr>
            </a:br>
            <a:r>
              <a:rPr lang="en-US" altLang="en-US" sz="3200" dirty="0">
                <a:solidFill>
                  <a:schemeClr val="tx1"/>
                </a:solidFill>
              </a:rPr>
              <a:t>(Rather than the details of what data structures are used to create those objects) </a:t>
            </a:r>
          </a:p>
          <a:p>
            <a:pPr marL="685800" lvl="1" indent="-342900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ja-JP" sz="3200" b="1" dirty="0">
                <a:solidFill>
                  <a:srgbClr val="006600"/>
                </a:solidFill>
              </a:rPr>
              <a:t>The specific </a:t>
            </a:r>
            <a:r>
              <a:rPr lang="en-US" altLang="ja-JP" sz="3200" b="1" i="1" dirty="0">
                <a:solidFill>
                  <a:srgbClr val="006600"/>
                </a:solidFill>
              </a:rPr>
              <a:t>ways</a:t>
            </a:r>
            <a:r>
              <a:rPr lang="en-US" altLang="ja-JP" sz="3200" b="1" dirty="0">
                <a:solidFill>
                  <a:srgbClr val="006600"/>
                </a:solidFill>
              </a:rPr>
              <a:t> that objects can be manipulated </a:t>
            </a:r>
            <a:r>
              <a:rPr lang="en-US" altLang="ja-JP" sz="3200" dirty="0">
                <a:solidFill>
                  <a:schemeClr val="tx1"/>
                </a:solidFill>
              </a:rPr>
              <a:t>(</a:t>
            </a:r>
            <a:r>
              <a:rPr lang="en-US" altLang="ja-JP" sz="3200" dirty="0" err="1">
                <a:solidFill>
                  <a:schemeClr val="tx1"/>
                </a:solidFill>
              </a:rPr>
              <a:t>ie</a:t>
            </a:r>
            <a:r>
              <a:rPr lang="en-US" altLang="ja-JP" sz="3200" dirty="0">
                <a:solidFill>
                  <a:schemeClr val="tx1"/>
                </a:solidFill>
              </a:rPr>
              <a:t>, the provided </a:t>
            </a:r>
            <a:r>
              <a:rPr lang="en-US" altLang="ja-JP" sz="3200" i="1" dirty="0">
                <a:solidFill>
                  <a:schemeClr val="tx1"/>
                </a:solidFill>
              </a:rPr>
              <a:t>methods</a:t>
            </a:r>
            <a:r>
              <a:rPr lang="en-US" altLang="ja-JP" sz="3200" dirty="0">
                <a:solidFill>
                  <a:schemeClr val="tx1"/>
                </a:solidFill>
              </a:rPr>
              <a:t>)</a:t>
            </a:r>
            <a:br>
              <a:rPr lang="en-US" altLang="ja-JP" sz="3200" dirty="0">
                <a:solidFill>
                  <a:schemeClr val="tx1"/>
                </a:solidFill>
              </a:rPr>
            </a:br>
            <a:r>
              <a:rPr lang="en-US" altLang="ja-JP" sz="3200" dirty="0">
                <a:solidFill>
                  <a:schemeClr val="tx1"/>
                </a:solidFill>
              </a:rPr>
              <a:t>(Rather than the logic of those manipulations)</a:t>
            </a:r>
          </a:p>
          <a:p>
            <a:pPr eaLnBrk="1" hangingPunct="1">
              <a:lnSpc>
                <a:spcPct val="90000"/>
              </a:lnSpc>
              <a:spcBef>
                <a:spcPts val="1500"/>
              </a:spcBef>
            </a:pPr>
            <a:r>
              <a:rPr lang="en-US" altLang="en-US" sz="3600" dirty="0">
                <a:solidFill>
                  <a:schemeClr val="tx1"/>
                </a:solidFill>
              </a:rPr>
              <a:t>The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b="1" dirty="0">
                <a:solidFill>
                  <a:srgbClr val="006600"/>
                </a:solidFill>
              </a:rPr>
              <a:t>client</a:t>
            </a:r>
            <a:r>
              <a:rPr lang="en-US" altLang="en-US" sz="3200" b="1" dirty="0">
                <a:solidFill>
                  <a:srgbClr val="006600"/>
                </a:solidFill>
              </a:rPr>
              <a:t> </a:t>
            </a:r>
            <a:r>
              <a:rPr lang="en-US" altLang="en-US" sz="3600" b="1" dirty="0">
                <a:solidFill>
                  <a:srgbClr val="006600"/>
                </a:solidFill>
              </a:rPr>
              <a:t>space</a:t>
            </a:r>
            <a:r>
              <a:rPr lang="en-US" altLang="en-US" sz="2800" dirty="0"/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is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where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these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methods and attributes get accessed from.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3400" dirty="0">
                <a:solidFill>
                  <a:schemeClr val="tx1"/>
                </a:solidFill>
              </a:rPr>
              <a:t>The class can limit the client</a:t>
            </a:r>
            <a:r>
              <a:rPr lang="en-US" altLang="en-US" sz="3400" spc="-250" dirty="0">
                <a:solidFill>
                  <a:schemeClr val="tx1"/>
                </a:solidFill>
              </a:rPr>
              <a:t>’</a:t>
            </a:r>
            <a:r>
              <a:rPr lang="en-US" altLang="en-US" sz="3400" dirty="0">
                <a:solidFill>
                  <a:schemeClr val="tx1"/>
                </a:solidFill>
              </a:rPr>
              <a:t>s access, by using private attributes and methods.</a:t>
            </a:r>
          </a:p>
        </p:txBody>
      </p:sp>
    </p:spTree>
    <p:extLst>
      <p:ext uri="{BB962C8B-B14F-4D97-AF65-F5344CB8AC3E}">
        <p14:creationId xmlns:p14="http://schemas.microsoft.com/office/powerpoint/2010/main" val="69163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Object-Oriented Basics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96862" y="857250"/>
            <a:ext cx="9144000" cy="600075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6600"/>
                </a:solidFill>
              </a:rPr>
              <a:t>Object:</a:t>
            </a:r>
            <a:r>
              <a:rPr lang="en-US" altLang="en-US" sz="3200" b="1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single software unit that combines </a:t>
            </a:r>
            <a:r>
              <a:rPr lang="en-US" altLang="en-US" sz="3200" b="1" dirty="0">
                <a:solidFill>
                  <a:schemeClr val="tx1"/>
                </a:solidFill>
              </a:rPr>
              <a:t>method</a:t>
            </a:r>
            <a:r>
              <a:rPr lang="en-US" altLang="en-US" sz="3200" b="1" spc="-100" dirty="0">
                <a:solidFill>
                  <a:schemeClr val="tx1"/>
                </a:solidFill>
              </a:rPr>
              <a:t>s </a:t>
            </a:r>
            <a:r>
              <a:rPr lang="en-US" altLang="en-US" sz="3200" dirty="0">
                <a:solidFill>
                  <a:schemeClr val="tx1"/>
                </a:solidFill>
              </a:rPr>
              <a:t>and </a:t>
            </a:r>
            <a:r>
              <a:rPr lang="en-US" altLang="en-US" sz="3200" b="1" dirty="0">
                <a:solidFill>
                  <a:schemeClr val="tx1"/>
                </a:solidFill>
              </a:rPr>
              <a:t>attributes</a:t>
            </a:r>
            <a:r>
              <a:rPr lang="en-US" altLang="en-US" sz="3200" dirty="0">
                <a:solidFill>
                  <a:schemeClr val="tx1"/>
                </a:solidFill>
              </a:rPr>
              <a:t>. 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Method(</a:t>
            </a:r>
            <a:r>
              <a:rPr lang="zh-TW" altLang="en-US" sz="2800" dirty="0">
                <a:solidFill>
                  <a:srgbClr val="006600"/>
                </a:solidFill>
              </a:rPr>
              <a:t>方法</a:t>
            </a:r>
            <a:r>
              <a:rPr lang="en-US" altLang="en-US" sz="3200" b="1" dirty="0">
                <a:solidFill>
                  <a:srgbClr val="006600"/>
                </a:solidFill>
              </a:rPr>
              <a:t>):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"behavior" of an object; it is a special </a:t>
            </a:r>
            <a:r>
              <a:rPr lang="en-US" altLang="en-US" sz="3200" b="1" dirty="0">
                <a:solidFill>
                  <a:schemeClr val="tx1"/>
                </a:solidFill>
              </a:rPr>
              <a:t>function</a:t>
            </a:r>
            <a:r>
              <a:rPr lang="en-US" altLang="en-US" sz="3200" dirty="0">
                <a:solidFill>
                  <a:schemeClr val="tx1"/>
                </a:solidFill>
              </a:rPr>
              <a:t> associated with an object.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Attribute(</a:t>
            </a:r>
            <a:r>
              <a:rPr lang="zh-TW" altLang="en-US" sz="2800" b="1" dirty="0">
                <a:solidFill>
                  <a:srgbClr val="006600"/>
                </a:solidFill>
              </a:rPr>
              <a:t>屬性</a:t>
            </a:r>
            <a:r>
              <a:rPr lang="en-US" altLang="en-US" sz="3200" b="1" dirty="0">
                <a:solidFill>
                  <a:srgbClr val="006600"/>
                </a:solidFill>
              </a:rPr>
              <a:t>):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"characteristic" of an object; it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is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special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</a:rPr>
              <a:t>variable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associated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with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an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object.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An </a:t>
            </a:r>
            <a:r>
              <a:rPr lang="en-US" altLang="en-US" sz="3200" b="1" dirty="0">
                <a:solidFill>
                  <a:schemeClr val="tx1"/>
                </a:solidFill>
              </a:rPr>
              <a:t>object</a:t>
            </a:r>
            <a:r>
              <a:rPr lang="en-US" altLang="en-US" sz="3200" dirty="0">
                <a:solidFill>
                  <a:schemeClr val="tx1"/>
                </a:solidFill>
              </a:rPr>
              <a:t> is 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(</a:t>
            </a:r>
            <a:r>
              <a:rPr lang="zh-TW" altLang="en-US" sz="2800" b="1" dirty="0">
                <a:solidFill>
                  <a:srgbClr val="006600"/>
                </a:solidFill>
              </a:rPr>
              <a:t>實體</a:t>
            </a:r>
            <a:r>
              <a:rPr lang="en-US" altLang="en-US" sz="3200" b="1" dirty="0">
                <a:solidFill>
                  <a:srgbClr val="006600"/>
                </a:solidFill>
              </a:rPr>
              <a:t>) </a:t>
            </a:r>
            <a:r>
              <a:rPr lang="en-US" altLang="en-US" sz="3200" dirty="0">
                <a:solidFill>
                  <a:schemeClr val="tx1"/>
                </a:solidFill>
              </a:rPr>
              <a:t>of a </a:t>
            </a:r>
            <a:r>
              <a:rPr lang="en-US" altLang="en-US" sz="3200" b="1" dirty="0">
                <a:solidFill>
                  <a:schemeClr val="tx1"/>
                </a:solidFill>
              </a:rPr>
              <a:t>clas</a:t>
            </a:r>
            <a:r>
              <a:rPr lang="en-US" altLang="en-US" sz="3200" b="1" spc="-100" dirty="0">
                <a:solidFill>
                  <a:schemeClr val="tx1"/>
                </a:solidFill>
              </a:rPr>
              <a:t>s</a:t>
            </a:r>
            <a:r>
              <a:rPr lang="en-US" altLang="en-US" sz="32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b="1" spc="-80" dirty="0">
                <a:solidFill>
                  <a:srgbClr val="006600"/>
                </a:solidFill>
              </a:rPr>
              <a:t>Class:</a:t>
            </a:r>
            <a:r>
              <a:rPr lang="en-US" altLang="en-US" sz="3200" spc="-80" dirty="0">
                <a:solidFill>
                  <a:srgbClr val="006600"/>
                </a:solidFill>
              </a:rPr>
              <a:t> </a:t>
            </a:r>
            <a:r>
              <a:rPr lang="en-US" altLang="en-US" sz="3200" spc="-80" dirty="0">
                <a:solidFill>
                  <a:schemeClr val="tx1"/>
                </a:solidFill>
              </a:rPr>
              <a:t>A set of variables </a:t>
            </a:r>
            <a:r>
              <a:rPr lang="en-US" altLang="en-US" sz="3200" spc="-200" dirty="0">
                <a:solidFill>
                  <a:schemeClr val="tx1"/>
                </a:solidFill>
              </a:rPr>
              <a:t>(</a:t>
            </a:r>
            <a:r>
              <a:rPr lang="en-US" altLang="en-US" sz="3200" i="1" spc="-80" dirty="0" err="1">
                <a:solidFill>
                  <a:schemeClr val="tx1"/>
                </a:solidFill>
              </a:rPr>
              <a:t>i</a:t>
            </a:r>
            <a:r>
              <a:rPr lang="en-US" altLang="en-US" sz="3200" i="1" spc="-200" dirty="0" err="1">
                <a:solidFill>
                  <a:schemeClr val="tx1"/>
                </a:solidFill>
              </a:rPr>
              <a:t>e</a:t>
            </a:r>
            <a:r>
              <a:rPr lang="en-US" altLang="en-US" sz="3200" spc="-80" dirty="0">
                <a:solidFill>
                  <a:schemeClr val="tx1"/>
                </a:solidFill>
              </a:rPr>
              <a:t>, attribute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spc="-80" dirty="0">
                <a:solidFill>
                  <a:schemeClr val="tx1"/>
                </a:solidFill>
              </a:rPr>
              <a:t>) &amp; functions </a:t>
            </a:r>
            <a:r>
              <a:rPr lang="en-US" altLang="en-US" sz="3200" spc="-100" dirty="0">
                <a:solidFill>
                  <a:schemeClr val="tx1"/>
                </a:solidFill>
              </a:rPr>
              <a:t>(</a:t>
            </a:r>
            <a:r>
              <a:rPr lang="en-US" altLang="en-US" sz="3200" i="1" dirty="0" err="1">
                <a:solidFill>
                  <a:schemeClr val="tx1"/>
                </a:solidFill>
              </a:rPr>
              <a:t>ie</a:t>
            </a:r>
            <a:r>
              <a:rPr lang="en-US" altLang="en-US" sz="3200" dirty="0">
                <a:solidFill>
                  <a:schemeClr val="tx1"/>
                </a:solidFill>
              </a:rPr>
              <a:t>, method</a:t>
            </a:r>
            <a:r>
              <a:rPr lang="en-US" altLang="en-US" sz="3200" spc="-100" dirty="0">
                <a:solidFill>
                  <a:schemeClr val="tx1"/>
                </a:solidFill>
              </a:rPr>
              <a:t>s</a:t>
            </a:r>
            <a:r>
              <a:rPr lang="en-US" altLang="en-US" sz="3200" dirty="0">
                <a:solidFill>
                  <a:schemeClr val="tx1"/>
                </a:solidFill>
              </a:rPr>
              <a:t>) for working with those variables.</a:t>
            </a:r>
          </a:p>
        </p:txBody>
      </p:sp>
    </p:spTree>
    <p:extLst>
      <p:ext uri="{BB962C8B-B14F-4D97-AF65-F5344CB8AC3E}">
        <p14:creationId xmlns:p14="http://schemas.microsoft.com/office/powerpoint/2010/main" val="1912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96862" y="762000"/>
            <a:ext cx="9144000" cy="6096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print ("An instance of the class.")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crit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= Critter()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crit.talk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marL="285750" indent="-285750"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Defining a class:</a:t>
            </a:r>
          </a:p>
          <a:p>
            <a:pPr marL="571500" lvl="1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spc="-100" dirty="0">
                <a:solidFill>
                  <a:schemeClr val="tx1"/>
                </a:solidFill>
              </a:rPr>
              <a:t>Name begins with capital letter, by convention </a:t>
            </a:r>
            <a:r>
              <a:rPr lang="en-US" altLang="en-US" sz="3200" spc="-200" dirty="0">
                <a:solidFill>
                  <a:schemeClr val="tx1"/>
                </a:solidFill>
              </a:rPr>
              <a:t>(</a:t>
            </a:r>
            <a:r>
              <a:rPr lang="zh-TW" altLang="en-US" sz="2800" spc="-200" dirty="0">
                <a:solidFill>
                  <a:schemeClr val="tx1"/>
                </a:solidFill>
              </a:rPr>
              <a:t>命名慣例</a:t>
            </a:r>
            <a:r>
              <a:rPr lang="en-US" altLang="en-US" sz="3200" spc="-200" dirty="0">
                <a:solidFill>
                  <a:schemeClr val="tx1"/>
                </a:solidFill>
              </a:rPr>
              <a:t>)</a:t>
            </a:r>
            <a:r>
              <a:rPr lang="en-US" altLang="en-US" sz="2800" spc="-100" dirty="0">
                <a:solidFill>
                  <a:schemeClr val="tx1"/>
                </a:solidFill>
              </a:rPr>
              <a:t>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Defining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800" spc="-70" dirty="0">
                <a:solidFill>
                  <a:schemeClr val="tx1"/>
                </a:solidFill>
              </a:rPr>
              <a:t>The first parameter </a:t>
            </a:r>
            <a:r>
              <a:rPr lang="en-US" altLang="en-US" sz="2800" spc="-100" dirty="0">
                <a:solidFill>
                  <a:schemeClr val="tx1"/>
                </a:solidFill>
              </a:rPr>
              <a:t>(self, by convention</a:t>
            </a:r>
            <a:r>
              <a:rPr lang="en-US" altLang="en-US" sz="2800" spc="-70" dirty="0">
                <a:solidFill>
                  <a:schemeClr val="tx1"/>
                </a:solidFill>
              </a:rPr>
              <a:t>) is needed so that the method can refer to the object itself.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Creating an instance: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spc="-60" dirty="0">
                <a:solidFill>
                  <a:schemeClr val="tx1"/>
                </a:solidFill>
              </a:rPr>
              <a:t>Avoid using a lowercase-version of the class name.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Calling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800" spc="-60" dirty="0">
                <a:solidFill>
                  <a:schemeClr val="tx1"/>
                </a:solidFill>
              </a:rPr>
              <a:t>Don't give the self argument (it's given automatically).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and Using a Class</a:t>
            </a:r>
          </a:p>
        </p:txBody>
      </p:sp>
    </p:spTree>
    <p:extLst>
      <p:ext uri="{BB962C8B-B14F-4D97-AF65-F5344CB8AC3E}">
        <p14:creationId xmlns:p14="http://schemas.microsoft.com/office/powerpoint/2010/main" val="27591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Multiple Objects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96862" y="685800"/>
            <a:ext cx="9144000" cy="61722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1200" dirty="0">
              <a:latin typeface="Courier New" pitchFamily="49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3200" dirty="0"/>
              <a:t>Two objects are created here: </a:t>
            </a:r>
          </a:p>
          <a:p>
            <a:pPr indent="400050" eaLnBrk="1" hangingPunct="1">
              <a:buFontTx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crit1 = Critter()</a:t>
            </a:r>
          </a:p>
          <a:p>
            <a:pPr indent="400050" eaLnBrk="1" hangingPunct="1">
              <a:buFontTx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crit2 = Critter()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/>
              <a:t>Each object is independent, so changing one won't affect the other.</a:t>
            </a:r>
          </a:p>
          <a:p>
            <a:pPr lvl="1" eaLnBrk="1" hangingPunct="1"/>
            <a:r>
              <a:rPr lang="en-US" altLang="en-US" sz="3000" dirty="0"/>
              <a:t>But we already knew that, because we’ve used multiple independent objects since lecture #1:</a:t>
            </a:r>
          </a:p>
          <a:p>
            <a:pPr lvl="1" eaLnBrk="1" hangingPunct="1">
              <a:buClr>
                <a:schemeClr val="bg1"/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800" dirty="0">
                <a:latin typeface="Lucida Console" panose="020B0609040504020204" pitchFamily="49" charset="0"/>
              </a:rPr>
              <a:t> a=list(); b=list(); type(a)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&lt;class 'list'&gt;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800" dirty="0">
                <a:latin typeface="Lucida Console" panose="020B0609040504020204" pitchFamily="49" charset="0"/>
              </a:rPr>
              <a:t> b+</a:t>
            </a:r>
            <a:r>
              <a:rPr lang="en-US" altLang="en-US" sz="2800" spc="-100" dirty="0">
                <a:latin typeface="Lucida Console" panose="020B0609040504020204" pitchFamily="49" charset="0"/>
              </a:rPr>
              <a:t>=[1]; a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#Se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e,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(&amp;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b)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objects</a:t>
            </a:r>
            <a:br>
              <a:rPr lang="en-US" altLang="en-US" sz="2800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[]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#See,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independent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of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how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>
                <a:solidFill>
                  <a:srgbClr val="FFC000"/>
                </a:solidFill>
                <a:latin typeface="Lucida Console" panose="020B0609040504020204" pitchFamily="49" charset="0"/>
              </a:rPr>
              <a:t>b changes</a:t>
            </a:r>
            <a:endParaRPr lang="en-US" altLang="en-US" sz="2800" spc="-100" dirty="0">
              <a:solidFill>
                <a:srgbClr val="FFC000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497012" y="5531427"/>
            <a:ext cx="1943100" cy="52647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039812" y="6012872"/>
            <a:ext cx="8401050" cy="84512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6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simple class definition: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    greet(self):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...      print ("Good afternoon.")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=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1963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 =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25462" y="4419600"/>
            <a:ext cx="8686800" cy="4572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11262" y="838200"/>
            <a:ext cx="4572000" cy="3810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404682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/>
            <a:r>
              <a:rPr lang="en-US" altLang="en-US" sz="3200" dirty="0"/>
              <a:t>But you </a:t>
            </a:r>
            <a:r>
              <a:rPr lang="en-US" altLang="en-US" sz="3200" i="1" dirty="0">
                <a:solidFill>
                  <a:srgbClr val="00B0F0"/>
                </a:solidFill>
              </a:rPr>
              <a:t>create</a:t>
            </a:r>
            <a:r>
              <a:rPr lang="en-US" altLang="en-US" sz="3200" dirty="0"/>
              <a:t> an </a:t>
            </a:r>
            <a:r>
              <a:rPr lang="en-US" altLang="en-US" sz="3200" i="1" dirty="0">
                <a:solidFill>
                  <a:srgbClr val="006600"/>
                </a:solidFill>
              </a:rPr>
              <a:t>instance</a:t>
            </a:r>
            <a:r>
              <a:rPr lang="en-US" altLang="en-US" sz="3200" dirty="0"/>
              <a:t> of t</a:t>
            </a:r>
            <a:r>
              <a:rPr lang="en-US" altLang="en-US" sz="3200" dirty="0">
                <a:solidFill>
                  <a:schemeClr val="tx1"/>
                </a:solidFill>
              </a:rPr>
              <a:t>he class</a:t>
            </a:r>
            <a:r>
              <a:rPr lang="en-US" altLang="en-US" sz="3200" dirty="0"/>
              <a:t> when you define an </a:t>
            </a:r>
            <a:r>
              <a:rPr lang="en-US" altLang="en-US" sz="3200" dirty="0">
                <a:solidFill>
                  <a:srgbClr val="006600"/>
                </a:solidFill>
              </a:rPr>
              <a:t>object</a:t>
            </a:r>
            <a:r>
              <a:rPr lang="en-US" altLang="en-US" sz="3200" dirty="0"/>
              <a:t> (like </a:t>
            </a:r>
            <a:r>
              <a:rPr lang="en-US" altLang="en-US" sz="3200" dirty="0" err="1">
                <a:solidFill>
                  <a:srgbClr val="006600"/>
                </a:solidFill>
              </a:rPr>
              <a:t>inst</a:t>
            </a:r>
            <a:r>
              <a:rPr lang="en-US" altLang="en-US" sz="3200" dirty="0"/>
              <a:t>, above)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296862" y="3810000"/>
            <a:ext cx="9144000" cy="1600200"/>
          </a:xfrm>
          <a:prstGeom prst="rect">
            <a:avLst/>
          </a:prstGeom>
          <a:solidFill>
            <a:srgbClr val="FFFFFF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11262" y="762000"/>
            <a:ext cx="6858000" cy="1219200"/>
          </a:xfrm>
          <a:prstGeom prst="rect">
            <a:avLst/>
          </a:prstGeom>
          <a:solidFill>
            <a:srgbClr val="FFFFFF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863910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/>
            <a:r>
              <a:rPr lang="en-US" altLang="en-US" sz="3200" dirty="0"/>
              <a:t>But you </a:t>
            </a:r>
            <a:r>
              <a:rPr lang="en-US" altLang="en-US" sz="3200" i="1" dirty="0">
                <a:solidFill>
                  <a:srgbClr val="00B0F0"/>
                </a:solidFill>
              </a:rPr>
              <a:t>create</a:t>
            </a:r>
            <a:r>
              <a:rPr lang="en-US" altLang="en-US" sz="3200" dirty="0"/>
              <a:t> an </a:t>
            </a:r>
            <a:r>
              <a:rPr lang="en-US" altLang="en-US" sz="3200" i="1" dirty="0">
                <a:solidFill>
                  <a:srgbClr val="006600"/>
                </a:solidFill>
              </a:rPr>
              <a:t>instance</a:t>
            </a:r>
            <a:r>
              <a:rPr lang="en-US" altLang="en-US" sz="3200" dirty="0"/>
              <a:t> of t</a:t>
            </a:r>
            <a:r>
              <a:rPr lang="en-US" altLang="en-US" sz="3200" dirty="0">
                <a:solidFill>
                  <a:schemeClr val="tx1"/>
                </a:solidFill>
              </a:rPr>
              <a:t>he class</a:t>
            </a:r>
            <a:r>
              <a:rPr lang="en-US" altLang="en-US" sz="3200" dirty="0"/>
              <a:t> when you define an </a:t>
            </a:r>
            <a:r>
              <a:rPr lang="en-US" altLang="en-US" sz="3200" dirty="0">
                <a:solidFill>
                  <a:srgbClr val="006600"/>
                </a:solidFill>
              </a:rPr>
              <a:t>object</a:t>
            </a:r>
            <a:r>
              <a:rPr lang="en-US" altLang="en-US" sz="3200" dirty="0"/>
              <a:t> (like </a:t>
            </a:r>
            <a:r>
              <a:rPr lang="en-US" altLang="en-US" sz="3200" dirty="0" err="1">
                <a:solidFill>
                  <a:srgbClr val="006600"/>
                </a:solidFill>
              </a:rPr>
              <a:t>inst</a:t>
            </a:r>
            <a:r>
              <a:rPr lang="en-US" altLang="en-US" sz="3200" dirty="0"/>
              <a:t>, above)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An instance can invoke methods</a:t>
            </a:r>
            <a:r>
              <a:rPr lang="en-US" altLang="en-US" sz="1800" dirty="0"/>
              <a:t> </a:t>
            </a:r>
            <a:r>
              <a:rPr lang="en-US" altLang="en-US" sz="2800" dirty="0"/>
              <a:t>(like  </a:t>
            </a:r>
            <a:r>
              <a:rPr lang="en-US" altLang="en-US" sz="2800" dirty="0" err="1">
                <a:solidFill>
                  <a:srgbClr val="006600"/>
                </a:solidFill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</a:rPr>
              <a:t>()</a:t>
            </a:r>
            <a:r>
              <a:rPr lang="en-US" altLang="en-US" sz="2800" dirty="0"/>
              <a:t>)  </a:t>
            </a:r>
            <a:endParaRPr lang="en-US" altLang="en-US" sz="3000" dirty="0"/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452310" y="5410200"/>
            <a:ext cx="8988552" cy="9906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11262" y="2057400"/>
            <a:ext cx="68580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211262" y="762000"/>
            <a:ext cx="6858000" cy="49318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52310" y="3810000"/>
            <a:ext cx="8988552" cy="1600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6427247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/>
            <a:r>
              <a:rPr lang="en-US" altLang="en-US" sz="3200" dirty="0"/>
              <a:t>But you </a:t>
            </a:r>
            <a:r>
              <a:rPr lang="en-US" altLang="en-US" sz="3200" i="1" dirty="0">
                <a:solidFill>
                  <a:srgbClr val="00B0F0"/>
                </a:solidFill>
              </a:rPr>
              <a:t>create</a:t>
            </a:r>
            <a:r>
              <a:rPr lang="en-US" altLang="en-US" sz="3200" dirty="0"/>
              <a:t> an </a:t>
            </a:r>
            <a:r>
              <a:rPr lang="en-US" altLang="en-US" sz="3200" i="1" dirty="0">
                <a:solidFill>
                  <a:srgbClr val="006600"/>
                </a:solidFill>
              </a:rPr>
              <a:t>instance</a:t>
            </a:r>
            <a:r>
              <a:rPr lang="en-US" altLang="en-US" sz="3200" dirty="0"/>
              <a:t> of t</a:t>
            </a:r>
            <a:r>
              <a:rPr lang="en-US" altLang="en-US" sz="3200" dirty="0">
                <a:solidFill>
                  <a:schemeClr val="tx1"/>
                </a:solidFill>
              </a:rPr>
              <a:t>he class</a:t>
            </a:r>
            <a:r>
              <a:rPr lang="en-US" altLang="en-US" sz="3200" dirty="0"/>
              <a:t> when you define an </a:t>
            </a:r>
            <a:r>
              <a:rPr lang="en-US" altLang="en-US" sz="3200" dirty="0">
                <a:solidFill>
                  <a:srgbClr val="006600"/>
                </a:solidFill>
              </a:rPr>
              <a:t>object</a:t>
            </a:r>
            <a:r>
              <a:rPr lang="en-US" altLang="en-US" sz="3200" dirty="0"/>
              <a:t> (like </a:t>
            </a:r>
            <a:r>
              <a:rPr lang="en-US" altLang="en-US" sz="3200" dirty="0" err="1">
                <a:solidFill>
                  <a:srgbClr val="006600"/>
                </a:solidFill>
              </a:rPr>
              <a:t>inst</a:t>
            </a:r>
            <a:r>
              <a:rPr lang="en-US" altLang="en-US" sz="3200" dirty="0"/>
              <a:t>, above)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An instance can invoke methods</a:t>
            </a:r>
            <a:r>
              <a:rPr lang="en-US" altLang="en-US" sz="1800" dirty="0"/>
              <a:t> </a:t>
            </a:r>
            <a:r>
              <a:rPr lang="en-US" altLang="en-US" sz="2800" dirty="0"/>
              <a:t>(like  </a:t>
            </a:r>
            <a:r>
              <a:rPr lang="en-US" altLang="en-US" sz="2800" dirty="0" err="1">
                <a:solidFill>
                  <a:srgbClr val="006600"/>
                </a:solidFill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</a:rPr>
              <a:t>()</a:t>
            </a:r>
            <a:r>
              <a:rPr lang="en-US" altLang="en-US" sz="2800" dirty="0"/>
              <a:t>)  </a:t>
            </a:r>
            <a:endParaRPr lang="en-US" altLang="en-US" sz="3000" dirty="0"/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9" name="Rounded Rectangular Callout 6"/>
          <p:cNvSpPr/>
          <p:nvPr/>
        </p:nvSpPr>
        <p:spPr bwMode="auto">
          <a:xfrm>
            <a:off x="4487862" y="5334000"/>
            <a:ext cx="4648200" cy="1447800"/>
          </a:xfrm>
          <a:prstGeom prst="wedgeRoundRectCallout">
            <a:avLst>
              <a:gd name="adj1" fmla="val -46920"/>
              <a:gd name="adj2" fmla="val -31510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But look at its definition! It takes 1 argument, “self”. </a:t>
            </a: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What’s going on?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528510" y="5334000"/>
            <a:ext cx="3959352" cy="1447800"/>
          </a:xfrm>
          <a:prstGeom prst="wedgeRoundRectCallout">
            <a:avLst>
              <a:gd name="adj1" fmla="val 31277"/>
              <a:gd name="adj2" fmla="val -2147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Hey! When we called greet(), we didn’t pass any arguments…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ounded Rectangular Callout 6"/>
          <p:cNvSpPr/>
          <p:nvPr/>
        </p:nvSpPr>
        <p:spPr bwMode="auto">
          <a:xfrm>
            <a:off x="5935662" y="0"/>
            <a:ext cx="3505200" cy="2895600"/>
          </a:xfrm>
          <a:prstGeom prst="wedgeRoundRectCallout">
            <a:avLst>
              <a:gd name="adj1" fmla="val -79023"/>
              <a:gd name="adj2" fmla="val -435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A:</a:t>
            </a:r>
            <a:r>
              <a:rPr lang="en-US" altLang="zh-TW" sz="20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1</a:t>
            </a:r>
            <a:r>
              <a:rPr lang="en-US" altLang="zh-TW" sz="3200" baseline="300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st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parameter (which we usually name as “self,” by convention) is not put into the caller’s argument list. </a:t>
            </a:r>
          </a:p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1" name="Rounded Rectangular Callout 6"/>
          <p:cNvSpPr/>
          <p:nvPr/>
        </p:nvSpPr>
        <p:spPr bwMode="auto">
          <a:xfrm>
            <a:off x="296862" y="3619500"/>
            <a:ext cx="2438400" cy="1104901"/>
          </a:xfrm>
          <a:prstGeom prst="wedgeRoundRectCallout">
            <a:avLst>
              <a:gd name="adj1" fmla="val 109758"/>
              <a:gd name="adj2" fmla="val -23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OK. But what is it?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449262" y="1333500"/>
            <a:ext cx="2438400" cy="1943101"/>
          </a:xfrm>
          <a:prstGeom prst="wedgeRoundRectCallout">
            <a:avLst>
              <a:gd name="adj1" fmla="val -36132"/>
              <a:gd name="adj2" fmla="val 742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To answer, let’s see another example…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524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an attribute:</a:t>
            </a:r>
          </a:p>
        </p:txBody>
      </p:sp>
      <p:sp>
        <p:nvSpPr>
          <p:cNvPr id="18" name="Rectangle 1027"/>
          <p:cNvSpPr txBox="1">
            <a:spLocks noChangeArrowheads="1"/>
          </p:cNvSpPr>
          <p:nvPr/>
        </p:nvSpPr>
        <p:spPr bwMode="auto">
          <a:xfrm>
            <a:off x="452310" y="838200"/>
            <a:ext cx="8988552" cy="601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 eaLnBrk="1" hangingPunct="1">
              <a:lnSpc>
                <a:spcPct val="87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kern="0" dirty="0">
                <a:latin typeface="Lucida Console" panose="020B0609040504020204" pitchFamily="49" charset="0"/>
              </a:rPr>
              <a:t>():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latin typeface="Lucida Console" panose="020B0609040504020204" pitchFamily="49" charset="0"/>
              </a:rPr>
              <a:t>   </a:t>
            </a:r>
            <a:r>
              <a:rPr lang="en-US" altLang="en-US" sz="2800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kern="0" dirty="0"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kern="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kern="0" dirty="0">
                <a:latin typeface="Lucida Console" panose="020B0609040504020204" pitchFamily="49" charset="0"/>
              </a:rPr>
              <a:t>: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latin typeface="Lucida Console" panose="020B0609040504020204" pitchFamily="49" charset="0"/>
              </a:rPr>
              <a:t>      </a:t>
            </a:r>
            <a:r>
              <a:rPr lang="en-US" altLang="en-US" sz="28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kern="0" dirty="0">
                <a:latin typeface="Lucida Console" panose="020B0609040504020204" pitchFamily="49" charset="0"/>
              </a:rPr>
              <a:t> = x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kern="0" dirty="0">
              <a:latin typeface="Lucida Console" panose="020B0609040504020204" pitchFamily="49" charset="0"/>
            </a:endParaRP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kern="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kern="0" dirty="0">
              <a:latin typeface="Courier New" pitchFamily="49" charset="0"/>
            </a:endParaRP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,x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.val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endParaRPr lang="en-US" altLang="en-US" sz="1100" dirty="0">
              <a:latin typeface="Courier New" pitchFamily="49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3573462" y="1600200"/>
            <a:ext cx="1066800" cy="112290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ounded Rectangular Callout 6"/>
          <p:cNvSpPr/>
          <p:nvPr/>
        </p:nvSpPr>
        <p:spPr bwMode="auto">
          <a:xfrm>
            <a:off x="4634522" y="4437604"/>
            <a:ext cx="4653941" cy="2420397"/>
          </a:xfrm>
          <a:prstGeom prst="wedgeRoundRectCallout">
            <a:avLst>
              <a:gd name="adj1" fmla="val -79689"/>
              <a:gd name="adj2" fmla="val -15219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FFC000"/>
                </a:solidFill>
                <a:latin typeface="Times New Roman" charset="0"/>
                <a:ea typeface="MS PGothic" pitchFamily="34" charset="-128"/>
              </a:rPr>
              <a:t>A3: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Because what “self” is, actually, is a pointer to it</a:t>
            </a:r>
            <a:r>
              <a:rPr lang="en-US" altLang="zh-TW" sz="3200" u="sng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(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,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object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that all of the attributes and methods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are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associated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to).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1" name="Rounded Rectangular Callout 6"/>
          <p:cNvSpPr/>
          <p:nvPr/>
        </p:nvSpPr>
        <p:spPr bwMode="auto">
          <a:xfrm>
            <a:off x="296862" y="3619500"/>
            <a:ext cx="2438400" cy="1104901"/>
          </a:xfrm>
          <a:prstGeom prst="wedgeRoundRectCallout">
            <a:avLst>
              <a:gd name="adj1" fmla="val 98457"/>
              <a:gd name="adj2" fmla="val -23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OK. But what is it?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449262" y="1333500"/>
            <a:ext cx="2438400" cy="1943101"/>
          </a:xfrm>
          <a:prstGeom prst="wedgeRoundRectCallout">
            <a:avLst>
              <a:gd name="adj1" fmla="val -36132"/>
              <a:gd name="adj2" fmla="val 742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To answer, let’s see another example…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3" name="Rounded Rectangular Callout 6"/>
          <p:cNvSpPr/>
          <p:nvPr/>
        </p:nvSpPr>
        <p:spPr bwMode="auto">
          <a:xfrm>
            <a:off x="4640262" y="2286000"/>
            <a:ext cx="4648200" cy="990600"/>
          </a:xfrm>
          <a:prstGeom prst="wedgeRoundRectCallout">
            <a:avLst>
              <a:gd name="adj1" fmla="val -83977"/>
              <a:gd name="adj2" fmla="val -8300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Now, “self” is used here.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Q3: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Why?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4" name="Rounded Rectangular Callout 6"/>
          <p:cNvSpPr/>
          <p:nvPr/>
        </p:nvSpPr>
        <p:spPr bwMode="auto">
          <a:xfrm>
            <a:off x="4634522" y="4437604"/>
            <a:ext cx="4653941" cy="2420397"/>
          </a:xfrm>
          <a:prstGeom prst="wedgeRoundRectCallout">
            <a:avLst>
              <a:gd name="adj1" fmla="val -13748"/>
              <a:gd name="adj2" fmla="val -10044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A3: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Because what “self” is, actually, is a pointer to it</a:t>
            </a:r>
            <a:r>
              <a:rPr lang="en-US" altLang="zh-TW" sz="3200" u="sng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(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,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object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that all of the attributes and methods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are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associated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to).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5" name="Rounded Rectangular Callout 6"/>
          <p:cNvSpPr/>
          <p:nvPr/>
        </p:nvSpPr>
        <p:spPr bwMode="auto">
          <a:xfrm>
            <a:off x="291122" y="4419601"/>
            <a:ext cx="2901340" cy="2420397"/>
          </a:xfrm>
          <a:prstGeom prst="wedgeRoundRectCallout">
            <a:avLst>
              <a:gd name="adj1" fmla="val 107569"/>
              <a:gd name="adj2" fmla="val 46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In other words, it is similar to the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*this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 pointer in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C++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 class instances.</a:t>
            </a:r>
            <a:endParaRPr lang="zh-TW" altLang="en-US" sz="3200" dirty="0">
              <a:solidFill>
                <a:srgbClr val="FF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0" name="Rounded Rectangular Callout 6"/>
          <p:cNvSpPr/>
          <p:nvPr/>
        </p:nvSpPr>
        <p:spPr bwMode="auto">
          <a:xfrm>
            <a:off x="5935662" y="0"/>
            <a:ext cx="3505200" cy="1981200"/>
          </a:xfrm>
          <a:prstGeom prst="wedgeRoundRectCallout">
            <a:avLst>
              <a:gd name="adj1" fmla="val -78973"/>
              <a:gd name="adj2" fmla="val 202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So the </a:t>
            </a:r>
            <a:r>
              <a:rPr lang="en-US" altLang="zh-TW" sz="3200" i="1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pointer to myself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is passed to </a:t>
            </a:r>
            <a:r>
              <a:rPr lang="en-US" altLang="zh-TW" sz="3200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,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and the value of </a:t>
            </a:r>
            <a:r>
              <a:rPr lang="en-US" altLang="zh-TW" sz="3200" i="1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is passed to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x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1" name="Rounded Rectangular Callout 6"/>
          <p:cNvSpPr/>
          <p:nvPr/>
        </p:nvSpPr>
        <p:spPr bwMode="auto">
          <a:xfrm>
            <a:off x="528510" y="5791200"/>
            <a:ext cx="3959352" cy="990600"/>
          </a:xfrm>
          <a:prstGeom prst="wedgeRoundRectCallout">
            <a:avLst>
              <a:gd name="adj1" fmla="val 21786"/>
              <a:gd name="adj2" fmla="val -32242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This time we pass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one argument…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2" name="Rounded Rectangular Callout 6"/>
          <p:cNvSpPr/>
          <p:nvPr/>
        </p:nvSpPr>
        <p:spPr bwMode="auto">
          <a:xfrm>
            <a:off x="5935662" y="1981201"/>
            <a:ext cx="3505200" cy="2837403"/>
          </a:xfrm>
          <a:prstGeom prst="wedgeRoundRectCallout">
            <a:avLst>
              <a:gd name="adj1" fmla="val -115066"/>
              <a:gd name="adj2" fmla="val -49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In</a:t>
            </a:r>
            <a:r>
              <a:rPr lang="en-US" altLang="zh-TW" sz="20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Python, to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assign a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declares it. Here, we assign to </a:t>
            </a:r>
            <a:r>
              <a:rPr lang="en-US" altLang="zh-TW" sz="3200" b="1" dirty="0" err="1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.val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; so we are creating an attribute in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myself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4" name="Rounded Rectangular Callout 6"/>
          <p:cNvSpPr/>
          <p:nvPr/>
        </p:nvSpPr>
        <p:spPr bwMode="auto">
          <a:xfrm>
            <a:off x="6542569" y="5867400"/>
            <a:ext cx="2898293" cy="990600"/>
          </a:xfrm>
          <a:prstGeom prst="wedgeRoundRectCallout">
            <a:avLst>
              <a:gd name="adj1" fmla="val 19531"/>
              <a:gd name="adj2" fmla="val -1618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Q4: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And what am I, myself?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2354262" y="5867400"/>
            <a:ext cx="4191000" cy="990600"/>
          </a:xfrm>
          <a:prstGeom prst="wedgeRoundRectCallout">
            <a:avLst>
              <a:gd name="adj1" fmla="val -53836"/>
              <a:gd name="adj2" fmla="val -34518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A4: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I am an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of the </a:t>
            </a:r>
            <a:r>
              <a:rPr lang="en-US" altLang="zh-TW" sz="3200" dirty="0" err="1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SimpleClass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type.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9" name="Rounded Rectangular Callout 6"/>
          <p:cNvSpPr/>
          <p:nvPr/>
        </p:nvSpPr>
        <p:spPr bwMode="auto">
          <a:xfrm>
            <a:off x="296862" y="5468398"/>
            <a:ext cx="2057400" cy="1389603"/>
          </a:xfrm>
          <a:prstGeom prst="wedgeRoundRectCallout">
            <a:avLst>
              <a:gd name="adj1" fmla="val 79007"/>
              <a:gd name="adj2" fmla="val -30064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Q5: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Then what is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 err="1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.val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30" name="Rounded Rectangular Callout 6"/>
          <p:cNvSpPr/>
          <p:nvPr/>
        </p:nvSpPr>
        <p:spPr bwMode="auto">
          <a:xfrm>
            <a:off x="284858" y="2971800"/>
            <a:ext cx="1840804" cy="2344196"/>
          </a:xfrm>
          <a:prstGeom prst="wedgeRoundRectCallout">
            <a:avLst>
              <a:gd name="adj1" fmla="val 91415"/>
              <a:gd name="adj2" fmla="val -92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A5: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It must be an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 flipV="1">
            <a:off x="1897062" y="4648200"/>
            <a:ext cx="3200400" cy="1371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37EED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 flipH="1">
            <a:off x="1820862" y="3027904"/>
            <a:ext cx="5029200" cy="200129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8992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602" grpId="0" build="p" animBg="1"/>
      <p:bldP spid="25602" grpId="1" build="allAtOnce" animBg="1"/>
      <p:bldP spid="16" grpId="0" animBg="1"/>
      <p:bldP spid="16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0" grpId="0" animBg="1"/>
      <p:bldP spid="21" grpId="0" animBg="1"/>
      <p:bldP spid="21" grpId="1" animBg="1"/>
      <p:bldP spid="22" grpId="0" animBg="1"/>
      <p:bldP spid="24" grpId="0" animBg="1"/>
      <p:bldP spid="28" grpId="0" animBg="1"/>
      <p:bldP spid="29" grpId="0" animBg="1"/>
      <p:bldP spid="3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an attribute:</a:t>
            </a:r>
            <a:endParaRPr lang="en-US" altLang="en-US" sz="4400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altLang="en-US" sz="2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inst.val</a:t>
            </a: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Notice that we can invoke the method with 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(…)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 flipV="1">
            <a:off x="3573462" y="1600200"/>
            <a:ext cx="1066800" cy="112290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ounded Rectangular Callout 6"/>
          <p:cNvSpPr/>
          <p:nvPr/>
        </p:nvSpPr>
        <p:spPr bwMode="auto">
          <a:xfrm>
            <a:off x="6697662" y="3755887"/>
            <a:ext cx="1840804" cy="1524000"/>
          </a:xfrm>
          <a:prstGeom prst="wedgeRoundRectCallout">
            <a:avLst>
              <a:gd name="adj1" fmla="val -137551"/>
              <a:gd name="adj2" fmla="val -16927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 value of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x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is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2" name="Arc 11"/>
          <p:cNvSpPr/>
          <p:nvPr/>
        </p:nvSpPr>
        <p:spPr bwMode="auto">
          <a:xfrm>
            <a:off x="4689958" y="1143000"/>
            <a:ext cx="546652" cy="609600"/>
          </a:xfrm>
          <a:prstGeom prst="arc">
            <a:avLst>
              <a:gd name="adj1" fmla="val 12775278"/>
              <a:gd name="adj2" fmla="val 4669863"/>
            </a:avLst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8" name="Rounded Rectangular Callout 6"/>
          <p:cNvSpPr/>
          <p:nvPr/>
        </p:nvSpPr>
        <p:spPr bwMode="auto">
          <a:xfrm>
            <a:off x="6125754" y="1524000"/>
            <a:ext cx="3315108" cy="1066800"/>
          </a:xfrm>
          <a:prstGeom prst="wedgeRoundRectCallout">
            <a:avLst>
              <a:gd name="adj1" fmla="val -83087"/>
              <a:gd name="adj2" fmla="val -22623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So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inst’s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FFA300"/>
                </a:solidFill>
                <a:latin typeface="Times New Roman" charset="0"/>
                <a:ea typeface="MS PGothic" pitchFamily="34" charset="-128"/>
              </a:rPr>
              <a:t>val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=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0" name="Rounded Rectangular Callout 6"/>
          <p:cNvSpPr/>
          <p:nvPr/>
        </p:nvSpPr>
        <p:spPr bwMode="auto">
          <a:xfrm>
            <a:off x="6125754" y="457200"/>
            <a:ext cx="3315108" cy="1066800"/>
          </a:xfrm>
          <a:prstGeom prst="wedgeRoundRectCallout">
            <a:avLst>
              <a:gd name="adj1" fmla="val -134746"/>
              <a:gd name="adj2" fmla="val 2822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And it has a method, </a:t>
            </a:r>
            <a:r>
              <a:rPr lang="en-US" altLang="zh-TW" sz="3200" dirty="0">
                <a:solidFill>
                  <a:srgbClr val="7030A0"/>
                </a:solidFill>
                <a:latin typeface="Times New Roman" charset="0"/>
                <a:ea typeface="MS PGothic" pitchFamily="34" charset="-128"/>
              </a:rPr>
              <a:t>set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5380" y="3048001"/>
            <a:ext cx="833883" cy="430887"/>
          </a:xfrm>
          <a:prstGeom prst="rect">
            <a:avLst/>
          </a:prstGeom>
        </p:spPr>
        <p:txBody>
          <a:bodyPr wrap="none" tIns="0" bIns="0" anchor="ctr" anchorCtr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endParaRPr lang="zh-TW" altLang="en-US" sz="2800" dirty="0">
              <a:solidFill>
                <a:srgbClr val="FFFFFF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21" name="Rounded Rectangular Callout 6"/>
          <p:cNvSpPr/>
          <p:nvPr/>
        </p:nvSpPr>
        <p:spPr bwMode="auto">
          <a:xfrm>
            <a:off x="284858" y="2971800"/>
            <a:ext cx="1840804" cy="2344196"/>
          </a:xfrm>
          <a:prstGeom prst="wedgeRoundRectCallout">
            <a:avLst>
              <a:gd name="adj1" fmla="val 91415"/>
              <a:gd name="adj2" fmla="val -92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A5: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It must be an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059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2" grpId="0" animBg="1"/>
      <p:bldP spid="12" grpId="1" animBg="1"/>
      <p:bldP spid="18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an attribute:</a:t>
            </a:r>
            <a:endParaRPr lang="en-US" altLang="en-US" sz="4400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Notice that we can invoke the method with 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(…)</a:t>
            </a:r>
          </a:p>
          <a:p>
            <a:pPr marL="284163" indent="-284163" eaLnBrk="1" hangingPunct="1"/>
            <a:r>
              <a:rPr lang="en-US" altLang="en-US" sz="3200" dirty="0"/>
              <a:t>Notice that we can also access the instance variable with 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2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endParaRPr lang="en-US" altLang="en-US" sz="30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6125754" y="1524000"/>
            <a:ext cx="3315108" cy="1066800"/>
          </a:xfrm>
          <a:prstGeom prst="wedgeRoundRectCallout">
            <a:avLst>
              <a:gd name="adj1" fmla="val -83087"/>
              <a:gd name="adj2" fmla="val -22623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So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inst’s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FFA300"/>
                </a:solidFill>
                <a:latin typeface="Times New Roman" charset="0"/>
                <a:ea typeface="MS PGothic" pitchFamily="34" charset="-128"/>
              </a:rPr>
              <a:t>val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=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ounded Rectangular Callout 6"/>
          <p:cNvSpPr/>
          <p:nvPr/>
        </p:nvSpPr>
        <p:spPr bwMode="auto">
          <a:xfrm>
            <a:off x="6125754" y="457200"/>
            <a:ext cx="3315108" cy="1066800"/>
          </a:xfrm>
          <a:prstGeom prst="wedgeRoundRectCallout">
            <a:avLst>
              <a:gd name="adj1" fmla="val -134746"/>
              <a:gd name="adj2" fmla="val 2822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And it has a method, </a:t>
            </a:r>
            <a:r>
              <a:rPr lang="en-US" altLang="zh-TW" sz="3200" dirty="0">
                <a:solidFill>
                  <a:srgbClr val="7030A0"/>
                </a:solidFill>
                <a:latin typeface="Times New Roman" charset="0"/>
                <a:ea typeface="MS PGothic" pitchFamily="34" charset="-128"/>
              </a:rPr>
              <a:t>set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5380" y="3048001"/>
            <a:ext cx="833883" cy="430887"/>
          </a:xfrm>
          <a:prstGeom prst="rect">
            <a:avLst/>
          </a:prstGeom>
        </p:spPr>
        <p:txBody>
          <a:bodyPr wrap="none" tIns="0" bIns="0" anchor="ctr" anchorCtr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endParaRPr lang="zh-TW" altLang="en-US" sz="2800" dirty="0">
              <a:solidFill>
                <a:srgbClr val="FFFFFF"/>
              </a:solidFill>
              <a:latin typeface="Times New Roman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583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Dynamically adding to an object: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80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800" dirty="0">
                <a:latin typeface="Lucida Console" panose="020B0609040504020204" pitchFamily="49" charset="0"/>
              </a:rPr>
              <a:t>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=f  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method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#Two arguments needed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an </a:t>
            </a:r>
            <a:r>
              <a:rPr lang="en-US" altLang="en-US" sz="28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attribute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7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373062" y="726440"/>
            <a:ext cx="8915400" cy="59029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/>
              <a:t>These are referenced through the “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”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2.	A </a:t>
            </a:r>
            <a:r>
              <a:rPr lang="en-US" altLang="ja-JP" sz="3200" b="1" dirty="0">
                <a:solidFill>
                  <a:schemeClr val="bg1">
                    <a:lumMod val="75000"/>
                  </a:schemeClr>
                </a:solidFill>
              </a:rPr>
              <a:t>class attribute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 is a static variable whose value is shared by </a:t>
            </a:r>
            <a:r>
              <a:rPr lang="en-US" altLang="ja-JP" sz="3200" i="1" dirty="0">
                <a:solidFill>
                  <a:schemeClr val="bg1">
                    <a:lumMod val="75000"/>
                  </a:schemeClr>
                </a:solidFill>
              </a:rPr>
              <a:t>all instances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 of the </a:t>
            </a:r>
            <a:r>
              <a:rPr lang="en-US" altLang="ja-JP" sz="3200" i="1" dirty="0">
                <a:solidFill>
                  <a:schemeClr val="bg1">
                    <a:lumMod val="75000"/>
                  </a:schemeClr>
                </a:solidFill>
              </a:rPr>
              <a:t>class.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These are referenced without using the “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” parameter.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We’ll see this next week…</a:t>
            </a:r>
          </a:p>
        </p:txBody>
      </p:sp>
    </p:spTree>
    <p:extLst>
      <p:ext uri="{BB962C8B-B14F-4D97-AF65-F5344CB8AC3E}">
        <p14:creationId xmlns:p14="http://schemas.microsoft.com/office/powerpoint/2010/main" val="3149279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373062" y="726440"/>
            <a:ext cx="8915400" cy="59029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/>
              <a:t>These are referenced through the “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”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/>
              <a:t>2.	A </a:t>
            </a:r>
            <a:r>
              <a:rPr lang="en-US" altLang="ja-JP" sz="3200" b="1" dirty="0">
                <a:solidFill>
                  <a:srgbClr val="006600"/>
                </a:solidFill>
              </a:rPr>
              <a:t>class attribute</a:t>
            </a:r>
            <a:r>
              <a:rPr lang="en-US" altLang="ja-JP" sz="3200" dirty="0"/>
              <a:t> is a static variable whose value is shared by </a:t>
            </a:r>
            <a:r>
              <a:rPr lang="en-US" altLang="ja-JP" sz="3200" i="1" dirty="0"/>
              <a:t>all instances</a:t>
            </a:r>
            <a:r>
              <a:rPr lang="en-US" altLang="ja-JP" sz="3200" dirty="0"/>
              <a:t> of the </a:t>
            </a:r>
            <a:r>
              <a:rPr lang="en-US" altLang="ja-JP" sz="3200" i="1" dirty="0"/>
              <a:t>class.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/>
              <a:t>These are referenced without using the “</a:t>
            </a:r>
            <a:r>
              <a:rPr lang="en-US" altLang="ja-JP" sz="3200" dirty="0"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” parameter.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We’ll see this next week…</a:t>
            </a:r>
          </a:p>
        </p:txBody>
      </p:sp>
    </p:spTree>
    <p:extLst>
      <p:ext uri="{BB962C8B-B14F-4D97-AF65-F5344CB8AC3E}">
        <p14:creationId xmlns:p14="http://schemas.microsoft.com/office/powerpoint/2010/main" val="40367310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35593</TotalTime>
  <Words>12698</Words>
  <Application>Microsoft Office PowerPoint</Application>
  <PresentationFormat>自訂</PresentationFormat>
  <Paragraphs>1519</Paragraphs>
  <Slides>76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76</vt:i4>
      </vt:variant>
    </vt:vector>
  </HeadingPairs>
  <TitlesOfParts>
    <vt:vector size="96" baseType="lpstr">
      <vt:lpstr>Agency FB</vt:lpstr>
      <vt:lpstr>Arial</vt:lpstr>
      <vt:lpstr>Arial Narrow</vt:lpstr>
      <vt:lpstr>Bahnschrift Light</vt:lpstr>
      <vt:lpstr>Calibri</vt:lpstr>
      <vt:lpstr>Calibri Light</vt:lpstr>
      <vt:lpstr>Century</vt:lpstr>
      <vt:lpstr>Consolas</vt:lpstr>
      <vt:lpstr>Courier New</vt:lpstr>
      <vt:lpstr>Elephant</vt:lpstr>
      <vt:lpstr>Lucida Console</vt:lpstr>
      <vt:lpstr>Palatino Linotype</vt:lpstr>
      <vt:lpstr>Times New Roman</vt:lpstr>
      <vt:lpstr>Verdana</vt:lpstr>
      <vt:lpstr>Wingdings</vt:lpstr>
      <vt:lpstr>Default Design</vt:lpstr>
      <vt:lpstr>9_Default Design</vt:lpstr>
      <vt:lpstr>1_Default Design</vt:lpstr>
      <vt:lpstr>1_Office Theme</vt:lpstr>
      <vt:lpstr>2_Office Theme</vt:lpstr>
      <vt:lpstr>Formatted Strings:</vt:lpstr>
      <vt:lpstr>String Formatting Symbols: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String { } Formatting Symbols: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 brief explanation of ellipses</vt:lpstr>
      <vt:lpstr>PowerPoint 簡報</vt:lpstr>
      <vt:lpstr>PowerPoint 簡報</vt:lpstr>
      <vt:lpstr>PowerPoint 簡報</vt:lpstr>
      <vt:lpstr>PowerPoint 簡報</vt:lpstr>
      <vt:lpstr>PowerPoint 簡報</vt:lpstr>
      <vt:lpstr>What are the Python keywords?</vt:lpstr>
      <vt:lpstr>PowerPoint 簡報</vt:lpstr>
      <vt:lpstr>PowerPoint 簡報</vt:lpstr>
      <vt:lpstr>Here is a simple class definition:</vt:lpstr>
      <vt:lpstr>So we know all the keywords now</vt:lpstr>
      <vt:lpstr>And we know all the builtins now</vt:lpstr>
      <vt:lpstr>PowerPoint 簡報</vt:lpstr>
      <vt:lpstr>PowerPoint 簡報</vt:lpstr>
      <vt:lpstr>Object Oriented Programming (OOP)</vt:lpstr>
      <vt:lpstr>Object-Oriented Basics</vt:lpstr>
      <vt:lpstr>Creating and Using a Class</vt:lpstr>
      <vt:lpstr>Creating Multiple Objects</vt:lpstr>
      <vt:lpstr>A simple class definition:</vt:lpstr>
      <vt:lpstr>A class containing a method:</vt:lpstr>
      <vt:lpstr>A class containing a method:</vt:lpstr>
      <vt:lpstr>A class containing a method:</vt:lpstr>
      <vt:lpstr>A class containing a method:</vt:lpstr>
      <vt:lpstr>A class containing an attribute:</vt:lpstr>
      <vt:lpstr>A class containing an attribute:</vt:lpstr>
      <vt:lpstr>A class containing an attribute:</vt:lpstr>
      <vt:lpstr>Dynamically adding to an object:</vt:lpstr>
      <vt:lpstr>Two Types of Attributes</vt:lpstr>
      <vt:lpstr>Two Types of Attributes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黃啟桓</cp:lastModifiedBy>
  <cp:revision>1234</cp:revision>
  <dcterms:created xsi:type="dcterms:W3CDTF">2017-03-07T03:26:49Z</dcterms:created>
  <dcterms:modified xsi:type="dcterms:W3CDTF">2021-05-11T08:22:13Z</dcterms:modified>
</cp:coreProperties>
</file>