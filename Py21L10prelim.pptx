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  <p:sldMasterId id="2147483984" r:id="rId2"/>
    <p:sldMasterId id="2147484008" r:id="rId3"/>
    <p:sldMasterId id="2147484032" r:id="rId4"/>
  </p:sldMasterIdLst>
  <p:notesMasterIdLst>
    <p:notesMasterId r:id="rId91"/>
  </p:notesMasterIdLst>
  <p:sldIdLst>
    <p:sldId id="1747" r:id="rId5"/>
    <p:sldId id="1748" r:id="rId6"/>
    <p:sldId id="1749" r:id="rId7"/>
    <p:sldId id="1791" r:id="rId8"/>
    <p:sldId id="1840" r:id="rId9"/>
    <p:sldId id="1793" r:id="rId10"/>
    <p:sldId id="1750" r:id="rId11"/>
    <p:sldId id="1751" r:id="rId12"/>
    <p:sldId id="2005" r:id="rId13"/>
    <p:sldId id="1874" r:id="rId14"/>
    <p:sldId id="1873" r:id="rId15"/>
    <p:sldId id="1876" r:id="rId16"/>
    <p:sldId id="1877" r:id="rId17"/>
    <p:sldId id="1878" r:id="rId18"/>
    <p:sldId id="1879" r:id="rId19"/>
    <p:sldId id="1880" r:id="rId20"/>
    <p:sldId id="1881" r:id="rId21"/>
    <p:sldId id="1882" r:id="rId22"/>
    <p:sldId id="1883" r:id="rId23"/>
    <p:sldId id="1884" r:id="rId24"/>
    <p:sldId id="1885" r:id="rId25"/>
    <p:sldId id="1939" r:id="rId26"/>
    <p:sldId id="1963" r:id="rId27"/>
    <p:sldId id="1942" r:id="rId28"/>
    <p:sldId id="1951" r:id="rId29"/>
    <p:sldId id="1952" r:id="rId30"/>
    <p:sldId id="1953" r:id="rId31"/>
    <p:sldId id="1954" r:id="rId32"/>
    <p:sldId id="1955" r:id="rId33"/>
    <p:sldId id="1956" r:id="rId34"/>
    <p:sldId id="1957" r:id="rId35"/>
    <p:sldId id="1958" r:id="rId36"/>
    <p:sldId id="1959" r:id="rId37"/>
    <p:sldId id="1960" r:id="rId38"/>
    <p:sldId id="1961" r:id="rId39"/>
    <p:sldId id="1962" r:id="rId40"/>
    <p:sldId id="1964" r:id="rId41"/>
    <p:sldId id="1965" r:id="rId42"/>
    <p:sldId id="1966" r:id="rId43"/>
    <p:sldId id="1967" r:id="rId44"/>
    <p:sldId id="1968" r:id="rId45"/>
    <p:sldId id="1969" r:id="rId46"/>
    <p:sldId id="1970" r:id="rId47"/>
    <p:sldId id="1971" r:id="rId48"/>
    <p:sldId id="1972" r:id="rId49"/>
    <p:sldId id="1973" r:id="rId50"/>
    <p:sldId id="1974" r:id="rId51"/>
    <p:sldId id="1975" r:id="rId52"/>
    <p:sldId id="1976" r:id="rId53"/>
    <p:sldId id="1977" r:id="rId54"/>
    <p:sldId id="1978" r:id="rId55"/>
    <p:sldId id="1979" r:id="rId56"/>
    <p:sldId id="1980" r:id="rId57"/>
    <p:sldId id="1984" r:id="rId58"/>
    <p:sldId id="1896" r:id="rId59"/>
    <p:sldId id="1897" r:id="rId60"/>
    <p:sldId id="1902" r:id="rId61"/>
    <p:sldId id="1903" r:id="rId62"/>
    <p:sldId id="1904" r:id="rId63"/>
    <p:sldId id="1905" r:id="rId64"/>
    <p:sldId id="1985" r:id="rId65"/>
    <p:sldId id="1986" r:id="rId66"/>
    <p:sldId id="1931" r:id="rId67"/>
    <p:sldId id="1932" r:id="rId68"/>
    <p:sldId id="1933" r:id="rId69"/>
    <p:sldId id="1934" r:id="rId70"/>
    <p:sldId id="1935" r:id="rId71"/>
    <p:sldId id="1936" r:id="rId72"/>
    <p:sldId id="1987" r:id="rId73"/>
    <p:sldId id="1988" r:id="rId74"/>
    <p:sldId id="1989" r:id="rId75"/>
    <p:sldId id="1990" r:id="rId76"/>
    <p:sldId id="1991" r:id="rId77"/>
    <p:sldId id="1992" r:id="rId78"/>
    <p:sldId id="1993" r:id="rId79"/>
    <p:sldId id="1994" r:id="rId80"/>
    <p:sldId id="1995" r:id="rId81"/>
    <p:sldId id="1996" r:id="rId82"/>
    <p:sldId id="1997" r:id="rId83"/>
    <p:sldId id="1998" r:id="rId84"/>
    <p:sldId id="1999" r:id="rId85"/>
    <p:sldId id="2000" r:id="rId86"/>
    <p:sldId id="2001" r:id="rId87"/>
    <p:sldId id="2002" r:id="rId88"/>
    <p:sldId id="2003" r:id="rId89"/>
    <p:sldId id="2004" r:id="rId90"/>
  </p:sldIdLst>
  <p:sldSz cx="9737725" cy="6858000"/>
  <p:notesSz cx="6858000" cy="9144000"/>
  <p:defaultTextStyle>
    <a:defPPr>
      <a:defRPr lang="en-US"/>
    </a:defPPr>
    <a:lvl1pPr marL="0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1pPr>
    <a:lvl2pPr marL="423270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2pPr>
    <a:lvl3pPr marL="846541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3pPr>
    <a:lvl4pPr marL="1269811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4pPr>
    <a:lvl5pPr marL="1693082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5pPr>
    <a:lvl6pPr marL="2116352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6pPr>
    <a:lvl7pPr marL="2539622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7pPr>
    <a:lvl8pPr marL="2962893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8pPr>
    <a:lvl9pPr marL="3386164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0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FD2"/>
    <a:srgbClr val="D9D9D9"/>
    <a:srgbClr val="9D9D9D"/>
    <a:srgbClr val="414A8B"/>
    <a:srgbClr val="47518B"/>
    <a:srgbClr val="575794"/>
    <a:srgbClr val="FFFF00"/>
    <a:srgbClr val="6C6C81"/>
    <a:srgbClr val="000000"/>
    <a:srgbClr val="2D2D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67" d="100"/>
          <a:sy n="67" d="100"/>
        </p:scale>
        <p:origin x="62" y="235"/>
      </p:cViewPr>
      <p:guideLst>
        <p:guide orient="horz" pos="2160"/>
        <p:guide pos="30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tableStyles" Target="tableStyle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D558E-8742-4BFA-AD8A-F33C97E8B945}" type="datetimeFigureOut">
              <a:rPr lang="en-US" smtClean="0"/>
              <a:pPr/>
              <a:t>5/4/2021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8250" y="1143000"/>
            <a:ext cx="4381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E9357-523C-40C5-B7CE-88AC67A9F1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68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1pPr>
    <a:lvl2pPr marL="423270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2pPr>
    <a:lvl3pPr marL="846541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3pPr>
    <a:lvl4pPr marL="1269811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4pPr>
    <a:lvl5pPr marL="1693082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5pPr>
    <a:lvl6pPr marL="2116352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6pPr>
    <a:lvl7pPr marL="2539622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7pPr>
    <a:lvl8pPr marL="2962893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8pPr>
    <a:lvl9pPr marL="3386164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8647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2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9032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3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1794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68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2116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059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82CD3497-8034-4B7C-8079-30ED79BBBC09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3860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7534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237B5F0F-4982-4A43-AC78-B6371C509A7A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9883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0891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9988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2803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24432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80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12820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81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164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82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75961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83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29055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151718D2-CAB1-474E-A04B-54A8C0EAA8A8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84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86765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85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47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7A962B7A-9853-4875-A03B-9AB0D4DB3BA4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86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943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30330" y="3124200"/>
            <a:ext cx="8277066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60659" y="4191000"/>
            <a:ext cx="6654112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30329" y="6248400"/>
            <a:ext cx="2028693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7056" y="6248400"/>
            <a:ext cx="3083613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8703" y="6248400"/>
            <a:ext cx="2028693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089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40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13" y="4406901"/>
            <a:ext cx="8277066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213" y="2906713"/>
            <a:ext cx="8277066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0805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034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0010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8405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6" y="274638"/>
            <a:ext cx="876395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886" y="1535113"/>
            <a:ext cx="43025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" y="2174875"/>
            <a:ext cx="43025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6629" y="1535113"/>
            <a:ext cx="430421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6629" y="2174875"/>
            <a:ext cx="4304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173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3472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843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7" y="273050"/>
            <a:ext cx="320364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7180" y="273051"/>
            <a:ext cx="544365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87" y="1435101"/>
            <a:ext cx="320364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86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662" y="4800600"/>
            <a:ext cx="58426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8662" y="612775"/>
            <a:ext cx="584263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8662" y="5367338"/>
            <a:ext cx="58426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849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4651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9277" y="381000"/>
            <a:ext cx="2150414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8034" y="381000"/>
            <a:ext cx="6288947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0143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30330" y="3124200"/>
            <a:ext cx="8277066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60659" y="4191000"/>
            <a:ext cx="6654112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30329" y="6248400"/>
            <a:ext cx="2028693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7056" y="6248400"/>
            <a:ext cx="3083613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8703" y="6248400"/>
            <a:ext cx="2028693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9068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3360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13" y="4406901"/>
            <a:ext cx="8277066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213" y="2906713"/>
            <a:ext cx="8277066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3275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034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0010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87092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6" y="274638"/>
            <a:ext cx="876395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886" y="1535113"/>
            <a:ext cx="43025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" y="2174875"/>
            <a:ext cx="43025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6629" y="1535113"/>
            <a:ext cx="430421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6629" y="2174875"/>
            <a:ext cx="4304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2629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65136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3843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7" y="273050"/>
            <a:ext cx="320364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7180" y="273051"/>
            <a:ext cx="544365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87" y="1435101"/>
            <a:ext cx="320364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05606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662" y="4800600"/>
            <a:ext cx="58426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8662" y="612775"/>
            <a:ext cx="584263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8662" y="5367338"/>
            <a:ext cx="58426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1479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48390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9277" y="381000"/>
            <a:ext cx="2150414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8034" y="381000"/>
            <a:ext cx="6288947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11674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30330" y="3124200"/>
            <a:ext cx="8277066" cy="838200"/>
          </a:xfrm>
        </p:spPr>
        <p:txBody>
          <a:bodyPr/>
          <a:lstStyle>
            <a:lvl1pPr>
              <a:defRPr sz="43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60659" y="4191000"/>
            <a:ext cx="6654112" cy="990600"/>
          </a:xfrm>
        </p:spPr>
        <p:txBody>
          <a:bodyPr/>
          <a:lstStyle>
            <a:lvl1pPr marL="0" indent="0" algn="ctr">
              <a:buFontTx/>
              <a:buNone/>
              <a:defRPr sz="4299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30329" y="6248400"/>
            <a:ext cx="2028693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defTabSz="84655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7056" y="6248400"/>
            <a:ext cx="3083613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8703" y="6248400"/>
            <a:ext cx="2028693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66094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6806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13" y="4406901"/>
            <a:ext cx="8277066" cy="1362075"/>
          </a:xfrm>
        </p:spPr>
        <p:txBody>
          <a:bodyPr anchor="t"/>
          <a:lstStyle>
            <a:lvl1pPr algn="l">
              <a:defRPr sz="399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213" y="2906714"/>
            <a:ext cx="8277066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0" indent="0">
              <a:buNone/>
              <a:defRPr sz="1800"/>
            </a:lvl2pPr>
            <a:lvl3pPr marL="914360" indent="0">
              <a:buNone/>
              <a:defRPr sz="1600"/>
            </a:lvl3pPr>
            <a:lvl4pPr marL="1371540" indent="0">
              <a:buNone/>
              <a:defRPr sz="1400"/>
            </a:lvl4pPr>
            <a:lvl5pPr marL="1828721" indent="0">
              <a:buNone/>
              <a:defRPr sz="1400"/>
            </a:lvl5pPr>
            <a:lvl6pPr marL="2285901" indent="0">
              <a:buNone/>
              <a:defRPr sz="1400"/>
            </a:lvl6pPr>
            <a:lvl7pPr marL="2743081" indent="0">
              <a:buNone/>
              <a:defRPr sz="1400"/>
            </a:lvl7pPr>
            <a:lvl8pPr marL="3200261" indent="0">
              <a:buNone/>
              <a:defRPr sz="1400"/>
            </a:lvl8pPr>
            <a:lvl9pPr marL="3657441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77669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034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0010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17645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6" y="274638"/>
            <a:ext cx="876395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886" y="1535113"/>
            <a:ext cx="430251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1" indent="0">
              <a:buNone/>
              <a:defRPr sz="1600" b="1"/>
            </a:lvl6pPr>
            <a:lvl7pPr marL="2743081" indent="0">
              <a:buNone/>
              <a:defRPr sz="1600" b="1"/>
            </a:lvl7pPr>
            <a:lvl8pPr marL="3200261" indent="0">
              <a:buNone/>
              <a:defRPr sz="1600" b="1"/>
            </a:lvl8pPr>
            <a:lvl9pPr marL="365744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" y="2174875"/>
            <a:ext cx="430251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6630" y="1535113"/>
            <a:ext cx="430420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1" indent="0">
              <a:buNone/>
              <a:defRPr sz="1600" b="1"/>
            </a:lvl5pPr>
            <a:lvl6pPr marL="2285901" indent="0">
              <a:buNone/>
              <a:defRPr sz="1600" b="1"/>
            </a:lvl6pPr>
            <a:lvl7pPr marL="2743081" indent="0">
              <a:buNone/>
              <a:defRPr sz="1600" b="1"/>
            </a:lvl7pPr>
            <a:lvl8pPr marL="3200261" indent="0">
              <a:buNone/>
              <a:defRPr sz="1600" b="1"/>
            </a:lvl8pPr>
            <a:lvl9pPr marL="365744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6630" y="2174875"/>
            <a:ext cx="430420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76062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78392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29791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7" y="273050"/>
            <a:ext cx="320364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7180" y="273051"/>
            <a:ext cx="544365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87" y="1435101"/>
            <a:ext cx="320364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0" indent="0">
              <a:buNone/>
              <a:defRPr sz="1200"/>
            </a:lvl2pPr>
            <a:lvl3pPr marL="914360" indent="0">
              <a:buNone/>
              <a:defRPr sz="1000"/>
            </a:lvl3pPr>
            <a:lvl4pPr marL="1371540" indent="0">
              <a:buNone/>
              <a:defRPr sz="900"/>
            </a:lvl4pPr>
            <a:lvl5pPr marL="1828721" indent="0">
              <a:buNone/>
              <a:defRPr sz="900"/>
            </a:lvl5pPr>
            <a:lvl6pPr marL="2285901" indent="0">
              <a:buNone/>
              <a:defRPr sz="900"/>
            </a:lvl6pPr>
            <a:lvl7pPr marL="2743081" indent="0">
              <a:buNone/>
              <a:defRPr sz="900"/>
            </a:lvl7pPr>
            <a:lvl8pPr marL="3200261" indent="0">
              <a:buNone/>
              <a:defRPr sz="900"/>
            </a:lvl8pPr>
            <a:lvl9pPr marL="365744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39292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662" y="4800600"/>
            <a:ext cx="58426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8662" y="612776"/>
            <a:ext cx="584263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0" indent="0">
              <a:buNone/>
              <a:defRPr sz="2800"/>
            </a:lvl2pPr>
            <a:lvl3pPr marL="914360" indent="0">
              <a:buNone/>
              <a:defRPr sz="2400"/>
            </a:lvl3pPr>
            <a:lvl4pPr marL="1371540" indent="0">
              <a:buNone/>
              <a:defRPr sz="2000"/>
            </a:lvl4pPr>
            <a:lvl5pPr marL="1828721" indent="0">
              <a:buNone/>
              <a:defRPr sz="2000"/>
            </a:lvl5pPr>
            <a:lvl6pPr marL="2285901" indent="0">
              <a:buNone/>
              <a:defRPr sz="2000"/>
            </a:lvl6pPr>
            <a:lvl7pPr marL="2743081" indent="0">
              <a:buNone/>
              <a:defRPr sz="2000"/>
            </a:lvl7pPr>
            <a:lvl8pPr marL="3200261" indent="0">
              <a:buNone/>
              <a:defRPr sz="2000"/>
            </a:lvl8pPr>
            <a:lvl9pPr marL="3657441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8662" y="5367338"/>
            <a:ext cx="58426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0" indent="0">
              <a:buNone/>
              <a:defRPr sz="1200"/>
            </a:lvl2pPr>
            <a:lvl3pPr marL="914360" indent="0">
              <a:buNone/>
              <a:defRPr sz="1000"/>
            </a:lvl3pPr>
            <a:lvl4pPr marL="1371540" indent="0">
              <a:buNone/>
              <a:defRPr sz="900"/>
            </a:lvl4pPr>
            <a:lvl5pPr marL="1828721" indent="0">
              <a:buNone/>
              <a:defRPr sz="900"/>
            </a:lvl5pPr>
            <a:lvl6pPr marL="2285901" indent="0">
              <a:buNone/>
              <a:defRPr sz="900"/>
            </a:lvl6pPr>
            <a:lvl7pPr marL="2743081" indent="0">
              <a:buNone/>
              <a:defRPr sz="900"/>
            </a:lvl7pPr>
            <a:lvl8pPr marL="3200261" indent="0">
              <a:buNone/>
              <a:defRPr sz="900"/>
            </a:lvl8pPr>
            <a:lvl9pPr marL="365744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6077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96017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9277" y="381000"/>
            <a:ext cx="2150414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8035" y="381000"/>
            <a:ext cx="6288947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54243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30330" y="3124200"/>
            <a:ext cx="8277066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60659" y="4191000"/>
            <a:ext cx="6654112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30329" y="6248400"/>
            <a:ext cx="2028693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7056" y="6248400"/>
            <a:ext cx="3083613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8703" y="6248400"/>
            <a:ext cx="2028693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45827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28456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13" y="4406901"/>
            <a:ext cx="8277066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213" y="2906713"/>
            <a:ext cx="8277066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89812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034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0010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0231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6" y="274638"/>
            <a:ext cx="876395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886" y="1535113"/>
            <a:ext cx="43025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" y="2174875"/>
            <a:ext cx="43025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6629" y="1535113"/>
            <a:ext cx="430421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6629" y="2174875"/>
            <a:ext cx="4304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20924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53639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041196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7" y="273050"/>
            <a:ext cx="320364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7180" y="273051"/>
            <a:ext cx="544365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87" y="1435101"/>
            <a:ext cx="320364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25067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662" y="4800600"/>
            <a:ext cx="58426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8662" y="612775"/>
            <a:ext cx="584263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8662" y="5367338"/>
            <a:ext cx="58426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28140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08170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9277" y="381000"/>
            <a:ext cx="2150414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8034" y="381000"/>
            <a:ext cx="6288947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0457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8034" y="381000"/>
            <a:ext cx="860165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8034" y="1295400"/>
            <a:ext cx="860165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8034" y="6324600"/>
            <a:ext cx="624837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8703" y="6324600"/>
            <a:ext cx="2190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 smtClean="0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496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8034" y="381000"/>
            <a:ext cx="860165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8034" y="1295400"/>
            <a:ext cx="860165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8034" y="6324600"/>
            <a:ext cx="624837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8703" y="6324600"/>
            <a:ext cx="2190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 smtClean="0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2182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8034" y="381000"/>
            <a:ext cx="860165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8034" y="1295401"/>
            <a:ext cx="860165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8034" y="6324601"/>
            <a:ext cx="624837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defTabSz="84655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8703" y="6324601"/>
            <a:ext cx="2190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defTabSz="846552"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 smtClean="0"/>
              <a:pPr defTabSz="846552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8033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18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36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54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721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885" indent="-342885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17" indent="-285738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2950" indent="-22859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131" indent="-22859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311" indent="-22859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490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671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8851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032" indent="-22859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0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1" algn="l" defTabSz="9143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8034" y="381000"/>
            <a:ext cx="860165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8034" y="1295400"/>
            <a:ext cx="860165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8034" y="6324600"/>
            <a:ext cx="624837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8703" y="6324600"/>
            <a:ext cx="2190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59A33E89-56BA-4489-ACFB-045B09264CFD}" type="slidenum">
              <a:rPr lang="en-US" altLang="en-US" smtClean="0">
                <a:ea typeface="MS PGothic" pitchFamily="34" charset="-128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873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nvie.com/posts/iterators-vs-generator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nvie.com/posts/iterators-vs-generators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03691" y="762000"/>
            <a:ext cx="8915400" cy="6096000"/>
          </a:xfrm>
        </p:spPr>
        <p:txBody>
          <a:bodyPr/>
          <a:lstStyle/>
          <a:p>
            <a:pPr marL="95250" indent="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>
                <a:latin typeface="Lucida Console" panose="020B0609040504020204" pitchFamily="49" charset="0"/>
              </a:rPr>
              <a:t> </a:t>
            </a:r>
            <a:r>
              <a:rPr lang="en-GB" altLang="en-US" sz="2800" dirty="0" err="1">
                <a:latin typeface="Lucida Console" panose="020B0609040504020204" pitchFamily="49" charset="0"/>
              </a:rPr>
              <a:t>def</a:t>
            </a:r>
            <a:r>
              <a:rPr lang="en-GB" altLang="en-US" sz="2800" dirty="0">
                <a:latin typeface="Lucida Console" panose="020B0609040504020204" pitchFamily="49" charset="0"/>
              </a:rPr>
              <a:t> squares(x):</a:t>
            </a:r>
            <a:br>
              <a:rPr lang="en-GB" altLang="en-US" sz="2800" dirty="0">
                <a:latin typeface="Lucida Console" panose="020B0609040504020204" pitchFamily="49" charset="0"/>
              </a:rPr>
            </a:br>
            <a:r>
              <a:rPr lang="en-GB" alt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GB" altLang="en-US" sz="2800" dirty="0">
                <a:latin typeface="Lucida Console" panose="020B0609040504020204" pitchFamily="49" charset="0"/>
              </a:rPr>
              <a:t>    for </a:t>
            </a:r>
            <a:r>
              <a:rPr lang="en-GB" altLang="en-US" sz="2800" dirty="0" err="1">
                <a:latin typeface="Lucida Console" panose="020B0609040504020204" pitchFamily="49" charset="0"/>
              </a:rPr>
              <a:t>i</a:t>
            </a:r>
            <a:r>
              <a:rPr lang="en-GB" altLang="en-US" sz="2800" dirty="0">
                <a:latin typeface="Lucida Console" panose="020B0609040504020204" pitchFamily="49" charset="0"/>
              </a:rPr>
              <a:t> in range(x): </a:t>
            </a:r>
            <a:r>
              <a:rPr lang="en-GB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yield</a:t>
            </a:r>
            <a:r>
              <a:rPr lang="en-GB" altLang="en-US" sz="2800" dirty="0">
                <a:latin typeface="Lucida Console" panose="020B0609040504020204" pitchFamily="49" charset="0"/>
              </a:rPr>
              <a:t> </a:t>
            </a:r>
            <a:r>
              <a:rPr lang="en-GB" altLang="en-US" sz="2800" dirty="0" err="1">
                <a:latin typeface="Lucida Console" panose="020B0609040504020204" pitchFamily="49" charset="0"/>
              </a:rPr>
              <a:t>i</a:t>
            </a:r>
            <a:r>
              <a:rPr lang="en-GB" altLang="en-US" sz="2800" dirty="0">
                <a:latin typeface="Lucida Console" panose="020B0609040504020204" pitchFamily="49" charset="0"/>
              </a:rPr>
              <a:t>**2</a:t>
            </a:r>
            <a:br>
              <a:rPr lang="en-GB" altLang="en-US" sz="2800" dirty="0">
                <a:latin typeface="Lucida Console" panose="020B0609040504020204" pitchFamily="49" charset="0"/>
              </a:rPr>
            </a:br>
            <a:r>
              <a:rPr lang="en-GB" alt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for </a:t>
            </a:r>
            <a:r>
              <a:rPr lang="en-GB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GB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in squares(4)</a:t>
            </a:r>
            <a:r>
              <a:rPr lang="en-GB" altLang="en-US" sz="2800" dirty="0">
                <a:latin typeface="Lucida Console" panose="020B0609040504020204" pitchFamily="49" charset="0"/>
              </a:rPr>
              <a:t>: print (</a:t>
            </a:r>
            <a:r>
              <a:rPr lang="en-GB" altLang="en-US" sz="2800" dirty="0" err="1">
                <a:latin typeface="Lucida Console" panose="020B0609040504020204" pitchFamily="49" charset="0"/>
              </a:rPr>
              <a:t>i</a:t>
            </a:r>
            <a:r>
              <a:rPr lang="en-GB" altLang="en-US" sz="2800" dirty="0">
                <a:latin typeface="Lucida Console" panose="020B0609040504020204" pitchFamily="49" charset="0"/>
              </a:rPr>
              <a:t>)</a:t>
            </a:r>
            <a:br>
              <a:rPr lang="en-GB" altLang="en-US" sz="2800" dirty="0">
                <a:latin typeface="Lucida Console" panose="020B0609040504020204" pitchFamily="49" charset="0"/>
              </a:rPr>
            </a:br>
            <a:r>
              <a:rPr lang="en-GB" alt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br>
              <a:rPr lang="en-GB" altLang="en-US" sz="2800" dirty="0">
                <a:latin typeface="Lucida Console" panose="020B0609040504020204" pitchFamily="49" charset="0"/>
              </a:rPr>
            </a:br>
            <a:r>
              <a:rPr lang="en-GB" altLang="en-US" sz="2800" dirty="0">
                <a:latin typeface="Lucida Console" panose="020B0609040504020204" pitchFamily="49" charset="0"/>
              </a:rPr>
              <a:t>0 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latin typeface="Lucida Console" panose="020B0609040504020204" pitchFamily="49" charset="0"/>
              </a:rPr>
              <a:t>1 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latin typeface="Lucida Console" panose="020B0609040504020204" pitchFamily="49" charset="0"/>
              </a:rPr>
              <a:t>4 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latin typeface="Lucida Console" panose="020B0609040504020204" pitchFamily="49" charset="0"/>
              </a:rPr>
              <a:t>9</a:t>
            </a:r>
            <a:r>
              <a:rPr lang="en-GB" alt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GB" altLang="en-US" sz="2800" dirty="0"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GB" altLang="en-US" sz="1800" dirty="0">
              <a:latin typeface="Lucida Console" panose="020B0609040504020204" pitchFamily="49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601662" y="2057400"/>
            <a:ext cx="8001000" cy="2286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 flipV="1">
            <a:off x="1418091" y="1440000"/>
            <a:ext cx="8001000" cy="35335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7" name="Rectangle 1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1047750"/>
          </a:xfrm>
        </p:spPr>
        <p:txBody>
          <a:bodyPr/>
          <a:lstStyle/>
          <a:p>
            <a:pPr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dirty="0">
                <a:latin typeface="Elephant" panose="02020904090505020303" pitchFamily="18" charset="0"/>
              </a:rPr>
              <a:t>Function</a:t>
            </a:r>
            <a:r>
              <a:rPr lang="en-GB" altLang="en-US" sz="4400" b="1" dirty="0">
                <a:latin typeface="Elephant" panose="02020904090505020303" pitchFamily="18" charset="0"/>
              </a:rPr>
              <a:t> </a:t>
            </a:r>
            <a:r>
              <a:rPr lang="en-GB" altLang="en-US" sz="4400" dirty="0">
                <a:latin typeface="Elephant" panose="02020904090505020303" pitchFamily="18" charset="0"/>
              </a:rPr>
              <a:t>Generators</a:t>
            </a:r>
          </a:p>
        </p:txBody>
      </p:sp>
      <p:sp>
        <p:nvSpPr>
          <p:cNvPr id="8" name="Trapezoid 7"/>
          <p:cNvSpPr>
            <a:spLocks noChangeAspect="1"/>
          </p:cNvSpPr>
          <p:nvPr/>
        </p:nvSpPr>
        <p:spPr bwMode="auto">
          <a:xfrm rot="2700000" flipH="1">
            <a:off x="7439566" y="459511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9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end slides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92719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Function</a:t>
            </a:r>
            <a:r>
              <a:rPr lang="en-GB" altLang="en-US" sz="4400" b="1" kern="0" dirty="0">
                <a:latin typeface="Elephant" panose="02020904090505020303" pitchFamily="18" charset="0"/>
              </a:rPr>
              <a:t> </a:t>
            </a:r>
            <a:r>
              <a:rPr lang="en-GB" altLang="en-US" sz="4400" kern="0" dirty="0">
                <a:latin typeface="Elephant" panose="02020904090505020303" pitchFamily="18" charset="0"/>
              </a:rPr>
              <a:t>Generators</a:t>
            </a:r>
          </a:p>
        </p:txBody>
      </p:sp>
      <p:sp>
        <p:nvSpPr>
          <p:cNvPr id="16" name="Rectangle 1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1047750"/>
          </a:xfrm>
          <a:solidFill>
            <a:schemeClr val="bg1"/>
          </a:solidFill>
        </p:spPr>
        <p:txBody>
          <a:bodyPr/>
          <a:lstStyle/>
          <a:p>
            <a:pPr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000" b="1" dirty="0">
                <a:solidFill>
                  <a:srgbClr val="FF0000"/>
                </a:solidFill>
              </a:rPr>
              <a:t>next</a:t>
            </a:r>
            <a:r>
              <a:rPr lang="en-GB" altLang="en-US" sz="4000" dirty="0"/>
              <a:t> </a:t>
            </a:r>
            <a:r>
              <a:rPr lang="en-GB" altLang="en-US" sz="4200" dirty="0">
                <a:latin typeface="Elephant" panose="02020904090505020303" pitchFamily="18" charset="0"/>
              </a:rPr>
              <a:t>with a Function</a:t>
            </a:r>
            <a:r>
              <a:rPr lang="en-GB" altLang="en-US" sz="4200" b="1" dirty="0">
                <a:latin typeface="Elephant" panose="02020904090505020303" pitchFamily="18" charset="0"/>
              </a:rPr>
              <a:t> </a:t>
            </a:r>
            <a:r>
              <a:rPr lang="en-GB" altLang="en-US" sz="4200" dirty="0">
                <a:latin typeface="Elephant" panose="02020904090505020303" pitchFamily="18" charset="0"/>
              </a:rPr>
              <a:t>Generator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3691" y="762000"/>
            <a:ext cx="89154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latin typeface="Lucida Console" panose="020B0609040504020204" pitchFamily="49" charset="0"/>
              </a:rPr>
              <a:t> </a:t>
            </a:r>
            <a:r>
              <a:rPr lang="en-GB" altLang="en-US" sz="2800" kern="0" dirty="0" err="1">
                <a:latin typeface="Lucida Console" panose="020B0609040504020204" pitchFamily="49" charset="0"/>
              </a:rPr>
              <a:t>def</a:t>
            </a:r>
            <a:r>
              <a:rPr lang="en-GB" altLang="en-US" sz="2800" kern="0" dirty="0">
                <a:latin typeface="Lucida Console" panose="020B0609040504020204" pitchFamily="49" charset="0"/>
              </a:rPr>
              <a:t> squares(x):</a:t>
            </a:r>
            <a:br>
              <a:rPr lang="en-GB" altLang="en-US" sz="2800" kern="0" dirty="0">
                <a:latin typeface="Lucida Console" panose="020B0609040504020204" pitchFamily="49" charset="0"/>
              </a:rPr>
            </a:b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GB" altLang="en-US" sz="2800" kern="0" dirty="0">
                <a:latin typeface="Lucida Console" panose="020B0609040504020204" pitchFamily="49" charset="0"/>
              </a:rPr>
              <a:t>    for </a:t>
            </a:r>
            <a:r>
              <a:rPr lang="en-GB" altLang="en-US" sz="2800" kern="0" dirty="0" err="1">
                <a:latin typeface="Lucida Console" panose="020B0609040504020204" pitchFamily="49" charset="0"/>
              </a:rPr>
              <a:t>i</a:t>
            </a:r>
            <a:r>
              <a:rPr lang="en-GB" altLang="en-US" sz="2800" kern="0" dirty="0">
                <a:latin typeface="Lucida Console" panose="020B0609040504020204" pitchFamily="49" charset="0"/>
              </a:rPr>
              <a:t> in range(x):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yield</a:t>
            </a:r>
            <a:r>
              <a:rPr lang="en-GB" altLang="en-US" sz="2800" kern="0" dirty="0">
                <a:latin typeface="Lucida Console" panose="020B0609040504020204" pitchFamily="49" charset="0"/>
              </a:rPr>
              <a:t> </a:t>
            </a:r>
            <a:r>
              <a:rPr lang="en-GB" altLang="en-US" sz="2800" kern="0" dirty="0" err="1">
                <a:latin typeface="Lucida Console" panose="020B0609040504020204" pitchFamily="49" charset="0"/>
              </a:rPr>
              <a:t>i</a:t>
            </a:r>
            <a:r>
              <a:rPr lang="en-GB" altLang="en-US" sz="2800" kern="0" dirty="0">
                <a:latin typeface="Lucida Console" panose="020B0609040504020204" pitchFamily="49" charset="0"/>
              </a:rPr>
              <a:t>**2</a:t>
            </a:r>
            <a:br>
              <a:rPr lang="en-GB" altLang="en-US" sz="2800" kern="0" dirty="0">
                <a:latin typeface="Lucida Console" panose="020B0609040504020204" pitchFamily="49" charset="0"/>
              </a:rPr>
            </a:b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= squares(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4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 </a:t>
            </a:r>
            <a:endParaRPr lang="en-GB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#See how it starts with the first: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0</a:t>
            </a:r>
            <a:endParaRPr lang="en-GB" altLang="en-US" sz="2800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#See how it steps through sequence: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= squares(</a:t>
            </a: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2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 </a:t>
            </a:r>
            <a:endParaRPr lang="en-GB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#See how this new one starts fresh: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0</a:t>
            </a:r>
            <a:endParaRPr lang="en-GB" altLang="en-US" sz="2800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#See how y sequence unaffected by z: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4</a:t>
            </a:r>
            <a:endParaRPr lang="en-GB" altLang="en-US" sz="2800" b="1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#This is z’s second element: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1</a:t>
            </a:r>
            <a:endParaRPr lang="en-GB" altLang="en-US" sz="2800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#But z only has 2 elements (square(2))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US" altLang="en-US" sz="28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defTabSz="914400" eaLnBrk="1">
              <a:lnSpc>
                <a:spcPct val="85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8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defTabSz="914400" eaLnBrk="1">
              <a:lnSpc>
                <a:spcPct val="85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StopIteration</a:t>
            </a:r>
            <a:endParaRPr lang="en-US" altLang="en-US" sz="2800" kern="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598349" y="5426765"/>
            <a:ext cx="851452" cy="33461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98349" y="1809750"/>
            <a:ext cx="851452" cy="2476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98349" y="2495550"/>
            <a:ext cx="851452" cy="2112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98349" y="3141592"/>
            <a:ext cx="851452" cy="2476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598349" y="3486150"/>
            <a:ext cx="851452" cy="2277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598349" y="4098236"/>
            <a:ext cx="851452" cy="3213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598349" y="4784036"/>
            <a:ext cx="851452" cy="28823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3" name="Trapezoid 12"/>
          <p:cNvSpPr>
            <a:spLocks noChangeAspect="1"/>
          </p:cNvSpPr>
          <p:nvPr/>
        </p:nvSpPr>
        <p:spPr bwMode="auto">
          <a:xfrm rot="2700000" flipH="1">
            <a:off x="7439566" y="459511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9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end slides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65676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" grpId="0"/>
      <p:bldP spid="7" grpId="0"/>
      <p:bldP spid="8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000" kern="0" dirty="0"/>
              <a:t>(</a:t>
            </a:r>
            <a:r>
              <a:rPr lang="en-GB" altLang="en-US" sz="4200" kern="0" dirty="0">
                <a:latin typeface="Elephant" panose="02020904090505020303" pitchFamily="18" charset="0"/>
              </a:rPr>
              <a:t>We've used </a:t>
            </a:r>
            <a:r>
              <a:rPr lang="en-GB" altLang="en-US" sz="40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4000" kern="0" dirty="0"/>
              <a:t> </a:t>
            </a:r>
            <a:r>
              <a:rPr lang="en-GB" altLang="en-US" sz="4200" kern="0" dirty="0">
                <a:latin typeface="Elephant" panose="02020904090505020303" pitchFamily="18" charset="0"/>
              </a:rPr>
              <a:t>similarly</a:t>
            </a:r>
            <a:r>
              <a:rPr lang="en-GB" altLang="en-US" sz="4000" kern="0" dirty="0"/>
              <a:t>)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3691" y="762000"/>
            <a:ext cx="89154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800" kern="0" dirty="0" err="1">
                <a:solidFill>
                  <a:srgbClr val="FFFFFF"/>
                </a:solidFill>
                <a:latin typeface="Lucida Console" panose="020B0609040504020204" pitchFamily="49" charset="0"/>
              </a:rPr>
              <a:t>def</a:t>
            </a: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 squares(x):</a:t>
            </a:r>
            <a:b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</a:b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...    for </a:t>
            </a:r>
            <a:r>
              <a:rPr lang="en-GB" altLang="en-US" sz="2800" kern="0" dirty="0" err="1">
                <a:solidFill>
                  <a:srgbClr val="FFFFFF"/>
                </a:solidFill>
                <a:latin typeface="Lucida Console" panose="020B0609040504020204" pitchFamily="49" charset="0"/>
              </a:rPr>
              <a:t>i</a:t>
            </a: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 in range(x): yield </a:t>
            </a:r>
            <a:r>
              <a:rPr lang="en-GB" altLang="en-US" sz="2800" kern="0" dirty="0" err="1">
                <a:solidFill>
                  <a:srgbClr val="FFFFFF"/>
                </a:solidFill>
                <a:latin typeface="Lucida Console" panose="020B0609040504020204" pitchFamily="49" charset="0"/>
              </a:rPr>
              <a:t>i</a:t>
            </a: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**2</a:t>
            </a:r>
            <a:b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</a:b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GB" altLang="en-US" sz="2800" b="1" u="sng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(range(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4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))) </a:t>
            </a:r>
            <a:endParaRPr lang="en-GB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#See how it starts with the first: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0</a:t>
            </a:r>
            <a:endParaRPr lang="en-GB" altLang="en-US" sz="2800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#See how it steps through sequence: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GB" altLang="en-US" sz="2800" b="1" u="sng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(range(</a:t>
            </a:r>
            <a:r>
              <a:rPr lang="en-GB" altLang="en-US" sz="28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))) </a:t>
            </a:r>
            <a:endParaRPr lang="en-GB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#See how this new one starts fresh: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0</a:t>
            </a:r>
            <a:endParaRPr lang="en-GB" altLang="en-US" sz="2800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#See how y sequence unaffected by z: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endParaRPr lang="en-GB" altLang="en-US" sz="2800" b="1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#This is z’s second element: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1</a:t>
            </a:r>
            <a:endParaRPr lang="en-GB" altLang="en-US" sz="2800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#But z only has 2 elements (square(2))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US" altLang="en-US" sz="28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defTabSz="914400" eaLnBrk="1">
              <a:lnSpc>
                <a:spcPct val="85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8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defTabSz="914400" eaLnBrk="1">
              <a:lnSpc>
                <a:spcPct val="85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StopIteration</a:t>
            </a:r>
            <a:endParaRPr lang="en-US" altLang="en-US" sz="2800" kern="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598349" y="5426765"/>
            <a:ext cx="851452" cy="33461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98349" y="1809750"/>
            <a:ext cx="851452" cy="2476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98349" y="2495550"/>
            <a:ext cx="851452" cy="2112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98349" y="3141592"/>
            <a:ext cx="851452" cy="2476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598349" y="3486150"/>
            <a:ext cx="851452" cy="2277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598349" y="4098236"/>
            <a:ext cx="851452" cy="3213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598349" y="4784036"/>
            <a:ext cx="851452" cy="28823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3" name="Trapezoid 12"/>
          <p:cNvSpPr>
            <a:spLocks noChangeAspect="1"/>
          </p:cNvSpPr>
          <p:nvPr/>
        </p:nvSpPr>
        <p:spPr bwMode="auto">
          <a:xfrm rot="2700000" flipH="1">
            <a:off x="7439566" y="459511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9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end slides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87563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609600"/>
            <a:ext cx="9144000" cy="6248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zh-TW" sz="1800" dirty="0">
              <a:solidFill>
                <a:srgbClr val="2D2DB9"/>
              </a:solidFill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3200" dirty="0">
                <a:solidFill>
                  <a:srgbClr val="2D2DB9"/>
                </a:solidFill>
              </a:rPr>
              <a:t>There are Generator Functions:</a:t>
            </a:r>
          </a:p>
          <a:p>
            <a:pPr lvl="1">
              <a:lnSpc>
                <a:spcPct val="90000"/>
              </a:lnSpc>
              <a:spcBef>
                <a:spcPts val="1200"/>
              </a:spcBef>
              <a:buClr>
                <a:schemeClr val="bg1"/>
              </a:buClr>
            </a:pPr>
            <a:r>
              <a:rPr lang="en-US" altLang="zh-TW" sz="2800" dirty="0" err="1">
                <a:latin typeface="Lucida Console" panose="020B0609040504020204" pitchFamily="49" charset="0"/>
              </a:rPr>
              <a:t>def</a:t>
            </a:r>
            <a:r>
              <a:rPr lang="en-US" altLang="zh-TW" sz="2800" dirty="0">
                <a:latin typeface="Lucida Console" panose="020B0609040504020204" pitchFamily="49" charset="0"/>
              </a:rPr>
              <a:t> squares(start, stop):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sz="2800" dirty="0">
                <a:latin typeface="Lucida Console" panose="020B0609040504020204" pitchFamily="49" charset="0"/>
              </a:rPr>
              <a:t>    for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in range(start, stop):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sz="2800" dirty="0">
                <a:latin typeface="Lucida Console" panose="020B0609040504020204" pitchFamily="49" charset="0"/>
              </a:rPr>
              <a:t>       yield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*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sz="2800" dirty="0">
                <a:solidFill>
                  <a:srgbClr val="339933"/>
                </a:solidFill>
                <a:latin typeface="Lucida Console" panose="020B0609040504020204" pitchFamily="49" charset="0"/>
              </a:rPr>
              <a:t>iterator =</a:t>
            </a:r>
            <a:r>
              <a:rPr lang="en-US" altLang="zh-TW" sz="2800" dirty="0">
                <a:latin typeface="Lucida Console" panose="020B0609040504020204" pitchFamily="49" charset="0"/>
              </a:rPr>
              <a:t> squares(a, b)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endParaRPr lang="en-US" altLang="zh-TW" sz="3600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3200" spc="-80" dirty="0">
                <a:solidFill>
                  <a:srgbClr val="2D2DB9"/>
                </a:solidFill>
              </a:rPr>
              <a:t>There are Generator</a:t>
            </a:r>
            <a:r>
              <a:rPr lang="en-US" altLang="zh-TW" sz="2800" spc="-80" dirty="0">
                <a:solidFill>
                  <a:srgbClr val="2D2DB9"/>
                </a:solidFill>
              </a:rPr>
              <a:t> </a:t>
            </a:r>
            <a:r>
              <a:rPr lang="en-US" altLang="zh-TW" sz="3200" spc="-80" dirty="0">
                <a:solidFill>
                  <a:srgbClr val="2D2DB9"/>
                </a:solidFill>
              </a:rPr>
              <a:t>Expressions:</a:t>
            </a:r>
          </a:p>
          <a:p>
            <a:pPr lvl="1">
              <a:lnSpc>
                <a:spcPct val="90000"/>
              </a:lnSpc>
              <a:spcBef>
                <a:spcPts val="1200"/>
              </a:spcBef>
              <a:buClr>
                <a:schemeClr val="bg1"/>
              </a:buClr>
            </a:pPr>
            <a:r>
              <a:rPr lang="en-US" altLang="zh-TW" sz="2800" dirty="0">
                <a:solidFill>
                  <a:srgbClr val="339933"/>
                </a:solidFill>
                <a:latin typeface="Lucida Console" panose="020B0609040504020204" pitchFamily="49" charset="0"/>
              </a:rPr>
              <a:t>iterator =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for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in range(</a:t>
            </a:r>
            <a:r>
              <a:rPr lang="en-US" altLang="zh-TW" sz="2800" dirty="0" err="1">
                <a:latin typeface="Lucida Console" panose="020B0609040504020204" pitchFamily="49" charset="0"/>
              </a:rPr>
              <a:t>a,b</a:t>
            </a:r>
            <a:r>
              <a:rPr lang="en-US" altLang="zh-TW" sz="2800" dirty="0">
                <a:latin typeface="Lucida Console" panose="020B0609040504020204" pitchFamily="49" charset="0"/>
              </a:rPr>
              <a:t>)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sz="2800" dirty="0">
                <a:latin typeface="Lucida Console" panose="020B0609040504020204" pitchFamily="49" charset="0"/>
              </a:rPr>
              <a:t>           #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This is </a:t>
            </a:r>
            <a:r>
              <a:rPr lang="en-US" altLang="zh-TW" sz="2800" u="sng" dirty="0">
                <a:solidFill>
                  <a:srgbClr val="FF000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a tuple.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endParaRPr lang="en-US" altLang="zh-TW" sz="1600" dirty="0">
              <a:latin typeface="Lucida Console" panose="020B06090405040202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zh-TW" sz="3000" spc="-80" dirty="0">
                <a:solidFill>
                  <a:srgbClr val="2D2DB9"/>
                </a:solidFill>
              </a:rPr>
              <a:t>(Generator</a:t>
            </a:r>
            <a:r>
              <a:rPr lang="en-US" altLang="zh-TW" spc="-80" dirty="0">
                <a:solidFill>
                  <a:srgbClr val="2D2DB9"/>
                </a:solidFill>
              </a:rPr>
              <a:t> </a:t>
            </a:r>
            <a:r>
              <a:rPr lang="en-US" altLang="zh-TW" sz="3000" spc="-80" dirty="0">
                <a:solidFill>
                  <a:srgbClr val="2D2DB9"/>
                </a:solidFill>
              </a:rPr>
              <a:t>expressions are not comprehensions.)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endParaRPr lang="en-US" altLang="zh-TW" sz="28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What is a </a:t>
            </a:r>
            <a:r>
              <a:rPr lang="en-US" altLang="en-US" sz="44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generator?</a:t>
            </a:r>
            <a:endParaRPr lang="en-GB" altLang="en-US" sz="4400" kern="0" dirty="0">
              <a:latin typeface="Elephant" panose="02020904090505020303" pitchFamily="18" charset="0"/>
            </a:endParaRPr>
          </a:p>
        </p:txBody>
      </p:sp>
      <p:sp>
        <p:nvSpPr>
          <p:cNvPr id="5" name="Trapezoid 4"/>
          <p:cNvSpPr>
            <a:spLocks noChangeAspect="1"/>
          </p:cNvSpPr>
          <p:nvPr/>
        </p:nvSpPr>
        <p:spPr bwMode="auto">
          <a:xfrm rot="2700000" flipH="1">
            <a:off x="7439566" y="459511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9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end slides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065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/>
          <a:lstStyle/>
          <a:p>
            <a:r>
              <a:rPr lang="en-US" altLang="en-US" sz="44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Comprehensions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1263" y="838200"/>
            <a:ext cx="8797491" cy="601980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altLang="en-US" sz="3200" spc="-10" dirty="0"/>
              <a:t>A list can be </a:t>
            </a:r>
            <a:r>
              <a:rPr lang="en-US" altLang="en-US" sz="3200" i="1" spc="-10" dirty="0"/>
              <a:t>comprehended</a:t>
            </a:r>
            <a:r>
              <a:rPr lang="en-US" altLang="en-US" sz="3200" spc="-10" dirty="0"/>
              <a:t> (created </a:t>
            </a:r>
            <a:r>
              <a:rPr lang="en-US" altLang="en-US" sz="3200" i="1" spc="-10" dirty="0"/>
              <a:t>in-place</a:t>
            </a:r>
            <a:r>
              <a:rPr lang="en-US" altLang="en-US" sz="3200" spc="-10" dirty="0"/>
              <a:t>) </a:t>
            </a:r>
            <a:r>
              <a:rPr lang="en-US" altLang="en-US" sz="3200" dirty="0"/>
              <a:t>immediately as its elements are calculated:</a:t>
            </a:r>
            <a:endParaRPr lang="en-US" altLang="en-US" sz="2800" dirty="0">
              <a:solidFill>
                <a:schemeClr val="tx1"/>
              </a:solidFill>
              <a:latin typeface="Lucida Console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[</a:t>
            </a:r>
            <a:r>
              <a:rPr lang="en-US" altLang="en-US" sz="2800" dirty="0">
                <a:solidFill>
                  <a:schemeClr val="accent2"/>
                </a:solidFill>
                <a:latin typeface="Lucida Console" pitchFamily="49" charset="0"/>
              </a:rPr>
              <a:t>3*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for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in (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)]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[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6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9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]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[{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accent2"/>
                </a:solidFill>
                <a:latin typeface="Lucida Console" pitchFamily="49" charset="0"/>
              </a:rPr>
              <a:t>**2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 for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in (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4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)]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[{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}, 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4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}, 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9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}, 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4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16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}]</a:t>
            </a:r>
          </a:p>
          <a:p>
            <a:r>
              <a:rPr lang="en-US" altLang="en-US" sz="3200" dirty="0"/>
              <a:t>Set comprehension:</a:t>
            </a:r>
            <a:endParaRPr lang="en-US" altLang="en-US" sz="2800" dirty="0"/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accent2"/>
                </a:solidFill>
                <a:latin typeface="Lucida Console" pitchFamily="49" charset="0"/>
              </a:rPr>
              <a:t>**3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for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in (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)}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{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8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27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r>
              <a:rPr lang="en-US" altLang="en-US" sz="3200" dirty="0"/>
              <a:t>Dictionary comprehension:</a:t>
            </a:r>
            <a:endParaRPr lang="en-US" altLang="en-US" sz="2800" dirty="0"/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 err="1">
                <a:solidFill>
                  <a:schemeClr val="tx1"/>
                </a:solidFill>
                <a:latin typeface="Lucida Console" pitchFamily="49" charset="0"/>
              </a:rPr>
              <a:t>: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accent2"/>
                </a:solidFill>
                <a:latin typeface="Lucida Console" pitchFamily="49" charset="0"/>
              </a:rPr>
              <a:t>**4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for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in (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)}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16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81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r>
              <a:rPr lang="en-US" altLang="en-US" sz="3200" b="1" dirty="0">
                <a:solidFill>
                  <a:srgbClr val="7030A0"/>
                </a:solidFill>
              </a:rPr>
              <a:t>But tuples and strings don’t work.</a:t>
            </a:r>
            <a:endParaRPr lang="en-US" altLang="en-US" sz="2800" b="1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0" y="688369"/>
            <a:ext cx="9737725" cy="5609689"/>
          </a:xfrm>
          <a:prstGeom prst="rect">
            <a:avLst/>
          </a:prstGeom>
          <a:solidFill>
            <a:srgbClr val="FFFFFF">
              <a:alpha val="8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5" name="Trapezoid 4"/>
          <p:cNvSpPr>
            <a:spLocks noChangeAspect="1"/>
          </p:cNvSpPr>
          <p:nvPr/>
        </p:nvSpPr>
        <p:spPr bwMode="auto">
          <a:xfrm rot="18900000">
            <a:off x="-684172" y="459519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Recall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#29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3022372" y="6308333"/>
            <a:ext cx="2205056" cy="549667"/>
          </a:xfrm>
          <a:prstGeom prst="rect">
            <a:avLst/>
          </a:prstGeom>
          <a:solidFill>
            <a:srgbClr val="FFFFFF">
              <a:alpha val="8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7" name="Trapezoid 6"/>
          <p:cNvSpPr>
            <a:spLocks noChangeAspect="1"/>
          </p:cNvSpPr>
          <p:nvPr/>
        </p:nvSpPr>
        <p:spPr bwMode="auto">
          <a:xfrm rot="2700000" flipH="1">
            <a:off x="7439566" y="459511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9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end slides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3600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1" y="609600"/>
            <a:ext cx="9201099" cy="6248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zh-TW" sz="1800" dirty="0">
              <a:solidFill>
                <a:srgbClr val="2D2DB9"/>
              </a:solidFill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3200" dirty="0">
                <a:solidFill>
                  <a:srgbClr val="2D2DB9"/>
                </a:solidFill>
              </a:rPr>
              <a:t>There are Generator Functions:</a:t>
            </a:r>
          </a:p>
          <a:p>
            <a:pPr lvl="1">
              <a:lnSpc>
                <a:spcPct val="90000"/>
              </a:lnSpc>
              <a:spcBef>
                <a:spcPts val="1200"/>
              </a:spcBef>
              <a:buClr>
                <a:schemeClr val="bg1"/>
              </a:buClr>
            </a:pPr>
            <a:r>
              <a:rPr lang="en-US" altLang="zh-TW" sz="2800" dirty="0" err="1">
                <a:latin typeface="Lucida Console" panose="020B0609040504020204" pitchFamily="49" charset="0"/>
              </a:rPr>
              <a:t>def</a:t>
            </a:r>
            <a:r>
              <a:rPr lang="en-US" altLang="zh-TW" sz="2800" dirty="0">
                <a:latin typeface="Lucida Console" panose="020B0609040504020204" pitchFamily="49" charset="0"/>
              </a:rPr>
              <a:t> squares(start, stop):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sz="2800" dirty="0">
                <a:latin typeface="Lucida Console" panose="020B0609040504020204" pitchFamily="49" charset="0"/>
              </a:rPr>
              <a:t>    for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in range(start, stop):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sz="2800" dirty="0">
                <a:latin typeface="Lucida Console" panose="020B0609040504020204" pitchFamily="49" charset="0"/>
              </a:rPr>
              <a:t>       yield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*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sz="2800" dirty="0">
                <a:solidFill>
                  <a:srgbClr val="339933"/>
                </a:solidFill>
                <a:latin typeface="Lucida Console" panose="020B0609040504020204" pitchFamily="49" charset="0"/>
              </a:rPr>
              <a:t>iterator =</a:t>
            </a:r>
            <a:r>
              <a:rPr lang="en-US" altLang="zh-TW" sz="2800" dirty="0">
                <a:latin typeface="Lucida Console" panose="020B0609040504020204" pitchFamily="49" charset="0"/>
              </a:rPr>
              <a:t> squares(a, b)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endParaRPr lang="en-US" altLang="zh-TW" sz="3600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3200" spc="-80" dirty="0">
                <a:solidFill>
                  <a:srgbClr val="2D2DB9"/>
                </a:solidFill>
              </a:rPr>
              <a:t>There are Generator</a:t>
            </a:r>
            <a:r>
              <a:rPr lang="en-US" altLang="zh-TW" sz="2800" spc="-80" dirty="0">
                <a:solidFill>
                  <a:srgbClr val="2D2DB9"/>
                </a:solidFill>
              </a:rPr>
              <a:t> </a:t>
            </a:r>
            <a:r>
              <a:rPr lang="en-US" altLang="zh-TW" sz="3200" spc="-80" dirty="0">
                <a:solidFill>
                  <a:srgbClr val="2D2DB9"/>
                </a:solidFill>
              </a:rPr>
              <a:t>Expressions:</a:t>
            </a:r>
          </a:p>
          <a:p>
            <a:pPr lvl="1">
              <a:lnSpc>
                <a:spcPct val="90000"/>
              </a:lnSpc>
              <a:spcBef>
                <a:spcPts val="1200"/>
              </a:spcBef>
              <a:buClr>
                <a:schemeClr val="bg1"/>
              </a:buClr>
            </a:pPr>
            <a:r>
              <a:rPr lang="en-US" altLang="zh-TW" sz="2800" dirty="0">
                <a:solidFill>
                  <a:srgbClr val="339933"/>
                </a:solidFill>
                <a:latin typeface="Lucida Console" panose="020B0609040504020204" pitchFamily="49" charset="0"/>
              </a:rPr>
              <a:t>iterator =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for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in range(</a:t>
            </a:r>
            <a:r>
              <a:rPr lang="en-US" altLang="zh-TW" sz="2800" dirty="0" err="1">
                <a:latin typeface="Lucida Console" panose="020B0609040504020204" pitchFamily="49" charset="0"/>
              </a:rPr>
              <a:t>a,b</a:t>
            </a:r>
            <a:r>
              <a:rPr lang="en-US" altLang="zh-TW" sz="2800" dirty="0">
                <a:latin typeface="Lucida Console" panose="020B0609040504020204" pitchFamily="49" charset="0"/>
              </a:rPr>
              <a:t>)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sz="2800" dirty="0">
                <a:latin typeface="Lucida Console" panose="020B0609040504020204" pitchFamily="49" charset="0"/>
              </a:rPr>
              <a:t>           #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This is </a:t>
            </a:r>
            <a:r>
              <a:rPr lang="en-US" altLang="zh-TW" sz="2800" u="sng" dirty="0">
                <a:solidFill>
                  <a:srgbClr val="FF000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a tuple.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endParaRPr lang="en-US" altLang="zh-TW" sz="1600" dirty="0">
              <a:latin typeface="Lucida Console" panose="020B06090405040202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zh-TW" sz="3000" spc="-80" dirty="0">
                <a:solidFill>
                  <a:srgbClr val="2D2DB9"/>
                </a:solidFill>
              </a:rPr>
              <a:t>(Generator</a:t>
            </a:r>
            <a:r>
              <a:rPr lang="en-US" altLang="zh-TW" spc="-80" dirty="0">
                <a:solidFill>
                  <a:srgbClr val="2D2DB9"/>
                </a:solidFill>
              </a:rPr>
              <a:t> </a:t>
            </a:r>
            <a:r>
              <a:rPr lang="en-US" altLang="zh-TW" sz="3000" spc="-80" dirty="0">
                <a:solidFill>
                  <a:srgbClr val="2D2DB9"/>
                </a:solidFill>
              </a:rPr>
              <a:t>expressions are not comprehensions.)</a:t>
            </a:r>
          </a:p>
          <a:p>
            <a:pPr lvl="1">
              <a:lnSpc>
                <a:spcPct val="90000"/>
              </a:lnSpc>
              <a:spcBef>
                <a:spcPts val="1200"/>
              </a:spcBef>
            </a:pPr>
            <a:r>
              <a:rPr lang="en-US" altLang="zh-TW" sz="3000" spc="-130" dirty="0">
                <a:solidFill>
                  <a:srgbClr val="FF0000"/>
                </a:solidFill>
              </a:rPr>
              <a:t>That's one reason there are no tuple comprehensions.</a:t>
            </a:r>
          </a:p>
          <a:p>
            <a:pPr lvl="2">
              <a:lnSpc>
                <a:spcPct val="90000"/>
              </a:lnSpc>
              <a:spcBef>
                <a:spcPts val="600"/>
              </a:spcBef>
            </a:pPr>
            <a:r>
              <a:rPr lang="en-US" altLang="zh-TW" sz="2800" spc="-80" dirty="0">
                <a:solidFill>
                  <a:schemeClr val="tx1"/>
                </a:solidFill>
              </a:rPr>
              <a:t>But you can do this:  </a:t>
            </a:r>
            <a:r>
              <a:rPr lang="en-US" altLang="zh-TW" sz="2800" spc="-80" dirty="0">
                <a:solidFill>
                  <a:schemeClr val="tx1"/>
                </a:solidFill>
                <a:latin typeface="Lucida Fax" panose="02060602050505020204" pitchFamily="18" charset="0"/>
              </a:rPr>
              <a:t>tuple([</a:t>
            </a:r>
            <a:r>
              <a:rPr lang="en-US" altLang="zh-TW" sz="2800" spc="-80" dirty="0" err="1">
                <a:solidFill>
                  <a:schemeClr val="tx1"/>
                </a:solidFill>
                <a:latin typeface="Lucida Fax" panose="02060602050505020204" pitchFamily="18" charset="0"/>
              </a:rPr>
              <a:t>i</a:t>
            </a:r>
            <a:r>
              <a:rPr lang="en-US" altLang="zh-TW" sz="2800" spc="-80" dirty="0">
                <a:solidFill>
                  <a:schemeClr val="tx1"/>
                </a:solidFill>
                <a:latin typeface="Lucida Fax" panose="02060602050505020204" pitchFamily="18" charset="0"/>
              </a:rPr>
              <a:t> for </a:t>
            </a:r>
            <a:r>
              <a:rPr lang="en-US" altLang="zh-TW" sz="2800" spc="-80" dirty="0" err="1">
                <a:solidFill>
                  <a:schemeClr val="tx1"/>
                </a:solidFill>
                <a:latin typeface="Lucida Fax" panose="02060602050505020204" pitchFamily="18" charset="0"/>
              </a:rPr>
              <a:t>i</a:t>
            </a:r>
            <a:r>
              <a:rPr lang="en-US" altLang="zh-TW" sz="2800" spc="-80" dirty="0">
                <a:solidFill>
                  <a:schemeClr val="tx1"/>
                </a:solidFill>
                <a:latin typeface="Lucida Fax" panose="02060602050505020204" pitchFamily="18" charset="0"/>
              </a:rPr>
              <a:t> in range(</a:t>
            </a:r>
            <a:r>
              <a:rPr lang="en-US" altLang="zh-TW" sz="2800" spc="-80" dirty="0" err="1">
                <a:solidFill>
                  <a:schemeClr val="tx1"/>
                </a:solidFill>
                <a:latin typeface="Lucida Fax" panose="02060602050505020204" pitchFamily="18" charset="0"/>
              </a:rPr>
              <a:t>a,b</a:t>
            </a:r>
            <a:r>
              <a:rPr lang="en-US" altLang="zh-TW" sz="2800" spc="-80" dirty="0">
                <a:solidFill>
                  <a:schemeClr val="tx1"/>
                </a:solidFill>
                <a:latin typeface="Lucida Fax" panose="02060602050505020204" pitchFamily="18" charset="0"/>
              </a:rPr>
              <a:t>)])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endParaRPr lang="en-US" altLang="zh-TW" sz="28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What is a </a:t>
            </a:r>
            <a:r>
              <a:rPr lang="en-US" altLang="en-US" sz="44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generator?</a:t>
            </a:r>
            <a:endParaRPr lang="en-GB" altLang="en-US" sz="4400" kern="0" dirty="0">
              <a:latin typeface="Elephant" panose="02020904090505020303" pitchFamily="18" charset="0"/>
            </a:endParaRPr>
          </a:p>
        </p:txBody>
      </p:sp>
      <p:sp>
        <p:nvSpPr>
          <p:cNvPr id="4" name="Trapezoid 3"/>
          <p:cNvSpPr>
            <a:spLocks noChangeAspect="1"/>
          </p:cNvSpPr>
          <p:nvPr/>
        </p:nvSpPr>
        <p:spPr bwMode="auto">
          <a:xfrm rot="2700000" flipH="1">
            <a:off x="7439566" y="459511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9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end slides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2328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609600"/>
            <a:ext cx="9144000" cy="6248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2800" dirty="0">
                <a:solidFill>
                  <a:srgbClr val="2D2DB9"/>
                </a:solidFill>
              </a:rPr>
              <a:t>Generator functions are iterators: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 err="1"/>
              <a:t>def</a:t>
            </a:r>
            <a:r>
              <a:rPr lang="en-US" altLang="zh-TW" dirty="0"/>
              <a:t> squares(start, stop):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/>
              <a:t>    for </a:t>
            </a:r>
            <a:r>
              <a:rPr lang="en-US" altLang="zh-TW" dirty="0" err="1"/>
              <a:t>i</a:t>
            </a:r>
            <a:r>
              <a:rPr lang="en-US" altLang="zh-TW" dirty="0"/>
              <a:t> in range(start, stop):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/>
              <a:t>       yield </a:t>
            </a:r>
            <a:r>
              <a:rPr lang="en-US" altLang="zh-TW" dirty="0" err="1"/>
              <a:t>i</a:t>
            </a:r>
            <a:r>
              <a:rPr lang="en-US" altLang="zh-TW" dirty="0"/>
              <a:t> * </a:t>
            </a:r>
            <a:r>
              <a:rPr lang="en-US" altLang="zh-TW" dirty="0" err="1"/>
              <a:t>i</a:t>
            </a:r>
            <a:r>
              <a:rPr lang="en-US" altLang="zh-TW" dirty="0"/>
              <a:t>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>
                <a:solidFill>
                  <a:srgbClr val="339933"/>
                </a:solidFill>
              </a:rPr>
              <a:t>iterator =</a:t>
            </a:r>
            <a:r>
              <a:rPr lang="en-US" altLang="zh-TW" dirty="0"/>
              <a:t> squares(a, b)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2800" spc="-80" dirty="0">
                <a:solidFill>
                  <a:srgbClr val="2D2DB9"/>
                </a:solidFill>
              </a:rPr>
              <a:t>Generator</a:t>
            </a:r>
            <a:r>
              <a:rPr lang="en-US" altLang="zh-TW" sz="2400" spc="-80" dirty="0">
                <a:solidFill>
                  <a:srgbClr val="2D2DB9"/>
                </a:solidFill>
              </a:rPr>
              <a:t> </a:t>
            </a:r>
            <a:r>
              <a:rPr lang="en-US" altLang="zh-TW" sz="2800" spc="-80" dirty="0">
                <a:solidFill>
                  <a:srgbClr val="2D2DB9"/>
                </a:solidFill>
              </a:rPr>
              <a:t>expressions</a:t>
            </a:r>
            <a:r>
              <a:rPr lang="en-US" altLang="zh-TW" sz="2400" spc="-80" dirty="0">
                <a:solidFill>
                  <a:srgbClr val="2D2DB9"/>
                </a:solidFill>
              </a:rPr>
              <a:t> </a:t>
            </a:r>
            <a:r>
              <a:rPr lang="en-US" altLang="zh-TW" sz="2800" spc="-80" dirty="0">
                <a:solidFill>
                  <a:srgbClr val="2D2DB9"/>
                </a:solidFill>
              </a:rPr>
              <a:t>(not</a:t>
            </a:r>
            <a:r>
              <a:rPr lang="en-US" altLang="zh-TW" sz="2400" spc="-80" dirty="0">
                <a:solidFill>
                  <a:srgbClr val="2D2DB9"/>
                </a:solidFill>
              </a:rPr>
              <a:t> </a:t>
            </a:r>
            <a:r>
              <a:rPr lang="en-US" altLang="zh-TW" sz="2800" spc="-80" dirty="0">
                <a:solidFill>
                  <a:srgbClr val="2D2DB9"/>
                </a:solidFill>
              </a:rPr>
              <a:t>comprehensions)</a:t>
            </a:r>
            <a:r>
              <a:rPr lang="en-US" altLang="zh-TW" sz="2400" spc="-80" dirty="0">
                <a:solidFill>
                  <a:srgbClr val="2D2DB9"/>
                </a:solidFill>
              </a:rPr>
              <a:t> </a:t>
            </a:r>
            <a:r>
              <a:rPr lang="en-US" altLang="zh-TW" sz="2800" spc="-80" dirty="0">
                <a:solidFill>
                  <a:srgbClr val="2D2DB9"/>
                </a:solidFill>
              </a:rPr>
              <a:t>are</a:t>
            </a:r>
            <a:r>
              <a:rPr lang="en-US" altLang="zh-TW" sz="2400" spc="-80" dirty="0">
                <a:solidFill>
                  <a:srgbClr val="2D2DB9"/>
                </a:solidFill>
              </a:rPr>
              <a:t> </a:t>
            </a:r>
            <a:r>
              <a:rPr lang="en-US" altLang="zh-TW" sz="2800" spc="-80" dirty="0">
                <a:solidFill>
                  <a:srgbClr val="2D2DB9"/>
                </a:solidFill>
              </a:rPr>
              <a:t>iterators: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>
                <a:solidFill>
                  <a:srgbClr val="339933"/>
                </a:solidFill>
              </a:rPr>
              <a:t>iterator =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dirty="0" err="1"/>
              <a:t>i</a:t>
            </a:r>
            <a:r>
              <a:rPr lang="en-US" altLang="zh-TW" dirty="0"/>
              <a:t> for </a:t>
            </a:r>
            <a:r>
              <a:rPr lang="en-US" altLang="zh-TW" dirty="0" err="1"/>
              <a:t>i</a:t>
            </a:r>
            <a:r>
              <a:rPr lang="en-US" altLang="zh-TW" dirty="0"/>
              <a:t> in range(</a:t>
            </a:r>
            <a:r>
              <a:rPr lang="en-US" altLang="zh-TW" dirty="0" err="1"/>
              <a:t>a,b</a:t>
            </a:r>
            <a:r>
              <a:rPr lang="en-US" altLang="zh-TW" dirty="0"/>
              <a:t>)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2D2DB9"/>
                </a:solidFill>
              </a:rPr>
              <a:t>Plain iterators are, of course, iterators: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>
                <a:solidFill>
                  <a:srgbClr val="339933"/>
                </a:solidFill>
              </a:rPr>
              <a:t>iterator =</a:t>
            </a:r>
            <a:r>
              <a:rPr lang="en-US" altLang="zh-TW" dirty="0"/>
              <a:t> </a:t>
            </a:r>
            <a:r>
              <a:rPr lang="en-US" altLang="zh-TW" dirty="0" err="1"/>
              <a:t>iter</a:t>
            </a:r>
            <a:r>
              <a:rPr lang="en-US" altLang="zh-TW" dirty="0"/>
              <a:t>(range(</a:t>
            </a:r>
            <a:r>
              <a:rPr lang="en-US" altLang="zh-TW" dirty="0" err="1"/>
              <a:t>a,b</a:t>
            </a:r>
            <a:r>
              <a:rPr lang="en-US" altLang="zh-TW" dirty="0"/>
              <a:t>))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2D2DB9"/>
                </a:solidFill>
              </a:rPr>
              <a:t>Classes with __iter__ and __next__ define iterators: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/>
              <a:t>class Squares(object):                        </a:t>
            </a:r>
            <a:r>
              <a:rPr lang="en-US" altLang="zh-TW" dirty="0">
                <a:solidFill>
                  <a:srgbClr val="FFCCCC"/>
                </a:solidFill>
              </a:rPr>
              <a:t># We’ll learn classes</a:t>
            </a:r>
            <a:r>
              <a:rPr lang="en-US" altLang="zh-TW" dirty="0"/>
              <a:t>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/>
              <a:t>    </a:t>
            </a:r>
            <a:r>
              <a:rPr lang="en-US" altLang="zh-TW" dirty="0" err="1"/>
              <a:t>def</a:t>
            </a:r>
            <a:r>
              <a:rPr lang="en-US" altLang="zh-TW" dirty="0"/>
              <a:t> __</a:t>
            </a:r>
            <a:r>
              <a:rPr lang="en-US" altLang="zh-TW" dirty="0" err="1"/>
              <a:t>init</a:t>
            </a:r>
            <a:r>
              <a:rPr lang="en-US" altLang="zh-TW" dirty="0"/>
              <a:t>__(self, start, stop):          </a:t>
            </a:r>
            <a:r>
              <a:rPr lang="en-US" altLang="zh-TW" sz="200" dirty="0"/>
              <a:t> </a:t>
            </a:r>
            <a:r>
              <a:rPr lang="en-US" altLang="zh-TW" dirty="0">
                <a:solidFill>
                  <a:srgbClr val="FFCCCC"/>
                </a:solidFill>
              </a:rPr>
              <a:t># later. We don’t know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/>
              <a:t>       </a:t>
            </a:r>
            <a:r>
              <a:rPr lang="en-US" altLang="zh-TW" dirty="0" err="1"/>
              <a:t>self.start</a:t>
            </a:r>
            <a:r>
              <a:rPr lang="en-US" altLang="zh-TW" dirty="0"/>
              <a:t> = start; </a:t>
            </a:r>
            <a:r>
              <a:rPr lang="en-US" altLang="zh-TW" dirty="0" err="1"/>
              <a:t>self.stop</a:t>
            </a:r>
            <a:r>
              <a:rPr lang="en-US" altLang="zh-TW" dirty="0"/>
              <a:t> = stop </a:t>
            </a:r>
            <a:r>
              <a:rPr lang="en-US" altLang="zh-TW" sz="1100" dirty="0"/>
              <a:t> </a:t>
            </a:r>
            <a:r>
              <a:rPr lang="en-US" altLang="zh-TW" dirty="0">
                <a:solidFill>
                  <a:srgbClr val="FFCCCC"/>
                </a:solidFill>
              </a:rPr>
              <a:t># this syntax yet.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/>
              <a:t>    </a:t>
            </a:r>
            <a:r>
              <a:rPr lang="en-US" altLang="zh-TW" dirty="0" err="1"/>
              <a:t>def</a:t>
            </a:r>
            <a:r>
              <a:rPr lang="en-US" altLang="zh-TW" dirty="0"/>
              <a:t> __iter__(self): return self          </a:t>
            </a:r>
            <a:r>
              <a:rPr lang="en-US" altLang="zh-TW" sz="1100" dirty="0"/>
              <a:t> </a:t>
            </a:r>
            <a:r>
              <a:rPr lang="en-US" altLang="zh-TW" dirty="0">
                <a:solidFill>
                  <a:srgbClr val="FFCCCC"/>
                </a:solidFill>
              </a:rPr>
              <a:t># But we do see that a</a:t>
            </a:r>
            <a:r>
              <a:rPr lang="en-US" altLang="zh-TW" dirty="0"/>
              <a:t>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/>
              <a:t>    </a:t>
            </a:r>
            <a:r>
              <a:rPr lang="en-US" altLang="zh-TW" dirty="0" err="1"/>
              <a:t>def</a:t>
            </a:r>
            <a:r>
              <a:rPr lang="en-US" altLang="zh-TW" dirty="0"/>
              <a:t> next(self):                                  </a:t>
            </a:r>
            <a:r>
              <a:rPr lang="en-US" altLang="zh-TW" dirty="0">
                <a:solidFill>
                  <a:srgbClr val="FFCCCC"/>
                </a:solidFill>
              </a:rPr>
              <a:t># class can define an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/>
              <a:t>        if self.start+1&gt;=</a:t>
            </a:r>
            <a:r>
              <a:rPr lang="en-US" altLang="zh-TW" dirty="0" err="1"/>
              <a:t>self.stop</a:t>
            </a:r>
            <a:r>
              <a:rPr lang="en-US" altLang="zh-TW" dirty="0"/>
              <a:t>: raise </a:t>
            </a:r>
            <a:r>
              <a:rPr lang="en-US" altLang="zh-TW" dirty="0" err="1"/>
              <a:t>StopIteration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CCCC"/>
                </a:solidFill>
              </a:rPr>
              <a:t># iterator.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/>
              <a:t>        </a:t>
            </a:r>
            <a:r>
              <a:rPr lang="en-US" altLang="zh-TW" dirty="0" err="1"/>
              <a:t>self.start</a:t>
            </a:r>
            <a:r>
              <a:rPr lang="en-US" altLang="zh-TW" dirty="0"/>
              <a:t> += 1; return self.start-1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>
                <a:solidFill>
                  <a:srgbClr val="339933"/>
                </a:solidFill>
              </a:rPr>
              <a:t>iterator =</a:t>
            </a:r>
            <a:r>
              <a:rPr lang="en-US" altLang="zh-TW" dirty="0"/>
              <a:t> Squares(a, b) 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What is an iterator?</a:t>
            </a:r>
          </a:p>
        </p:txBody>
      </p:sp>
      <p:sp>
        <p:nvSpPr>
          <p:cNvPr id="5" name="Trapezoid 4"/>
          <p:cNvSpPr>
            <a:spLocks noChangeAspect="1"/>
          </p:cNvSpPr>
          <p:nvPr/>
        </p:nvSpPr>
        <p:spPr bwMode="auto">
          <a:xfrm rot="2700000" flipH="1">
            <a:off x="7439566" y="459511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9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end slides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52561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609600"/>
            <a:ext cx="9144000" cy="6248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3600" dirty="0"/>
              <a:t>If you can loop over it, it’s an </a:t>
            </a:r>
            <a:r>
              <a:rPr lang="en-US" altLang="zh-TW" sz="3600" dirty="0" err="1"/>
              <a:t>iterable</a:t>
            </a:r>
            <a:r>
              <a:rPr lang="en-US" altLang="zh-TW" sz="3600" dirty="0"/>
              <a:t>. So:</a:t>
            </a:r>
            <a:endParaRPr lang="en-US" altLang="zh-TW" sz="3200" dirty="0"/>
          </a:p>
          <a:p>
            <a:pPr marL="1371600" lvl="3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zh-TW" sz="1800" dirty="0"/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zh-TW" sz="3200" dirty="0">
                <a:solidFill>
                  <a:srgbClr val="2D2DB9"/>
                </a:solidFill>
              </a:rPr>
              <a:t>Standard data types besides numbers</a:t>
            </a:r>
            <a:r>
              <a:rPr lang="en-US" altLang="zh-TW" sz="3200" dirty="0"/>
              <a:t>:</a:t>
            </a:r>
          </a:p>
          <a:p>
            <a:pPr marL="914400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[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66CC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in </a:t>
            </a:r>
            <a:r>
              <a:rPr lang="en-US" altLang="zh-TW" sz="2800" dirty="0">
                <a:solidFill>
                  <a:srgbClr val="339933"/>
                </a:solidFill>
                <a:latin typeface="Lucida Console" panose="020B0609040504020204" pitchFamily="49" charset="0"/>
              </a:rPr>
              <a:t>"Hi"</a:t>
            </a:r>
            <a:r>
              <a:rPr lang="en-US" altLang="zh-TW" sz="2800" dirty="0">
                <a:latin typeface="Lucida Console" panose="020B0609040504020204" pitchFamily="49" charset="0"/>
              </a:rPr>
              <a:t>]</a:t>
            </a:r>
          </a:p>
          <a:p>
            <a:pPr marL="914400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['H', '</a:t>
            </a:r>
            <a:r>
              <a:rPr lang="en-US" altLang="zh-TW" sz="28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']</a:t>
            </a:r>
          </a:p>
          <a:p>
            <a:pPr marL="914400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[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66CC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in </a:t>
            </a:r>
            <a:r>
              <a:rPr lang="en-US" altLang="zh-TW" sz="2800" dirty="0">
                <a:solidFill>
                  <a:srgbClr val="339933"/>
                </a:solidFill>
                <a:latin typeface="Lucida Console" panose="020B0609040504020204" pitchFamily="49" charset="0"/>
              </a:rPr>
              <a:t>(1,2,3)</a:t>
            </a:r>
            <a:r>
              <a:rPr lang="en-US" altLang="zh-TW" sz="2800" dirty="0">
                <a:latin typeface="Lucida Console" panose="020B0609040504020204" pitchFamily="49" charset="0"/>
              </a:rPr>
              <a:t>]</a:t>
            </a:r>
          </a:p>
          <a:p>
            <a:pPr marL="914400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[1 ,2, 3]</a:t>
            </a:r>
          </a:p>
          <a:p>
            <a:pPr lvl="1">
              <a:lnSpc>
                <a:spcPct val="90000"/>
              </a:lnSpc>
              <a:spcBef>
                <a:spcPts val="1800"/>
              </a:spcBef>
            </a:pPr>
            <a:r>
              <a:rPr lang="en-US" altLang="zh-TW" sz="3200" dirty="0">
                <a:solidFill>
                  <a:srgbClr val="2D2DB9"/>
                </a:solidFill>
              </a:rPr>
              <a:t>Generator expressions or functions</a:t>
            </a:r>
            <a:r>
              <a:rPr lang="en-US" altLang="zh-TW" sz="3200" dirty="0"/>
              <a:t>:</a:t>
            </a:r>
          </a:p>
          <a:p>
            <a:pPr marL="914400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genEx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in (1,2,3))</a:t>
            </a:r>
          </a:p>
          <a:p>
            <a:pPr marL="914400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[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66CC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in </a:t>
            </a:r>
            <a:r>
              <a:rPr lang="en-US" altLang="zh-TW" sz="280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genEx</a:t>
            </a:r>
            <a:r>
              <a:rPr lang="en-US" altLang="zh-TW" sz="2800" dirty="0">
                <a:latin typeface="Lucida Console" panose="020B0609040504020204" pitchFamily="49" charset="0"/>
              </a:rPr>
              <a:t>]</a:t>
            </a:r>
          </a:p>
          <a:p>
            <a:pPr marL="914400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[0, 1, 2]</a:t>
            </a:r>
          </a:p>
          <a:p>
            <a:pPr lvl="1">
              <a:lnSpc>
                <a:spcPct val="90000"/>
              </a:lnSpc>
              <a:spcBef>
                <a:spcPts val="1800"/>
              </a:spcBef>
            </a:pPr>
            <a:r>
              <a:rPr lang="en-US" altLang="zh-TW" sz="3200" dirty="0">
                <a:solidFill>
                  <a:srgbClr val="2D2DB9"/>
                </a:solidFill>
              </a:rPr>
              <a:t>Plain iterators</a:t>
            </a:r>
            <a:r>
              <a:rPr lang="en-US" altLang="zh-TW" sz="3200" dirty="0"/>
              <a:t>:</a:t>
            </a:r>
          </a:p>
          <a:p>
            <a:pPr marL="914400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[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66CC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in </a:t>
            </a:r>
            <a:r>
              <a:rPr lang="en-US" altLang="zh-TW" sz="280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800" dirty="0">
                <a:solidFill>
                  <a:srgbClr val="339933"/>
                </a:solidFill>
                <a:latin typeface="Lucida Console" panose="020B0609040504020204" pitchFamily="49" charset="0"/>
              </a:rPr>
              <a:t>(range(3))</a:t>
            </a:r>
            <a:r>
              <a:rPr lang="en-US" altLang="zh-TW" sz="2800" dirty="0">
                <a:latin typeface="Lucida Console" panose="020B0609040504020204" pitchFamily="49" charset="0"/>
              </a:rPr>
              <a:t>]</a:t>
            </a:r>
          </a:p>
          <a:p>
            <a:pPr marL="914400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[0, 1, 2]</a:t>
            </a:r>
            <a:endParaRPr lang="en-US" altLang="zh-TW" sz="3200" dirty="0">
              <a:latin typeface="Lucida Console" panose="020B06090405040202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</a:pPr>
            <a:endParaRPr lang="en-US" altLang="zh-TW" sz="3000" dirty="0"/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zh-TW" sz="2800" dirty="0"/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What is an </a:t>
            </a:r>
            <a:r>
              <a:rPr lang="en-GB" altLang="en-US" sz="4400" kern="0" dirty="0" err="1">
                <a:latin typeface="Elephant" panose="02020904090505020303" pitchFamily="18" charset="0"/>
              </a:rPr>
              <a:t>iterable</a:t>
            </a:r>
            <a:r>
              <a:rPr lang="en-GB" altLang="en-US" sz="4400" kern="0" dirty="0">
                <a:latin typeface="Elephant" panose="02020904090505020303" pitchFamily="18" charset="0"/>
              </a:rPr>
              <a:t>?</a:t>
            </a:r>
          </a:p>
        </p:txBody>
      </p:sp>
      <p:sp>
        <p:nvSpPr>
          <p:cNvPr id="5" name="Trapezoid 4"/>
          <p:cNvSpPr>
            <a:spLocks noChangeAspect="1"/>
          </p:cNvSpPr>
          <p:nvPr/>
        </p:nvSpPr>
        <p:spPr bwMode="auto">
          <a:xfrm rot="2700000" flipH="1">
            <a:off x="7439566" y="459511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9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end slides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217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262" y="0"/>
            <a:ext cx="8077200" cy="685800"/>
          </a:xfrm>
        </p:spPr>
        <p:txBody>
          <a:bodyPr/>
          <a:lstStyle/>
          <a:p>
            <a:r>
              <a:rPr lang="en-US" sz="4400" dirty="0">
                <a:latin typeface="Elephant" panose="02020904090505020303" pitchFamily="18" charset="0"/>
              </a:rPr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685800"/>
            <a:ext cx="9067800" cy="61722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A container</a:t>
            </a:r>
            <a:r>
              <a:rPr lang="en-US" dirty="0">
                <a:solidFill>
                  <a:srgbClr val="FF0000"/>
                </a:solidFill>
              </a:rPr>
              <a:t>: any object for which the 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in</a:t>
            </a:r>
            <a:r>
              <a:rPr lang="en-US" dirty="0">
                <a:solidFill>
                  <a:srgbClr val="FF0000"/>
                </a:solidFill>
              </a:rPr>
              <a:t> operator is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define</a:t>
            </a:r>
            <a:r>
              <a:rPr lang="en-US" spc="-200" dirty="0">
                <a:solidFill>
                  <a:srgbClr val="FF0000"/>
                </a:solidFill>
              </a:rPr>
              <a:t>d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Its contents all exist somewhere in the computer memory.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DAA100"/>
                </a:solidFill>
              </a:rPr>
              <a:t>A comprehension</a:t>
            </a:r>
            <a:r>
              <a:rPr lang="en-US" dirty="0">
                <a:solidFill>
                  <a:srgbClr val="DAA100"/>
                </a:solidFill>
              </a:rPr>
              <a:t>: any container created at the time of its definition by use looping or filtering instructions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6600"/>
                </a:solidFill>
              </a:rPr>
              <a:t>An </a:t>
            </a:r>
            <a:r>
              <a:rPr lang="en-US" b="1" dirty="0" err="1">
                <a:solidFill>
                  <a:srgbClr val="006600"/>
                </a:solidFill>
              </a:rPr>
              <a:t>iterable</a:t>
            </a:r>
            <a:r>
              <a:rPr lang="en-US" dirty="0">
                <a:solidFill>
                  <a:srgbClr val="006600"/>
                </a:solidFill>
              </a:rPr>
              <a:t>: any object that is able to be iterated over. This includes containers for lists, sets, or other data structures.</a:t>
            </a:r>
            <a:br>
              <a:rPr lang="en-US" dirty="0">
                <a:solidFill>
                  <a:srgbClr val="006600"/>
                </a:solidFill>
              </a:rPr>
            </a:br>
            <a:r>
              <a:rPr lang="en-US" dirty="0">
                <a:solidFill>
                  <a:srgbClr val="006600"/>
                </a:solidFill>
              </a:rPr>
              <a:t>But it also includes other objects like files or sockets.</a:t>
            </a:r>
          </a:p>
          <a:p>
            <a:pPr marL="0" indent="0">
              <a:buNone/>
            </a:pPr>
            <a:r>
              <a:rPr lang="en-US" b="1" spc="-40" dirty="0">
                <a:solidFill>
                  <a:srgbClr val="00667A"/>
                </a:solidFill>
              </a:rPr>
              <a:t>An iterator</a:t>
            </a:r>
            <a:r>
              <a:rPr lang="en-US" spc="-40" dirty="0">
                <a:solidFill>
                  <a:srgbClr val="00667A"/>
                </a:solidFill>
              </a:rPr>
              <a:t>: any object on which the </a:t>
            </a:r>
            <a:r>
              <a:rPr lang="en-US" spc="-40" dirty="0">
                <a:solidFill>
                  <a:schemeClr val="tx1"/>
                </a:solidFill>
              </a:rPr>
              <a:t>next()</a:t>
            </a:r>
            <a:r>
              <a:rPr lang="en-US" spc="-40" dirty="0">
                <a:solidFill>
                  <a:srgbClr val="00667A"/>
                </a:solidFill>
              </a:rPr>
              <a:t> function is defined.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A generator function</a:t>
            </a:r>
            <a:r>
              <a:rPr lang="en-US" dirty="0">
                <a:solidFill>
                  <a:schemeClr val="accent2"/>
                </a:solidFill>
              </a:rPr>
              <a:t>: any function using a yield statement.</a:t>
            </a:r>
          </a:p>
          <a:p>
            <a:pPr marL="0" indent="0">
              <a:buNone/>
            </a:pPr>
            <a:r>
              <a:rPr lang="en-US" b="1" spc="-10" dirty="0">
                <a:solidFill>
                  <a:srgbClr val="7030A0"/>
                </a:solidFill>
              </a:rPr>
              <a:t>A generator expression</a:t>
            </a:r>
            <a:r>
              <a:rPr lang="en-US" spc="-10" dirty="0">
                <a:solidFill>
                  <a:srgbClr val="7030A0"/>
                </a:solidFill>
              </a:rPr>
              <a:t>: A lazy counterpart to list (only list) </a:t>
            </a:r>
            <a:r>
              <a:rPr lang="en-US" spc="-20" dirty="0">
                <a:solidFill>
                  <a:srgbClr val="7030A0"/>
                </a:solidFill>
              </a:rPr>
              <a:t>comprehension, defined by replacing the enclosing “[…]” with</a:t>
            </a:r>
            <a:r>
              <a:rPr lang="en-US" spc="-10" dirty="0">
                <a:solidFill>
                  <a:srgbClr val="7030A0"/>
                </a:solidFill>
              </a:rPr>
              <a:t> </a:t>
            </a:r>
            <a:r>
              <a:rPr lang="en-US" spc="-50" dirty="0">
                <a:solidFill>
                  <a:srgbClr val="7030A0"/>
                </a:solidFill>
              </a:rPr>
              <a:t>“</a:t>
            </a:r>
            <a:r>
              <a:rPr lang="en-US" spc="-150" dirty="0">
                <a:solidFill>
                  <a:srgbClr val="7030A0"/>
                </a:solidFill>
              </a:rPr>
              <a:t>(</a:t>
            </a:r>
            <a:r>
              <a:rPr lang="en-US" spc="-50" dirty="0">
                <a:solidFill>
                  <a:srgbClr val="7030A0"/>
                </a:solidFill>
              </a:rPr>
              <a:t>..</a:t>
            </a:r>
            <a:r>
              <a:rPr lang="en-US" spc="-150" dirty="0">
                <a:solidFill>
                  <a:srgbClr val="7030A0"/>
                </a:solidFill>
              </a:rPr>
              <a:t>.</a:t>
            </a:r>
            <a:r>
              <a:rPr lang="en-US" spc="-50" dirty="0">
                <a:solidFill>
                  <a:srgbClr val="7030A0"/>
                </a:solidFill>
              </a:rPr>
              <a:t>)</a:t>
            </a:r>
            <a:r>
              <a:rPr lang="en-US" spc="-150" dirty="0">
                <a:solidFill>
                  <a:srgbClr val="7030A0"/>
                </a:solidFill>
              </a:rPr>
              <a:t>”</a:t>
            </a:r>
            <a:r>
              <a:rPr lang="en-US" spc="-50" dirty="0">
                <a:solidFill>
                  <a:srgbClr val="7030A0"/>
                </a:solidFill>
              </a:rPr>
              <a:t>. </a:t>
            </a:r>
            <a:r>
              <a:rPr lang="en-US" spc="-150" dirty="0">
                <a:solidFill>
                  <a:srgbClr val="7030A0"/>
                </a:solidFill>
              </a:rPr>
              <a:t>V</a:t>
            </a:r>
            <a:r>
              <a:rPr lang="en-US" spc="-50" dirty="0">
                <a:solidFill>
                  <a:srgbClr val="7030A0"/>
                </a:solidFill>
              </a:rPr>
              <a:t>alues generate on-the-fly instead of residing in memor</a:t>
            </a:r>
            <a:r>
              <a:rPr lang="en-US" spc="-350" dirty="0">
                <a:solidFill>
                  <a:srgbClr val="7030A0"/>
                </a:solidFill>
              </a:rPr>
              <a:t>y</a:t>
            </a:r>
            <a:r>
              <a:rPr lang="en-US" spc="-50" dirty="0">
                <a:solidFill>
                  <a:srgbClr val="7030A0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spc="-20" dirty="0"/>
              <a:t>A generator</a:t>
            </a:r>
            <a:r>
              <a:rPr lang="en-US" spc="-20" dirty="0"/>
              <a:t>: any iterator that is a either a generator function</a:t>
            </a:r>
            <a:r>
              <a:rPr lang="en-US" dirty="0"/>
              <a:t> or a generator expression.</a:t>
            </a:r>
          </a:p>
        </p:txBody>
      </p:sp>
      <p:sp>
        <p:nvSpPr>
          <p:cNvPr id="9" name="Trapezoid 8"/>
          <p:cNvSpPr>
            <a:spLocks noChangeAspect="1"/>
          </p:cNvSpPr>
          <p:nvPr/>
        </p:nvSpPr>
        <p:spPr bwMode="auto">
          <a:xfrm rot="2700000" flipH="1">
            <a:off x="7439565" y="459510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9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end slides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0" y="0"/>
            <a:ext cx="9737725" cy="59817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12234" y="0"/>
            <a:ext cx="9121698" cy="5932449"/>
            <a:chOff x="312234" y="0"/>
            <a:chExt cx="9121698" cy="5932449"/>
          </a:xfrm>
        </p:grpSpPr>
        <p:sp>
          <p:nvSpPr>
            <p:cNvPr id="5" name="Rectangle 4"/>
            <p:cNvSpPr/>
            <p:nvPr/>
          </p:nvSpPr>
          <p:spPr bwMode="auto">
            <a:xfrm>
              <a:off x="312234" y="724829"/>
              <a:ext cx="9121698" cy="520762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sz="32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 car factory, for example, doesn't store any cars. </a:t>
              </a:r>
            </a:p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sz="32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Whenever</a:t>
              </a:r>
              <a:r>
                <a:rPr kumimoji="0" lang="en-US" sz="3200" b="0" i="0" u="none" strike="noStrike" cap="none" normalizeH="0" dirty="0">
                  <a:ln>
                    <a:noFill/>
                  </a:ln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a car gets generated, it passes out of the factory. </a:t>
              </a:r>
            </a:p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sz="3200" b="0" i="0" u="none" strike="noStrike" cap="none" normalizeH="0" dirty="0">
                  <a:ln>
                    <a:noFill/>
                  </a:ln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The only limit to how many cars a factory can generate is how often you run the factory.</a:t>
              </a:r>
              <a:endParaRPr kumimoji="0" lang="en-US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480"/>
            <a:stretch/>
          </p:blipFill>
          <p:spPr>
            <a:xfrm>
              <a:off x="1839951" y="3310929"/>
              <a:ext cx="5634076" cy="2487706"/>
            </a:xfrm>
            <a:prstGeom prst="rect">
              <a:avLst/>
            </a:prstGeom>
          </p:spPr>
        </p:pic>
        <p:sp>
          <p:nvSpPr>
            <p:cNvPr id="7" name="Title 1"/>
            <p:cNvSpPr txBox="1">
              <a:spLocks/>
            </p:cNvSpPr>
            <p:nvPr/>
          </p:nvSpPr>
          <p:spPr bwMode="auto">
            <a:xfrm>
              <a:off x="2509024" y="0"/>
              <a:ext cx="473927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2D2DB9"/>
                  </a:solidFill>
                  <a:latin typeface="+mj-lt"/>
                  <a:ea typeface="MS PGothic" pitchFamily="34" charset="-128"/>
                  <a:cs typeface="ＭＳ Ｐゴシック" pitchFamily="-65" charset="-128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2D2DB9"/>
                  </a:solidFill>
                  <a:latin typeface="Arial" charset="0"/>
                  <a:ea typeface="MS PGothic" pitchFamily="34" charset="-128"/>
                  <a:cs typeface="ＭＳ Ｐゴシック" pitchFamily="-65" charset="-128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2D2DB9"/>
                  </a:solidFill>
                  <a:latin typeface="Arial" charset="0"/>
                  <a:ea typeface="MS PGothic" pitchFamily="34" charset="-128"/>
                  <a:cs typeface="ＭＳ Ｐゴシック" pitchFamily="-65" charset="-128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2D2DB9"/>
                  </a:solidFill>
                  <a:latin typeface="Arial" charset="0"/>
                  <a:ea typeface="MS PGothic" pitchFamily="34" charset="-128"/>
                  <a:cs typeface="ＭＳ Ｐゴシック" pitchFamily="-65" charset="-128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2D2DB9"/>
                  </a:solidFill>
                  <a:latin typeface="Arial" charset="0"/>
                  <a:ea typeface="MS PGothic" pitchFamily="34" charset="-128"/>
                  <a:cs typeface="ＭＳ Ｐゴシック" pitchFamily="-65" charset="-128"/>
                </a:defRPr>
              </a:lvl5pPr>
              <a:lvl6pPr marL="4572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222222"/>
                  </a:solidFill>
                  <a:latin typeface="Arial" charset="0"/>
                </a:defRPr>
              </a:lvl6pPr>
              <a:lvl7pPr marL="9144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222222"/>
                  </a:solidFill>
                  <a:latin typeface="Arial" charset="0"/>
                </a:defRPr>
              </a:lvl7pPr>
              <a:lvl8pPr marL="13716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222222"/>
                  </a:solidFill>
                  <a:latin typeface="Arial" charset="0"/>
                </a:defRPr>
              </a:lvl8pPr>
              <a:lvl9pPr marL="18288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222222"/>
                  </a:solidFill>
                  <a:latin typeface="Arial" charset="0"/>
                </a:defRPr>
              </a:lvl9pPr>
            </a:lstStyle>
            <a:p>
              <a:pPr defTabSz="914400"/>
              <a:r>
                <a:rPr lang="en-US" sz="4400" kern="0" dirty="0">
                  <a:latin typeface="Elephant" panose="02020904090505020303" pitchFamily="18" charset="0"/>
                </a:rPr>
                <a:t>A value factory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667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62" y="533400"/>
            <a:ext cx="8839200" cy="6400800"/>
          </a:xfrm>
        </p:spPr>
        <p:txBody>
          <a:bodyPr/>
          <a:lstStyle/>
          <a:p>
            <a:pPr>
              <a:lnSpc>
                <a:spcPct val="85000"/>
              </a:lnSpc>
              <a:spcBef>
                <a:spcPts val="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The difference, in terms of how you define them, is </a:t>
            </a:r>
            <a:r>
              <a:rPr lang="en-US" altLang="zh-TW" sz="2800" spc="-30" dirty="0">
                <a:solidFill>
                  <a:srgbClr val="FF0000"/>
                </a:solidFill>
              </a:rPr>
              <a:t>whether you use square brackets [] or parentheses ():</a:t>
            </a:r>
            <a:endParaRPr lang="en-US" altLang="zh-TW" sz="2800" dirty="0">
              <a:solidFill>
                <a:srgbClr val="FF0000"/>
              </a:solidFill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  &gt;&gt;&gt; c=[n*2 for n in range(99)] </a:t>
            </a:r>
            <a:r>
              <a:rPr lang="en-US" altLang="zh-TW" sz="2400" dirty="0">
                <a:solidFill>
                  <a:srgbClr val="00B0F0"/>
                </a:solidFill>
              </a:rPr>
              <a:t># List </a:t>
            </a:r>
            <a:r>
              <a:rPr lang="en-US" altLang="zh-TW" sz="2400" dirty="0" err="1">
                <a:solidFill>
                  <a:srgbClr val="00B0F0"/>
                </a:solidFill>
              </a:rPr>
              <a:t>compr</a:t>
            </a:r>
            <a:r>
              <a:rPr lang="en-US" altLang="zh-TW" sz="2400" dirty="0">
                <a:solidFill>
                  <a:srgbClr val="00B0F0"/>
                </a:solidFill>
              </a:rPr>
              <a:t>.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6600"/>
                </a:solidFill>
                <a:latin typeface="Lucida Console" panose="020B0609040504020204" pitchFamily="49" charset="0"/>
              </a:rPr>
              <a:t>  &gt;&gt;&gt; g=(n*2 for n in range(99)) </a:t>
            </a:r>
            <a:r>
              <a:rPr lang="en-US" altLang="zh-TW" sz="2400" dirty="0">
                <a:solidFill>
                  <a:srgbClr val="006600"/>
                </a:solidFill>
              </a:rPr>
              <a:t># Generator expr.</a:t>
            </a:r>
          </a:p>
          <a:p>
            <a:pPr lvl="1">
              <a:lnSpc>
                <a:spcPct val="85000"/>
              </a:lnSpc>
              <a:spcBef>
                <a:spcPts val="0"/>
              </a:spcBef>
            </a:pPr>
            <a:r>
              <a:rPr lang="en-US" altLang="zh-TW" dirty="0">
                <a:solidFill>
                  <a:schemeClr val="tx1"/>
                </a:solidFill>
              </a:rPr>
              <a:t>(Python uses the “(…)” symbols because they’re available:</a:t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spc="-20" dirty="0">
                <a:solidFill>
                  <a:schemeClr val="tx1"/>
                </a:solidFill>
              </a:rPr>
              <a:t>tuple comprehensions don’t exist (</a:t>
            </a:r>
            <a:r>
              <a:rPr lang="en-US" altLang="zh-TW" spc="-20" dirty="0" err="1">
                <a:solidFill>
                  <a:schemeClr val="tx1"/>
                </a:solidFill>
              </a:rPr>
              <a:t>ie</a:t>
            </a:r>
            <a:r>
              <a:rPr lang="en-US" altLang="zh-TW" spc="-20" dirty="0">
                <a:solidFill>
                  <a:schemeClr val="tx1"/>
                </a:solidFill>
              </a:rPr>
              <a:t>, tuples are immutabl</a:t>
            </a:r>
            <a:r>
              <a:rPr lang="en-US" altLang="zh-TW" spc="-100" dirty="0">
                <a:solidFill>
                  <a:schemeClr val="tx1"/>
                </a:solidFill>
              </a:rPr>
              <a:t>e).</a:t>
            </a:r>
            <a:r>
              <a:rPr lang="en-US" altLang="zh-TW" dirty="0">
                <a:solidFill>
                  <a:schemeClr val="tx1"/>
                </a:solidFill>
              </a:rPr>
              <a:t> Nor are there number comprehensions. So a “(… for …)” is unambiguously not a tuple or numeric expression.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b="1" dirty="0">
                <a:solidFill>
                  <a:srgbClr val="2D2DB9"/>
                </a:solidFill>
              </a:rPr>
              <a:t>Generators vs Comprehensions </a:t>
            </a:r>
          </a:p>
        </p:txBody>
      </p:sp>
    </p:spTree>
    <p:extLst>
      <p:ext uri="{BB962C8B-B14F-4D97-AF65-F5344CB8AC3E}">
        <p14:creationId xmlns:p14="http://schemas.microsoft.com/office/powerpoint/2010/main" val="116626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b="1" dirty="0">
                <a:solidFill>
                  <a:srgbClr val="2D2DB9"/>
                </a:solidFill>
              </a:rPr>
              <a:t>Generators vs Comprehensions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62" y="533400"/>
            <a:ext cx="8839200" cy="6400800"/>
          </a:xfrm>
        </p:spPr>
        <p:txBody>
          <a:bodyPr/>
          <a:lstStyle/>
          <a:p>
            <a:pPr>
              <a:lnSpc>
                <a:spcPct val="85000"/>
              </a:lnSpc>
              <a:spcBef>
                <a:spcPts val="0"/>
              </a:spcBef>
            </a:pPr>
            <a:r>
              <a:rPr lang="en-US" altLang="zh-TW" sz="2800" dirty="0">
                <a:solidFill>
                  <a:schemeClr val="tx1"/>
                </a:solidFill>
              </a:rPr>
              <a:t>The difference, in terms of how you define them, is </a:t>
            </a:r>
            <a:r>
              <a:rPr lang="en-US" altLang="zh-TW" sz="2800" spc="-30" dirty="0">
                <a:solidFill>
                  <a:schemeClr val="tx1"/>
                </a:solidFill>
              </a:rPr>
              <a:t>whether you use square brackets [] or parentheses ():</a:t>
            </a:r>
            <a:endParaRPr lang="en-US" altLang="zh-TW" sz="2800" dirty="0">
              <a:solidFill>
                <a:schemeClr val="tx1"/>
              </a:solidFill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&gt;&gt;&gt; c=[n*2 for n in range(99)] </a:t>
            </a:r>
            <a:r>
              <a:rPr lang="en-US" altLang="zh-TW" sz="2400" dirty="0">
                <a:solidFill>
                  <a:schemeClr val="tx1"/>
                </a:solidFill>
              </a:rPr>
              <a:t># List </a:t>
            </a:r>
            <a:r>
              <a:rPr lang="en-US" altLang="zh-TW" sz="2400" dirty="0" err="1">
                <a:solidFill>
                  <a:schemeClr val="tx1"/>
                </a:solidFill>
              </a:rPr>
              <a:t>compr</a:t>
            </a:r>
            <a:r>
              <a:rPr lang="en-US" altLang="zh-TW" sz="2400" dirty="0">
                <a:solidFill>
                  <a:schemeClr val="tx1"/>
                </a:solidFill>
              </a:rPr>
              <a:t>.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&gt;&gt;&gt; g=(n*2 for n in range(99)) </a:t>
            </a:r>
            <a:r>
              <a:rPr lang="en-US" altLang="zh-TW" sz="2400" dirty="0">
                <a:solidFill>
                  <a:schemeClr val="tx1"/>
                </a:solidFill>
              </a:rPr>
              <a:t># Generator expr.</a:t>
            </a:r>
          </a:p>
          <a:p>
            <a:pPr lvl="1">
              <a:lnSpc>
                <a:spcPct val="85000"/>
              </a:lnSpc>
              <a:spcBef>
                <a:spcPts val="0"/>
              </a:spcBef>
            </a:pPr>
            <a:r>
              <a:rPr lang="en-US" altLang="zh-TW" dirty="0">
                <a:solidFill>
                  <a:schemeClr val="tx1"/>
                </a:solidFill>
              </a:rPr>
              <a:t>(Python uses the “(…)” symbols because they’re available:</a:t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spc="-20" dirty="0">
                <a:solidFill>
                  <a:schemeClr val="tx1"/>
                </a:solidFill>
              </a:rPr>
              <a:t>tuple comprehensions don’t exist (</a:t>
            </a:r>
            <a:r>
              <a:rPr lang="en-US" altLang="zh-TW" spc="-20" dirty="0" err="1">
                <a:solidFill>
                  <a:schemeClr val="tx1"/>
                </a:solidFill>
              </a:rPr>
              <a:t>ie</a:t>
            </a:r>
            <a:r>
              <a:rPr lang="en-US" altLang="zh-TW" spc="-20" dirty="0">
                <a:solidFill>
                  <a:schemeClr val="tx1"/>
                </a:solidFill>
              </a:rPr>
              <a:t>, tuples are immutabl</a:t>
            </a:r>
            <a:r>
              <a:rPr lang="en-US" altLang="zh-TW" spc="-100" dirty="0">
                <a:solidFill>
                  <a:schemeClr val="tx1"/>
                </a:solidFill>
              </a:rPr>
              <a:t>e).</a:t>
            </a:r>
            <a:r>
              <a:rPr lang="en-US" altLang="zh-TW" dirty="0">
                <a:solidFill>
                  <a:schemeClr val="tx1"/>
                </a:solidFill>
              </a:rPr>
              <a:t> Nor are there number comprehensions. So a “(… for …)” is unambiguously not a tuple or numeric expression. 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The above objects, c and g, are different types: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&gt;&gt;&gt; print(type(c), type(g))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&lt;class 'list'&gt; &lt;class 'generator'&gt;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With different sizes: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&gt;&gt;&gt; print(</a:t>
            </a:r>
            <a:r>
              <a:rPr 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sys.getsizeof</a:t>
            </a: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(c),</a:t>
            </a:r>
            <a:r>
              <a:rPr 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sys.getsizeof</a:t>
            </a: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(g))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912 88</a:t>
            </a:r>
            <a:endParaRPr lang="en-US" altLang="zh-TW" sz="2400" dirty="0">
              <a:solidFill>
                <a:srgbClr val="FF0000"/>
              </a:solidFill>
            </a:endParaRP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You cannot access the elements of a generator: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2060"/>
                </a:solidFill>
                <a:latin typeface="Lucida Console" panose="020B0609040504020204" pitchFamily="49" charset="0"/>
              </a:rPr>
              <a:t>  &gt;&gt;&gt; print(c[2],g[2])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99CC"/>
                </a:solidFill>
                <a:latin typeface="Lucida Console" panose="020B0609040504020204" pitchFamily="49" charset="0"/>
              </a:rPr>
              <a:t>  </a:t>
            </a:r>
            <a:r>
              <a:rPr lang="en-US" sz="2000" dirty="0" err="1">
                <a:solidFill>
                  <a:srgbClr val="FF99CC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2000" dirty="0">
                <a:solidFill>
                  <a:srgbClr val="FF99CC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99CC"/>
                </a:solidFill>
                <a:latin typeface="Lucida Console" panose="020B0609040504020204" pitchFamily="49" charset="0"/>
              </a:rPr>
              <a:t>    File "&lt;</a:t>
            </a:r>
            <a:r>
              <a:rPr lang="en-US" sz="2000" dirty="0" err="1">
                <a:solidFill>
                  <a:srgbClr val="FF99CC"/>
                </a:solidFill>
                <a:latin typeface="Lucida Console" panose="020B0609040504020204" pitchFamily="49" charset="0"/>
              </a:rPr>
              <a:t>stdin</a:t>
            </a:r>
            <a:r>
              <a:rPr lang="en-US" sz="2000" dirty="0">
                <a:solidFill>
                  <a:srgbClr val="FF99CC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99CC"/>
                </a:solidFill>
                <a:latin typeface="Lucida Console" panose="020B0609040504020204" pitchFamily="49" charset="0"/>
              </a:rPr>
              <a:t>  </a:t>
            </a:r>
            <a:r>
              <a:rPr lang="en-US" sz="2400" spc="-120" dirty="0" err="1">
                <a:solidFill>
                  <a:srgbClr val="FF99CC"/>
                </a:solidFill>
                <a:latin typeface="Lucida Console" panose="020B0609040504020204" pitchFamily="49" charset="0"/>
              </a:rPr>
              <a:t>TypeError</a:t>
            </a:r>
            <a:r>
              <a:rPr lang="en-US" sz="2400" spc="-120" dirty="0">
                <a:solidFill>
                  <a:srgbClr val="FF99CC"/>
                </a:solidFill>
                <a:latin typeface="Lucida Console" panose="020B0609040504020204" pitchFamily="49" charset="0"/>
              </a:rPr>
              <a:t>:</a:t>
            </a:r>
            <a:r>
              <a:rPr lang="en-US" sz="2400" spc="-120" dirty="0">
                <a:solidFill>
                  <a:srgbClr val="FF0000"/>
                </a:solidFill>
                <a:latin typeface="Lucida Console" panose="020B0609040504020204" pitchFamily="49" charset="0"/>
              </a:rPr>
              <a:t>'generator' object is not </a:t>
            </a:r>
            <a:r>
              <a:rPr lang="en-US" sz="2400" spc="-12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subscriptable</a:t>
            </a:r>
            <a:endParaRPr lang="en-US" altLang="zh-TW" sz="2800" spc="-12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475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b="1" dirty="0">
                <a:solidFill>
                  <a:srgbClr val="2D2DB9"/>
                </a:solidFill>
              </a:rPr>
              <a:t>Generators vs Comprehensions 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562" y="685800"/>
            <a:ext cx="9144000" cy="617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from </a:t>
            </a:r>
            <a:r>
              <a:rPr lang="en-US" altLang="zh-TW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itertools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import </a:t>
            </a:r>
            <a:r>
              <a:rPr lang="en-US" altLang="zh-TW" sz="2600" b="1" dirty="0">
                <a:solidFill>
                  <a:srgbClr val="7030A0"/>
                </a:solidFill>
                <a:latin typeface="Consolas" panose="020B0609020204030204" pitchFamily="49" charset="0"/>
              </a:rPr>
              <a:t>count</a:t>
            </a:r>
          </a:p>
          <a:p>
            <a:pPr defTabSz="914400">
              <a:lnSpc>
                <a:spcPct val="80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dirty="0">
                <a:solidFill>
                  <a:srgbClr val="663300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x for x in </a:t>
            </a:r>
            <a:r>
              <a:rPr lang="en-US" altLang="zh-TW" sz="2600" b="1" dirty="0">
                <a:solidFill>
                  <a:srgbClr val="7030A0"/>
                </a:solidFill>
                <a:latin typeface="Consolas" panose="020B0609020204030204" pitchFamily="49" charset="0"/>
              </a:rPr>
              <a:t>count()</a:t>
            </a:r>
            <a:r>
              <a:rPr lang="en-US" altLang="zh-TW" sz="2600" b="1" dirty="0">
                <a:solidFill>
                  <a:srgbClr val="663300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2600" dirty="0">
                <a:solidFill>
                  <a:srgbClr val="000000"/>
                </a:solidFill>
              </a:rPr>
              <a:t>#A </a:t>
            </a:r>
            <a:r>
              <a:rPr lang="en-US" altLang="zh-TW" sz="2600" dirty="0">
                <a:solidFill>
                  <a:srgbClr val="663300"/>
                </a:solidFill>
              </a:rPr>
              <a:t>generator</a:t>
            </a:r>
            <a:r>
              <a:rPr lang="en-US" altLang="zh-TW" sz="2600" dirty="0">
                <a:solidFill>
                  <a:srgbClr val="000000"/>
                </a:solidFill>
              </a:rPr>
              <a:t> counting from 0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zh-TW" sz="2600" dirty="0">
                <a:solidFill>
                  <a:srgbClr val="00B050"/>
                </a:solidFill>
                <a:latin typeface="Consolas" panose="020B0609020204030204" pitchFamily="49" charset="0"/>
              </a:rPr>
              <a:t>next(G,-1),next(G,-1),next(G,-1),next(G,-1)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&lt;generator object &lt;</a:t>
            </a:r>
            <a:r>
              <a:rPr lang="en-US" altLang="zh-TW" sz="2600" dirty="0" err="1">
                <a:solidFill>
                  <a:srgbClr val="2D2DB9"/>
                </a:solidFill>
                <a:latin typeface="Consolas" panose="020B0609020204030204" pitchFamily="49" charset="0"/>
              </a:rPr>
              <a:t>genexpr</a:t>
            </a: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&gt; at 0x6ffffd95888&gt;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b="1" dirty="0">
                <a:solidFill>
                  <a:srgbClr val="00B050"/>
                </a:solidFill>
                <a:latin typeface="Consolas" panose="020B0609020204030204" pitchFamily="49" charset="0"/>
              </a:rPr>
              <a:t>(0, 1, 2, 3)</a:t>
            </a:r>
          </a:p>
          <a:p>
            <a:pPr defTabSz="914400">
              <a:lnSpc>
                <a:spcPct val="80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dirty="0">
                <a:solidFill>
                  <a:srgbClr val="663300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dirty="0">
                <a:solidFill>
                  <a:srgbClr val="7030A0"/>
                </a:solidFill>
                <a:latin typeface="Consolas" panose="020B0609020204030204" pitchFamily="49" charset="0"/>
              </a:rPr>
              <a:t>rang</a:t>
            </a:r>
            <a:r>
              <a:rPr lang="en-US" altLang="zh-TW" sz="2600" b="1" spc="-100" dirty="0">
                <a:solidFill>
                  <a:srgbClr val="7030A0"/>
                </a:solidFill>
                <a:latin typeface="Consolas" panose="020B0609020204030204" pitchFamily="49" charset="0"/>
              </a:rPr>
              <a:t>e(</a:t>
            </a:r>
            <a:r>
              <a:rPr lang="en-US" altLang="zh-TW" sz="2600" b="1" spc="-200" dirty="0">
                <a:solidFill>
                  <a:srgbClr val="7030A0"/>
                </a:solidFill>
                <a:latin typeface="Consolas" panose="020B0609020204030204" pitchFamily="49" charset="0"/>
              </a:rPr>
              <a:t>3</a:t>
            </a:r>
            <a:r>
              <a:rPr lang="en-US" altLang="zh-TW" sz="2600" b="1" spc="-400" dirty="0">
                <a:solidFill>
                  <a:srgbClr val="7030A0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2600" b="1" dirty="0">
                <a:solidFill>
                  <a:srgbClr val="663300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2600" dirty="0">
                <a:solidFill>
                  <a:srgbClr val="000000"/>
                </a:solidFill>
                <a:cs typeface="Arial" panose="020B0604020202020204" pitchFamily="34" charset="0"/>
              </a:rPr>
              <a:t>#A</a:t>
            </a:r>
            <a:r>
              <a:rPr lang="en-US" altLang="zh-TW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zh-TW" sz="2600" dirty="0">
                <a:solidFill>
                  <a:srgbClr val="663300"/>
                </a:solidFill>
                <a:cs typeface="Arial" panose="020B0604020202020204" pitchFamily="34" charset="0"/>
              </a:rPr>
              <a:t>generator</a:t>
            </a:r>
            <a:r>
              <a:rPr lang="en-US" altLang="zh-TW" sz="2400" dirty="0">
                <a:solidFill>
                  <a:srgbClr val="663300"/>
                </a:solidFill>
                <a:cs typeface="Arial" panose="020B0604020202020204" pitchFamily="34" charset="0"/>
              </a:rPr>
              <a:t> </a:t>
            </a:r>
            <a:r>
              <a:rPr lang="en-US" altLang="zh-TW" sz="2600" dirty="0">
                <a:solidFill>
                  <a:srgbClr val="000000"/>
                </a:solidFill>
                <a:cs typeface="Arial" panose="020B0604020202020204" pitchFamily="34" charset="0"/>
              </a:rPr>
              <a:t>counting</a:t>
            </a:r>
            <a:r>
              <a:rPr lang="en-US" altLang="zh-TW" sz="24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zh-TW" sz="2600" dirty="0">
                <a:solidFill>
                  <a:srgbClr val="000000"/>
                </a:solidFill>
                <a:cs typeface="Arial" panose="020B0604020202020204" pitchFamily="34" charset="0"/>
              </a:rPr>
              <a:t>up</a:t>
            </a:r>
            <a:r>
              <a:rPr lang="en-US" altLang="zh-TW" sz="24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zh-TW" sz="2600" dirty="0">
                <a:solidFill>
                  <a:srgbClr val="000000"/>
                </a:solidFill>
                <a:cs typeface="Arial" panose="020B0604020202020204" pitchFamily="34" charset="0"/>
              </a:rPr>
              <a:t>to</a:t>
            </a:r>
            <a:r>
              <a:rPr lang="en-US" altLang="zh-TW" sz="24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zh-TW" sz="2600" dirty="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zh-TW" sz="2600" dirty="0">
                <a:solidFill>
                  <a:srgbClr val="00B050"/>
                </a:solidFill>
                <a:latin typeface="Consolas" panose="020B0609020204030204" pitchFamily="49" charset="0"/>
              </a:rPr>
              <a:t>next(g,-1),next(g,-1),next(g,-1),next(g,-1)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&lt;generator object &lt;</a:t>
            </a:r>
            <a:r>
              <a:rPr lang="en-US" altLang="zh-TW" sz="2600" dirty="0" err="1">
                <a:solidFill>
                  <a:srgbClr val="2D2DB9"/>
                </a:solidFill>
                <a:latin typeface="Consolas" panose="020B0609020204030204" pitchFamily="49" charset="0"/>
              </a:rPr>
              <a:t>genexpr</a:t>
            </a: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&gt; at 0x6ffffd95938&gt;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b="1" dirty="0">
                <a:solidFill>
                  <a:srgbClr val="00B050"/>
                </a:solidFill>
                <a:latin typeface="Consolas" panose="020B0609020204030204" pitchFamily="49" charset="0"/>
              </a:rPr>
              <a:t>(0, 1, 2, -1)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c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dirty="0">
                <a:solidFill>
                  <a:srgbClr val="00B0F0"/>
                </a:solidFill>
                <a:latin typeface="Consolas" panose="020B0609020204030204" pitchFamily="49" charset="0"/>
              </a:rPr>
              <a:t>[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x for x in </a:t>
            </a:r>
            <a:r>
              <a:rPr lang="en-US" altLang="zh-TW" sz="2600" b="1" dirty="0">
                <a:solidFill>
                  <a:srgbClr val="7030A0"/>
                </a:solidFill>
                <a:latin typeface="Consolas" panose="020B0609020204030204" pitchFamily="49" charset="0"/>
              </a:rPr>
              <a:t>rang</a:t>
            </a:r>
            <a:r>
              <a:rPr lang="en-US" altLang="zh-TW" sz="2600" b="1" spc="-100" dirty="0">
                <a:solidFill>
                  <a:srgbClr val="7030A0"/>
                </a:solidFill>
                <a:latin typeface="Consolas" panose="020B0609020204030204" pitchFamily="49" charset="0"/>
              </a:rPr>
              <a:t>e(</a:t>
            </a:r>
            <a:r>
              <a:rPr lang="en-US" altLang="zh-TW" sz="2600" b="1" spc="-200" dirty="0">
                <a:solidFill>
                  <a:srgbClr val="7030A0"/>
                </a:solidFill>
                <a:latin typeface="Consolas" panose="020B0609020204030204" pitchFamily="49" charset="0"/>
              </a:rPr>
              <a:t>3</a:t>
            </a:r>
            <a:r>
              <a:rPr lang="en-US" altLang="zh-TW" sz="2600" b="1" spc="-400" dirty="0">
                <a:solidFill>
                  <a:srgbClr val="7030A0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2600" b="1" dirty="0">
                <a:solidFill>
                  <a:srgbClr val="00B0F0"/>
                </a:solidFill>
                <a:latin typeface="Consolas" panose="020B0609020204030204" pitchFamily="49" charset="0"/>
              </a:rPr>
              <a:t>]</a:t>
            </a:r>
            <a:r>
              <a:rPr lang="en-US" altLang="zh-TW" sz="2600" dirty="0">
                <a:solidFill>
                  <a:srgbClr val="000000"/>
                </a:solidFill>
              </a:rPr>
              <a:t>#A </a:t>
            </a:r>
            <a:r>
              <a:rPr lang="en-US" altLang="zh-TW" sz="2600" dirty="0">
                <a:solidFill>
                  <a:srgbClr val="00B0F0"/>
                </a:solidFill>
              </a:rPr>
              <a:t>comprehension</a:t>
            </a:r>
            <a:r>
              <a:rPr lang="en-US" altLang="zh-TW" sz="2600" dirty="0">
                <a:solidFill>
                  <a:srgbClr val="000000"/>
                </a:solidFill>
              </a:rPr>
              <a:t> of [0,1,2]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c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zh-TW" sz="2600" dirty="0">
                <a:solidFill>
                  <a:srgbClr val="F15151"/>
                </a:solidFill>
                <a:latin typeface="Consolas" panose="020B0609020204030204" pitchFamily="49" charset="0"/>
              </a:rPr>
              <a:t>next(c,-1),next(c,-1),next(c,-1),next(c,-1)</a:t>
            </a:r>
          </a:p>
          <a:p>
            <a:pPr defTabSz="914400">
              <a:lnSpc>
                <a:spcPct val="80000"/>
              </a:lnSpc>
            </a:pPr>
            <a:r>
              <a:rPr lang="en-US" altLang="zh-TW" sz="2600" b="1" dirty="0">
                <a:solidFill>
                  <a:srgbClr val="2D2DB9"/>
                </a:solidFill>
                <a:latin typeface="Consolas" panose="020B0609020204030204" pitchFamily="49" charset="0"/>
              </a:rPr>
              <a:t>[0, 1, 2]</a:t>
            </a:r>
          </a:p>
          <a:p>
            <a:pPr defTabSz="914400">
              <a:lnSpc>
                <a:spcPct val="75000"/>
              </a:lnSpc>
            </a:pPr>
            <a:r>
              <a:rPr lang="en-US" altLang="zh-TW" sz="1800" dirty="0" err="1">
                <a:solidFill>
                  <a:srgbClr val="EE2929"/>
                </a:solidFill>
                <a:latin typeface="Consolas" panose="020B0609020204030204" pitchFamily="49" charset="0"/>
              </a:rPr>
              <a:t>Traceback</a:t>
            </a:r>
            <a:r>
              <a:rPr lang="en-US" altLang="zh-TW" sz="1800" dirty="0">
                <a:solidFill>
                  <a:srgbClr val="EE2929"/>
                </a:solidFill>
                <a:latin typeface="Consolas" panose="020B0609020204030204" pitchFamily="49" charset="0"/>
              </a:rPr>
              <a:t> (most recent call last):</a:t>
            </a:r>
          </a:p>
          <a:p>
            <a:pPr defTabSz="914400">
              <a:lnSpc>
                <a:spcPct val="82000"/>
              </a:lnSpc>
            </a:pPr>
            <a:r>
              <a:rPr lang="en-US" altLang="zh-TW" sz="1800" dirty="0">
                <a:solidFill>
                  <a:srgbClr val="EE2929"/>
                </a:solidFill>
                <a:latin typeface="Consolas" panose="020B0609020204030204" pitchFamily="49" charset="0"/>
              </a:rPr>
              <a:t>  File "&lt;</a:t>
            </a:r>
            <a:r>
              <a:rPr lang="en-US" altLang="zh-TW" sz="1800" dirty="0" err="1">
                <a:solidFill>
                  <a:srgbClr val="EE2929"/>
                </a:solidFill>
                <a:latin typeface="Consolas" panose="020B0609020204030204" pitchFamily="49" charset="0"/>
              </a:rPr>
              <a:t>stdin</a:t>
            </a:r>
            <a:r>
              <a:rPr lang="en-US" altLang="zh-TW" sz="1800" dirty="0">
                <a:solidFill>
                  <a:srgbClr val="EE2929"/>
                </a:solidFill>
                <a:latin typeface="Consolas" panose="020B0609020204030204" pitchFamily="49" charset="0"/>
              </a:rPr>
              <a:t>&gt;", line 1, in &lt;module&gt;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 err="1">
                <a:solidFill>
                  <a:srgbClr val="EE2929"/>
                </a:solidFill>
                <a:latin typeface="Consolas" panose="020B0609020204030204" pitchFamily="49" charset="0"/>
              </a:rPr>
              <a:t>TypeError</a:t>
            </a:r>
            <a:r>
              <a:rPr lang="en-US" altLang="zh-TW" sz="2600" dirty="0">
                <a:solidFill>
                  <a:srgbClr val="EE2929"/>
                </a:solidFill>
                <a:latin typeface="Consolas" panose="020B0609020204030204" pitchFamily="49" charset="0"/>
              </a:rPr>
              <a:t>: 'list' object is not an iterator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err="1">
                <a:solidFill>
                  <a:srgbClr val="2D2DB9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(c)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err="1">
                <a:solidFill>
                  <a:srgbClr val="2D2DB9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dirty="0" err="1">
                <a:solidFill>
                  <a:srgbClr val="00B050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>
                <a:solidFill>
                  <a:srgbClr val="00B050"/>
                </a:solidFill>
                <a:latin typeface="Consolas" panose="020B0609020204030204" pitchFamily="49" charset="0"/>
              </a:rPr>
              <a:t>(i,-1),next(i,-1),next(i,-1),next(i,-1)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&lt;</a:t>
            </a:r>
            <a:r>
              <a:rPr lang="en-US" altLang="zh-TW" sz="2600" dirty="0" err="1">
                <a:solidFill>
                  <a:srgbClr val="2D2DB9"/>
                </a:solidFill>
                <a:latin typeface="Consolas" panose="020B0609020204030204" pitchFamily="49" charset="0"/>
              </a:rPr>
              <a:t>list_iterator</a:t>
            </a: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 object at 0x6ffffd99eb8&gt;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b="1" dirty="0">
                <a:solidFill>
                  <a:srgbClr val="00B050"/>
                </a:solidFill>
                <a:latin typeface="Consolas" panose="020B0609020204030204" pitchFamily="49" charset="0"/>
              </a:rPr>
              <a:t>(0, 1, 2, -1)</a:t>
            </a:r>
          </a:p>
          <a:p>
            <a:pPr defTabSz="914400">
              <a:lnSpc>
                <a:spcPct val="67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DONT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dirty="0">
                <a:solidFill>
                  <a:srgbClr val="00B0F0"/>
                </a:solidFill>
                <a:latin typeface="Consolas" panose="020B0609020204030204" pitchFamily="49" charset="0"/>
              </a:rPr>
              <a:t>[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x for x in </a:t>
            </a:r>
            <a:r>
              <a:rPr lang="en-US" altLang="zh-TW" sz="2600" b="1" dirty="0">
                <a:solidFill>
                  <a:srgbClr val="7030A0"/>
                </a:solidFill>
                <a:latin typeface="Consolas" panose="020B0609020204030204" pitchFamily="49" charset="0"/>
              </a:rPr>
              <a:t>count()</a:t>
            </a:r>
            <a:r>
              <a:rPr lang="en-US" altLang="zh-TW" sz="2600" b="1" dirty="0">
                <a:solidFill>
                  <a:srgbClr val="00B0F0"/>
                </a:solidFill>
                <a:latin typeface="Consolas" panose="020B0609020204030204" pitchFamily="49" charset="0"/>
              </a:rPr>
              <a:t>]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0000"/>
                </a:solidFill>
                <a:cs typeface="Arial" panose="020B0604020202020204" pitchFamily="34" charset="0"/>
              </a:rPr>
              <a:t>#Why does it kill my PC?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562" y="685800"/>
            <a:ext cx="804990" cy="617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</a:p>
          <a:p>
            <a:pPr defTabSz="914400">
              <a:lnSpc>
                <a:spcPct val="8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FFFFFF">
                  <a:lumMod val="65000"/>
                </a:srgbClr>
              </a:solidFill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FFFFFF">
                  <a:lumMod val="65000"/>
                </a:srgbClr>
              </a:solidFill>
              <a:cs typeface="Arial" panose="020B0604020202020204" pitchFamily="34" charset="0"/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FFFFFF">
                  <a:lumMod val="65000"/>
                </a:srgbClr>
              </a:solidFill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18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18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7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FFFFFF">
                  <a:lumMod val="65000"/>
                </a:srgbClr>
              </a:solidFill>
              <a:cs typeface="Arial" panose="020B0604020202020204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 flipV="1">
            <a:off x="2552700" y="1200150"/>
            <a:ext cx="5086350" cy="535305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grpSp>
        <p:nvGrpSpPr>
          <p:cNvPr id="6" name="Group 5"/>
          <p:cNvGrpSpPr/>
          <p:nvPr/>
        </p:nvGrpSpPr>
        <p:grpSpPr>
          <a:xfrm>
            <a:off x="3086100" y="1314450"/>
            <a:ext cx="3834079" cy="1340968"/>
            <a:chOff x="3086100" y="1314450"/>
            <a:chExt cx="3834079" cy="1340968"/>
          </a:xfrm>
        </p:grpSpPr>
        <p:sp>
          <p:nvSpPr>
            <p:cNvPr id="7" name="Snip Single Corner Rectangle 6"/>
            <p:cNvSpPr/>
            <p:nvPr/>
          </p:nvSpPr>
          <p:spPr bwMode="auto">
            <a:xfrm rot="10800000">
              <a:off x="3547869" y="1316736"/>
              <a:ext cx="3372310" cy="1331366"/>
            </a:xfrm>
            <a:prstGeom prst="snip1Rect">
              <a:avLst>
                <a:gd name="adj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>
                <a:solidFill>
                  <a:srgbClr val="FFFFFF"/>
                </a:solidFill>
                <a:latin typeface="Times New Roman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086100" y="1314450"/>
              <a:ext cx="3829050" cy="134096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4000" dirty="0">
                  <a:solidFill>
                    <a:srgbClr val="FF0000"/>
                  </a:solidFill>
                  <a:cs typeface="Arial" panose="020B0604020202020204" pitchFamily="34" charset="0"/>
                </a:rPr>
                <a:t>This</a:t>
              </a:r>
              <a:r>
                <a:rPr lang="en-US" sz="3600" dirty="0">
                  <a:solidFill>
                    <a:srgbClr val="FF0000"/>
                  </a:solidFill>
                  <a:cs typeface="Arial" panose="020B0604020202020204" pitchFamily="34" charset="0"/>
                </a:rPr>
                <a:t> </a:t>
              </a:r>
              <a:r>
                <a:rPr lang="en-US" sz="4000" spc="-100" dirty="0">
                  <a:solidFill>
                    <a:srgbClr val="FF0000"/>
                  </a:solidFill>
                  <a:cs typeface="Arial" panose="020B0604020202020204" pitchFamily="34" charset="0"/>
                </a:rPr>
                <a:t>on</a:t>
              </a:r>
              <a:r>
                <a:rPr lang="en-US" sz="4000" dirty="0">
                  <a:solidFill>
                    <a:srgbClr val="FF0000"/>
                  </a:solidFill>
                  <a:cs typeface="Arial" panose="020B0604020202020204" pitchFamily="34" charset="0"/>
                </a:rPr>
                <a:t>e</a:t>
              </a:r>
              <a:r>
                <a:rPr lang="en-US" sz="3600" dirty="0">
                  <a:solidFill>
                    <a:srgbClr val="FF0000"/>
                  </a:solidFill>
                  <a:cs typeface="Arial" panose="020B0604020202020204" pitchFamily="34" charset="0"/>
                </a:rPr>
                <a:t> </a:t>
              </a:r>
              <a:r>
                <a:rPr lang="en-US" sz="4000" dirty="0">
                  <a:solidFill>
                    <a:srgbClr val="FF0000"/>
                  </a:solidFill>
                  <a:cs typeface="Arial" panose="020B0604020202020204" pitchFamily="34" charset="0"/>
                </a:rPr>
                <a:t>did</a:t>
              </a:r>
              <a:r>
                <a:rPr lang="en-US" sz="4000" spc="-100" dirty="0">
                  <a:solidFill>
                    <a:srgbClr val="FF0000"/>
                  </a:solidFill>
                  <a:cs typeface="Arial" panose="020B0604020202020204" pitchFamily="34" charset="0"/>
                </a:rPr>
                <a:t>n</a:t>
              </a:r>
              <a:r>
                <a:rPr lang="en-US" sz="4000" dirty="0">
                  <a:solidFill>
                    <a:srgbClr val="FF0000"/>
                  </a:solidFill>
                  <a:cs typeface="Arial" panose="020B0604020202020204" pitchFamily="34" charset="0"/>
                </a:rPr>
                <a:t>'t kill my PC.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831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062" y="0"/>
            <a:ext cx="9144000" cy="6858000"/>
          </a:xfrm>
        </p:spPr>
        <p:txBody>
          <a:bodyPr/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myGeneratorList</a:t>
            </a:r>
            <a:r>
              <a:rPr lang="en-US" altLang="zh-TW" dirty="0">
                <a:latin typeface="Lucida Console" panose="020B0609040504020204" pitchFamily="49" charset="0"/>
              </a:rPr>
              <a:t>(n):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for </a:t>
            </a:r>
            <a:r>
              <a:rPr lang="en-US" altLang="zh-TW" dirty="0" err="1">
                <a:latin typeface="Lucida Console" panose="020B0609040504020204" pitchFamily="49" charset="0"/>
              </a:rPr>
              <a:t>i</a:t>
            </a:r>
            <a:r>
              <a:rPr lang="en-US" altLang="zh-TW" dirty="0">
                <a:latin typeface="Lucida Console" panose="020B0609040504020204" pitchFamily="49" charset="0"/>
              </a:rPr>
              <a:t> in range(n):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yield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i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myIterableList</a:t>
            </a:r>
            <a:r>
              <a:rPr lang="en-US" altLang="zh-TW" dirty="0">
                <a:latin typeface="Lucida Console" panose="020B0609040504020204" pitchFamily="49" charset="0"/>
              </a:rPr>
              <a:t>(n):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zh-TW" dirty="0">
                <a:latin typeface="Lucida Console" panose="020B0609040504020204" pitchFamily="49" charset="0"/>
              </a:rPr>
              <a:t> [</a:t>
            </a:r>
            <a:r>
              <a:rPr lang="en-US" altLang="zh-TW" dirty="0" err="1">
                <a:latin typeface="Lucida Console" panose="020B0609040504020204" pitchFamily="49" charset="0"/>
              </a:rPr>
              <a:t>i</a:t>
            </a:r>
            <a:r>
              <a:rPr lang="en-US" altLang="zh-TW" dirty="0">
                <a:latin typeface="Lucida Console" panose="020B0609040504020204" pitchFamily="49" charset="0"/>
              </a:rPr>
              <a:t> for </a:t>
            </a:r>
            <a:r>
              <a:rPr lang="en-US" altLang="zh-TW" dirty="0" err="1">
                <a:latin typeface="Lucida Console" panose="020B0609040504020204" pitchFamily="49" charset="0"/>
              </a:rPr>
              <a:t>i</a:t>
            </a:r>
            <a:r>
              <a:rPr lang="en-US" altLang="zh-TW" dirty="0">
                <a:latin typeface="Lucida Console" panose="020B0609040504020204" pitchFamily="49" charset="0"/>
              </a:rPr>
              <a:t> in range(n)]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myGeneratorList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L2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myIterableList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en-US" altLang="zh-TW" dirty="0">
                <a:latin typeface="Lucida Console" panose="020B0609040504020204" pitchFamily="49" charset="0"/>
              </a:rPr>
              <a:t>,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L2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latin typeface="Lucida Console" panose="020B0609040504020204" pitchFamily="49" charset="0"/>
              </a:rPr>
              <a:t>&lt;</a:t>
            </a:r>
            <a:r>
              <a:rPr lang="en-US" altLang="zh-TW" dirty="0">
                <a:solidFill>
                  <a:srgbClr val="FF0000"/>
                </a:solidFill>
                <a:ea typeface="STXihei" panose="02010600040101010101" pitchFamily="2" charset="-122"/>
              </a:rPr>
              <a:t>generator object </a:t>
            </a:r>
            <a:r>
              <a:rPr lang="en-US" altLang="zh-TW" dirty="0" err="1">
                <a:solidFill>
                  <a:srgbClr val="FF0000"/>
                </a:solidFill>
                <a:ea typeface="STXihei" panose="02010600040101010101" pitchFamily="2" charset="-122"/>
              </a:rPr>
              <a:t>myGeneratorList</a:t>
            </a:r>
            <a:r>
              <a:rPr lang="en-US" altLang="zh-TW" dirty="0">
                <a:latin typeface="Arial Narrow" panose="020B0606020202030204" pitchFamily="34" charset="0"/>
                <a:ea typeface="STXihei" panose="02010600040101010101" pitchFamily="2" charset="-122"/>
              </a:rPr>
              <a:t> at 0x6ffffb15728</a:t>
            </a:r>
            <a:r>
              <a:rPr lang="en-US" altLang="zh-TW" dirty="0">
                <a:latin typeface="Lucida Console" panose="020B0609040504020204" pitchFamily="49" charset="0"/>
              </a:rPr>
              <a:t>&gt;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[0, 1]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 err="1">
                <a:latin typeface="Lucida Console" panose="020B0609040504020204" pitchFamily="49" charset="0"/>
              </a:rPr>
              <a:t>len</a:t>
            </a:r>
            <a:r>
              <a:rPr lang="en-US" altLang="zh-TW" dirty="0">
                <a:latin typeface="Lucida Console" panose="020B0609040504020204" pitchFamily="49" charset="0"/>
              </a:rPr>
              <a:t>(list(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en-US" altLang="zh-TW" dirty="0">
                <a:latin typeface="Lucida Console" panose="020B0609040504020204" pitchFamily="49" charset="0"/>
              </a:rPr>
              <a:t>)), </a:t>
            </a:r>
            <a:r>
              <a:rPr lang="en-US" altLang="zh-TW" dirty="0" err="1">
                <a:latin typeface="Lucida Console" panose="020B0609040504020204" pitchFamily="49" charset="0"/>
              </a:rPr>
              <a:t>len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L2</a:t>
            </a:r>
            <a:r>
              <a:rPr lang="en-US" altLang="zh-TW" dirty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2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 err="1">
                <a:latin typeface="Lucida Console" panose="020B0609040504020204" pitchFamily="49" charset="0"/>
              </a:rPr>
              <a:t>len</a:t>
            </a:r>
            <a:r>
              <a:rPr lang="en-US" altLang="zh-TW" dirty="0">
                <a:latin typeface="Lucida Console" panose="020B0609040504020204" pitchFamily="49" charset="0"/>
              </a:rPr>
              <a:t>(list(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en-US" altLang="zh-TW" dirty="0">
                <a:latin typeface="Lucida Console" panose="020B0609040504020204" pitchFamily="49" charset="0"/>
              </a:rPr>
              <a:t>)), </a:t>
            </a:r>
            <a:r>
              <a:rPr lang="en-US" altLang="zh-TW" dirty="0" err="1">
                <a:latin typeface="Lucida Console" panose="020B0609040504020204" pitchFamily="49" charset="0"/>
              </a:rPr>
              <a:t>len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L2</a:t>
            </a:r>
            <a:r>
              <a:rPr lang="en-US" altLang="zh-TW" dirty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2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dirty="0" err="1">
                <a:latin typeface="Lucida Console" panose="020B0609040504020204" pitchFamily="49" charset="0"/>
              </a:rPr>
              <a:t>myGeneratorList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nn-NO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nn-NO" altLang="zh-TW" dirty="0">
                <a:latin typeface="Lucida Console" panose="020B0609040504020204" pitchFamily="49" charset="0"/>
              </a:rPr>
              <a:t> for </a:t>
            </a:r>
            <a:r>
              <a:rPr lang="nn-NO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nn-NO" altLang="zh-TW" dirty="0">
                <a:latin typeface="Lucida Console" panose="020B0609040504020204" pitchFamily="49" charset="0"/>
              </a:rPr>
              <a:t>,</a:t>
            </a:r>
            <a:r>
              <a:rPr lang="nn-NO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j</a:t>
            </a:r>
            <a:r>
              <a:rPr lang="nn-NO" altLang="zh-TW" dirty="0">
                <a:latin typeface="Lucida Console" panose="020B0609040504020204" pitchFamily="49" charset="0"/>
              </a:rPr>
              <a:t> in zip(</a:t>
            </a:r>
            <a:r>
              <a:rPr lang="nn-NO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nn-NO" altLang="zh-TW" dirty="0">
                <a:latin typeface="Lucida Console" panose="020B0609040504020204" pitchFamily="49" charset="0"/>
              </a:rPr>
              <a:t>,</a:t>
            </a:r>
            <a:r>
              <a:rPr lang="nn-NO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L2</a:t>
            </a:r>
            <a:r>
              <a:rPr lang="nn-NO" altLang="zh-TW" dirty="0">
                <a:latin typeface="Lucida Console" panose="020B0609040504020204" pitchFamily="49" charset="0"/>
              </a:rPr>
              <a:t>): </a:t>
            </a:r>
            <a:r>
              <a:rPr lang="en-US" altLang="zh-TW" dirty="0">
                <a:latin typeface="Lucida Console" panose="020B0609040504020204" pitchFamily="49" charset="0"/>
              </a:rPr>
              <a:t>print(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dirty="0" err="1">
                <a:latin typeface="Lucida Console" panose="020B0609040504020204" pitchFamily="49" charset="0"/>
              </a:rPr>
              <a:t>,</a:t>
            </a:r>
            <a:r>
              <a:rPr lang="en-US" altLang="zh-TW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j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0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1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nn-NO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nn-NO" altLang="zh-TW" dirty="0">
                <a:latin typeface="Lucida Console" panose="020B0609040504020204" pitchFamily="49" charset="0"/>
              </a:rPr>
              <a:t> for </a:t>
            </a:r>
            <a:r>
              <a:rPr lang="nn-NO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nn-NO" altLang="zh-TW" dirty="0">
                <a:latin typeface="Lucida Console" panose="020B0609040504020204" pitchFamily="49" charset="0"/>
              </a:rPr>
              <a:t>,</a:t>
            </a:r>
            <a:r>
              <a:rPr lang="nn-NO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j</a:t>
            </a:r>
            <a:r>
              <a:rPr lang="nn-NO" altLang="zh-TW" dirty="0">
                <a:latin typeface="Lucida Console" panose="020B0609040504020204" pitchFamily="49" charset="0"/>
              </a:rPr>
              <a:t> in zip(</a:t>
            </a:r>
            <a:r>
              <a:rPr lang="nn-NO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nn-NO" altLang="zh-TW" dirty="0">
                <a:latin typeface="Lucida Console" panose="020B0609040504020204" pitchFamily="49" charset="0"/>
              </a:rPr>
              <a:t>,</a:t>
            </a:r>
            <a:r>
              <a:rPr lang="nn-NO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L2</a:t>
            </a:r>
            <a:r>
              <a:rPr lang="nn-NO" altLang="zh-TW" dirty="0">
                <a:latin typeface="Lucida Console" panose="020B0609040504020204" pitchFamily="49" charset="0"/>
              </a:rPr>
              <a:t>): </a:t>
            </a:r>
            <a:r>
              <a:rPr lang="en-US" altLang="zh-TW" dirty="0">
                <a:latin typeface="Lucida Console" panose="020B0609040504020204" pitchFamily="49" charset="0"/>
              </a:rPr>
              <a:t>print(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dirty="0" err="1">
                <a:latin typeface="Lucida Console" panose="020B0609040504020204" pitchFamily="49" charset="0"/>
              </a:rPr>
              <a:t>,</a:t>
            </a:r>
            <a:r>
              <a:rPr lang="en-US" altLang="zh-TW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j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73062" y="4876801"/>
            <a:ext cx="851452" cy="27167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373062" y="2478413"/>
            <a:ext cx="851452" cy="35755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373062" y="3200401"/>
            <a:ext cx="851452" cy="29094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73062" y="3864230"/>
            <a:ext cx="851452" cy="28500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73062" y="4515592"/>
            <a:ext cx="851452" cy="28500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4945062" y="-76200"/>
            <a:ext cx="4572000" cy="2209800"/>
          </a:xfrm>
          <a:prstGeom prst="wedgeRoundRectCallout">
            <a:avLst>
              <a:gd name="adj1" fmla="val -57568"/>
              <a:gd name="adj2" fmla="val 83415"/>
              <a:gd name="adj3" fmla="val 16667"/>
            </a:avLst>
          </a:prstGeom>
          <a:solidFill>
            <a:srgbClr val="00DBD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Notice that the generator doesn’t have data, just a pointer to a function that knows how to make data</a:t>
            </a:r>
            <a:endParaRPr lang="zh-TW" altLang="en-US" sz="32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4945062" y="3657600"/>
            <a:ext cx="4572000" cy="2209800"/>
          </a:xfrm>
          <a:prstGeom prst="wedgeRoundRectCallout">
            <a:avLst>
              <a:gd name="adj1" fmla="val -75135"/>
              <a:gd name="adj2" fmla="val -60294"/>
              <a:gd name="adj3" fmla="val 16667"/>
            </a:avLst>
          </a:prstGeom>
          <a:solidFill>
            <a:srgbClr val="00DBD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If not cast to a list, </a:t>
            </a:r>
            <a:r>
              <a:rPr lang="en-US" altLang="zh-TW" sz="3200" dirty="0" err="1">
                <a:solidFill>
                  <a:srgbClr val="000000"/>
                </a:solidFill>
                <a:latin typeface="Times New Roman" charset="0"/>
              </a:rPr>
              <a:t>len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() would cause an error, because a generator has no data, so no size.</a:t>
            </a:r>
            <a:endParaRPr lang="zh-TW" altLang="en-US" sz="32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1668462" y="4724400"/>
            <a:ext cx="7391400" cy="1706262"/>
          </a:xfrm>
          <a:prstGeom prst="wedgeRoundRectCallout">
            <a:avLst>
              <a:gd name="adj1" fmla="val -64268"/>
              <a:gd name="adj2" fmla="val -63915"/>
              <a:gd name="adj3" fmla="val 16667"/>
            </a:avLst>
          </a:prstGeom>
          <a:solidFill>
            <a:srgbClr val="00DBD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This is interesting. If L1 got cast into a list, that means it has </a:t>
            </a:r>
            <a:r>
              <a:rPr lang="en-US" altLang="zh-TW" sz="3200" b="1" i="1" dirty="0">
                <a:solidFill>
                  <a:srgbClr val="000000"/>
                </a:solidFill>
                <a:latin typeface="Times New Roman" charset="0"/>
              </a:rPr>
              <a:t>already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 been iterated. </a:t>
            </a:r>
            <a:b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</a:b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So it can’t be iterated again.</a:t>
            </a:r>
            <a:endParaRPr lang="zh-TW" altLang="en-US" sz="32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73062" y="6019801"/>
            <a:ext cx="851452" cy="34299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2963862" y="3124200"/>
            <a:ext cx="5791200" cy="1219200"/>
          </a:xfrm>
          <a:prstGeom prst="wedgeRoundRectCallout">
            <a:avLst>
              <a:gd name="adj1" fmla="val -72854"/>
              <a:gd name="adj2" fmla="val 70539"/>
              <a:gd name="adj3" fmla="val 16667"/>
            </a:avLst>
          </a:prstGeom>
          <a:solidFill>
            <a:srgbClr val="00DBD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So if we want to generate it again, we have to re-initialize it first.</a:t>
            </a:r>
            <a:endParaRPr lang="zh-TW" altLang="en-US" sz="32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2659062" y="6400800"/>
            <a:ext cx="6844748" cy="457200"/>
          </a:xfrm>
          <a:prstGeom prst="wedgeRoundRectCallout">
            <a:avLst>
              <a:gd name="adj1" fmla="val -73287"/>
              <a:gd name="adj2" fmla="val -42795"/>
              <a:gd name="adj3" fmla="val 16667"/>
            </a:avLst>
          </a:prstGeom>
          <a:solidFill>
            <a:srgbClr val="00DBD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We iterated it, so we can’t iterate again.</a:t>
            </a:r>
            <a:endParaRPr lang="zh-TW" altLang="en-US" sz="3200" dirty="0">
              <a:solidFill>
                <a:srgbClr val="00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38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3" grpId="0" animBg="1"/>
      <p:bldP spid="13" grpId="1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nvie.com/img/relationship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7" y="1130212"/>
            <a:ext cx="8506453" cy="383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036653" y="5564836"/>
            <a:ext cx="4750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dirty="0">
                <a:solidFill>
                  <a:srgbClr val="FF0000"/>
                </a:solidFill>
                <a:hlinkClick r:id="rId3"/>
              </a:rPr>
              <a:t>http://nvie.com/posts/iterators-vs-generators/</a:t>
            </a:r>
            <a:endParaRPr lang="en-US" altLang="zh-TW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784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034" y="381000"/>
            <a:ext cx="8601657" cy="899160"/>
          </a:xfrm>
        </p:spPr>
        <p:txBody>
          <a:bodyPr/>
          <a:lstStyle/>
          <a:p>
            <a:r>
              <a:rPr lang="en-US" altLang="zh-TW" sz="4400" dirty="0" err="1">
                <a:latin typeface="Elephant" panose="02020904090505020303" pitchFamily="18" charset="0"/>
              </a:rPr>
              <a:t>Iterables</a:t>
            </a:r>
            <a:r>
              <a:rPr lang="en-US" altLang="zh-TW" sz="4400" dirty="0">
                <a:latin typeface="Elephant" panose="02020904090505020303" pitchFamily="18" charset="0"/>
              </a:rPr>
              <a:t> vs. Iterators </a:t>
            </a:r>
            <a:br>
              <a:rPr lang="en-US" altLang="zh-TW" sz="4400" dirty="0">
                <a:latin typeface="Elephant" panose="02020904090505020303" pitchFamily="18" charset="0"/>
              </a:rPr>
            </a:br>
            <a:r>
              <a:rPr lang="en-US" altLang="zh-TW" sz="4400" dirty="0">
                <a:latin typeface="Elephant" panose="02020904090505020303" pitchFamily="18" charset="0"/>
              </a:rPr>
              <a:t>vs. Generators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262" y="1795914"/>
            <a:ext cx="8077200" cy="4953000"/>
          </a:xfrm>
        </p:spPr>
        <p:txBody>
          <a:bodyPr/>
          <a:lstStyle/>
          <a:p>
            <a:r>
              <a:rPr lang="en-US" altLang="zh-TW" sz="2800" dirty="0"/>
              <a:t>Let’s now look at:</a:t>
            </a:r>
            <a:br>
              <a:rPr lang="en-US" altLang="zh-TW" sz="2800" dirty="0"/>
            </a:br>
            <a:r>
              <a:rPr lang="en-US" altLang="zh-TW" sz="2800" dirty="0">
                <a:solidFill>
                  <a:srgbClr val="FF0000"/>
                </a:solidFill>
                <a:hlinkClick r:id="rId2"/>
              </a:rPr>
              <a:t>http://nvie.com/posts/iterators-vs-generators/</a:t>
            </a:r>
            <a:endParaRPr lang="en-US" altLang="zh-TW" sz="2800" dirty="0">
              <a:solidFill>
                <a:srgbClr val="FF0000"/>
              </a:solidFill>
            </a:endParaRPr>
          </a:p>
          <a:p>
            <a:endParaRPr lang="en-US" altLang="zh-TW" sz="2800" dirty="0"/>
          </a:p>
          <a:p>
            <a:r>
              <a:rPr lang="en-US" altLang="zh-TW" sz="2800" dirty="0"/>
              <a:t>It really is part of the lecture notes. We did look at it in lecture (although we skipped the parts on classes). </a:t>
            </a:r>
          </a:p>
          <a:p>
            <a:endParaRPr lang="en-US" altLang="zh-TW" sz="2800" dirty="0"/>
          </a:p>
          <a:p>
            <a:r>
              <a:rPr lang="en-US" altLang="zh-TW" sz="2800" dirty="0"/>
              <a:t>It is material that could be on the exam, so do look at it.</a:t>
            </a:r>
          </a:p>
        </p:txBody>
      </p:sp>
    </p:spTree>
    <p:extLst>
      <p:ext uri="{BB962C8B-B14F-4D97-AF65-F5344CB8AC3E}">
        <p14:creationId xmlns:p14="http://schemas.microsoft.com/office/powerpoint/2010/main" val="3718776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00" b="1" spc="-1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4000" b="1" spc="-100" dirty="0">
                <a:solidFill>
                  <a:srgbClr val="FFC000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2000" b="1" spc="-100" dirty="0">
                <a:solidFill>
                  <a:srgbClr val="FFC000"/>
                </a:solidFill>
                <a:latin typeface="Agency FB" panose="020B0503020202020204" pitchFamily="34" charset="0"/>
              </a:rPr>
              <a:t> </a:t>
            </a:r>
            <a:r>
              <a:rPr lang="en-US" altLang="en-US" sz="4000" b="1" spc="-100" dirty="0">
                <a:solidFill>
                  <a:srgbClr val="FFC000"/>
                </a:solidFill>
                <a:latin typeface="Agency FB" panose="020B0503020202020204" pitchFamily="34" charset="0"/>
              </a:rPr>
              <a:t>)</a:t>
            </a:r>
            <a:r>
              <a:rPr lang="en-US" altLang="en-US" sz="4000" b="1" spc="-100" dirty="0">
                <a:solidFill>
                  <a:srgbClr val="FFC000"/>
                </a:solidFill>
              </a:rPr>
              <a:t>  </a:t>
            </a:r>
            <a:r>
              <a:rPr lang="en-US" altLang="en-US" spc="-100" dirty="0">
                <a:solidFill>
                  <a:srgbClr val="000000"/>
                </a:solidFill>
              </a:rPr>
              <a:t>vs  </a:t>
            </a:r>
            <a:r>
              <a:rPr lang="en-US" altLang="en-US" sz="4000" b="1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reversed</a:t>
            </a:r>
            <a:r>
              <a:rPr lang="en-US" altLang="en-US" sz="4000" b="1" spc="-100" dirty="0">
                <a:solidFill>
                  <a:srgbClr val="000000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2000" b="1" spc="-100" dirty="0">
                <a:solidFill>
                  <a:srgbClr val="000000"/>
                </a:solidFill>
                <a:latin typeface="Agency FB" panose="020B0503020202020204" pitchFamily="34" charset="0"/>
              </a:rPr>
              <a:t> </a:t>
            </a:r>
            <a:r>
              <a:rPr lang="en-US" altLang="en-US" sz="4000" b="1" spc="-100" dirty="0">
                <a:solidFill>
                  <a:srgbClr val="000000"/>
                </a:solidFill>
                <a:latin typeface="Agency FB" panose="020B0503020202020204" pitchFamily="34" charset="0"/>
              </a:rPr>
              <a:t>)</a:t>
            </a:r>
            <a:r>
              <a:rPr lang="en-US" altLang="en-US" sz="4000" b="1" spc="-100" dirty="0">
                <a:solidFill>
                  <a:srgbClr val="000000"/>
                </a:solidFill>
              </a:rPr>
              <a:t> </a:t>
            </a:r>
            <a:r>
              <a:rPr lang="en-US" altLang="en-US" sz="4000" b="1" spc="-100" dirty="0">
                <a:solidFill>
                  <a:srgbClr val="00B050"/>
                </a:solidFill>
              </a:rPr>
              <a:t> </a:t>
            </a:r>
            <a:r>
              <a:rPr lang="en-US" altLang="en-US" spc="-100" dirty="0">
                <a:solidFill>
                  <a:srgbClr val="000000"/>
                </a:solidFill>
              </a:rPr>
              <a:t>vs  </a:t>
            </a:r>
            <a:r>
              <a:rPr lang="en-US" altLang="en-US" sz="4000" b="1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sorted</a:t>
            </a:r>
            <a:r>
              <a:rPr lang="en-US" altLang="en-US" sz="4000" b="1" spc="-100" dirty="0">
                <a:solidFill>
                  <a:srgbClr val="000000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2000" b="1" spc="-100" dirty="0">
                <a:solidFill>
                  <a:srgbClr val="000000"/>
                </a:solidFill>
                <a:latin typeface="Agency FB" panose="020B0503020202020204" pitchFamily="34" charset="0"/>
              </a:rPr>
              <a:t> </a:t>
            </a:r>
            <a:r>
              <a:rPr lang="en-US" altLang="en-US" sz="4000" b="1" spc="-100" dirty="0">
                <a:solidFill>
                  <a:srgbClr val="000000"/>
                </a:solidFill>
                <a:latin typeface="Agency FB" panose="020B0503020202020204" pitchFamily="34" charset="0"/>
              </a:rPr>
              <a:t>)</a:t>
            </a:r>
            <a:endParaRPr lang="en-US" altLang="en-US" sz="4000" b="1" spc="-200" dirty="0">
              <a:solidFill>
                <a:srgbClr val="000000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6806483" y="6439"/>
            <a:ext cx="2298877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0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sorted</a:t>
            </a:r>
            <a:r>
              <a:rPr lang="en-US" altLang="en-US" sz="4000" b="1" spc="-100" dirty="0">
                <a:solidFill>
                  <a:srgbClr val="00B0F0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2000" b="1" spc="-100" dirty="0">
                <a:solidFill>
                  <a:srgbClr val="00B0F0"/>
                </a:solidFill>
                <a:latin typeface="Agency FB" panose="020B0503020202020204" pitchFamily="34" charset="0"/>
              </a:rPr>
              <a:t> </a:t>
            </a:r>
            <a:r>
              <a:rPr lang="en-US" altLang="en-US" sz="4000" b="1" spc="-100" dirty="0">
                <a:solidFill>
                  <a:srgbClr val="00B0F0"/>
                </a:solidFill>
                <a:latin typeface="Agency FB" panose="020B0503020202020204" pitchFamily="34" charset="0"/>
              </a:rPr>
              <a:t>)</a:t>
            </a:r>
            <a:r>
              <a:rPr lang="en-US" altLang="en-US" sz="4000" b="1" spc="-100" dirty="0">
                <a:solidFill>
                  <a:srgbClr val="00B0F0"/>
                </a:solidFill>
              </a:rPr>
              <a:t>  </a:t>
            </a:r>
            <a:endParaRPr lang="en-US" altLang="en-US" sz="4000" b="1" spc="-200" dirty="0">
              <a:solidFill>
                <a:srgbClr val="00B0F0"/>
              </a:solidFill>
              <a:latin typeface="Agency FB" panose="020B0503020202020204" pitchFamily="34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033623" y="6439"/>
            <a:ext cx="3086100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reversed</a:t>
            </a:r>
            <a:r>
              <a:rPr lang="en-US" altLang="en-US" sz="4000" b="1" spc="-100" dirty="0">
                <a:solidFill>
                  <a:srgbClr val="00B050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2000" b="1" spc="-100" dirty="0">
                <a:solidFill>
                  <a:srgbClr val="00B050"/>
                </a:solidFill>
                <a:latin typeface="Agency FB" panose="020B0503020202020204" pitchFamily="34" charset="0"/>
              </a:rPr>
              <a:t> </a:t>
            </a:r>
            <a:r>
              <a:rPr lang="en-US" altLang="en-US" sz="4000" b="1" spc="-100" dirty="0">
                <a:solidFill>
                  <a:srgbClr val="00B050"/>
                </a:solidFill>
                <a:latin typeface="Agency FB" panose="020B0503020202020204" pitchFamily="34" charset="0"/>
              </a:rPr>
              <a:t>)</a:t>
            </a:r>
            <a:r>
              <a:rPr lang="en-US" altLang="en-US" sz="4000" b="1" spc="-100" dirty="0">
                <a:solidFill>
                  <a:srgbClr val="00B050"/>
                </a:solidFill>
              </a:rPr>
              <a:t>  </a:t>
            </a:r>
            <a:endParaRPr lang="en-US" altLang="en-US" sz="4000" b="1" spc="-200" dirty="0">
              <a:solidFill>
                <a:srgbClr val="00B0F0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x=</a:t>
            </a:r>
            <a:r>
              <a:rPr lang="en-US" altLang="zh-TW" sz="26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b="1" spc="-300" dirty="0" err="1">
                <a:solidFill>
                  <a:srgbClr val="FFC0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00" dirty="0">
                <a:solidFill>
                  <a:srgbClr val="00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doc</a:t>
            </a:r>
            <a:r>
              <a:rPr lang="en-US" altLang="zh-TW" sz="2600" spc="-500" dirty="0" err="1">
                <a:solidFill>
                  <a:srgbClr val="00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_;print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(x</a:t>
            </a:r>
            <a:r>
              <a:rPr lang="en-US" altLang="zh-TW" sz="2600" spc="-100" dirty="0">
                <a:solidFill>
                  <a:srgbClr val="000000"/>
                </a:solidFill>
                <a:latin typeface="Consolas" panose="020B0609020204030204" pitchFamily="49" charset="0"/>
              </a:rPr>
              <a:t>[: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altLang="zh-TW" sz="2600" spc="-100" dirty="0">
                <a:solidFill>
                  <a:srgbClr val="000000"/>
                </a:solidFill>
                <a:latin typeface="Consolas" panose="020B0609020204030204" pitchFamily="49" charset="0"/>
              </a:rPr>
              <a:t>6]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,x[6</a:t>
            </a:r>
            <a:r>
              <a:rPr lang="en-US" altLang="zh-TW" sz="2600" spc="-100" dirty="0">
                <a:solidFill>
                  <a:srgbClr val="000000"/>
                </a:solidFill>
                <a:latin typeface="Consolas" panose="020B0609020204030204" pitchFamily="49" charset="0"/>
              </a:rPr>
              <a:t>4: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9</a:t>
            </a:r>
            <a:r>
              <a:rPr lang="en-US" altLang="zh-TW" sz="2600" spc="-100" dirty="0">
                <a:solidFill>
                  <a:srgbClr val="000000"/>
                </a:solidFill>
                <a:latin typeface="Consolas" panose="020B0609020204030204" pitchFamily="49" charset="0"/>
              </a:rPr>
              <a:t>6],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x[11</a:t>
            </a:r>
            <a:r>
              <a:rPr lang="en-US" altLang="zh-TW" sz="2600" spc="-100" dirty="0">
                <a:solidFill>
                  <a:srgbClr val="000000"/>
                </a:solidFill>
                <a:latin typeface="Consolas" panose="020B0609020204030204" pitchFamily="49" charset="0"/>
              </a:rPr>
              <a:t>7: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177</a:t>
            </a:r>
            <a:r>
              <a:rPr lang="en-US" altLang="zh-TW" sz="2600" spc="-1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 err="1">
                <a:solidFill>
                  <a:srgbClr val="3333CC">
                    <a:lumMod val="60000"/>
                    <a:lumOff val="40000"/>
                  </a:srgb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3333CC">
                    <a:lumMod val="60000"/>
                    <a:lumOff val="40000"/>
                  </a:srgb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3333CC">
                    <a:lumMod val="60000"/>
                    <a:lumOff val="40000"/>
                  </a:srgbClr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3333CC">
                    <a:lumMod val="60000"/>
                    <a:lumOff val="40000"/>
                  </a:srgbClr>
                </a:solidFill>
                <a:latin typeface="Consolas" panose="020B0609020204030204" pitchFamily="49" charset="0"/>
              </a:rPr>
              <a:t>) -&gt; iterator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3333CC">
                    <a:lumMod val="60000"/>
                    <a:lumOff val="40000"/>
                  </a:srgbClr>
                </a:solidFill>
                <a:latin typeface="Consolas" panose="020B0609020204030204" pitchFamily="49" charset="0"/>
              </a:rPr>
              <a:t>Get an iterator from an object. the argument must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3333CC">
                    <a:lumMod val="60000"/>
                    <a:lumOff val="40000"/>
                  </a:srgbClr>
                </a:solidFill>
                <a:latin typeface="Consolas" panose="020B0609020204030204" pitchFamily="49" charset="0"/>
              </a:rPr>
              <a:t>supply its own iterator, or be a sequence.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next(</a:t>
            </a:r>
            <a:r>
              <a:rPr lang="en-US" altLang="zh-TW" sz="26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("YES"))</a:t>
            </a:r>
          </a:p>
          <a:p>
            <a:pPr defTabSz="914400">
              <a:lnSpc>
                <a:spcPct val="72000"/>
              </a:lnSpc>
            </a:pPr>
            <a:r>
              <a:rPr lang="en-US" altLang="zh-TW" sz="2600" b="1" dirty="0">
                <a:solidFill>
                  <a:srgbClr val="FFC000"/>
                </a:solidFill>
                <a:latin typeface="Consolas" panose="020B0609020204030204" pitchFamily="49" charset="0"/>
              </a:rPr>
              <a:t>'Y'</a:t>
            </a:r>
          </a:p>
          <a:p>
            <a:pPr defTabSz="914400">
              <a:lnSpc>
                <a:spcPct val="6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reversed</a:t>
            </a:r>
            <a:r>
              <a:rPr lang="en-US" altLang="zh-TW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__[:66])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3333CC">
                    <a:lumMod val="60000"/>
                    <a:lumOff val="40000"/>
                  </a:srgbClr>
                </a:solidFill>
                <a:latin typeface="Consolas" panose="020B0609020204030204" pitchFamily="49" charset="0"/>
              </a:rPr>
              <a:t>reversed(sequence) -&gt; reverse iterator over values of the sequence</a:t>
            </a:r>
          </a:p>
          <a:p>
            <a:pPr defTabSz="914400">
              <a:lnSpc>
                <a:spcPct val="7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next(</a:t>
            </a:r>
            <a:r>
              <a:rPr lang="en-US" altLang="zh-TW" sz="2600" b="1" dirty="0">
                <a:solidFill>
                  <a:srgbClr val="00B050"/>
                </a:solidFill>
                <a:latin typeface="Consolas" panose="020B0609020204030204" pitchFamily="49" charset="0"/>
              </a:rPr>
              <a:t>reversed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("YES")) </a:t>
            </a:r>
            <a:r>
              <a:rPr lang="en-US" altLang="zh-TW" sz="2600" dirty="0">
                <a:solidFill>
                  <a:srgbClr val="00B050"/>
                </a:solidFill>
                <a:latin typeface="Consolas" panose="020B0609020204030204" pitchFamily="49" charset="0"/>
              </a:rPr>
              <a:t>#So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50"/>
                </a:solidFill>
                <a:latin typeface="Consolas" panose="020B0609020204030204" pitchFamily="49" charset="0"/>
              </a:rPr>
              <a:t>reversed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50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50"/>
                </a:solidFill>
                <a:latin typeface="Consolas" panose="020B0609020204030204" pitchFamily="49" charset="0"/>
              </a:rPr>
              <a:t>iterator</a:t>
            </a:r>
          </a:p>
          <a:p>
            <a:pPr defTabSz="914400">
              <a:lnSpc>
                <a:spcPct val="72000"/>
              </a:lnSpc>
            </a:pPr>
            <a:r>
              <a:rPr lang="en-US" altLang="zh-TW" sz="2600" b="1" dirty="0">
                <a:solidFill>
                  <a:srgbClr val="00B050"/>
                </a:solidFill>
                <a:latin typeface="Consolas" panose="020B0609020204030204" pitchFamily="49" charset="0"/>
              </a:rPr>
              <a:t>'S'</a:t>
            </a:r>
          </a:p>
          <a:p>
            <a:pPr defTabSz="914400">
              <a:lnSpc>
                <a:spcPct val="6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00B0F0"/>
                </a:solidFill>
                <a:latin typeface="Consolas" panose="020B0609020204030204" pitchFamily="49" charset="0"/>
              </a:rPr>
              <a:t>sorted</a:t>
            </a:r>
            <a:r>
              <a:rPr lang="en-US" altLang="zh-TW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__[:76])</a:t>
            </a:r>
          </a:p>
          <a:p>
            <a:pPr defTabSz="914400">
              <a:lnSpc>
                <a:spcPct val="80000"/>
              </a:lnSpc>
            </a:pPr>
            <a:r>
              <a:rPr lang="en-US" altLang="zh-TW" sz="2600" dirty="0">
                <a:solidFill>
                  <a:srgbClr val="3333CC">
                    <a:lumMod val="60000"/>
                    <a:lumOff val="40000"/>
                  </a:srgbClr>
                </a:solidFill>
                <a:latin typeface="Consolas" panose="020B0609020204030204" pitchFamily="49" charset="0"/>
              </a:rPr>
              <a:t>Return a new list containing all items from the </a:t>
            </a:r>
            <a:r>
              <a:rPr lang="en-US" altLang="zh-TW" sz="2600" dirty="0" err="1">
                <a:solidFill>
                  <a:srgbClr val="3333CC">
                    <a:lumMod val="60000"/>
                    <a:lumOff val="40000"/>
                  </a:srgbClr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3333CC">
                    <a:lumMod val="60000"/>
                    <a:lumOff val="40000"/>
                  </a:srgbClr>
                </a:solidFill>
                <a:latin typeface="Consolas" panose="020B0609020204030204" pitchFamily="49" charset="0"/>
              </a:rPr>
              <a:t> in ascending order.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next(</a:t>
            </a:r>
            <a:r>
              <a:rPr lang="en-US" altLang="zh-TW" sz="2600" b="1" dirty="0">
                <a:solidFill>
                  <a:srgbClr val="00B0F0"/>
                </a:solidFill>
                <a:latin typeface="Consolas" panose="020B0609020204030204" pitchFamily="49" charset="0"/>
              </a:rPr>
              <a:t>sorted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("YES"))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#So</a:t>
            </a:r>
            <a:r>
              <a:rPr lang="en-US" altLang="zh-TW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sorted</a:t>
            </a:r>
            <a:r>
              <a:rPr lang="en-US" altLang="zh-TW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iterator: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000" dirty="0" err="1">
                <a:solidFill>
                  <a:srgbClr val="FFCCCC"/>
                </a:solidFill>
                <a:latin typeface="Consolas" panose="020B0609020204030204" pitchFamily="49" charset="0"/>
              </a:rPr>
              <a:t>Traceback</a:t>
            </a:r>
            <a:r>
              <a:rPr lang="en-US" altLang="zh-TW" sz="2000" dirty="0">
                <a:solidFill>
                  <a:srgbClr val="FFCCCC"/>
                </a:solidFill>
                <a:latin typeface="Consolas" panose="020B0609020204030204" pitchFamily="49" charset="0"/>
              </a:rPr>
              <a:t> (most recent call last):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000" dirty="0">
                <a:solidFill>
                  <a:srgbClr val="FFCCCC"/>
                </a:solidFill>
                <a:latin typeface="Consolas" panose="020B0609020204030204" pitchFamily="49" charset="0"/>
              </a:rPr>
              <a:t>  File "&lt;</a:t>
            </a:r>
            <a:r>
              <a:rPr lang="en-US" altLang="zh-TW" sz="2000" dirty="0" err="1">
                <a:solidFill>
                  <a:srgbClr val="FFCCCC"/>
                </a:solidFill>
                <a:latin typeface="Consolas" panose="020B0609020204030204" pitchFamily="49" charset="0"/>
              </a:rPr>
              <a:t>stdin</a:t>
            </a:r>
            <a:r>
              <a:rPr lang="en-US" altLang="zh-TW" sz="2000" dirty="0">
                <a:solidFill>
                  <a:srgbClr val="FFCCCC"/>
                </a:solidFill>
                <a:latin typeface="Consolas" panose="020B0609020204030204" pitchFamily="49" charset="0"/>
              </a:rPr>
              <a:t>&gt;", line 1, in &lt;module&gt;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 err="1">
                <a:solidFill>
                  <a:srgbClr val="FFCCCC"/>
                </a:solidFill>
                <a:latin typeface="Consolas" panose="020B0609020204030204" pitchFamily="49" charset="0"/>
              </a:rPr>
              <a:t>TypeError</a:t>
            </a:r>
            <a:r>
              <a:rPr lang="en-US" altLang="zh-TW" sz="2600" dirty="0">
                <a:solidFill>
                  <a:srgbClr val="FFCCCC"/>
                </a:solidFill>
                <a:latin typeface="Consolas" panose="020B0609020204030204" pitchFamily="49" charset="0"/>
              </a:rPr>
              <a:t>: </a:t>
            </a:r>
            <a:r>
              <a:rPr lang="en-US" altLang="zh-TW" sz="2600" dirty="0">
                <a:solidFill>
                  <a:srgbClr val="EE2929"/>
                </a:solidFill>
                <a:latin typeface="Consolas" panose="020B0609020204030204" pitchFamily="49" charset="0"/>
              </a:rPr>
              <a:t>'list' object is not an iterator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next(</a:t>
            </a:r>
            <a:r>
              <a:rPr lang="en-US" altLang="zh-TW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b="1" dirty="0">
                <a:solidFill>
                  <a:srgbClr val="00B0F0"/>
                </a:solidFill>
                <a:latin typeface="Consolas" panose="020B0609020204030204" pitchFamily="49" charset="0"/>
              </a:rPr>
              <a:t>sorted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("YES")))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#But</a:t>
            </a:r>
            <a:r>
              <a:rPr lang="en-US" altLang="zh-TW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err="1">
                <a:solidFill>
                  <a:srgbClr val="00B0F0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:</a:t>
            </a:r>
          </a:p>
          <a:p>
            <a:pPr defTabSz="914400">
              <a:lnSpc>
                <a:spcPct val="72000"/>
              </a:lnSpc>
            </a:pPr>
            <a:r>
              <a:rPr lang="en-US" altLang="zh-TW" sz="2600" b="1" dirty="0">
                <a:solidFill>
                  <a:srgbClr val="00B0F0"/>
                </a:solidFill>
                <a:latin typeface="Consolas" panose="020B0609020204030204" pitchFamily="49" charset="0"/>
              </a:rPr>
              <a:t>'E'</a:t>
            </a:r>
          </a:p>
          <a:p>
            <a:pPr defTabSz="914400">
              <a:lnSpc>
                <a:spcPct val="62000"/>
              </a:lnSpc>
            </a:pPr>
            <a:endParaRPr lang="en-US" altLang="zh-TW" sz="26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6862" y="685800"/>
            <a:ext cx="685800" cy="617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3333CC">
                  <a:lumMod val="60000"/>
                  <a:lumOff val="40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3333CC">
                  <a:lumMod val="60000"/>
                  <a:lumOff val="40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3333CC">
                  <a:lumMod val="60000"/>
                  <a:lumOff val="40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72000"/>
              </a:lnSpc>
            </a:pPr>
            <a:endParaRPr lang="en-US" altLang="zh-TW" sz="2600" b="1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6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br>
              <a:rPr lang="en-US" altLang="zh-TW" sz="2600" dirty="0">
                <a:solidFill>
                  <a:srgbClr val="3333CC">
                    <a:lumMod val="60000"/>
                    <a:lumOff val="40000"/>
                  </a:srgbClr>
                </a:solidFill>
                <a:latin typeface="Consolas" panose="020B0609020204030204" pitchFamily="49" charset="0"/>
              </a:rPr>
            </a:br>
            <a:endParaRPr lang="en-US" altLang="zh-TW" sz="2600" dirty="0">
              <a:solidFill>
                <a:srgbClr val="3333CC">
                  <a:lumMod val="60000"/>
                  <a:lumOff val="40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7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72000"/>
              </a:lnSpc>
            </a:pPr>
            <a:endParaRPr lang="en-US" altLang="zh-TW" sz="26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6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0000"/>
              </a:lnSpc>
            </a:pPr>
            <a:br>
              <a:rPr lang="en-US" altLang="zh-TW" sz="2600" dirty="0">
                <a:solidFill>
                  <a:srgbClr val="3333CC">
                    <a:lumMod val="60000"/>
                    <a:lumOff val="40000"/>
                  </a:srgbClr>
                </a:solidFill>
                <a:latin typeface="Consolas" panose="020B0609020204030204" pitchFamily="49" charset="0"/>
              </a:rPr>
            </a:br>
            <a:endParaRPr lang="en-US" altLang="zh-TW" sz="2600" dirty="0">
              <a:solidFill>
                <a:srgbClr val="3333CC">
                  <a:lumMod val="60000"/>
                  <a:lumOff val="40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000" dirty="0">
              <a:solidFill>
                <a:srgbClr val="FFCCCC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000" dirty="0">
              <a:solidFill>
                <a:srgbClr val="FFCCCC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EE2929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72000"/>
              </a:lnSpc>
            </a:pPr>
            <a:endParaRPr lang="en-US" altLang="zh-TW" sz="2600" b="1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6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</a:p>
        </p:txBody>
      </p:sp>
      <p:pic>
        <p:nvPicPr>
          <p:cNvPr id="7" name="Picture 2" descr="https://nvie.com/img/relationship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7" y="1018702"/>
            <a:ext cx="8506453" cy="383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569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9262" y="637793"/>
            <a:ext cx="8991600" cy="62682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 algn="just">
              <a:spcBef>
                <a:spcPct val="0"/>
              </a:spcBef>
              <a:buClrTx/>
              <a:buNone/>
            </a:pPr>
            <a:r>
              <a:rPr lang="en-US" altLang="en-US" sz="2800" spc="-100" dirty="0">
                <a:solidFill>
                  <a:srgbClr val="222222"/>
                </a:solidFill>
                <a:latin typeface="Arial"/>
                <a:ea typeface="Lucida Grande"/>
              </a:rPr>
              <a:t>The "</a:t>
            </a:r>
            <a:r>
              <a:rPr lang="en-US" altLang="en-US" spc="-100" dirty="0">
                <a:solidFill>
                  <a:srgbClr val="222222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</a:t>
            </a:r>
            <a:r>
              <a:rPr lang="en-US" altLang="en-US" sz="1600" spc="-100" dirty="0">
                <a:solidFill>
                  <a:srgbClr val="222222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 </a:t>
            </a:r>
            <a:r>
              <a:rPr lang="en-US" altLang="en-US" spc="-50" dirty="0">
                <a:solidFill>
                  <a:srgbClr val="222222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ro</a:t>
            </a:r>
            <a:r>
              <a:rPr lang="en-US" altLang="en-US" spc="-100" dirty="0">
                <a:solidFill>
                  <a:srgbClr val="222222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m"</a:t>
            </a:r>
            <a:r>
              <a:rPr lang="en-US" altLang="en-US" sz="2800" spc="-100" dirty="0">
                <a:solidFill>
                  <a:srgbClr val="222222"/>
                </a:solidFill>
                <a:latin typeface="Arial"/>
                <a:ea typeface="Lucida Grande"/>
              </a:rPr>
              <a:t> </a:t>
            </a:r>
            <a:r>
              <a:rPr lang="en-US" altLang="en-US" sz="2800" spc="-30" dirty="0">
                <a:solidFill>
                  <a:srgbClr val="222222"/>
                </a:solidFill>
                <a:latin typeface="Arial"/>
                <a:ea typeface="Lucida Grande"/>
              </a:rPr>
              <a:t>syntax allows code containing</a:t>
            </a:r>
            <a:r>
              <a:rPr lang="en-US" altLang="en-US" sz="2800" spc="-100" dirty="0">
                <a:solidFill>
                  <a:srgbClr val="222222"/>
                </a:solidFill>
                <a:latin typeface="Arial"/>
                <a:ea typeface="Lucida Grande"/>
              </a:rPr>
              <a:t> "</a:t>
            </a:r>
            <a:r>
              <a:rPr lang="en-US" altLang="en-US" spc="-100" dirty="0">
                <a:solidFill>
                  <a:srgbClr val="222222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yield"</a:t>
            </a:r>
            <a:endParaRPr lang="en-US" altLang="en-US" spc="-100" dirty="0">
              <a:solidFill>
                <a:srgbClr val="222222"/>
              </a:solidFill>
              <a:latin typeface="Arial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 to be delegated out to another generator. </a:t>
            </a:r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The value returned by that </a:t>
            </a:r>
            <a:r>
              <a:rPr lang="en-US" altLang="en-US" sz="2800" dirty="0" err="1">
                <a:solidFill>
                  <a:srgbClr val="222222"/>
                </a:solidFill>
                <a:ea typeface="Lucida Grande"/>
              </a:rPr>
              <a:t>subgenerator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 then becomes the value that is yielded.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Typically, “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 from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A3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iterable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” </a:t>
            </a:r>
            <a:r>
              <a:rPr lang="en-US" altLang="en-US" sz="2800" dirty="0">
                <a:solidFill>
                  <a:schemeClr val="bg1"/>
                </a:solidFill>
                <a:ea typeface="Lucida Grande"/>
              </a:rPr>
              <a:t>is used as a shorter way</a:t>
            </a:r>
            <a:endParaRPr lang="en-US" altLang="en-US" sz="1100" dirty="0">
              <a:solidFill>
                <a:schemeClr val="bg1"/>
              </a:solidFill>
            </a:endParaRPr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 </a:t>
            </a:r>
            <a:r>
              <a:rPr lang="en-US" altLang="en-US" sz="2400" dirty="0" err="1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 from 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range(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endParaRPr lang="en-US" altLang="en-US" sz="24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endParaRPr lang="en-US" altLang="en-US" sz="2400" dirty="0">
              <a:solidFill>
                <a:schemeClr val="bg1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endParaRPr lang="en-US" altLang="en-US" sz="2400" dirty="0">
              <a:solidFill>
                <a:schemeClr val="bg1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endParaRPr lang="en-US" altLang="en-US" sz="2400" dirty="0">
              <a:solidFill>
                <a:schemeClr val="bg1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endParaRPr lang="en-US" altLang="en-US" sz="2400" dirty="0">
              <a:solidFill>
                <a:schemeClr val="bg1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list(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4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[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1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2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3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]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9" name="Rectangle 1"/>
          <p:cNvSpPr txBox="1">
            <a:spLocks noChangeArrowheads="1"/>
          </p:cNvSpPr>
          <p:nvPr/>
        </p:nvSpPr>
        <p:spPr bwMode="auto">
          <a:xfrm>
            <a:off x="449262" y="4105656"/>
            <a:ext cx="8382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defTabSz="914400">
              <a:spcBef>
                <a:spcPts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6862" y="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en-US" sz="4400" kern="0">
                <a:latin typeface="Elephant" panose="02020904090505020303" pitchFamily="18" charset="0"/>
                <a:ea typeface="Lucida Grande"/>
              </a:rPr>
              <a:t>Using</a:t>
            </a:r>
            <a:r>
              <a:rPr lang="en-US" altLang="en-US" sz="4400" kern="0">
                <a:ea typeface="Lucida Grande"/>
              </a:rPr>
              <a:t> </a:t>
            </a:r>
            <a:r>
              <a:rPr lang="en-US" altLang="en-US" kern="0" spc="-25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yield </a:t>
            </a:r>
            <a:r>
              <a:rPr lang="en-US" altLang="en-US" kern="0" spc="-10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from </a:t>
            </a:r>
            <a:r>
              <a:rPr lang="en-US" altLang="en-US" sz="4000" kern="0">
                <a:latin typeface="Elephant" panose="02020904090505020303" pitchFamily="18" charset="0"/>
                <a:ea typeface="Lucida Grande"/>
              </a:rPr>
              <a:t>to Delegate (</a:t>
            </a:r>
            <a:r>
              <a:rPr lang="zh-TW" altLang="en-US" sz="3200" kern="0">
                <a:latin typeface="Elephant" panose="02020904090505020303" pitchFamily="18" charset="0"/>
                <a:ea typeface="Lucida Grande"/>
              </a:rPr>
              <a:t>委派</a:t>
            </a:r>
            <a:r>
              <a:rPr lang="en-US" altLang="en-US" sz="4000" kern="0">
                <a:latin typeface="Elephant" panose="02020904090505020303" pitchFamily="18" charset="0"/>
                <a:ea typeface="Lucida Grande"/>
              </a:rPr>
              <a:t>) </a:t>
            </a:r>
            <a:endParaRPr lang="en-US" sz="4000" kern="0" spc="-100" dirty="0"/>
          </a:p>
        </p:txBody>
      </p:sp>
    </p:spTree>
    <p:extLst>
      <p:ext uri="{BB962C8B-B14F-4D97-AF65-F5344CB8AC3E}">
        <p14:creationId xmlns:p14="http://schemas.microsoft.com/office/powerpoint/2010/main" val="113892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D4D4D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D4D4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D4D4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9262" y="637793"/>
            <a:ext cx="8991600" cy="62682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>
              <a:spcBef>
                <a:spcPct val="0"/>
              </a:spcBef>
              <a:buClrTx/>
              <a:buNone/>
            </a:pPr>
            <a:r>
              <a:rPr lang="en-US" altLang="en-US" sz="2800" spc="-100" dirty="0">
                <a:solidFill>
                  <a:srgbClr val="4D4D4D"/>
                </a:solidFill>
                <a:ea typeface="Lucida Grande"/>
              </a:rPr>
              <a:t>The "</a:t>
            </a:r>
            <a:r>
              <a:rPr kumimoji="0" lang="en-US" altLang="en-US" b="0" i="0" u="none" strike="noStrike" cap="none" spc="-100" normalizeH="0" dirty="0">
                <a:ln>
                  <a:noFill/>
                </a:ln>
                <a:solidFill>
                  <a:srgbClr val="4D4D4D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</a:t>
            </a:r>
            <a:r>
              <a:rPr lang="en-US" altLang="en-US" sz="1600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 </a:t>
            </a:r>
            <a:r>
              <a:rPr kumimoji="0" lang="en-US" altLang="en-US" b="0" i="0" u="none" strike="noStrike" cap="none" spc="-50" normalizeH="0" dirty="0">
                <a:ln>
                  <a:noFill/>
                </a:ln>
                <a:solidFill>
                  <a:srgbClr val="4D4D4D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</a:t>
            </a:r>
            <a:r>
              <a:rPr kumimoji="0" lang="en-US" altLang="en-US" b="0" i="0" u="none" strike="noStrike" cap="none" normalizeH="0" dirty="0">
                <a:ln>
                  <a:noFill/>
                </a:ln>
                <a:solidFill>
                  <a:srgbClr val="4D4D4D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ro</a:t>
            </a:r>
            <a:r>
              <a:rPr kumimoji="0" lang="en-US" altLang="en-US" b="0" i="0" u="none" strike="noStrike" cap="none" spc="-100" normalizeH="0" baseline="0" dirty="0">
                <a:ln>
                  <a:noFill/>
                </a:ln>
                <a:solidFill>
                  <a:srgbClr val="4D4D4D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m"</a:t>
            </a:r>
            <a:r>
              <a:rPr lang="en-US" altLang="en-US" sz="2800" spc="-100" dirty="0">
                <a:solidFill>
                  <a:srgbClr val="4D4D4D"/>
                </a:solidFill>
                <a:ea typeface="Lucida Grande"/>
              </a:rPr>
              <a:t> </a:t>
            </a:r>
            <a:r>
              <a:rPr lang="en-US" altLang="en-US" sz="2800" spc="-30" dirty="0">
                <a:solidFill>
                  <a:srgbClr val="4D4D4D"/>
                </a:solidFill>
                <a:ea typeface="Lucida Grande"/>
              </a:rPr>
              <a:t>syntax allows code containing</a:t>
            </a:r>
            <a:r>
              <a:rPr lang="en-US" altLang="en-US" sz="2800" spc="-100" dirty="0">
                <a:solidFill>
                  <a:srgbClr val="4D4D4D"/>
                </a:solidFill>
                <a:ea typeface="Lucida Grande"/>
              </a:rPr>
              <a:t> "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yield"</a:t>
            </a:r>
            <a:endParaRPr kumimoji="0" lang="en-US" altLang="en-US" b="0" i="0" u="none" strike="noStrike" cap="none" spc="-100" normalizeH="0" baseline="0" dirty="0">
              <a:ln>
                <a:noFill/>
              </a:ln>
              <a:solidFill>
                <a:srgbClr val="4D4D4D"/>
              </a:solidFill>
              <a:effectLst/>
              <a:latin typeface="+mn-lt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 to be delegated out to another generator. </a:t>
            </a:r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The value returned by that </a:t>
            </a:r>
            <a:r>
              <a:rPr lang="en-US" altLang="en-US" sz="2800" dirty="0" err="1">
                <a:solidFill>
                  <a:srgbClr val="4D4D4D"/>
                </a:solidFill>
                <a:ea typeface="Lucida Grande"/>
              </a:rPr>
              <a:t>subgenerator</a:t>
            </a: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 then becomes the value that is yielded.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Typically, “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 from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A3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iterable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” is used as a shorter way to say: “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for item in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A3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iterable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 yield item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”:</a:t>
            </a:r>
            <a:endParaRPr lang="en-US" altLang="en-US" sz="1100" dirty="0"/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 </a:t>
            </a:r>
            <a:r>
              <a:rPr lang="en-US" altLang="en-US" sz="2400" dirty="0" err="1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 from 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range(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yield '   '</a:t>
            </a:r>
          </a:p>
          <a:p>
            <a:pPr marL="0" indent="0">
              <a:spcBef>
                <a:spcPts val="0"/>
              </a:spcBef>
              <a:buClrTx/>
              <a:buNone/>
            </a:pPr>
            <a:endParaRPr lang="en-US" altLang="en-US" sz="2400" b="1" dirty="0">
              <a:solidFill>
                <a:srgbClr val="00B0F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endParaRPr lang="en-US" altLang="en-US" sz="2400" dirty="0"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endParaRPr lang="en-US" altLang="en-US" sz="2400" dirty="0"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endParaRPr lang="en-US" altLang="en-US" sz="24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list(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4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[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1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2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3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'   '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449262" y="4105656"/>
            <a:ext cx="8382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defTabSz="914400">
              <a:spcBef>
                <a:spcPts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 defTabSz="914400">
              <a:spcBef>
                <a:spcPts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506662" y="6172200"/>
            <a:ext cx="2209800" cy="5334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6088062" y="2362200"/>
            <a:ext cx="3200400" cy="5334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278062" y="2933701"/>
            <a:ext cx="6781800" cy="43641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79990" y="2933701"/>
            <a:ext cx="1898072" cy="43641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675764" y="6151571"/>
            <a:ext cx="407988" cy="533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Lucida Console" panose="020B0609040504020204" pitchFamily="49" charset="0"/>
                <a:ea typeface="MS PGothic" pitchFamily="34" charset="-128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 bwMode="auto">
          <a:xfrm>
            <a:off x="296862" y="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en-US" sz="4400" kern="0">
                <a:latin typeface="Elephant" panose="02020904090505020303" pitchFamily="18" charset="0"/>
                <a:ea typeface="Lucida Grande"/>
              </a:rPr>
              <a:t>Using</a:t>
            </a:r>
            <a:r>
              <a:rPr lang="en-US" altLang="en-US" sz="4400" kern="0">
                <a:ea typeface="Lucida Grande"/>
              </a:rPr>
              <a:t> </a:t>
            </a:r>
            <a:r>
              <a:rPr lang="en-US" altLang="en-US" kern="0" spc="-25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yield </a:t>
            </a:r>
            <a:r>
              <a:rPr lang="en-US" altLang="en-US" kern="0" spc="-10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from </a:t>
            </a:r>
            <a:r>
              <a:rPr lang="en-US" altLang="en-US" sz="4000" kern="0">
                <a:latin typeface="Elephant" panose="02020904090505020303" pitchFamily="18" charset="0"/>
                <a:ea typeface="Lucida Grande"/>
              </a:rPr>
              <a:t>to Delegate (</a:t>
            </a:r>
            <a:r>
              <a:rPr lang="zh-TW" altLang="en-US" sz="3200" kern="0">
                <a:latin typeface="Elephant" panose="02020904090505020303" pitchFamily="18" charset="0"/>
                <a:ea typeface="Lucida Grande"/>
              </a:rPr>
              <a:t>委派</a:t>
            </a:r>
            <a:r>
              <a:rPr lang="en-US" altLang="en-US" sz="4000" kern="0">
                <a:latin typeface="Elephant" panose="02020904090505020303" pitchFamily="18" charset="0"/>
                <a:ea typeface="Lucida Grande"/>
              </a:rPr>
              <a:t>) </a:t>
            </a:r>
            <a:endParaRPr lang="en-US" sz="4000" kern="0" spc="-100" dirty="0"/>
          </a:p>
        </p:txBody>
      </p:sp>
    </p:spTree>
    <p:extLst>
      <p:ext uri="{BB962C8B-B14F-4D97-AF65-F5344CB8AC3E}">
        <p14:creationId xmlns:p14="http://schemas.microsoft.com/office/powerpoint/2010/main" val="206012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9262" y="637793"/>
            <a:ext cx="8991600" cy="62682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 algn="just">
              <a:spcBef>
                <a:spcPct val="0"/>
              </a:spcBef>
              <a:buClrTx/>
              <a:buNone/>
            </a:pPr>
            <a:r>
              <a:rPr lang="en-US" altLang="en-US" sz="2800" spc="-100" dirty="0">
                <a:solidFill>
                  <a:srgbClr val="4D4D4D"/>
                </a:solidFill>
                <a:latin typeface="Arial"/>
                <a:ea typeface="Lucida Grande"/>
              </a:rPr>
              <a:t>The "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</a:t>
            </a:r>
            <a:r>
              <a:rPr lang="en-US" altLang="en-US" sz="1600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 </a:t>
            </a:r>
            <a:r>
              <a:rPr lang="en-US" altLang="en-US" spc="-5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</a:t>
            </a:r>
            <a:r>
              <a:rPr lang="en-US" altLang="en-US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ro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m"</a:t>
            </a:r>
            <a:r>
              <a:rPr lang="en-US" altLang="en-US" sz="2800" spc="-100" dirty="0">
                <a:solidFill>
                  <a:srgbClr val="4D4D4D"/>
                </a:solidFill>
                <a:latin typeface="Arial"/>
                <a:ea typeface="Lucida Grande"/>
              </a:rPr>
              <a:t> </a:t>
            </a:r>
            <a:r>
              <a:rPr lang="en-US" altLang="en-US" sz="2800" spc="-30" dirty="0">
                <a:solidFill>
                  <a:srgbClr val="4D4D4D"/>
                </a:solidFill>
                <a:latin typeface="Arial"/>
                <a:ea typeface="Lucida Grande"/>
              </a:rPr>
              <a:t>syntax allows code containing</a:t>
            </a:r>
            <a:r>
              <a:rPr lang="en-US" altLang="en-US" sz="2800" spc="-100" dirty="0">
                <a:solidFill>
                  <a:srgbClr val="4D4D4D"/>
                </a:solidFill>
                <a:latin typeface="Arial"/>
                <a:ea typeface="Lucida Grande"/>
              </a:rPr>
              <a:t> "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yield"</a:t>
            </a:r>
            <a:endParaRPr lang="en-US" altLang="en-US" spc="-100" dirty="0">
              <a:solidFill>
                <a:srgbClr val="4D4D4D"/>
              </a:solidFill>
              <a:latin typeface="Arial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 to be delegated out to another generator. </a:t>
            </a:r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The value returned by that </a:t>
            </a:r>
            <a:r>
              <a:rPr lang="en-US" altLang="en-US" sz="2800" dirty="0" err="1">
                <a:solidFill>
                  <a:srgbClr val="4D4D4D"/>
                </a:solidFill>
                <a:ea typeface="Lucida Grande"/>
              </a:rPr>
              <a:t>subgenerator</a:t>
            </a: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 then becomes the value that is yielded.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Typically, “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 from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A3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iterable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” is used as a shorter way to say: “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for item in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A3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iterable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 yield item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”:</a:t>
            </a:r>
            <a:endParaRPr lang="en-US" altLang="en-US" sz="1100" dirty="0"/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 </a:t>
            </a:r>
            <a:r>
              <a:rPr lang="en-US" altLang="en-US" sz="2400" dirty="0" err="1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 from 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range(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yield '   '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for 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in</a:t>
            </a: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range(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 yield 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</a:t>
            </a:r>
            <a:endParaRPr lang="en-US" altLang="en-US" sz="2400" b="1" dirty="0">
              <a:solidFill>
                <a:srgbClr val="00B0F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endParaRPr lang="en-US" altLang="en-US" sz="2400" dirty="0"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endParaRPr lang="en-US" altLang="en-US" sz="24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list(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4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[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1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2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3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'   ',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1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2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3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]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449262" y="4105656"/>
            <a:ext cx="8382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defTabSz="914400">
              <a:spcBef>
                <a:spcPts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</a:p>
          <a:p>
            <a:pPr marL="0" indent="0" defTabSz="914400">
              <a:spcBef>
                <a:spcPts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 defTabSz="914400">
              <a:spcBef>
                <a:spcPts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3802062" y="6096000"/>
            <a:ext cx="2362200" cy="5334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6088062" y="2362200"/>
            <a:ext cx="3200400" cy="5334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278062" y="2933701"/>
            <a:ext cx="6781800" cy="43641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79990" y="2933701"/>
            <a:ext cx="1898072" cy="43641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675764" y="6151571"/>
            <a:ext cx="407988" cy="533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Lucida Console" panose="020B0609040504020204" pitchFamily="49" charset="0"/>
                <a:ea typeface="MS PGothic" pitchFamily="34" charset="-128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 bwMode="auto">
          <a:xfrm>
            <a:off x="296862" y="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en-US" sz="4400" kern="0">
                <a:latin typeface="Elephant" panose="02020904090505020303" pitchFamily="18" charset="0"/>
                <a:ea typeface="Lucida Grande"/>
              </a:rPr>
              <a:t>Using</a:t>
            </a:r>
            <a:r>
              <a:rPr lang="en-US" altLang="en-US" sz="4400" kern="0">
                <a:ea typeface="Lucida Grande"/>
              </a:rPr>
              <a:t> </a:t>
            </a:r>
            <a:r>
              <a:rPr lang="en-US" altLang="en-US" kern="0" spc="-25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yield </a:t>
            </a:r>
            <a:r>
              <a:rPr lang="en-US" altLang="en-US" kern="0" spc="-10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from </a:t>
            </a:r>
            <a:r>
              <a:rPr lang="en-US" altLang="en-US" sz="4000" kern="0">
                <a:latin typeface="Elephant" panose="02020904090505020303" pitchFamily="18" charset="0"/>
                <a:ea typeface="Lucida Grande"/>
              </a:rPr>
              <a:t>to Delegate (</a:t>
            </a:r>
            <a:r>
              <a:rPr lang="zh-TW" altLang="en-US" sz="3200" kern="0">
                <a:latin typeface="Elephant" panose="02020904090505020303" pitchFamily="18" charset="0"/>
                <a:ea typeface="Lucida Grande"/>
              </a:rPr>
              <a:t>委派</a:t>
            </a:r>
            <a:r>
              <a:rPr lang="en-US" altLang="en-US" sz="4000" kern="0">
                <a:latin typeface="Elephant" panose="02020904090505020303" pitchFamily="18" charset="0"/>
                <a:ea typeface="Lucida Grande"/>
              </a:rPr>
              <a:t>) </a:t>
            </a:r>
            <a:endParaRPr lang="en-US" sz="4000" kern="0" spc="-100" dirty="0"/>
          </a:p>
        </p:txBody>
      </p:sp>
    </p:spTree>
    <p:extLst>
      <p:ext uri="{BB962C8B-B14F-4D97-AF65-F5344CB8AC3E}">
        <p14:creationId xmlns:p14="http://schemas.microsoft.com/office/powerpoint/2010/main" val="123831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4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9262" y="637793"/>
            <a:ext cx="8991600" cy="62682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 algn="just">
              <a:spcBef>
                <a:spcPct val="0"/>
              </a:spcBef>
              <a:buClrTx/>
              <a:buNone/>
            </a:pPr>
            <a:r>
              <a:rPr lang="en-US" altLang="en-US" sz="2800" spc="-100" dirty="0">
                <a:solidFill>
                  <a:srgbClr val="4D4D4D"/>
                </a:solidFill>
                <a:latin typeface="Arial"/>
                <a:ea typeface="Lucida Grande"/>
              </a:rPr>
              <a:t>The "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</a:t>
            </a:r>
            <a:r>
              <a:rPr lang="en-US" altLang="en-US" sz="1600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 </a:t>
            </a:r>
            <a:r>
              <a:rPr lang="en-US" altLang="en-US" spc="-5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</a:t>
            </a:r>
            <a:r>
              <a:rPr lang="en-US" altLang="en-US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ro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m"</a:t>
            </a:r>
            <a:r>
              <a:rPr lang="en-US" altLang="en-US" sz="2800" spc="-100" dirty="0">
                <a:solidFill>
                  <a:srgbClr val="4D4D4D"/>
                </a:solidFill>
                <a:latin typeface="Arial"/>
                <a:ea typeface="Lucida Grande"/>
              </a:rPr>
              <a:t> </a:t>
            </a:r>
            <a:r>
              <a:rPr lang="en-US" altLang="en-US" sz="2800" spc="-30" dirty="0">
                <a:solidFill>
                  <a:srgbClr val="4D4D4D"/>
                </a:solidFill>
                <a:latin typeface="Arial"/>
                <a:ea typeface="Lucida Grande"/>
              </a:rPr>
              <a:t>syntax allows code containing</a:t>
            </a:r>
            <a:r>
              <a:rPr lang="en-US" altLang="en-US" sz="2800" spc="-100" dirty="0">
                <a:solidFill>
                  <a:srgbClr val="4D4D4D"/>
                </a:solidFill>
                <a:latin typeface="Arial"/>
                <a:ea typeface="Lucida Grande"/>
              </a:rPr>
              <a:t> "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yield"</a:t>
            </a:r>
            <a:endParaRPr lang="en-US" altLang="en-US" spc="-100" dirty="0">
              <a:solidFill>
                <a:srgbClr val="4D4D4D"/>
              </a:solidFill>
              <a:latin typeface="Arial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 to be delegated out to another generator. </a:t>
            </a:r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The value returned by that </a:t>
            </a:r>
            <a:r>
              <a:rPr lang="en-US" altLang="en-US" sz="2800" dirty="0" err="1">
                <a:solidFill>
                  <a:srgbClr val="4D4D4D"/>
                </a:solidFill>
                <a:ea typeface="Lucida Grande"/>
              </a:rPr>
              <a:t>subgenerator</a:t>
            </a: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 then becomes the value that is yielded.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Typically, “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 from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A3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iterable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” is used as a shorter way to say: “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for item in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A3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iterable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 yield item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”:</a:t>
            </a:r>
            <a:endParaRPr lang="en-US" altLang="en-US" sz="1100" dirty="0"/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 </a:t>
            </a:r>
            <a:r>
              <a:rPr lang="en-US" altLang="en-US" sz="2400" dirty="0" err="1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 from 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range(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yield '   '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for 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in</a:t>
            </a: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range(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 yield 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</a:t>
            </a:r>
            <a:endParaRPr lang="en-US" altLang="en-US" sz="2400" b="1" dirty="0">
              <a:solidFill>
                <a:srgbClr val="00B0F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yield '   '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endParaRPr lang="en-US" altLang="en-US" sz="24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list(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4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[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1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2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3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'   ',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1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2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3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'   ']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449262" y="4105656"/>
            <a:ext cx="8382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defTabSz="914400">
              <a:spcBef>
                <a:spcPts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</a:p>
          <a:p>
            <a:pPr marL="0" indent="0" defTabSz="914400">
              <a:spcBef>
                <a:spcPts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66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 defTabSz="914400">
              <a:spcBef>
                <a:spcPts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 defTabSz="914400">
              <a:spcBef>
                <a:spcPts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6011862" y="6172200"/>
            <a:ext cx="2209800" cy="5334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296862" y="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en-US" sz="4400" kern="0">
                <a:latin typeface="Elephant" panose="02020904090505020303" pitchFamily="18" charset="0"/>
                <a:ea typeface="Lucida Grande"/>
              </a:rPr>
              <a:t>Using</a:t>
            </a:r>
            <a:r>
              <a:rPr lang="en-US" altLang="en-US" sz="4400" kern="0">
                <a:ea typeface="Lucida Grande"/>
              </a:rPr>
              <a:t> </a:t>
            </a:r>
            <a:r>
              <a:rPr lang="en-US" altLang="en-US" kern="0" spc="-25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yield </a:t>
            </a:r>
            <a:r>
              <a:rPr lang="en-US" altLang="en-US" kern="0" spc="-10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from </a:t>
            </a:r>
            <a:r>
              <a:rPr lang="en-US" altLang="en-US" sz="4000" kern="0">
                <a:latin typeface="Elephant" panose="02020904090505020303" pitchFamily="18" charset="0"/>
                <a:ea typeface="Lucida Grande"/>
              </a:rPr>
              <a:t>to Delegate (</a:t>
            </a:r>
            <a:r>
              <a:rPr lang="zh-TW" altLang="en-US" sz="3200" kern="0">
                <a:latin typeface="Elephant" panose="02020904090505020303" pitchFamily="18" charset="0"/>
                <a:ea typeface="Lucida Grande"/>
              </a:rPr>
              <a:t>委派</a:t>
            </a:r>
            <a:r>
              <a:rPr lang="en-US" altLang="en-US" sz="4000" kern="0">
                <a:latin typeface="Elephant" panose="02020904090505020303" pitchFamily="18" charset="0"/>
                <a:ea typeface="Lucida Grande"/>
              </a:rPr>
              <a:t>) </a:t>
            </a:r>
            <a:endParaRPr lang="en-US" sz="4000" kern="0" spc="-100" dirty="0"/>
          </a:p>
        </p:txBody>
      </p:sp>
    </p:spTree>
    <p:extLst>
      <p:ext uri="{BB962C8B-B14F-4D97-AF65-F5344CB8AC3E}">
        <p14:creationId xmlns:p14="http://schemas.microsoft.com/office/powerpoint/2010/main" val="2477832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/>
          <a:lstStyle/>
          <a:p>
            <a:r>
              <a:rPr lang="en-US" altLang="en-US" sz="4400" dirty="0">
                <a:latin typeface="Elephant" panose="02020904090505020303" pitchFamily="18" charset="0"/>
                <a:ea typeface="Lucida Grande"/>
              </a:rPr>
              <a:t>Using</a:t>
            </a:r>
            <a:r>
              <a:rPr lang="en-US" altLang="en-US" sz="4400" dirty="0">
                <a:latin typeface="Arial" panose="020B0604020202020204" pitchFamily="34" charset="0"/>
                <a:ea typeface="Lucida Grande"/>
              </a:rPr>
              <a:t> </a:t>
            </a:r>
            <a:r>
              <a:rPr lang="en-US" altLang="en-US" spc="-25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yield </a:t>
            </a:r>
            <a:r>
              <a:rPr lang="en-US" altLang="en-US" spc="-1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from </a:t>
            </a:r>
            <a:r>
              <a:rPr lang="en-US" altLang="en-US" sz="4000" dirty="0">
                <a:latin typeface="Elephant" panose="02020904090505020303" pitchFamily="18" charset="0"/>
                <a:ea typeface="Lucida Grande"/>
              </a:rPr>
              <a:t>to Delegate (</a:t>
            </a:r>
            <a:r>
              <a:rPr lang="zh-TW" altLang="en-US" sz="3200" dirty="0">
                <a:latin typeface="Elephant" panose="02020904090505020303" pitchFamily="18" charset="0"/>
                <a:ea typeface="Lucida Grande"/>
              </a:rPr>
              <a:t>委派</a:t>
            </a:r>
            <a:r>
              <a:rPr lang="en-US" altLang="en-US" sz="4000" dirty="0">
                <a:latin typeface="Elephant" panose="02020904090505020303" pitchFamily="18" charset="0"/>
                <a:ea typeface="Lucida Grande"/>
              </a:rPr>
              <a:t>) </a:t>
            </a:r>
            <a:endParaRPr lang="en-US" sz="4000" spc="-100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9262" y="637793"/>
            <a:ext cx="8991600" cy="62682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 algn="just">
              <a:spcBef>
                <a:spcPct val="0"/>
              </a:spcBef>
              <a:buClrTx/>
              <a:buNone/>
            </a:pPr>
            <a:r>
              <a:rPr lang="en-US" altLang="en-US" sz="2800" spc="-100" dirty="0">
                <a:solidFill>
                  <a:srgbClr val="4D4D4D"/>
                </a:solidFill>
                <a:latin typeface="Arial"/>
                <a:ea typeface="Lucida Grande"/>
              </a:rPr>
              <a:t>The "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</a:t>
            </a:r>
            <a:r>
              <a:rPr lang="en-US" altLang="en-US" sz="1600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 </a:t>
            </a:r>
            <a:r>
              <a:rPr lang="en-US" altLang="en-US" spc="-5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</a:t>
            </a:r>
            <a:r>
              <a:rPr lang="en-US" altLang="en-US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ro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m"</a:t>
            </a:r>
            <a:r>
              <a:rPr lang="en-US" altLang="en-US" sz="2800" spc="-100" dirty="0">
                <a:solidFill>
                  <a:srgbClr val="4D4D4D"/>
                </a:solidFill>
                <a:latin typeface="Arial"/>
                <a:ea typeface="Lucida Grande"/>
              </a:rPr>
              <a:t> </a:t>
            </a:r>
            <a:r>
              <a:rPr lang="en-US" altLang="en-US" sz="2800" spc="-30" dirty="0">
                <a:solidFill>
                  <a:srgbClr val="4D4D4D"/>
                </a:solidFill>
                <a:latin typeface="Arial"/>
                <a:ea typeface="Lucida Grande"/>
              </a:rPr>
              <a:t>syntax allows code containing</a:t>
            </a:r>
            <a:r>
              <a:rPr lang="en-US" altLang="en-US" sz="2800" spc="-100" dirty="0">
                <a:solidFill>
                  <a:srgbClr val="4D4D4D"/>
                </a:solidFill>
                <a:latin typeface="Arial"/>
                <a:ea typeface="Lucida Grande"/>
              </a:rPr>
              <a:t> "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yield"</a:t>
            </a:r>
            <a:endParaRPr lang="en-US" altLang="en-US" spc="-100" dirty="0">
              <a:solidFill>
                <a:srgbClr val="4D4D4D"/>
              </a:solidFill>
              <a:latin typeface="Arial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 to be delegated out to another generator. </a:t>
            </a:r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The value returned by that </a:t>
            </a:r>
            <a:r>
              <a:rPr lang="en-US" altLang="en-US" sz="2800" dirty="0" err="1">
                <a:solidFill>
                  <a:srgbClr val="4D4D4D"/>
                </a:solidFill>
                <a:ea typeface="Lucida Grande"/>
              </a:rPr>
              <a:t>subgenerator</a:t>
            </a: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 then becomes the value that is yielded.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Typically, “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 from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A3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iterable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” is used as a shorter way to say: “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for item in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A3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iterable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 yield item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”:</a:t>
            </a:r>
            <a:endParaRPr lang="en-US" altLang="en-US" sz="1100" dirty="0"/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 </a:t>
            </a:r>
            <a:r>
              <a:rPr lang="en-US" altLang="en-US" sz="2400" dirty="0" err="1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 from 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range(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yield '   '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for 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in 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range(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 yield 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</a:t>
            </a:r>
            <a:endParaRPr lang="en-US" altLang="en-US" sz="2400" b="1" dirty="0">
              <a:solidFill>
                <a:srgbClr val="00B0F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yield '   '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 from 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"Hi"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list(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4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[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1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2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3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'   ',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1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2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3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'   ', '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H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', '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']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449262" y="4105656"/>
            <a:ext cx="8382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defTabSz="914400">
              <a:spcBef>
                <a:spcPts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</a:p>
          <a:p>
            <a:pPr marL="0" indent="0" defTabSz="914400">
              <a:spcBef>
                <a:spcPts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66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 defTabSz="914400">
              <a:spcBef>
                <a:spcPts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 defTabSz="914400">
              <a:spcBef>
                <a:spcPts val="0"/>
              </a:spcBef>
              <a:buClrTx/>
              <a:buFont typeface="Wingdings" pitchFamily="2" charset="2"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231062" y="6172200"/>
            <a:ext cx="2209800" cy="5334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2570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&gt;&gt;&gt; [x for x in </a:t>
            </a:r>
            <a:r>
              <a:rPr lang="en-US" dirty="0" err="1">
                <a:solidFill>
                  <a:schemeClr val="bg1"/>
                </a:solidFill>
              </a:rPr>
              <a:t>dir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itertools</a:t>
            </a:r>
            <a:r>
              <a:rPr lang="en-US" dirty="0">
                <a:solidFill>
                  <a:schemeClr val="bg1"/>
                </a:solidFill>
              </a:rPr>
              <a:t>) if x[0]!='_' and callable(</a:t>
            </a:r>
            <a:r>
              <a:rPr lang="en-US" dirty="0" err="1">
                <a:solidFill>
                  <a:schemeClr val="bg1"/>
                </a:solidFill>
              </a:rPr>
              <a:t>eval</a:t>
            </a:r>
            <a:r>
              <a:rPr lang="en-US" dirty="0">
                <a:solidFill>
                  <a:schemeClr val="bg1"/>
                </a:solidFill>
              </a:rPr>
              <a:t>("</a:t>
            </a:r>
            <a:r>
              <a:rPr lang="en-US" dirty="0" err="1">
                <a:solidFill>
                  <a:schemeClr val="bg1"/>
                </a:solidFill>
              </a:rPr>
              <a:t>itertools</a:t>
            </a:r>
            <a:r>
              <a:rPr lang="en-US" dirty="0">
                <a:solidFill>
                  <a:schemeClr val="bg1"/>
                </a:solidFill>
              </a:rPr>
              <a:t>."+x))] ['accumulate', 'chain', 'combinations', '</a:t>
            </a:r>
            <a:r>
              <a:rPr lang="en-US" dirty="0" err="1">
                <a:solidFill>
                  <a:schemeClr val="bg1"/>
                </a:solidFill>
              </a:rPr>
              <a:t>combinations_with_replacement</a:t>
            </a:r>
            <a:r>
              <a:rPr lang="en-US" dirty="0">
                <a:solidFill>
                  <a:schemeClr val="bg1"/>
                </a:solidFill>
              </a:rPr>
              <a:t>', 'compress', 'count', 'cycle', '</a:t>
            </a:r>
            <a:r>
              <a:rPr lang="en-US" dirty="0" err="1">
                <a:solidFill>
                  <a:schemeClr val="bg1"/>
                </a:solidFill>
              </a:rPr>
              <a:t>dropwhile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filterfalse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groupby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islice</a:t>
            </a:r>
            <a:r>
              <a:rPr lang="en-US" dirty="0">
                <a:solidFill>
                  <a:schemeClr val="bg1"/>
                </a:solidFill>
              </a:rPr>
              <a:t>', 'permutations', 'product', 'repeat', '</a:t>
            </a:r>
            <a:r>
              <a:rPr lang="en-US" dirty="0" err="1">
                <a:solidFill>
                  <a:schemeClr val="bg1"/>
                </a:solidFill>
              </a:rPr>
              <a:t>starmap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takewhile</a:t>
            </a:r>
            <a:r>
              <a:rPr lang="en-US" dirty="0">
                <a:solidFill>
                  <a:schemeClr val="bg1"/>
                </a:solidFill>
              </a:rPr>
              <a:t>', 'tee', '</a:t>
            </a:r>
            <a:r>
              <a:rPr lang="en-US" dirty="0" err="1">
                <a:solidFill>
                  <a:schemeClr val="bg1"/>
                </a:solidFill>
              </a:rPr>
              <a:t>zip_longest</a:t>
            </a:r>
            <a:r>
              <a:rPr lang="en-US" dirty="0">
                <a:solidFill>
                  <a:schemeClr val="bg1"/>
                </a:solidFill>
              </a:rPr>
              <a:t>']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&gt;&gt;&gt; [x for x in </a:t>
            </a:r>
            <a:r>
              <a:rPr lang="en-US" dirty="0" err="1">
                <a:solidFill>
                  <a:schemeClr val="bg1"/>
                </a:solidFill>
              </a:rPr>
              <a:t>dir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functools</a:t>
            </a:r>
            <a:r>
              <a:rPr lang="en-US" dirty="0">
                <a:solidFill>
                  <a:schemeClr val="bg1"/>
                </a:solidFill>
              </a:rPr>
              <a:t>) if x[0]!='_' and callable(</a:t>
            </a:r>
            <a:r>
              <a:rPr lang="en-US" dirty="0" err="1">
                <a:solidFill>
                  <a:schemeClr val="bg1"/>
                </a:solidFill>
              </a:rPr>
              <a:t>eval</a:t>
            </a:r>
            <a:r>
              <a:rPr lang="en-US" dirty="0">
                <a:solidFill>
                  <a:schemeClr val="bg1"/>
                </a:solidFill>
              </a:rPr>
              <a:t>("</a:t>
            </a:r>
            <a:r>
              <a:rPr lang="en-US" dirty="0" err="1">
                <a:solidFill>
                  <a:schemeClr val="bg1"/>
                </a:solidFill>
              </a:rPr>
              <a:t>functools</a:t>
            </a:r>
            <a:r>
              <a:rPr lang="en-US" dirty="0">
                <a:solidFill>
                  <a:schemeClr val="bg1"/>
                </a:solidFill>
              </a:rPr>
              <a:t>."+x))] ['</a:t>
            </a:r>
            <a:r>
              <a:rPr lang="en-US" dirty="0" err="1">
                <a:solidFill>
                  <a:schemeClr val="bg1"/>
                </a:solidFill>
              </a:rPr>
              <a:t>RLock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cached_property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cmp_to_key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get_cache_token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lru_cache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namedtuple</a:t>
            </a:r>
            <a:r>
              <a:rPr lang="en-US" dirty="0">
                <a:solidFill>
                  <a:schemeClr val="bg1"/>
                </a:solidFill>
              </a:rPr>
              <a:t>', 'partial', '</a:t>
            </a:r>
            <a:r>
              <a:rPr lang="en-US" dirty="0" err="1">
                <a:solidFill>
                  <a:schemeClr val="bg1"/>
                </a:solidFill>
              </a:rPr>
              <a:t>partialmethod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recursive_repr</a:t>
            </a:r>
            <a:r>
              <a:rPr lang="en-US" dirty="0">
                <a:solidFill>
                  <a:schemeClr val="bg1"/>
                </a:solidFill>
              </a:rPr>
              <a:t>', 'reduce', '</a:t>
            </a:r>
            <a:r>
              <a:rPr lang="en-US" dirty="0" err="1">
                <a:solidFill>
                  <a:schemeClr val="bg1"/>
                </a:solidFill>
              </a:rPr>
              <a:t>singledispatch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singledispatchmethod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total_ordering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update_wrapper</a:t>
            </a:r>
            <a:r>
              <a:rPr lang="en-US" dirty="0">
                <a:solidFill>
                  <a:schemeClr val="bg1"/>
                </a:solidFill>
              </a:rPr>
              <a:t>', 'wraps']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&gt;&gt;&gt; [x for x in </a:t>
            </a:r>
            <a:r>
              <a:rPr lang="en-US" dirty="0" err="1">
                <a:solidFill>
                  <a:schemeClr val="bg1"/>
                </a:solidFill>
              </a:rPr>
              <a:t>dir</a:t>
            </a:r>
            <a:r>
              <a:rPr lang="en-US" dirty="0">
                <a:solidFill>
                  <a:schemeClr val="bg1"/>
                </a:solidFill>
              </a:rPr>
              <a:t>(operator) if x[0]!='_' and callable(</a:t>
            </a:r>
            <a:r>
              <a:rPr lang="en-US" dirty="0" err="1">
                <a:solidFill>
                  <a:schemeClr val="bg1"/>
                </a:solidFill>
              </a:rPr>
              <a:t>eval</a:t>
            </a:r>
            <a:r>
              <a:rPr lang="en-US" dirty="0">
                <a:solidFill>
                  <a:schemeClr val="bg1"/>
                </a:solidFill>
              </a:rPr>
              <a:t>("</a:t>
            </a:r>
            <a:r>
              <a:rPr lang="en-US" dirty="0" err="1">
                <a:solidFill>
                  <a:schemeClr val="bg1"/>
                </a:solidFill>
              </a:rPr>
              <a:t>operator."+x</a:t>
            </a:r>
            <a:r>
              <a:rPr lang="en-US" dirty="0">
                <a:solidFill>
                  <a:schemeClr val="bg1"/>
                </a:solidFill>
              </a:rPr>
              <a:t>))]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['abs', 'add', 'and_', '</a:t>
            </a:r>
            <a:r>
              <a:rPr lang="en-US" dirty="0" err="1">
                <a:solidFill>
                  <a:schemeClr val="bg1"/>
                </a:solidFill>
              </a:rPr>
              <a:t>attrgetter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concat</a:t>
            </a:r>
            <a:r>
              <a:rPr lang="en-US" dirty="0">
                <a:solidFill>
                  <a:schemeClr val="bg1"/>
                </a:solidFill>
              </a:rPr>
              <a:t>', 'contains', '</a:t>
            </a:r>
            <a:r>
              <a:rPr lang="en-US" dirty="0" err="1">
                <a:solidFill>
                  <a:schemeClr val="bg1"/>
                </a:solidFill>
              </a:rPr>
              <a:t>countOf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delitem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eq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floordiv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ge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getitem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gt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iadd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iand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iconcat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ifloordiv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ilshift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imatmul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imod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imul</a:t>
            </a:r>
            <a:r>
              <a:rPr lang="en-US" dirty="0">
                <a:solidFill>
                  <a:schemeClr val="bg1"/>
                </a:solidFill>
              </a:rPr>
              <a:t>', 'index', '</a:t>
            </a:r>
            <a:r>
              <a:rPr lang="en-US" dirty="0" err="1">
                <a:solidFill>
                  <a:schemeClr val="bg1"/>
                </a:solidFill>
              </a:rPr>
              <a:t>indexOf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inv</a:t>
            </a:r>
            <a:r>
              <a:rPr lang="en-US" dirty="0">
                <a:solidFill>
                  <a:schemeClr val="bg1"/>
                </a:solidFill>
              </a:rPr>
              <a:t>', 'invert', '</a:t>
            </a:r>
            <a:r>
              <a:rPr lang="en-US" dirty="0" err="1">
                <a:solidFill>
                  <a:schemeClr val="bg1"/>
                </a:solidFill>
              </a:rPr>
              <a:t>ior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ipow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irshift</a:t>
            </a:r>
            <a:r>
              <a:rPr lang="en-US" dirty="0">
                <a:solidFill>
                  <a:schemeClr val="bg1"/>
                </a:solidFill>
              </a:rPr>
              <a:t>', 'is_', '</a:t>
            </a:r>
            <a:r>
              <a:rPr lang="en-US" dirty="0" err="1">
                <a:solidFill>
                  <a:schemeClr val="bg1"/>
                </a:solidFill>
              </a:rPr>
              <a:t>is_not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isub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itemgetter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itruediv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ixor</a:t>
            </a:r>
            <a:r>
              <a:rPr lang="en-US" dirty="0">
                <a:solidFill>
                  <a:schemeClr val="bg1"/>
                </a:solidFill>
              </a:rPr>
              <a:t>', 'le', '</a:t>
            </a:r>
            <a:r>
              <a:rPr lang="en-US" dirty="0" err="1">
                <a:solidFill>
                  <a:schemeClr val="bg1"/>
                </a:solidFill>
              </a:rPr>
              <a:t>length_hint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lshift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lt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matmul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methodcaller</a:t>
            </a:r>
            <a:r>
              <a:rPr lang="en-US" dirty="0">
                <a:solidFill>
                  <a:schemeClr val="bg1"/>
                </a:solidFill>
              </a:rPr>
              <a:t>', 'mod', '</a:t>
            </a:r>
            <a:r>
              <a:rPr lang="en-US" dirty="0" err="1">
                <a:solidFill>
                  <a:schemeClr val="bg1"/>
                </a:solidFill>
              </a:rPr>
              <a:t>mul</a:t>
            </a:r>
            <a:r>
              <a:rPr lang="en-US" dirty="0">
                <a:solidFill>
                  <a:schemeClr val="bg1"/>
                </a:solidFill>
              </a:rPr>
              <a:t>', 'ne', '</a:t>
            </a:r>
            <a:r>
              <a:rPr lang="en-US" dirty="0" err="1">
                <a:solidFill>
                  <a:schemeClr val="bg1"/>
                </a:solidFill>
              </a:rPr>
              <a:t>neg</a:t>
            </a:r>
            <a:r>
              <a:rPr lang="en-US" dirty="0">
                <a:solidFill>
                  <a:schemeClr val="bg1"/>
                </a:solidFill>
              </a:rPr>
              <a:t>', 'not_', 'or_', '</a:t>
            </a:r>
            <a:r>
              <a:rPr lang="en-US" dirty="0" err="1">
                <a:solidFill>
                  <a:schemeClr val="bg1"/>
                </a:solidFill>
              </a:rPr>
              <a:t>pos</a:t>
            </a:r>
            <a:r>
              <a:rPr lang="en-US" dirty="0">
                <a:solidFill>
                  <a:schemeClr val="bg1"/>
                </a:solidFill>
              </a:rPr>
              <a:t>', 'pow', '</a:t>
            </a:r>
            <a:r>
              <a:rPr lang="en-US" dirty="0" err="1">
                <a:solidFill>
                  <a:schemeClr val="bg1"/>
                </a:solidFill>
              </a:rPr>
              <a:t>rshift</a:t>
            </a:r>
            <a:r>
              <a:rPr lang="en-US" dirty="0">
                <a:solidFill>
                  <a:schemeClr val="bg1"/>
                </a:solidFill>
              </a:rPr>
              <a:t>', '</a:t>
            </a:r>
            <a:r>
              <a:rPr lang="en-US" dirty="0" err="1">
                <a:solidFill>
                  <a:schemeClr val="bg1"/>
                </a:solidFill>
              </a:rPr>
              <a:t>setitem</a:t>
            </a:r>
            <a:r>
              <a:rPr lang="en-US" dirty="0">
                <a:solidFill>
                  <a:schemeClr val="bg1"/>
                </a:solidFill>
              </a:rPr>
              <a:t>', 'sub', '</a:t>
            </a:r>
            <a:r>
              <a:rPr lang="en-US" dirty="0" err="1">
                <a:solidFill>
                  <a:schemeClr val="bg1"/>
                </a:solidFill>
              </a:rPr>
              <a:t>truediv</a:t>
            </a:r>
            <a:r>
              <a:rPr lang="en-US" dirty="0">
                <a:solidFill>
                  <a:schemeClr val="bg1"/>
                </a:solidFill>
              </a:rPr>
              <a:t>', 'truth', '</a:t>
            </a:r>
            <a:r>
              <a:rPr lang="en-US" dirty="0" err="1">
                <a:solidFill>
                  <a:schemeClr val="bg1"/>
                </a:solidFill>
              </a:rPr>
              <a:t>xor</a:t>
            </a:r>
            <a:r>
              <a:rPr lang="en-US" dirty="0">
                <a:solidFill>
                  <a:schemeClr val="bg1"/>
                </a:solidFill>
              </a:rPr>
              <a:t>']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&gt;&gt;&gt;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415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1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lvl="0" defTabSz="914400">
              <a:lnSpc>
                <a:spcPct val="84000"/>
              </a:lnSpc>
            </a:pPr>
            <a:endParaRPr lang="en-US" altLang="zh-TW" sz="1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FF996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FF996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 err="1">
                <a:solidFill>
                  <a:schemeClr val="bg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300" dirty="0" err="1">
                <a:solidFill>
                  <a:schemeClr val="bg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6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</a:p>
          <a:p>
            <a:pPr defTabSz="914400"/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'super']</a:t>
            </a:r>
          </a:p>
          <a:p>
            <a:pPr defTabSz="914400"/>
            <a:endParaRPr lang="en-US" altLang="zh-TW" sz="20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05" y="6449686"/>
            <a:ext cx="732893" cy="46037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9438" y="6530724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圓角矩形圖說文字 4"/>
          <p:cNvSpPr/>
          <p:nvPr/>
        </p:nvSpPr>
        <p:spPr bwMode="auto">
          <a:xfrm>
            <a:off x="7376160" y="5872480"/>
            <a:ext cx="2361565" cy="985520"/>
          </a:xfrm>
          <a:prstGeom prst="wedgeRoundRectCallout">
            <a:avLst>
              <a:gd name="adj1" fmla="val -158841"/>
              <a:gd name="adj2" fmla="val -5533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i="1" dirty="0">
                <a:solidFill>
                  <a:srgbClr val="000000"/>
                </a:solidFill>
                <a:latin typeface="Times New Roman" charset="0"/>
              </a:rPr>
              <a:t>These all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i="1" dirty="0">
                <a:solidFill>
                  <a:srgbClr val="000000"/>
                </a:solidFill>
                <a:latin typeface="Times New Roman" charset="0"/>
              </a:rPr>
              <a:t>involve classes.</a:t>
            </a:r>
            <a:endParaRPr lang="zh-TW" altLang="en-US" sz="2800" i="1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" name="Trapezoid 9"/>
          <p:cNvSpPr>
            <a:spLocks noChangeAspect="1"/>
          </p:cNvSpPr>
          <p:nvPr/>
        </p:nvSpPr>
        <p:spPr bwMode="auto">
          <a:xfrm rot="2700000" flipH="1">
            <a:off x="7430434" y="459517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9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#87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5441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56231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()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111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With no arguments,</a:t>
            </a:r>
            <a:r>
              <a:rPr lang="en-US" altLang="zh-TW" sz="185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gives names in current scope: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__annotations__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__doc_</a:t>
            </a:r>
            <a:r>
              <a:rPr lang="en-US" altLang="zh-TW" sz="2222" kern="0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kern="0" spc="-398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85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__loader_</a:t>
            </a:r>
            <a:r>
              <a:rPr lang="en-US" altLang="zh-TW" sz="2222" kern="0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kern="0" spc="-398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__name__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__package__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__spec__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name__</a:t>
            </a:r>
            <a:r>
              <a:rPr lang="en-US" altLang="zh-TW" sz="2222" kern="0" spc="-10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#We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remember this one from regression testing: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'__main__'</a:t>
            </a:r>
          </a:p>
          <a:p>
            <a:pPr marL="0" indent="0" defTabSz="846552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#We’ve been using this. But what is it?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&lt;module '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' (built-in)&gt;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dirty="0">
                <a:latin typeface="Lucida Console" panose="020B0609040504020204" pitchFamily="49" charset="0"/>
              </a:rPr>
              <a:t>(__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__)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#I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a module. So le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look insid</a:t>
            </a:r>
            <a:r>
              <a:rPr lang="en-US" altLang="zh-TW" sz="2222" kern="0" spc="-287" dirty="0">
                <a:solidFill>
                  <a:srgbClr val="FFAFA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[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Arithmet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Assert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AttributeErr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BaseExcept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Bl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ock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ngIOErr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BrokenP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BufferErr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BytesWar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ChildProcessError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ConnectionAbordError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ConnectionRefusedError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ConctionResetError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DeprecationWarning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EOFErr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Ell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ronmentErr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Except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eEx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stsErr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oatingP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oi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FutureWarnin</a:t>
            </a:r>
            <a:r>
              <a:rPr lang="en-US" altLang="zh-TW" sz="1111" kern="0" spc="-23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78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Let’s Think about These </a:t>
            </a:r>
            <a:r>
              <a:rPr lang="en-US" sz="4400" kern="0" dirty="0">
                <a:solidFill>
                  <a:srgbClr val="FF32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Errors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182562" y="2971800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9335" y="6502750"/>
            <a:ext cx="659989" cy="433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20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sz="2220" dirty="0">
              <a:solidFill>
                <a:srgbClr val="000000"/>
              </a:solidFill>
            </a:endParaRPr>
          </a:p>
        </p:txBody>
      </p: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7430434" y="459517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8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#27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68515" y="5961016"/>
            <a:ext cx="659989" cy="433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20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not</a:t>
            </a:r>
            <a:endParaRPr lang="en-US" sz="2220" dirty="0"/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1697497" y="3124200"/>
            <a:ext cx="6266531" cy="1297161"/>
          </a:xfrm>
          <a:prstGeom prst="wedgeRoundRectCallout">
            <a:avLst>
              <a:gd name="adj1" fmla="val -33284"/>
              <a:gd name="adj2" fmla="val 16787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846552">
              <a:lnSpc>
                <a:spcPct val="110000"/>
              </a:lnSpc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We've see the errors in Lecture 8, so let's seethe other things now…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971863" y="6587130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922315" y="6585179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989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exit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xit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 animBg="1"/>
      <p:bldP spid="3" grpId="0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24916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()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111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With no arguments,</a:t>
            </a:r>
            <a:r>
              <a:rPr lang="en-US" altLang="zh-TW" sz="185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gives names in current scope: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__annotations__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__doc_</a:t>
            </a:r>
            <a:r>
              <a:rPr lang="en-US" altLang="zh-TW" sz="2222" kern="0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kern="0" spc="-398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85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__loader_</a:t>
            </a:r>
            <a:r>
              <a:rPr lang="en-US" altLang="zh-TW" sz="2222" kern="0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kern="0" spc="-398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__name__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__package__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__spec__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name__</a:t>
            </a:r>
            <a:r>
              <a:rPr lang="en-US" altLang="zh-TW" sz="2222" kern="0" spc="-10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#We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remember this one from regression testing: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'__main__'</a:t>
            </a:r>
          </a:p>
          <a:p>
            <a:pPr marL="0" indent="0" defTabSz="846552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#We’ve been using this. But what is it?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&lt;module '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' (built-in)&gt;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dirty="0">
                <a:latin typeface="Lucida Console" panose="020B0609040504020204" pitchFamily="49" charset="0"/>
              </a:rPr>
              <a:t>(__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__)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#I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a module. So le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look insid</a:t>
            </a:r>
            <a:r>
              <a:rPr lang="en-US" altLang="zh-TW" sz="2222" kern="0" spc="-287" dirty="0">
                <a:solidFill>
                  <a:srgbClr val="FFAFA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[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Arithmet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Assert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AttributeErr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BaseExcept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Bl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ock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ngIOErr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BrokenP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BufferErr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BytesWar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ChildProcessError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ConnectionAbordError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ConnectionRefusedError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ConctionResetError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DeprecationWarning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EOFErr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Ell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ronmentErr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Except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eEx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stsErr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oatingP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oi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FutureWarnin</a:t>
            </a:r>
            <a:r>
              <a:rPr lang="en-US" altLang="zh-TW" sz="1111" kern="0" spc="-23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82562" y="2671176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521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38938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()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111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With no arguments,</a:t>
            </a:r>
            <a:r>
              <a:rPr lang="en-US" altLang="zh-TW" sz="185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gives names in current scope: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__annotations__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__doc_</a:t>
            </a:r>
            <a:r>
              <a:rPr lang="en-US" altLang="zh-TW" sz="2222" kern="0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kern="0" spc="-398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85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__loader_</a:t>
            </a:r>
            <a:r>
              <a:rPr lang="en-US" altLang="zh-TW" sz="2222" kern="0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kern="0" spc="-398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__name__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__package__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__spec__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name__</a:t>
            </a:r>
            <a:r>
              <a:rPr lang="en-US" altLang="zh-TW" sz="2222" kern="0" spc="-10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#We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remember this one from regression testing: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'__main__'</a:t>
            </a:r>
          </a:p>
          <a:p>
            <a:pPr marL="0" indent="0" defTabSz="846552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#We’ve been using this. But what is it?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&lt;module '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' (built-in)&gt;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dirty="0">
                <a:latin typeface="Lucida Console" panose="020B0609040504020204" pitchFamily="49" charset="0"/>
              </a:rPr>
              <a:t>(__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__)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#I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a module. So le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look insid</a:t>
            </a:r>
            <a:r>
              <a:rPr lang="en-US" altLang="zh-TW" sz="2222" kern="0" spc="-287" dirty="0">
                <a:solidFill>
                  <a:srgbClr val="FFAFA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[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Arithmet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Assert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AttributeErr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BaseExcept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Bl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ock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ngIOErr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BrokenP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BufferErr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BytesWar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ChildProcessError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ConnectionAbordError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ConnectionRefusedError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ConctionResetError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DeprecationWarning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EOFErr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Ell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ronmentErr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Except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eEx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stsErr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oatingP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oi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FutureWarnin</a:t>
            </a:r>
            <a:r>
              <a:rPr lang="en-US" altLang="zh-TW" sz="1111" kern="0" spc="-23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82562" y="2383078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090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31451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()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111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With no arguments,</a:t>
            </a:r>
            <a:r>
              <a:rPr lang="en-US" altLang="zh-TW" sz="185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gives names in current scope: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__annotations__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__doc_</a:t>
            </a:r>
            <a:r>
              <a:rPr lang="en-US" altLang="zh-TW" sz="2222" kern="0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kern="0" spc="-398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85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__loader_</a:t>
            </a:r>
            <a:r>
              <a:rPr lang="en-US" altLang="zh-TW" sz="2222" kern="0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kern="0" spc="-398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__name__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__package__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__spec__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name__</a:t>
            </a:r>
            <a:r>
              <a:rPr lang="en-US" altLang="zh-TW" sz="2222" kern="0" spc="-10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#We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remember this one from regression testing: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'__main__'</a:t>
            </a:r>
          </a:p>
          <a:p>
            <a:pPr marL="0" indent="0" defTabSz="846552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#We’ve been using this. But what is it?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&lt;module '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' (built-in)&gt;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dirty="0">
                <a:latin typeface="Lucida Console" panose="020B0609040504020204" pitchFamily="49" charset="0"/>
              </a:rPr>
              <a:t>(__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__)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#I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a module. So le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look insid</a:t>
            </a:r>
            <a:r>
              <a:rPr lang="en-US" altLang="zh-TW" sz="2222" kern="0" spc="-287" dirty="0">
                <a:solidFill>
                  <a:srgbClr val="FFAFA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[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Arithmet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Assert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AttributeErr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BaseExcept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Bl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ock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ngIOErr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BrokenP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BufferErr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BytesWar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ChildProcessError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ConnectionAbordError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ConnectionRefusedError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ConctionResetError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DeprecationWarning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EOFErr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Ell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ronmentErr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Except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eEx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stsErr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oatingP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oi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FutureWarnin</a:t>
            </a:r>
            <a:r>
              <a:rPr lang="en-US" altLang="zh-TW" sz="1111" kern="0" spc="-23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82562" y="2107506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75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590082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()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111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With no arguments,</a:t>
            </a:r>
            <a:r>
              <a:rPr lang="en-US" altLang="zh-TW" sz="185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gives names in current scope: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__annotations__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__doc_</a:t>
            </a:r>
            <a:r>
              <a:rPr lang="en-US" altLang="zh-TW" sz="2222" kern="0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kern="0" spc="-398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85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__loader_</a:t>
            </a:r>
            <a:r>
              <a:rPr lang="en-US" altLang="zh-TW" sz="2222" kern="0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kern="0" spc="-398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__name__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__package__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__spec__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name__</a:t>
            </a:r>
            <a:r>
              <a:rPr lang="en-US" altLang="zh-TW" sz="2222" kern="0" spc="-10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#We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remember this one from regression testing: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'__main__'</a:t>
            </a:r>
          </a:p>
          <a:p>
            <a:pPr marL="0" indent="0" defTabSz="846552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#We’ve been using this. But what is it?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&lt;module '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' (built-in)&gt;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dirty="0">
                <a:latin typeface="Lucida Console" panose="020B0609040504020204" pitchFamily="49" charset="0"/>
              </a:rPr>
              <a:t>(__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__)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#I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a module. So le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look insid</a:t>
            </a:r>
            <a:r>
              <a:rPr lang="en-US" altLang="zh-TW" sz="2222" kern="0" spc="-287" dirty="0">
                <a:solidFill>
                  <a:srgbClr val="FFAFA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[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Arithmet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Assert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AttributeErr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BaseExcept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Bl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ock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ngIOErr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BrokenP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BufferErr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BytesWar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ChildProcessError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ConnectionAbordError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ConnectionRefusedError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ConctionResetError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DeprecationWarning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EOFErr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Ell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ronmentErr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Except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eEx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stsErr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oatingP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oi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FutureWarnin</a:t>
            </a:r>
            <a:r>
              <a:rPr lang="en-US" altLang="zh-TW" sz="1111" kern="0" spc="-23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82562" y="1831934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74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87818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()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1111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With no arguments,</a:t>
            </a:r>
            <a:r>
              <a:rPr lang="en-US" altLang="zh-TW" sz="185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gives names in current scope: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__annotations__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__doc_</a:t>
            </a:r>
            <a:r>
              <a:rPr lang="en-US" altLang="zh-TW" sz="2222" kern="0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kern="0" spc="-398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185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__loader_</a:t>
            </a:r>
            <a:r>
              <a:rPr lang="en-US" altLang="zh-TW" sz="2222" kern="0" spc="-213" dirty="0">
                <a:latin typeface="Lucida Console" panose="020B0609040504020204" pitchFamily="49" charset="0"/>
              </a:rPr>
              <a:t>_</a:t>
            </a:r>
            <a:r>
              <a:rPr lang="en-US" altLang="zh-TW" sz="2222" kern="0" spc="-398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__name__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__package__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latin typeface="Lucida Console" panose="020B0609040504020204" pitchFamily="49" charset="0"/>
              </a:rPr>
              <a:t>__spec__</a:t>
            </a:r>
            <a:r>
              <a:rPr lang="en-US" altLang="zh-TW" sz="2222" kern="0" spc="-102" dirty="0">
                <a:solidFill>
                  <a:srgbClr val="000000">
                    <a:lumMod val="50000"/>
                    <a:lumOff val="50000"/>
                  </a:srgbClr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name__</a:t>
            </a:r>
            <a:r>
              <a:rPr lang="en-US" altLang="zh-TW" sz="2222" kern="0" spc="-102" dirty="0" err="1">
                <a:solidFill>
                  <a:srgbClr val="FFAFAF"/>
                </a:solidFill>
                <a:latin typeface="Lucida Console" panose="020B0609040504020204" pitchFamily="49" charset="0"/>
              </a:rPr>
              <a:t>#We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remember this one from regression testing: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'__main__'</a:t>
            </a:r>
          </a:p>
          <a:p>
            <a:pPr marL="0" indent="0" defTabSz="846552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#We’ve been using this. But what is it?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&lt;module '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' (built-in)&gt;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dirty="0">
                <a:latin typeface="Lucida Console" panose="020B0609040504020204" pitchFamily="49" charset="0"/>
              </a:rPr>
              <a:t>(__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__)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#I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a module. So le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look insid</a:t>
            </a:r>
            <a:r>
              <a:rPr lang="en-US" altLang="zh-TW" sz="2222" kern="0" spc="-287" dirty="0">
                <a:solidFill>
                  <a:srgbClr val="FFAFA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[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Arithmet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Assert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AttributeErr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BaseExcept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Bl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ock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ngIOErr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BrokenP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BufferErr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BytesWar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ChildProcessError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ConnectionAbordError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ConnectionRefusedError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ConctionResetError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DeprecationWarning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EOFErr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Ell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ronmentErr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Except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eEx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stsErr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oatingP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oi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FutureWarnin</a:t>
            </a:r>
            <a:r>
              <a:rPr lang="en-US" altLang="zh-TW" sz="1111" kern="0" spc="-23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82562" y="1543836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467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11166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'__main__'</a:t>
            </a:r>
          </a:p>
          <a:p>
            <a:pPr marL="0" indent="0" defTabSz="846552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#We’ve been using this. But what is it?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&lt;module '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' (built-in)&gt;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dirty="0">
                <a:latin typeface="Lucida Console" panose="020B0609040504020204" pitchFamily="49" charset="0"/>
              </a:rPr>
              <a:t>(__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__)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#I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a module. So le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look insid</a:t>
            </a:r>
            <a:r>
              <a:rPr lang="en-US" altLang="zh-TW" sz="2222" kern="0" spc="-287" dirty="0">
                <a:solidFill>
                  <a:srgbClr val="FFAFA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[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Arithmet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Assert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AttributeErr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BaseExcept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Bl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ock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ngIOErr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BrokenP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BufferErr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BytesWar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ChildProcessError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ConnectionAbordError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ConnectionRefusedError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ConctionResetError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DeprecationWarning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EOFErr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Ell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ronmentErr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Except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eEx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stsErr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oatingP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oi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FutureWarnin</a:t>
            </a:r>
            <a:r>
              <a:rPr lang="en-US" altLang="zh-TW" sz="1111" kern="0" spc="-23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182562" y="1193108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13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11166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86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#We’ve been using this. But what is it?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&lt;module '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' (built-in)&gt;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dirty="0">
                <a:latin typeface="Lucida Console" panose="020B0609040504020204" pitchFamily="49" charset="0"/>
              </a:rPr>
              <a:t>(__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__)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#I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a module. So le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look insid</a:t>
            </a:r>
            <a:r>
              <a:rPr lang="en-US" altLang="zh-TW" sz="2222" kern="0" spc="-287" dirty="0">
                <a:solidFill>
                  <a:srgbClr val="FFAFA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[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Arithmet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Assert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AttributeErr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BaseExcept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Bl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ock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ngIOErr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BrokenP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BufferErr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BytesWar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ChildProcessError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ConnectionAbordError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ConnectionRefusedError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ConctionResetError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DeprecationWarning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EOFErr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Ell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ronmentErr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Except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eEx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stsErr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oatingP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oi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FutureWarnin</a:t>
            </a:r>
            <a:r>
              <a:rPr lang="en-US" altLang="zh-TW" sz="1111" kern="0" spc="-23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82562" y="917536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59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11166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latin typeface="Lucida Console" panose="020B0609040504020204" pitchFamily="49" charset="0"/>
              </a:rPr>
              <a:t>&lt;module '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' (built-in)&gt;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dirty="0">
                <a:latin typeface="Lucida Console" panose="020B0609040504020204" pitchFamily="49" charset="0"/>
              </a:rPr>
              <a:t>(__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__)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#I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a module. So le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look insid</a:t>
            </a:r>
            <a:r>
              <a:rPr lang="en-US" altLang="zh-TW" sz="2222" kern="0" spc="-287" dirty="0">
                <a:solidFill>
                  <a:srgbClr val="FFAFA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[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Arithmet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Assert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AttributeErr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BaseExcept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Bl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ock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ngIOErr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BrokenP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BufferErr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BytesWar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ChildProcessError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ConnectionAbordError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ConnectionRefusedError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ConctionResetError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DeprecationWarning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EOFErr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Ell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ronmentErr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Except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eEx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stsErr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oatingP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oi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FutureWarnin</a:t>
            </a:r>
            <a:r>
              <a:rPr lang="en-US" altLang="zh-TW" sz="1111" kern="0" spc="-23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82562" y="604386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207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11166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dir</a:t>
            </a:r>
            <a:r>
              <a:rPr lang="en-US" altLang="zh-TW" sz="2222" kern="0" dirty="0">
                <a:latin typeface="Lucida Console" panose="020B0609040504020204" pitchFamily="49" charset="0"/>
              </a:rPr>
              <a:t>(__</a:t>
            </a:r>
            <a:r>
              <a:rPr lang="en-US" altLang="zh-TW" sz="2222" kern="0" dirty="0" err="1">
                <a:latin typeface="Lucida Console" panose="020B0609040504020204" pitchFamily="49" charset="0"/>
              </a:rPr>
              <a:t>builtins</a:t>
            </a:r>
            <a:r>
              <a:rPr lang="en-US" altLang="zh-TW" sz="2222" kern="0" dirty="0">
                <a:latin typeface="Lucida Console" panose="020B0609040504020204" pitchFamily="49" charset="0"/>
              </a:rPr>
              <a:t>__)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#I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a module. So le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t’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s look insid</a:t>
            </a:r>
            <a:r>
              <a:rPr lang="en-US" altLang="zh-TW" sz="2222" kern="0" spc="-287" dirty="0">
                <a:solidFill>
                  <a:srgbClr val="FFAFAF"/>
                </a:solidFill>
                <a:latin typeface="Lucida Console" panose="020B0609040504020204" pitchFamily="49" charset="0"/>
              </a:rPr>
              <a:t>e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: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[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Arithmet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Assert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AttributeErr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BaseExcept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Bl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ock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ngIOErr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BrokenP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BufferErr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BytesWar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ChildProcessError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ConnectionAbordError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ConnectionRefusedError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ConctionResetError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DeprecationWarning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EOFErr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Ell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ronmentErr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Except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eEx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stsErr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oatingP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oi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FutureWarnin</a:t>
            </a:r>
            <a:r>
              <a:rPr lang="en-US" altLang="zh-TW" sz="1111" kern="0" spc="-23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82562" y="316288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928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11166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[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Arithmet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Assert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AttributeErr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BaseExcept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Bl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ock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ngIOErr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BrokenP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BufferErr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BytesWar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ChildProcessError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ConnectionAbordError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ConnectionRefusedError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ConctionResetError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DeprecationWarning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EOFErr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Ell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ronmentErr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Except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eEx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stsErr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oatingP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oi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FutureWarnin</a:t>
            </a:r>
            <a:r>
              <a:rPr lang="en-US" altLang="zh-TW" sz="1111" kern="0" spc="-23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82562" y="15664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779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18925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[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Arithmet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Assert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AttributeErr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BaseExcept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Bl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ock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ngIOErr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BrokenP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BufferErr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BytesWar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ChildProcessError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ConnectionAbordError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ConnectionRefusedError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ConctionResetError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DeprecationWarning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EOFErr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Ell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is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ronmentErr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Except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18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eEx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stsErr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oatingP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oi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ntErr</a:t>
            </a:r>
            <a:r>
              <a:rPr lang="en-US" altLang="zh-TW" sz="1111" kern="0" spc="-14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8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FutureWarnin</a:t>
            </a:r>
            <a:r>
              <a:rPr lang="en-US" altLang="zh-TW" sz="1111" kern="0" spc="-23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182562" y="-184752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37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427244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br>
              <a:rPr lang="en-US" altLang="zh-TW" sz="1111" kern="0" spc="-185" dirty="0">
                <a:latin typeface="Lucida Console" panose="020B0609040504020204" pitchFamily="49" charset="0"/>
              </a:rPr>
            </a:br>
            <a:br>
              <a:rPr lang="en-US" altLang="zh-TW" sz="1111" kern="0" spc="-185" dirty="0">
                <a:latin typeface="Lucida Console" panose="020B0609040504020204" pitchFamily="49" charset="0"/>
              </a:rPr>
            </a:br>
            <a:br>
              <a:rPr lang="en-US" altLang="zh-TW" sz="1111" kern="0" spc="-185" dirty="0">
                <a:latin typeface="Lucida Console" panose="020B0609040504020204" pitchFamily="49" charset="0"/>
              </a:rPr>
            </a:b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GeneratorExit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',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IOError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ImportWarning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IndentationError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IndexError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InterruptedError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IsADirectoryError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Ke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yboardInterrup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LookErr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Mod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eNotFoundErr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NameErr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Non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NotADirect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ryErr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82562" y="-422746"/>
            <a:ext cx="9486900" cy="14287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1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136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NotImplementedErr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OSErr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ve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rf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owErr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PendingDeprecationWarnin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PermissionErr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ProcessLookupErr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RecursionErr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ReferenceErr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ResourceWarn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RuntimeWarn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StopAsyncIterat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StopIterat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7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SyntaxWarn</a:t>
            </a:r>
            <a:r>
              <a:rPr lang="en-US" altLang="zh-TW" sz="1111" kern="0" spc="-11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25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2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182562" y="-87682"/>
            <a:ext cx="9486900" cy="75548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9335" y="6433231"/>
            <a:ext cx="659989" cy="433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20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sz="2220" dirty="0">
              <a:solidFill>
                <a:srgbClr val="0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174415" y="6517383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02940" y="6515430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ular Callout 9"/>
          <p:cNvSpPr/>
          <p:nvPr/>
        </p:nvSpPr>
        <p:spPr bwMode="auto">
          <a:xfrm>
            <a:off x="966761" y="1219200"/>
            <a:ext cx="6266531" cy="1297161"/>
          </a:xfrm>
          <a:prstGeom prst="wedgeRoundRectCallout">
            <a:avLst>
              <a:gd name="adj1" fmla="val -1668"/>
              <a:gd name="adj2" fmla="val 12087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846552">
              <a:lnSpc>
                <a:spcPct val="110000"/>
              </a:lnSpc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These are the </a:t>
            </a:r>
            <a:r>
              <a:rPr lang="en-US" altLang="zh-TW" sz="3200" dirty="0" err="1">
                <a:solidFill>
                  <a:srgbClr val="C00000"/>
                </a:solidFill>
                <a:latin typeface="Times New Roman" charset="0"/>
              </a:rPr>
              <a:t>builtin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 functions </a:t>
            </a:r>
            <a:b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</a:b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that we have learned.</a:t>
            </a:r>
          </a:p>
        </p:txBody>
      </p:sp>
    </p:spTree>
    <p:extLst>
      <p:ext uri="{BB962C8B-B14F-4D97-AF65-F5344CB8AC3E}">
        <p14:creationId xmlns:p14="http://schemas.microsoft.com/office/powerpoint/2010/main" val="13826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136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SystemEx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TabErr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meoutErr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Tru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TypeErr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UnboundLoc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codeDecodeErr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codeEncodeErr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UnicodeTranslateErr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UnicodeWarnin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UserWarnin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ValueErr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Warn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ZeroD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onErr</a:t>
            </a:r>
            <a:r>
              <a:rPr lang="en-US" altLang="zh-TW" sz="1111" kern="0" spc="-150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50" kern="0" spc="-370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bu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il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d_class</a:t>
            </a:r>
            <a:r>
              <a:rPr lang="en-US" altLang="zh-TW" sz="1111" kern="0" spc="-3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_', 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82562" y="-152400"/>
            <a:ext cx="9486900" cy="52925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617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95625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1111" kern="0" spc="-93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_debug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_doc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import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_loader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_name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_package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_spec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_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ab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an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asc</a:t>
            </a:r>
            <a:r>
              <a:rPr lang="en-US" altLang="zh-TW" sz="1111" kern="0" spc="-13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i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bi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bo</a:t>
            </a:r>
            <a:r>
              <a:rPr lang="en-US" altLang="zh-TW" sz="1111" kern="0" spc="-220" dirty="0">
                <a:latin typeface="Lucida Console" panose="020B0609040504020204" pitchFamily="49" charset="0"/>
              </a:rPr>
              <a:t>ol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bytearra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byte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FutureWarning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940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5678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all</a:t>
            </a:r>
            <a:r>
              <a:rPr lang="en-US" altLang="zh-TW" sz="1111" kern="0" spc="-90" dirty="0">
                <a:latin typeface="Lucida Console" panose="020B0609040504020204" pitchFamily="49" charset="0"/>
              </a:rPr>
              <a:t>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ble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chr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cl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assmetho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ile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com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1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copyrigh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credit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el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att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divmo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d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enumerat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ev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al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8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5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exec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exit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filter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float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format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frozenset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getattr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24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gl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</a:t>
            </a:r>
            <a:r>
              <a:rPr lang="en-US" altLang="zh-TW" sz="1111" kern="0" spc="-70" dirty="0" err="1">
                <a:latin typeface="Lucida Console" panose="020B0609040504020204" pitchFamily="49" charset="0"/>
              </a:rPr>
              <a:t>b</a:t>
            </a:r>
            <a:r>
              <a:rPr lang="en-US" altLang="zh-TW" sz="1111" kern="0" spc="-240" dirty="0" err="1">
                <a:latin typeface="Lucida Console" panose="020B0609040504020204" pitchFamily="49" charset="0"/>
              </a:rPr>
              <a:t>als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hasattr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hash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help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input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5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isinstanc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41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10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issubclas</a:t>
            </a:r>
            <a:r>
              <a:rPr lang="en-US" altLang="zh-TW" sz="1111" kern="0" spc="-22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9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FutureWarning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ImportWarning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5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2907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ite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r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 err="1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e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cens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li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l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oc</a:t>
            </a:r>
            <a:r>
              <a:rPr lang="en-US" altLang="zh-TW" sz="1111" kern="0" spc="-190" dirty="0">
                <a:latin typeface="Lucida Console" panose="020B0609040504020204" pitchFamily="49" charset="0"/>
              </a:rPr>
              <a:t>al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ma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x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memoryview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mi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n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nex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objec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oc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t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open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ord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pow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print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property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quit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range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repr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reversed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round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set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setattr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slice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sorted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staticmethod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str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sum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super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',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 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tu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ple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typ</a:t>
            </a:r>
            <a:r>
              <a:rPr lang="en-US" altLang="zh-TW" sz="1111" kern="0" spc="-200" dirty="0">
                <a:latin typeface="Lucida Console" panose="020B0609040504020204" pitchFamily="49" charset="0"/>
              </a:rPr>
              <a:t>e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 err="1">
                <a:latin typeface="Lucida Console" panose="020B0609040504020204" pitchFamily="49" charset="0"/>
              </a:rPr>
              <a:t>var</a:t>
            </a:r>
            <a:r>
              <a:rPr lang="en-US" altLang="zh-TW" sz="1111" kern="0" spc="-200" dirty="0" err="1">
                <a:latin typeface="Lucida Console" panose="020B0609040504020204" pitchFamily="49" charset="0"/>
              </a:rPr>
              <a:t>s</a:t>
            </a:r>
            <a:r>
              <a:rPr lang="en-US" altLang="zh-TW" sz="1111" kern="0" spc="-400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370" dirty="0">
                <a:latin typeface="Lucida Console" panose="020B0609040504020204" pitchFamily="49" charset="0"/>
              </a:rPr>
              <a:t>,</a:t>
            </a:r>
            <a:r>
              <a:rPr lang="en-US" altLang="zh-TW" sz="700" kern="0" spc="-185" dirty="0">
                <a:latin typeface="Lucida Console" panose="020B0609040504020204" pitchFamily="49" charset="0"/>
              </a:rPr>
              <a:t> </a:t>
            </a:r>
            <a:r>
              <a:rPr lang="en-US" altLang="zh-TW" sz="1111" kern="0" spc="-185" dirty="0">
                <a:latin typeface="Lucida Console" panose="020B0609040504020204" pitchFamily="49" charset="0"/>
              </a:rPr>
              <a:t>'</a:t>
            </a:r>
            <a:r>
              <a:rPr lang="en-US" altLang="zh-TW" sz="1111" kern="0" spc="-93" dirty="0">
                <a:latin typeface="Lucida Console" panose="020B0609040504020204" pitchFamily="49" charset="0"/>
              </a:rPr>
              <a:t>zip']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FutureWarning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ImportWarning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'None',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PendingDeprecationWarning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9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2907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#</a:t>
            </a:r>
            <a:r>
              <a:rPr lang="en-US" altLang="zh-TW" sz="2222" kern="0" spc="-185" dirty="0">
                <a:solidFill>
                  <a:srgbClr val="FFAFAF"/>
                </a:solidFill>
                <a:latin typeface="Lucida Console" panose="020B0609040504020204" pitchFamily="49" charset="0"/>
              </a:rPr>
              <a:t>There’s  a lot of junk (mostly error codes) at the top.</a:t>
            </a:r>
            <a:endParaRPr lang="en-US" altLang="zh-TW" sz="2222" kern="0" dirty="0"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FutureWarning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ImportWarning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'None',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PendingDeprecationWarning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ResourceWarning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RuntimeWarning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77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2907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dirty="0"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x={*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__)}</a:t>
            </a:r>
          </a:p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FutureWarning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ImportWarning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'None',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PendingDeprecationWarning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ResourceWarning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RuntimeWarning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SyntaxWarning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'True', 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83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2907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</a:t>
            </a:r>
            <a:r>
              <a:rPr lang="en-US" altLang="zh-TW" sz="2222" kern="0" spc="-102" dirty="0">
                <a:solidFill>
                  <a:srgbClr val="FFAFA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__):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FutureWarning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ImportWarning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'None',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PendingDeprecationWarning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ResourceWarning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RuntimeWarning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SyntaxWarning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UnicodeWarning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UserWarning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'Warning', '_', 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253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2907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    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"Error" </a:t>
            </a: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222" kern="0" spc="-102" dirty="0">
                <a:solidFill>
                  <a:srgbClr val="FF0000"/>
                </a:solidFill>
                <a:latin typeface="Lucida Console" panose="020B0609040504020204" pitchFamily="49" charset="0"/>
              </a:rPr>
              <a:t> in 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x.remove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FutureWarning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ImportWarning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'None',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PendingDeprecationWarning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ResourceWarning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RuntimeWarning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SyntaxWarning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UnicodeWarning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UserWarning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'Warning', '_', '__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build_class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__', '__debug__', '__doc__', '__import__', 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630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2907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222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FutureWarning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ImportWarning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'None',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PendingDeprecationWarning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ResourceWarning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RuntimeWarning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SyntaxWarning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UnicodeWarning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UserWarning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'Warning', '_', '__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build_class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__', '__debug__', '__doc__', '__import__', '__loader__', '__name__', '__package__', '__spec__']</a:t>
            </a:r>
          </a:p>
        </p:txBody>
      </p:sp>
    </p:spTree>
    <p:extLst>
      <p:ext uri="{BB962C8B-B14F-4D97-AF65-F5344CB8AC3E}">
        <p14:creationId xmlns:p14="http://schemas.microsoft.com/office/powerpoint/2010/main" val="195607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2907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rgbClr val="FFFF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x if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[0].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islower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()]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FutureWarning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ImportWarning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'None',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PendingDeprecationWarning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ResourceWarning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RuntimeWarning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SyntaxWarning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UnicodeWarning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UserWarning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'Warning', '_', '__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build_class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__', '__debug__', '__doc__', '__import__', '__loader__', '__name__', '__package__', '__spec__']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_ if "Warning" not in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and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[0]!="_"]</a:t>
            </a:r>
          </a:p>
        </p:txBody>
      </p:sp>
      <p:sp>
        <p:nvSpPr>
          <p:cNvPr id="3" name="Rectangle 2"/>
          <p:cNvSpPr/>
          <p:nvPr/>
        </p:nvSpPr>
        <p:spPr>
          <a:xfrm>
            <a:off x="185948" y="6372271"/>
            <a:ext cx="659989" cy="433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20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sz="2220" dirty="0">
              <a:solidFill>
                <a:srgbClr val="00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8805198" y="6458150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902940" y="6445092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ular Callout 6"/>
          <p:cNvSpPr/>
          <p:nvPr/>
        </p:nvSpPr>
        <p:spPr bwMode="auto">
          <a:xfrm>
            <a:off x="1214411" y="1790700"/>
            <a:ext cx="6266531" cy="1297161"/>
          </a:xfrm>
          <a:prstGeom prst="wedgeRoundRectCallout">
            <a:avLst>
              <a:gd name="adj1" fmla="val -1668"/>
              <a:gd name="adj2" fmla="val 12087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846552">
              <a:lnSpc>
                <a:spcPct val="110000"/>
              </a:lnSpc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Many of these are Warnings, which are like error messages.</a:t>
            </a:r>
          </a:p>
        </p:txBody>
      </p:sp>
    </p:spTree>
    <p:extLst>
      <p:ext uri="{BB962C8B-B14F-4D97-AF65-F5344CB8AC3E}">
        <p14:creationId xmlns:p14="http://schemas.microsoft.com/office/powerpoint/2010/main" val="30521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2907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['abs', 'all', 'any',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ascii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'bin', 'bool', 'breakpoint',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FutureWarning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ImportWarning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'None',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PendingDeprecationWarning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ResourceWarning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RuntimeWarning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SyntaxWarning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UnicodeWarning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UserWarning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'Warning', '_', '__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build_class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__', '__debug__', '__doc__', '__import__', '__loader__', '__name__', '__package__', '__spec__']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_ if "Warning" not in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and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[0]!="_"]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</a:t>
            </a: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80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2907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bytearray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'bytes', 'callable',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chr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classmethod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FutureWarning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ImportWarning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'None',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PendingDeprecationWarning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ResourceWarning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RuntimeWarning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SyntaxWarning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UnicodeWarning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UserWarning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'Warning', '_', '__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build_class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__', '__debug__', '__doc__', '__import__', '__loader__', '__name__', '__package__', '__spec__']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_ if "Warning" not in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and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[0]!="_"]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Non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endParaRPr lang="en-US" altLang="zh-TW" sz="2222" kern="0" spc="-102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95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2907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'compile', 'complex', 'copyright', 'credits',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FutureWarning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ImportWarning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'None',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PendingDeprecationWarning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ResourceWarning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RuntimeWarning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SyntaxWarning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UnicodeWarning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UserWarning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'Warning', '_', '__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build_class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__', '__debug__', '__doc__', '__import__', '__loader__', '__name__', '__package__', '__spec__']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_ if "Warning" not in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and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[0]!="_"]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Non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</a:t>
            </a:r>
            <a:r>
              <a:rPr lang="en-US" altLang="zh-TW" sz="2222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</a:t>
            </a:r>
            <a:r>
              <a:rPr lang="en-US" altLang="zh-TW" sz="2222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endParaRPr lang="en-US" altLang="zh-TW" sz="2222" kern="0" spc="-102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222" kern="0" spc="-102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85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2907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divmod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'enumerate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eval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'exec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'exit', 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FutureWarning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ImportWarning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'None',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PendingDeprecationWarning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ResourceWarning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RuntimeWarning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SyntaxWarning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UnicodeWarning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UserWarning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'Warning', '_', '__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build_class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__', '__debug__', '__doc__', '__import__', '__loader__', '__name__', '__package__', '__spec__']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_ if "Warning" not in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and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[0]!="_"]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Non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</a:t>
            </a:r>
            <a:r>
              <a:rPr lang="en-US" altLang="zh-TW" sz="2222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</a:t>
            </a:r>
            <a:r>
              <a:rPr lang="en-US" altLang="zh-TW" sz="2222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_ if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</a:rPr>
              <a:t>Except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" not in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and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</a:rPr>
              <a:t>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" not in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endParaRPr lang="en-US" altLang="zh-TW" sz="2222" kern="0" spc="-102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9335" y="6375655"/>
            <a:ext cx="659989" cy="433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20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sz="2220" dirty="0">
              <a:solidFill>
                <a:srgbClr val="000000"/>
              </a:solidFill>
            </a:endParaRP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2414561" y="3429000"/>
            <a:ext cx="6266531" cy="1297161"/>
          </a:xfrm>
          <a:prstGeom prst="wedgeRoundRectCallout">
            <a:avLst>
              <a:gd name="adj1" fmla="val -1668"/>
              <a:gd name="adj2" fmla="val 12087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846552">
              <a:lnSpc>
                <a:spcPct val="110000"/>
              </a:lnSpc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Some of these still sound like error messages by a different name…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9419730" y="6439640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906642" y="6445092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958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2907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'filter', 'float', 'format',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frozenset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FutureWarning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ImportWarning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'None',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PendingDeprecationWarning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ResourceWarning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RuntimeWarning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SyntaxWarning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UnicodeWarning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UserWarning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'Warning', '_', '__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build_class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__', '__debug__', '__doc__', '__import__', '__loader__', '__name__', '__package__', '__spec__']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_ if "Warning" not in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and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[0]!="_"]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Non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</a:t>
            </a:r>
            <a:r>
              <a:rPr lang="en-US" altLang="zh-TW" sz="2222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</a:t>
            </a:r>
            <a:r>
              <a:rPr lang="en-US" altLang="zh-TW" sz="2222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_ if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</a:rPr>
              <a:t>Except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" not in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and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</a:rPr>
              <a:t>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" not in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and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</a:rPr>
              <a:t>Interrupt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" not in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and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</a:rPr>
              <a:t>Stop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" not in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]</a:t>
            </a:r>
          </a:p>
        </p:txBody>
      </p:sp>
      <p:sp>
        <p:nvSpPr>
          <p:cNvPr id="3" name="Rectangle 2"/>
          <p:cNvSpPr/>
          <p:nvPr/>
        </p:nvSpPr>
        <p:spPr>
          <a:xfrm>
            <a:off x="189335" y="6375657"/>
            <a:ext cx="659989" cy="433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20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  <a:endParaRPr lang="en-US" sz="2220" dirty="0">
              <a:solidFill>
                <a:srgbClr val="00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8030878" y="6461852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906642" y="6445092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3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2907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globals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hasattr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'hash', 'help', 'hex', 'id', 'input',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FutureWarning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ImportWarning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'None',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PendingDeprecationWarning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ResourceWarning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RuntimeWarning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SyntaxWarning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UnicodeWarning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UserWarning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'Warning', '_', '__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build_class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__', '__debug__', '__doc__', '__import__', '__loader__', '__name__', '__package__', '__spec__']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_ if "Warning" not in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and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[0]!="_"]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Non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</a:t>
            </a:r>
            <a:r>
              <a:rPr lang="en-US" altLang="zh-TW" sz="2222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</a:t>
            </a:r>
            <a:r>
              <a:rPr lang="en-US" altLang="zh-TW" sz="2222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  <a:ea typeface="+mn-ea"/>
                <a:cs typeface="+mn-cs"/>
              </a:rPr>
              <a:t>&gt;&gt;&gt;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[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in _ if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  <a:ea typeface="+mn-ea"/>
                <a:cs typeface="+mn-cs"/>
              </a:rPr>
              <a:t>Except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" not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and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  <a:ea typeface="+mn-ea"/>
                <a:cs typeface="+mn-cs"/>
              </a:rPr>
              <a:t>Exit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" not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  <a:ea typeface="+mn-ea"/>
                <a:cs typeface="+mn-cs"/>
              </a:rPr>
              <a:t>...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and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  <a:ea typeface="+mn-ea"/>
                <a:cs typeface="+mn-cs"/>
              </a:rPr>
              <a:t>Interrupt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" not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and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  <a:ea typeface="+mn-ea"/>
                <a:cs typeface="+mn-cs"/>
              </a:rPr>
              <a:t>Stop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" not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] 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['Ellipsis', 'False', 'None'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, 'True']</a:t>
            </a:r>
          </a:p>
        </p:txBody>
      </p:sp>
      <p:sp>
        <p:nvSpPr>
          <p:cNvPr id="3" name="Rectangle 2"/>
          <p:cNvSpPr/>
          <p:nvPr/>
        </p:nvSpPr>
        <p:spPr>
          <a:xfrm>
            <a:off x="189335" y="6375657"/>
            <a:ext cx="659989" cy="433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20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  <a:endParaRPr lang="en-US" sz="222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42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2907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FutureWarning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ImportWarning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'None',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PendingDeprecationWarning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ResourceWarning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RuntimeWarning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SyntaxWarning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UnicodeWarning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UserWarning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'Warning', '_', '__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build_class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__', '__debug__', '__doc__', '__import__', '__loader__', '__name__', '__package__', '__spec__']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_ if "Warning" not in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and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[0]!="_"]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Non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</a:t>
            </a:r>
            <a:r>
              <a:rPr lang="en-US" altLang="zh-TW" sz="2222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</a:t>
            </a:r>
            <a:r>
              <a:rPr lang="en-US" altLang="zh-TW" sz="2222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  <a:ea typeface="+mn-ea"/>
                <a:cs typeface="+mn-cs"/>
              </a:rPr>
              <a:t>&gt;&gt;&gt;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[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in _ if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  <a:ea typeface="+mn-ea"/>
                <a:cs typeface="+mn-cs"/>
              </a:rPr>
              <a:t>Except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" not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and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  <a:ea typeface="+mn-ea"/>
                <a:cs typeface="+mn-cs"/>
              </a:rPr>
              <a:t>Exit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" not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  <a:ea typeface="+mn-ea"/>
                <a:cs typeface="+mn-cs"/>
              </a:rPr>
              <a:t>...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and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  <a:ea typeface="+mn-ea"/>
                <a:cs typeface="+mn-cs"/>
              </a:rPr>
              <a:t>Interrupt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" not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and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  <a:ea typeface="+mn-ea"/>
                <a:cs typeface="+mn-cs"/>
              </a:rPr>
              <a:t>Stop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" not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] 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b="1" spc="-102" dirty="0">
                <a:solidFill>
                  <a:srgbClr val="FFC000"/>
                </a:solidFill>
                <a:latin typeface="Lucida Console" panose="020B0609040504020204" pitchFamily="49" charset="0"/>
              </a:rPr>
              <a:t>Ellipsis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spc="-102" dirty="0">
                <a:solidFill>
                  <a:srgbClr val="FFC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spc="-102" dirty="0">
                <a:solidFill>
                  <a:srgbClr val="FFC000"/>
                </a:solidFill>
                <a:latin typeface="Lucida Console" panose="020B0609040504020204" pitchFamily="49" charset="0"/>
              </a:rPr>
              <a:t>None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spc="-102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spc="-102" dirty="0">
                <a:solidFill>
                  <a:srgbClr val="FFC000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']</a:t>
            </a:r>
          </a:p>
        </p:txBody>
      </p:sp>
      <p:sp>
        <p:nvSpPr>
          <p:cNvPr id="3" name="Rectangle 2"/>
          <p:cNvSpPr/>
          <p:nvPr/>
        </p:nvSpPr>
        <p:spPr>
          <a:xfrm>
            <a:off x="189335" y="6375657"/>
            <a:ext cx="659989" cy="433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20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sz="2220" dirty="0">
              <a:solidFill>
                <a:srgbClr val="000000"/>
              </a:solidFill>
            </a:endParaRPr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1826732" y="4049571"/>
            <a:ext cx="6266531" cy="1297161"/>
          </a:xfrm>
          <a:prstGeom prst="wedgeRoundRectCallout">
            <a:avLst>
              <a:gd name="adj1" fmla="val -26422"/>
              <a:gd name="adj2" fmla="val 11458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846552">
              <a:lnSpc>
                <a:spcPct val="110000"/>
              </a:lnSpc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These 5 are all built-in constants.</a:t>
            </a:r>
            <a:b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</a:b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 Let’s now take a look at them…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69982" y="6435307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40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altLang="zh-TW" sz="4400" kern="0" dirty="0">
                <a:latin typeface="Elephant" panose="02020904090505020303" pitchFamily="18" charset="0"/>
              </a:rPr>
              <a:t>Built-in constants</a:t>
            </a:r>
            <a:endParaRPr lang="en-US" sz="4400" kern="0" dirty="0"/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373063" y="715936"/>
            <a:ext cx="8991600" cy="614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2830" tIns="19044" rIns="91440" bIns="63480" numCol="1" anchor="ctr" anchorCtr="0" compatLnSpc="1">
            <a:prstTxWarp prst="textNoShape">
              <a:avLst/>
            </a:prstTxWarp>
            <a:noAutofit/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kern="0" dirty="0"/>
              <a:t>A small number of constants live in the built-in namespace:</a:t>
            </a:r>
            <a:endParaRPr lang="zh-TW" altLang="zh-TW" kern="0" dirty="0">
              <a:solidFill>
                <a:srgbClr val="000000"/>
              </a:solidFill>
            </a:endParaRP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FF0000"/>
                </a:solidFill>
                <a:cs typeface="Courier New" panose="02070309020205020404" pitchFamily="49" charset="0"/>
              </a:rPr>
              <a:t>False</a:t>
            </a:r>
            <a:r>
              <a:rPr lang="en-US" altLang="zh-TW" kern="0" dirty="0">
                <a:cs typeface="Courier New" panose="02070309020205020404" pitchFamily="49" charset="0"/>
              </a:rPr>
              <a:t> </a:t>
            </a:r>
            <a:r>
              <a:rPr lang="zh-TW" altLang="zh-TW" kern="0" dirty="0"/>
              <a:t>The false value of the</a:t>
            </a:r>
            <a:r>
              <a:rPr lang="en-US" altLang="zh-TW" kern="0" dirty="0"/>
              <a:t> type</a:t>
            </a:r>
            <a:r>
              <a:rPr lang="zh-TW" altLang="zh-TW" kern="0" dirty="0"/>
              <a:t> </a:t>
            </a:r>
            <a:r>
              <a:rPr lang="zh-TW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bool</a:t>
            </a:r>
            <a:r>
              <a:rPr lang="zh-TW" altLang="zh-TW" kern="0" dirty="0"/>
              <a:t>.</a:t>
            </a: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00B050"/>
                </a:solidFill>
                <a:cs typeface="Courier New" panose="02070309020205020404" pitchFamily="49" charset="0"/>
              </a:rPr>
              <a:t>True</a:t>
            </a:r>
            <a:r>
              <a:rPr lang="en-US" altLang="zh-TW" kern="0" dirty="0">
                <a:cs typeface="Courier New" panose="02070309020205020404" pitchFamily="49" charset="0"/>
              </a:rPr>
              <a:t>  </a:t>
            </a:r>
            <a:r>
              <a:rPr lang="en-US" altLang="zh-TW" sz="1200" kern="0" dirty="0">
                <a:cs typeface="Courier New" panose="02070309020205020404" pitchFamily="49" charset="0"/>
              </a:rPr>
              <a:t> </a:t>
            </a:r>
            <a:r>
              <a:rPr lang="zh-TW" altLang="zh-TW" kern="0" dirty="0"/>
              <a:t>The true value of the</a:t>
            </a:r>
            <a:r>
              <a:rPr lang="en-US" altLang="zh-TW" kern="0" dirty="0"/>
              <a:t> type</a:t>
            </a:r>
            <a:r>
              <a:rPr lang="zh-TW" altLang="zh-TW" kern="0" dirty="0"/>
              <a:t> </a:t>
            </a:r>
            <a:r>
              <a:rPr lang="zh-TW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bool</a:t>
            </a:r>
            <a:r>
              <a:rPr lang="zh-TW" altLang="zh-TW" kern="0" dirty="0"/>
              <a:t>. </a:t>
            </a:r>
          </a:p>
          <a:p>
            <a:pPr marL="0" indent="0" defTabSz="914360">
              <a:spcBef>
                <a:spcPct val="0"/>
              </a:spcBef>
              <a:spcAft>
                <a:spcPts val="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EAEAEA"/>
                </a:solidFill>
                <a:cs typeface="Courier New" panose="02070309020205020404" pitchFamily="49" charset="0"/>
              </a:rPr>
              <a:t>None</a:t>
            </a:r>
            <a:r>
              <a:rPr lang="en-US" altLang="zh-TW" kern="0" dirty="0">
                <a:solidFill>
                  <a:srgbClr val="EAEAEA"/>
                </a:solidFill>
                <a:cs typeface="Courier New" panose="02070309020205020404" pitchFamily="49" charset="0"/>
              </a:rPr>
              <a:t> </a:t>
            </a:r>
            <a:r>
              <a:rPr lang="en-US" altLang="zh-TW" sz="1100" kern="0" dirty="0">
                <a:solidFill>
                  <a:srgbClr val="EAEAEA"/>
                </a:solidFill>
                <a:cs typeface="Courier New" panose="02070309020205020404" pitchFamily="49" charset="0"/>
              </a:rPr>
              <a:t> </a:t>
            </a:r>
            <a:r>
              <a:rPr lang="zh-TW" altLang="zh-TW" kern="0" dirty="0">
                <a:solidFill>
                  <a:srgbClr val="EAEAEA"/>
                </a:solidFill>
              </a:rPr>
              <a:t>The o</a:t>
            </a:r>
            <a:r>
              <a:rPr lang="en-US" altLang="zh-TW" kern="0" dirty="0" err="1">
                <a:solidFill>
                  <a:srgbClr val="EAEAEA"/>
                </a:solidFill>
              </a:rPr>
              <a:t>nly</a:t>
            </a:r>
            <a:r>
              <a:rPr lang="zh-TW" altLang="zh-TW" kern="0" dirty="0">
                <a:solidFill>
                  <a:srgbClr val="EAEAEA"/>
                </a:solidFill>
              </a:rPr>
              <a:t> value of the type </a:t>
            </a:r>
            <a:r>
              <a:rPr lang="zh-TW" altLang="zh-TW" kern="0" dirty="0">
                <a:solidFill>
                  <a:srgbClr val="EAEAEA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NoneType</a:t>
            </a:r>
            <a:r>
              <a:rPr lang="zh-TW" altLang="zh-TW" kern="0" dirty="0">
                <a:solidFill>
                  <a:srgbClr val="EAEAEA"/>
                </a:solidFill>
              </a:rPr>
              <a:t>. </a:t>
            </a:r>
            <a:endParaRPr lang="en-US" altLang="zh-TW" kern="0" dirty="0">
              <a:solidFill>
                <a:srgbClr val="EAEAEA"/>
              </a:solidFill>
            </a:endParaRP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kern="0" dirty="0">
                <a:solidFill>
                  <a:srgbClr val="EAEAEA"/>
                </a:solidFill>
                <a:cs typeface="Courier New" panose="02070309020205020404" pitchFamily="49" charset="0"/>
              </a:rPr>
              <a:t>None</a:t>
            </a:r>
            <a:r>
              <a:rPr lang="zh-TW" altLang="zh-TW" kern="0" dirty="0">
                <a:solidFill>
                  <a:srgbClr val="EAEAEA"/>
                </a:solidFill>
              </a:rPr>
              <a:t> </a:t>
            </a:r>
            <a:r>
              <a:rPr lang="en-US" altLang="zh-TW" kern="0" dirty="0">
                <a:solidFill>
                  <a:srgbClr val="EAEAEA"/>
                </a:solidFill>
              </a:rPr>
              <a:t>can be</a:t>
            </a:r>
            <a:r>
              <a:rPr lang="zh-TW" altLang="zh-TW" kern="0" dirty="0">
                <a:solidFill>
                  <a:srgbClr val="EAEAEA"/>
                </a:solidFill>
              </a:rPr>
              <a:t> used to represent the absence of a value, as when </a:t>
            </a:r>
            <a:r>
              <a:rPr lang="en-US" altLang="zh-TW" kern="0" dirty="0">
                <a:solidFill>
                  <a:srgbClr val="EAEAEA"/>
                </a:solidFill>
              </a:rPr>
              <a:t>no return value is given for </a:t>
            </a:r>
            <a:r>
              <a:rPr lang="zh-TW" altLang="zh-TW" kern="0" dirty="0">
                <a:solidFill>
                  <a:srgbClr val="EAEAEA"/>
                </a:solidFill>
              </a:rPr>
              <a:t>a function.</a:t>
            </a: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EAEAEA"/>
                </a:solidFill>
                <a:cs typeface="Courier New" panose="02070309020205020404" pitchFamily="49" charset="0"/>
              </a:rPr>
              <a:t>NotImplemented</a:t>
            </a:r>
            <a:r>
              <a:rPr lang="en-US" altLang="zh-TW" kern="0" dirty="0">
                <a:solidFill>
                  <a:srgbClr val="EAEAEA"/>
                </a:solidFill>
                <a:cs typeface="Courier New" panose="02070309020205020404" pitchFamily="49" charset="0"/>
              </a:rPr>
              <a:t>  </a:t>
            </a:r>
            <a:r>
              <a:rPr lang="en-US" altLang="zh-TW" kern="0" dirty="0">
                <a:solidFill>
                  <a:srgbClr val="EAEAEA"/>
                </a:solidFill>
              </a:rPr>
              <a:t>A s</a:t>
            </a:r>
            <a:r>
              <a:rPr lang="zh-TW" altLang="zh-TW" kern="0" dirty="0">
                <a:solidFill>
                  <a:srgbClr val="EAEAEA"/>
                </a:solidFill>
              </a:rPr>
              <a:t>pecial value </a:t>
            </a:r>
            <a:r>
              <a:rPr lang="en-US" altLang="zh-TW" kern="0" dirty="0">
                <a:solidFill>
                  <a:srgbClr val="EAEAEA"/>
                </a:solidFill>
              </a:rPr>
              <a:t>that</a:t>
            </a:r>
            <a:r>
              <a:rPr lang="zh-TW" altLang="zh-TW" kern="0" dirty="0">
                <a:solidFill>
                  <a:srgbClr val="EAEAEA"/>
                </a:solidFill>
              </a:rPr>
              <a:t> should be returned </a:t>
            </a:r>
            <a:r>
              <a:rPr lang="zh-TW" altLang="zh-TW" kern="0" spc="-20" dirty="0">
                <a:solidFill>
                  <a:srgbClr val="EAEAEA"/>
                </a:solidFill>
              </a:rPr>
              <a:t>by binary special methods</a:t>
            </a:r>
            <a:r>
              <a:rPr lang="en-US" altLang="zh-TW" kern="0" spc="-20" dirty="0">
                <a:solidFill>
                  <a:srgbClr val="EAEAEA"/>
                </a:solidFill>
              </a:rPr>
              <a:t> </a:t>
            </a:r>
            <a:r>
              <a:rPr lang="zh-TW" altLang="zh-TW" kern="0" spc="-20" dirty="0">
                <a:solidFill>
                  <a:srgbClr val="EAEAEA"/>
                </a:solidFill>
              </a:rPr>
              <a:t>(e.g. </a:t>
            </a:r>
            <a:r>
              <a:rPr lang="zh-TW" altLang="zh-TW" sz="2400" kern="0" spc="-20" dirty="0">
                <a:solidFill>
                  <a:srgbClr val="EAEAEA"/>
                </a:solidFill>
                <a:cs typeface="Courier New" panose="02070309020205020404" pitchFamily="49" charset="0"/>
              </a:rPr>
              <a:t>__</a:t>
            </a:r>
            <a:r>
              <a:rPr lang="zh-TW" altLang="zh-TW" kern="0" spc="-20" dirty="0">
                <a:solidFill>
                  <a:srgbClr val="EAEAEA"/>
                </a:solidFill>
                <a:cs typeface="Courier New" panose="02070309020205020404" pitchFamily="49" charset="0"/>
              </a:rPr>
              <a:t>eq</a:t>
            </a:r>
            <a:r>
              <a:rPr lang="zh-TW" altLang="zh-TW" sz="2400" kern="0" spc="-20" dirty="0">
                <a:solidFill>
                  <a:srgbClr val="EAEAEA"/>
                </a:solidFill>
                <a:cs typeface="Courier New" panose="02070309020205020404" pitchFamily="49" charset="0"/>
              </a:rPr>
              <a:t>__</a:t>
            </a:r>
            <a:r>
              <a:rPr lang="zh-TW" altLang="zh-TW" kern="0" spc="-20" dirty="0">
                <a:solidFill>
                  <a:srgbClr val="EAEAEA"/>
                </a:solidFill>
                <a:cs typeface="Courier New" panose="02070309020205020404" pitchFamily="49" charset="0"/>
              </a:rPr>
              <a:t>()</a:t>
            </a:r>
            <a:r>
              <a:rPr lang="zh-TW" altLang="zh-TW" kern="0" spc="-20" dirty="0">
                <a:solidFill>
                  <a:srgbClr val="EAEAEA"/>
                </a:solidFill>
              </a:rPr>
              <a:t>, </a:t>
            </a:r>
            <a:r>
              <a:rPr lang="zh-TW" altLang="zh-TW" sz="2400" kern="0" spc="-20" dirty="0">
                <a:solidFill>
                  <a:srgbClr val="EAEAEA"/>
                </a:solidFill>
                <a:cs typeface="Courier New" panose="02070309020205020404" pitchFamily="49" charset="0"/>
              </a:rPr>
              <a:t>__</a:t>
            </a:r>
            <a:r>
              <a:rPr lang="zh-TW" altLang="zh-TW" kern="0" spc="-20" dirty="0">
                <a:solidFill>
                  <a:srgbClr val="EAEAEA"/>
                </a:solidFill>
                <a:cs typeface="Courier New" panose="02070309020205020404" pitchFamily="49" charset="0"/>
              </a:rPr>
              <a:t>lt</a:t>
            </a:r>
            <a:r>
              <a:rPr lang="zh-TW" altLang="zh-TW" sz="2400" kern="0" spc="-20" dirty="0">
                <a:solidFill>
                  <a:srgbClr val="EAEAEA"/>
                </a:solidFill>
                <a:cs typeface="Courier New" panose="02070309020205020404" pitchFamily="49" charset="0"/>
              </a:rPr>
              <a:t>__</a:t>
            </a:r>
            <a:r>
              <a:rPr lang="zh-TW" altLang="zh-TW" kern="0" spc="-20" dirty="0">
                <a:solidFill>
                  <a:srgbClr val="EAEAEA"/>
                </a:solidFill>
                <a:cs typeface="Courier New" panose="02070309020205020404" pitchFamily="49" charset="0"/>
              </a:rPr>
              <a:t>()</a:t>
            </a:r>
            <a:r>
              <a:rPr lang="zh-TW" altLang="zh-TW" kern="0" spc="-20" dirty="0">
                <a:solidFill>
                  <a:srgbClr val="EAEAEA"/>
                </a:solidFill>
              </a:rPr>
              <a:t>, </a:t>
            </a:r>
            <a:r>
              <a:rPr lang="zh-TW" altLang="zh-TW" sz="2400" kern="0" spc="-20" dirty="0">
                <a:solidFill>
                  <a:srgbClr val="EAEAEA"/>
                </a:solidFill>
                <a:cs typeface="Courier New" panose="02070309020205020404" pitchFamily="49" charset="0"/>
              </a:rPr>
              <a:t>__</a:t>
            </a:r>
            <a:r>
              <a:rPr lang="zh-TW" altLang="zh-TW" kern="0" spc="-20" dirty="0">
                <a:solidFill>
                  <a:srgbClr val="EAEAEA"/>
                </a:solidFill>
                <a:cs typeface="Courier New" panose="02070309020205020404" pitchFamily="49" charset="0"/>
              </a:rPr>
              <a:t>add</a:t>
            </a:r>
            <a:r>
              <a:rPr lang="zh-TW" altLang="zh-TW" sz="2400" kern="0" spc="-20" dirty="0">
                <a:solidFill>
                  <a:srgbClr val="EAEAEA"/>
                </a:solidFill>
                <a:cs typeface="Courier New" panose="02070309020205020404" pitchFamily="49" charset="0"/>
              </a:rPr>
              <a:t>__</a:t>
            </a:r>
            <a:r>
              <a:rPr lang="zh-TW" altLang="zh-TW" kern="0" spc="-20" dirty="0">
                <a:solidFill>
                  <a:srgbClr val="EAEAEA"/>
                </a:solidFill>
                <a:cs typeface="Courier New" panose="02070309020205020404" pitchFamily="49" charset="0"/>
              </a:rPr>
              <a:t>()</a:t>
            </a:r>
            <a:r>
              <a:rPr lang="zh-TW" altLang="zh-TW" kern="0" spc="-20" dirty="0">
                <a:solidFill>
                  <a:srgbClr val="EAEAEA"/>
                </a:solidFill>
              </a:rPr>
              <a:t>, etc.)</a:t>
            </a:r>
            <a:r>
              <a:rPr lang="zh-TW" altLang="zh-TW" kern="0" dirty="0">
                <a:solidFill>
                  <a:srgbClr val="EAEAEA"/>
                </a:solidFill>
              </a:rPr>
              <a:t> to indicate that the operation is not implemented with respect to the other type; </a:t>
            </a:r>
            <a:r>
              <a:rPr lang="en-US" altLang="zh-TW" kern="0" dirty="0">
                <a:solidFill>
                  <a:srgbClr val="EAEAEA"/>
                </a:solidFill>
              </a:rPr>
              <a:t>and it </a:t>
            </a:r>
            <a:r>
              <a:rPr lang="zh-TW" altLang="zh-TW" kern="0" dirty="0">
                <a:solidFill>
                  <a:srgbClr val="EAEAEA"/>
                </a:solidFill>
              </a:rPr>
              <a:t>may be returned by in-place binary special methods (e.g. </a:t>
            </a:r>
            <a:r>
              <a:rPr lang="zh-TW" altLang="zh-TW" kern="0" dirty="0">
                <a:solidFill>
                  <a:srgbClr val="EAEAEA"/>
                </a:solidFill>
                <a:cs typeface="Courier New" panose="02070309020205020404" pitchFamily="49" charset="0"/>
              </a:rPr>
              <a:t>__imul__()</a:t>
            </a:r>
            <a:r>
              <a:rPr lang="zh-TW" altLang="zh-TW" kern="0" dirty="0">
                <a:solidFill>
                  <a:srgbClr val="EAEAEA"/>
                </a:solidFill>
              </a:rPr>
              <a:t>, </a:t>
            </a:r>
            <a:r>
              <a:rPr lang="zh-TW" altLang="zh-TW" kern="0" dirty="0">
                <a:solidFill>
                  <a:srgbClr val="EAEAEA"/>
                </a:solidFill>
                <a:cs typeface="Courier New" panose="02070309020205020404" pitchFamily="49" charset="0"/>
              </a:rPr>
              <a:t>__iand__()</a:t>
            </a:r>
            <a:r>
              <a:rPr lang="zh-TW" altLang="zh-TW" kern="0" dirty="0">
                <a:solidFill>
                  <a:srgbClr val="EAEAEA"/>
                </a:solidFill>
              </a:rPr>
              <a:t>, etc.).</a:t>
            </a: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EAEAEA"/>
                </a:solidFill>
                <a:cs typeface="Courier New" panose="02070309020205020404" pitchFamily="49" charset="0"/>
              </a:rPr>
              <a:t>Ellipsis</a:t>
            </a:r>
            <a:r>
              <a:rPr lang="en-US" altLang="zh-TW" kern="0" dirty="0">
                <a:solidFill>
                  <a:srgbClr val="EAEAEA"/>
                </a:solidFill>
                <a:cs typeface="Courier New" panose="02070309020205020404" pitchFamily="49" charset="0"/>
              </a:rPr>
              <a:t> </a:t>
            </a:r>
            <a:r>
              <a:rPr lang="en-US" altLang="zh-TW" kern="0" dirty="0">
                <a:solidFill>
                  <a:srgbClr val="EAEAEA"/>
                </a:solidFill>
              </a:rPr>
              <a:t>A s</a:t>
            </a:r>
            <a:r>
              <a:rPr lang="zh-TW" altLang="zh-TW" kern="0" dirty="0">
                <a:solidFill>
                  <a:srgbClr val="EAEAEA"/>
                </a:solidFill>
              </a:rPr>
              <a:t>pecial value used mostly </a:t>
            </a:r>
            <a:r>
              <a:rPr lang="en-US" altLang="zh-TW" kern="0" dirty="0">
                <a:solidFill>
                  <a:srgbClr val="EAEAEA"/>
                </a:solidFill>
              </a:rPr>
              <a:t>for</a:t>
            </a:r>
            <a:r>
              <a:rPr lang="zh-TW" altLang="zh-TW" kern="0" dirty="0">
                <a:solidFill>
                  <a:srgbClr val="EAEAEA"/>
                </a:solidFill>
              </a:rPr>
              <a:t> extended slicing </a:t>
            </a:r>
            <a:r>
              <a:rPr lang="en-US" altLang="zh-TW" kern="0" dirty="0">
                <a:solidFill>
                  <a:srgbClr val="EAEAEA"/>
                </a:solidFill>
              </a:rPr>
              <a:t>of</a:t>
            </a:r>
            <a:r>
              <a:rPr lang="zh-TW" altLang="zh-TW" kern="0" dirty="0">
                <a:solidFill>
                  <a:srgbClr val="EAEAEA"/>
                </a:solidFill>
              </a:rPr>
              <a:t> user-defined container data types.</a:t>
            </a:r>
            <a:r>
              <a:rPr lang="en-US" altLang="zh-TW" kern="0" dirty="0">
                <a:solidFill>
                  <a:srgbClr val="EAEAEA"/>
                </a:solidFill>
              </a:rPr>
              <a:t> It is the same as “…”.</a:t>
            </a:r>
            <a:endParaRPr lang="zh-TW" altLang="zh-TW" kern="0" dirty="0">
              <a:solidFill>
                <a:srgbClr val="EAEAE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5844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altLang="zh-TW" sz="4400" kern="0" dirty="0">
                <a:latin typeface="Elephant" panose="02020904090505020303" pitchFamily="18" charset="0"/>
              </a:rPr>
              <a:t>Built-in constants</a:t>
            </a:r>
            <a:endParaRPr lang="en-US" sz="4400" kern="0" dirty="0"/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373063" y="715936"/>
            <a:ext cx="8991600" cy="614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2830" tIns="19044" rIns="91440" bIns="63480" numCol="1" anchor="ctr" anchorCtr="0" compatLnSpc="1">
            <a:prstTxWarp prst="textNoShape">
              <a:avLst/>
            </a:prstTxWarp>
            <a:noAutofit/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kern="0" dirty="0"/>
              <a:t>A small number of constants live in the built-in namespace:</a:t>
            </a:r>
            <a:endParaRPr lang="zh-TW" altLang="zh-TW" kern="0" dirty="0">
              <a:solidFill>
                <a:srgbClr val="000000"/>
              </a:solidFill>
            </a:endParaRP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False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The false value of the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 type</a:t>
            </a:r>
            <a:r>
              <a:rPr lang="zh-TW" altLang="zh-TW" kern="0" dirty="0"/>
              <a:t> </a:t>
            </a:r>
            <a:r>
              <a:rPr lang="zh-TW" altLang="zh-TW" kern="0" dirty="0">
                <a:solidFill>
                  <a:srgbClr val="6363BB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bool</a:t>
            </a:r>
            <a:r>
              <a:rPr lang="zh-TW" altLang="zh-TW" kern="0" dirty="0"/>
              <a:t>.</a:t>
            </a: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True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 </a:t>
            </a:r>
            <a:r>
              <a:rPr lang="en-US" altLang="zh-TW" sz="1200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The true value of the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 type</a:t>
            </a:r>
            <a:r>
              <a:rPr lang="zh-TW" altLang="zh-TW" kern="0" dirty="0"/>
              <a:t> </a:t>
            </a:r>
            <a:r>
              <a:rPr lang="zh-TW" altLang="zh-TW" kern="0" dirty="0">
                <a:solidFill>
                  <a:srgbClr val="6363BB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bool</a:t>
            </a:r>
            <a:r>
              <a:rPr lang="zh-TW" altLang="zh-TW" kern="0" dirty="0"/>
              <a:t>. </a:t>
            </a:r>
          </a:p>
          <a:p>
            <a:pPr marL="0" indent="0" defTabSz="914360">
              <a:spcBef>
                <a:spcPct val="0"/>
              </a:spcBef>
              <a:spcAft>
                <a:spcPts val="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FF0000"/>
                </a:solidFill>
                <a:cs typeface="Courier New" panose="02070309020205020404" pitchFamily="49" charset="0"/>
              </a:rPr>
              <a:t>None</a:t>
            </a:r>
            <a:r>
              <a:rPr lang="en-US" altLang="zh-TW" kern="0" dirty="0">
                <a:cs typeface="Courier New" panose="02070309020205020404" pitchFamily="49" charset="0"/>
              </a:rPr>
              <a:t> </a:t>
            </a:r>
            <a:r>
              <a:rPr lang="en-US" altLang="zh-TW" sz="1100" kern="0" dirty="0">
                <a:cs typeface="Courier New" panose="02070309020205020404" pitchFamily="49" charset="0"/>
              </a:rPr>
              <a:t> </a:t>
            </a:r>
            <a:r>
              <a:rPr lang="zh-TW" altLang="zh-TW" kern="0" dirty="0"/>
              <a:t>The </a:t>
            </a:r>
            <a:r>
              <a:rPr lang="en-US" altLang="zh-TW" kern="0" dirty="0"/>
              <a:t>only</a:t>
            </a:r>
            <a:r>
              <a:rPr lang="zh-TW" altLang="zh-TW" kern="0" dirty="0"/>
              <a:t> value of the type </a:t>
            </a:r>
            <a:r>
              <a:rPr lang="zh-TW" altLang="zh-TW" kern="0" dirty="0">
                <a:solidFill>
                  <a:srgbClr val="6363BB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NoneType</a:t>
            </a:r>
            <a:r>
              <a:rPr lang="zh-TW" altLang="zh-TW" kern="0" dirty="0"/>
              <a:t>. </a:t>
            </a:r>
            <a:endParaRPr lang="en-US" altLang="zh-TW" kern="0" dirty="0"/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kern="0" dirty="0">
                <a:solidFill>
                  <a:srgbClr val="00B050"/>
                </a:solidFill>
                <a:cs typeface="Courier New" panose="02070309020205020404" pitchFamily="49" charset="0"/>
              </a:rPr>
              <a:t>None</a:t>
            </a:r>
            <a:r>
              <a:rPr lang="zh-TW" altLang="zh-TW" kern="0" dirty="0">
                <a:solidFill>
                  <a:srgbClr val="00B050"/>
                </a:solidFill>
              </a:rPr>
              <a:t> </a:t>
            </a:r>
            <a:r>
              <a:rPr lang="en-US" altLang="zh-TW" kern="0" dirty="0">
                <a:solidFill>
                  <a:srgbClr val="00B050"/>
                </a:solidFill>
              </a:rPr>
              <a:t>can be</a:t>
            </a:r>
            <a:r>
              <a:rPr lang="zh-TW" altLang="zh-TW" kern="0" dirty="0">
                <a:solidFill>
                  <a:srgbClr val="00B050"/>
                </a:solidFill>
              </a:rPr>
              <a:t> used to represent the absence of a value, as </a:t>
            </a:r>
            <a:r>
              <a:rPr lang="en-US" altLang="zh-TW" kern="0" dirty="0">
                <a:solidFill>
                  <a:srgbClr val="00B050"/>
                </a:solidFill>
              </a:rPr>
              <a:t>when no return value is given for a function</a:t>
            </a:r>
            <a:r>
              <a:rPr lang="zh-TW" altLang="zh-TW" kern="0" dirty="0">
                <a:solidFill>
                  <a:srgbClr val="00B050"/>
                </a:solidFill>
              </a:rPr>
              <a:t>.</a:t>
            </a: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NotImplemented</a:t>
            </a:r>
            <a:r>
              <a:rPr lang="en-US" altLang="zh-TW" kern="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  </a:t>
            </a:r>
            <a:r>
              <a:rPr lang="en-US" altLang="zh-TW" kern="0" dirty="0">
                <a:solidFill>
                  <a:srgbClr val="FFFFFF">
                    <a:lumMod val="95000"/>
                  </a:srgbClr>
                </a:solidFill>
              </a:rPr>
              <a:t>A s</a:t>
            </a:r>
            <a:r>
              <a:rPr lang="zh-TW" altLang="zh-TW" kern="0" dirty="0">
                <a:solidFill>
                  <a:srgbClr val="FFFFFF">
                    <a:lumMod val="95000"/>
                  </a:srgbClr>
                </a:solidFill>
              </a:rPr>
              <a:t>pecial value </a:t>
            </a:r>
            <a:r>
              <a:rPr lang="en-US" altLang="zh-TW" kern="0" dirty="0">
                <a:solidFill>
                  <a:srgbClr val="FFFFFF">
                    <a:lumMod val="95000"/>
                  </a:srgbClr>
                </a:solidFill>
              </a:rPr>
              <a:t>that</a:t>
            </a:r>
            <a:r>
              <a:rPr lang="zh-TW" altLang="zh-TW" kern="0" dirty="0">
                <a:solidFill>
                  <a:srgbClr val="FFFFFF">
                    <a:lumMod val="95000"/>
                  </a:srgbClr>
                </a:solidFill>
              </a:rPr>
              <a:t> should be returned </a:t>
            </a:r>
            <a:r>
              <a:rPr lang="zh-TW" altLang="zh-TW" kern="0" spc="-20" dirty="0">
                <a:solidFill>
                  <a:srgbClr val="FFFFFF">
                    <a:lumMod val="95000"/>
                  </a:srgbClr>
                </a:solidFill>
              </a:rPr>
              <a:t>by binary special methods</a:t>
            </a:r>
            <a:r>
              <a:rPr lang="en-US" altLang="zh-TW" kern="0" spc="-20" dirty="0">
                <a:solidFill>
                  <a:srgbClr val="FFFFFF">
                    <a:lumMod val="95000"/>
                  </a:srgbClr>
                </a:solidFill>
              </a:rPr>
              <a:t> </a:t>
            </a:r>
            <a:r>
              <a:rPr lang="zh-TW" altLang="zh-TW" kern="0" spc="-20" dirty="0">
                <a:solidFill>
                  <a:srgbClr val="FFFFFF">
                    <a:lumMod val="95000"/>
                  </a:srgbClr>
                </a:solidFill>
              </a:rPr>
              <a:t>(e.g. </a:t>
            </a:r>
            <a:r>
              <a:rPr lang="zh-TW" altLang="zh-TW" sz="2400" kern="0" spc="-2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__</a:t>
            </a:r>
            <a:r>
              <a:rPr lang="zh-TW" altLang="zh-TW" kern="0" spc="-2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eq</a:t>
            </a:r>
            <a:r>
              <a:rPr lang="zh-TW" altLang="zh-TW" sz="2400" kern="0" spc="-2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__</a:t>
            </a:r>
            <a:r>
              <a:rPr lang="zh-TW" altLang="zh-TW" kern="0" spc="-2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()</a:t>
            </a:r>
            <a:r>
              <a:rPr lang="zh-TW" altLang="zh-TW" kern="0" spc="-20" dirty="0">
                <a:solidFill>
                  <a:srgbClr val="FFFFFF">
                    <a:lumMod val="95000"/>
                  </a:srgbClr>
                </a:solidFill>
              </a:rPr>
              <a:t>, </a:t>
            </a:r>
            <a:r>
              <a:rPr lang="zh-TW" altLang="zh-TW" sz="2400" kern="0" spc="-2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__</a:t>
            </a:r>
            <a:r>
              <a:rPr lang="zh-TW" altLang="zh-TW" kern="0" spc="-2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lt</a:t>
            </a:r>
            <a:r>
              <a:rPr lang="zh-TW" altLang="zh-TW" sz="2400" kern="0" spc="-2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__</a:t>
            </a:r>
            <a:r>
              <a:rPr lang="zh-TW" altLang="zh-TW" kern="0" spc="-2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()</a:t>
            </a:r>
            <a:r>
              <a:rPr lang="zh-TW" altLang="zh-TW" kern="0" spc="-20" dirty="0">
                <a:solidFill>
                  <a:srgbClr val="FFFFFF">
                    <a:lumMod val="95000"/>
                  </a:srgbClr>
                </a:solidFill>
              </a:rPr>
              <a:t>, </a:t>
            </a:r>
            <a:r>
              <a:rPr lang="zh-TW" altLang="zh-TW" sz="2400" kern="0" spc="-2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__</a:t>
            </a:r>
            <a:r>
              <a:rPr lang="zh-TW" altLang="zh-TW" kern="0" spc="-2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add</a:t>
            </a:r>
            <a:r>
              <a:rPr lang="zh-TW" altLang="zh-TW" sz="2400" kern="0" spc="-2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__</a:t>
            </a:r>
            <a:r>
              <a:rPr lang="zh-TW" altLang="zh-TW" kern="0" spc="-2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()</a:t>
            </a:r>
            <a:r>
              <a:rPr lang="zh-TW" altLang="zh-TW" kern="0" spc="-20" dirty="0">
                <a:solidFill>
                  <a:srgbClr val="FFFFFF">
                    <a:lumMod val="95000"/>
                  </a:srgbClr>
                </a:solidFill>
              </a:rPr>
              <a:t>, etc.)</a:t>
            </a:r>
            <a:r>
              <a:rPr lang="zh-TW" altLang="zh-TW" kern="0" dirty="0">
                <a:solidFill>
                  <a:srgbClr val="FFFFFF">
                    <a:lumMod val="95000"/>
                  </a:srgbClr>
                </a:solidFill>
              </a:rPr>
              <a:t> to indicate that the operation is not implemented with respect to the other type; </a:t>
            </a:r>
            <a:r>
              <a:rPr lang="en-US" altLang="zh-TW" kern="0" dirty="0">
                <a:solidFill>
                  <a:srgbClr val="FFFFFF">
                    <a:lumMod val="95000"/>
                  </a:srgbClr>
                </a:solidFill>
              </a:rPr>
              <a:t>and it </a:t>
            </a:r>
            <a:r>
              <a:rPr lang="zh-TW" altLang="zh-TW" kern="0" dirty="0">
                <a:solidFill>
                  <a:srgbClr val="FFFFFF">
                    <a:lumMod val="95000"/>
                  </a:srgbClr>
                </a:solidFill>
              </a:rPr>
              <a:t>may be returned by in-place binary special methods (e.g. </a:t>
            </a:r>
            <a:r>
              <a:rPr lang="zh-TW" altLang="zh-TW" kern="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__imul__()</a:t>
            </a:r>
            <a:r>
              <a:rPr lang="zh-TW" altLang="zh-TW" kern="0" dirty="0">
                <a:solidFill>
                  <a:srgbClr val="FFFFFF">
                    <a:lumMod val="95000"/>
                  </a:srgbClr>
                </a:solidFill>
              </a:rPr>
              <a:t>, </a:t>
            </a:r>
            <a:r>
              <a:rPr lang="zh-TW" altLang="zh-TW" kern="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__iand__()</a:t>
            </a:r>
            <a:r>
              <a:rPr lang="zh-TW" altLang="zh-TW" kern="0" dirty="0">
                <a:solidFill>
                  <a:srgbClr val="FFFFFF">
                    <a:lumMod val="95000"/>
                  </a:srgbClr>
                </a:solidFill>
              </a:rPr>
              <a:t>, etc.).</a:t>
            </a: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Ellipsis</a:t>
            </a:r>
            <a:r>
              <a:rPr lang="en-US" altLang="zh-TW" kern="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 </a:t>
            </a:r>
            <a:r>
              <a:rPr lang="en-US" altLang="zh-TW" kern="0" dirty="0">
                <a:solidFill>
                  <a:srgbClr val="FFFFFF">
                    <a:lumMod val="95000"/>
                  </a:srgbClr>
                </a:solidFill>
              </a:rPr>
              <a:t>A s</a:t>
            </a:r>
            <a:r>
              <a:rPr lang="zh-TW" altLang="zh-TW" kern="0" dirty="0">
                <a:solidFill>
                  <a:srgbClr val="FFFFFF">
                    <a:lumMod val="95000"/>
                  </a:srgbClr>
                </a:solidFill>
              </a:rPr>
              <a:t>pecial value used mostly </a:t>
            </a:r>
            <a:r>
              <a:rPr lang="en-US" altLang="zh-TW" kern="0" dirty="0">
                <a:solidFill>
                  <a:srgbClr val="FFFFFF">
                    <a:lumMod val="95000"/>
                  </a:srgbClr>
                </a:solidFill>
              </a:rPr>
              <a:t>for</a:t>
            </a:r>
            <a:r>
              <a:rPr lang="zh-TW" altLang="zh-TW" kern="0" dirty="0">
                <a:solidFill>
                  <a:srgbClr val="FFFFFF">
                    <a:lumMod val="95000"/>
                  </a:srgbClr>
                </a:solidFill>
              </a:rPr>
              <a:t> extended slicing </a:t>
            </a:r>
            <a:r>
              <a:rPr lang="en-US" altLang="zh-TW" kern="0" dirty="0">
                <a:solidFill>
                  <a:srgbClr val="FFFFFF">
                    <a:lumMod val="95000"/>
                  </a:srgbClr>
                </a:solidFill>
              </a:rPr>
              <a:t>of</a:t>
            </a:r>
            <a:r>
              <a:rPr lang="zh-TW" altLang="zh-TW" kern="0" dirty="0">
                <a:solidFill>
                  <a:srgbClr val="FFFFFF">
                    <a:lumMod val="95000"/>
                  </a:srgbClr>
                </a:solidFill>
              </a:rPr>
              <a:t> user-defined container data types.</a:t>
            </a:r>
            <a:r>
              <a:rPr lang="en-US" altLang="zh-TW" kern="0" dirty="0">
                <a:solidFill>
                  <a:srgbClr val="FFFFFF">
                    <a:lumMod val="95000"/>
                  </a:srgbClr>
                </a:solidFill>
              </a:rPr>
              <a:t> It is the same as “…”.</a:t>
            </a:r>
            <a:endParaRPr lang="zh-TW" altLang="zh-TW" kern="0" dirty="0">
              <a:solidFill>
                <a:srgbClr val="FFFFFF">
                  <a:lumMod val="95000"/>
                </a:srgbClr>
              </a:solidFill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1363662" y="4433209"/>
            <a:ext cx="7086600" cy="1837757"/>
          </a:xfrm>
          <a:prstGeom prst="wedgeRoundRectCallout">
            <a:avLst>
              <a:gd name="adj1" fmla="val -21659"/>
              <a:gd name="adj2" fmla="val -9456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846552">
              <a:lnSpc>
                <a:spcPct val="110000"/>
              </a:lnSpc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</a:rPr>
              <a:t>When a value isn’t returned, that doesn’t mean that there is no returned value: the returned value is the constant “None”.</a:t>
            </a:r>
          </a:p>
        </p:txBody>
      </p:sp>
    </p:spTree>
    <p:extLst>
      <p:ext uri="{BB962C8B-B14F-4D97-AF65-F5344CB8AC3E}">
        <p14:creationId xmlns:p14="http://schemas.microsoft.com/office/powerpoint/2010/main" val="230941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altLang="zh-TW" sz="4400" kern="0" dirty="0">
                <a:latin typeface="Elephant" panose="02020904090505020303" pitchFamily="18" charset="0"/>
              </a:rPr>
              <a:t>Built-in constants</a:t>
            </a:r>
            <a:endParaRPr lang="en-US" sz="4400" kern="0" dirty="0"/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373063" y="715936"/>
            <a:ext cx="8991600" cy="614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2830" tIns="19044" rIns="91440" bIns="63480" numCol="1" anchor="ctr" anchorCtr="0" compatLnSpc="1">
            <a:prstTxWarp prst="textNoShape">
              <a:avLst/>
            </a:prstTxWarp>
            <a:noAutofit/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kern="0" dirty="0"/>
              <a:t>A small number of constants live in the built-in namespace:</a:t>
            </a:r>
            <a:endParaRPr lang="zh-TW" altLang="zh-TW" kern="0" dirty="0">
              <a:solidFill>
                <a:srgbClr val="000000"/>
              </a:solidFill>
            </a:endParaRP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False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The false value of the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 type</a:t>
            </a:r>
            <a:r>
              <a:rPr lang="zh-TW" altLang="zh-TW" kern="0" dirty="0"/>
              <a:t> </a:t>
            </a:r>
            <a:r>
              <a:rPr lang="zh-TW" altLang="zh-TW" kern="0" dirty="0">
                <a:solidFill>
                  <a:srgbClr val="6363BB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bool</a:t>
            </a:r>
            <a:r>
              <a:rPr lang="zh-TW" altLang="zh-TW" kern="0" dirty="0"/>
              <a:t>.</a:t>
            </a: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True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 </a:t>
            </a:r>
            <a:r>
              <a:rPr lang="en-US" altLang="zh-TW" sz="1200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The true value of the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 type</a:t>
            </a:r>
            <a:r>
              <a:rPr lang="zh-TW" altLang="zh-TW" kern="0" dirty="0"/>
              <a:t> </a:t>
            </a:r>
            <a:r>
              <a:rPr lang="zh-TW" altLang="zh-TW" kern="0" dirty="0">
                <a:solidFill>
                  <a:srgbClr val="6363BB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bool</a:t>
            </a:r>
            <a:r>
              <a:rPr lang="zh-TW" altLang="zh-TW" kern="0" dirty="0"/>
              <a:t>. </a:t>
            </a:r>
          </a:p>
          <a:p>
            <a:pPr marL="0" indent="0" defTabSz="914360">
              <a:spcBef>
                <a:spcPct val="0"/>
              </a:spcBef>
              <a:spcAft>
                <a:spcPts val="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None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</a:t>
            </a:r>
            <a:r>
              <a:rPr lang="en-US" altLang="zh-TW" sz="1100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The o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n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l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y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 value of the type</a:t>
            </a:r>
            <a:r>
              <a:rPr lang="zh-TW" altLang="zh-TW" kern="0" dirty="0"/>
              <a:t> </a:t>
            </a:r>
            <a:r>
              <a:rPr lang="zh-TW" altLang="zh-TW" kern="0" dirty="0">
                <a:solidFill>
                  <a:srgbClr val="6363BB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NoneType</a:t>
            </a:r>
            <a:r>
              <a:rPr lang="zh-TW" altLang="zh-TW" kern="0" dirty="0"/>
              <a:t>. </a:t>
            </a:r>
            <a:endParaRPr lang="en-US" altLang="zh-TW" kern="0" dirty="0"/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None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 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can be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 used to represent the absence of a value, as 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when no return value is given for a function.</a:t>
            </a: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dirty="0">
                <a:solidFill>
                  <a:srgbClr val="FF0000"/>
                </a:solidFill>
                <a:cs typeface="Courier New" panose="02070309020205020404" pitchFamily="49" charset="0"/>
              </a:rPr>
              <a:t>NotImplemented</a:t>
            </a:r>
            <a:r>
              <a:rPr lang="en-US" altLang="zh-TW" dirty="0">
                <a:cs typeface="Courier New" panose="02070309020205020404" pitchFamily="49" charset="0"/>
              </a:rPr>
              <a:t>  </a:t>
            </a:r>
            <a:r>
              <a:rPr lang="en-US" altLang="zh-TW" dirty="0"/>
              <a:t>A s</a:t>
            </a:r>
            <a:r>
              <a:rPr lang="zh-TW" altLang="zh-TW" dirty="0"/>
              <a:t>pecial value </a:t>
            </a:r>
            <a:r>
              <a:rPr lang="en-US" altLang="zh-TW" dirty="0"/>
              <a:t>that</a:t>
            </a:r>
            <a:r>
              <a:rPr lang="zh-TW" altLang="zh-TW" dirty="0"/>
              <a:t> should be returned </a:t>
            </a:r>
            <a:r>
              <a:rPr lang="zh-TW" altLang="zh-TW" spc="-20" dirty="0"/>
              <a:t>by binary special methods</a:t>
            </a:r>
            <a:r>
              <a:rPr lang="en-US" altLang="zh-TW" spc="-20" dirty="0"/>
              <a:t> </a:t>
            </a:r>
            <a:r>
              <a:rPr lang="zh-TW" altLang="zh-TW" spc="-20" dirty="0"/>
              <a:t>(e.g. </a:t>
            </a:r>
            <a:r>
              <a:rPr lang="zh-TW" altLang="zh-TW" sz="2400" spc="-20" dirty="0">
                <a:solidFill>
                  <a:srgbClr val="6363BB"/>
                </a:solidFill>
                <a:cs typeface="Courier New" panose="02070309020205020404" pitchFamily="49" charset="0"/>
              </a:rPr>
              <a:t>__</a:t>
            </a:r>
            <a:r>
              <a:rPr lang="zh-TW" altLang="zh-TW" spc="-20" dirty="0">
                <a:solidFill>
                  <a:srgbClr val="6363BB"/>
                </a:solidFill>
                <a:cs typeface="Courier New" panose="02070309020205020404" pitchFamily="49" charset="0"/>
              </a:rPr>
              <a:t>eq</a:t>
            </a:r>
            <a:r>
              <a:rPr lang="zh-TW" altLang="zh-TW" sz="2400" spc="-20" dirty="0">
                <a:solidFill>
                  <a:srgbClr val="6363BB"/>
                </a:solidFill>
                <a:cs typeface="Courier New" panose="02070309020205020404" pitchFamily="49" charset="0"/>
              </a:rPr>
              <a:t>__</a:t>
            </a:r>
            <a:r>
              <a:rPr lang="zh-TW" altLang="zh-TW" spc="-20" dirty="0">
                <a:solidFill>
                  <a:srgbClr val="6363BB"/>
                </a:solidFill>
                <a:cs typeface="Courier New" panose="02070309020205020404" pitchFamily="49" charset="0"/>
              </a:rPr>
              <a:t>()</a:t>
            </a:r>
            <a:r>
              <a:rPr lang="zh-TW" altLang="zh-TW" spc="-20" dirty="0"/>
              <a:t>, </a:t>
            </a:r>
            <a:r>
              <a:rPr lang="zh-TW" altLang="zh-TW" sz="2400" spc="-20" dirty="0">
                <a:solidFill>
                  <a:srgbClr val="6363BB"/>
                </a:solidFill>
                <a:cs typeface="Courier New" panose="02070309020205020404" pitchFamily="49" charset="0"/>
              </a:rPr>
              <a:t>__</a:t>
            </a:r>
            <a:r>
              <a:rPr lang="zh-TW" altLang="zh-TW" spc="-20" dirty="0">
                <a:solidFill>
                  <a:srgbClr val="6363BB"/>
                </a:solidFill>
                <a:cs typeface="Courier New" panose="02070309020205020404" pitchFamily="49" charset="0"/>
              </a:rPr>
              <a:t>lt</a:t>
            </a:r>
            <a:r>
              <a:rPr lang="zh-TW" altLang="zh-TW" sz="2400" spc="-20" dirty="0">
                <a:solidFill>
                  <a:srgbClr val="6363BB"/>
                </a:solidFill>
                <a:cs typeface="Courier New" panose="02070309020205020404" pitchFamily="49" charset="0"/>
              </a:rPr>
              <a:t>__</a:t>
            </a:r>
            <a:r>
              <a:rPr lang="zh-TW" altLang="zh-TW" spc="-20" dirty="0">
                <a:solidFill>
                  <a:srgbClr val="6363BB"/>
                </a:solidFill>
                <a:cs typeface="Courier New" panose="02070309020205020404" pitchFamily="49" charset="0"/>
              </a:rPr>
              <a:t>()</a:t>
            </a:r>
            <a:r>
              <a:rPr lang="zh-TW" altLang="zh-TW" spc="-20" dirty="0"/>
              <a:t>, </a:t>
            </a:r>
            <a:r>
              <a:rPr lang="zh-TW" altLang="zh-TW" sz="2400" spc="-20" dirty="0">
                <a:solidFill>
                  <a:srgbClr val="6363BB"/>
                </a:solidFill>
                <a:cs typeface="Courier New" panose="02070309020205020404" pitchFamily="49" charset="0"/>
              </a:rPr>
              <a:t>__</a:t>
            </a:r>
            <a:r>
              <a:rPr lang="zh-TW" altLang="zh-TW" spc="-20" dirty="0">
                <a:solidFill>
                  <a:srgbClr val="6363BB"/>
                </a:solidFill>
                <a:cs typeface="Courier New" panose="02070309020205020404" pitchFamily="49" charset="0"/>
              </a:rPr>
              <a:t>add</a:t>
            </a:r>
            <a:r>
              <a:rPr lang="zh-TW" altLang="zh-TW" sz="2400" spc="-20" dirty="0">
                <a:solidFill>
                  <a:srgbClr val="6363BB"/>
                </a:solidFill>
                <a:cs typeface="Courier New" panose="02070309020205020404" pitchFamily="49" charset="0"/>
              </a:rPr>
              <a:t>__</a:t>
            </a:r>
            <a:r>
              <a:rPr lang="zh-TW" altLang="zh-TW" spc="-20" dirty="0">
                <a:solidFill>
                  <a:srgbClr val="6363BB"/>
                </a:solidFill>
                <a:cs typeface="Courier New" panose="02070309020205020404" pitchFamily="49" charset="0"/>
              </a:rPr>
              <a:t>()</a:t>
            </a:r>
            <a:r>
              <a:rPr lang="zh-TW" altLang="zh-TW" spc="-20" dirty="0"/>
              <a:t>, etc.)</a:t>
            </a:r>
            <a:r>
              <a:rPr lang="zh-TW" altLang="zh-TW" dirty="0"/>
              <a:t> to indicate that the operation is not implemented with respect to the other type; </a:t>
            </a:r>
            <a:r>
              <a:rPr lang="en-US" altLang="zh-TW" dirty="0"/>
              <a:t>and it </a:t>
            </a:r>
            <a:r>
              <a:rPr lang="zh-TW" altLang="zh-TW" dirty="0"/>
              <a:t>may be returned by in-place binary special methods (e.g. </a:t>
            </a:r>
            <a:r>
              <a:rPr lang="zh-TW" altLang="zh-TW" dirty="0">
                <a:solidFill>
                  <a:srgbClr val="6363BB"/>
                </a:solidFill>
                <a:cs typeface="Courier New" panose="02070309020205020404" pitchFamily="49" charset="0"/>
              </a:rPr>
              <a:t>__imul__()</a:t>
            </a:r>
            <a:r>
              <a:rPr lang="zh-TW" altLang="zh-TW" dirty="0"/>
              <a:t>, </a:t>
            </a:r>
            <a:r>
              <a:rPr lang="zh-TW" altLang="zh-TW" dirty="0">
                <a:solidFill>
                  <a:srgbClr val="6363BB"/>
                </a:solidFill>
                <a:cs typeface="Courier New" panose="02070309020205020404" pitchFamily="49" charset="0"/>
              </a:rPr>
              <a:t>__iand__()</a:t>
            </a:r>
            <a:r>
              <a:rPr lang="zh-TW" altLang="zh-TW" dirty="0"/>
              <a:t>, etc.).</a:t>
            </a:r>
            <a:endParaRPr lang="zh-TW" altLang="zh-TW" kern="0" dirty="0">
              <a:solidFill>
                <a:srgbClr val="FFFFFF">
                  <a:lumMod val="95000"/>
                </a:srgbClr>
              </a:solidFill>
            </a:endParaRP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Ellipsis</a:t>
            </a:r>
            <a:r>
              <a:rPr lang="en-US" altLang="zh-TW" kern="0" dirty="0">
                <a:solidFill>
                  <a:srgbClr val="FFFFFF">
                    <a:lumMod val="95000"/>
                  </a:srgbClr>
                </a:solidFill>
                <a:cs typeface="Courier New" panose="02070309020205020404" pitchFamily="49" charset="0"/>
              </a:rPr>
              <a:t> </a:t>
            </a:r>
            <a:r>
              <a:rPr lang="en-US" altLang="zh-TW" kern="0" dirty="0">
                <a:solidFill>
                  <a:srgbClr val="FFFFFF">
                    <a:lumMod val="95000"/>
                  </a:srgbClr>
                </a:solidFill>
              </a:rPr>
              <a:t>A s</a:t>
            </a:r>
            <a:r>
              <a:rPr lang="zh-TW" altLang="zh-TW" kern="0" dirty="0">
                <a:solidFill>
                  <a:srgbClr val="FFFFFF">
                    <a:lumMod val="95000"/>
                  </a:srgbClr>
                </a:solidFill>
              </a:rPr>
              <a:t>pecial value used mostly </a:t>
            </a:r>
            <a:r>
              <a:rPr lang="en-US" altLang="zh-TW" kern="0" dirty="0">
                <a:solidFill>
                  <a:srgbClr val="FFFFFF">
                    <a:lumMod val="95000"/>
                  </a:srgbClr>
                </a:solidFill>
              </a:rPr>
              <a:t>for</a:t>
            </a:r>
            <a:r>
              <a:rPr lang="zh-TW" altLang="zh-TW" kern="0" dirty="0">
                <a:solidFill>
                  <a:srgbClr val="FFFFFF">
                    <a:lumMod val="95000"/>
                  </a:srgbClr>
                </a:solidFill>
              </a:rPr>
              <a:t> extended slicing </a:t>
            </a:r>
            <a:r>
              <a:rPr lang="en-US" altLang="zh-TW" kern="0" dirty="0">
                <a:solidFill>
                  <a:srgbClr val="FFFFFF">
                    <a:lumMod val="95000"/>
                  </a:srgbClr>
                </a:solidFill>
              </a:rPr>
              <a:t>of</a:t>
            </a:r>
            <a:r>
              <a:rPr lang="zh-TW" altLang="zh-TW" kern="0" dirty="0">
                <a:solidFill>
                  <a:srgbClr val="FFFFFF">
                    <a:lumMod val="95000"/>
                  </a:srgbClr>
                </a:solidFill>
              </a:rPr>
              <a:t> user-defined container data types.</a:t>
            </a:r>
            <a:r>
              <a:rPr lang="en-US" altLang="zh-TW" kern="0" dirty="0">
                <a:solidFill>
                  <a:srgbClr val="FFFFFF">
                    <a:lumMod val="95000"/>
                  </a:srgbClr>
                </a:solidFill>
              </a:rPr>
              <a:t> It is the same as “…”.</a:t>
            </a:r>
            <a:endParaRPr lang="zh-TW" altLang="zh-TW" kern="0" dirty="0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4899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830262" y="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846552" eaLnBrk="1" hangingPunct="1"/>
            <a:r>
              <a:rPr lang="en-US" altLang="zh-TW" sz="4400" kern="0" dirty="0">
                <a:latin typeface="Elephant" panose="02020904090505020303" pitchFamily="18" charset="0"/>
              </a:rPr>
              <a:t>Built-in constants</a:t>
            </a:r>
            <a:endParaRPr lang="en-US" sz="4400" kern="0" dirty="0"/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373063" y="715936"/>
            <a:ext cx="8991600" cy="614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2830" tIns="19044" rIns="91440" bIns="63480" numCol="1" anchor="ctr" anchorCtr="0" compatLnSpc="1">
            <a:prstTxWarp prst="textNoShape">
              <a:avLst/>
            </a:prstTxWarp>
            <a:noAutofit/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kern="0" dirty="0"/>
              <a:t>A small number of constants live in the built-in namespace:</a:t>
            </a:r>
            <a:endParaRPr lang="zh-TW" altLang="zh-TW" kern="0" dirty="0">
              <a:solidFill>
                <a:srgbClr val="000000"/>
              </a:solidFill>
            </a:endParaRP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False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The false value of the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 type</a:t>
            </a:r>
            <a:r>
              <a:rPr lang="zh-TW" altLang="zh-TW" kern="0" dirty="0"/>
              <a:t> </a:t>
            </a:r>
            <a:r>
              <a:rPr lang="zh-TW" altLang="zh-TW" kern="0" dirty="0">
                <a:solidFill>
                  <a:srgbClr val="6363BB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bool</a:t>
            </a:r>
            <a:r>
              <a:rPr lang="zh-TW" altLang="zh-TW" kern="0" dirty="0"/>
              <a:t>.</a:t>
            </a: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True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 </a:t>
            </a:r>
            <a:r>
              <a:rPr lang="en-US" altLang="zh-TW" sz="1200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The true value of the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 type</a:t>
            </a:r>
            <a:r>
              <a:rPr lang="zh-TW" altLang="zh-TW" kern="0" dirty="0"/>
              <a:t> </a:t>
            </a:r>
            <a:r>
              <a:rPr lang="zh-TW" altLang="zh-TW" kern="0" dirty="0">
                <a:solidFill>
                  <a:srgbClr val="6363BB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bool</a:t>
            </a:r>
            <a:r>
              <a:rPr lang="zh-TW" altLang="zh-TW" kern="0" dirty="0"/>
              <a:t>. </a:t>
            </a:r>
          </a:p>
          <a:p>
            <a:pPr marL="0" indent="0" defTabSz="914360">
              <a:spcBef>
                <a:spcPct val="0"/>
              </a:spcBef>
              <a:spcAft>
                <a:spcPts val="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None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</a:t>
            </a:r>
            <a:r>
              <a:rPr lang="en-US" altLang="zh-TW" sz="1100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The o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n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l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y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 value of the type</a:t>
            </a:r>
            <a:r>
              <a:rPr lang="zh-TW" altLang="zh-TW" kern="0" dirty="0"/>
              <a:t> </a:t>
            </a:r>
            <a:r>
              <a:rPr lang="zh-TW" altLang="zh-TW" kern="0" dirty="0">
                <a:solidFill>
                  <a:srgbClr val="6363BB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NoneType</a:t>
            </a:r>
            <a:r>
              <a:rPr lang="zh-TW" altLang="zh-TW" kern="0" dirty="0"/>
              <a:t>. </a:t>
            </a:r>
            <a:endParaRPr lang="en-US" altLang="zh-TW" kern="0" dirty="0"/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None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 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can be</a:t>
            </a:r>
            <a:r>
              <a:rPr lang="zh-TW" altLang="zh-TW" kern="0" dirty="0">
                <a:solidFill>
                  <a:srgbClr val="FFFFFF">
                    <a:lumMod val="50000"/>
                  </a:srgbClr>
                </a:solidFill>
              </a:rPr>
              <a:t> used to represent the absence of a value, as </a:t>
            </a:r>
            <a:r>
              <a:rPr lang="en-US" altLang="zh-TW" kern="0" dirty="0">
                <a:solidFill>
                  <a:srgbClr val="FFFFFF">
                    <a:lumMod val="50000"/>
                  </a:srgbClr>
                </a:solidFill>
              </a:rPr>
              <a:t>when no return value is given for a function.</a:t>
            </a: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NotImplemented</a:t>
            </a:r>
            <a:r>
              <a:rPr lang="en-US" altLang="zh-TW" dirty="0">
                <a:solidFill>
                  <a:srgbClr val="FFFFFF">
                    <a:lumMod val="50000"/>
                  </a:srgbClr>
                </a:solidFill>
                <a:cs typeface="Courier New" panose="02070309020205020404" pitchFamily="49" charset="0"/>
              </a:rPr>
              <a:t>  </a:t>
            </a:r>
            <a:r>
              <a:rPr lang="en-US" altLang="zh-TW" dirty="0">
                <a:solidFill>
                  <a:srgbClr val="FFFFFF">
                    <a:lumMod val="50000"/>
                  </a:srgbClr>
                </a:solidFill>
              </a:rPr>
              <a:t>A s</a:t>
            </a:r>
            <a:r>
              <a:rPr lang="zh-TW" altLang="zh-TW" dirty="0">
                <a:solidFill>
                  <a:srgbClr val="FFFFFF">
                    <a:lumMod val="50000"/>
                  </a:srgbClr>
                </a:solidFill>
              </a:rPr>
              <a:t>pecial value </a:t>
            </a:r>
            <a:r>
              <a:rPr lang="en-US" altLang="zh-TW" dirty="0">
                <a:solidFill>
                  <a:srgbClr val="FFFFFF">
                    <a:lumMod val="50000"/>
                  </a:srgbClr>
                </a:solidFill>
              </a:rPr>
              <a:t>that</a:t>
            </a:r>
            <a:r>
              <a:rPr lang="zh-TW" altLang="zh-TW" dirty="0">
                <a:solidFill>
                  <a:srgbClr val="FFFFFF">
                    <a:lumMod val="50000"/>
                  </a:srgbClr>
                </a:solidFill>
              </a:rPr>
              <a:t> should be returned </a:t>
            </a:r>
            <a:r>
              <a:rPr lang="zh-TW" altLang="zh-TW" spc="-20" dirty="0">
                <a:solidFill>
                  <a:srgbClr val="FFFFFF">
                    <a:lumMod val="50000"/>
                  </a:srgbClr>
                </a:solidFill>
              </a:rPr>
              <a:t>by binary special methods</a:t>
            </a:r>
            <a:r>
              <a:rPr lang="en-US" altLang="zh-TW" spc="-20" dirty="0">
                <a:solidFill>
                  <a:srgbClr val="FFFFFF">
                    <a:lumMod val="50000"/>
                  </a:srgbClr>
                </a:solidFill>
              </a:rPr>
              <a:t> </a:t>
            </a:r>
            <a:r>
              <a:rPr lang="zh-TW" altLang="zh-TW" spc="-20" dirty="0">
                <a:solidFill>
                  <a:srgbClr val="FFFFFF">
                    <a:lumMod val="50000"/>
                  </a:srgbClr>
                </a:solidFill>
              </a:rPr>
              <a:t>(e.g. </a:t>
            </a:r>
            <a:r>
              <a:rPr lang="zh-TW" altLang="zh-TW" sz="2400" spc="-20" dirty="0">
                <a:solidFill>
                  <a:srgbClr val="6363BB"/>
                </a:solidFill>
                <a:cs typeface="Courier New" panose="02070309020205020404" pitchFamily="49" charset="0"/>
              </a:rPr>
              <a:t>__</a:t>
            </a:r>
            <a:r>
              <a:rPr lang="zh-TW" altLang="zh-TW" spc="-20" dirty="0">
                <a:solidFill>
                  <a:srgbClr val="6363BB"/>
                </a:solidFill>
                <a:cs typeface="Courier New" panose="02070309020205020404" pitchFamily="49" charset="0"/>
              </a:rPr>
              <a:t>eq</a:t>
            </a:r>
            <a:r>
              <a:rPr lang="zh-TW" altLang="zh-TW" sz="2400" spc="-20" dirty="0">
                <a:solidFill>
                  <a:srgbClr val="6363BB"/>
                </a:solidFill>
                <a:cs typeface="Courier New" panose="02070309020205020404" pitchFamily="49" charset="0"/>
              </a:rPr>
              <a:t>__</a:t>
            </a:r>
            <a:r>
              <a:rPr lang="zh-TW" altLang="zh-TW" spc="-20" dirty="0">
                <a:solidFill>
                  <a:srgbClr val="6363BB"/>
                </a:solidFill>
                <a:cs typeface="Courier New" panose="02070309020205020404" pitchFamily="49" charset="0"/>
              </a:rPr>
              <a:t>()</a:t>
            </a:r>
            <a:r>
              <a:rPr lang="zh-TW" altLang="zh-TW" spc="-20" dirty="0">
                <a:solidFill>
                  <a:srgbClr val="FFFFFF">
                    <a:lumMod val="50000"/>
                  </a:srgbClr>
                </a:solidFill>
              </a:rPr>
              <a:t>, </a:t>
            </a:r>
            <a:r>
              <a:rPr lang="zh-TW" altLang="zh-TW" sz="2400" spc="-20" dirty="0">
                <a:solidFill>
                  <a:srgbClr val="6363BB"/>
                </a:solidFill>
                <a:cs typeface="Courier New" panose="02070309020205020404" pitchFamily="49" charset="0"/>
              </a:rPr>
              <a:t>__</a:t>
            </a:r>
            <a:r>
              <a:rPr lang="zh-TW" altLang="zh-TW" spc="-20" dirty="0">
                <a:solidFill>
                  <a:srgbClr val="6363BB"/>
                </a:solidFill>
                <a:cs typeface="Courier New" panose="02070309020205020404" pitchFamily="49" charset="0"/>
              </a:rPr>
              <a:t>lt</a:t>
            </a:r>
            <a:r>
              <a:rPr lang="zh-TW" altLang="zh-TW" sz="2400" spc="-20" dirty="0">
                <a:solidFill>
                  <a:srgbClr val="6363BB"/>
                </a:solidFill>
                <a:cs typeface="Courier New" panose="02070309020205020404" pitchFamily="49" charset="0"/>
              </a:rPr>
              <a:t>__</a:t>
            </a:r>
            <a:r>
              <a:rPr lang="zh-TW" altLang="zh-TW" spc="-20" dirty="0">
                <a:solidFill>
                  <a:srgbClr val="6363BB"/>
                </a:solidFill>
                <a:cs typeface="Courier New" panose="02070309020205020404" pitchFamily="49" charset="0"/>
              </a:rPr>
              <a:t>()</a:t>
            </a:r>
            <a:r>
              <a:rPr lang="zh-TW" altLang="zh-TW" spc="-20" dirty="0">
                <a:solidFill>
                  <a:srgbClr val="FFFFFF">
                    <a:lumMod val="50000"/>
                  </a:srgbClr>
                </a:solidFill>
              </a:rPr>
              <a:t>, </a:t>
            </a:r>
            <a:r>
              <a:rPr lang="zh-TW" altLang="zh-TW" sz="2400" spc="-20" dirty="0">
                <a:solidFill>
                  <a:srgbClr val="6363BB"/>
                </a:solidFill>
                <a:cs typeface="Courier New" panose="02070309020205020404" pitchFamily="49" charset="0"/>
              </a:rPr>
              <a:t>__</a:t>
            </a:r>
            <a:r>
              <a:rPr lang="zh-TW" altLang="zh-TW" spc="-20" dirty="0">
                <a:solidFill>
                  <a:srgbClr val="6363BB"/>
                </a:solidFill>
                <a:cs typeface="Courier New" panose="02070309020205020404" pitchFamily="49" charset="0"/>
              </a:rPr>
              <a:t>add</a:t>
            </a:r>
            <a:r>
              <a:rPr lang="zh-TW" altLang="zh-TW" sz="2400" spc="-20" dirty="0">
                <a:solidFill>
                  <a:srgbClr val="6363BB"/>
                </a:solidFill>
                <a:cs typeface="Courier New" panose="02070309020205020404" pitchFamily="49" charset="0"/>
              </a:rPr>
              <a:t>__</a:t>
            </a:r>
            <a:r>
              <a:rPr lang="zh-TW" altLang="zh-TW" spc="-20" dirty="0">
                <a:solidFill>
                  <a:srgbClr val="6363BB"/>
                </a:solidFill>
                <a:cs typeface="Courier New" panose="02070309020205020404" pitchFamily="49" charset="0"/>
              </a:rPr>
              <a:t>()</a:t>
            </a:r>
            <a:r>
              <a:rPr lang="zh-TW" altLang="zh-TW" spc="-20" dirty="0">
                <a:solidFill>
                  <a:srgbClr val="FFFFFF">
                    <a:lumMod val="50000"/>
                  </a:srgbClr>
                </a:solidFill>
              </a:rPr>
              <a:t>, etc.)</a:t>
            </a:r>
            <a:r>
              <a:rPr lang="zh-TW" altLang="zh-TW" dirty="0">
                <a:solidFill>
                  <a:srgbClr val="FFFFFF">
                    <a:lumMod val="50000"/>
                  </a:srgbClr>
                </a:solidFill>
              </a:rPr>
              <a:t> to indicate that the operation is not implemented with respect to the other type; </a:t>
            </a:r>
            <a:r>
              <a:rPr lang="en-US" altLang="zh-TW" dirty="0">
                <a:solidFill>
                  <a:srgbClr val="FFFFFF">
                    <a:lumMod val="50000"/>
                  </a:srgbClr>
                </a:solidFill>
              </a:rPr>
              <a:t>and it </a:t>
            </a:r>
            <a:r>
              <a:rPr lang="zh-TW" altLang="zh-TW" dirty="0">
                <a:solidFill>
                  <a:srgbClr val="FFFFFF">
                    <a:lumMod val="50000"/>
                  </a:srgbClr>
                </a:solidFill>
              </a:rPr>
              <a:t>may be returned by in-place binary special methods (e.g. </a:t>
            </a:r>
            <a:r>
              <a:rPr lang="zh-TW" altLang="zh-TW" dirty="0">
                <a:solidFill>
                  <a:srgbClr val="6363BB"/>
                </a:solidFill>
                <a:cs typeface="Courier New" panose="02070309020205020404" pitchFamily="49" charset="0"/>
              </a:rPr>
              <a:t>__imul__()</a:t>
            </a:r>
            <a:r>
              <a:rPr lang="zh-TW" altLang="zh-TW" dirty="0">
                <a:solidFill>
                  <a:srgbClr val="FFFFFF">
                    <a:lumMod val="50000"/>
                  </a:srgbClr>
                </a:solidFill>
              </a:rPr>
              <a:t>, </a:t>
            </a:r>
            <a:r>
              <a:rPr lang="zh-TW" altLang="zh-TW" dirty="0">
                <a:solidFill>
                  <a:srgbClr val="6363BB"/>
                </a:solidFill>
                <a:cs typeface="Courier New" panose="02070309020205020404" pitchFamily="49" charset="0"/>
              </a:rPr>
              <a:t>__iand__()</a:t>
            </a:r>
            <a:r>
              <a:rPr lang="zh-TW" altLang="zh-TW" dirty="0">
                <a:solidFill>
                  <a:srgbClr val="FFFFFF">
                    <a:lumMod val="50000"/>
                  </a:srgbClr>
                </a:solidFill>
              </a:rPr>
              <a:t>, etc.).</a:t>
            </a:r>
            <a:endParaRPr lang="zh-TW" altLang="zh-TW" kern="0" dirty="0">
              <a:solidFill>
                <a:srgbClr val="FFFFFF">
                  <a:lumMod val="50000"/>
                </a:srgbClr>
              </a:solidFill>
            </a:endParaRPr>
          </a:p>
          <a:p>
            <a:pPr marL="0" indent="0" defTabSz="914360"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None/>
            </a:pPr>
            <a:r>
              <a:rPr lang="zh-TW" altLang="zh-TW" b="1" kern="0" dirty="0">
                <a:solidFill>
                  <a:srgbClr val="FF0000"/>
                </a:solidFill>
                <a:cs typeface="Courier New" panose="02070309020205020404" pitchFamily="49" charset="0"/>
              </a:rPr>
              <a:t>Ellipsis</a:t>
            </a:r>
            <a:r>
              <a:rPr lang="en-US" altLang="zh-TW" kern="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TW" kern="0" dirty="0">
                <a:solidFill>
                  <a:srgbClr val="000000"/>
                </a:solidFill>
              </a:rPr>
              <a:t>A s</a:t>
            </a:r>
            <a:r>
              <a:rPr lang="zh-TW" altLang="zh-TW" kern="0" dirty="0">
                <a:solidFill>
                  <a:srgbClr val="000000"/>
                </a:solidFill>
              </a:rPr>
              <a:t>pecial value used mostly </a:t>
            </a:r>
            <a:r>
              <a:rPr lang="en-US" altLang="zh-TW" kern="0" dirty="0">
                <a:solidFill>
                  <a:srgbClr val="000000"/>
                </a:solidFill>
              </a:rPr>
              <a:t>for</a:t>
            </a:r>
            <a:r>
              <a:rPr lang="zh-TW" altLang="zh-TW" kern="0" dirty="0">
                <a:solidFill>
                  <a:srgbClr val="000000"/>
                </a:solidFill>
              </a:rPr>
              <a:t> extended slicing </a:t>
            </a:r>
            <a:r>
              <a:rPr lang="en-US" altLang="zh-TW" kern="0" dirty="0">
                <a:solidFill>
                  <a:srgbClr val="000000"/>
                </a:solidFill>
              </a:rPr>
              <a:t>of</a:t>
            </a:r>
            <a:r>
              <a:rPr lang="zh-TW" altLang="zh-TW" kern="0" dirty="0">
                <a:solidFill>
                  <a:srgbClr val="000000"/>
                </a:solidFill>
              </a:rPr>
              <a:t> user-defined container data types.</a:t>
            </a:r>
            <a:r>
              <a:rPr lang="en-US" altLang="zh-TW" kern="0" dirty="0">
                <a:solidFill>
                  <a:srgbClr val="000000"/>
                </a:solidFill>
              </a:rPr>
              <a:t> It is the same as “</a:t>
            </a:r>
            <a:r>
              <a:rPr lang="en-US" altLang="zh-TW" b="1" kern="0" dirty="0">
                <a:solidFill>
                  <a:srgbClr val="2D2DB9"/>
                </a:solidFill>
              </a:rPr>
              <a:t>…</a:t>
            </a:r>
            <a:r>
              <a:rPr lang="en-US" altLang="zh-TW" kern="0" dirty="0">
                <a:solidFill>
                  <a:srgbClr val="000000"/>
                </a:solidFill>
              </a:rPr>
              <a:t>”.</a:t>
            </a:r>
            <a:endParaRPr lang="zh-TW" altLang="zh-TW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5837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9737725" cy="990600"/>
          </a:xfrm>
        </p:spPr>
        <p:txBody>
          <a:bodyPr/>
          <a:lstStyle/>
          <a:p>
            <a:r>
              <a:rPr lang="en-US" altLang="zh-TW" sz="4400" dirty="0">
                <a:latin typeface="Elephant" panose="02020904090505020303" pitchFamily="18" charset="0"/>
              </a:rPr>
              <a:t>A brief explanation of </a:t>
            </a:r>
            <a:r>
              <a:rPr lang="en-US" altLang="zh-TW" sz="40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ellipses</a:t>
            </a:r>
            <a:endParaRPr lang="zh-TW" altLang="en-US" sz="4000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73063" y="960131"/>
            <a:ext cx="9287216" cy="60506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2830" tIns="19044" rIns="9144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sz="3148" dirty="0">
                <a:latin typeface="+mn-ea"/>
                <a:ea typeface="+mn-ea"/>
                <a:cs typeface="Courier New" panose="02070309020205020404" pitchFamily="49" charset="0"/>
              </a:rPr>
              <a:t>Ellipsis (or </a:t>
            </a:r>
            <a:r>
              <a:rPr lang="en-US" altLang="zh-TW" sz="3148" dirty="0">
                <a:solidFill>
                  <a:srgbClr val="FF0000"/>
                </a:solidFill>
                <a:latin typeface="+mn-ea"/>
                <a:ea typeface="+mn-ea"/>
                <a:cs typeface="Courier New" panose="02070309020205020404" pitchFamily="49" charset="0"/>
              </a:rPr>
              <a:t>…</a:t>
            </a:r>
            <a:r>
              <a:rPr lang="en-US" altLang="zh-TW" sz="3148" dirty="0">
                <a:latin typeface="+mn-ea"/>
                <a:ea typeface="+mn-ea"/>
                <a:cs typeface="Courier New" panose="02070309020205020404" pitchFamily="49" charset="0"/>
              </a:rPr>
              <a:t>) can appear in </a:t>
            </a:r>
            <a:r>
              <a:rPr lang="en-US" altLang="zh-TW" sz="3148" i="1" dirty="0">
                <a:latin typeface="+mn-ea"/>
                <a:ea typeface="+mn-ea"/>
                <a:cs typeface="Courier New" panose="02070309020205020404" pitchFamily="49" charset="0"/>
              </a:rPr>
              <a:t>some</a:t>
            </a:r>
            <a:r>
              <a:rPr lang="en-US" altLang="zh-TW" sz="3148" dirty="0">
                <a:latin typeface="+mn-ea"/>
                <a:ea typeface="+mn-ea"/>
                <a:cs typeface="Courier New" panose="02070309020205020404" pitchFamily="49" charset="0"/>
              </a:rPr>
              <a:t> slice notations. </a:t>
            </a: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sz="2963" dirty="0">
                <a:latin typeface="+mn-ea"/>
                <a:ea typeface="+mn-ea"/>
                <a:cs typeface="Courier New" panose="02070309020205020404" pitchFamily="49" charset="0"/>
              </a:rPr>
              <a:t>  </a:t>
            </a:r>
            <a:r>
              <a:rPr lang="en-US" altLang="zh-TW" sz="2963" dirty="0" err="1">
                <a:latin typeface="+mn-ea"/>
                <a:ea typeface="+mn-ea"/>
                <a:cs typeface="Courier New" panose="02070309020205020404" pitchFamily="49" charset="0"/>
              </a:rPr>
              <a:t>Eg</a:t>
            </a:r>
            <a:r>
              <a:rPr lang="en-US" altLang="zh-TW" sz="2963" dirty="0">
                <a:latin typeface="+mn-ea"/>
                <a:ea typeface="+mn-ea"/>
                <a:cs typeface="Courier New" panose="02070309020205020404" pitchFamily="49" charset="0"/>
              </a:rPr>
              <a:t>: </a:t>
            </a: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 &gt;&gt;&gt;</a:t>
            </a:r>
            <a:r>
              <a:rPr lang="en-US" altLang="zh-TW" dirty="0"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z=</a:t>
            </a:r>
            <a:r>
              <a:rPr lang="en-US" altLang="zh-TW" dirty="0" err="1"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myUnusualObject</a:t>
            </a:r>
            <a:r>
              <a:rPr lang="en-US" altLang="zh-TW" dirty="0"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[1:2,</a:t>
            </a:r>
            <a:r>
              <a:rPr lang="en-US" altLang="zh-TW" sz="2000" dirty="0"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lang="en-US" altLang="zh-TW" sz="2000" dirty="0"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TW" dirty="0"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0]</a:t>
            </a:r>
            <a:r>
              <a:rPr lang="en-US" altLang="zh-TW" dirty="0">
                <a:solidFill>
                  <a:srgbClr val="FF6969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#no</a:t>
            </a:r>
            <a:r>
              <a:rPr lang="en-US" altLang="zh-TW" sz="2000" dirty="0">
                <a:solidFill>
                  <a:srgbClr val="FF6969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TW" dirty="0">
                <a:solidFill>
                  <a:srgbClr val="FF6969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crash</a:t>
            </a: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&gt;&gt;&gt;</a:t>
            </a:r>
            <a:r>
              <a:rPr lang="en-US" altLang="zh-TW" dirty="0">
                <a:latin typeface="Lucida Console" panose="020B0609040504020204" pitchFamily="49" charset="0"/>
                <a:cs typeface="Courier New" panose="02070309020205020404" pitchFamily="49" charset="0"/>
              </a:rPr>
              <a:t> z=</a:t>
            </a:r>
            <a:r>
              <a:rPr lang="en-US" altLang="zh-TW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myUnusualObject</a:t>
            </a:r>
            <a:r>
              <a:rPr lang="en-US" altLang="zh-TW" dirty="0">
                <a:latin typeface="Lucida Console" panose="020B0609040504020204" pitchFamily="49" charset="0"/>
                <a:cs typeface="Courier New" panose="02070309020205020404" pitchFamily="49" charset="0"/>
              </a:rPr>
              <a:t>[1:2,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Ellipsis</a:t>
            </a:r>
            <a:r>
              <a:rPr lang="en-US" altLang="zh-TW" dirty="0">
                <a:latin typeface="Lucida Console" panose="020B0609040504020204" pitchFamily="49" charset="0"/>
                <a:cs typeface="Courier New" panose="02070309020205020404" pitchFamily="49" charset="0"/>
              </a:rPr>
              <a:t>,0]</a:t>
            </a:r>
            <a:r>
              <a:rPr lang="en-US" altLang="zh-TW" dirty="0">
                <a:solidFill>
                  <a:srgbClr val="FF696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#same</a:t>
            </a:r>
            <a:endParaRPr lang="en-US" altLang="zh-TW" dirty="0">
              <a:solidFill>
                <a:srgbClr val="FF6969"/>
              </a:solidFill>
              <a:latin typeface="Lucida Console" panose="020B0609040504020204" pitchFamily="49" charset="0"/>
              <a:ea typeface="+mn-ea"/>
              <a:cs typeface="Courier New" panose="02070309020205020404" pitchFamily="49" charset="0"/>
            </a:endParaRP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 &gt;&gt;&gt;</a:t>
            </a:r>
            <a:r>
              <a:rPr lang="en-US" altLang="zh-TW" dirty="0"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z=[1,2,3,4,5,6]; z[1:2, </a:t>
            </a:r>
            <a:r>
              <a:rPr lang="en-US" altLang="zh-TW" b="1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, 0]</a:t>
            </a:r>
            <a:r>
              <a:rPr lang="en-US" altLang="zh-TW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zh-TW" dirty="0">
                <a:solidFill>
                  <a:srgbClr val="FF696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#crash</a:t>
            </a:r>
            <a:endParaRPr lang="en-US" altLang="zh-TW" dirty="0">
              <a:solidFill>
                <a:srgbClr val="FF6969"/>
              </a:solidFill>
              <a:latin typeface="Lucida Console" panose="020B0609040504020204" pitchFamily="49" charset="0"/>
              <a:ea typeface="+mn-ea"/>
              <a:cs typeface="Courier New" panose="02070309020205020404" pitchFamily="49" charset="0"/>
            </a:endParaRP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dirty="0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lang="en-US" altLang="zh-TW" dirty="0" err="1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Traceback</a:t>
            </a:r>
            <a:r>
              <a:rPr lang="en-US" altLang="zh-TW" dirty="0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(most recent call last):</a:t>
            </a: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dirty="0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   File "&lt;</a:t>
            </a:r>
            <a:r>
              <a:rPr lang="en-US" altLang="zh-TW" dirty="0" err="1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stdin</a:t>
            </a:r>
            <a:r>
              <a:rPr lang="en-US" altLang="zh-TW" dirty="0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&gt;", line 1, in &lt;module&gt;</a:t>
            </a: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dirty="0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lang="en-US" altLang="zh-TW" dirty="0" err="1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TypeError</a:t>
            </a:r>
            <a:r>
              <a:rPr lang="en-US" altLang="zh-TW" dirty="0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: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list indices must be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integers</a:t>
            </a:r>
            <a:r>
              <a:rPr lang="en-US" altLang="zh-TW" sz="2000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or</a:t>
            </a:r>
            <a:b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</a:b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  slices</a:t>
            </a:r>
            <a:r>
              <a:rPr lang="en-US" altLang="zh-TW" dirty="0">
                <a:solidFill>
                  <a:srgbClr val="FFABAB"/>
                </a:solidFill>
                <a:latin typeface="Lucida Console" panose="020B0609040504020204" pitchFamily="49" charset="0"/>
                <a:ea typeface="+mn-ea"/>
                <a:cs typeface="Courier New" panose="02070309020205020404" pitchFamily="49" charset="0"/>
              </a:rPr>
              <a:t>, not tuple</a:t>
            </a: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&gt;&gt;&gt;</a:t>
            </a:r>
          </a:p>
          <a:p>
            <a:pPr marL="0" indent="0" defTabSz="914360">
              <a:spcBef>
                <a:spcPct val="0"/>
              </a:spcBef>
              <a:buClrTx/>
              <a:buNone/>
            </a:pPr>
            <a:endParaRPr lang="en-US" altLang="zh-TW" dirty="0">
              <a:latin typeface="Lucida Console" panose="020B0609040504020204" pitchFamily="49" charset="0"/>
              <a:ea typeface="+mn-ea"/>
              <a:cs typeface="Courier New" panose="02070309020205020404" pitchFamily="49" charset="0"/>
            </a:endParaRP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sz="3333" dirty="0">
                <a:solidFill>
                  <a:srgbClr val="00B050"/>
                </a:solidFill>
                <a:latin typeface="+mn-ea"/>
                <a:ea typeface="+mn-ea"/>
                <a:cs typeface="Courier New" panose="02070309020205020404" pitchFamily="49" charset="0"/>
              </a:rPr>
              <a:t>But what does "…" mean?</a:t>
            </a:r>
          </a:p>
          <a:p>
            <a:pPr marL="0" indent="0" defTabSz="914360">
              <a:spcBef>
                <a:spcPct val="0"/>
              </a:spcBef>
              <a:buClrTx/>
              <a:buNone/>
            </a:pPr>
            <a:r>
              <a:rPr lang="en-US" altLang="zh-TW" sz="3333" dirty="0">
                <a:solidFill>
                  <a:srgbClr val="00B050"/>
                </a:solidFill>
                <a:latin typeface="+mn-ea"/>
                <a:ea typeface="+mn-ea"/>
                <a:cs typeface="Courier New" panose="02070309020205020404" pitchFamily="49" charset="0"/>
              </a:rPr>
              <a:t>How is </a:t>
            </a:r>
            <a:r>
              <a:rPr lang="en-US" altLang="zh-TW" sz="3333" dirty="0" err="1">
                <a:solidFill>
                  <a:srgbClr val="00B050"/>
                </a:solidFill>
                <a:latin typeface="+mn-ea"/>
                <a:ea typeface="+mn-ea"/>
                <a:cs typeface="Courier New" panose="02070309020205020404" pitchFamily="49" charset="0"/>
              </a:rPr>
              <a:t>myUnusualObject</a:t>
            </a:r>
            <a:r>
              <a:rPr lang="en-US" altLang="zh-TW" sz="3333" dirty="0">
                <a:solidFill>
                  <a:srgbClr val="00B050"/>
                </a:solidFill>
                <a:latin typeface="+mn-ea"/>
                <a:ea typeface="+mn-ea"/>
                <a:cs typeface="Courier New" panose="02070309020205020404" pitchFamily="49" charset="0"/>
              </a:rPr>
              <a:t> different than a list?</a:t>
            </a:r>
          </a:p>
          <a:p>
            <a:pPr marL="0" indent="0" defTabSz="914360">
              <a:spcBef>
                <a:spcPct val="0"/>
              </a:spcBef>
              <a:buClrTx/>
              <a:buNone/>
            </a:pPr>
            <a:endParaRPr lang="zh-TW" altLang="zh-TW" dirty="0">
              <a:latin typeface="+mn-ea"/>
              <a:ea typeface="+mn-ea"/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 bwMode="auto">
          <a:xfrm>
            <a:off x="372892" y="1912357"/>
            <a:ext cx="1885949" cy="128365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42830" tIns="19044" rIns="91440" bIns="63480" numCol="1" anchor="ctr" anchorCtr="0" compatLnSpc="1">
            <a:prstTxWarp prst="textNoShape">
              <a:avLst/>
            </a:prstTxWarp>
            <a:spAutoFit/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360"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&gt;&gt;&gt;</a:t>
            </a:r>
            <a:endParaRPr lang="en-US" altLang="zh-TW" kern="0" dirty="0">
              <a:solidFill>
                <a:srgbClr val="FF6969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&gt;&gt;&gt;</a:t>
            </a:r>
            <a:endParaRPr lang="en-US" altLang="zh-TW" kern="0" dirty="0">
              <a:solidFill>
                <a:srgbClr val="FF6969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&gt;&gt;&gt;</a:t>
            </a:r>
            <a:endParaRPr lang="zh-TW" altLang="zh-TW" kern="0" dirty="0"/>
          </a:p>
        </p:txBody>
      </p:sp>
    </p:spTree>
    <p:extLst>
      <p:ext uri="{BB962C8B-B14F-4D97-AF65-F5344CB8AC3E}">
        <p14:creationId xmlns:p14="http://schemas.microsoft.com/office/powerpoint/2010/main" val="61711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373062" y="-65573"/>
            <a:ext cx="9363716" cy="70245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2830" tIns="19044" rIns="91440" bIns="63480" numCol="1" anchor="ctr" anchorCtr="0" compatLnSpc="1">
            <a:prstTxWarp prst="textNoShape">
              <a:avLst/>
            </a:prstTxWarp>
            <a:spAutoFit/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360">
              <a:lnSpc>
                <a:spcPct val="83000"/>
              </a:lnSpc>
              <a:spcBef>
                <a:spcPct val="0"/>
              </a:spcBef>
              <a:spcAft>
                <a:spcPts val="555"/>
              </a:spcAft>
              <a:buClrTx/>
              <a:buFont typeface="Wingdings" pitchFamily="2" charset="2"/>
              <a:buNone/>
            </a:pP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“…” is int</a:t>
            </a:r>
            <a:r>
              <a:rPr lang="en-US" altLang="zh-TW" sz="2963" b="1" kern="0" spc="-30" dirty="0">
                <a:solidFill>
                  <a:srgbClr val="2D2DB9"/>
                </a:solidFill>
                <a:cs typeface="Courier New" panose="02070309020205020404" pitchFamily="49" charset="0"/>
              </a:rPr>
              <a:t>ende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d f</a:t>
            </a:r>
            <a:r>
              <a:rPr lang="en-US" altLang="zh-TW" sz="2963" b="1" kern="0" spc="-30" dirty="0">
                <a:solidFill>
                  <a:srgbClr val="2D2DB9"/>
                </a:solidFill>
                <a:cs typeface="Courier New" panose="02070309020205020404" pitchFamily="49" charset="0"/>
              </a:rPr>
              <a:t>o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r use </a:t>
            </a:r>
            <a:r>
              <a:rPr lang="en-US" altLang="zh-TW" sz="2963" b="1" kern="0" spc="-30" dirty="0">
                <a:solidFill>
                  <a:srgbClr val="2D2DB9"/>
                </a:solidFill>
                <a:cs typeface="Courier New" panose="02070309020205020404" pitchFamily="49" charset="0"/>
              </a:rPr>
              <a:t>on m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atrix arr</a:t>
            </a:r>
            <a:r>
              <a:rPr lang="en-US" altLang="zh-TW" sz="2963" b="1" kern="0" spc="-30" dirty="0">
                <a:solidFill>
                  <a:srgbClr val="2D2DB9"/>
                </a:solidFill>
                <a:cs typeface="Courier New" panose="02070309020205020404" pitchFamily="49" charset="0"/>
              </a:rPr>
              <a:t>ay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s i</a:t>
            </a:r>
            <a:r>
              <a:rPr lang="en-US" altLang="zh-TW" sz="2963" b="1" kern="0" spc="-20" dirty="0">
                <a:solidFill>
                  <a:srgbClr val="2D2DB9"/>
                </a:solidFill>
                <a:cs typeface="Courier New" panose="02070309020205020404" pitchFamily="49" charset="0"/>
              </a:rPr>
              <a:t>mpo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rted fr</a:t>
            </a:r>
            <a:r>
              <a:rPr lang="en-US" altLang="zh-TW" sz="2963" b="1" kern="0" spc="-40" dirty="0">
                <a:solidFill>
                  <a:srgbClr val="2D2DB9"/>
                </a:solidFill>
                <a:cs typeface="Courier New" panose="02070309020205020404" pitchFamily="49" charset="0"/>
              </a:rPr>
              <a:t>om</a:t>
            </a:r>
            <a:r>
              <a:rPr lang="en-US" altLang="zh-TW" sz="2592" b="1" kern="0" spc="-40" dirty="0">
                <a:solidFill>
                  <a:srgbClr val="2D2DB9"/>
                </a:solidFill>
                <a:cs typeface="Courier New" panose="02070309020205020404" pitchFamily="49" charset="0"/>
              </a:rPr>
              <a:t> </a:t>
            </a:r>
            <a:r>
              <a:rPr lang="en-US" altLang="zh-TW" sz="2963" b="1" kern="0" spc="-40" dirty="0" err="1">
                <a:solidFill>
                  <a:srgbClr val="2D2DB9"/>
                </a:solidFill>
                <a:cs typeface="Courier New" panose="02070309020205020404" pitchFamily="49" charset="0"/>
              </a:rPr>
              <a:t>nump</a:t>
            </a:r>
            <a:r>
              <a:rPr lang="en-US" altLang="zh-TW" sz="2963" b="1" kern="0" spc="-370" dirty="0" err="1">
                <a:solidFill>
                  <a:srgbClr val="2D2DB9"/>
                </a:solidFill>
                <a:cs typeface="Courier New" panose="02070309020205020404" pitchFamily="49" charset="0"/>
              </a:rPr>
              <a:t>y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,</a:t>
            </a:r>
            <a:r>
              <a:rPr lang="en-US" altLang="zh-TW" sz="2000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 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to</a:t>
            </a:r>
            <a:r>
              <a:rPr lang="en-US" altLang="zh-TW" sz="1852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 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al</a:t>
            </a:r>
            <a:r>
              <a:rPr lang="en-US" altLang="zh-TW" sz="2963" b="1" kern="0" spc="-40" dirty="0">
                <a:solidFill>
                  <a:srgbClr val="2D2DB9"/>
                </a:solidFill>
                <a:cs typeface="Courier New" panose="02070309020205020404" pitchFamily="49" charset="0"/>
              </a:rPr>
              <a:t>l</a:t>
            </a:r>
            <a:r>
              <a:rPr lang="en-US" altLang="zh-TW" sz="2963" b="1" kern="0" spc="-100" dirty="0">
                <a:solidFill>
                  <a:srgbClr val="2D2DB9"/>
                </a:solidFill>
                <a:cs typeface="Courier New" panose="02070309020205020404" pitchFamily="49" charset="0"/>
              </a:rPr>
              <a:t>o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w</a:t>
            </a:r>
            <a:r>
              <a:rPr lang="en-US" altLang="zh-TW" sz="2222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 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slici</a:t>
            </a:r>
            <a:r>
              <a:rPr lang="en-US" altLang="zh-TW" sz="2963" b="1" kern="0" spc="-40" dirty="0">
                <a:solidFill>
                  <a:srgbClr val="2D2DB9"/>
                </a:solidFill>
                <a:cs typeface="Courier New" panose="02070309020205020404" pitchFamily="49" charset="0"/>
              </a:rPr>
              <a:t>n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g</a:t>
            </a:r>
            <a:r>
              <a:rPr lang="en-US" altLang="zh-TW" sz="2400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 </a:t>
            </a:r>
            <a:r>
              <a:rPr lang="en-US" altLang="zh-TW" sz="2963" b="1" kern="0" spc="-20" dirty="0">
                <a:solidFill>
                  <a:srgbClr val="2D2DB9"/>
                </a:solidFill>
                <a:cs typeface="Courier New" panose="02070309020205020404" pitchFamily="49" charset="0"/>
              </a:rPr>
              <a:t>in</a:t>
            </a:r>
            <a:r>
              <a:rPr lang="en-US" altLang="zh-TW" sz="2400" b="1" kern="0" spc="-20" dirty="0">
                <a:solidFill>
                  <a:srgbClr val="2D2DB9"/>
                </a:solidFill>
                <a:cs typeface="Courier New" panose="02070309020205020404" pitchFamily="49" charset="0"/>
              </a:rPr>
              <a:t> </a:t>
            </a:r>
            <a:r>
              <a:rPr lang="en-US" altLang="zh-TW" sz="2963" b="1" kern="0" spc="-50" dirty="0">
                <a:solidFill>
                  <a:srgbClr val="2D2DB9"/>
                </a:solidFill>
                <a:cs typeface="Courier New" panose="02070309020205020404" pitchFamily="49" charset="0"/>
              </a:rPr>
              <a:t>mu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lt</a:t>
            </a:r>
            <a:r>
              <a:rPr lang="en-US" altLang="zh-TW" sz="2963" b="1" kern="0" spc="-40" dirty="0">
                <a:solidFill>
                  <a:srgbClr val="2D2DB9"/>
                </a:solidFill>
                <a:cs typeface="Courier New" panose="02070309020205020404" pitchFamily="49" charset="0"/>
              </a:rPr>
              <a:t>i</a:t>
            </a:r>
            <a:r>
              <a:rPr lang="en-US" altLang="zh-TW" sz="2963" b="1" kern="0" spc="-60" dirty="0">
                <a:solidFill>
                  <a:srgbClr val="2D2DB9"/>
                </a:solidFill>
                <a:cs typeface="Courier New" panose="02070309020205020404" pitchFamily="49" charset="0"/>
              </a:rPr>
              <a:t>pl</a:t>
            </a:r>
            <a:r>
              <a:rPr lang="en-US" altLang="zh-TW" sz="2963" b="1" kern="0" spc="-40" dirty="0">
                <a:solidFill>
                  <a:srgbClr val="2D2DB9"/>
                </a:solidFill>
                <a:cs typeface="Courier New" panose="02070309020205020404" pitchFamily="49" charset="0"/>
              </a:rPr>
              <a:t>e</a:t>
            </a:r>
            <a:r>
              <a:rPr lang="en-US" altLang="zh-TW" sz="2000" b="1" kern="0" spc="-40" dirty="0">
                <a:solidFill>
                  <a:srgbClr val="2D2DB9"/>
                </a:solidFill>
                <a:cs typeface="Courier New" panose="02070309020205020404" pitchFamily="49" charset="0"/>
              </a:rPr>
              <a:t> </a:t>
            </a:r>
            <a:r>
              <a:rPr lang="en-US" altLang="zh-TW" sz="2963" b="1" kern="0" spc="-40" dirty="0">
                <a:solidFill>
                  <a:srgbClr val="2D2DB9"/>
                </a:solidFill>
                <a:cs typeface="Courier New" panose="02070309020205020404" pitchFamily="49" charset="0"/>
              </a:rPr>
              <a:t>dimensi</a:t>
            </a:r>
            <a:r>
              <a:rPr lang="en-US" altLang="zh-TW" sz="2963" b="1" kern="0" spc="-80" dirty="0">
                <a:solidFill>
                  <a:srgbClr val="2D2DB9"/>
                </a:solidFill>
                <a:cs typeface="Courier New" panose="02070309020205020404" pitchFamily="49" charset="0"/>
              </a:rPr>
              <a:t>o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n</a:t>
            </a:r>
            <a:r>
              <a:rPr lang="en-US" altLang="zh-TW" sz="2963" b="1" kern="0" spc="-185" dirty="0">
                <a:solidFill>
                  <a:srgbClr val="2D2DB9"/>
                </a:solidFill>
                <a:cs typeface="Courier New" panose="02070309020205020404" pitchFamily="49" charset="0"/>
              </a:rPr>
              <a:t>s</a:t>
            </a:r>
            <a: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  <a:t>. 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from </a:t>
            </a:r>
            <a:r>
              <a:rPr lang="en-US" altLang="zh-TW" kern="0" dirty="0" err="1">
                <a:latin typeface="Lucida Console" panose="020B0609040504020204" pitchFamily="49" charset="0"/>
                <a:cs typeface="Courier New" panose="02070309020205020404" pitchFamily="49" charset="0"/>
              </a:rPr>
              <a:t>numpy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import array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a=array([[ 1,  2,  3,  4],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   [ 5,  6,  7,  8],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   [ 9, 10, 11, 12],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   [13, 14, 15, 16]])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a[:2,:2]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array([[1, 2],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[5, 6]])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a[:2,</a:t>
            </a:r>
            <a:r>
              <a:rPr lang="en-US" altLang="zh-TW" b="1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array([[1, 2, 3, 4],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[5, 6, 7, 8]])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a[:2,</a:t>
            </a:r>
            <a:r>
              <a:rPr lang="en-US" altLang="zh-TW" b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] 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 Here it'll work like </a:t>
            </a:r>
            <a:r>
              <a:rPr lang="en-US" altLang="zh-TW" b="1" u="sng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one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"</a:t>
            </a:r>
            <a:r>
              <a:rPr lang="en-US" altLang="zh-TW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array([[1, 2, 3, 4],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      [5, 6, 7, 8]])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sz="1018" kern="0" dirty="0"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cs typeface="Courier New" panose="02070309020205020404" pitchFamily="49" charset="0"/>
              </a:rPr>
              <a:t>But it isn't always </a:t>
            </a:r>
            <a:r>
              <a:rPr lang="en-US" altLang="zh-TW" u="sng" kern="0" dirty="0">
                <a:cs typeface="Courier New" panose="02070309020205020404" pitchFamily="49" charset="0"/>
              </a:rPr>
              <a:t>one</a:t>
            </a:r>
            <a:r>
              <a:rPr lang="en-US" altLang="zh-TW" kern="0" dirty="0">
                <a:cs typeface="Courier New" panose="02070309020205020404" pitchFamily="49" charset="0"/>
              </a:rPr>
              <a:t>. </a:t>
            </a:r>
            <a:r>
              <a:rPr lang="en-US" altLang="zh-TW" b="1" kern="0" spc="-20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</a:t>
            </a:r>
            <a:r>
              <a:rPr lang="en-US" altLang="zh-TW" b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</a:t>
            </a:r>
            <a:r>
              <a:rPr lang="en-US" altLang="zh-TW" b="1" kern="0" dirty="0">
                <a:solidFill>
                  <a:srgbClr val="00B050"/>
                </a:solidFill>
                <a:cs typeface="Courier New" panose="02070309020205020404" pitchFamily="49" charset="0"/>
              </a:rPr>
              <a:t> </a:t>
            </a:r>
            <a:r>
              <a:rPr lang="en-US" altLang="zh-TW" kern="0" dirty="0">
                <a:cs typeface="Courier New" panose="02070309020205020404" pitchFamily="49" charset="0"/>
              </a:rPr>
              <a:t>takes </a:t>
            </a:r>
            <a:r>
              <a:rPr lang="en-US" altLang="zh-TW" u="sng" kern="0" dirty="0">
                <a:cs typeface="Courier New" panose="02070309020205020404" pitchFamily="49" charset="0"/>
              </a:rPr>
              <a:t>all</a:t>
            </a:r>
            <a:r>
              <a:rPr lang="en-US" altLang="zh-TW" kern="0" dirty="0">
                <a:cs typeface="Courier New" panose="02070309020205020404" pitchFamily="49" charset="0"/>
              </a:rPr>
              <a:t> unspecified dimension</a:t>
            </a:r>
            <a:r>
              <a:rPr lang="en-US" altLang="zh-TW" kern="0" spc="-200" dirty="0">
                <a:cs typeface="Courier New" panose="02070309020205020404" pitchFamily="49" charset="0"/>
              </a:rPr>
              <a:t>s</a:t>
            </a:r>
            <a:r>
              <a:rPr lang="en-US" altLang="zh-TW" kern="0" dirty="0">
                <a:cs typeface="Courier New" panose="02070309020205020404" pitchFamily="49" charset="0"/>
              </a:rPr>
              <a:t>. </a:t>
            </a: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a[</a:t>
            </a:r>
            <a:r>
              <a:rPr lang="en-US" altLang="zh-TW" b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zh-TW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] == a[</a:t>
            </a:r>
            <a:r>
              <a:rPr lang="en-US" altLang="zh-TW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:,:</a:t>
            </a:r>
            <a:r>
              <a:rPr lang="en-US" altLang="zh-TW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] </a:t>
            </a:r>
            <a:r>
              <a:rPr lang="en-US" altLang="zh-TW" kern="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 for a 3-d array</a:t>
            </a: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a[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</a:t>
            </a:r>
            <a:r>
              <a:rPr lang="en-US" altLang="zh-TW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zh-TW" b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] == a[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</a:t>
            </a:r>
            <a:r>
              <a:rPr lang="en-US" altLang="zh-TW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zh-TW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:,:,: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] </a:t>
            </a:r>
            <a:r>
              <a:rPr lang="en-US" altLang="zh-TW" kern="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 for a 4-d array</a:t>
            </a: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a[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zh-TW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zh-TW" b="1" kern="0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r>
              <a:rPr lang="en-US" altLang="zh-TW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] == a[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zh-TW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zh-TW" kern="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:,:,:,:</a:t>
            </a:r>
            <a:r>
              <a:rPr lang="en-US" altLang="zh-TW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zh-TW" kern="0" dirty="0">
                <a:solidFill>
                  <a:srgbClr val="2D2DB9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</a:t>
            </a:r>
            <a:r>
              <a:rPr lang="en-US" altLang="zh-TW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]</a:t>
            </a:r>
            <a:r>
              <a:rPr lang="en-US" altLang="zh-TW" sz="1100" kern="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zh-TW" kern="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</a:t>
            </a:r>
            <a:r>
              <a:rPr lang="en-US" altLang="zh-TW" sz="1100" kern="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zh-TW" kern="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</a:t>
            </a:r>
            <a:r>
              <a:rPr lang="en-US" altLang="zh-TW" kern="0" spc="-1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or a 6-d arra</a:t>
            </a:r>
            <a:r>
              <a:rPr lang="en-US" altLang="zh-TW" kern="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</a:p>
        </p:txBody>
      </p:sp>
      <p:sp>
        <p:nvSpPr>
          <p:cNvPr id="9" name="Rectangle 1"/>
          <p:cNvSpPr txBox="1">
            <a:spLocks noChangeArrowheads="1"/>
          </p:cNvSpPr>
          <p:nvPr/>
        </p:nvSpPr>
        <p:spPr bwMode="auto">
          <a:xfrm>
            <a:off x="373062" y="-65573"/>
            <a:ext cx="1009650" cy="702458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42830" tIns="19044" rIns="91440" bIns="63480" numCol="1" anchor="ctr" anchorCtr="0" compatLnSpc="1">
            <a:prstTxWarp prst="textNoShape">
              <a:avLst/>
            </a:prstTxWarp>
            <a:noAutofit/>
          </a:bodyPr>
          <a:lstStyle>
            <a:lvl1pPr marL="342885" indent="-34288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17" indent="-285738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2950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13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311" indent="-22859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490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67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8851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032" indent="-22859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360">
              <a:lnSpc>
                <a:spcPct val="83000"/>
              </a:lnSpc>
              <a:spcBef>
                <a:spcPct val="0"/>
              </a:spcBef>
              <a:spcAft>
                <a:spcPts val="555"/>
              </a:spcAft>
              <a:buClrTx/>
              <a:buFont typeface="Wingdings" pitchFamily="2" charset="2"/>
              <a:buNone/>
            </a:pPr>
            <a:br>
              <a:rPr lang="en-US" altLang="zh-TW" sz="2963" b="1" kern="0" dirty="0">
                <a:solidFill>
                  <a:srgbClr val="2D2DB9"/>
                </a:solidFill>
                <a:cs typeface="Courier New" panose="02070309020205020404" pitchFamily="49" charset="0"/>
              </a:rPr>
            </a:br>
            <a:endParaRPr lang="en-US" altLang="zh-TW" sz="2963" b="1" kern="0" dirty="0">
              <a:solidFill>
                <a:srgbClr val="2D2DB9"/>
              </a:solidFill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...</a:t>
            </a: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r>
              <a:rPr lang="en-US" altLang="zh-TW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kern="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sz="1018" kern="0" dirty="0"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br>
              <a:rPr lang="en-US" altLang="zh-TW" kern="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</a:br>
            <a:br>
              <a:rPr lang="en-US" altLang="zh-TW" kern="0" dirty="0">
                <a:solidFill>
                  <a:srgbClr val="FF9797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</a:br>
            <a:endParaRPr lang="en-US" altLang="zh-TW" kern="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marL="0" indent="0" defTabSz="914360">
              <a:lnSpc>
                <a:spcPct val="83000"/>
              </a:lnSpc>
              <a:spcBef>
                <a:spcPct val="0"/>
              </a:spcBef>
              <a:buClrTx/>
              <a:buFont typeface="Wingdings" pitchFamily="2" charset="2"/>
              <a:buNone/>
            </a:pPr>
            <a:endParaRPr lang="en-US" altLang="zh-TW" kern="0" dirty="0">
              <a:solidFill>
                <a:srgbClr val="FF9797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11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 txBox="1">
            <a:spLocks/>
          </p:cNvSpPr>
          <p:nvPr/>
        </p:nvSpPr>
        <p:spPr bwMode="auto">
          <a:xfrm>
            <a:off x="195390" y="-29070"/>
            <a:ext cx="9526459" cy="629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659" tIns="42330" rIns="84659" bIns="42330" numCol="1" anchor="t" anchorCtr="0" compatLnSpc="1">
            <a:prstTxWarp prst="textNoShape">
              <a:avLst/>
            </a:prstTxWarp>
          </a:bodyPr>
          <a:lstStyle>
            <a:lvl1pPr marL="370366" indent="-3703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808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802460" indent="-30863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592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234554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728376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376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222198" indent="-246911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716019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6pPr>
            <a:lvl7pPr marL="3209841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7pPr>
            <a:lvl8pPr marL="3703663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8pPr>
            <a:lvl9pPr marL="4197485" indent="-246911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16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issubclass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'license', 'list', 'locals', 'map', 'max',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memoryview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'min', 'next', 'object',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oct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'open',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ord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'pow', 'print', 'property', 'quit', 'range',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'reversed', 'round', 'set',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'slice', 'sorted',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staticmethod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'sum', 'super', 'tuple', 'type',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vars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'zip']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sorted(x-{*_})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BytesWarning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FutureWarning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ImportWarning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'None',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PendingDeprecationWarning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ResourceWarning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RuntimeWarning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SyntaxWarning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UnicodeWarning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UserWarning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'Warning', '_', '__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build_class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__', '__debug__', '__doc__', '__import__', '__loader__', '__name__', '__package__', '__spec__']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[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in _ if "Warning" not in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 and 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[0]!="_"]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BaseException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'Ellipsis', 'Exception', 'False',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GeneratorExi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KeyboardInterrup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Non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e', 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NotImplemente</a:t>
            </a:r>
            <a:r>
              <a:rPr lang="en-US" altLang="zh-TW" sz="2222" kern="0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</a:t>
            </a:r>
            <a:r>
              <a:rPr lang="en-US" altLang="zh-TW" sz="2222" kern="0" spc="-4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StopAsyncIteratio</a:t>
            </a:r>
            <a:r>
              <a:rPr lang="en-US" altLang="zh-TW" sz="2222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StopIteratio</a:t>
            </a:r>
            <a:r>
              <a:rPr lang="en-US" altLang="zh-TW" sz="2222" kern="0" spc="-2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</a:t>
            </a:r>
            <a:r>
              <a:rPr lang="en-US" altLang="zh-TW" sz="2222" kern="0" spc="-3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222" kern="0" spc="-102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SystemExit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'True']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  <a:ea typeface="+mn-ea"/>
                <a:cs typeface="+mn-cs"/>
              </a:rPr>
              <a:t>&gt;&gt;&gt;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[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for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in _ if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  <a:ea typeface="+mn-ea"/>
                <a:cs typeface="+mn-cs"/>
              </a:rPr>
              <a:t>Except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" not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and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  <a:ea typeface="+mn-ea"/>
                <a:cs typeface="+mn-cs"/>
              </a:rPr>
              <a:t>Exit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" not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</a:t>
            </a:r>
            <a:r>
              <a:rPr lang="en-US" altLang="zh-TW" sz="2222" kern="0" spc="-102" dirty="0">
                <a:solidFill>
                  <a:srgbClr val="D9D9D9"/>
                </a:solidFill>
                <a:latin typeface="Lucida Console" panose="020B0609040504020204" pitchFamily="49" charset="0"/>
                <a:ea typeface="+mn-ea"/>
                <a:cs typeface="+mn-cs"/>
              </a:rPr>
              <a:t>... 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and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  <a:ea typeface="+mn-ea"/>
                <a:cs typeface="+mn-cs"/>
              </a:rPr>
              <a:t>Interrupt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" not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 and "</a:t>
            </a:r>
            <a:r>
              <a:rPr lang="en-US" altLang="zh-TW" sz="2222" kern="0" spc="-102" dirty="0">
                <a:solidFill>
                  <a:srgbClr val="C00000"/>
                </a:solidFill>
                <a:latin typeface="Lucida Console" panose="020B0609040504020204" pitchFamily="49" charset="0"/>
                <a:ea typeface="+mn-ea"/>
                <a:cs typeface="+mn-cs"/>
              </a:rPr>
              <a:t>Stop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" not in </a:t>
            </a:r>
            <a:r>
              <a:rPr lang="en-US" altLang="zh-TW" sz="2222" kern="0" spc="-102" dirty="0" err="1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i</a:t>
            </a:r>
            <a:r>
              <a:rPr lang="en-US" altLang="zh-TW" sz="2222" kern="0" spc="-102" dirty="0">
                <a:solidFill>
                  <a:srgbClr val="000000"/>
                </a:solidFill>
                <a:latin typeface="Lucida Console" panose="020B0609040504020204" pitchFamily="49" charset="0"/>
                <a:ea typeface="+mn-ea"/>
                <a:cs typeface="+mn-cs"/>
              </a:rPr>
              <a:t>] </a:t>
            </a:r>
          </a:p>
          <a:p>
            <a:pPr marL="0" indent="0" defTabSz="846552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zh-TW" sz="2222" b="1" spc="-102" dirty="0">
                <a:solidFill>
                  <a:srgbClr val="FFC000"/>
                </a:solidFill>
                <a:latin typeface="Lucida Console" panose="020B0609040504020204" pitchFamily="49" charset="0"/>
              </a:rPr>
              <a:t>Ellipsis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spc="-102" dirty="0">
                <a:solidFill>
                  <a:srgbClr val="FFC000"/>
                </a:solidFill>
                <a:latin typeface="Lucida Console" panose="020B0609040504020204" pitchFamily="49" charset="0"/>
              </a:rPr>
              <a:t>False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spc="-102" dirty="0">
                <a:solidFill>
                  <a:srgbClr val="FFC000"/>
                </a:solidFill>
                <a:latin typeface="Lucida Console" panose="020B0609040504020204" pitchFamily="49" charset="0"/>
              </a:rPr>
              <a:t>None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spc="-102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NotImplemented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222" b="1" spc="-102" dirty="0">
                <a:solidFill>
                  <a:srgbClr val="FFC000"/>
                </a:solidFill>
                <a:latin typeface="Lucida Console" panose="020B0609040504020204" pitchFamily="49" charset="0"/>
              </a:rPr>
              <a:t>True</a:t>
            </a:r>
            <a:r>
              <a:rPr lang="en-US" altLang="zh-TW" sz="2222" kern="0" spc="-102" dirty="0">
                <a:solidFill>
                  <a:schemeClr val="tx1"/>
                </a:solidFill>
                <a:latin typeface="Lucida Console" panose="020B0609040504020204" pitchFamily="49" charset="0"/>
              </a:rPr>
              <a:t>']</a:t>
            </a:r>
          </a:p>
        </p:txBody>
      </p:sp>
      <p:sp>
        <p:nvSpPr>
          <p:cNvPr id="3" name="Rectangle 2"/>
          <p:cNvSpPr/>
          <p:nvPr/>
        </p:nvSpPr>
        <p:spPr>
          <a:xfrm>
            <a:off x="189335" y="6375657"/>
            <a:ext cx="659989" cy="4339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220" kern="0" spc="-102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sz="2220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962376" y="2486025"/>
            <a:ext cx="5486400" cy="188595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4659" tIns="42330" rIns="84659" bIns="42330" numCol="1" rtlCol="0" anchor="ctr" anchorCtr="0" compatLnSpc="1">
            <a:prstTxWarp prst="textNoShape">
              <a:avLst/>
            </a:prstTxWarp>
          </a:bodyPr>
          <a:lstStyle/>
          <a:p>
            <a:pPr algn="ctr" defTabSz="846552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4800" dirty="0">
                <a:solidFill>
                  <a:prstClr val="black"/>
                </a:solidFill>
                <a:latin typeface="Times New Roman" charset="0"/>
              </a:rPr>
              <a:t>And so we’ve now</a:t>
            </a:r>
            <a:br>
              <a:rPr lang="en-US" altLang="zh-TW" sz="4800" dirty="0">
                <a:solidFill>
                  <a:prstClr val="black"/>
                </a:solidFill>
                <a:latin typeface="Times New Roman" charset="0"/>
              </a:rPr>
            </a:br>
            <a:r>
              <a:rPr lang="en-US" altLang="zh-TW" sz="4800" dirty="0">
                <a:solidFill>
                  <a:prstClr val="black"/>
                </a:solidFill>
                <a:latin typeface="Times New Roman" charset="0"/>
              </a:rPr>
              <a:t>finished </a:t>
            </a:r>
            <a:r>
              <a:rPr lang="en-US" altLang="zh-TW" sz="4800" spc="-300" dirty="0">
                <a:solidFill>
                  <a:prstClr val="black"/>
                </a:solidFill>
                <a:latin typeface="Times New Roman" charset="0"/>
              </a:rPr>
              <a:t>_</a:t>
            </a:r>
            <a:r>
              <a:rPr lang="en-US" altLang="zh-TW" sz="4800" dirty="0">
                <a:solidFill>
                  <a:prstClr val="black"/>
                </a:solidFill>
                <a:latin typeface="Times New Roman" charset="0"/>
              </a:rPr>
              <a:t>_</a:t>
            </a:r>
            <a:r>
              <a:rPr lang="en-US" altLang="zh-TW" sz="4800" dirty="0" err="1">
                <a:solidFill>
                  <a:prstClr val="black"/>
                </a:solidFill>
                <a:latin typeface="Times New Roman" charset="0"/>
              </a:rPr>
              <a:t>builtins</a:t>
            </a:r>
            <a:r>
              <a:rPr lang="en-US" altLang="zh-TW" sz="4800" spc="-300" dirty="0">
                <a:solidFill>
                  <a:prstClr val="black"/>
                </a:solidFill>
                <a:latin typeface="Times New Roman" charset="0"/>
              </a:rPr>
              <a:t>_</a:t>
            </a:r>
            <a:r>
              <a:rPr lang="en-US" altLang="zh-TW" sz="4800" dirty="0">
                <a:solidFill>
                  <a:prstClr val="black"/>
                </a:solidFill>
                <a:latin typeface="Times New Roman" charset="0"/>
              </a:rPr>
              <a:t>_.</a:t>
            </a:r>
          </a:p>
          <a:p>
            <a:pPr algn="ctr" defTabSz="846552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4800" dirty="0">
                <a:solidFill>
                  <a:prstClr val="black"/>
                </a:solidFill>
                <a:latin typeface="Times New Roman" charset="0"/>
              </a:rPr>
              <a:t>But recall slide 23…</a:t>
            </a:r>
            <a:endParaRPr lang="zh-TW" altLang="en-US" sz="4800" dirty="0">
              <a:solidFill>
                <a:prstClr val="black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83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1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lvl="0" defTabSz="914400">
              <a:lnSpc>
                <a:spcPct val="84000"/>
              </a:lnSpc>
            </a:pPr>
            <a:endParaRPr lang="en-US" altLang="zh-TW" sz="1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FF996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FF996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 err="1">
                <a:solidFill>
                  <a:schemeClr val="bg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300" dirty="0" err="1">
                <a:solidFill>
                  <a:schemeClr val="bg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6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</a:p>
          <a:p>
            <a:pPr defTabSz="914400"/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'super']</a:t>
            </a:r>
          </a:p>
          <a:p>
            <a:pPr defTabSz="914400"/>
            <a:endParaRPr lang="en-US" altLang="zh-TW" sz="20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05" y="6449686"/>
            <a:ext cx="732893" cy="46037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9438" y="6530724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圓角矩形圖說文字 4"/>
          <p:cNvSpPr/>
          <p:nvPr/>
        </p:nvSpPr>
        <p:spPr bwMode="auto">
          <a:xfrm>
            <a:off x="7376160" y="5872480"/>
            <a:ext cx="2361565" cy="985520"/>
          </a:xfrm>
          <a:prstGeom prst="wedgeRoundRectCallout">
            <a:avLst>
              <a:gd name="adj1" fmla="val -158841"/>
              <a:gd name="adj2" fmla="val -5533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i="1" dirty="0">
                <a:solidFill>
                  <a:srgbClr val="000000"/>
                </a:solidFill>
                <a:latin typeface="Times New Roman" charset="0"/>
              </a:rPr>
              <a:t>These all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i="1" dirty="0">
                <a:solidFill>
                  <a:srgbClr val="000000"/>
                </a:solidFill>
                <a:latin typeface="Times New Roman" charset="0"/>
              </a:rPr>
              <a:t>involve classes.</a:t>
            </a:r>
            <a:endParaRPr lang="zh-TW" altLang="en-US" sz="2800" i="1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" name="Trapezoid 9"/>
          <p:cNvSpPr>
            <a:spLocks noChangeAspect="1"/>
          </p:cNvSpPr>
          <p:nvPr/>
        </p:nvSpPr>
        <p:spPr bwMode="auto">
          <a:xfrm rot="2700000" flipH="1">
            <a:off x="7430434" y="459517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9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#87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4840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1333500"/>
            <a:ext cx="9220200" cy="5524500"/>
          </a:xfrm>
        </p:spPr>
        <p:txBody>
          <a:bodyPr/>
          <a:lstStyle/>
          <a:p>
            <a:pPr marL="285750" indent="-285750">
              <a:buClrTx/>
            </a:pPr>
            <a:r>
              <a:rPr lang="en-US" altLang="zh-TW" sz="2800" dirty="0">
                <a:solidFill>
                  <a:srgbClr val="FF0000"/>
                </a:solidFill>
              </a:rPr>
              <a:t>To claim to “know” a computer language, we ought to:</a:t>
            </a:r>
          </a:p>
          <a:p>
            <a:pPr marL="685800" lvl="1" indent="-342900">
              <a:spcBef>
                <a:spcPts val="12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Know all of the keywords.</a:t>
            </a:r>
          </a:p>
          <a:p>
            <a:pPr marL="685800" lvl="1" indent="-342900">
              <a:spcBef>
                <a:spcPts val="18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Know all of the built-in functions.</a:t>
            </a:r>
          </a:p>
          <a:p>
            <a:pPr marL="685800" lvl="1" indent="-342900">
              <a:spcBef>
                <a:spcPts val="18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Know some imported functions if they are important.</a:t>
            </a:r>
          </a:p>
          <a:p>
            <a:pPr marL="971550" lvl="2"/>
            <a:r>
              <a:rPr lang="en-US" altLang="zh-TW" sz="2800" dirty="0" err="1">
                <a:solidFill>
                  <a:srgbClr val="FF0000"/>
                </a:solidFill>
              </a:rPr>
              <a:t>Eg</a:t>
            </a:r>
            <a:r>
              <a:rPr lang="en-US" altLang="zh-TW" sz="2800" dirty="0">
                <a:solidFill>
                  <a:srgbClr val="FF0000"/>
                </a:solidFill>
              </a:rPr>
              <a:t>, you don’t know C if you don’t know </a:t>
            </a:r>
            <a:r>
              <a:rPr lang="en-US" altLang="zh-TW" sz="2800" dirty="0" err="1">
                <a:solidFill>
                  <a:srgbClr val="FF0000"/>
                </a:solidFill>
              </a:rPr>
              <a:t>printf</a:t>
            </a:r>
            <a:r>
              <a:rPr lang="en-US" altLang="zh-TW" sz="2800" dirty="0">
                <a:solidFill>
                  <a:srgbClr val="FF0000"/>
                </a:solidFill>
              </a:rPr>
              <a:t>.</a:t>
            </a:r>
          </a:p>
          <a:p>
            <a:pPr marL="1371600" lvl="3" indent="-342900"/>
            <a:r>
              <a:rPr lang="en-US" altLang="zh-TW" sz="2800" dirty="0">
                <a:solidFill>
                  <a:srgbClr val="FF0000"/>
                </a:solidFill>
              </a:rPr>
              <a:t>But you have to #include &lt;</a:t>
            </a:r>
            <a:r>
              <a:rPr lang="en-US" altLang="zh-TW" sz="2800" dirty="0" err="1">
                <a:solidFill>
                  <a:srgbClr val="FF0000"/>
                </a:solidFill>
              </a:rPr>
              <a:t>stdio.h</a:t>
            </a:r>
            <a:r>
              <a:rPr lang="en-US" altLang="zh-TW" sz="2800" dirty="0">
                <a:solidFill>
                  <a:srgbClr val="FF0000"/>
                </a:solidFill>
              </a:rPr>
              <a:t>&gt; to use </a:t>
            </a:r>
            <a:r>
              <a:rPr lang="en-US" altLang="zh-TW" sz="2800" dirty="0" err="1">
                <a:solidFill>
                  <a:srgbClr val="FF0000"/>
                </a:solidFill>
              </a:rPr>
              <a:t>printf</a:t>
            </a:r>
            <a:r>
              <a:rPr lang="en-US" altLang="zh-TW" sz="2800" dirty="0">
                <a:solidFill>
                  <a:srgbClr val="FF0000"/>
                </a:solidFill>
              </a:rPr>
              <a:t>.</a:t>
            </a:r>
          </a:p>
          <a:p>
            <a:pPr marL="971550" lvl="2"/>
            <a:r>
              <a:rPr lang="en-US" altLang="zh-TW" sz="2800" dirty="0">
                <a:solidFill>
                  <a:srgbClr val="FF0000"/>
                </a:solidFill>
              </a:rPr>
              <a:t>For Python, some important modules are:</a:t>
            </a:r>
          </a:p>
          <a:p>
            <a:pPr marL="1371600" lvl="3" indent="-342900"/>
            <a:r>
              <a:rPr lang="en-US" altLang="zh-TW" sz="2800" dirty="0">
                <a:solidFill>
                  <a:srgbClr val="FF0000"/>
                </a:solidFill>
              </a:rPr>
              <a:t>math, </a:t>
            </a:r>
            <a:r>
              <a:rPr lang="en-US" altLang="zh-TW" sz="2800" dirty="0" err="1">
                <a:solidFill>
                  <a:srgbClr val="FF0000"/>
                </a:solidFill>
              </a:rPr>
              <a:t>itertools</a:t>
            </a:r>
            <a:r>
              <a:rPr lang="en-US" altLang="zh-TW" sz="2800" dirty="0">
                <a:solidFill>
                  <a:srgbClr val="FF0000"/>
                </a:solidFill>
              </a:rPr>
              <a:t>, </a:t>
            </a:r>
            <a:r>
              <a:rPr lang="en-US" altLang="zh-TW" sz="2800" dirty="0" err="1">
                <a:solidFill>
                  <a:srgbClr val="FF0000"/>
                </a:solidFill>
              </a:rPr>
              <a:t>functools</a:t>
            </a:r>
            <a:r>
              <a:rPr lang="en-US" altLang="zh-TW" sz="2800" dirty="0">
                <a:solidFill>
                  <a:srgbClr val="FF0000"/>
                </a:solidFill>
              </a:rPr>
              <a:t>, </a:t>
            </a:r>
            <a:r>
              <a:rPr lang="en-US" altLang="zh-TW" sz="2800" dirty="0" err="1">
                <a:solidFill>
                  <a:srgbClr val="FF0000"/>
                </a:solidFill>
              </a:rPr>
              <a:t>os</a:t>
            </a:r>
            <a:r>
              <a:rPr lang="en-US" altLang="zh-TW" sz="2800" dirty="0">
                <a:solidFill>
                  <a:srgbClr val="FF0000"/>
                </a:solidFill>
              </a:rPr>
              <a:t>, sys, random, numbers, </a:t>
            </a:r>
            <a:r>
              <a:rPr lang="en-US" altLang="zh-TW" sz="2800" dirty="0" err="1">
                <a:solidFill>
                  <a:srgbClr val="FF0000"/>
                </a:solidFill>
              </a:rPr>
              <a:t>numpy</a:t>
            </a:r>
            <a:endParaRPr lang="en-US" altLang="zh-TW" sz="2800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endParaRPr lang="en-US" altLang="zh-TW" sz="24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830262" y="114300"/>
            <a:ext cx="8077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>
              <a:lnSpc>
                <a:spcPct val="85000"/>
              </a:lnSpc>
            </a:pPr>
            <a:r>
              <a:rPr lang="en-US" altLang="zh-TW" sz="4400" kern="0">
                <a:latin typeface="Elephant" panose="02020904090505020303" pitchFamily="18" charset="0"/>
              </a:rPr>
              <a:t>Let’s get some perspective on what we’ve been doing…</a:t>
            </a:r>
            <a:endParaRPr lang="zh-TW" altLang="en-US" sz="4400" kern="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79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296862" y="1333500"/>
            <a:ext cx="9220200" cy="5524500"/>
          </a:xfrm>
          <a:solidFill>
            <a:schemeClr val="bg1"/>
          </a:solidFill>
        </p:spPr>
        <p:txBody>
          <a:bodyPr/>
          <a:lstStyle/>
          <a:p>
            <a:pPr marL="285750" indent="-285750">
              <a:buClrTx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To claim to “know” a computer language, we ought to:</a:t>
            </a:r>
          </a:p>
          <a:p>
            <a:pPr marL="685800" lvl="1" indent="-342900">
              <a:spcBef>
                <a:spcPts val="12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Know all of the keywords.</a:t>
            </a:r>
          </a:p>
          <a:p>
            <a:pPr marL="685800" lvl="1" indent="-342900">
              <a:spcBef>
                <a:spcPts val="1800"/>
              </a:spcBef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Know all of the built-in functions.</a:t>
            </a:r>
          </a:p>
          <a:p>
            <a:pPr marL="685800" lvl="1" indent="-342900">
              <a:spcBef>
                <a:spcPts val="1800"/>
              </a:spcBef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Know some imported functions if they are important.</a:t>
            </a:r>
          </a:p>
          <a:p>
            <a:pPr marL="971550" lvl="2"/>
            <a:r>
              <a:rPr lang="en-US" altLang="zh-TW" sz="2800" dirty="0" err="1">
                <a:solidFill>
                  <a:schemeClr val="bg1">
                    <a:lumMod val="75000"/>
                  </a:schemeClr>
                </a:solidFill>
              </a:rPr>
              <a:t>Eg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, you don’t know C if you don’t know </a:t>
            </a:r>
            <a:r>
              <a:rPr lang="en-US" altLang="zh-TW" sz="2800" dirty="0" err="1">
                <a:solidFill>
                  <a:schemeClr val="bg1">
                    <a:lumMod val="75000"/>
                  </a:schemeClr>
                </a:solidFill>
              </a:rPr>
              <a:t>printf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marL="1371600" lvl="3" indent="-342900"/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But you have to #include &lt;</a:t>
            </a:r>
            <a:r>
              <a:rPr lang="en-US" altLang="zh-TW" sz="2800" dirty="0" err="1">
                <a:solidFill>
                  <a:schemeClr val="bg1">
                    <a:lumMod val="75000"/>
                  </a:schemeClr>
                </a:solidFill>
              </a:rPr>
              <a:t>stdio.h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&gt; to use </a:t>
            </a:r>
            <a:r>
              <a:rPr lang="en-US" altLang="zh-TW" sz="2800" dirty="0" err="1">
                <a:solidFill>
                  <a:schemeClr val="bg1">
                    <a:lumMod val="75000"/>
                  </a:schemeClr>
                </a:solidFill>
              </a:rPr>
              <a:t>printf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marL="971550" lvl="2"/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For Python, some important modules are:</a:t>
            </a:r>
          </a:p>
          <a:p>
            <a:pPr marL="1371600" lvl="3" indent="-342900"/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math, </a:t>
            </a:r>
            <a:r>
              <a:rPr lang="en-US" altLang="zh-TW" sz="2800" dirty="0" err="1">
                <a:solidFill>
                  <a:schemeClr val="bg1">
                    <a:lumMod val="75000"/>
                  </a:schemeClr>
                </a:solidFill>
              </a:rPr>
              <a:t>itertools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zh-TW" sz="2800" dirty="0" err="1">
                <a:solidFill>
                  <a:schemeClr val="bg1">
                    <a:lumMod val="75000"/>
                  </a:schemeClr>
                </a:solidFill>
              </a:rPr>
              <a:t>functools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zh-TW" sz="2800" dirty="0" err="1">
                <a:solidFill>
                  <a:schemeClr val="bg1">
                    <a:lumMod val="75000"/>
                  </a:schemeClr>
                </a:solidFill>
              </a:rPr>
              <a:t>os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</a:rPr>
              <a:t>, sys, random, numbers, </a:t>
            </a:r>
            <a:r>
              <a:rPr lang="en-US" altLang="zh-TW" sz="2800" dirty="0" err="1">
                <a:solidFill>
                  <a:schemeClr val="bg1">
                    <a:lumMod val="75000"/>
                  </a:schemeClr>
                </a:solidFill>
              </a:rPr>
              <a:t>numpy</a:t>
            </a:r>
            <a:endParaRPr lang="en-US" altLang="zh-TW" sz="2800" dirty="0">
              <a:solidFill>
                <a:schemeClr val="bg1">
                  <a:lumMod val="75000"/>
                </a:schemeClr>
              </a:solidFill>
            </a:endParaRPr>
          </a:p>
          <a:p>
            <a:pPr marL="914400" lvl="2" indent="0">
              <a:buNone/>
            </a:pPr>
            <a:endParaRPr lang="en-US" altLang="zh-TW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830262" y="114300"/>
            <a:ext cx="8077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>
              <a:lnSpc>
                <a:spcPct val="85000"/>
              </a:lnSpc>
            </a:pPr>
            <a:r>
              <a:rPr lang="en-US" altLang="zh-TW" sz="4400" kern="0">
                <a:latin typeface="Elephant" panose="02020904090505020303" pitchFamily="18" charset="0"/>
              </a:rPr>
              <a:t>Let’s get some perspective on what we’ve been doing…</a:t>
            </a:r>
            <a:endParaRPr lang="zh-TW" altLang="en-US" sz="4400" kern="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3642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9737725" cy="762000"/>
          </a:xfrm>
        </p:spPr>
        <p:txBody>
          <a:bodyPr/>
          <a:lstStyle/>
          <a:p>
            <a:r>
              <a:rPr lang="en-US" altLang="zh-TW" sz="4400" dirty="0">
                <a:latin typeface="Elephant" panose="02020904090505020303" pitchFamily="18" charset="0"/>
              </a:rPr>
              <a:t>What are the Python keywords?</a:t>
            </a:r>
            <a:endParaRPr lang="zh-TW" altLang="en-US" sz="4400" dirty="0">
              <a:latin typeface="Elephant" panose="0202090409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262" y="762000"/>
            <a:ext cx="8839200" cy="60960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from keyword import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['False', 'None', 'True', 'and', 'as', 'assert', 'break', 'class', 'continue', '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', 'del', '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elif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', 'else', 'except', 'finally', 'for', 'from', 'global', 'if', 'import', 'in', 'is', 'lambda', 'nonlocal', 'not', 'or', 'pass', 'raise', 'return', 'try', 'while', 'with', 'yield']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buNone/>
            </a:pPr>
            <a:endParaRPr lang="en-US" altLang="zh-TW" sz="2800" dirty="0">
              <a:latin typeface="Arial Narrow" panose="020B0606020202030204" pitchFamily="34" charset="0"/>
            </a:endParaRPr>
          </a:p>
        </p:txBody>
      </p:sp>
      <p:sp>
        <p:nvSpPr>
          <p:cNvPr id="6" name="Rounded Rectangular Callout 6"/>
          <p:cNvSpPr/>
          <p:nvPr/>
        </p:nvSpPr>
        <p:spPr bwMode="auto">
          <a:xfrm>
            <a:off x="4487862" y="6172200"/>
            <a:ext cx="4876800" cy="685800"/>
          </a:xfrm>
          <a:prstGeom prst="wedgeRoundRectCallout">
            <a:avLst>
              <a:gd name="adj1" fmla="val -64875"/>
              <a:gd name="adj2" fmla="val -44556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We know all these, right?</a:t>
            </a:r>
            <a:endParaRPr lang="zh-TW" altLang="en-US" sz="3200" dirty="0">
              <a:solidFill>
                <a:srgbClr val="C00000"/>
              </a:solidFill>
              <a:latin typeface="Times New Roman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163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262" y="762000"/>
            <a:ext cx="8839200" cy="60960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from keyword import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['False', 'None', 'True', 'and', 'as', 'assert', 'break',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'class'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, 'continue', '</a:t>
            </a:r>
            <a:r>
              <a:rPr lang="en-US" altLang="zh-TW" sz="2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', 'del', '</a:t>
            </a:r>
            <a:r>
              <a:rPr lang="en-US" altLang="zh-TW" sz="2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elif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', 'else', 'except', 'finally', 'for', 'from', '</a:t>
            </a:r>
            <a:r>
              <a:rPr lang="en-US" altLang="zh-TW" sz="2800" dirty="0">
                <a:solidFill>
                  <a:srgbClr val="D9D9D9"/>
                </a:solidFill>
                <a:latin typeface="Lucida Console" panose="020B0609040504020204" pitchFamily="49" charset="0"/>
              </a:rPr>
              <a:t>global', 'if', 'import', 'in', 'is',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'lambda', 'nonlocal', 'not', 'or', 'pass', 'raise', 'return', 'try', 'while', 'with', 'yield']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buNone/>
            </a:pPr>
            <a:endParaRPr lang="en-US" altLang="zh-TW" sz="2800" dirty="0">
              <a:latin typeface="Arial Narrow" panose="020B0606020202030204" pitchFamily="34" charset="0"/>
            </a:endParaRPr>
          </a:p>
        </p:txBody>
      </p:sp>
      <p:sp>
        <p:nvSpPr>
          <p:cNvPr id="5" name="Rounded Rectangular Callout 6"/>
          <p:cNvSpPr/>
          <p:nvPr/>
        </p:nvSpPr>
        <p:spPr bwMode="auto">
          <a:xfrm>
            <a:off x="433220" y="5657850"/>
            <a:ext cx="4191000" cy="1123950"/>
          </a:xfrm>
          <a:prstGeom prst="wedgeRoundRectCallout">
            <a:avLst>
              <a:gd name="adj1" fmla="val 64410"/>
              <a:gd name="adj2" fmla="val -31722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Well actually, we don’t know this one yet.</a:t>
            </a:r>
            <a:endParaRPr lang="zh-TW" altLang="en-US" sz="3200" dirty="0">
              <a:solidFill>
                <a:srgbClr val="C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zh-TW" sz="4400" kern="0" dirty="0">
                <a:latin typeface="Elephant" panose="02020904090505020303" pitchFamily="18" charset="0"/>
              </a:rPr>
              <a:t>What are the Python keywords?</a:t>
            </a:r>
            <a:endParaRPr lang="zh-TW" altLang="en-US" sz="4400" kern="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24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262" y="762000"/>
            <a:ext cx="8839200" cy="60960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from keyword import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['False', 'None', 'True', 'and', 'as', 'assert', 'break',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'class'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, 'continue', '</a:t>
            </a:r>
            <a:r>
              <a:rPr lang="en-US" altLang="zh-TW" sz="2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', 'del', '</a:t>
            </a:r>
            <a:r>
              <a:rPr lang="en-US" altLang="zh-TW" sz="2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elif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', 'else', 'except', 'finally', 'for', 'from', 'global', 'if', 'import', 'in', 'is', 'lambda', 'nonlocal', 'not', 'or', 'pass', 'raise', 'return', 'try', 'while', 'with', 'yield']</a:t>
            </a: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buNone/>
            </a:pPr>
            <a:endParaRPr lang="en-US" altLang="zh-TW" sz="2800" dirty="0">
              <a:latin typeface="Arial Narrow" panose="020B0606020202030204" pitchFamily="34" charset="0"/>
            </a:endParaRPr>
          </a:p>
        </p:txBody>
      </p:sp>
      <p:sp>
        <p:nvSpPr>
          <p:cNvPr id="5" name="Rounded Rectangular Callout 6"/>
          <p:cNvSpPr/>
          <p:nvPr/>
        </p:nvSpPr>
        <p:spPr bwMode="auto">
          <a:xfrm>
            <a:off x="433220" y="5257800"/>
            <a:ext cx="6797842" cy="1524000"/>
          </a:xfrm>
          <a:prstGeom prst="wedgeRoundRectCallout">
            <a:avLst>
              <a:gd name="adj1" fmla="val 22283"/>
              <a:gd name="adj2" fmla="val -21951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The class keyword behaves like the </a:t>
            </a:r>
            <a:r>
              <a:rPr lang="en-US" altLang="zh-TW" sz="3200" dirty="0" err="1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def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keyword, except for classes instead of functions. Let’s see an example…</a:t>
            </a:r>
            <a:endParaRPr lang="zh-TW" altLang="en-US" sz="3200" dirty="0">
              <a:solidFill>
                <a:srgbClr val="C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zh-TW" sz="4400" kern="0" dirty="0">
                <a:latin typeface="Elephant" panose="02020904090505020303" pitchFamily="18" charset="0"/>
              </a:rPr>
              <a:t>What are the Python keywords?</a:t>
            </a:r>
            <a:endParaRPr lang="zh-TW" altLang="en-US" sz="4400" kern="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4242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-1" y="0"/>
            <a:ext cx="9737725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Here is a simple class definition:</a:t>
            </a:r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758952"/>
            <a:ext cx="8458200" cy="5410200"/>
          </a:xfrm>
        </p:spPr>
        <p:txBody>
          <a:bodyPr/>
          <a:lstStyle/>
          <a:p>
            <a:pPr eaLnBrk="1" hangingPunct="1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class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 err="1"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800" dirty="0">
                <a:latin typeface="Lucida Console" panose="020B0609040504020204" pitchFamily="49" charset="0"/>
              </a:rPr>
              <a:t>   """A simple class"""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greet(self):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   print ("Good afternoon.")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latin typeface="Lucida Console" panose="020B0609040504020204" pitchFamily="49" charset="0"/>
              </a:rPr>
              <a:t>inst</a:t>
            </a:r>
            <a:r>
              <a:rPr lang="en-US" altLang="en-US" sz="2800" dirty="0">
                <a:latin typeface="Lucida Console" panose="020B0609040504020204" pitchFamily="49" charset="0"/>
              </a:rPr>
              <a:t> = </a:t>
            </a:r>
            <a:r>
              <a:rPr lang="en-US" altLang="en-US" sz="2800" dirty="0" err="1"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latin typeface="Lucida Console" panose="020B0609040504020204" pitchFamily="49" charset="0"/>
              </a:rPr>
              <a:t>inst.greet</a:t>
            </a:r>
            <a:r>
              <a:rPr lang="en-US" altLang="en-US" sz="2800" dirty="0"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Good afternoon.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spcBef>
                <a:spcPts val="0"/>
              </a:spcBef>
              <a:buNone/>
            </a:pPr>
            <a:endParaRPr lang="en-US" altLang="en-US" sz="1100" dirty="0">
              <a:latin typeface="Courier New" pitchFamily="49" charset="0"/>
            </a:endParaRPr>
          </a:p>
          <a:p>
            <a:pPr eaLnBrk="1" hangingPunct="1"/>
            <a:r>
              <a:rPr lang="en-US" altLang="en-US" sz="2800" dirty="0"/>
              <a:t>When you define a </a:t>
            </a:r>
            <a:r>
              <a:rPr lang="en-US" altLang="en-US" sz="2800" dirty="0">
                <a:solidFill>
                  <a:srgbClr val="FF0000"/>
                </a:solidFill>
              </a:rPr>
              <a:t>class</a:t>
            </a:r>
            <a:r>
              <a:rPr lang="en-US" altLang="en-US" sz="2800" dirty="0"/>
              <a:t>, you provide:</a:t>
            </a:r>
          </a:p>
          <a:p>
            <a:pPr lvl="1" eaLnBrk="1" hangingPunct="1"/>
            <a:r>
              <a:rPr lang="en-US" altLang="en-US" dirty="0"/>
              <a:t>A class name (begin with capital letter, by convention)  </a:t>
            </a:r>
          </a:p>
          <a:p>
            <a:pPr lvl="1" eaLnBrk="1" hangingPunct="1"/>
            <a:r>
              <a:rPr lang="en-US" altLang="en-US" dirty="0"/>
              <a:t>An argument list</a:t>
            </a:r>
          </a:p>
          <a:p>
            <a:pPr marL="457200" lvl="1" indent="0" eaLnBrk="1" hangingPunct="1">
              <a:buNone/>
            </a:pPr>
            <a:endParaRPr lang="en-US" altLang="en-US" sz="2800" dirty="0"/>
          </a:p>
          <a:p>
            <a:pPr eaLnBrk="1" hangingPunct="1">
              <a:buFontTx/>
              <a:buNone/>
            </a:pPr>
            <a:endParaRPr lang="en-US" altLang="en-US" sz="2400" dirty="0">
              <a:latin typeface="Courier New" pitchFamily="49" charset="0"/>
            </a:endParaRPr>
          </a:p>
          <a:p>
            <a:pPr eaLnBrk="1" hangingPunct="1">
              <a:buFontTx/>
              <a:buNone/>
            </a:pPr>
            <a:endParaRPr lang="en-US" altLang="en-US" sz="24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5452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9737725" cy="762000"/>
          </a:xfrm>
        </p:spPr>
        <p:txBody>
          <a:bodyPr/>
          <a:lstStyle/>
          <a:p>
            <a:r>
              <a:rPr lang="en-US" altLang="zh-TW" sz="4400" dirty="0">
                <a:solidFill>
                  <a:srgbClr val="FF0000"/>
                </a:solidFill>
                <a:latin typeface="Elephant" panose="02020904090505020303" pitchFamily="18" charset="0"/>
              </a:rPr>
              <a:t>So we know all the keywords now</a:t>
            </a:r>
            <a:endParaRPr lang="zh-TW" altLang="en-US" sz="4400" dirty="0">
              <a:solidFill>
                <a:srgbClr val="FF0000"/>
              </a:solidFill>
              <a:latin typeface="Elephant" panose="0202090409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262" y="762000"/>
            <a:ext cx="8839200" cy="60960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from keyword import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kwlist</a:t>
            </a:r>
            <a:endParaRPr lang="en-US" altLang="zh-TW" sz="28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['False', 'None', 'True', 'and', 'as', 'assert', 'break', 'class', 'continue', '</a:t>
            </a:r>
            <a:r>
              <a:rPr lang="en-US" altLang="zh-TW" sz="2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', 'del', '</a:t>
            </a:r>
            <a:r>
              <a:rPr lang="en-US" altLang="zh-TW" sz="28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elif</a:t>
            </a: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', 'else', 'except', 'finally', 'for', 'from', 'global', 'if', 'import', 'in', 'is', 'lambda', 'nonlocal', 'not', 'or', 'pass', 'raise', 'return', 'try', 'while', 'with', 'yield']</a:t>
            </a:r>
          </a:p>
          <a:p>
            <a:pPr marL="0" indent="0"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272821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737724" cy="762000"/>
          </a:xfrm>
        </p:spPr>
        <p:txBody>
          <a:bodyPr/>
          <a:lstStyle/>
          <a:p>
            <a:r>
              <a:rPr lang="en-US" altLang="zh-TW" sz="4400" dirty="0">
                <a:solidFill>
                  <a:srgbClr val="FF0000"/>
                </a:solidFill>
                <a:latin typeface="Elephant" panose="02020904090505020303" pitchFamily="18" charset="0"/>
              </a:rPr>
              <a:t>And we know all the </a:t>
            </a:r>
            <a:r>
              <a:rPr lang="en-US" altLang="zh-TW" sz="4400" dirty="0" err="1">
                <a:solidFill>
                  <a:srgbClr val="FF0000"/>
                </a:solidFill>
                <a:latin typeface="Elephant" panose="02020904090505020303" pitchFamily="18" charset="0"/>
              </a:rPr>
              <a:t>builtins</a:t>
            </a:r>
            <a:r>
              <a:rPr lang="en-US" altLang="zh-TW" sz="4400" dirty="0">
                <a:solidFill>
                  <a:srgbClr val="FF0000"/>
                </a:solidFill>
                <a:latin typeface="Elephant" panose="02020904090505020303" pitchFamily="18" charset="0"/>
              </a:rPr>
              <a:t> now</a:t>
            </a:r>
            <a:endParaRPr lang="zh-TW" altLang="en-US" sz="4400" dirty="0">
              <a:solidFill>
                <a:srgbClr val="FF0000"/>
              </a:solidFill>
              <a:latin typeface="Elephant" panose="0202090409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262" y="762000"/>
            <a:ext cx="8839200" cy="60960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dir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(__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builtins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__) if (not 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i.islower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() and "Error" not in 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 and "Warn" not in 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 and 'Ex' not in 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 and '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ter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' not in 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) or (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i.islower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() and '_' not in </a:t>
            </a:r>
            <a:r>
              <a:rPr lang="en-US" altLang="zh-TW" sz="2400" dirty="0" err="1">
                <a:solidFill>
                  <a:srgbClr val="0033CC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400" dirty="0">
                <a:solidFill>
                  <a:srgbClr val="0033CC"/>
                </a:solidFill>
                <a:latin typeface="Lucida Console" panose="020B0609040504020204" pitchFamily="49" charset="0"/>
              </a:rPr>
              <a:t>)]                 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['Ellipsis', 'False', 'None',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NotImplemented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'True', '_', 'abs', 'all', 'any',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ascii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'bin', 'bool',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bytearray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'bytes', 'callable',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chr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classmethod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'compile', 'complex', 'copyright', 'credits',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delattr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dict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dir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divmod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'enumerate',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eval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'exec', 'exit', 'filter', 'float', 'format',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frozenset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getattr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globals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hasattr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'hash', 'help', 'hex', 'id', 'input',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int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isinstance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issubclass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iter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len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'license', 'list', 'locals', 'map', 'max',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memoryview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'min', 'next', 'object',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oct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'open',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ord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'pow', 'print', 'property', 'quit', 'range',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repr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'reversed', 'round', 'set',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setattr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'slice', 'sorted',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staticmethod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str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'sum', 'super', 'tuple', 'type',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vars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', 'zip']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buNone/>
            </a:pPr>
            <a:endParaRPr lang="en-US" altLang="zh-TW" sz="24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endParaRPr lang="en-US" altLang="zh-TW" sz="2400" dirty="0">
              <a:latin typeface="Arial Narrow" panose="020B0606020202030204" pitchFamily="34" charset="0"/>
            </a:endParaRPr>
          </a:p>
        </p:txBody>
      </p:sp>
      <p:sp>
        <p:nvSpPr>
          <p:cNvPr id="4" name="Rounded Rectangular Callout 6"/>
          <p:cNvSpPr/>
          <p:nvPr/>
        </p:nvSpPr>
        <p:spPr bwMode="auto">
          <a:xfrm>
            <a:off x="1782762" y="2362200"/>
            <a:ext cx="5562600" cy="1295400"/>
          </a:xfrm>
          <a:prstGeom prst="wedgeRoundRectCallout">
            <a:avLst>
              <a:gd name="adj1" fmla="val 125"/>
              <a:gd name="adj2" fmla="val -186154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But not really </a:t>
            </a:r>
            <a:r>
              <a:rPr lang="en-US" altLang="zh-TW" sz="3200" b="1" i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all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, because we skipped the ones for classes… </a:t>
            </a:r>
            <a:endParaRPr lang="zh-TW" altLang="en-US" sz="3200" dirty="0">
              <a:solidFill>
                <a:srgbClr val="C00000"/>
              </a:solidFill>
              <a:latin typeface="Times New Roman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0604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830262" y="2343150"/>
            <a:ext cx="8077200" cy="451485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rgbClr val="006600"/>
                </a:solidFill>
              </a:rPr>
              <a:t>Information hiding (</a:t>
            </a:r>
            <a:r>
              <a:rPr lang="zh-TW" altLang="en-US" sz="3200" dirty="0"/>
              <a:t>資訊隱藏</a:t>
            </a:r>
            <a:r>
              <a:rPr lang="en-US" altLang="en-US" sz="3600" b="1" dirty="0">
                <a:solidFill>
                  <a:srgbClr val="006600"/>
                </a:solidFill>
              </a:rPr>
              <a:t>)</a:t>
            </a:r>
          </a:p>
          <a:p>
            <a:pPr eaLnBrk="1" hangingPunct="1"/>
            <a:r>
              <a:rPr lang="en-US" altLang="en-US" sz="3600" b="1" dirty="0">
                <a:solidFill>
                  <a:srgbClr val="006600"/>
                </a:solidFill>
              </a:rPr>
              <a:t>Abstraction (</a:t>
            </a:r>
            <a:r>
              <a:rPr lang="zh-TW" altLang="en-US" sz="3200" dirty="0"/>
              <a:t>資料抽象化</a:t>
            </a:r>
            <a:r>
              <a:rPr lang="en-US" altLang="en-US" sz="3600" b="1" dirty="0">
                <a:solidFill>
                  <a:srgbClr val="006600"/>
                </a:solidFill>
              </a:rPr>
              <a:t>)</a:t>
            </a:r>
          </a:p>
          <a:p>
            <a:pPr eaLnBrk="1" hangingPunct="1"/>
            <a:r>
              <a:rPr lang="en-US" altLang="en-US" sz="3600" b="1" dirty="0">
                <a:solidFill>
                  <a:srgbClr val="006600"/>
                </a:solidFill>
              </a:rPr>
              <a:t>Encapsulation (</a:t>
            </a:r>
            <a:r>
              <a:rPr lang="zh-TW" altLang="en-US" sz="3200" dirty="0"/>
              <a:t>封裝</a:t>
            </a:r>
            <a:r>
              <a:rPr lang="en-US" altLang="en-US" sz="3600" b="1" dirty="0">
                <a:solidFill>
                  <a:srgbClr val="006600"/>
                </a:solidFill>
              </a:rPr>
              <a:t>)</a:t>
            </a:r>
          </a:p>
          <a:p>
            <a:pPr eaLnBrk="1" hangingPunct="1"/>
            <a:r>
              <a:rPr lang="en-US" altLang="en-US" sz="3600" b="1" dirty="0">
                <a:solidFill>
                  <a:srgbClr val="006600"/>
                </a:solidFill>
              </a:rPr>
              <a:t>Modularity (</a:t>
            </a:r>
            <a:r>
              <a:rPr lang="zh-TW" altLang="en-US" sz="3200" dirty="0"/>
              <a:t>模組化</a:t>
            </a:r>
            <a:r>
              <a:rPr lang="en-US" altLang="en-US" sz="3600" b="1" dirty="0">
                <a:solidFill>
                  <a:srgbClr val="006600"/>
                </a:solidFill>
              </a:rPr>
              <a:t>)</a:t>
            </a:r>
          </a:p>
          <a:p>
            <a:pPr eaLnBrk="1" hangingPunct="1"/>
            <a:r>
              <a:rPr lang="en-US" altLang="en-US" sz="3600" b="1" dirty="0">
                <a:solidFill>
                  <a:srgbClr val="006600"/>
                </a:solidFill>
              </a:rPr>
              <a:t>Polymorphism (</a:t>
            </a:r>
            <a:r>
              <a:rPr lang="zh-TW" altLang="en-US" sz="3200" dirty="0"/>
              <a:t>多型</a:t>
            </a:r>
            <a:r>
              <a:rPr lang="en-US" altLang="en-US" sz="3600" b="1" dirty="0">
                <a:solidFill>
                  <a:srgbClr val="006600"/>
                </a:solidFill>
              </a:rPr>
              <a:t>)</a:t>
            </a:r>
          </a:p>
          <a:p>
            <a:pPr eaLnBrk="1" hangingPunct="1"/>
            <a:r>
              <a:rPr lang="en-US" altLang="en-US" sz="3600" b="1" dirty="0">
                <a:solidFill>
                  <a:srgbClr val="006600"/>
                </a:solidFill>
              </a:rPr>
              <a:t>Inheritance (</a:t>
            </a:r>
            <a:r>
              <a:rPr lang="zh-TW" altLang="en-US" sz="3200" dirty="0"/>
              <a:t>繼承</a:t>
            </a:r>
            <a:r>
              <a:rPr lang="en-US" altLang="en-US" sz="3600" b="1" dirty="0">
                <a:solidFill>
                  <a:srgbClr val="006600"/>
                </a:solidFill>
              </a:rPr>
              <a:t>)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-1" y="381000"/>
            <a:ext cx="9737725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 hangingPunct="1"/>
            <a:r>
              <a:rPr lang="en-US" altLang="en-US" sz="4400" dirty="0">
                <a:latin typeface="Elephant" panose="02020904090505020303" pitchFamily="18" charset="0"/>
              </a:rPr>
              <a:t>Fundamental</a:t>
            </a:r>
            <a:r>
              <a:rPr lang="en-US" altLang="en-US" sz="4000" dirty="0">
                <a:latin typeface="Elephant" panose="02020904090505020303" pitchFamily="18" charset="0"/>
              </a:rPr>
              <a:t> </a:t>
            </a:r>
            <a:r>
              <a:rPr lang="en-US" altLang="en-US" sz="4400" dirty="0">
                <a:latin typeface="Elephant" panose="02020904090505020303" pitchFamily="18" charset="0"/>
              </a:rPr>
              <a:t>Concepts of Object-Oriented Programming (OOP)</a:t>
            </a:r>
            <a:br>
              <a:rPr lang="en-US" altLang="en-US" sz="4400" dirty="0">
                <a:latin typeface="Elephant" panose="02020904090505020303" pitchFamily="18" charset="0"/>
              </a:rPr>
            </a:br>
            <a:r>
              <a:rPr lang="en-US" altLang="en-US" sz="4400" dirty="0">
                <a:latin typeface="Elephant" panose="02020904090505020303" pitchFamily="18" charset="0"/>
              </a:rPr>
              <a:t>(</a:t>
            </a:r>
            <a:r>
              <a:rPr lang="zh-TW" altLang="en-US" sz="4000" dirty="0"/>
              <a:t>物件導向</a:t>
            </a:r>
            <a:r>
              <a:rPr lang="en-US" altLang="en-US" sz="4400" dirty="0">
                <a:latin typeface="Elephant" panose="02020904090505020303" pitchFamily="18" charset="0"/>
              </a:rPr>
              <a:t>)</a:t>
            </a:r>
            <a:endParaRPr lang="en-US" altLang="en-US" sz="4400" kern="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08658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-1" y="0"/>
            <a:ext cx="9737725" cy="762000"/>
          </a:xfrm>
        </p:spPr>
        <p:txBody>
          <a:bodyPr/>
          <a:lstStyle/>
          <a:p>
            <a:pPr eaLnBrk="1" hangingPunct="1"/>
            <a:r>
              <a:rPr lang="en-US" altLang="en-US" sz="4400" spc="-270" dirty="0">
                <a:latin typeface="Elephant" panose="02020904090505020303" pitchFamily="18" charset="0"/>
              </a:rPr>
              <a:t>O</a:t>
            </a:r>
            <a:r>
              <a:rPr lang="en-US" altLang="en-US" sz="4400" spc="-200" dirty="0">
                <a:latin typeface="Elephant" panose="02020904090505020303" pitchFamily="18" charset="0"/>
              </a:rPr>
              <a:t>bject</a:t>
            </a:r>
            <a:r>
              <a:rPr lang="en-US" altLang="en-US" sz="4000" spc="-200" dirty="0">
                <a:latin typeface="Elephant" panose="02020904090505020303" pitchFamily="18" charset="0"/>
              </a:rPr>
              <a:t> </a:t>
            </a:r>
            <a:r>
              <a:rPr lang="en-US" altLang="en-US" sz="4400" spc="-200" dirty="0">
                <a:latin typeface="Elephant" panose="02020904090505020303" pitchFamily="18" charset="0"/>
              </a:rPr>
              <a:t>Oriented</a:t>
            </a:r>
            <a:r>
              <a:rPr lang="en-US" altLang="en-US" sz="4000" spc="-200" dirty="0">
                <a:latin typeface="Elephant" panose="02020904090505020303" pitchFamily="18" charset="0"/>
              </a:rPr>
              <a:t> </a:t>
            </a:r>
            <a:r>
              <a:rPr lang="en-US" altLang="en-US" sz="4400" spc="-200" dirty="0">
                <a:latin typeface="Elephant" panose="02020904090505020303" pitchFamily="18" charset="0"/>
              </a:rPr>
              <a:t>Programming</a:t>
            </a:r>
            <a:r>
              <a:rPr lang="en-US" altLang="en-US" sz="4000" spc="-200" dirty="0">
                <a:latin typeface="Elephant" panose="02020904090505020303" pitchFamily="18" charset="0"/>
              </a:rPr>
              <a:t> </a:t>
            </a:r>
            <a:r>
              <a:rPr lang="en-US" altLang="en-US" sz="4400" b="1" spc="-450" dirty="0">
                <a:latin typeface="Agency FB" panose="020B0503020202020204" pitchFamily="34" charset="0"/>
              </a:rPr>
              <a:t>(</a:t>
            </a:r>
            <a:r>
              <a:rPr lang="en-US" altLang="en-US" sz="4400" spc="-320" dirty="0">
                <a:latin typeface="Elephant" panose="02020904090505020303" pitchFamily="18" charset="0"/>
              </a:rPr>
              <a:t>O</a:t>
            </a:r>
            <a:r>
              <a:rPr lang="en-US" altLang="en-US" sz="4400" spc="-550" dirty="0">
                <a:latin typeface="Elephant" panose="02020904090505020303" pitchFamily="18" charset="0"/>
              </a:rPr>
              <a:t>O</a:t>
            </a:r>
            <a:r>
              <a:rPr lang="en-US" altLang="en-US" sz="4400" spc="-450" dirty="0">
                <a:latin typeface="Elephant" panose="02020904090505020303" pitchFamily="18" charset="0"/>
              </a:rPr>
              <a:t>P</a:t>
            </a:r>
            <a:r>
              <a:rPr lang="en-US" altLang="en-US" sz="4400" b="1" spc="-450" dirty="0">
                <a:latin typeface="Agency FB" panose="020B0503020202020204" pitchFamily="34" charset="0"/>
              </a:rPr>
              <a:t>)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296862" y="838200"/>
            <a:ext cx="9144000" cy="6019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600" dirty="0">
                <a:solidFill>
                  <a:schemeClr val="tx1"/>
                </a:solidFill>
              </a:rPr>
              <a:t>Object-oriented programming is a programming model focused on:</a:t>
            </a:r>
          </a:p>
          <a:p>
            <a:pPr marL="685800" lvl="1" indent="-342900" eaLnBrk="1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The idea of abstract </a:t>
            </a:r>
            <a:r>
              <a:rPr lang="en-US" altLang="en-US" sz="3200" b="1" i="1" dirty="0">
                <a:solidFill>
                  <a:srgbClr val="006600"/>
                </a:solidFill>
              </a:rPr>
              <a:t>objects</a:t>
            </a:r>
            <a:r>
              <a:rPr lang="en-US" altLang="en-US" sz="3200" b="1" dirty="0">
                <a:solidFill>
                  <a:srgbClr val="006600"/>
                </a:solidFill>
              </a:rPr>
              <a:t> </a:t>
            </a:r>
            <a:br>
              <a:rPr lang="en-US" altLang="en-US" sz="3200" dirty="0">
                <a:solidFill>
                  <a:schemeClr val="tx1"/>
                </a:solidFill>
              </a:rPr>
            </a:br>
            <a:r>
              <a:rPr lang="en-US" altLang="en-US" sz="3200" dirty="0">
                <a:solidFill>
                  <a:schemeClr val="tx1"/>
                </a:solidFill>
              </a:rPr>
              <a:t>(Rather than the details of what data structures are used to create those objects) </a:t>
            </a:r>
          </a:p>
          <a:p>
            <a:pPr marL="685800" lvl="1" indent="-342900" eaLnBrk="1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ja-JP" sz="3200" b="1" dirty="0">
                <a:solidFill>
                  <a:srgbClr val="006600"/>
                </a:solidFill>
              </a:rPr>
              <a:t>The specific </a:t>
            </a:r>
            <a:r>
              <a:rPr lang="en-US" altLang="ja-JP" sz="3200" b="1" i="1" dirty="0">
                <a:solidFill>
                  <a:srgbClr val="006600"/>
                </a:solidFill>
              </a:rPr>
              <a:t>ways</a:t>
            </a:r>
            <a:r>
              <a:rPr lang="en-US" altLang="ja-JP" sz="3200" b="1" dirty="0">
                <a:solidFill>
                  <a:srgbClr val="006600"/>
                </a:solidFill>
              </a:rPr>
              <a:t> that objects can be manipulated </a:t>
            </a:r>
            <a:r>
              <a:rPr lang="en-US" altLang="ja-JP" sz="3200" dirty="0">
                <a:solidFill>
                  <a:schemeClr val="tx1"/>
                </a:solidFill>
              </a:rPr>
              <a:t>(</a:t>
            </a:r>
            <a:r>
              <a:rPr lang="en-US" altLang="ja-JP" sz="3200" dirty="0" err="1">
                <a:solidFill>
                  <a:schemeClr val="tx1"/>
                </a:solidFill>
              </a:rPr>
              <a:t>ie</a:t>
            </a:r>
            <a:r>
              <a:rPr lang="en-US" altLang="ja-JP" sz="3200" dirty="0">
                <a:solidFill>
                  <a:schemeClr val="tx1"/>
                </a:solidFill>
              </a:rPr>
              <a:t>, the provided </a:t>
            </a:r>
            <a:r>
              <a:rPr lang="en-US" altLang="ja-JP" sz="3200" i="1" dirty="0">
                <a:solidFill>
                  <a:schemeClr val="tx1"/>
                </a:solidFill>
              </a:rPr>
              <a:t>methods</a:t>
            </a:r>
            <a:r>
              <a:rPr lang="en-US" altLang="ja-JP" sz="3200" dirty="0">
                <a:solidFill>
                  <a:schemeClr val="tx1"/>
                </a:solidFill>
              </a:rPr>
              <a:t>)</a:t>
            </a:r>
            <a:br>
              <a:rPr lang="en-US" altLang="ja-JP" sz="3200" dirty="0">
                <a:solidFill>
                  <a:schemeClr val="tx1"/>
                </a:solidFill>
              </a:rPr>
            </a:br>
            <a:r>
              <a:rPr lang="en-US" altLang="ja-JP" sz="3200" dirty="0">
                <a:solidFill>
                  <a:schemeClr val="tx1"/>
                </a:solidFill>
              </a:rPr>
              <a:t>(Rather than the logic of those manipulations)</a:t>
            </a:r>
          </a:p>
          <a:p>
            <a:pPr eaLnBrk="1" hangingPunct="1">
              <a:lnSpc>
                <a:spcPct val="90000"/>
              </a:lnSpc>
              <a:spcBef>
                <a:spcPts val="1500"/>
              </a:spcBef>
            </a:pPr>
            <a:r>
              <a:rPr lang="en-US" altLang="en-US" sz="3600" dirty="0">
                <a:solidFill>
                  <a:schemeClr val="tx1"/>
                </a:solidFill>
              </a:rPr>
              <a:t>The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600" b="1" dirty="0">
                <a:solidFill>
                  <a:srgbClr val="006600"/>
                </a:solidFill>
              </a:rPr>
              <a:t>client</a:t>
            </a:r>
            <a:r>
              <a:rPr lang="en-US" altLang="en-US" sz="3200" b="1" dirty="0">
                <a:solidFill>
                  <a:srgbClr val="006600"/>
                </a:solidFill>
              </a:rPr>
              <a:t> </a:t>
            </a:r>
            <a:r>
              <a:rPr lang="en-US" altLang="en-US" sz="3600" b="1" dirty="0">
                <a:solidFill>
                  <a:srgbClr val="006600"/>
                </a:solidFill>
              </a:rPr>
              <a:t>space</a:t>
            </a:r>
            <a:r>
              <a:rPr lang="en-US" altLang="en-US" sz="2800" dirty="0"/>
              <a:t> </a:t>
            </a:r>
            <a:r>
              <a:rPr lang="en-US" altLang="en-US" sz="3600" dirty="0">
                <a:solidFill>
                  <a:schemeClr val="tx1"/>
                </a:solidFill>
              </a:rPr>
              <a:t>is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600" dirty="0">
                <a:solidFill>
                  <a:schemeClr val="tx1"/>
                </a:solidFill>
              </a:rPr>
              <a:t>where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600" dirty="0">
                <a:solidFill>
                  <a:schemeClr val="tx1"/>
                </a:solidFill>
              </a:rPr>
              <a:t>these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600" dirty="0">
                <a:solidFill>
                  <a:schemeClr val="tx1"/>
                </a:solidFill>
              </a:rPr>
              <a:t>methods and attributes get accessed from.</a:t>
            </a:r>
          </a:p>
          <a:p>
            <a:pPr lvl="1" eaLnBrk="1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en-US" sz="3400" dirty="0">
                <a:solidFill>
                  <a:schemeClr val="tx1"/>
                </a:solidFill>
              </a:rPr>
              <a:t>The class can limit the client</a:t>
            </a:r>
            <a:r>
              <a:rPr lang="en-US" altLang="en-US" sz="3400" spc="-250" dirty="0">
                <a:solidFill>
                  <a:schemeClr val="tx1"/>
                </a:solidFill>
              </a:rPr>
              <a:t>’</a:t>
            </a:r>
            <a:r>
              <a:rPr lang="en-US" altLang="en-US" sz="3400" dirty="0">
                <a:solidFill>
                  <a:schemeClr val="tx1"/>
                </a:solidFill>
              </a:rPr>
              <a:t>s access, by using private attributes and methods.</a:t>
            </a:r>
          </a:p>
        </p:txBody>
      </p:sp>
    </p:spTree>
    <p:extLst>
      <p:ext uri="{BB962C8B-B14F-4D97-AF65-F5344CB8AC3E}">
        <p14:creationId xmlns:p14="http://schemas.microsoft.com/office/powerpoint/2010/main" val="691634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-1" y="0"/>
            <a:ext cx="9737725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  <a:cs typeface="Times New Roman" pitchFamily="18" charset="0"/>
              </a:rPr>
              <a:t>Object-Oriented Basics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296862" y="857250"/>
            <a:ext cx="9144000" cy="6000750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rgbClr val="006600"/>
                </a:solidFill>
              </a:rPr>
              <a:t>Object:</a:t>
            </a:r>
            <a:r>
              <a:rPr lang="en-US" altLang="en-US" sz="3200" b="1" dirty="0"/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 single software unit that combines </a:t>
            </a:r>
            <a:r>
              <a:rPr lang="en-US" altLang="en-US" sz="3200" b="1" dirty="0">
                <a:solidFill>
                  <a:schemeClr val="tx1"/>
                </a:solidFill>
              </a:rPr>
              <a:t>method</a:t>
            </a:r>
            <a:r>
              <a:rPr lang="en-US" altLang="en-US" sz="3200" b="1" spc="-100" dirty="0">
                <a:solidFill>
                  <a:schemeClr val="tx1"/>
                </a:solidFill>
              </a:rPr>
              <a:t>s </a:t>
            </a:r>
            <a:r>
              <a:rPr lang="en-US" altLang="en-US" sz="3200" dirty="0">
                <a:solidFill>
                  <a:schemeClr val="tx1"/>
                </a:solidFill>
              </a:rPr>
              <a:t>and </a:t>
            </a:r>
            <a:r>
              <a:rPr lang="en-US" altLang="en-US" sz="3200" b="1" dirty="0">
                <a:solidFill>
                  <a:schemeClr val="tx1"/>
                </a:solidFill>
              </a:rPr>
              <a:t>attributes</a:t>
            </a:r>
            <a:r>
              <a:rPr lang="en-US" altLang="en-US" sz="3200" dirty="0">
                <a:solidFill>
                  <a:schemeClr val="tx1"/>
                </a:solidFill>
              </a:rPr>
              <a:t>. 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Method(</a:t>
            </a:r>
            <a:r>
              <a:rPr lang="zh-TW" altLang="en-US" sz="2800" dirty="0">
                <a:solidFill>
                  <a:srgbClr val="006600"/>
                </a:solidFill>
              </a:rPr>
              <a:t>方法</a:t>
            </a:r>
            <a:r>
              <a:rPr lang="en-US" altLang="en-US" sz="3200" b="1" dirty="0">
                <a:solidFill>
                  <a:srgbClr val="006600"/>
                </a:solidFill>
              </a:rPr>
              <a:t>):</a:t>
            </a:r>
            <a:r>
              <a:rPr lang="en-US" altLang="en-US" sz="3200" dirty="0"/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 "behavior" of an object; it is a special </a:t>
            </a:r>
            <a:r>
              <a:rPr lang="en-US" altLang="en-US" sz="3200" b="1" dirty="0">
                <a:solidFill>
                  <a:schemeClr val="tx1"/>
                </a:solidFill>
              </a:rPr>
              <a:t>function</a:t>
            </a:r>
            <a:r>
              <a:rPr lang="en-US" altLang="en-US" sz="3200" dirty="0">
                <a:solidFill>
                  <a:schemeClr val="tx1"/>
                </a:solidFill>
              </a:rPr>
              <a:t> associated with an object.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en-US" sz="3200" b="1" dirty="0">
                <a:solidFill>
                  <a:srgbClr val="006600"/>
                </a:solidFill>
              </a:rPr>
              <a:t>Attribute(</a:t>
            </a:r>
            <a:r>
              <a:rPr lang="zh-TW" altLang="en-US" sz="2800" b="1" dirty="0">
                <a:solidFill>
                  <a:srgbClr val="006600"/>
                </a:solidFill>
              </a:rPr>
              <a:t>屬性</a:t>
            </a:r>
            <a:r>
              <a:rPr lang="en-US" altLang="en-US" sz="3200" b="1" dirty="0">
                <a:solidFill>
                  <a:srgbClr val="006600"/>
                </a:solidFill>
              </a:rPr>
              <a:t>):</a:t>
            </a:r>
            <a:r>
              <a:rPr lang="en-US" altLang="en-US" sz="3200" dirty="0"/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 "characteristic" of an object; it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is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special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b="1" dirty="0">
                <a:solidFill>
                  <a:schemeClr val="tx1"/>
                </a:solidFill>
              </a:rPr>
              <a:t>variable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associated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with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an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object.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en-US" sz="3200" dirty="0">
                <a:solidFill>
                  <a:schemeClr val="tx1"/>
                </a:solidFill>
              </a:rPr>
              <a:t>An </a:t>
            </a:r>
            <a:r>
              <a:rPr lang="en-US" altLang="en-US" sz="3200" b="1" dirty="0">
                <a:solidFill>
                  <a:schemeClr val="tx1"/>
                </a:solidFill>
              </a:rPr>
              <a:t>object</a:t>
            </a:r>
            <a:r>
              <a:rPr lang="en-US" altLang="en-US" sz="3200" dirty="0">
                <a:solidFill>
                  <a:schemeClr val="tx1"/>
                </a:solidFill>
              </a:rPr>
              <a:t> is an </a:t>
            </a:r>
            <a:r>
              <a:rPr lang="en-US" altLang="en-US" sz="3200" b="1" dirty="0">
                <a:solidFill>
                  <a:srgbClr val="006600"/>
                </a:solidFill>
              </a:rPr>
              <a:t>instance (</a:t>
            </a:r>
            <a:r>
              <a:rPr lang="zh-TW" altLang="en-US" sz="2800" b="1" dirty="0">
                <a:solidFill>
                  <a:srgbClr val="006600"/>
                </a:solidFill>
              </a:rPr>
              <a:t>實體</a:t>
            </a:r>
            <a:r>
              <a:rPr lang="en-US" altLang="en-US" sz="3200" b="1" dirty="0">
                <a:solidFill>
                  <a:srgbClr val="006600"/>
                </a:solidFill>
              </a:rPr>
              <a:t>) </a:t>
            </a:r>
            <a:r>
              <a:rPr lang="en-US" altLang="en-US" sz="3200" dirty="0">
                <a:solidFill>
                  <a:schemeClr val="tx1"/>
                </a:solidFill>
              </a:rPr>
              <a:t>of a </a:t>
            </a:r>
            <a:r>
              <a:rPr lang="en-US" altLang="en-US" sz="3200" b="1" dirty="0">
                <a:solidFill>
                  <a:schemeClr val="tx1"/>
                </a:solidFill>
              </a:rPr>
              <a:t>clas</a:t>
            </a:r>
            <a:r>
              <a:rPr lang="en-US" altLang="en-US" sz="3200" b="1" spc="-100" dirty="0">
                <a:solidFill>
                  <a:schemeClr val="tx1"/>
                </a:solidFill>
              </a:rPr>
              <a:t>s</a:t>
            </a:r>
            <a:r>
              <a:rPr lang="en-US" altLang="en-US" sz="3200" dirty="0">
                <a:solidFill>
                  <a:schemeClr val="tx1"/>
                </a:solidFill>
              </a:rPr>
              <a:t>.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en-US" sz="3200" b="1" spc="-80" dirty="0">
                <a:solidFill>
                  <a:srgbClr val="006600"/>
                </a:solidFill>
              </a:rPr>
              <a:t>Class:</a:t>
            </a:r>
            <a:r>
              <a:rPr lang="en-US" altLang="en-US" sz="3200" spc="-80" dirty="0">
                <a:solidFill>
                  <a:srgbClr val="006600"/>
                </a:solidFill>
              </a:rPr>
              <a:t> </a:t>
            </a:r>
            <a:r>
              <a:rPr lang="en-US" altLang="en-US" sz="3200" spc="-80" dirty="0">
                <a:solidFill>
                  <a:schemeClr val="tx1"/>
                </a:solidFill>
              </a:rPr>
              <a:t>A set of variables </a:t>
            </a:r>
            <a:r>
              <a:rPr lang="en-US" altLang="en-US" sz="3200" spc="-200" dirty="0">
                <a:solidFill>
                  <a:schemeClr val="tx1"/>
                </a:solidFill>
              </a:rPr>
              <a:t>(</a:t>
            </a:r>
            <a:r>
              <a:rPr lang="en-US" altLang="en-US" sz="3200" i="1" spc="-80" dirty="0" err="1">
                <a:solidFill>
                  <a:schemeClr val="tx1"/>
                </a:solidFill>
              </a:rPr>
              <a:t>i</a:t>
            </a:r>
            <a:r>
              <a:rPr lang="en-US" altLang="en-US" sz="3200" i="1" spc="-200" dirty="0" err="1">
                <a:solidFill>
                  <a:schemeClr val="tx1"/>
                </a:solidFill>
              </a:rPr>
              <a:t>e</a:t>
            </a:r>
            <a:r>
              <a:rPr lang="en-US" altLang="en-US" sz="3200" spc="-80" dirty="0">
                <a:solidFill>
                  <a:schemeClr val="tx1"/>
                </a:solidFill>
              </a:rPr>
              <a:t>, attribute</a:t>
            </a:r>
            <a:r>
              <a:rPr lang="en-US" altLang="en-US" sz="3200" spc="-200" dirty="0">
                <a:solidFill>
                  <a:schemeClr val="tx1"/>
                </a:solidFill>
              </a:rPr>
              <a:t>s</a:t>
            </a:r>
            <a:r>
              <a:rPr lang="en-US" altLang="en-US" sz="3200" spc="-80" dirty="0">
                <a:solidFill>
                  <a:schemeClr val="tx1"/>
                </a:solidFill>
              </a:rPr>
              <a:t>) &amp; functions </a:t>
            </a:r>
            <a:r>
              <a:rPr lang="en-US" altLang="en-US" sz="3200" spc="-100" dirty="0">
                <a:solidFill>
                  <a:schemeClr val="tx1"/>
                </a:solidFill>
              </a:rPr>
              <a:t>(</a:t>
            </a:r>
            <a:r>
              <a:rPr lang="en-US" altLang="en-US" sz="3200" i="1" dirty="0" err="1">
                <a:solidFill>
                  <a:schemeClr val="tx1"/>
                </a:solidFill>
              </a:rPr>
              <a:t>ie</a:t>
            </a:r>
            <a:r>
              <a:rPr lang="en-US" altLang="en-US" sz="3200" dirty="0">
                <a:solidFill>
                  <a:schemeClr val="tx1"/>
                </a:solidFill>
              </a:rPr>
              <a:t>, method</a:t>
            </a:r>
            <a:r>
              <a:rPr lang="en-US" altLang="en-US" sz="3200" spc="-100" dirty="0">
                <a:solidFill>
                  <a:schemeClr val="tx1"/>
                </a:solidFill>
              </a:rPr>
              <a:t>s</a:t>
            </a:r>
            <a:r>
              <a:rPr lang="en-US" altLang="en-US" sz="3200" dirty="0">
                <a:solidFill>
                  <a:schemeClr val="tx1"/>
                </a:solidFill>
              </a:rPr>
              <a:t>) for working with those variables.</a:t>
            </a:r>
          </a:p>
        </p:txBody>
      </p:sp>
    </p:spTree>
    <p:extLst>
      <p:ext uri="{BB962C8B-B14F-4D97-AF65-F5344CB8AC3E}">
        <p14:creationId xmlns:p14="http://schemas.microsoft.com/office/powerpoint/2010/main" val="1912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296862" y="762000"/>
            <a:ext cx="9144000" cy="6096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class Critter(object):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talk(self):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   print ("An instance of the class.")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crit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= Critter()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crit.talk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()</a:t>
            </a:r>
          </a:p>
          <a:p>
            <a:pPr marL="285750" indent="-285750" eaLnBrk="1" hangingPunct="1">
              <a:lnSpc>
                <a:spcPct val="90000"/>
              </a:lnSpc>
            </a:pPr>
            <a:r>
              <a:rPr lang="en-US" altLang="en-US" sz="3200" dirty="0">
                <a:solidFill>
                  <a:srgbClr val="FF0000"/>
                </a:solidFill>
              </a:rPr>
              <a:t>Defining a class:</a:t>
            </a:r>
          </a:p>
          <a:p>
            <a:pPr marL="571500" lvl="1" ea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800" spc="-100" dirty="0">
                <a:solidFill>
                  <a:schemeClr val="tx1"/>
                </a:solidFill>
              </a:rPr>
              <a:t>Name begins with capital letter, by convention </a:t>
            </a:r>
            <a:r>
              <a:rPr lang="en-US" altLang="en-US" sz="3200" spc="-200" dirty="0">
                <a:solidFill>
                  <a:schemeClr val="tx1"/>
                </a:solidFill>
              </a:rPr>
              <a:t>(</a:t>
            </a:r>
            <a:r>
              <a:rPr lang="zh-TW" altLang="en-US" sz="2800" spc="-200" dirty="0">
                <a:solidFill>
                  <a:schemeClr val="tx1"/>
                </a:solidFill>
              </a:rPr>
              <a:t>命名慣例</a:t>
            </a:r>
            <a:r>
              <a:rPr lang="en-US" altLang="en-US" sz="3200" spc="-200" dirty="0">
                <a:solidFill>
                  <a:schemeClr val="tx1"/>
                </a:solidFill>
              </a:rPr>
              <a:t>)</a:t>
            </a:r>
            <a:r>
              <a:rPr lang="en-US" altLang="en-US" sz="2800" spc="-100" dirty="0">
                <a:solidFill>
                  <a:schemeClr val="tx1"/>
                </a:solidFill>
              </a:rPr>
              <a:t>.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solidFill>
                  <a:srgbClr val="FF0000"/>
                </a:solidFill>
              </a:rPr>
              <a:t>Defining a method: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sz="2800" spc="-70" dirty="0">
                <a:solidFill>
                  <a:schemeClr val="tx1"/>
                </a:solidFill>
              </a:rPr>
              <a:t>The first parameter </a:t>
            </a:r>
            <a:r>
              <a:rPr lang="en-US" altLang="en-US" sz="2800" spc="-100" dirty="0">
                <a:solidFill>
                  <a:schemeClr val="tx1"/>
                </a:solidFill>
              </a:rPr>
              <a:t>(self, by convention</a:t>
            </a:r>
            <a:r>
              <a:rPr lang="en-US" altLang="en-US" sz="2800" spc="-70" dirty="0">
                <a:solidFill>
                  <a:schemeClr val="tx1"/>
                </a:solidFill>
              </a:rPr>
              <a:t>) is needed so that the method can refer to the object itself.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solidFill>
                  <a:srgbClr val="FF0000"/>
                </a:solidFill>
              </a:rPr>
              <a:t>Creating an instance: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800" spc="-60" dirty="0">
                <a:solidFill>
                  <a:schemeClr val="tx1"/>
                </a:solidFill>
              </a:rPr>
              <a:t>Avoid using a lowercase-version of the class name.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>
                <a:solidFill>
                  <a:srgbClr val="FF0000"/>
                </a:solidFill>
              </a:rPr>
              <a:t>Calling a method: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altLang="en-US" sz="2800" spc="-60" dirty="0">
                <a:solidFill>
                  <a:schemeClr val="tx1"/>
                </a:solidFill>
              </a:rPr>
              <a:t>Don't give the self argument (it's given automatically).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830262" y="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Creating and Using a Class</a:t>
            </a:r>
          </a:p>
        </p:txBody>
      </p:sp>
    </p:spTree>
    <p:extLst>
      <p:ext uri="{BB962C8B-B14F-4D97-AF65-F5344CB8AC3E}">
        <p14:creationId xmlns:p14="http://schemas.microsoft.com/office/powerpoint/2010/main" val="275917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5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830262" y="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Creating Multiple Objects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296862" y="685800"/>
            <a:ext cx="9144000" cy="61722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en-US" sz="1200" dirty="0">
              <a:latin typeface="Courier New" pitchFamily="49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3200" dirty="0"/>
              <a:t>Two objects are created here: </a:t>
            </a:r>
          </a:p>
          <a:p>
            <a:pPr indent="400050" eaLnBrk="1" hangingPunct="1">
              <a:buFontTx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crit1 = Critter()</a:t>
            </a:r>
          </a:p>
          <a:p>
            <a:pPr indent="400050" eaLnBrk="1" hangingPunct="1">
              <a:buFontTx/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crit2 = Critter()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en-US" sz="3200" dirty="0"/>
              <a:t>Each object is independent, so changing one won't affect the other.</a:t>
            </a:r>
          </a:p>
          <a:p>
            <a:pPr lvl="1" eaLnBrk="1" hangingPunct="1"/>
            <a:r>
              <a:rPr lang="en-US" altLang="en-US" sz="3000" dirty="0"/>
              <a:t>But we already knew that, because we’ve used multiple independent objects since lecture #1:</a:t>
            </a:r>
          </a:p>
          <a:p>
            <a:pPr lvl="1" eaLnBrk="1" hangingPunct="1">
              <a:buClr>
                <a:schemeClr val="bg1"/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altLang="en-US" sz="2800" dirty="0">
                <a:latin typeface="Lucida Console" panose="020B0609040504020204" pitchFamily="49" charset="0"/>
              </a:rPr>
              <a:t> a=list(); b=list(); type(a)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&lt;class 'list'&gt;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altLang="en-US" sz="2800" dirty="0">
                <a:latin typeface="Lucida Console" panose="020B0609040504020204" pitchFamily="49" charset="0"/>
              </a:rPr>
              <a:t> b+</a:t>
            </a:r>
            <a:r>
              <a:rPr lang="en-US" altLang="en-US" sz="2800" spc="-100" dirty="0">
                <a:latin typeface="Lucida Console" panose="020B0609040504020204" pitchFamily="49" charset="0"/>
              </a:rPr>
              <a:t>=[1]; a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#Se</a:t>
            </a:r>
            <a:r>
              <a:rPr lang="en-US" altLang="en-US" sz="2800" spc="-200" dirty="0">
                <a:solidFill>
                  <a:srgbClr val="FFC000"/>
                </a:solidFill>
                <a:latin typeface="Lucida Console" panose="020B0609040504020204" pitchFamily="49" charset="0"/>
              </a:rPr>
              <a:t>e,</a:t>
            </a:r>
            <a:r>
              <a:rPr lang="en-US" altLang="en-US" spc="-2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200" dirty="0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pc="-2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200" dirty="0">
                <a:solidFill>
                  <a:srgbClr val="FFC000"/>
                </a:solidFill>
                <a:latin typeface="Lucida Console" panose="020B0609040504020204" pitchFamily="49" charset="0"/>
              </a:rPr>
              <a:t>(&amp;</a:t>
            </a:r>
            <a:r>
              <a:rPr lang="en-US" altLang="en-US" spc="-2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200" dirty="0">
                <a:solidFill>
                  <a:srgbClr val="FFC000"/>
                </a:solidFill>
                <a:latin typeface="Lucida Console" panose="020B0609040504020204" pitchFamily="49" charset="0"/>
              </a:rPr>
              <a:t>b)</a:t>
            </a:r>
            <a:r>
              <a:rPr lang="en-US" altLang="en-US" spc="-2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200" dirty="0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re</a:t>
            </a:r>
            <a:r>
              <a:rPr lang="en-US" alt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list</a:t>
            </a:r>
            <a:r>
              <a:rPr lang="en-US" alt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objects</a:t>
            </a:r>
            <a:br>
              <a:rPr lang="en-US" altLang="en-US" sz="2800" dirty="0">
                <a:solidFill>
                  <a:srgbClr val="FFC000"/>
                </a:solidFill>
                <a:latin typeface="Lucida Console" panose="020B0609040504020204" pitchFamily="49" charset="0"/>
              </a:rPr>
            </a:b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[]</a:t>
            </a:r>
            <a:br>
              <a:rPr lang="en-US" altLang="en-US" sz="2800" dirty="0">
                <a:latin typeface="Lucida Console" panose="020B0609040504020204" pitchFamily="49" charset="0"/>
              </a:rPr>
            </a:b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#See,</a:t>
            </a:r>
            <a:r>
              <a:rPr lang="en-US" alt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is</a:t>
            </a:r>
            <a:r>
              <a:rPr lang="en-US" alt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independent</a:t>
            </a:r>
            <a:r>
              <a:rPr lang="en-US" alt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of</a:t>
            </a:r>
            <a:r>
              <a:rPr lang="en-US" alt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how</a:t>
            </a:r>
            <a:r>
              <a:rPr lang="en-US" altLang="en-US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b changes</a:t>
            </a:r>
            <a:endParaRPr lang="en-US" altLang="en-US" sz="2800" spc="-100" dirty="0">
              <a:solidFill>
                <a:srgbClr val="FFC000"/>
              </a:solidFill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1497012" y="5531427"/>
            <a:ext cx="1943100" cy="52647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039812" y="6012872"/>
            <a:ext cx="8401050" cy="84512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6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0262" y="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simple class definition:</a:t>
            </a:r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838200"/>
            <a:ext cx="8988552" cy="6019800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    greet(self):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...      print ("Good afternoon.")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= 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Good afternoon.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dirty="0">
              <a:solidFill>
                <a:schemeClr val="bg1"/>
              </a:solidFill>
              <a:latin typeface="Courier New" pitchFamily="49" charset="0"/>
            </a:endParaRPr>
          </a:p>
          <a:p>
            <a:pPr marL="284163" indent="-284163" eaLnBrk="1" hangingPunct="1">
              <a:spcBef>
                <a:spcPts val="600"/>
              </a:spcBef>
            </a:pPr>
            <a:r>
              <a:rPr lang="en-US" altLang="en-US" sz="3200" dirty="0"/>
              <a:t>When you </a:t>
            </a:r>
            <a:r>
              <a:rPr lang="en-US" altLang="en-US" sz="3200" i="1" dirty="0">
                <a:solidFill>
                  <a:srgbClr val="00B0F0"/>
                </a:solidFill>
              </a:rPr>
              <a:t>define</a:t>
            </a:r>
            <a:r>
              <a:rPr lang="en-US" altLang="en-US" sz="3200" dirty="0"/>
              <a:t> a </a:t>
            </a:r>
            <a:r>
              <a:rPr lang="en-US" altLang="en-US" sz="3200" i="1" dirty="0">
                <a:solidFill>
                  <a:srgbClr val="FF0000"/>
                </a:solidFill>
              </a:rPr>
              <a:t>class</a:t>
            </a:r>
            <a:r>
              <a:rPr lang="en-US" altLang="en-US" sz="3200" dirty="0"/>
              <a:t>, you provide: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A</a:t>
            </a:r>
            <a:r>
              <a:rPr lang="en-US" altLang="en-US" sz="2000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class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name</a:t>
            </a:r>
            <a:r>
              <a:rPr lang="en-US" altLang="en-US" sz="1800" dirty="0"/>
              <a:t> </a:t>
            </a:r>
            <a:r>
              <a:rPr lang="en-US" altLang="en-US" sz="2800" dirty="0"/>
              <a:t>(begin</a:t>
            </a:r>
            <a:r>
              <a:rPr lang="en-US" altLang="en-US" sz="1800" dirty="0"/>
              <a:t> </a:t>
            </a:r>
            <a:r>
              <a:rPr lang="en-US" altLang="en-US" sz="2800" dirty="0"/>
              <a:t>with</a:t>
            </a:r>
            <a:r>
              <a:rPr lang="en-US" altLang="en-US" sz="2000" dirty="0"/>
              <a:t> </a:t>
            </a:r>
            <a:r>
              <a:rPr lang="en-US" altLang="en-US" sz="2800" dirty="0"/>
              <a:t>capital</a:t>
            </a:r>
            <a:r>
              <a:rPr lang="en-US" altLang="en-US" sz="2000" dirty="0"/>
              <a:t> </a:t>
            </a:r>
            <a:r>
              <a:rPr lang="en-US" altLang="en-US" sz="2800" dirty="0"/>
              <a:t>letter,</a:t>
            </a:r>
            <a:r>
              <a:rPr lang="en-US" altLang="en-US" sz="1800" dirty="0"/>
              <a:t> </a:t>
            </a:r>
            <a:r>
              <a:rPr lang="en-US" altLang="en-US" sz="2800" dirty="0"/>
              <a:t>by</a:t>
            </a:r>
            <a:r>
              <a:rPr lang="en-US" altLang="en-US" sz="1800" dirty="0"/>
              <a:t> </a:t>
            </a:r>
            <a:r>
              <a:rPr lang="en-US" altLang="en-US" sz="2800" dirty="0"/>
              <a:t>convention)  </a:t>
            </a:r>
          </a:p>
          <a:p>
            <a:pPr eaLnBrk="1" hangingPunct="1">
              <a:buFontTx/>
              <a:buNone/>
            </a:pPr>
            <a:endParaRPr lang="en-US" altLang="en-US" sz="24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19635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838200"/>
            <a:ext cx="8988552" cy="6019800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800" dirty="0">
                <a:latin typeface="Lucida Console" panose="020B0609040504020204" pitchFamily="49" charset="0"/>
              </a:rPr>
              <a:t>self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   print ("</a:t>
            </a:r>
            <a:r>
              <a:rPr lang="en-US" altLang="en-US" sz="2800" dirty="0">
                <a:solidFill>
                  <a:srgbClr val="0033CC"/>
                </a:solidFill>
                <a:latin typeface="Lucida Console" panose="020B0609040504020204" pitchFamily="49" charset="0"/>
              </a:rPr>
              <a:t>Good afternoon.</a:t>
            </a:r>
            <a:r>
              <a:rPr lang="en-US" altLang="en-US" sz="28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 = 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 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Good afternoon.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dirty="0">
              <a:solidFill>
                <a:schemeClr val="bg1"/>
              </a:solidFill>
              <a:latin typeface="Courier New" pitchFamily="49" charset="0"/>
            </a:endParaRPr>
          </a:p>
          <a:p>
            <a:pPr marL="284163" indent="-284163" eaLnBrk="1" hangingPunct="1">
              <a:spcBef>
                <a:spcPts val="600"/>
              </a:spcBef>
            </a:pPr>
            <a:r>
              <a:rPr lang="en-US" altLang="en-US" sz="3200" dirty="0"/>
              <a:t>When you </a:t>
            </a:r>
            <a:r>
              <a:rPr lang="en-US" altLang="en-US" sz="3200" i="1" dirty="0">
                <a:solidFill>
                  <a:srgbClr val="00B0F0"/>
                </a:solidFill>
              </a:rPr>
              <a:t>define</a:t>
            </a:r>
            <a:r>
              <a:rPr lang="en-US" altLang="en-US" sz="3200" dirty="0"/>
              <a:t> a </a:t>
            </a:r>
            <a:r>
              <a:rPr lang="en-US" altLang="en-US" sz="3200" i="1" dirty="0">
                <a:solidFill>
                  <a:srgbClr val="FF0000"/>
                </a:solidFill>
              </a:rPr>
              <a:t>class</a:t>
            </a:r>
            <a:r>
              <a:rPr lang="en-US" altLang="en-US" sz="3200" dirty="0"/>
              <a:t>, you provide: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A</a:t>
            </a:r>
            <a:r>
              <a:rPr lang="en-US" altLang="en-US" sz="2000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class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name</a:t>
            </a:r>
            <a:r>
              <a:rPr lang="en-US" altLang="en-US" sz="1800" dirty="0"/>
              <a:t> </a:t>
            </a:r>
            <a:r>
              <a:rPr lang="en-US" altLang="en-US" sz="2800" dirty="0"/>
              <a:t>(begin</a:t>
            </a:r>
            <a:r>
              <a:rPr lang="en-US" altLang="en-US" sz="1800" dirty="0"/>
              <a:t> </a:t>
            </a:r>
            <a:r>
              <a:rPr lang="en-US" altLang="en-US" sz="2800" dirty="0"/>
              <a:t>with</a:t>
            </a:r>
            <a:r>
              <a:rPr lang="en-US" altLang="en-US" sz="2000" dirty="0"/>
              <a:t> </a:t>
            </a:r>
            <a:r>
              <a:rPr lang="en-US" altLang="en-US" sz="2800" dirty="0"/>
              <a:t>capital</a:t>
            </a:r>
            <a:r>
              <a:rPr lang="en-US" altLang="en-US" sz="2000" dirty="0"/>
              <a:t> </a:t>
            </a:r>
            <a:r>
              <a:rPr lang="en-US" altLang="en-US" sz="2800" dirty="0"/>
              <a:t>letter,</a:t>
            </a:r>
            <a:r>
              <a:rPr lang="en-US" altLang="en-US" sz="1800" dirty="0"/>
              <a:t> </a:t>
            </a:r>
            <a:r>
              <a:rPr lang="en-US" altLang="en-US" sz="2800" dirty="0"/>
              <a:t>by</a:t>
            </a:r>
            <a:r>
              <a:rPr lang="en-US" altLang="en-US" sz="1800" dirty="0"/>
              <a:t> </a:t>
            </a:r>
            <a:r>
              <a:rPr lang="en-US" altLang="en-US" sz="2800" dirty="0"/>
              <a:t>convention)  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Maybe some </a:t>
            </a:r>
            <a:r>
              <a:rPr lang="en-US" altLang="en-US" sz="2800" dirty="0" err="1">
                <a:solidFill>
                  <a:srgbClr val="FFC000"/>
                </a:solidFill>
              </a:rPr>
              <a:t>attributes</a:t>
            </a:r>
            <a:r>
              <a:rPr lang="en-US" altLang="en-US" sz="2800" dirty="0" err="1"/>
              <a:t>&amp;</a:t>
            </a:r>
            <a:r>
              <a:rPr lang="en-US" altLang="en-US" sz="2800" dirty="0" err="1">
                <a:solidFill>
                  <a:srgbClr val="7030A0"/>
                </a:solidFill>
              </a:rPr>
              <a:t>methods</a:t>
            </a:r>
            <a:r>
              <a:rPr lang="en-US" altLang="en-US" sz="2800" dirty="0"/>
              <a:t> (like </a:t>
            </a:r>
            <a:r>
              <a:rPr lang="en-US" altLang="en-US" sz="2800" dirty="0">
                <a:solidFill>
                  <a:srgbClr val="7030A0"/>
                </a:solidFill>
              </a:rPr>
              <a:t>greet()</a:t>
            </a:r>
            <a:r>
              <a:rPr lang="en-US" altLang="en-US" sz="2800" dirty="0"/>
              <a:t>, above)</a:t>
            </a:r>
            <a:endParaRPr lang="en-US" altLang="en-US" sz="1100" dirty="0">
              <a:latin typeface="Courier New" pitchFamily="49" charset="0"/>
            </a:endParaRPr>
          </a:p>
          <a:p>
            <a:pPr eaLnBrk="1" hangingPunct="1">
              <a:buFontTx/>
              <a:buNone/>
            </a:pPr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525462" y="4419600"/>
            <a:ext cx="8686800" cy="457200"/>
          </a:xfrm>
          <a:prstGeom prst="rect">
            <a:avLst/>
          </a:prstGeom>
          <a:solidFill>
            <a:srgbClr val="FFFFFF">
              <a:alpha val="3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211262" y="838200"/>
            <a:ext cx="4572000" cy="381000"/>
          </a:xfrm>
          <a:prstGeom prst="rect">
            <a:avLst/>
          </a:prstGeom>
          <a:solidFill>
            <a:srgbClr val="FFFFFF">
              <a:alpha val="3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class containing a method:</a:t>
            </a: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4046824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838200"/>
            <a:ext cx="8988552" cy="6019800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800" dirty="0">
                <a:latin typeface="Lucida Console" panose="020B0609040504020204" pitchFamily="49" charset="0"/>
              </a:rPr>
              <a:t>self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   print ("</a:t>
            </a:r>
            <a:r>
              <a:rPr lang="en-US" altLang="en-US" sz="2800" dirty="0">
                <a:solidFill>
                  <a:srgbClr val="0033CC"/>
                </a:solidFill>
                <a:latin typeface="Lucida Console" panose="020B0609040504020204" pitchFamily="49" charset="0"/>
              </a:rPr>
              <a:t>Good afternoon.</a:t>
            </a:r>
            <a:r>
              <a:rPr lang="en-US" altLang="en-US" sz="28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800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latin typeface="Lucida Console" panose="020B0609040504020204" pitchFamily="49" charset="0"/>
              </a:rPr>
              <a:t>=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Good afternoon.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dirty="0">
              <a:solidFill>
                <a:schemeClr val="bg1"/>
              </a:solidFill>
              <a:latin typeface="Courier New" pitchFamily="49" charset="0"/>
            </a:endParaRPr>
          </a:p>
          <a:p>
            <a:pPr marL="284163" indent="-284163" eaLnBrk="1" hangingPunct="1">
              <a:spcBef>
                <a:spcPts val="600"/>
              </a:spcBef>
            </a:pPr>
            <a:r>
              <a:rPr lang="en-US" altLang="en-US" sz="3200" dirty="0"/>
              <a:t>When you </a:t>
            </a:r>
            <a:r>
              <a:rPr lang="en-US" altLang="en-US" sz="3200" i="1" dirty="0">
                <a:solidFill>
                  <a:srgbClr val="00B0F0"/>
                </a:solidFill>
              </a:rPr>
              <a:t>define</a:t>
            </a:r>
            <a:r>
              <a:rPr lang="en-US" altLang="en-US" sz="3200" dirty="0"/>
              <a:t> a </a:t>
            </a:r>
            <a:r>
              <a:rPr lang="en-US" altLang="en-US" sz="3200" i="1" dirty="0">
                <a:solidFill>
                  <a:srgbClr val="FF0000"/>
                </a:solidFill>
              </a:rPr>
              <a:t>class</a:t>
            </a:r>
            <a:r>
              <a:rPr lang="en-US" altLang="en-US" sz="3200" dirty="0"/>
              <a:t>, you provide: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A</a:t>
            </a:r>
            <a:r>
              <a:rPr lang="en-US" altLang="en-US" sz="2000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class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name</a:t>
            </a:r>
            <a:r>
              <a:rPr lang="en-US" altLang="en-US" sz="1800" dirty="0"/>
              <a:t> </a:t>
            </a:r>
            <a:r>
              <a:rPr lang="en-US" altLang="en-US" sz="2800" dirty="0"/>
              <a:t>(begin</a:t>
            </a:r>
            <a:r>
              <a:rPr lang="en-US" altLang="en-US" sz="1800" dirty="0"/>
              <a:t> </a:t>
            </a:r>
            <a:r>
              <a:rPr lang="en-US" altLang="en-US" sz="2800" dirty="0"/>
              <a:t>with</a:t>
            </a:r>
            <a:r>
              <a:rPr lang="en-US" altLang="en-US" sz="2000" dirty="0"/>
              <a:t> </a:t>
            </a:r>
            <a:r>
              <a:rPr lang="en-US" altLang="en-US" sz="2800" dirty="0"/>
              <a:t>capital</a:t>
            </a:r>
            <a:r>
              <a:rPr lang="en-US" altLang="en-US" sz="2000" dirty="0"/>
              <a:t> </a:t>
            </a:r>
            <a:r>
              <a:rPr lang="en-US" altLang="en-US" sz="2800" dirty="0"/>
              <a:t>letter,</a:t>
            </a:r>
            <a:r>
              <a:rPr lang="en-US" altLang="en-US" sz="1800" dirty="0"/>
              <a:t> </a:t>
            </a:r>
            <a:r>
              <a:rPr lang="en-US" altLang="en-US" sz="2800" dirty="0"/>
              <a:t>by</a:t>
            </a:r>
            <a:r>
              <a:rPr lang="en-US" altLang="en-US" sz="1800" dirty="0"/>
              <a:t> </a:t>
            </a:r>
            <a:r>
              <a:rPr lang="en-US" altLang="en-US" sz="2800" dirty="0"/>
              <a:t>convention)  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Maybe some </a:t>
            </a:r>
            <a:r>
              <a:rPr lang="en-US" altLang="en-US" sz="2800" dirty="0" err="1">
                <a:solidFill>
                  <a:srgbClr val="FFC000"/>
                </a:solidFill>
              </a:rPr>
              <a:t>attributes</a:t>
            </a:r>
            <a:r>
              <a:rPr lang="en-US" altLang="en-US" sz="2800" dirty="0" err="1"/>
              <a:t>&amp;</a:t>
            </a:r>
            <a:r>
              <a:rPr lang="en-US" altLang="en-US" sz="2800" dirty="0" err="1">
                <a:solidFill>
                  <a:srgbClr val="7030A0"/>
                </a:solidFill>
              </a:rPr>
              <a:t>methods</a:t>
            </a:r>
            <a:r>
              <a:rPr lang="en-US" altLang="en-US" sz="2800" dirty="0"/>
              <a:t> (like </a:t>
            </a:r>
            <a:r>
              <a:rPr lang="en-US" altLang="en-US" sz="2800" dirty="0">
                <a:solidFill>
                  <a:srgbClr val="7030A0"/>
                </a:solidFill>
              </a:rPr>
              <a:t>greet()</a:t>
            </a:r>
            <a:r>
              <a:rPr lang="en-US" altLang="en-US" sz="2800" dirty="0"/>
              <a:t>, above)</a:t>
            </a:r>
            <a:endParaRPr lang="en-US" altLang="en-US" sz="1100" dirty="0">
              <a:latin typeface="Courier New" pitchFamily="49" charset="0"/>
            </a:endParaRPr>
          </a:p>
          <a:p>
            <a:pPr marL="284163" indent="-284163" eaLnBrk="1" hangingPunct="1"/>
            <a:r>
              <a:rPr lang="en-US" altLang="en-US" sz="3200" dirty="0"/>
              <a:t>But you </a:t>
            </a:r>
            <a:r>
              <a:rPr lang="en-US" altLang="en-US" sz="3200" i="1" dirty="0">
                <a:solidFill>
                  <a:srgbClr val="00B0F0"/>
                </a:solidFill>
              </a:rPr>
              <a:t>create</a:t>
            </a:r>
            <a:r>
              <a:rPr lang="en-US" altLang="en-US" sz="3200" dirty="0"/>
              <a:t> an </a:t>
            </a:r>
            <a:r>
              <a:rPr lang="en-US" altLang="en-US" sz="3200" i="1" dirty="0">
                <a:solidFill>
                  <a:srgbClr val="006600"/>
                </a:solidFill>
              </a:rPr>
              <a:t>instance</a:t>
            </a:r>
            <a:r>
              <a:rPr lang="en-US" altLang="en-US" sz="3200" dirty="0"/>
              <a:t> of t</a:t>
            </a:r>
            <a:r>
              <a:rPr lang="en-US" altLang="en-US" sz="3200" dirty="0">
                <a:solidFill>
                  <a:schemeClr val="tx1"/>
                </a:solidFill>
              </a:rPr>
              <a:t>he class</a:t>
            </a:r>
            <a:r>
              <a:rPr lang="en-US" altLang="en-US" sz="3200" dirty="0"/>
              <a:t> when you define an </a:t>
            </a:r>
            <a:r>
              <a:rPr lang="en-US" altLang="en-US" sz="3200" dirty="0">
                <a:solidFill>
                  <a:srgbClr val="006600"/>
                </a:solidFill>
              </a:rPr>
              <a:t>object</a:t>
            </a:r>
            <a:r>
              <a:rPr lang="en-US" altLang="en-US" sz="3200" dirty="0"/>
              <a:t> (like </a:t>
            </a:r>
            <a:r>
              <a:rPr lang="en-US" altLang="en-US" sz="3200" dirty="0" err="1">
                <a:solidFill>
                  <a:srgbClr val="006600"/>
                </a:solidFill>
              </a:rPr>
              <a:t>inst</a:t>
            </a:r>
            <a:r>
              <a:rPr lang="en-US" altLang="en-US" sz="3200" dirty="0"/>
              <a:t>, above)</a:t>
            </a:r>
          </a:p>
          <a:p>
            <a:pPr eaLnBrk="1" hangingPunct="1">
              <a:buFontTx/>
              <a:buNone/>
            </a:pPr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296862" y="3810000"/>
            <a:ext cx="9144000" cy="1600200"/>
          </a:xfrm>
          <a:prstGeom prst="rect">
            <a:avLst/>
          </a:prstGeom>
          <a:solidFill>
            <a:srgbClr val="FFFFFF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211262" y="762000"/>
            <a:ext cx="6858000" cy="1219200"/>
          </a:xfrm>
          <a:prstGeom prst="rect">
            <a:avLst/>
          </a:prstGeom>
          <a:solidFill>
            <a:srgbClr val="FFFFFF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class containing a method:</a:t>
            </a: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8863910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838200"/>
            <a:ext cx="8988552" cy="6019800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800" dirty="0">
                <a:latin typeface="Lucida Console" panose="020B0609040504020204" pitchFamily="49" charset="0"/>
              </a:rPr>
              <a:t>self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   print ("</a:t>
            </a:r>
            <a:r>
              <a:rPr lang="en-US" altLang="en-US" sz="2800" dirty="0">
                <a:solidFill>
                  <a:srgbClr val="0033CC"/>
                </a:solidFill>
                <a:latin typeface="Lucida Console" panose="020B0609040504020204" pitchFamily="49" charset="0"/>
              </a:rPr>
              <a:t>Good afternoon.</a:t>
            </a:r>
            <a:r>
              <a:rPr lang="en-US" altLang="en-US" sz="28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800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latin typeface="Lucida Console" panose="020B0609040504020204" pitchFamily="49" charset="0"/>
              </a:rPr>
              <a:t>=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greet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33CC"/>
                </a:solidFill>
                <a:latin typeface="Lucida Console" panose="020B0609040504020204" pitchFamily="49" charset="0"/>
              </a:rPr>
              <a:t>Good afternoon.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dirty="0">
              <a:latin typeface="Courier New" pitchFamily="49" charset="0"/>
            </a:endParaRPr>
          </a:p>
          <a:p>
            <a:pPr marL="284163" indent="-284163" eaLnBrk="1" hangingPunct="1">
              <a:spcBef>
                <a:spcPts val="600"/>
              </a:spcBef>
            </a:pPr>
            <a:r>
              <a:rPr lang="en-US" altLang="en-US" sz="3200" dirty="0"/>
              <a:t>When you </a:t>
            </a:r>
            <a:r>
              <a:rPr lang="en-US" altLang="en-US" sz="3200" i="1" dirty="0">
                <a:solidFill>
                  <a:srgbClr val="00B0F0"/>
                </a:solidFill>
              </a:rPr>
              <a:t>define</a:t>
            </a:r>
            <a:r>
              <a:rPr lang="en-US" altLang="en-US" sz="3200" dirty="0"/>
              <a:t> a </a:t>
            </a:r>
            <a:r>
              <a:rPr lang="en-US" altLang="en-US" sz="3200" i="1" dirty="0">
                <a:solidFill>
                  <a:srgbClr val="FF0000"/>
                </a:solidFill>
              </a:rPr>
              <a:t>class</a:t>
            </a:r>
            <a:r>
              <a:rPr lang="en-US" altLang="en-US" sz="3200" dirty="0"/>
              <a:t>, you provide: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A</a:t>
            </a:r>
            <a:r>
              <a:rPr lang="en-US" altLang="en-US" sz="2000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class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name</a:t>
            </a:r>
            <a:r>
              <a:rPr lang="en-US" altLang="en-US" sz="1800" dirty="0"/>
              <a:t> </a:t>
            </a:r>
            <a:r>
              <a:rPr lang="en-US" altLang="en-US" sz="2800" dirty="0"/>
              <a:t>(begin</a:t>
            </a:r>
            <a:r>
              <a:rPr lang="en-US" altLang="en-US" sz="1800" dirty="0"/>
              <a:t> </a:t>
            </a:r>
            <a:r>
              <a:rPr lang="en-US" altLang="en-US" sz="2800" dirty="0"/>
              <a:t>with</a:t>
            </a:r>
            <a:r>
              <a:rPr lang="en-US" altLang="en-US" sz="2000" dirty="0"/>
              <a:t> </a:t>
            </a:r>
            <a:r>
              <a:rPr lang="en-US" altLang="en-US" sz="2800" dirty="0"/>
              <a:t>capital</a:t>
            </a:r>
            <a:r>
              <a:rPr lang="en-US" altLang="en-US" sz="2000" dirty="0"/>
              <a:t> </a:t>
            </a:r>
            <a:r>
              <a:rPr lang="en-US" altLang="en-US" sz="2800" dirty="0"/>
              <a:t>letter,</a:t>
            </a:r>
            <a:r>
              <a:rPr lang="en-US" altLang="en-US" sz="1800" dirty="0"/>
              <a:t> </a:t>
            </a:r>
            <a:r>
              <a:rPr lang="en-US" altLang="en-US" sz="2800" dirty="0"/>
              <a:t>by</a:t>
            </a:r>
            <a:r>
              <a:rPr lang="en-US" altLang="en-US" sz="1800" dirty="0"/>
              <a:t> </a:t>
            </a:r>
            <a:r>
              <a:rPr lang="en-US" altLang="en-US" sz="2800" dirty="0"/>
              <a:t>convention)  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Maybe some </a:t>
            </a:r>
            <a:r>
              <a:rPr lang="en-US" altLang="en-US" sz="2800" dirty="0" err="1">
                <a:solidFill>
                  <a:srgbClr val="FFC000"/>
                </a:solidFill>
              </a:rPr>
              <a:t>attributes</a:t>
            </a:r>
            <a:r>
              <a:rPr lang="en-US" altLang="en-US" sz="2800" dirty="0" err="1"/>
              <a:t>&amp;</a:t>
            </a:r>
            <a:r>
              <a:rPr lang="en-US" altLang="en-US" sz="2800" dirty="0" err="1">
                <a:solidFill>
                  <a:srgbClr val="7030A0"/>
                </a:solidFill>
              </a:rPr>
              <a:t>methods</a:t>
            </a:r>
            <a:r>
              <a:rPr lang="en-US" altLang="en-US" sz="2800" dirty="0"/>
              <a:t> (like </a:t>
            </a:r>
            <a:r>
              <a:rPr lang="en-US" altLang="en-US" sz="2800" dirty="0">
                <a:solidFill>
                  <a:srgbClr val="7030A0"/>
                </a:solidFill>
              </a:rPr>
              <a:t>greet()</a:t>
            </a:r>
            <a:r>
              <a:rPr lang="en-US" altLang="en-US" sz="2800" dirty="0"/>
              <a:t>, above)</a:t>
            </a:r>
            <a:endParaRPr lang="en-US" altLang="en-US" sz="1100" dirty="0">
              <a:latin typeface="Courier New" pitchFamily="49" charset="0"/>
            </a:endParaRPr>
          </a:p>
          <a:p>
            <a:pPr marL="284163" indent="-284163" eaLnBrk="1" hangingPunct="1"/>
            <a:r>
              <a:rPr lang="en-US" altLang="en-US" sz="3200" dirty="0"/>
              <a:t>But you </a:t>
            </a:r>
            <a:r>
              <a:rPr lang="en-US" altLang="en-US" sz="3200" i="1" dirty="0">
                <a:solidFill>
                  <a:srgbClr val="00B0F0"/>
                </a:solidFill>
              </a:rPr>
              <a:t>create</a:t>
            </a:r>
            <a:r>
              <a:rPr lang="en-US" altLang="en-US" sz="3200" dirty="0"/>
              <a:t> an </a:t>
            </a:r>
            <a:r>
              <a:rPr lang="en-US" altLang="en-US" sz="3200" i="1" dirty="0">
                <a:solidFill>
                  <a:srgbClr val="006600"/>
                </a:solidFill>
              </a:rPr>
              <a:t>instance</a:t>
            </a:r>
            <a:r>
              <a:rPr lang="en-US" altLang="en-US" sz="3200" dirty="0"/>
              <a:t> of t</a:t>
            </a:r>
            <a:r>
              <a:rPr lang="en-US" altLang="en-US" sz="3200" dirty="0">
                <a:solidFill>
                  <a:schemeClr val="tx1"/>
                </a:solidFill>
              </a:rPr>
              <a:t>he class</a:t>
            </a:r>
            <a:r>
              <a:rPr lang="en-US" altLang="en-US" sz="3200" dirty="0"/>
              <a:t> when you define an </a:t>
            </a:r>
            <a:r>
              <a:rPr lang="en-US" altLang="en-US" sz="3200" dirty="0">
                <a:solidFill>
                  <a:srgbClr val="006600"/>
                </a:solidFill>
              </a:rPr>
              <a:t>object</a:t>
            </a:r>
            <a:r>
              <a:rPr lang="en-US" altLang="en-US" sz="3200" dirty="0"/>
              <a:t> (like </a:t>
            </a:r>
            <a:r>
              <a:rPr lang="en-US" altLang="en-US" sz="3200" dirty="0" err="1">
                <a:solidFill>
                  <a:srgbClr val="006600"/>
                </a:solidFill>
              </a:rPr>
              <a:t>inst</a:t>
            </a:r>
            <a:r>
              <a:rPr lang="en-US" altLang="en-US" sz="3200" dirty="0"/>
              <a:t>, above)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An instance can invoke methods</a:t>
            </a:r>
            <a:r>
              <a:rPr lang="en-US" altLang="en-US" sz="1800" dirty="0"/>
              <a:t> </a:t>
            </a:r>
            <a:r>
              <a:rPr lang="en-US" altLang="en-US" sz="2800" dirty="0"/>
              <a:t>(like  </a:t>
            </a:r>
            <a:r>
              <a:rPr lang="en-US" altLang="en-US" sz="2800" dirty="0" err="1">
                <a:solidFill>
                  <a:srgbClr val="006600"/>
                </a:solidFill>
              </a:rPr>
              <a:t>inst.</a:t>
            </a:r>
            <a:r>
              <a:rPr lang="en-US" altLang="en-US" sz="2800" dirty="0" err="1">
                <a:solidFill>
                  <a:srgbClr val="7030A0"/>
                </a:solidFill>
              </a:rPr>
              <a:t>greet</a:t>
            </a:r>
            <a:r>
              <a:rPr lang="en-US" altLang="en-US" sz="2800" dirty="0">
                <a:solidFill>
                  <a:srgbClr val="7030A0"/>
                </a:solidFill>
              </a:rPr>
              <a:t>()</a:t>
            </a:r>
            <a:r>
              <a:rPr lang="en-US" altLang="en-US" sz="2800" dirty="0"/>
              <a:t>)  </a:t>
            </a:r>
            <a:endParaRPr lang="en-US" altLang="en-US" sz="3000" dirty="0"/>
          </a:p>
          <a:p>
            <a:pPr eaLnBrk="1" hangingPunct="1">
              <a:buFontTx/>
              <a:buNone/>
            </a:pPr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452310" y="5410200"/>
            <a:ext cx="8988552" cy="990600"/>
          </a:xfrm>
          <a:prstGeom prst="rect">
            <a:avLst/>
          </a:prstGeom>
          <a:solidFill>
            <a:srgbClr val="FFFFFF">
              <a:alpha val="3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211262" y="2057400"/>
            <a:ext cx="6858000" cy="6858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211262" y="762000"/>
            <a:ext cx="6858000" cy="493183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452310" y="3810000"/>
            <a:ext cx="8988552" cy="16002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class containing a method:</a:t>
            </a:r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64272475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class containing a method:</a:t>
            </a:r>
            <a:endParaRPr lang="en-US" altLang="en-US" sz="4400" dirty="0"/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838200"/>
            <a:ext cx="8988552" cy="6019800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greet(</a:t>
            </a:r>
            <a:r>
              <a:rPr lang="en-US" altLang="en-US" sz="2800" dirty="0">
                <a:latin typeface="Lucida Console" panose="020B0609040504020204" pitchFamily="49" charset="0"/>
              </a:rPr>
              <a:t>self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   print ("</a:t>
            </a:r>
            <a:r>
              <a:rPr lang="en-US" altLang="en-US" sz="2800" dirty="0">
                <a:solidFill>
                  <a:srgbClr val="0033CC"/>
                </a:solidFill>
                <a:latin typeface="Lucida Console" panose="020B0609040504020204" pitchFamily="49" charset="0"/>
              </a:rPr>
              <a:t>Good afternoon.</a:t>
            </a:r>
            <a:r>
              <a:rPr lang="en-US" altLang="en-US" sz="2800" dirty="0">
                <a:latin typeface="Lucida Console" panose="020B0609040504020204" pitchFamily="49" charset="0"/>
              </a:rPr>
              <a:t>")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800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latin typeface="Lucida Console" panose="020B0609040504020204" pitchFamily="49" charset="0"/>
              </a:rPr>
              <a:t>= 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greet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33CC"/>
                </a:solidFill>
                <a:latin typeface="Lucida Console" panose="020B0609040504020204" pitchFamily="49" charset="0"/>
              </a:rPr>
              <a:t>Good afternoon.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dirty="0">
              <a:latin typeface="Courier New" pitchFamily="49" charset="0"/>
            </a:endParaRPr>
          </a:p>
          <a:p>
            <a:pPr marL="284163" indent="-284163" eaLnBrk="1" hangingPunct="1">
              <a:spcBef>
                <a:spcPts val="600"/>
              </a:spcBef>
            </a:pPr>
            <a:r>
              <a:rPr lang="en-US" altLang="en-US" sz="3200" dirty="0"/>
              <a:t>When you </a:t>
            </a:r>
            <a:r>
              <a:rPr lang="en-US" altLang="en-US" sz="3200" i="1" dirty="0">
                <a:solidFill>
                  <a:srgbClr val="00B0F0"/>
                </a:solidFill>
              </a:rPr>
              <a:t>define</a:t>
            </a:r>
            <a:r>
              <a:rPr lang="en-US" altLang="en-US" sz="3200" dirty="0"/>
              <a:t> a </a:t>
            </a:r>
            <a:r>
              <a:rPr lang="en-US" altLang="en-US" sz="3200" i="1" dirty="0">
                <a:solidFill>
                  <a:srgbClr val="FF0000"/>
                </a:solidFill>
              </a:rPr>
              <a:t>class</a:t>
            </a:r>
            <a:r>
              <a:rPr lang="en-US" altLang="en-US" sz="3200" dirty="0"/>
              <a:t>, you provide: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A</a:t>
            </a:r>
            <a:r>
              <a:rPr lang="en-US" altLang="en-US" sz="2000" dirty="0"/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class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800" dirty="0">
                <a:solidFill>
                  <a:srgbClr val="FF0000"/>
                </a:solidFill>
              </a:rPr>
              <a:t>name</a:t>
            </a:r>
            <a:r>
              <a:rPr lang="en-US" altLang="en-US" sz="1800" dirty="0"/>
              <a:t> </a:t>
            </a:r>
            <a:r>
              <a:rPr lang="en-US" altLang="en-US" sz="2800" dirty="0"/>
              <a:t>(begin</a:t>
            </a:r>
            <a:r>
              <a:rPr lang="en-US" altLang="en-US" sz="1800" dirty="0"/>
              <a:t> </a:t>
            </a:r>
            <a:r>
              <a:rPr lang="en-US" altLang="en-US" sz="2800" dirty="0"/>
              <a:t>with</a:t>
            </a:r>
            <a:r>
              <a:rPr lang="en-US" altLang="en-US" sz="2000" dirty="0"/>
              <a:t> </a:t>
            </a:r>
            <a:r>
              <a:rPr lang="en-US" altLang="en-US" sz="2800" dirty="0"/>
              <a:t>capital</a:t>
            </a:r>
            <a:r>
              <a:rPr lang="en-US" altLang="en-US" sz="2000" dirty="0"/>
              <a:t> </a:t>
            </a:r>
            <a:r>
              <a:rPr lang="en-US" altLang="en-US" sz="2800" dirty="0"/>
              <a:t>letter,</a:t>
            </a:r>
            <a:r>
              <a:rPr lang="en-US" altLang="en-US" sz="1800" dirty="0"/>
              <a:t> </a:t>
            </a:r>
            <a:r>
              <a:rPr lang="en-US" altLang="en-US" sz="2800" dirty="0"/>
              <a:t>by</a:t>
            </a:r>
            <a:r>
              <a:rPr lang="en-US" altLang="en-US" sz="1800" dirty="0"/>
              <a:t> </a:t>
            </a:r>
            <a:r>
              <a:rPr lang="en-US" altLang="en-US" sz="2800" dirty="0"/>
              <a:t>convention)  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Maybe some </a:t>
            </a:r>
            <a:r>
              <a:rPr lang="en-US" altLang="en-US" sz="2800" dirty="0" err="1">
                <a:solidFill>
                  <a:srgbClr val="FFC000"/>
                </a:solidFill>
              </a:rPr>
              <a:t>attributes</a:t>
            </a:r>
            <a:r>
              <a:rPr lang="en-US" altLang="en-US" sz="2800" dirty="0" err="1"/>
              <a:t>&amp;</a:t>
            </a:r>
            <a:r>
              <a:rPr lang="en-US" altLang="en-US" sz="2800" dirty="0" err="1">
                <a:solidFill>
                  <a:srgbClr val="7030A0"/>
                </a:solidFill>
              </a:rPr>
              <a:t>methods</a:t>
            </a:r>
            <a:r>
              <a:rPr lang="en-US" altLang="en-US" sz="2800" dirty="0"/>
              <a:t> (like </a:t>
            </a:r>
            <a:r>
              <a:rPr lang="en-US" altLang="en-US" sz="2800" dirty="0">
                <a:solidFill>
                  <a:srgbClr val="7030A0"/>
                </a:solidFill>
              </a:rPr>
              <a:t>greet()</a:t>
            </a:r>
            <a:r>
              <a:rPr lang="en-US" altLang="en-US" sz="2800" dirty="0"/>
              <a:t>, above)</a:t>
            </a:r>
            <a:endParaRPr lang="en-US" altLang="en-US" sz="1100" dirty="0">
              <a:latin typeface="Courier New" pitchFamily="49" charset="0"/>
            </a:endParaRPr>
          </a:p>
          <a:p>
            <a:pPr marL="284163" indent="-284163" eaLnBrk="1" hangingPunct="1"/>
            <a:r>
              <a:rPr lang="en-US" altLang="en-US" sz="3200" dirty="0"/>
              <a:t>But you </a:t>
            </a:r>
            <a:r>
              <a:rPr lang="en-US" altLang="en-US" sz="3200" i="1" dirty="0">
                <a:solidFill>
                  <a:srgbClr val="00B0F0"/>
                </a:solidFill>
              </a:rPr>
              <a:t>create</a:t>
            </a:r>
            <a:r>
              <a:rPr lang="en-US" altLang="en-US" sz="3200" dirty="0"/>
              <a:t> an </a:t>
            </a:r>
            <a:r>
              <a:rPr lang="en-US" altLang="en-US" sz="3200" i="1" dirty="0">
                <a:solidFill>
                  <a:srgbClr val="006600"/>
                </a:solidFill>
              </a:rPr>
              <a:t>instance</a:t>
            </a:r>
            <a:r>
              <a:rPr lang="en-US" altLang="en-US" sz="3200" dirty="0"/>
              <a:t> of t</a:t>
            </a:r>
            <a:r>
              <a:rPr lang="en-US" altLang="en-US" sz="3200" dirty="0">
                <a:solidFill>
                  <a:schemeClr val="tx1"/>
                </a:solidFill>
              </a:rPr>
              <a:t>he class</a:t>
            </a:r>
            <a:r>
              <a:rPr lang="en-US" altLang="en-US" sz="3200" dirty="0"/>
              <a:t> when you define an </a:t>
            </a:r>
            <a:r>
              <a:rPr lang="en-US" altLang="en-US" sz="3200" dirty="0">
                <a:solidFill>
                  <a:srgbClr val="006600"/>
                </a:solidFill>
              </a:rPr>
              <a:t>object</a:t>
            </a:r>
            <a:r>
              <a:rPr lang="en-US" altLang="en-US" sz="3200" dirty="0"/>
              <a:t> (like </a:t>
            </a:r>
            <a:r>
              <a:rPr lang="en-US" altLang="en-US" sz="3200" dirty="0" err="1">
                <a:solidFill>
                  <a:srgbClr val="006600"/>
                </a:solidFill>
              </a:rPr>
              <a:t>inst</a:t>
            </a:r>
            <a:r>
              <a:rPr lang="en-US" altLang="en-US" sz="3200" dirty="0"/>
              <a:t>, above)</a:t>
            </a:r>
          </a:p>
          <a:p>
            <a:pPr marL="396875" lvl="1" indent="-223838" eaLnBrk="1" hangingPunct="1">
              <a:spcBef>
                <a:spcPts val="0"/>
              </a:spcBef>
            </a:pPr>
            <a:r>
              <a:rPr lang="en-US" altLang="en-US" sz="2800" dirty="0"/>
              <a:t>An instance can invoke methods</a:t>
            </a:r>
            <a:r>
              <a:rPr lang="en-US" altLang="en-US" sz="1800" dirty="0"/>
              <a:t> </a:t>
            </a:r>
            <a:r>
              <a:rPr lang="en-US" altLang="en-US" sz="2800" dirty="0"/>
              <a:t>(like  </a:t>
            </a:r>
            <a:r>
              <a:rPr lang="en-US" altLang="en-US" sz="2800" dirty="0" err="1">
                <a:solidFill>
                  <a:srgbClr val="006600"/>
                </a:solidFill>
              </a:rPr>
              <a:t>inst.</a:t>
            </a:r>
            <a:r>
              <a:rPr lang="en-US" altLang="en-US" sz="2800" dirty="0" err="1">
                <a:solidFill>
                  <a:srgbClr val="7030A0"/>
                </a:solidFill>
              </a:rPr>
              <a:t>greet</a:t>
            </a:r>
            <a:r>
              <a:rPr lang="en-US" altLang="en-US" sz="2800" dirty="0">
                <a:solidFill>
                  <a:srgbClr val="7030A0"/>
                </a:solidFill>
              </a:rPr>
              <a:t>()</a:t>
            </a:r>
            <a:r>
              <a:rPr lang="en-US" altLang="en-US" sz="2800" dirty="0"/>
              <a:t>)  </a:t>
            </a:r>
            <a:endParaRPr lang="en-US" altLang="en-US" sz="3000" dirty="0"/>
          </a:p>
          <a:p>
            <a:pPr eaLnBrk="1" hangingPunct="1">
              <a:buFontTx/>
              <a:buNone/>
            </a:pPr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9" name="Rounded Rectangular Callout 6"/>
          <p:cNvSpPr/>
          <p:nvPr/>
        </p:nvSpPr>
        <p:spPr bwMode="auto">
          <a:xfrm>
            <a:off x="4487862" y="5334000"/>
            <a:ext cx="4648200" cy="1447800"/>
          </a:xfrm>
          <a:prstGeom prst="wedgeRoundRectCallout">
            <a:avLst>
              <a:gd name="adj1" fmla="val -46920"/>
              <a:gd name="adj2" fmla="val -31510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But look at its definition! It takes 1 argument, “self”. </a:t>
            </a: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Q: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What’s going on?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8" name="Rounded Rectangular Callout 6"/>
          <p:cNvSpPr/>
          <p:nvPr/>
        </p:nvSpPr>
        <p:spPr bwMode="auto">
          <a:xfrm>
            <a:off x="528510" y="5334000"/>
            <a:ext cx="3959352" cy="1447800"/>
          </a:xfrm>
          <a:prstGeom prst="wedgeRoundRectCallout">
            <a:avLst>
              <a:gd name="adj1" fmla="val 31277"/>
              <a:gd name="adj2" fmla="val -21474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Hey! When we called greet(), we didn’t pass any arguments…</a:t>
            </a:r>
            <a:endParaRPr lang="zh-TW" altLang="en-US" sz="3200" dirty="0">
              <a:solidFill>
                <a:srgbClr val="C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0" name="Rounded Rectangular Callout 6"/>
          <p:cNvSpPr/>
          <p:nvPr/>
        </p:nvSpPr>
        <p:spPr bwMode="auto">
          <a:xfrm>
            <a:off x="5935662" y="0"/>
            <a:ext cx="3505200" cy="2895600"/>
          </a:xfrm>
          <a:prstGeom prst="wedgeRoundRectCallout">
            <a:avLst>
              <a:gd name="adj1" fmla="val -79023"/>
              <a:gd name="adj2" fmla="val -435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A:</a:t>
            </a:r>
            <a:r>
              <a:rPr lang="en-US" altLang="zh-TW" sz="20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the</a:t>
            </a:r>
            <a:r>
              <a:rPr lang="en-US" altLang="zh-TW" sz="24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1</a:t>
            </a:r>
            <a:r>
              <a:rPr lang="en-US" altLang="zh-TW" sz="3200" baseline="300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st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parameter (which we usually name as “self,” by convention) is not put into the caller’s argument list. </a:t>
            </a:r>
          </a:p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TW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1" name="Rounded Rectangular Callout 6"/>
          <p:cNvSpPr/>
          <p:nvPr/>
        </p:nvSpPr>
        <p:spPr bwMode="auto">
          <a:xfrm>
            <a:off x="296862" y="3619500"/>
            <a:ext cx="2438400" cy="1104901"/>
          </a:xfrm>
          <a:prstGeom prst="wedgeRoundRectCallout">
            <a:avLst>
              <a:gd name="adj1" fmla="val 109758"/>
              <a:gd name="adj2" fmla="val -23801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Q2: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OK. But what is it?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2" name="Rounded Rectangular Callout 6"/>
          <p:cNvSpPr/>
          <p:nvPr/>
        </p:nvSpPr>
        <p:spPr bwMode="auto">
          <a:xfrm>
            <a:off x="449262" y="1333500"/>
            <a:ext cx="2438400" cy="1943101"/>
          </a:xfrm>
          <a:prstGeom prst="wedgeRoundRectCallout">
            <a:avLst>
              <a:gd name="adj1" fmla="val -36132"/>
              <a:gd name="adj2" fmla="val 7423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A2: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To answer, let’s see another example…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524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class containing an attribute:</a:t>
            </a:r>
          </a:p>
        </p:txBody>
      </p:sp>
      <p:sp>
        <p:nvSpPr>
          <p:cNvPr id="18" name="Rectangle 1027"/>
          <p:cNvSpPr txBox="1">
            <a:spLocks noChangeArrowheads="1"/>
          </p:cNvSpPr>
          <p:nvPr/>
        </p:nvSpPr>
        <p:spPr bwMode="auto">
          <a:xfrm>
            <a:off x="452310" y="838200"/>
            <a:ext cx="8988552" cy="601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defTabSz="914400" eaLnBrk="1" hangingPunct="1">
              <a:lnSpc>
                <a:spcPct val="87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8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kern="0" dirty="0">
                <a:latin typeface="Lucida Console" panose="020B0609040504020204" pitchFamily="49" charset="0"/>
              </a:rPr>
              <a:t>():</a:t>
            </a:r>
          </a:p>
          <a:p>
            <a:pPr defTabSz="914400" eaLnBrk="1" hangingPunct="1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kern="0" dirty="0">
                <a:latin typeface="Lucida Console" panose="020B0609040504020204" pitchFamily="49" charset="0"/>
              </a:rPr>
              <a:t>   </a:t>
            </a:r>
            <a:r>
              <a:rPr lang="en-US" altLang="en-US" sz="2800" kern="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kern="0" dirty="0"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set(</a:t>
            </a:r>
            <a:r>
              <a:rPr lang="en-US" altLang="en-US" sz="2800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2800" kern="0" dirty="0" err="1">
                <a:latin typeface="Lucida Console" panose="020B0609040504020204" pitchFamily="49" charset="0"/>
              </a:rPr>
              <a:t>,</a:t>
            </a:r>
            <a:r>
              <a:rPr lang="en-US" altLang="en-US" sz="28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kern="0" dirty="0">
                <a:latin typeface="Lucida Console" panose="020B0609040504020204" pitchFamily="49" charset="0"/>
              </a:rPr>
              <a:t>:</a:t>
            </a:r>
          </a:p>
          <a:p>
            <a:pPr defTabSz="914400" eaLnBrk="1" hangingPunct="1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kern="0" dirty="0">
                <a:latin typeface="Lucida Console" panose="020B0609040504020204" pitchFamily="49" charset="0"/>
              </a:rPr>
              <a:t>      </a:t>
            </a:r>
            <a:r>
              <a:rPr lang="en-US" altLang="en-US" sz="2800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self.</a:t>
            </a: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en-US" sz="2800" kern="0" dirty="0">
                <a:latin typeface="Lucida Console" panose="020B0609040504020204" pitchFamily="49" charset="0"/>
              </a:rPr>
              <a:t> = x</a:t>
            </a:r>
          </a:p>
          <a:p>
            <a:pPr defTabSz="914400" eaLnBrk="1" hangingPunct="1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kern="0" dirty="0">
              <a:latin typeface="Lucida Console" panose="020B0609040504020204" pitchFamily="49" charset="0"/>
            </a:endParaRPr>
          </a:p>
          <a:p>
            <a:pPr defTabSz="914400" eaLnBrk="1" hangingPunct="1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800" kern="0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= </a:t>
            </a:r>
            <a:r>
              <a:rPr lang="en-US" altLang="en-US" sz="28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()</a:t>
            </a:r>
          </a:p>
          <a:p>
            <a:pPr defTabSz="914400" eaLnBrk="1" hangingPunct="1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kern="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defTabSz="914400" eaLnBrk="1" hangingPunct="1">
              <a:lnSpc>
                <a:spcPct val="87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kern="0" dirty="0">
              <a:latin typeface="Courier New" pitchFamily="49" charset="0"/>
            </a:endParaRPr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838200"/>
            <a:ext cx="8988552" cy="601980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set(</a:t>
            </a:r>
            <a:r>
              <a:rPr lang="en-US" altLang="en-US" sz="28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,x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   </a:t>
            </a:r>
            <a:r>
              <a:rPr lang="en-US" altLang="en-US" sz="2800" b="1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.val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= x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endParaRPr lang="en-US" altLang="en-US" sz="1100" dirty="0">
              <a:latin typeface="Courier New" pitchFamily="49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 bwMode="auto">
          <a:xfrm flipV="1">
            <a:off x="3573462" y="1600200"/>
            <a:ext cx="1066800" cy="112290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Rounded Rectangular Callout 6"/>
          <p:cNvSpPr/>
          <p:nvPr/>
        </p:nvSpPr>
        <p:spPr bwMode="auto">
          <a:xfrm>
            <a:off x="4634522" y="4437604"/>
            <a:ext cx="4653941" cy="2420397"/>
          </a:xfrm>
          <a:prstGeom prst="wedgeRoundRectCallout">
            <a:avLst>
              <a:gd name="adj1" fmla="val -79689"/>
              <a:gd name="adj2" fmla="val -15219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FFC000"/>
                </a:solidFill>
                <a:latin typeface="Times New Roman" charset="0"/>
                <a:ea typeface="MS PGothic" pitchFamily="34" charset="-128"/>
              </a:rPr>
              <a:t>A3: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Because what “self” is, actually, is a pointer to it</a:t>
            </a:r>
            <a:r>
              <a:rPr lang="en-US" altLang="zh-TW" sz="3200" u="sng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self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(</a:t>
            </a:r>
            <a:r>
              <a:rPr lang="en-US" altLang="zh-TW" sz="3200" dirty="0" err="1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ie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,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to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the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object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that all of the attributes and methods</a:t>
            </a:r>
            <a:r>
              <a:rPr lang="en-US" altLang="zh-TW" sz="24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are</a:t>
            </a:r>
            <a:r>
              <a:rPr lang="en-US" altLang="zh-TW" sz="24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associated</a:t>
            </a:r>
            <a:r>
              <a:rPr lang="en-US" altLang="zh-TW" sz="24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to).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1" name="Rounded Rectangular Callout 6"/>
          <p:cNvSpPr/>
          <p:nvPr/>
        </p:nvSpPr>
        <p:spPr bwMode="auto">
          <a:xfrm>
            <a:off x="296862" y="3619500"/>
            <a:ext cx="2438400" cy="1104901"/>
          </a:xfrm>
          <a:prstGeom prst="wedgeRoundRectCallout">
            <a:avLst>
              <a:gd name="adj1" fmla="val 98457"/>
              <a:gd name="adj2" fmla="val -23801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Q2: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OK. But what is it?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2" name="Rounded Rectangular Callout 6"/>
          <p:cNvSpPr/>
          <p:nvPr/>
        </p:nvSpPr>
        <p:spPr bwMode="auto">
          <a:xfrm>
            <a:off x="449262" y="1333500"/>
            <a:ext cx="2438400" cy="1943101"/>
          </a:xfrm>
          <a:prstGeom prst="wedgeRoundRectCallout">
            <a:avLst>
              <a:gd name="adj1" fmla="val -36132"/>
              <a:gd name="adj2" fmla="val 7423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A2: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To answer, let’s see another example…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3" name="Rounded Rectangular Callout 6"/>
          <p:cNvSpPr/>
          <p:nvPr/>
        </p:nvSpPr>
        <p:spPr bwMode="auto">
          <a:xfrm>
            <a:off x="4640262" y="2286000"/>
            <a:ext cx="4648200" cy="990600"/>
          </a:xfrm>
          <a:prstGeom prst="wedgeRoundRectCallout">
            <a:avLst>
              <a:gd name="adj1" fmla="val -83977"/>
              <a:gd name="adj2" fmla="val -8300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Now, “self” is used here. </a:t>
            </a:r>
            <a:b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</a:b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Q3: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Why?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4" name="Rounded Rectangular Callout 6"/>
          <p:cNvSpPr/>
          <p:nvPr/>
        </p:nvSpPr>
        <p:spPr bwMode="auto">
          <a:xfrm>
            <a:off x="4634522" y="4437604"/>
            <a:ext cx="4653941" cy="2420397"/>
          </a:xfrm>
          <a:prstGeom prst="wedgeRoundRectCallout">
            <a:avLst>
              <a:gd name="adj1" fmla="val -13748"/>
              <a:gd name="adj2" fmla="val -100444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A3: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Because what “self” is, actually, is a pointer to it</a:t>
            </a:r>
            <a:r>
              <a:rPr lang="en-US" altLang="zh-TW" sz="3200" u="sng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self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(</a:t>
            </a:r>
            <a:r>
              <a:rPr lang="en-US" altLang="zh-TW" sz="3200" dirty="0" err="1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ie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,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to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the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object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that all of the attributes and methods</a:t>
            </a:r>
            <a:r>
              <a:rPr lang="en-US" altLang="zh-TW" sz="24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are</a:t>
            </a:r>
            <a:r>
              <a:rPr lang="en-US" altLang="zh-TW" sz="24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associated</a:t>
            </a:r>
            <a:r>
              <a:rPr lang="en-US" altLang="zh-TW" sz="24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to).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5" name="Rounded Rectangular Callout 6"/>
          <p:cNvSpPr/>
          <p:nvPr/>
        </p:nvSpPr>
        <p:spPr bwMode="auto">
          <a:xfrm>
            <a:off x="291122" y="4419601"/>
            <a:ext cx="2901340" cy="2420397"/>
          </a:xfrm>
          <a:prstGeom prst="wedgeRoundRectCallout">
            <a:avLst>
              <a:gd name="adj1" fmla="val 107569"/>
              <a:gd name="adj2" fmla="val 461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In other words, it is similar to the </a:t>
            </a:r>
            <a:r>
              <a:rPr lang="en-US" altLang="zh-TW" sz="3200" b="1" dirty="0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*this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 pointer in </a:t>
            </a:r>
            <a:r>
              <a:rPr lang="en-US" altLang="zh-TW" sz="3200" b="1" dirty="0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C++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 class instances.</a:t>
            </a:r>
            <a:endParaRPr lang="zh-TW" altLang="en-US" sz="3200" dirty="0">
              <a:solidFill>
                <a:srgbClr val="FF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20" name="Rounded Rectangular Callout 6"/>
          <p:cNvSpPr/>
          <p:nvPr/>
        </p:nvSpPr>
        <p:spPr bwMode="auto">
          <a:xfrm>
            <a:off x="5935662" y="0"/>
            <a:ext cx="3505200" cy="1981200"/>
          </a:xfrm>
          <a:prstGeom prst="wedgeRoundRectCallout">
            <a:avLst>
              <a:gd name="adj1" fmla="val -78973"/>
              <a:gd name="adj2" fmla="val 2024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So the </a:t>
            </a:r>
            <a:r>
              <a:rPr lang="en-US" altLang="zh-TW" sz="3200" i="1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pointer to myself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is passed to </a:t>
            </a:r>
            <a:r>
              <a:rPr lang="en-US" altLang="zh-TW" sz="3200" dirty="0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self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,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and the value of </a:t>
            </a:r>
            <a:r>
              <a:rPr lang="en-US" altLang="zh-TW" sz="3200" i="1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4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is passed to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x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.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21" name="Rounded Rectangular Callout 6"/>
          <p:cNvSpPr/>
          <p:nvPr/>
        </p:nvSpPr>
        <p:spPr bwMode="auto">
          <a:xfrm>
            <a:off x="528510" y="5791200"/>
            <a:ext cx="3959352" cy="990600"/>
          </a:xfrm>
          <a:prstGeom prst="wedgeRoundRectCallout">
            <a:avLst>
              <a:gd name="adj1" fmla="val 21786"/>
              <a:gd name="adj2" fmla="val -32242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This time we pass</a:t>
            </a:r>
            <a:b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</a:b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one argument…</a:t>
            </a:r>
            <a:endParaRPr lang="zh-TW" altLang="en-US" sz="3200" dirty="0">
              <a:solidFill>
                <a:srgbClr val="C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22" name="Rounded Rectangular Callout 6"/>
          <p:cNvSpPr/>
          <p:nvPr/>
        </p:nvSpPr>
        <p:spPr bwMode="auto">
          <a:xfrm>
            <a:off x="5935662" y="1981201"/>
            <a:ext cx="3505200" cy="2837403"/>
          </a:xfrm>
          <a:prstGeom prst="wedgeRoundRectCallout">
            <a:avLst>
              <a:gd name="adj1" fmla="val -115066"/>
              <a:gd name="adj2" fmla="val -49068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In</a:t>
            </a:r>
            <a:r>
              <a:rPr lang="en-US" altLang="zh-TW" sz="20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Python, to</a:t>
            </a:r>
            <a:r>
              <a:rPr lang="en-US" altLang="zh-TW" sz="28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assign a 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variable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declares it. Here, we assign to </a:t>
            </a:r>
            <a:r>
              <a:rPr lang="en-US" altLang="zh-TW" sz="3200" b="1" dirty="0" err="1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self</a:t>
            </a:r>
            <a:r>
              <a:rPr lang="en-US" altLang="zh-TW" sz="3200" b="1" dirty="0" err="1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.val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; so we are creating an attribute in </a:t>
            </a:r>
            <a:r>
              <a:rPr lang="en-US" altLang="zh-TW" sz="3200" b="1" dirty="0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myself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.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24" name="Rounded Rectangular Callout 6"/>
          <p:cNvSpPr/>
          <p:nvPr/>
        </p:nvSpPr>
        <p:spPr bwMode="auto">
          <a:xfrm>
            <a:off x="6542569" y="5867400"/>
            <a:ext cx="2898293" cy="990600"/>
          </a:xfrm>
          <a:prstGeom prst="wedgeRoundRectCallout">
            <a:avLst>
              <a:gd name="adj1" fmla="val 19531"/>
              <a:gd name="adj2" fmla="val -16183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Q4: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And what am I, myself?</a:t>
            </a:r>
            <a:endParaRPr lang="zh-TW" altLang="en-US" sz="3200" dirty="0">
              <a:solidFill>
                <a:srgbClr val="C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28" name="Rounded Rectangular Callout 27"/>
          <p:cNvSpPr/>
          <p:nvPr/>
        </p:nvSpPr>
        <p:spPr bwMode="auto">
          <a:xfrm>
            <a:off x="2354262" y="5867400"/>
            <a:ext cx="4191000" cy="990600"/>
          </a:xfrm>
          <a:prstGeom prst="wedgeRoundRectCallout">
            <a:avLst>
              <a:gd name="adj1" fmla="val -53836"/>
              <a:gd name="adj2" fmla="val -345184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A4: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I am an </a:t>
            </a:r>
            <a:r>
              <a:rPr lang="en-US" altLang="zh-TW" sz="3200" b="1" dirty="0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instance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of the </a:t>
            </a:r>
            <a:r>
              <a:rPr lang="en-US" altLang="zh-TW" sz="3200" dirty="0" err="1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SimpleClass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type.</a:t>
            </a:r>
            <a:endParaRPr lang="zh-TW" altLang="en-US" sz="3200" dirty="0">
              <a:solidFill>
                <a:srgbClr val="C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29" name="Rounded Rectangular Callout 6"/>
          <p:cNvSpPr/>
          <p:nvPr/>
        </p:nvSpPr>
        <p:spPr bwMode="auto">
          <a:xfrm>
            <a:off x="296862" y="5468398"/>
            <a:ext cx="2057400" cy="1389603"/>
          </a:xfrm>
          <a:prstGeom prst="wedgeRoundRectCallout">
            <a:avLst>
              <a:gd name="adj1" fmla="val 79007"/>
              <a:gd name="adj2" fmla="val -30064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Q5: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Then what is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b="1" dirty="0" err="1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self</a:t>
            </a:r>
            <a:r>
              <a:rPr lang="en-US" altLang="zh-TW" sz="3200" b="1" dirty="0" err="1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.val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?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30" name="Rounded Rectangular Callout 6"/>
          <p:cNvSpPr/>
          <p:nvPr/>
        </p:nvSpPr>
        <p:spPr bwMode="auto">
          <a:xfrm>
            <a:off x="284858" y="2971800"/>
            <a:ext cx="1840804" cy="2344196"/>
          </a:xfrm>
          <a:prstGeom prst="wedgeRoundRectCallout">
            <a:avLst>
              <a:gd name="adj1" fmla="val 91415"/>
              <a:gd name="adj2" fmla="val -9240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A5: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b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</a:b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It must be an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b="1" dirty="0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instance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variable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.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cxnSp>
        <p:nvCxnSpPr>
          <p:cNvPr id="3" name="Straight Arrow Connector 2"/>
          <p:cNvCxnSpPr/>
          <p:nvPr/>
        </p:nvCxnSpPr>
        <p:spPr bwMode="auto">
          <a:xfrm flipH="1" flipV="1">
            <a:off x="1897062" y="4648200"/>
            <a:ext cx="3200400" cy="13716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37EED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/>
          <p:cNvCxnSpPr/>
          <p:nvPr/>
        </p:nvCxnSpPr>
        <p:spPr bwMode="auto">
          <a:xfrm flipH="1">
            <a:off x="1820862" y="3027904"/>
            <a:ext cx="5029200" cy="200129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18992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5" dur="500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8" dur="500"/>
                                        <p:tgtEl>
                                          <p:spTgt spid="2560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5602" grpId="0" build="p" animBg="1"/>
      <p:bldP spid="25602" grpId="1" build="allAtOnce" animBg="1"/>
      <p:bldP spid="16" grpId="0" animBg="1"/>
      <p:bldP spid="16" grpId="1" animBg="1"/>
      <p:bldP spid="11" grpId="0" animBg="1"/>
      <p:bldP spid="12" grpId="0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20" grpId="0" animBg="1"/>
      <p:bldP spid="21" grpId="0" animBg="1"/>
      <p:bldP spid="21" grpId="1" animBg="1"/>
      <p:bldP spid="22" grpId="0" animBg="1"/>
      <p:bldP spid="24" grpId="0" animBg="1"/>
      <p:bldP spid="28" grpId="0" animBg="1"/>
      <p:bldP spid="29" grpId="0" animBg="1"/>
      <p:bldP spid="30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class containing an attribute:</a:t>
            </a:r>
            <a:endParaRPr lang="en-US" altLang="en-US" sz="4400" dirty="0"/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838200"/>
            <a:ext cx="8988552" cy="6019800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set(</a:t>
            </a:r>
            <a:r>
              <a:rPr lang="en-US" altLang="en-US" sz="28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2800" dirty="0" err="1">
                <a:latin typeface="Lucida Console" panose="020B0609040504020204" pitchFamily="49" charset="0"/>
              </a:rPr>
              <a:t>,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   </a:t>
            </a:r>
            <a:r>
              <a:rPr lang="en-US" altLang="en-US" sz="28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self.</a:t>
            </a:r>
            <a:r>
              <a:rPr lang="en-US" altLang="en-US" sz="28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en-US" sz="2800" dirty="0">
                <a:latin typeface="Lucida Console" panose="020B0609040504020204" pitchFamily="49" charset="0"/>
              </a:rPr>
              <a:t> = x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800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=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print(</a:t>
            </a:r>
            <a:r>
              <a:rPr lang="en-US" altLang="en-US" sz="28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inst.val</a:t>
            </a: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&gt;&gt;&gt;4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dirty="0">
              <a:solidFill>
                <a:schemeClr val="bg1"/>
              </a:solidFill>
              <a:latin typeface="Courier New" pitchFamily="49" charset="0"/>
            </a:endParaRPr>
          </a:p>
          <a:p>
            <a:pPr marL="284163" indent="-284163" eaLnBrk="1" hangingPunct="1">
              <a:spcBef>
                <a:spcPts val="600"/>
              </a:spcBef>
            </a:pPr>
            <a:r>
              <a:rPr lang="en-US" altLang="en-US" sz="3200" dirty="0"/>
              <a:t>Notice that we can invoke the method with </a:t>
            </a:r>
            <a:r>
              <a:rPr lang="en-US" altLang="en-US" sz="32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(…)</a:t>
            </a:r>
          </a:p>
        </p:txBody>
      </p:sp>
      <p:cxnSp>
        <p:nvCxnSpPr>
          <p:cNvPr id="15" name="Straight Arrow Connector 14"/>
          <p:cNvCxnSpPr/>
          <p:nvPr/>
        </p:nvCxnSpPr>
        <p:spPr bwMode="auto">
          <a:xfrm flipV="1">
            <a:off x="3573462" y="1600200"/>
            <a:ext cx="1066800" cy="112290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Rounded Rectangular Callout 6"/>
          <p:cNvSpPr/>
          <p:nvPr/>
        </p:nvSpPr>
        <p:spPr bwMode="auto">
          <a:xfrm>
            <a:off x="6697662" y="3755887"/>
            <a:ext cx="1840804" cy="1524000"/>
          </a:xfrm>
          <a:prstGeom prst="wedgeRoundRectCallout">
            <a:avLst>
              <a:gd name="adj1" fmla="val -137551"/>
              <a:gd name="adj2" fmla="val -169278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The value of 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x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is 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4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.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2" name="Arc 11"/>
          <p:cNvSpPr/>
          <p:nvPr/>
        </p:nvSpPr>
        <p:spPr bwMode="auto">
          <a:xfrm>
            <a:off x="4689958" y="1143000"/>
            <a:ext cx="546652" cy="609600"/>
          </a:xfrm>
          <a:prstGeom prst="arc">
            <a:avLst>
              <a:gd name="adj1" fmla="val 12775278"/>
              <a:gd name="adj2" fmla="val 4669863"/>
            </a:avLst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8" name="Rounded Rectangular Callout 6"/>
          <p:cNvSpPr/>
          <p:nvPr/>
        </p:nvSpPr>
        <p:spPr bwMode="auto">
          <a:xfrm>
            <a:off x="6125754" y="1524000"/>
            <a:ext cx="3315108" cy="1066800"/>
          </a:xfrm>
          <a:prstGeom prst="wedgeRoundRectCallout">
            <a:avLst>
              <a:gd name="adj1" fmla="val -83087"/>
              <a:gd name="adj2" fmla="val -22623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So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 err="1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inst’s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b="1" dirty="0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instance 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variable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 err="1">
                <a:solidFill>
                  <a:srgbClr val="FFA300"/>
                </a:solidFill>
                <a:latin typeface="Times New Roman" charset="0"/>
                <a:ea typeface="MS PGothic" pitchFamily="34" charset="-128"/>
              </a:rPr>
              <a:t>val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b="1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=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4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.</a:t>
            </a:r>
            <a:endParaRPr lang="zh-TW" altLang="en-US" sz="3200" dirty="0">
              <a:solidFill>
                <a:srgbClr val="0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20" name="Rounded Rectangular Callout 6"/>
          <p:cNvSpPr/>
          <p:nvPr/>
        </p:nvSpPr>
        <p:spPr bwMode="auto">
          <a:xfrm>
            <a:off x="6125754" y="457200"/>
            <a:ext cx="3315108" cy="1066800"/>
          </a:xfrm>
          <a:prstGeom prst="wedgeRoundRectCallout">
            <a:avLst>
              <a:gd name="adj1" fmla="val -134746"/>
              <a:gd name="adj2" fmla="val 28224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And it has a method, </a:t>
            </a:r>
            <a:r>
              <a:rPr lang="en-US" altLang="zh-TW" sz="3200" dirty="0">
                <a:solidFill>
                  <a:srgbClr val="7030A0"/>
                </a:solidFill>
                <a:latin typeface="Times New Roman" charset="0"/>
                <a:ea typeface="MS PGothic" pitchFamily="34" charset="-128"/>
              </a:rPr>
              <a:t>set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.</a:t>
            </a:r>
            <a:endParaRPr lang="zh-TW" altLang="en-US" sz="3200" dirty="0">
              <a:solidFill>
                <a:srgbClr val="0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5380" y="3048001"/>
            <a:ext cx="833883" cy="430887"/>
          </a:xfrm>
          <a:prstGeom prst="rect">
            <a:avLst/>
          </a:prstGeom>
        </p:spPr>
        <p:txBody>
          <a:bodyPr wrap="none" tIns="0" bIns="0" anchor="ctr" anchorCtr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endParaRPr lang="zh-TW" altLang="en-US" sz="2800" dirty="0">
              <a:solidFill>
                <a:srgbClr val="FFFFFF"/>
              </a:solidFill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21" name="Rounded Rectangular Callout 6"/>
          <p:cNvSpPr/>
          <p:nvPr/>
        </p:nvSpPr>
        <p:spPr bwMode="auto">
          <a:xfrm>
            <a:off x="284858" y="2971800"/>
            <a:ext cx="1840804" cy="2344196"/>
          </a:xfrm>
          <a:prstGeom prst="wedgeRoundRectCallout">
            <a:avLst>
              <a:gd name="adj1" fmla="val 91415"/>
              <a:gd name="adj2" fmla="val -9240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b="1" dirty="0">
                <a:solidFill>
                  <a:srgbClr val="0033CC"/>
                </a:solidFill>
                <a:latin typeface="Times New Roman" charset="0"/>
                <a:ea typeface="MS PGothic" pitchFamily="34" charset="-128"/>
              </a:rPr>
              <a:t>A5: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b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</a:b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It must be an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b="1" dirty="0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instance</a:t>
            </a:r>
            <a:r>
              <a:rPr lang="en-US" altLang="zh-TW" sz="3200" dirty="0">
                <a:solidFill>
                  <a:srgbClr val="C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variable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.</a:t>
            </a:r>
            <a:endParaRPr lang="zh-TW" altLang="en-US" sz="3200" dirty="0">
              <a:solidFill>
                <a:srgbClr val="006600"/>
              </a:solidFill>
              <a:latin typeface="Times New Roman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059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2" grpId="0" animBg="1"/>
      <p:bldP spid="12" grpId="1" animBg="1"/>
      <p:bldP spid="18" grpId="0" animBg="1"/>
      <p:bldP spid="20" grpId="0" animBg="1"/>
      <p:bldP spid="21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A class containing an attribute:</a:t>
            </a:r>
            <a:endParaRPr lang="en-US" altLang="en-US" sz="4400" dirty="0"/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838200"/>
            <a:ext cx="8988552" cy="6019800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set(</a:t>
            </a:r>
            <a:r>
              <a:rPr lang="en-US" altLang="en-US" sz="28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2800" dirty="0" err="1">
                <a:latin typeface="Lucida Console" panose="020B0609040504020204" pitchFamily="49" charset="0"/>
              </a:rPr>
              <a:t>,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dirty="0">
                <a:latin typeface="Lucida Console" panose="020B0609040504020204" pitchFamily="49" charset="0"/>
              </a:rPr>
              <a:t>      </a:t>
            </a:r>
            <a:r>
              <a:rPr lang="en-US" altLang="en-US" sz="28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self.</a:t>
            </a:r>
            <a:r>
              <a:rPr lang="en-US" altLang="en-US" sz="28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en-US" sz="2800" dirty="0">
                <a:latin typeface="Lucida Console" panose="020B0609040504020204" pitchFamily="49" charset="0"/>
              </a:rPr>
              <a:t> = x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800" dirty="0">
                <a:solidFill>
                  <a:srgbClr val="0066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=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dirty="0">
              <a:latin typeface="Courier New" pitchFamily="49" charset="0"/>
            </a:endParaRPr>
          </a:p>
          <a:p>
            <a:pPr marL="284163" indent="-284163" eaLnBrk="1" hangingPunct="1">
              <a:spcBef>
                <a:spcPts val="600"/>
              </a:spcBef>
            </a:pPr>
            <a:r>
              <a:rPr lang="en-US" altLang="en-US" sz="3200" dirty="0"/>
              <a:t>Notice that we can invoke the method with </a:t>
            </a:r>
            <a:r>
              <a:rPr lang="en-US" altLang="en-US" sz="32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(…)</a:t>
            </a:r>
          </a:p>
          <a:p>
            <a:pPr marL="284163" indent="-284163" eaLnBrk="1" hangingPunct="1"/>
            <a:r>
              <a:rPr lang="en-US" altLang="en-US" sz="3200" dirty="0"/>
              <a:t>Notice that we can also access the instance variable with </a:t>
            </a:r>
            <a:r>
              <a:rPr lang="en-US" altLang="en-US" sz="32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32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val</a:t>
            </a:r>
            <a:endParaRPr lang="en-US" altLang="en-US" sz="300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eaLnBrk="1" hangingPunct="1">
              <a:buFontTx/>
              <a:buNone/>
            </a:pPr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8" name="Rounded Rectangular Callout 6"/>
          <p:cNvSpPr/>
          <p:nvPr/>
        </p:nvSpPr>
        <p:spPr bwMode="auto">
          <a:xfrm>
            <a:off x="6125754" y="1524000"/>
            <a:ext cx="3315108" cy="1066800"/>
          </a:xfrm>
          <a:prstGeom prst="wedgeRoundRectCallout">
            <a:avLst>
              <a:gd name="adj1" fmla="val -83087"/>
              <a:gd name="adj2" fmla="val -22623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So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 err="1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inst’s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b="1" dirty="0">
                <a:solidFill>
                  <a:srgbClr val="037EED"/>
                </a:solidFill>
                <a:latin typeface="Times New Roman" charset="0"/>
                <a:ea typeface="MS PGothic" pitchFamily="34" charset="-128"/>
              </a:rPr>
              <a:t>instance 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variable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 err="1">
                <a:solidFill>
                  <a:srgbClr val="FFA300"/>
                </a:solidFill>
                <a:latin typeface="Times New Roman" charset="0"/>
                <a:ea typeface="MS PGothic" pitchFamily="34" charset="-128"/>
              </a:rPr>
              <a:t>val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b="1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=</a:t>
            </a:r>
            <a:r>
              <a:rPr lang="en-US" altLang="zh-TW" sz="3200" dirty="0">
                <a:solidFill>
                  <a:srgbClr val="006600"/>
                </a:solidFill>
                <a:latin typeface="Times New Roman" charset="0"/>
                <a:ea typeface="MS PGothic" pitchFamily="34" charset="-128"/>
              </a:rPr>
              <a:t> </a:t>
            </a:r>
            <a:r>
              <a:rPr lang="en-US" altLang="zh-TW" sz="3200" dirty="0">
                <a:solidFill>
                  <a:srgbClr val="FF0000"/>
                </a:solidFill>
                <a:latin typeface="Times New Roman" charset="0"/>
                <a:ea typeface="MS PGothic" pitchFamily="34" charset="-128"/>
              </a:rPr>
              <a:t>4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.</a:t>
            </a:r>
            <a:endParaRPr lang="zh-TW" altLang="en-US" sz="3200" dirty="0">
              <a:solidFill>
                <a:srgbClr val="0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9" name="Rounded Rectangular Callout 6"/>
          <p:cNvSpPr/>
          <p:nvPr/>
        </p:nvSpPr>
        <p:spPr bwMode="auto">
          <a:xfrm>
            <a:off x="6125754" y="457200"/>
            <a:ext cx="3315108" cy="1066800"/>
          </a:xfrm>
          <a:prstGeom prst="wedgeRoundRectCallout">
            <a:avLst>
              <a:gd name="adj1" fmla="val -134746"/>
              <a:gd name="adj2" fmla="val 28224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And it has a method, </a:t>
            </a:r>
            <a:r>
              <a:rPr lang="en-US" altLang="zh-TW" sz="3200" dirty="0">
                <a:solidFill>
                  <a:srgbClr val="7030A0"/>
                </a:solidFill>
                <a:latin typeface="Times New Roman" charset="0"/>
                <a:ea typeface="MS PGothic" pitchFamily="34" charset="-128"/>
              </a:rPr>
              <a:t>set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  <a:ea typeface="MS PGothic" pitchFamily="34" charset="-128"/>
              </a:rPr>
              <a:t>.</a:t>
            </a:r>
            <a:endParaRPr lang="zh-TW" altLang="en-US" sz="3200" dirty="0">
              <a:solidFill>
                <a:srgbClr val="000000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5380" y="3048001"/>
            <a:ext cx="833883" cy="430887"/>
          </a:xfrm>
          <a:prstGeom prst="rect">
            <a:avLst/>
          </a:prstGeom>
        </p:spPr>
        <p:txBody>
          <a:bodyPr wrap="none" tIns="0" bIns="0" anchor="ctr" anchorCtr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endParaRPr lang="zh-TW" altLang="en-US" sz="2800" dirty="0">
              <a:solidFill>
                <a:srgbClr val="FFFFFF"/>
              </a:solidFill>
              <a:latin typeface="Times New Roman" pitchFamily="18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5835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Dynamically adding to an object:</a:t>
            </a:r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452310" y="838200"/>
            <a:ext cx="8988552" cy="6019800"/>
          </a:xfrm>
        </p:spPr>
        <p:txBody>
          <a:bodyPr/>
          <a:lstStyle/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latin typeface="Lucida Console" panose="020B0609040504020204" pitchFamily="49" charset="0"/>
              </a:rPr>
              <a:t>():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set(</a:t>
            </a:r>
            <a:r>
              <a:rPr lang="en-US" altLang="en-US" sz="28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en-US" sz="2800" dirty="0" err="1">
                <a:latin typeface="Lucida Console" panose="020B0609040504020204" pitchFamily="49" charset="0"/>
              </a:rPr>
              <a:t>,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    </a:t>
            </a:r>
            <a:r>
              <a:rPr lang="en-US" altLang="en-US" sz="28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self.</a:t>
            </a:r>
            <a:r>
              <a:rPr lang="en-US" altLang="en-US" sz="28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2800" dirty="0">
                <a:latin typeface="Lucida Console" panose="020B0609040504020204" pitchFamily="49" charset="0"/>
              </a:rPr>
              <a:t> = x</a:t>
            </a:r>
          </a:p>
          <a:p>
            <a:pPr eaLnBrk="1" hangingPunct="1">
              <a:lnSpc>
                <a:spcPct val="87000"/>
              </a:lnSpc>
              <a:spcBef>
                <a:spcPts val="600"/>
              </a:spcBef>
              <a:buNone/>
            </a:pPr>
            <a:r>
              <a:rPr lang="en-US" altLang="en-US" sz="2800" dirty="0">
                <a:latin typeface="Lucida Console" panose="020B0609040504020204" pitchFamily="49" charset="0"/>
              </a:rPr>
              <a:t>  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SimpleClass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()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latin typeface="Lucida Console" panose="020B0609040504020204" pitchFamily="49" charset="0"/>
              </a:rPr>
              <a:t>def</a:t>
            </a:r>
            <a:r>
              <a:rPr lang="en-US" altLang="en-US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self,x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self.val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2800" dirty="0">
                <a:latin typeface="Lucida Console" panose="020B0609040504020204" pitchFamily="49" charset="0"/>
              </a:rPr>
              <a:t>x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endParaRPr lang="en-US" altLang="en-US" sz="28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=f  </a:t>
            </a:r>
            <a:r>
              <a:rPr lang="en-US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#dynamically add a 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method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set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dirty="0">
                <a:solidFill>
                  <a:srgbClr val="006600"/>
                </a:solidFill>
                <a:latin typeface="Lucida Console" panose="020B0609040504020204" pitchFamily="49" charset="0"/>
              </a:rPr>
              <a:t>inst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sz="2800" dirty="0">
                <a:solidFill>
                  <a:srgbClr val="7030A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#Two arguments needed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#dynamically add an </a:t>
            </a:r>
            <a:r>
              <a:rPr lang="en-US" altLang="en-US" sz="2800" dirty="0">
                <a:solidFill>
                  <a:srgbClr val="FFC000"/>
                </a:solidFill>
                <a:latin typeface="Lucida Console" panose="020B0609040504020204" pitchFamily="49" charset="0"/>
              </a:rPr>
              <a:t>attribute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inst.</a:t>
            </a:r>
            <a:r>
              <a:rPr lang="en-US" altLang="en-US" sz="28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</a:p>
          <a:p>
            <a:pPr eaLnBrk="1" hangingPunct="1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11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7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5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5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5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830262" y="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Two Types of Attributes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373062" y="726440"/>
            <a:ext cx="8915400" cy="5902960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en-US" sz="3600" dirty="0"/>
              <a:t>There are two types of attributes:</a:t>
            </a:r>
          </a:p>
          <a:p>
            <a:pPr marL="854075" lvl="1" indent="-396875" eaLnBrk="1" hangingPunct="1">
              <a:spcBef>
                <a:spcPts val="1200"/>
              </a:spcBef>
              <a:buNone/>
            </a:pPr>
            <a:r>
              <a:rPr lang="en-US" altLang="en-US" sz="3200" dirty="0"/>
              <a:t>1.	An </a:t>
            </a:r>
            <a:r>
              <a:rPr lang="en-US" altLang="en-US" sz="3200" b="1" dirty="0">
                <a:solidFill>
                  <a:srgbClr val="006600"/>
                </a:solidFill>
              </a:rPr>
              <a:t>instance variable </a:t>
            </a:r>
            <a:r>
              <a:rPr lang="en-US" altLang="en-US" sz="3200" dirty="0"/>
              <a:t>(or </a:t>
            </a:r>
            <a:r>
              <a:rPr lang="en-US" altLang="en-US" sz="3200" b="1" dirty="0">
                <a:solidFill>
                  <a:srgbClr val="006600"/>
                </a:solidFill>
              </a:rPr>
              <a:t>object variable</a:t>
            </a:r>
            <a:r>
              <a:rPr lang="en-US" altLang="en-US" sz="3200" dirty="0"/>
              <a:t> or </a:t>
            </a:r>
            <a:r>
              <a:rPr lang="en-US" altLang="en-US" sz="3200" b="1" dirty="0">
                <a:solidFill>
                  <a:srgbClr val="006600"/>
                </a:solidFill>
              </a:rPr>
              <a:t>instance attribute</a:t>
            </a:r>
            <a:r>
              <a:rPr lang="en-US" altLang="en-US" sz="3200" dirty="0"/>
              <a:t> or </a:t>
            </a:r>
            <a:r>
              <a:rPr lang="en-US" altLang="en-US" sz="3200" b="1" dirty="0">
                <a:solidFill>
                  <a:srgbClr val="006600"/>
                </a:solidFill>
              </a:rPr>
              <a:t>object attribute</a:t>
            </a:r>
            <a:r>
              <a:rPr lang="en-US" altLang="en-US" sz="3200" dirty="0"/>
              <a:t>) is a </a:t>
            </a:r>
            <a:r>
              <a:rPr lang="en-US" altLang="ja-JP" sz="3200" dirty="0"/>
              <a:t>variable associated with an object.</a:t>
            </a:r>
          </a:p>
          <a:p>
            <a:pPr lvl="2" eaLnBrk="1" hangingPunct="1">
              <a:spcBef>
                <a:spcPts val="1200"/>
              </a:spcBef>
            </a:pPr>
            <a:r>
              <a:rPr lang="en-US" altLang="ja-JP" sz="3200" dirty="0"/>
              <a:t>These are referenced through the “</a:t>
            </a:r>
            <a:r>
              <a:rPr lang="en-US" altLang="ja-JP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ja-JP" sz="3200" dirty="0"/>
              <a:t>” parameter.</a:t>
            </a:r>
          </a:p>
          <a:p>
            <a:pPr marL="854075" lvl="1" indent="-396875" eaLnBrk="1" hangingPunct="1">
              <a:spcBef>
                <a:spcPts val="1200"/>
              </a:spcBef>
              <a:buNone/>
            </a:pP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</a:rPr>
              <a:t>2.	A </a:t>
            </a:r>
            <a:r>
              <a:rPr lang="en-US" altLang="ja-JP" sz="3200" b="1" dirty="0">
                <a:solidFill>
                  <a:schemeClr val="bg1">
                    <a:lumMod val="75000"/>
                  </a:schemeClr>
                </a:solidFill>
              </a:rPr>
              <a:t>class attribute</a:t>
            </a: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</a:rPr>
              <a:t> is a static variable whose value is shared by </a:t>
            </a:r>
            <a:r>
              <a:rPr lang="en-US" altLang="ja-JP" sz="3200" i="1" dirty="0">
                <a:solidFill>
                  <a:schemeClr val="bg1">
                    <a:lumMod val="75000"/>
                  </a:schemeClr>
                </a:solidFill>
              </a:rPr>
              <a:t>all instances</a:t>
            </a: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</a:rPr>
              <a:t> of the </a:t>
            </a:r>
            <a:r>
              <a:rPr lang="en-US" altLang="ja-JP" sz="3200" i="1" dirty="0">
                <a:solidFill>
                  <a:schemeClr val="bg1">
                    <a:lumMod val="75000"/>
                  </a:schemeClr>
                </a:solidFill>
              </a:rPr>
              <a:t>class.</a:t>
            </a:r>
          </a:p>
          <a:p>
            <a:pPr lvl="2" eaLnBrk="1" hangingPunct="1">
              <a:spcBef>
                <a:spcPts val="1200"/>
              </a:spcBef>
            </a:pP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</a:rPr>
              <a:t>These are referenced without using the “</a:t>
            </a: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self</a:t>
            </a: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</a:rPr>
              <a:t>” parameter. 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</a:rPr>
              <a:t>We’ll see this next week…</a:t>
            </a:r>
          </a:p>
        </p:txBody>
      </p:sp>
    </p:spTree>
    <p:extLst>
      <p:ext uri="{BB962C8B-B14F-4D97-AF65-F5344CB8AC3E}">
        <p14:creationId xmlns:p14="http://schemas.microsoft.com/office/powerpoint/2010/main" val="31492795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830262" y="0"/>
            <a:ext cx="8077200" cy="762000"/>
          </a:xfrm>
        </p:spPr>
        <p:txBody>
          <a:bodyPr/>
          <a:lstStyle/>
          <a:p>
            <a:pPr eaLnBrk="1" hangingPunct="1"/>
            <a:r>
              <a:rPr lang="en-US" altLang="en-US" sz="4400" dirty="0">
                <a:latin typeface="Elephant" panose="02020904090505020303" pitchFamily="18" charset="0"/>
              </a:rPr>
              <a:t>Two Types of Attributes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373062" y="726440"/>
            <a:ext cx="8915400" cy="5902960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en-US" sz="3600" dirty="0"/>
              <a:t>There are two types of attributes:</a:t>
            </a:r>
          </a:p>
          <a:p>
            <a:pPr marL="854075" lvl="1" indent="-396875" eaLnBrk="1" hangingPunct="1">
              <a:spcBef>
                <a:spcPts val="1200"/>
              </a:spcBef>
              <a:buNone/>
            </a:pPr>
            <a:r>
              <a:rPr lang="en-US" altLang="en-US" sz="3200" dirty="0"/>
              <a:t>1.	An </a:t>
            </a:r>
            <a:r>
              <a:rPr lang="en-US" altLang="en-US" sz="3200" b="1" dirty="0">
                <a:solidFill>
                  <a:srgbClr val="006600"/>
                </a:solidFill>
              </a:rPr>
              <a:t>instance variable </a:t>
            </a:r>
            <a:r>
              <a:rPr lang="en-US" altLang="en-US" sz="3200" dirty="0"/>
              <a:t>(or </a:t>
            </a:r>
            <a:r>
              <a:rPr lang="en-US" altLang="en-US" sz="3200" b="1" dirty="0">
                <a:solidFill>
                  <a:srgbClr val="006600"/>
                </a:solidFill>
              </a:rPr>
              <a:t>object variable</a:t>
            </a:r>
            <a:r>
              <a:rPr lang="en-US" altLang="en-US" sz="3200" dirty="0"/>
              <a:t> or </a:t>
            </a:r>
            <a:r>
              <a:rPr lang="en-US" altLang="en-US" sz="3200" b="1" dirty="0">
                <a:solidFill>
                  <a:srgbClr val="006600"/>
                </a:solidFill>
              </a:rPr>
              <a:t>instance attribute</a:t>
            </a:r>
            <a:r>
              <a:rPr lang="en-US" altLang="en-US" sz="3200" dirty="0"/>
              <a:t> or </a:t>
            </a:r>
            <a:r>
              <a:rPr lang="en-US" altLang="en-US" sz="3200" b="1" dirty="0">
                <a:solidFill>
                  <a:srgbClr val="006600"/>
                </a:solidFill>
              </a:rPr>
              <a:t>object attribute</a:t>
            </a:r>
            <a:r>
              <a:rPr lang="en-US" altLang="en-US" sz="3200" dirty="0"/>
              <a:t>) is a </a:t>
            </a:r>
            <a:r>
              <a:rPr lang="en-US" altLang="ja-JP" sz="3200" dirty="0"/>
              <a:t>variable associated with an object.</a:t>
            </a:r>
          </a:p>
          <a:p>
            <a:pPr lvl="2" eaLnBrk="1" hangingPunct="1">
              <a:spcBef>
                <a:spcPts val="1200"/>
              </a:spcBef>
            </a:pPr>
            <a:r>
              <a:rPr lang="en-US" altLang="ja-JP" sz="3200" dirty="0"/>
              <a:t>These are referenced through the “</a:t>
            </a:r>
            <a:r>
              <a:rPr lang="en-US" altLang="ja-JP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self</a:t>
            </a:r>
            <a:r>
              <a:rPr lang="en-US" altLang="ja-JP" sz="3200" dirty="0"/>
              <a:t>” parameter.</a:t>
            </a:r>
          </a:p>
          <a:p>
            <a:pPr marL="854075" lvl="1" indent="-396875" eaLnBrk="1" hangingPunct="1">
              <a:spcBef>
                <a:spcPts val="1200"/>
              </a:spcBef>
              <a:buNone/>
            </a:pPr>
            <a:r>
              <a:rPr lang="en-US" altLang="ja-JP" sz="3200" dirty="0"/>
              <a:t>2.	A </a:t>
            </a:r>
            <a:r>
              <a:rPr lang="en-US" altLang="ja-JP" sz="3200" b="1" dirty="0">
                <a:solidFill>
                  <a:srgbClr val="006600"/>
                </a:solidFill>
              </a:rPr>
              <a:t>class attribute</a:t>
            </a:r>
            <a:r>
              <a:rPr lang="en-US" altLang="ja-JP" sz="3200" dirty="0"/>
              <a:t> is a static variable whose value is shared by </a:t>
            </a:r>
            <a:r>
              <a:rPr lang="en-US" altLang="ja-JP" sz="3200" i="1" dirty="0"/>
              <a:t>all instances</a:t>
            </a:r>
            <a:r>
              <a:rPr lang="en-US" altLang="ja-JP" sz="3200" dirty="0"/>
              <a:t> of the </a:t>
            </a:r>
            <a:r>
              <a:rPr lang="en-US" altLang="ja-JP" sz="3200" i="1" dirty="0"/>
              <a:t>class.</a:t>
            </a:r>
          </a:p>
          <a:p>
            <a:pPr lvl="2" eaLnBrk="1" hangingPunct="1">
              <a:spcBef>
                <a:spcPts val="1200"/>
              </a:spcBef>
            </a:pPr>
            <a:r>
              <a:rPr lang="en-US" altLang="ja-JP" sz="3200" dirty="0"/>
              <a:t>These are referenced without using the “</a:t>
            </a:r>
            <a:r>
              <a:rPr lang="en-US" altLang="ja-JP" sz="3200" dirty="0">
                <a:latin typeface="Lucida Console" panose="020B0609040504020204" pitchFamily="49" charset="0"/>
              </a:rPr>
              <a:t>self</a:t>
            </a:r>
            <a:r>
              <a:rPr lang="en-US" altLang="ja-JP" sz="3200" dirty="0"/>
              <a:t>” parameter. 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ja-JP" sz="3200" dirty="0"/>
              <a:t>We’ll see this next week…</a:t>
            </a:r>
          </a:p>
        </p:txBody>
      </p:sp>
    </p:spTree>
    <p:extLst>
      <p:ext uri="{BB962C8B-B14F-4D97-AF65-F5344CB8AC3E}">
        <p14:creationId xmlns:p14="http://schemas.microsoft.com/office/powerpoint/2010/main" val="403673100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8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9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30897</TotalTime>
  <Words>19050</Words>
  <Application>Microsoft Office PowerPoint</Application>
  <PresentationFormat>自訂</PresentationFormat>
  <Paragraphs>1086</Paragraphs>
  <Slides>86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86</vt:i4>
      </vt:variant>
    </vt:vector>
  </HeadingPairs>
  <TitlesOfParts>
    <vt:vector size="101" baseType="lpstr">
      <vt:lpstr>Agency FB</vt:lpstr>
      <vt:lpstr>Arial</vt:lpstr>
      <vt:lpstr>Arial Narrow</vt:lpstr>
      <vt:lpstr>Calibri</vt:lpstr>
      <vt:lpstr>Consolas</vt:lpstr>
      <vt:lpstr>Courier New</vt:lpstr>
      <vt:lpstr>Elephant</vt:lpstr>
      <vt:lpstr>Lucida Console</vt:lpstr>
      <vt:lpstr>Lucida Fax</vt:lpstr>
      <vt:lpstr>Times New Roman</vt:lpstr>
      <vt:lpstr>Wingdings</vt:lpstr>
      <vt:lpstr>Default Design</vt:lpstr>
      <vt:lpstr>8_Default Design</vt:lpstr>
      <vt:lpstr>9_Default Design</vt:lpstr>
      <vt:lpstr>1_Default Design</vt:lpstr>
      <vt:lpstr>Function Generators</vt:lpstr>
      <vt:lpstr>next with a Function Generator</vt:lpstr>
      <vt:lpstr>PowerPoint 簡報</vt:lpstr>
      <vt:lpstr>PowerPoint 簡報</vt:lpstr>
      <vt:lpstr>Comprehensions</vt:lpstr>
      <vt:lpstr>PowerPoint 簡報</vt:lpstr>
      <vt:lpstr>PowerPoint 簡報</vt:lpstr>
      <vt:lpstr>PowerPoint 簡報</vt:lpstr>
      <vt:lpstr>Definitions</vt:lpstr>
      <vt:lpstr>PowerPoint 簡報</vt:lpstr>
      <vt:lpstr>PowerPoint 簡報</vt:lpstr>
      <vt:lpstr>PowerPoint 簡報</vt:lpstr>
      <vt:lpstr>PowerPoint 簡報</vt:lpstr>
      <vt:lpstr>PowerPoint 簡報</vt:lpstr>
      <vt:lpstr>Iterables vs. Iterators  vs. Generators</vt:lpstr>
      <vt:lpstr>PowerPoint 簡報</vt:lpstr>
      <vt:lpstr>PowerPoint 簡報</vt:lpstr>
      <vt:lpstr>PowerPoint 簡報</vt:lpstr>
      <vt:lpstr>PowerPoint 簡報</vt:lpstr>
      <vt:lpstr>PowerPoint 簡報</vt:lpstr>
      <vt:lpstr>Using yield from to Delegate (委派)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 brief explanation of ellipses</vt:lpstr>
      <vt:lpstr>PowerPoint 簡報</vt:lpstr>
      <vt:lpstr>PowerPoint 簡報</vt:lpstr>
      <vt:lpstr>PowerPoint 簡報</vt:lpstr>
      <vt:lpstr>PowerPoint 簡報</vt:lpstr>
      <vt:lpstr>PowerPoint 簡報</vt:lpstr>
      <vt:lpstr>What are the Python keywords?</vt:lpstr>
      <vt:lpstr>PowerPoint 簡報</vt:lpstr>
      <vt:lpstr>PowerPoint 簡報</vt:lpstr>
      <vt:lpstr>Here is a simple class definition:</vt:lpstr>
      <vt:lpstr>So we know all the keywords now</vt:lpstr>
      <vt:lpstr>And we know all the builtins now</vt:lpstr>
      <vt:lpstr>PowerPoint 簡報</vt:lpstr>
      <vt:lpstr>Object Oriented Programming (OOP)</vt:lpstr>
      <vt:lpstr>Object-Oriented Basics</vt:lpstr>
      <vt:lpstr>Creating and Using a Class</vt:lpstr>
      <vt:lpstr>Creating Multiple Objects</vt:lpstr>
      <vt:lpstr>A simple class definition:</vt:lpstr>
      <vt:lpstr>A class containing a method:</vt:lpstr>
      <vt:lpstr>A class containing a method:</vt:lpstr>
      <vt:lpstr>A class containing a method:</vt:lpstr>
      <vt:lpstr>A class containing a method:</vt:lpstr>
      <vt:lpstr>A class containing an attribute:</vt:lpstr>
      <vt:lpstr>A class containing an attribute:</vt:lpstr>
      <vt:lpstr>A class containing an attribute:</vt:lpstr>
      <vt:lpstr>Dynamically adding to an object:</vt:lpstr>
      <vt:lpstr>Two Types of Attributes</vt:lpstr>
      <vt:lpstr>Two Types of Attributes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variable names</dc:title>
  <dc:creator>Steve Haga</dc:creator>
  <cp:lastModifiedBy>黃啟桓</cp:lastModifiedBy>
  <cp:revision>1066</cp:revision>
  <dcterms:created xsi:type="dcterms:W3CDTF">2017-03-07T03:26:49Z</dcterms:created>
  <dcterms:modified xsi:type="dcterms:W3CDTF">2021-05-04T06:52:10Z</dcterms:modified>
</cp:coreProperties>
</file>